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Override PartName="/ppt/slides/slide103.xml" ContentType="application/vnd.openxmlformats-officedocument.presentationml.slide+xml"/>
  <Override PartName="/ppt/slides/slide118.xml" ContentType="application/vnd.openxmlformats-officedocument.presentationml.slide+xml"/>
  <Override PartName="/ppt/slides/slide136.xml" ContentType="application/vnd.openxmlformats-officedocument.presentationml.slide+xml"/>
  <Override PartName="/ppt/slides/slide150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106"/>
  </p:notesMasterIdLst>
  <p:handoutMasterIdLst>
    <p:handoutMasterId r:id="rId107"/>
  </p:handoutMasterIdLst>
  <p:sldIdLst>
    <p:sldId id="259" r:id="rId5"/>
    <p:sldId id="1037" r:id="rId6"/>
    <p:sldId id="1025" r:id="rId7"/>
    <p:sldId id="1617" r:id="rId8"/>
    <p:sldId id="1621" r:id="rId9"/>
    <p:sldId id="1623" r:id="rId10"/>
    <p:sldId id="267" r:id="rId11"/>
    <p:sldId id="362" r:id="rId12"/>
    <p:sldId id="363" r:id="rId13"/>
    <p:sldId id="364" r:id="rId14"/>
    <p:sldId id="318" r:id="rId15"/>
    <p:sldId id="365" r:id="rId16"/>
    <p:sldId id="366" r:id="rId17"/>
    <p:sldId id="367" r:id="rId18"/>
    <p:sldId id="368" r:id="rId19"/>
    <p:sldId id="369" r:id="rId20"/>
    <p:sldId id="341" r:id="rId21"/>
    <p:sldId id="370" r:id="rId22"/>
    <p:sldId id="371" r:id="rId23"/>
    <p:sldId id="372" r:id="rId24"/>
    <p:sldId id="373" r:id="rId25"/>
    <p:sldId id="291" r:id="rId26"/>
    <p:sldId id="1652" r:id="rId27"/>
    <p:sldId id="1744" r:id="rId28"/>
    <p:sldId id="258" r:id="rId29"/>
    <p:sldId id="1745" r:id="rId30"/>
    <p:sldId id="1746" r:id="rId31"/>
    <p:sldId id="1747" r:id="rId32"/>
    <p:sldId id="1748" r:id="rId33"/>
    <p:sldId id="1749" r:id="rId34"/>
    <p:sldId id="1750" r:id="rId35"/>
    <p:sldId id="1751" r:id="rId36"/>
    <p:sldId id="1752" r:id="rId37"/>
    <p:sldId id="1754" r:id="rId38"/>
    <p:sldId id="1756" r:id="rId39"/>
    <p:sldId id="1757" r:id="rId40"/>
    <p:sldId id="1758" r:id="rId41"/>
    <p:sldId id="1759" r:id="rId42"/>
    <p:sldId id="1760" r:id="rId43"/>
    <p:sldId id="1761" r:id="rId44"/>
    <p:sldId id="1762" r:id="rId45"/>
    <p:sldId id="1763" r:id="rId46"/>
    <p:sldId id="276" r:id="rId47"/>
    <p:sldId id="1800" r:id="rId48"/>
    <p:sldId id="1801" r:id="rId49"/>
    <p:sldId id="279" r:id="rId50"/>
    <p:sldId id="1803" r:id="rId51"/>
    <p:sldId id="1804" r:id="rId52"/>
    <p:sldId id="1805" r:id="rId53"/>
    <p:sldId id="283" r:id="rId54"/>
    <p:sldId id="1653" r:id="rId55"/>
    <p:sldId id="1628" r:id="rId56"/>
    <p:sldId id="1765" r:id="rId57"/>
    <p:sldId id="1766" r:id="rId58"/>
    <p:sldId id="260" r:id="rId59"/>
    <p:sldId id="261" r:id="rId60"/>
    <p:sldId id="262" r:id="rId61"/>
    <p:sldId id="263" r:id="rId62"/>
    <p:sldId id="264" r:id="rId63"/>
    <p:sldId id="1767" r:id="rId64"/>
    <p:sldId id="266" r:id="rId65"/>
    <p:sldId id="1768" r:id="rId66"/>
    <p:sldId id="268" r:id="rId67"/>
    <p:sldId id="269" r:id="rId68"/>
    <p:sldId id="1773" r:id="rId69"/>
    <p:sldId id="1666" r:id="rId70"/>
    <p:sldId id="257" r:id="rId71"/>
    <p:sldId id="270" r:id="rId72"/>
    <p:sldId id="271" r:id="rId73"/>
    <p:sldId id="272" r:id="rId74"/>
    <p:sldId id="273" r:id="rId75"/>
    <p:sldId id="274" r:id="rId76"/>
    <p:sldId id="275" r:id="rId77"/>
    <p:sldId id="1769" r:id="rId78"/>
    <p:sldId id="1770" r:id="rId79"/>
    <p:sldId id="1771" r:id="rId80"/>
    <p:sldId id="1774" r:id="rId81"/>
    <p:sldId id="1775" r:id="rId82"/>
    <p:sldId id="1776" r:id="rId83"/>
    <p:sldId id="1777" r:id="rId84"/>
    <p:sldId id="1778" r:id="rId85"/>
    <p:sldId id="1779" r:id="rId86"/>
    <p:sldId id="1780" r:id="rId87"/>
    <p:sldId id="265" r:id="rId88"/>
    <p:sldId id="1781" r:id="rId89"/>
    <p:sldId id="1782" r:id="rId90"/>
    <p:sldId id="1684" r:id="rId91"/>
    <p:sldId id="1784" r:id="rId92"/>
    <p:sldId id="1786" r:id="rId93"/>
    <p:sldId id="1787" r:id="rId94"/>
    <p:sldId id="1788" r:id="rId95"/>
    <p:sldId id="1789" r:id="rId96"/>
    <p:sldId id="1790" r:id="rId97"/>
    <p:sldId id="1791" r:id="rId98"/>
    <p:sldId id="1792" r:id="rId99"/>
    <p:sldId id="1793" r:id="rId100"/>
    <p:sldId id="1794" r:id="rId101"/>
    <p:sldId id="1795" r:id="rId102"/>
    <p:sldId id="1796" r:id="rId103"/>
    <p:sldId id="1797" r:id="rId104"/>
    <p:sldId id="1798" r:id="rId105"/>
  </p:sldIdLst>
  <p:sldSz cx="12192000" cy="6858000"/>
  <p:notesSz cx="6858000" cy="9144000"/>
  <p:defaultTextStyle>
    <a:defPPr rtl="0">
      <a:defRPr lang="zh-CN"/>
    </a:defPPr>
    <a:lvl1pPr marL="0" algn="l" defTabSz="9144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大纲目录" id="{F3A14324-70B1-4EC1-A59F-9B15B89D8200}">
          <p14:sldIdLst>
            <p14:sldId id="259"/>
            <p14:sldId id="1037"/>
          </p14:sldIdLst>
        </p14:section>
        <p14:section name="语言简介" id="{40E0B3D3-8388-4C8E-AC13-4C6126E506B1}">
          <p14:sldIdLst>
            <p14:sldId id="1025"/>
            <p14:sldId id="1617"/>
            <p14:sldId id="1621"/>
            <p14:sldId id="1623"/>
            <p14:sldId id="267"/>
            <p14:sldId id="362"/>
            <p14:sldId id="363"/>
            <p14:sldId id="364"/>
            <p14:sldId id="318"/>
            <p14:sldId id="365"/>
            <p14:sldId id="366"/>
            <p14:sldId id="367"/>
            <p14:sldId id="368"/>
            <p14:sldId id="369"/>
            <p14:sldId id="341"/>
            <p14:sldId id="370"/>
            <p14:sldId id="371"/>
            <p14:sldId id="372"/>
            <p14:sldId id="373"/>
            <p14:sldId id="291"/>
          </p14:sldIdLst>
        </p14:section>
        <p14:section name="变量和组件" id="{1AE67E61-5307-4FDC-8155-9FCBAA59DB3F}">
          <p14:sldIdLst>
            <p14:sldId id="1652"/>
            <p14:sldId id="1744"/>
            <p14:sldId id="258"/>
            <p14:sldId id="1745"/>
            <p14:sldId id="1746"/>
            <p14:sldId id="1747"/>
            <p14:sldId id="1748"/>
            <p14:sldId id="1749"/>
            <p14:sldId id="1750"/>
            <p14:sldId id="1751"/>
            <p14:sldId id="1752"/>
            <p14:sldId id="1754"/>
            <p14:sldId id="1756"/>
            <p14:sldId id="1757"/>
            <p14:sldId id="1758"/>
            <p14:sldId id="1759"/>
            <p14:sldId id="1760"/>
            <p14:sldId id="1761"/>
            <p14:sldId id="1762"/>
            <p14:sldId id="1763"/>
            <p14:sldId id="276"/>
            <p14:sldId id="1800"/>
            <p14:sldId id="1801"/>
            <p14:sldId id="279"/>
            <p14:sldId id="1803"/>
            <p14:sldId id="1804"/>
            <p14:sldId id="1805"/>
            <p14:sldId id="283"/>
          </p14:sldIdLst>
        </p14:section>
        <p14:section name="布尔运算和比较运算符" id="{54CA77C5-8727-416C-9F79-AD6C8328547C}">
          <p14:sldIdLst>
            <p14:sldId id="1653"/>
            <p14:sldId id="1628"/>
            <p14:sldId id="1765"/>
            <p14:sldId id="1766"/>
            <p14:sldId id="260"/>
            <p14:sldId id="261"/>
            <p14:sldId id="262"/>
            <p14:sldId id="263"/>
            <p14:sldId id="264"/>
            <p14:sldId id="1767"/>
            <p14:sldId id="266"/>
            <p14:sldId id="1768"/>
            <p14:sldId id="268"/>
            <p14:sldId id="269"/>
            <p14:sldId id="1773"/>
          </p14:sldIdLst>
        </p14:section>
        <p14:section name="条件语句和循环语句" id="{3C0A6D69-647D-47E5-9C66-C6AB6B189FD1}">
          <p14:sldIdLst>
            <p14:sldId id="1666"/>
            <p14:sldId id="257"/>
            <p14:sldId id="270"/>
            <p14:sldId id="271"/>
            <p14:sldId id="272"/>
            <p14:sldId id="273"/>
            <p14:sldId id="274"/>
            <p14:sldId id="275"/>
            <p14:sldId id="1769"/>
            <p14:sldId id="1770"/>
            <p14:sldId id="1771"/>
            <p14:sldId id="1774"/>
            <p14:sldId id="1775"/>
            <p14:sldId id="1776"/>
            <p14:sldId id="1777"/>
            <p14:sldId id="1778"/>
            <p14:sldId id="1779"/>
            <p14:sldId id="1780"/>
            <p14:sldId id="265"/>
            <p14:sldId id="1781"/>
            <p14:sldId id="1782"/>
          </p14:sldIdLst>
        </p14:section>
        <p14:section name="List和数组" id="{D5A92DD0-2D95-4FB7-9C94-5DAA390B9338}">
          <p14:sldIdLst>
            <p14:sldId id="1684"/>
            <p14:sldId id="1784"/>
            <p14:sldId id="1786"/>
            <p14:sldId id="1787"/>
            <p14:sldId id="1788"/>
            <p14:sldId id="1789"/>
            <p14:sldId id="1790"/>
            <p14:sldId id="1791"/>
            <p14:sldId id="1792"/>
            <p14:sldId id="1793"/>
            <p14:sldId id="1794"/>
            <p14:sldId id="1795"/>
            <p14:sldId id="1796"/>
            <p14:sldId id="1797"/>
            <p14:sldId id="1798"/>
          </p14:sldIdLst>
        </p14:section>
        <p14:section name="函数和参数" id="{A41EEFEB-C162-4B06-918A-F8FA99ED06B0}">
          <p14:sldIdLst/>
        </p14:section>
        <p14:section name="代码调试" id="{EBFAB6CD-F1C2-4EAA-8EAF-DEBAF38490A6}">
          <p14:sldIdLst/>
        </p14:section>
        <p14:section name="类" id="{AEBD0ED8-B447-4DE8-A789-4728F5581BF1}">
          <p14:sldIdLst/>
        </p14:section>
        <p14:section name="面向对象思维" id="{C644BD2A-9945-45A2-B70B-133A2299D713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7357F"/>
    <a:srgbClr val="FFFFFF"/>
    <a:srgbClr val="E889E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364" autoAdjust="0"/>
    <p:restoredTop sz="72412" autoAdjust="0"/>
  </p:normalViewPr>
  <p:slideViewPr>
    <p:cSldViewPr snapToGrid="0" snapToObjects="1">
      <p:cViewPr varScale="1">
        <p:scale>
          <a:sx n="97" d="100"/>
          <a:sy n="97" d="100"/>
        </p:scale>
        <p:origin x="104" y="34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75" d="100"/>
          <a:sy n="75" d="100"/>
        </p:scale>
        <p:origin x="4392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84" Type="http://schemas.openxmlformats.org/officeDocument/2006/relationships/slide" Target="slides/slide80.xml"/><Relationship Id="rId89" Type="http://schemas.openxmlformats.org/officeDocument/2006/relationships/slide" Target="slides/slide85.xml"/><Relationship Id="rId112" Type="http://schemas.microsoft.com/office/2018/10/relationships/authors" Target="authors.xml"/><Relationship Id="rId16" Type="http://schemas.openxmlformats.org/officeDocument/2006/relationships/slide" Target="slides/slide12.xml"/><Relationship Id="rId107" Type="http://schemas.openxmlformats.org/officeDocument/2006/relationships/handoutMaster" Target="handoutMasters/handoutMaster1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74" Type="http://schemas.openxmlformats.org/officeDocument/2006/relationships/slide" Target="slides/slide70.xml"/><Relationship Id="rId79" Type="http://schemas.openxmlformats.org/officeDocument/2006/relationships/slide" Target="slides/slide75.xml"/><Relationship Id="rId102" Type="http://schemas.openxmlformats.org/officeDocument/2006/relationships/slide" Target="slides/slide98.xml"/><Relationship Id="rId5" Type="http://schemas.openxmlformats.org/officeDocument/2006/relationships/slide" Target="slides/slide1.xml"/><Relationship Id="rId90" Type="http://schemas.openxmlformats.org/officeDocument/2006/relationships/slide" Target="slides/slide86.xml"/><Relationship Id="rId95" Type="http://schemas.openxmlformats.org/officeDocument/2006/relationships/slide" Target="slides/slide91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80" Type="http://schemas.openxmlformats.org/officeDocument/2006/relationships/slide" Target="slides/slide76.xml"/><Relationship Id="rId85" Type="http://schemas.openxmlformats.org/officeDocument/2006/relationships/slide" Target="slides/slide81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59" Type="http://schemas.openxmlformats.org/officeDocument/2006/relationships/slide" Target="slides/slide55.xml"/><Relationship Id="rId103" Type="http://schemas.openxmlformats.org/officeDocument/2006/relationships/slide" Target="slides/slide99.xml"/><Relationship Id="rId108" Type="http://schemas.openxmlformats.org/officeDocument/2006/relationships/presProps" Target="presProps.xml"/><Relationship Id="rId54" Type="http://schemas.openxmlformats.org/officeDocument/2006/relationships/slide" Target="slides/slide50.xml"/><Relationship Id="rId70" Type="http://schemas.openxmlformats.org/officeDocument/2006/relationships/slide" Target="slides/slide66.xml"/><Relationship Id="rId75" Type="http://schemas.openxmlformats.org/officeDocument/2006/relationships/slide" Target="slides/slide71.xml"/><Relationship Id="rId91" Type="http://schemas.openxmlformats.org/officeDocument/2006/relationships/slide" Target="slides/slide87.xml"/><Relationship Id="rId96" Type="http://schemas.openxmlformats.org/officeDocument/2006/relationships/slide" Target="slides/slide9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6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slide" Target="slides/slide69.xml"/><Relationship Id="rId78" Type="http://schemas.openxmlformats.org/officeDocument/2006/relationships/slide" Target="slides/slide74.xml"/><Relationship Id="rId81" Type="http://schemas.openxmlformats.org/officeDocument/2006/relationships/slide" Target="slides/slide77.xml"/><Relationship Id="rId86" Type="http://schemas.openxmlformats.org/officeDocument/2006/relationships/slide" Target="slides/slide82.xml"/><Relationship Id="rId94" Type="http://schemas.openxmlformats.org/officeDocument/2006/relationships/slide" Target="slides/slide90.xml"/><Relationship Id="rId99" Type="http://schemas.openxmlformats.org/officeDocument/2006/relationships/slide" Target="slides/slide95.xml"/><Relationship Id="rId101" Type="http://schemas.openxmlformats.org/officeDocument/2006/relationships/slide" Target="slides/slide9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109" Type="http://schemas.openxmlformats.org/officeDocument/2006/relationships/viewProps" Target="viewProps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slide" Target="slides/slide72.xml"/><Relationship Id="rId97" Type="http://schemas.openxmlformats.org/officeDocument/2006/relationships/slide" Target="slides/slide93.xml"/><Relationship Id="rId104" Type="http://schemas.openxmlformats.org/officeDocument/2006/relationships/slide" Target="slides/slide100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92" Type="http://schemas.openxmlformats.org/officeDocument/2006/relationships/slide" Target="slides/slide88.xml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Relationship Id="rId87" Type="http://schemas.openxmlformats.org/officeDocument/2006/relationships/slide" Target="slides/slide83.xml"/><Relationship Id="rId110" Type="http://schemas.openxmlformats.org/officeDocument/2006/relationships/theme" Target="theme/theme1.xml"/><Relationship Id="rId61" Type="http://schemas.openxmlformats.org/officeDocument/2006/relationships/slide" Target="slides/slide57.xml"/><Relationship Id="rId82" Type="http://schemas.openxmlformats.org/officeDocument/2006/relationships/slide" Target="slides/slide78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56" Type="http://schemas.openxmlformats.org/officeDocument/2006/relationships/slide" Target="slides/slide52.xml"/><Relationship Id="rId77" Type="http://schemas.openxmlformats.org/officeDocument/2006/relationships/slide" Target="slides/slide73.xml"/><Relationship Id="rId100" Type="http://schemas.openxmlformats.org/officeDocument/2006/relationships/slide" Target="slides/slide96.xml"/><Relationship Id="rId105" Type="http://schemas.openxmlformats.org/officeDocument/2006/relationships/slide" Target="slides/slide10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93" Type="http://schemas.openxmlformats.org/officeDocument/2006/relationships/slide" Target="slides/slide89.xml"/><Relationship Id="rId98" Type="http://schemas.openxmlformats.org/officeDocument/2006/relationships/slide" Target="slides/slide94.xml"/><Relationship Id="rId3" Type="http://schemas.openxmlformats.org/officeDocument/2006/relationships/customXml" Target="../customXml/item3.xml"/><Relationship Id="rId25" Type="http://schemas.openxmlformats.org/officeDocument/2006/relationships/slide" Target="slides/slide21.xml"/><Relationship Id="rId46" Type="http://schemas.openxmlformats.org/officeDocument/2006/relationships/slide" Target="slides/slide42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62" Type="http://schemas.openxmlformats.org/officeDocument/2006/relationships/slide" Target="slides/slide58.xml"/><Relationship Id="rId83" Type="http://schemas.openxmlformats.org/officeDocument/2006/relationships/slide" Target="slides/slide79.xml"/><Relationship Id="rId88" Type="http://schemas.openxmlformats.org/officeDocument/2006/relationships/slide" Target="slides/slide84.xml"/><Relationship Id="rId111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5E4C8119-7147-4950-9814-12741F90170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EF89A8E-167D-43AB-ACDD-34ABE11B93A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93EC49-901E-4826-90AC-E9E2A45765F8}" type="datetime1"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2025/3/11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4D35728-0997-4463-8B68-BD99A4EFE26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BA9B281-491E-4E63-BE29-A938564DABA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E204D6-AD52-47D1-9462-B2EE6B70CA08}" type="slidenum"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‹#›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8827967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zh-CN"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zh-CN"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4C3A31FB-38D1-4009-8D95-96E678075A76}" type="datetime1">
              <a:rPr lang="zh-CN" altLang="en-US" smtClean="0"/>
              <a:t>2025/3/11</a:t>
            </a:fld>
            <a:endParaRPr 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zh-CN"/>
            </a:defPPr>
          </a:lstStyle>
          <a:p>
            <a:pPr rtl="0"/>
            <a:endParaRPr lang="zh-CN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zh-CN"/>
            </a:defPPr>
          </a:lstStyle>
          <a:p>
            <a:pPr lvl="0" rtl="0"/>
            <a:r>
              <a:rPr lang="zh-CN" dirty="0"/>
              <a:t>单击此处编辑母版文本样式</a:t>
            </a:r>
          </a:p>
          <a:p>
            <a:pPr lvl="1" rtl="0"/>
            <a:r>
              <a:rPr lang="zh-CN" dirty="0"/>
              <a:t>第二级</a:t>
            </a:r>
          </a:p>
          <a:p>
            <a:pPr lvl="2" rtl="0"/>
            <a:r>
              <a:rPr lang="zh-CN" dirty="0"/>
              <a:t>第三级</a:t>
            </a:r>
          </a:p>
          <a:p>
            <a:pPr lvl="3" rtl="0"/>
            <a:r>
              <a:rPr lang="zh-CN" dirty="0"/>
              <a:t>第四级</a:t>
            </a:r>
          </a:p>
          <a:p>
            <a:pPr lvl="4" rtl="0"/>
            <a:r>
              <a:rPr lang="zh-CN" dirty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zh-CN"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zh-CN"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BC0C2C40-CB1C-4820-9151-EC51EC2E7E0F}" type="slidenum">
              <a:rPr lang="en-US" altLang="zh-CN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310589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lang="zh-CN"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1pPr>
    <a:lvl2pPr marL="457200" algn="l" defTabSz="914400" rtl="0" eaLnBrk="1" latinLnBrk="0" hangingPunct="1">
      <a:defRPr lang="zh-CN"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2pPr>
    <a:lvl3pPr marL="914400" algn="l" defTabSz="914400" rtl="0" eaLnBrk="1" latinLnBrk="0" hangingPunct="1">
      <a:defRPr lang="zh-CN"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3pPr>
    <a:lvl4pPr marL="1371600" algn="l" defTabSz="914400" rtl="0" eaLnBrk="1" latinLnBrk="0" hangingPunct="1">
      <a:defRPr lang="zh-CN"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4pPr>
    <a:lvl5pPr marL="1828800" algn="l" defTabSz="914400" rtl="0" eaLnBrk="1" latinLnBrk="0" hangingPunct="1">
      <a:defRPr lang="zh-CN"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5pPr>
    <a:lvl6pPr marL="2286000" algn="l" defTabSz="914400" rtl="0" eaLnBrk="1" latinLnBrk="0" hangingPunct="1">
      <a:defRPr lang="zh-CN" sz="1200" kern="1200">
        <a:solidFill>
          <a:schemeClr val="tx1"/>
        </a:solidFill>
        <a:latin typeface="+mn-cs"/>
        <a:ea typeface="+mn-ea"/>
        <a:cs typeface="+mn-cs"/>
      </a:defRPr>
    </a:lvl6pPr>
    <a:lvl7pPr marL="2743200" algn="l" defTabSz="914400" rtl="0" eaLnBrk="1" latinLnBrk="0" hangingPunct="1">
      <a:defRPr lang="zh-CN" sz="1200" kern="1200">
        <a:solidFill>
          <a:schemeClr val="tx1"/>
        </a:solidFill>
        <a:latin typeface="+mn-cs"/>
        <a:ea typeface="+mn-ea"/>
        <a:cs typeface="+mn-cs"/>
      </a:defRPr>
    </a:lvl7pPr>
    <a:lvl8pPr marL="3200400" algn="l" defTabSz="914400" rtl="0" eaLnBrk="1" latinLnBrk="0" hangingPunct="1">
      <a:defRPr lang="zh-CN" sz="1200" kern="1200">
        <a:solidFill>
          <a:schemeClr val="tx1"/>
        </a:solidFill>
        <a:latin typeface="+mn-cs"/>
        <a:ea typeface="+mn-ea"/>
        <a:cs typeface="+mn-cs"/>
      </a:defRPr>
    </a:lvl8pPr>
    <a:lvl9pPr marL="3657600" algn="l" defTabSz="914400" rtl="0" eaLnBrk="1" latinLnBrk="0" hangingPunct="1">
      <a:defRPr lang="zh-CN" sz="1200" kern="1200">
        <a:solidFill>
          <a:schemeClr val="tx1"/>
        </a:solidFill>
        <a:latin typeface="+mn-cs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BC0C2C40-CB1C-4820-9151-EC51EC2E7E0F}" type="slidenum"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1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660762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88995D-3EB3-83B2-56C8-BCF2CC79C0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969A75E-43BD-8B59-28D1-642706E474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9438F3E-4A9E-E32E-BF09-3683957526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C5B1782-D4FE-9BE8-61BD-FE8F67B7B6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BC0C2C40-CB1C-4820-9151-EC51EC2E7E0F}" type="slidenum"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2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750243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BC0C2C40-CB1C-4820-9151-EC51EC2E7E0F}" type="slidenum"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7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116754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BC0C2C40-CB1C-4820-9151-EC51EC2E7E0F}" type="slidenum"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8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395507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BC0C2C40-CB1C-4820-9151-EC51EC2E7E0F}" type="slidenum"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9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912506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BC0C2C40-CB1C-4820-9151-EC51EC2E7E0F}" type="slidenum"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10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145411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BC0C2C40-CB1C-4820-9151-EC51EC2E7E0F}" type="slidenum"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11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531605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BC0C2C40-CB1C-4820-9151-EC51EC2E7E0F}" type="slidenum"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12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8587026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BC0C2C40-CB1C-4820-9151-EC51EC2E7E0F}" type="slidenum"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13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3691853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BC0C2C40-CB1C-4820-9151-EC51EC2E7E0F}" type="slidenum"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14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2470252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BC0C2C40-CB1C-4820-9151-EC51EC2E7E0F}" type="slidenum"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15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5070910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BC0C2C40-CB1C-4820-9151-EC51EC2E7E0F}" type="slidenum"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16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298842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BC0C2C40-CB1C-4820-9151-EC51EC2E7E0F}" type="slidenum"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17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3482616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BC0C2C40-CB1C-4820-9151-EC51EC2E7E0F}" type="slidenum"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18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9805372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BC0C2C40-CB1C-4820-9151-EC51EC2E7E0F}" type="slidenum"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19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8616498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BC0C2C40-CB1C-4820-9151-EC51EC2E7E0F}" type="slidenum"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20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0956851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BC0C2C40-CB1C-4820-9151-EC51EC2E7E0F}" type="slidenum"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21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0019118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BC0C2C40-CB1C-4820-9151-EC51EC2E7E0F}" type="slidenum"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22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175024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3C4D97-E6A9-8EC8-DCE8-7DD2361806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31ED346-7467-79F4-702F-4B926506EC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0422F5D-74DC-C3AF-F21D-A1A686E8ED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4A6994A-72F2-44F6-A45E-F29BED2215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BC0C2C40-CB1C-4820-9151-EC51EC2E7E0F}" type="slidenum"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24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882835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72012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【1】标题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046857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839588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690128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47090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7030A0">
                <a:alpha val="5000"/>
              </a:srgbClr>
            </a:gs>
            <a:gs pos="100000">
              <a:srgbClr val="00B0F0">
                <a:alpha val="30000"/>
              </a:srgbClr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829154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62" r:id="rId3"/>
    <p:sldLayoutId id="2147483663" r:id="rId4"/>
    <p:sldLayoutId id="2147483664" r:id="rId5"/>
  </p:sldLayoutIdLst>
  <p:hf hdr="0" dt="0"/>
  <p:txStyles>
    <p:titleStyle>
      <a:lvl1pPr algn="l" defTabSz="914391" rtl="0" eaLnBrk="1" latinLnBrk="0" hangingPunct="1">
        <a:lnSpc>
          <a:spcPct val="90000"/>
        </a:lnSpc>
        <a:spcBef>
          <a:spcPct val="0"/>
        </a:spcBef>
        <a:buNone/>
        <a:defRPr lang="zh-CN" sz="4400" b="1" kern="1200">
          <a:solidFill>
            <a:schemeClr val="tx1"/>
          </a:solidFill>
          <a:latin typeface="+mj-cs"/>
          <a:ea typeface="+mj-ea"/>
          <a:cs typeface="+mj-cs"/>
        </a:defRPr>
      </a:lvl1pPr>
    </p:titleStyle>
    <p:bodyStyle>
      <a:lvl1pPr marL="228598" indent="-228598" algn="l" defTabSz="914391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zh-CN" sz="2800" kern="1200">
          <a:solidFill>
            <a:schemeClr val="tx1"/>
          </a:solidFill>
          <a:latin typeface="+mn-cs"/>
          <a:ea typeface="+mn-ea"/>
          <a:cs typeface="+mn-cs"/>
        </a:defRPr>
      </a:lvl1pPr>
      <a:lvl2pPr marL="685793" indent="-228598" algn="l" defTabSz="91439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zh-CN" sz="2400" kern="1200">
          <a:solidFill>
            <a:schemeClr val="tx1"/>
          </a:solidFill>
          <a:latin typeface="+mn-cs"/>
          <a:ea typeface="+mn-ea"/>
          <a:cs typeface="+mn-cs"/>
        </a:defRPr>
      </a:lvl2pPr>
      <a:lvl3pPr marL="1142989" indent="-228598" algn="l" defTabSz="91439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zh-CN" sz="2000" kern="1200">
          <a:solidFill>
            <a:schemeClr val="tx1"/>
          </a:solidFill>
          <a:latin typeface="+mn-cs"/>
          <a:ea typeface="+mn-ea"/>
          <a:cs typeface="+mn-cs"/>
        </a:defRPr>
      </a:lvl3pPr>
      <a:lvl4pPr marL="1600185" indent="-228598" algn="l" defTabSz="91439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zh-CN" sz="1800" kern="1200">
          <a:solidFill>
            <a:schemeClr val="tx1"/>
          </a:solidFill>
          <a:latin typeface="+mn-cs"/>
          <a:ea typeface="+mn-ea"/>
          <a:cs typeface="+mn-cs"/>
        </a:defRPr>
      </a:lvl4pPr>
      <a:lvl5pPr marL="2057380" indent="-228598" algn="l" defTabSz="91439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zh-CN" sz="1800" kern="1200">
          <a:solidFill>
            <a:schemeClr val="tx1"/>
          </a:solidFill>
          <a:latin typeface="+mn-cs"/>
          <a:ea typeface="+mn-ea"/>
          <a:cs typeface="+mn-cs"/>
        </a:defRPr>
      </a:lvl5pPr>
      <a:lvl6pPr marL="2514576" indent="-228598" algn="l" defTabSz="91439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zh-CN" sz="1800" kern="1200">
          <a:solidFill>
            <a:schemeClr val="tx1"/>
          </a:solidFill>
          <a:latin typeface="+mn-cs"/>
          <a:ea typeface="+mn-ea"/>
          <a:cs typeface="+mn-cs"/>
        </a:defRPr>
      </a:lvl6pPr>
      <a:lvl7pPr marL="2971772" indent="-228598" algn="l" defTabSz="91439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zh-CN" sz="1800" kern="1200">
          <a:solidFill>
            <a:schemeClr val="tx1"/>
          </a:solidFill>
          <a:latin typeface="+mn-cs"/>
          <a:ea typeface="+mn-ea"/>
          <a:cs typeface="+mn-cs"/>
        </a:defRPr>
      </a:lvl7pPr>
      <a:lvl8pPr marL="3428967" indent="-228598" algn="l" defTabSz="91439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zh-CN" sz="1800" kern="1200">
          <a:solidFill>
            <a:schemeClr val="tx1"/>
          </a:solidFill>
          <a:latin typeface="+mn-cs"/>
          <a:ea typeface="+mn-ea"/>
          <a:cs typeface="+mn-cs"/>
        </a:defRPr>
      </a:lvl8pPr>
      <a:lvl9pPr marL="3886163" indent="-228598" algn="l" defTabSz="91439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zh-CN" sz="1800" kern="1200">
          <a:solidFill>
            <a:schemeClr val="tx1"/>
          </a:solidFill>
          <a:latin typeface="+mn-cs"/>
          <a:ea typeface="+mn-ea"/>
          <a:cs typeface="+mn-cs"/>
        </a:defRPr>
      </a:lvl9pPr>
    </p:bodyStyle>
    <p:otherStyle>
      <a:defPPr>
        <a:defRPr lang="zh-CN"/>
      </a:defPPr>
      <a:lvl1pPr marL="0" algn="l" defTabSz="914391" rtl="0" eaLnBrk="1" latinLnBrk="0" hangingPunct="1">
        <a:defRPr lang="zh-CN" sz="1800" kern="1200">
          <a:solidFill>
            <a:schemeClr val="tx1"/>
          </a:solidFill>
          <a:latin typeface="+mn-cs"/>
          <a:ea typeface="+mn-ea"/>
          <a:cs typeface="+mn-cs"/>
        </a:defRPr>
      </a:lvl1pPr>
      <a:lvl2pPr marL="457196" algn="l" defTabSz="914391" rtl="0" eaLnBrk="1" latinLnBrk="0" hangingPunct="1">
        <a:defRPr lang="zh-CN" sz="1800" kern="1200">
          <a:solidFill>
            <a:schemeClr val="tx1"/>
          </a:solidFill>
          <a:latin typeface="+mn-cs"/>
          <a:ea typeface="+mn-ea"/>
          <a:cs typeface="+mn-cs"/>
        </a:defRPr>
      </a:lvl2pPr>
      <a:lvl3pPr marL="914391" algn="l" defTabSz="914391" rtl="0" eaLnBrk="1" latinLnBrk="0" hangingPunct="1">
        <a:defRPr lang="zh-CN" sz="1800" kern="1200">
          <a:solidFill>
            <a:schemeClr val="tx1"/>
          </a:solidFill>
          <a:latin typeface="+mn-cs"/>
          <a:ea typeface="+mn-ea"/>
          <a:cs typeface="+mn-cs"/>
        </a:defRPr>
      </a:lvl3pPr>
      <a:lvl4pPr marL="1371587" algn="l" defTabSz="914391" rtl="0" eaLnBrk="1" latinLnBrk="0" hangingPunct="1">
        <a:defRPr lang="zh-CN" sz="1800" kern="1200">
          <a:solidFill>
            <a:schemeClr val="tx1"/>
          </a:solidFill>
          <a:latin typeface="+mn-cs"/>
          <a:ea typeface="+mn-ea"/>
          <a:cs typeface="+mn-cs"/>
        </a:defRPr>
      </a:lvl4pPr>
      <a:lvl5pPr marL="1828783" algn="l" defTabSz="914391" rtl="0" eaLnBrk="1" latinLnBrk="0" hangingPunct="1">
        <a:defRPr lang="zh-CN" sz="1800" kern="1200">
          <a:solidFill>
            <a:schemeClr val="tx1"/>
          </a:solidFill>
          <a:latin typeface="+mn-cs"/>
          <a:ea typeface="+mn-ea"/>
          <a:cs typeface="+mn-cs"/>
        </a:defRPr>
      </a:lvl5pPr>
      <a:lvl6pPr marL="2285978" algn="l" defTabSz="914391" rtl="0" eaLnBrk="1" latinLnBrk="0" hangingPunct="1">
        <a:defRPr lang="zh-CN" sz="1800" kern="1200">
          <a:solidFill>
            <a:schemeClr val="tx1"/>
          </a:solidFill>
          <a:latin typeface="+mn-cs"/>
          <a:ea typeface="+mn-ea"/>
          <a:cs typeface="+mn-cs"/>
        </a:defRPr>
      </a:lvl6pPr>
      <a:lvl7pPr marL="2743174" algn="l" defTabSz="914391" rtl="0" eaLnBrk="1" latinLnBrk="0" hangingPunct="1">
        <a:defRPr lang="zh-CN" sz="1800" kern="1200">
          <a:solidFill>
            <a:schemeClr val="tx1"/>
          </a:solidFill>
          <a:latin typeface="+mn-cs"/>
          <a:ea typeface="+mn-ea"/>
          <a:cs typeface="+mn-cs"/>
        </a:defRPr>
      </a:lvl7pPr>
      <a:lvl8pPr marL="3200370" algn="l" defTabSz="914391" rtl="0" eaLnBrk="1" latinLnBrk="0" hangingPunct="1">
        <a:defRPr lang="zh-CN" sz="1800" kern="1200">
          <a:solidFill>
            <a:schemeClr val="tx1"/>
          </a:solidFill>
          <a:latin typeface="+mn-cs"/>
          <a:ea typeface="+mn-ea"/>
          <a:cs typeface="+mn-cs"/>
        </a:defRPr>
      </a:lvl8pPr>
      <a:lvl9pPr marL="3657565" algn="l" defTabSz="914391" rtl="0" eaLnBrk="1" latinLnBrk="0" hangingPunct="1">
        <a:defRPr lang="zh-CN" sz="1800" kern="1200">
          <a:solidFill>
            <a:schemeClr val="tx1"/>
          </a:solidFill>
          <a:latin typeface="+mn-cs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13" Type="http://schemas.openxmlformats.org/officeDocument/2006/relationships/slide" Target="slide3.xml"/><Relationship Id="rId18" Type="http://schemas.openxmlformats.org/officeDocument/2006/relationships/image" Target="../media/image7.png"/><Relationship Id="rId26" Type="http://schemas.openxmlformats.org/officeDocument/2006/relationships/image" Target="../media/image90.png"/><Relationship Id="rId3" Type="http://schemas.openxmlformats.org/officeDocument/2006/relationships/image" Target="../media/image2.png"/><Relationship Id="rId7" Type="http://schemas.openxmlformats.org/officeDocument/2006/relationships/slide" Target="slide66.xml"/><Relationship Id="rId12" Type="http://schemas.openxmlformats.org/officeDocument/2006/relationships/image" Target="../media/image5.png"/><Relationship Id="rId17" Type="http://schemas.openxmlformats.org/officeDocument/2006/relationships/image" Target="../media/image60.png"/><Relationship Id="rId25" Type="http://schemas.openxmlformats.org/officeDocument/2006/relationships/slide" Target="slide136.xml"/><Relationship Id="rId2" Type="http://schemas.openxmlformats.org/officeDocument/2006/relationships/notesSlide" Target="../notesSlides/notesSlide2.xml"/><Relationship Id="rId16" Type="http://schemas.openxmlformats.org/officeDocument/2006/relationships/slide" Target="slide51.xml"/><Relationship Id="rId20" Type="http://schemas.openxmlformats.org/officeDocument/2006/relationships/image" Target="../media/image70.png"/><Relationship Id="rId29" Type="http://schemas.openxmlformats.org/officeDocument/2006/relationships/image" Target="../media/image10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1" Type="http://schemas.openxmlformats.org/officeDocument/2006/relationships/image" Target="../media/image40.png"/><Relationship Id="rId5" Type="http://schemas.openxmlformats.org/officeDocument/2006/relationships/image" Target="../media/image210.png"/><Relationship Id="rId15" Type="http://schemas.openxmlformats.org/officeDocument/2006/relationships/image" Target="../media/image6.png"/><Relationship Id="rId23" Type="http://schemas.openxmlformats.org/officeDocument/2006/relationships/image" Target="../media/image80.png"/><Relationship Id="rId28" Type="http://schemas.openxmlformats.org/officeDocument/2006/relationships/slide" Target="slide150.xml"/><Relationship Id="rId10" Type="http://schemas.openxmlformats.org/officeDocument/2006/relationships/slide" Target="slide87.xml"/><Relationship Id="rId19" Type="http://schemas.openxmlformats.org/officeDocument/2006/relationships/slide" Target="slide103.xml"/><Relationship Id="rId4" Type="http://schemas.openxmlformats.org/officeDocument/2006/relationships/slide" Target="slide23.xml"/><Relationship Id="rId9" Type="http://schemas.openxmlformats.org/officeDocument/2006/relationships/image" Target="../media/image4.png"/><Relationship Id="rId14" Type="http://schemas.openxmlformats.org/officeDocument/2006/relationships/image" Target="../media/image50.png"/><Relationship Id="rId22" Type="http://schemas.openxmlformats.org/officeDocument/2006/relationships/slide" Target="slide1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5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5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5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5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5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5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5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5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5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5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5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5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5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5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5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5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5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5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5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5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5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5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5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5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5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5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5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5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5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5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5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5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5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5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5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5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5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5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5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5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5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5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5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5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5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5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5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5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5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5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5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黑爵(AJAZZ)手柄/方向盘AG180报价_参数_图片_视频_怎么样_问答-苏宁易购">
            <a:extLst>
              <a:ext uri="{FF2B5EF4-FFF2-40B4-BE49-F238E27FC236}">
                <a16:creationId xmlns:a16="http://schemas.microsoft.com/office/drawing/2014/main" id="{8BC5C896-95E9-37C9-5D87-93A6AC1D4E3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45" t="9275" r="3752" b="5379"/>
          <a:stretch/>
        </p:blipFill>
        <p:spPr bwMode="auto">
          <a:xfrm>
            <a:off x="6630660" y="1616743"/>
            <a:ext cx="7054860" cy="65231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27A3C5A0-8747-F286-F73D-6238675BE2D3}"/>
              </a:ext>
            </a:extLst>
          </p:cNvPr>
          <p:cNvSpPr txBox="1"/>
          <p:nvPr/>
        </p:nvSpPr>
        <p:spPr>
          <a:xfrm>
            <a:off x="2906670" y="1542073"/>
            <a:ext cx="6378669" cy="31085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800" b="1" dirty="0">
                <a:gradFill>
                  <a:gsLst>
                    <a:gs pos="100000">
                      <a:srgbClr val="7030A0"/>
                    </a:gs>
                    <a:gs pos="0">
                      <a:srgbClr val="00B0F0"/>
                    </a:gs>
                  </a:gsLst>
                  <a:lin ang="13500000" scaled="1"/>
                </a:gra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C# </a:t>
            </a:r>
            <a:r>
              <a:rPr lang="zh-CN" altLang="en-US" sz="8800" b="1" dirty="0">
                <a:gradFill>
                  <a:gsLst>
                    <a:gs pos="100000">
                      <a:srgbClr val="7030A0"/>
                    </a:gs>
                    <a:gs pos="0">
                      <a:srgbClr val="00B0F0"/>
                    </a:gs>
                  </a:gsLst>
                  <a:lin ang="13500000" scaled="1"/>
                </a:gra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编程</a:t>
            </a:r>
            <a:r>
              <a:rPr lang="zh-CN" altLang="en-US" sz="8800" b="1" dirty="0">
                <a:gradFill>
                  <a:gsLst>
                    <a:gs pos="100000">
                      <a:srgbClr val="7030A0"/>
                    </a:gs>
                    <a:gs pos="0">
                      <a:srgbClr val="00B0F0"/>
                    </a:gs>
                  </a:gsLst>
                  <a:lin ang="13500000" scaled="1"/>
                </a:gra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语言</a:t>
            </a:r>
            <a:endParaRPr lang="en-US" altLang="zh-CN" sz="8800" b="1" dirty="0">
              <a:gradFill>
                <a:gsLst>
                  <a:gs pos="100000">
                    <a:srgbClr val="7030A0"/>
                  </a:gs>
                  <a:gs pos="0">
                    <a:srgbClr val="00B0F0"/>
                  </a:gs>
                </a:gsLst>
                <a:lin ang="13500000" scaled="1"/>
              </a:gra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ctr"/>
            <a:endParaRPr lang="en-US" altLang="zh-CN" sz="36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ctr"/>
            <a:r>
              <a:rPr lang="zh-CN" altLang="en-US" sz="3600" dirty="0">
                <a:latin typeface="楷体" panose="02010609060101010101" pitchFamily="49" charset="-122"/>
                <a:ea typeface="楷体" panose="02010609060101010101" pitchFamily="49" charset="-122"/>
              </a:rPr>
              <a:t>魏 军</a:t>
            </a:r>
            <a:endParaRPr lang="en-US" altLang="zh-CN" sz="36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ctr"/>
            <a:r>
              <a:rPr lang="zh-CN" altLang="en-US" sz="3600" dirty="0">
                <a:latin typeface="楷体" panose="02010609060101010101" pitchFamily="49" charset="-122"/>
                <a:ea typeface="楷体" panose="02010609060101010101" pitchFamily="49" charset="-122"/>
              </a:rPr>
              <a:t>计算机与软件学院</a:t>
            </a:r>
            <a:endParaRPr lang="en-US" altLang="zh-CN" sz="36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385902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90AD85-33A7-5C0A-9494-D548277493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框 13">
            <a:extLst>
              <a:ext uri="{FF2B5EF4-FFF2-40B4-BE49-F238E27FC236}">
                <a16:creationId xmlns:a16="http://schemas.microsoft.com/office/drawing/2014/main" id="{97BFC5C3-AC43-8A27-7AEE-A6261CBF7DDF}"/>
              </a:ext>
            </a:extLst>
          </p:cNvPr>
          <p:cNvSpPr txBox="1"/>
          <p:nvPr/>
        </p:nvSpPr>
        <p:spPr>
          <a:xfrm>
            <a:off x="5190305" y="0"/>
            <a:ext cx="2114681" cy="12464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7500" b="1" dirty="0">
                <a:latin typeface="楷体" panose="02010609060101010101" pitchFamily="49" charset="-122"/>
                <a:ea typeface="楷体" panose="02010609060101010101" pitchFamily="49" charset="-122"/>
              </a:rPr>
              <a:t>目录</a:t>
            </a:r>
            <a:endParaRPr lang="en-US" altLang="zh-CN" sz="75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mc:AlternateContent xmlns:mc="http://schemas.openxmlformats.org/markup-compatibility/2006" xmlns:psez="http://schemas.microsoft.com/office/powerpoint/2016/sectionzoom">
        <mc:Choice Requires="psez">
          <p:graphicFrame>
            <p:nvGraphicFramePr>
              <p:cNvPr id="5" name="节缩放定位 4">
                <a:extLst>
                  <a:ext uri="{FF2B5EF4-FFF2-40B4-BE49-F238E27FC236}">
                    <a16:creationId xmlns:a16="http://schemas.microsoft.com/office/drawing/2014/main" id="{F446786C-12F5-CC04-F575-56F151691F25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074602281"/>
                  </p:ext>
                </p:extLst>
              </p:nvPr>
            </p:nvGraphicFramePr>
            <p:xfrm>
              <a:off x="4826000" y="1422400"/>
              <a:ext cx="2843292" cy="1599352"/>
            </p:xfrm>
            <a:graphic>
              <a:graphicData uri="http://schemas.microsoft.com/office/powerpoint/2016/sectionzoom">
                <psez:sectionZm>
                  <psez:sectionZmObj sectionId="{1AE67E61-5307-4FDC-8155-9FCBAA59DB3F}">
                    <psez:zmPr id="{BA413227-EF72-4D6B-AC84-022EC286F717}" transitionDur="1000">
                      <p166:blipFill xmlns:p166="http://schemas.microsoft.com/office/powerpoint/2016/6/main">
                        <a:blip r:embed="rId3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843292" cy="1599352"/>
                        </a:xfrm>
                        <a:prstGeom prst="rect">
                          <a:avLst/>
                        </a:prstGeom>
                      </p166:spPr>
                    </psez:zmPr>
                  </psez:sectionZmObj>
                </psez:sectionZm>
              </a:graphicData>
            </a:graphic>
          </p:graphicFrame>
        </mc:Choice>
        <mc:Fallback xmlns="">
          <p:pic>
            <p:nvPicPr>
              <p:cNvPr id="5" name="节缩放定位 4">
                <a:hlinkClick r:id="rId4" action="ppaction://hlinksldjump"/>
                <a:extLst>
                  <a:ext uri="{FF2B5EF4-FFF2-40B4-BE49-F238E27FC236}">
                    <a16:creationId xmlns:a16="http://schemas.microsoft.com/office/drawing/2014/main" id="{F446786C-12F5-CC04-F575-56F151691F25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826000" y="1422400"/>
                <a:ext cx="2843292" cy="159935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sez="http://schemas.microsoft.com/office/powerpoint/2016/sectionzoom">
        <mc:Choice Requires="psez">
          <p:graphicFrame>
            <p:nvGraphicFramePr>
              <p:cNvPr id="7" name="节缩放定位 6">
                <a:extLst>
                  <a:ext uri="{FF2B5EF4-FFF2-40B4-BE49-F238E27FC236}">
                    <a16:creationId xmlns:a16="http://schemas.microsoft.com/office/drawing/2014/main" id="{DEF00A95-3DDD-909D-4B06-941D61DD89CB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764690687"/>
                  </p:ext>
                </p:extLst>
              </p:nvPr>
            </p:nvGraphicFramePr>
            <p:xfrm>
              <a:off x="1841259" y="3143674"/>
              <a:ext cx="2843292" cy="1599352"/>
            </p:xfrm>
            <a:graphic>
              <a:graphicData uri="http://schemas.microsoft.com/office/powerpoint/2016/sectionzoom">
                <psez:sectionZm>
                  <psez:sectionZmObj sectionId="{3C0A6D69-647D-47E5-9C66-C6AB6B189FD1}">
                    <psez:zmPr id="{C899EDA1-4798-42BB-8EDF-38625338DFC8}" transitionDur="1000">
                      <p166:blipFill xmlns:p166="http://schemas.microsoft.com/office/powerpoint/2016/6/main">
                        <a:blip r:embed="rId6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843292" cy="1599352"/>
                        </a:xfrm>
                        <a:prstGeom prst="rect">
                          <a:avLst/>
                        </a:prstGeom>
                      </p166:spPr>
                    </psez:zmPr>
                  </psez:sectionZmObj>
                </psez:sectionZm>
              </a:graphicData>
            </a:graphic>
          </p:graphicFrame>
        </mc:Choice>
        <mc:Fallback xmlns="">
          <p:pic>
            <p:nvPicPr>
              <p:cNvPr id="7" name="节缩放定位 6">
                <a:hlinkClick r:id="rId7" action="ppaction://hlinksldjump"/>
                <a:extLst>
                  <a:ext uri="{FF2B5EF4-FFF2-40B4-BE49-F238E27FC236}">
                    <a16:creationId xmlns:a16="http://schemas.microsoft.com/office/drawing/2014/main" id="{DEF00A95-3DDD-909D-4B06-941D61DD89CB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841259" y="3143674"/>
                <a:ext cx="2843292" cy="159935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sez="http://schemas.microsoft.com/office/powerpoint/2016/sectionzoom">
        <mc:Choice Requires="psez">
          <p:graphicFrame>
            <p:nvGraphicFramePr>
              <p:cNvPr id="9" name="节缩放定位 8">
                <a:extLst>
                  <a:ext uri="{FF2B5EF4-FFF2-40B4-BE49-F238E27FC236}">
                    <a16:creationId xmlns:a16="http://schemas.microsoft.com/office/drawing/2014/main" id="{D3065351-05DE-2537-FE65-FA6898C488F0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271951287"/>
                  </p:ext>
                </p:extLst>
              </p:nvPr>
            </p:nvGraphicFramePr>
            <p:xfrm>
              <a:off x="4826000" y="3143674"/>
              <a:ext cx="2843292" cy="1599352"/>
            </p:xfrm>
            <a:graphic>
              <a:graphicData uri="http://schemas.microsoft.com/office/powerpoint/2016/sectionzoom">
                <psez:sectionZm>
                  <psez:sectionZmObj sectionId="{D5A92DD0-2D95-4FB7-9C94-5DAA390B9338}">
                    <psez:zmPr id="{F3D676CE-8C4B-403F-AE4F-C21AFC59ACE0}" transitionDur="1000">
                      <p166:blipFill xmlns:p166="http://schemas.microsoft.com/office/powerpoint/2016/6/main">
                        <a:blip r:embed="rId9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843292" cy="1599352"/>
                        </a:xfrm>
                        <a:prstGeom prst="rect">
                          <a:avLst/>
                        </a:prstGeom>
                      </p166:spPr>
                    </psez:zmPr>
                  </psez:sectionZmObj>
                </psez:sectionZm>
              </a:graphicData>
            </a:graphic>
          </p:graphicFrame>
        </mc:Choice>
        <mc:Fallback xmlns="">
          <p:pic>
            <p:nvPicPr>
              <p:cNvPr id="9" name="节缩放定位 8">
                <a:hlinkClick r:id="rId10" action="ppaction://hlinksldjump"/>
                <a:extLst>
                  <a:ext uri="{FF2B5EF4-FFF2-40B4-BE49-F238E27FC236}">
                    <a16:creationId xmlns:a16="http://schemas.microsoft.com/office/drawing/2014/main" id="{D3065351-05DE-2537-FE65-FA6898C488F0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826000" y="3143674"/>
                <a:ext cx="2843292" cy="159935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sez="http://schemas.microsoft.com/office/powerpoint/2016/sectionzoom">
        <mc:Choice Requires="psez">
          <p:graphicFrame>
            <p:nvGraphicFramePr>
              <p:cNvPr id="11" name="节缩放定位 10">
                <a:extLst>
                  <a:ext uri="{FF2B5EF4-FFF2-40B4-BE49-F238E27FC236}">
                    <a16:creationId xmlns:a16="http://schemas.microsoft.com/office/drawing/2014/main" id="{B7D320D3-FE07-6542-94D6-DE98CFEAC790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554474114"/>
                  </p:ext>
                </p:extLst>
              </p:nvPr>
            </p:nvGraphicFramePr>
            <p:xfrm>
              <a:off x="1841259" y="1422400"/>
              <a:ext cx="2843292" cy="1599352"/>
            </p:xfrm>
            <a:graphic>
              <a:graphicData uri="http://schemas.microsoft.com/office/powerpoint/2016/sectionzoom">
                <psez:sectionZm>
                  <psez:sectionZmObj sectionId="{40E0B3D3-8388-4C8E-AC13-4C6126E506B1}">
                    <psez:zmPr id="{933FC8F8-1348-4244-ADBB-60CBAB125B59}" transitionDur="1000">
                      <p166:blipFill xmlns:p166="http://schemas.microsoft.com/office/powerpoint/2016/6/main">
                        <a:blip r:embed="rId1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843292" cy="1599352"/>
                        </a:xfrm>
                        <a:prstGeom prst="rect">
                          <a:avLst/>
                        </a:prstGeom>
                      </p166:spPr>
                    </psez:zmPr>
                  </psez:sectionZmObj>
                </psez:sectionZm>
              </a:graphicData>
            </a:graphic>
          </p:graphicFrame>
        </mc:Choice>
        <mc:Fallback xmlns="">
          <p:pic>
            <p:nvPicPr>
              <p:cNvPr id="11" name="节缩放定位 10">
                <a:hlinkClick r:id="rId13" action="ppaction://hlinksldjump"/>
                <a:extLst>
                  <a:ext uri="{FF2B5EF4-FFF2-40B4-BE49-F238E27FC236}">
                    <a16:creationId xmlns:a16="http://schemas.microsoft.com/office/drawing/2014/main" id="{B7D320D3-FE07-6542-94D6-DE98CFEAC790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841259" y="1422400"/>
                <a:ext cx="2843292" cy="159935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sez="http://schemas.microsoft.com/office/powerpoint/2016/sectionzoom">
        <mc:Choice Requires="psez">
          <p:graphicFrame>
            <p:nvGraphicFramePr>
              <p:cNvPr id="3" name="节缩放定位 2">
                <a:extLst>
                  <a:ext uri="{FF2B5EF4-FFF2-40B4-BE49-F238E27FC236}">
                    <a16:creationId xmlns:a16="http://schemas.microsoft.com/office/drawing/2014/main" id="{A53CF300-3FDA-EA40-FFBB-529626DDA3F2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808468025"/>
                  </p:ext>
                </p:extLst>
              </p:nvPr>
            </p:nvGraphicFramePr>
            <p:xfrm>
              <a:off x="7810741" y="1422400"/>
              <a:ext cx="2843292" cy="1599352"/>
            </p:xfrm>
            <a:graphic>
              <a:graphicData uri="http://schemas.microsoft.com/office/powerpoint/2016/sectionzoom">
                <psez:sectionZm>
                  <psez:sectionZmObj sectionId="{54CA77C5-8727-416C-9F79-AD6C8328547C}">
                    <psez:zmPr id="{E127372C-D6D3-4A09-A7E9-28D1DD9E0323}" transitionDur="1000">
                      <p166:blipFill xmlns:p166="http://schemas.microsoft.com/office/powerpoint/2016/6/main">
                        <a:blip r:embed="rId15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843292" cy="1599352"/>
                        </a:xfrm>
                        <a:prstGeom prst="rect">
                          <a:avLst/>
                        </a:prstGeom>
                      </p166:spPr>
                    </psez:zmPr>
                  </psez:sectionZmObj>
                </psez:sectionZm>
              </a:graphicData>
            </a:graphic>
          </p:graphicFrame>
        </mc:Choice>
        <mc:Fallback xmlns="">
          <p:pic>
            <p:nvPicPr>
              <p:cNvPr id="3" name="节缩放定位 2">
                <a:hlinkClick r:id="rId16" action="ppaction://hlinksldjump"/>
                <a:extLst>
                  <a:ext uri="{FF2B5EF4-FFF2-40B4-BE49-F238E27FC236}">
                    <a16:creationId xmlns:a16="http://schemas.microsoft.com/office/drawing/2014/main" id="{A53CF300-3FDA-EA40-FFBB-529626DDA3F2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7810741" y="1422400"/>
                <a:ext cx="2843292" cy="159935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sez="http://schemas.microsoft.com/office/powerpoint/2016/sectionzoom">
        <mc:Choice Requires="psez">
          <p:graphicFrame>
            <p:nvGraphicFramePr>
              <p:cNvPr id="6" name="节缩放定位 5">
                <a:extLst>
                  <a:ext uri="{FF2B5EF4-FFF2-40B4-BE49-F238E27FC236}">
                    <a16:creationId xmlns:a16="http://schemas.microsoft.com/office/drawing/2014/main" id="{B9248D5F-4FBA-7A9C-0171-AD2F78EA6318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915986767"/>
                  </p:ext>
                </p:extLst>
              </p:nvPr>
            </p:nvGraphicFramePr>
            <p:xfrm>
              <a:off x="7810741" y="3143674"/>
              <a:ext cx="2843292" cy="1599352"/>
            </p:xfrm>
            <a:graphic>
              <a:graphicData uri="http://schemas.microsoft.com/office/powerpoint/2016/sectionzoom">
                <psez:sectionZm>
                  <psez:sectionZmObj sectionId="{A41EEFEB-C162-4B06-918A-F8FA99ED06B0}">
                    <psez:zmPr id="{1F40FD5A-E8B0-4FB4-8F4E-FE14142A9E37}" transitionDur="1000">
                      <p166:blipFill xmlns:p166="http://schemas.microsoft.com/office/powerpoint/2016/6/main">
                        <a:blip r:embed="rId18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843292" cy="1599352"/>
                        </a:xfrm>
                        <a:prstGeom prst="rect">
                          <a:avLst/>
                        </a:prstGeom>
                      </p166:spPr>
                    </psez:zmPr>
                  </psez:sectionZmObj>
                </psez:sectionZm>
              </a:graphicData>
            </a:graphic>
          </p:graphicFrame>
        </mc:Choice>
        <mc:Fallback xmlns="">
          <p:pic>
            <p:nvPicPr>
              <p:cNvPr id="6" name="节缩放定位 5">
                <a:hlinkClick r:id="rId19" action="ppaction://hlinksldjump"/>
                <a:extLst>
                  <a:ext uri="{FF2B5EF4-FFF2-40B4-BE49-F238E27FC236}">
                    <a16:creationId xmlns:a16="http://schemas.microsoft.com/office/drawing/2014/main" id="{B9248D5F-4FBA-7A9C-0171-AD2F78EA6318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7810741" y="3143674"/>
                <a:ext cx="2843292" cy="159935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sez="http://schemas.microsoft.com/office/powerpoint/2016/sectionzoom">
        <mc:Choice Requires="psez">
          <p:graphicFrame>
            <p:nvGraphicFramePr>
              <p:cNvPr id="10" name="节缩放定位 9">
                <a:extLst>
                  <a:ext uri="{FF2B5EF4-FFF2-40B4-BE49-F238E27FC236}">
                    <a16:creationId xmlns:a16="http://schemas.microsoft.com/office/drawing/2014/main" id="{B5B14BA6-E811-2C31-BB89-56F0027A3F55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898738913"/>
                  </p:ext>
                </p:extLst>
              </p:nvPr>
            </p:nvGraphicFramePr>
            <p:xfrm>
              <a:off x="1841259" y="4864948"/>
              <a:ext cx="2843292" cy="1599352"/>
            </p:xfrm>
            <a:graphic>
              <a:graphicData uri="http://schemas.microsoft.com/office/powerpoint/2016/sectionzoom">
                <psez:sectionZm>
                  <psez:sectionZmObj sectionId="{EBFAB6CD-F1C2-4EAA-8EAF-DEBAF38490A6}">
                    <psez:zmPr id="{6DE98C08-76E6-4D51-B5B9-01D20369B8D7}" transitionDur="1000">
                      <p166:blipFill xmlns:p166="http://schemas.microsoft.com/office/powerpoint/2016/6/main">
                        <a:blip r:embed="rId18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843292" cy="1599352"/>
                        </a:xfrm>
                        <a:prstGeom prst="rect">
                          <a:avLst/>
                        </a:prstGeom>
                      </p166:spPr>
                    </psez:zmPr>
                  </psez:sectionZmObj>
                </psez:sectionZm>
              </a:graphicData>
            </a:graphic>
          </p:graphicFrame>
        </mc:Choice>
        <mc:Fallback xmlns="">
          <p:pic>
            <p:nvPicPr>
              <p:cNvPr id="10" name="节缩放定位 9">
                <a:hlinkClick r:id="rId22" action="ppaction://hlinksldjump"/>
                <a:extLst>
                  <a:ext uri="{FF2B5EF4-FFF2-40B4-BE49-F238E27FC236}">
                    <a16:creationId xmlns:a16="http://schemas.microsoft.com/office/drawing/2014/main" id="{B5B14BA6-E811-2C31-BB89-56F0027A3F55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841259" y="4864948"/>
                <a:ext cx="2843292" cy="159935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sez="http://schemas.microsoft.com/office/powerpoint/2016/sectionzoom">
        <mc:Choice Requires="psez">
          <p:graphicFrame>
            <p:nvGraphicFramePr>
              <p:cNvPr id="13" name="节缩放定位 12">
                <a:extLst>
                  <a:ext uri="{FF2B5EF4-FFF2-40B4-BE49-F238E27FC236}">
                    <a16:creationId xmlns:a16="http://schemas.microsoft.com/office/drawing/2014/main" id="{F2796A7D-4C03-0293-634B-537096539891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561930263"/>
                  </p:ext>
                </p:extLst>
              </p:nvPr>
            </p:nvGraphicFramePr>
            <p:xfrm>
              <a:off x="4826000" y="4864948"/>
              <a:ext cx="2843292" cy="1599352"/>
            </p:xfrm>
            <a:graphic>
              <a:graphicData uri="http://schemas.microsoft.com/office/powerpoint/2016/sectionzoom">
                <psez:sectionZm>
                  <psez:sectionZmObj sectionId="{AEBD0ED8-B447-4DE8-A789-4728F5581BF1}">
                    <psez:zmPr id="{FE42D771-4D48-4F6D-9CAD-6166F7E3BD76}" transitionDur="1000">
                      <p166:blipFill xmlns:p166="http://schemas.microsoft.com/office/powerpoint/2016/6/main">
                        <a:blip r:embed="rId18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843292" cy="1599352"/>
                        </a:xfrm>
                        <a:prstGeom prst="rect">
                          <a:avLst/>
                        </a:prstGeom>
                      </p166:spPr>
                    </psez:zmPr>
                  </psez:sectionZmObj>
                </psez:sectionZm>
              </a:graphicData>
            </a:graphic>
          </p:graphicFrame>
        </mc:Choice>
        <mc:Fallback xmlns="">
          <p:pic>
            <p:nvPicPr>
              <p:cNvPr id="13" name="节缩放定位 12">
                <a:hlinkClick r:id="rId25" action="ppaction://hlinksldjump"/>
                <a:extLst>
                  <a:ext uri="{FF2B5EF4-FFF2-40B4-BE49-F238E27FC236}">
                    <a16:creationId xmlns:a16="http://schemas.microsoft.com/office/drawing/2014/main" id="{F2796A7D-4C03-0293-634B-537096539891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4826000" y="4864948"/>
                <a:ext cx="2843292" cy="159935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sez="http://schemas.microsoft.com/office/powerpoint/2016/sectionzoom">
        <mc:Choice Requires="psez">
          <p:graphicFrame>
            <p:nvGraphicFramePr>
              <p:cNvPr id="17" name="节缩放定位 16">
                <a:extLst>
                  <a:ext uri="{FF2B5EF4-FFF2-40B4-BE49-F238E27FC236}">
                    <a16:creationId xmlns:a16="http://schemas.microsoft.com/office/drawing/2014/main" id="{CE364496-45A7-9470-7222-8BF423B38917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608584249"/>
                  </p:ext>
                </p:extLst>
              </p:nvPr>
            </p:nvGraphicFramePr>
            <p:xfrm>
              <a:off x="7810741" y="4864948"/>
              <a:ext cx="2843292" cy="1599352"/>
            </p:xfrm>
            <a:graphic>
              <a:graphicData uri="http://schemas.microsoft.com/office/powerpoint/2016/sectionzoom">
                <psez:sectionZm>
                  <psez:sectionZmObj sectionId="{C644BD2A-9945-45A2-B70B-133A2299D713}">
                    <psez:zmPr id="{7DCABAF4-BD6A-4801-A1D1-42F501840829}" transitionDur="1000">
                      <p166:blipFill xmlns:p166="http://schemas.microsoft.com/office/powerpoint/2016/6/main">
                        <a:blip r:embed="rId18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843292" cy="1599352"/>
                        </a:xfrm>
                        <a:prstGeom prst="rect">
                          <a:avLst/>
                        </a:prstGeom>
                      </p166:spPr>
                    </psez:zmPr>
                  </psez:sectionZmObj>
                </psez:sectionZm>
              </a:graphicData>
            </a:graphic>
          </p:graphicFrame>
        </mc:Choice>
        <mc:Fallback xmlns="">
          <p:pic>
            <p:nvPicPr>
              <p:cNvPr id="17" name="节缩放定位 16">
                <a:hlinkClick r:id="rId28" action="ppaction://hlinksldjump"/>
                <a:extLst>
                  <a:ext uri="{FF2B5EF4-FFF2-40B4-BE49-F238E27FC236}">
                    <a16:creationId xmlns:a16="http://schemas.microsoft.com/office/drawing/2014/main" id="{CE364496-45A7-9470-7222-8BF423B38917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7810741" y="4864948"/>
                <a:ext cx="2843292" cy="1599352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281499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6A4752-9089-026F-9843-029D5EB3E3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">
            <a:extLst>
              <a:ext uri="{FF2B5EF4-FFF2-40B4-BE49-F238E27FC236}">
                <a16:creationId xmlns:a16="http://schemas.microsoft.com/office/drawing/2014/main" id="{8190B39D-7DE7-A745-E2FD-B29195DC8755}"/>
              </a:ext>
            </a:extLst>
          </p:cNvPr>
          <p:cNvSpPr txBox="1">
            <a:spLocks noChangeArrowheads="1"/>
          </p:cNvSpPr>
          <p:nvPr/>
        </p:nvSpPr>
        <p:spPr>
          <a:xfrm>
            <a:off x="3523059" y="2776088"/>
            <a:ext cx="5145882" cy="1305823"/>
          </a:xfrm>
          <a:prstGeom prst="rect">
            <a:avLst/>
          </a:prstGeom>
          <a:noFill/>
        </p:spPr>
        <p:txBody>
          <a:bodyPr lIns="0" tIns="0" rIns="0" bIns="0"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b="1" kern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b="1" kern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b="1" kern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b="1" kern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None/>
            </a:pPr>
            <a:r>
              <a:rPr lang="zh-CN" altLang="en-US" sz="10000" dirty="0">
                <a:latin typeface="楷体" panose="02010609060101010101" pitchFamily="49" charset="-122"/>
                <a:ea typeface="楷体" panose="02010609060101010101" pitchFamily="49" charset="-122"/>
              </a:rPr>
              <a:t>语言简介</a:t>
            </a:r>
            <a:endParaRPr kumimoji="0" lang="en-US" altLang="zh-CN" sz="100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4" name="Picture 4" descr="黑爵(AJAZZ)手柄/方向盘AG180报价_参数_图片_视频_怎么样_问答-苏宁易购">
            <a:extLst>
              <a:ext uri="{FF2B5EF4-FFF2-40B4-BE49-F238E27FC236}">
                <a16:creationId xmlns:a16="http://schemas.microsoft.com/office/drawing/2014/main" id="{7670A439-CB97-7447-2F49-1B95BD8881F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45" t="9275" r="3752" b="5379"/>
          <a:stretch/>
        </p:blipFill>
        <p:spPr bwMode="auto">
          <a:xfrm>
            <a:off x="6630660" y="1616743"/>
            <a:ext cx="7054860" cy="65231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920170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F1649D-159E-053F-86AF-4BE50911F4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E9D34B5B-E0BF-9357-6C85-778BF6A775A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2810"/>
          <a:stretch/>
        </p:blipFill>
        <p:spPr bwMode="auto">
          <a:xfrm>
            <a:off x="478824" y="1629021"/>
            <a:ext cx="1584176" cy="302433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2">
            <a:extLst>
              <a:ext uri="{FF2B5EF4-FFF2-40B4-BE49-F238E27FC236}">
                <a16:creationId xmlns:a16="http://schemas.microsoft.com/office/drawing/2014/main" id="{AB41B94B-05D5-4BA3-6141-523CFA77D02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500"/>
          <a:stretch/>
        </p:blipFill>
        <p:spPr bwMode="auto">
          <a:xfrm>
            <a:off x="4151232" y="1628800"/>
            <a:ext cx="1512168" cy="302433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9C4402F0-FAC9-B5BE-190C-FECED3FFAF2F}"/>
              </a:ext>
            </a:extLst>
          </p:cNvPr>
          <p:cNvSpPr/>
          <p:nvPr/>
        </p:nvSpPr>
        <p:spPr>
          <a:xfrm>
            <a:off x="2387036" y="2888829"/>
            <a:ext cx="1332148" cy="504277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bg1"/>
                </a:solidFill>
              </a:rPr>
              <a:t>自然语言</a:t>
            </a:r>
          </a:p>
        </p:txBody>
      </p: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C1A90137-22A6-E27A-E671-D88EEB20C5B0}"/>
              </a:ext>
            </a:extLst>
          </p:cNvPr>
          <p:cNvCxnSpPr>
            <a:stCxn id="2050" idx="3"/>
            <a:endCxn id="13" idx="1"/>
          </p:cNvCxnSpPr>
          <p:nvPr/>
        </p:nvCxnSpPr>
        <p:spPr>
          <a:xfrm flipV="1">
            <a:off x="2063000" y="3140968"/>
            <a:ext cx="324036" cy="22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6693096B-06D0-3320-4A27-40EBD38A2903}"/>
              </a:ext>
            </a:extLst>
          </p:cNvPr>
          <p:cNvCxnSpPr>
            <a:cxnSpLocks/>
            <a:stCxn id="13" idx="3"/>
            <a:endCxn id="12" idx="1"/>
          </p:cNvCxnSpPr>
          <p:nvPr/>
        </p:nvCxnSpPr>
        <p:spPr>
          <a:xfrm>
            <a:off x="3719184" y="3140968"/>
            <a:ext cx="432048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4" name="Picture 6">
            <a:extLst>
              <a:ext uri="{FF2B5EF4-FFF2-40B4-BE49-F238E27FC236}">
                <a16:creationId xmlns:a16="http://schemas.microsoft.com/office/drawing/2014/main" id="{2AD51D36-15A6-ECA5-294F-F14557196FA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49" t="16800" r="4451" b="14952"/>
          <a:stretch/>
        </p:blipFill>
        <p:spPr bwMode="auto">
          <a:xfrm>
            <a:off x="9503089" y="2438751"/>
            <a:ext cx="2396385" cy="18543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2">
            <a:extLst>
              <a:ext uri="{FF2B5EF4-FFF2-40B4-BE49-F238E27FC236}">
                <a16:creationId xmlns:a16="http://schemas.microsoft.com/office/drawing/2014/main" id="{41EF7E58-BE51-4E99-6C2F-EB11E34C4E4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2810"/>
          <a:stretch/>
        </p:blipFill>
        <p:spPr bwMode="auto">
          <a:xfrm>
            <a:off x="6484797" y="1628799"/>
            <a:ext cx="1584176" cy="302433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4C2B0D03-00CE-E383-D18D-F4072D095C7A}"/>
              </a:ext>
            </a:extLst>
          </p:cNvPr>
          <p:cNvSpPr/>
          <p:nvPr/>
        </p:nvSpPr>
        <p:spPr>
          <a:xfrm>
            <a:off x="8381874" y="2851599"/>
            <a:ext cx="1332148" cy="504277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bg1"/>
                </a:solidFill>
              </a:rPr>
              <a:t>编程语言</a:t>
            </a:r>
          </a:p>
        </p:txBody>
      </p: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674AEAEB-510F-C939-B353-5AD80AB74737}"/>
              </a:ext>
            </a:extLst>
          </p:cNvPr>
          <p:cNvCxnSpPr>
            <a:endCxn id="22" idx="1"/>
          </p:cNvCxnSpPr>
          <p:nvPr/>
        </p:nvCxnSpPr>
        <p:spPr>
          <a:xfrm flipV="1">
            <a:off x="8057838" y="3103738"/>
            <a:ext cx="324036" cy="22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C76855E0-5C09-3C1E-6C8B-48ECD863203F}"/>
              </a:ext>
            </a:extLst>
          </p:cNvPr>
          <p:cNvCxnSpPr>
            <a:cxnSpLocks/>
            <a:stCxn id="22" idx="3"/>
          </p:cNvCxnSpPr>
          <p:nvPr/>
        </p:nvCxnSpPr>
        <p:spPr>
          <a:xfrm>
            <a:off x="9714022" y="3103738"/>
            <a:ext cx="432048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3">
            <a:extLst>
              <a:ext uri="{FF2B5EF4-FFF2-40B4-BE49-F238E27FC236}">
                <a16:creationId xmlns:a16="http://schemas.microsoft.com/office/drawing/2014/main" id="{A8293789-D11C-F312-74D4-65D49329791F}"/>
              </a:ext>
            </a:extLst>
          </p:cNvPr>
          <p:cNvSpPr txBox="1">
            <a:spLocks/>
          </p:cNvSpPr>
          <p:nvPr/>
        </p:nvSpPr>
        <p:spPr>
          <a:xfrm>
            <a:off x="880435" y="5045480"/>
            <a:ext cx="4345349" cy="727478"/>
          </a:xfrm>
          <a:prstGeom prst="rect">
            <a:avLst/>
          </a:prstGeom>
        </p:spPr>
        <p:txBody>
          <a:bodyPr vert="horz" wrap="square" lIns="91440" tIns="45720" rIns="91440" bIns="4572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1" kern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1" kern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1" kern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lnSpc>
                <a:spcPct val="100000"/>
              </a:lnSpc>
              <a:buNone/>
            </a:pP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sym typeface="+mn-ea"/>
              </a:rPr>
              <a:t>人与人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sym typeface="+mn-ea"/>
              </a:rPr>
              <a:t>沟通使用自然语言</a:t>
            </a:r>
          </a:p>
        </p:txBody>
      </p:sp>
      <p:sp>
        <p:nvSpPr>
          <p:cNvPr id="28" name="Rectangle 3">
            <a:extLst>
              <a:ext uri="{FF2B5EF4-FFF2-40B4-BE49-F238E27FC236}">
                <a16:creationId xmlns:a16="http://schemas.microsoft.com/office/drawing/2014/main" id="{8E693F40-26DA-3C22-F8EC-50B4E784E031}"/>
              </a:ext>
            </a:extLst>
          </p:cNvPr>
          <p:cNvSpPr txBox="1">
            <a:spLocks/>
          </p:cNvSpPr>
          <p:nvPr/>
        </p:nvSpPr>
        <p:spPr>
          <a:xfrm>
            <a:off x="6948010" y="5050316"/>
            <a:ext cx="4507454" cy="727478"/>
          </a:xfrm>
          <a:prstGeom prst="rect">
            <a:avLst/>
          </a:prstGeom>
        </p:spPr>
        <p:txBody>
          <a:bodyPr vert="horz" wrap="square" lIns="91440" tIns="45720" rIns="91440" bIns="4572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1" kern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1" kern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1" kern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lnSpc>
                <a:spcPct val="100000"/>
              </a:lnSpc>
              <a:buNone/>
            </a:pP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sym typeface="+mn-ea"/>
              </a:rPr>
              <a:t>人与机器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sym typeface="+mn-ea"/>
              </a:rPr>
              <a:t>沟通使用编程语言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F2799994-DBB7-E3D6-0F9D-2E1341794A66}"/>
              </a:ext>
            </a:extLst>
          </p:cNvPr>
          <p:cNvGrpSpPr/>
          <p:nvPr/>
        </p:nvGrpSpPr>
        <p:grpSpPr>
          <a:xfrm>
            <a:off x="4337831" y="251474"/>
            <a:ext cx="3516338" cy="471065"/>
            <a:chOff x="4840431" y="207541"/>
            <a:chExt cx="3516338" cy="471065"/>
          </a:xfrm>
        </p:grpSpPr>
        <p:pic>
          <p:nvPicPr>
            <p:cNvPr id="3" name="Picture 4" descr="黑爵(AJAZZ)手柄/方向盘AG180报价_参数_图片_视频_怎么样_问答-苏宁易购">
              <a:extLst>
                <a:ext uri="{FF2B5EF4-FFF2-40B4-BE49-F238E27FC236}">
                  <a16:creationId xmlns:a16="http://schemas.microsoft.com/office/drawing/2014/main" id="{1BD704A8-CB46-000B-191B-16555081F24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45" t="9275" r="3752" b="5379"/>
            <a:stretch/>
          </p:blipFill>
          <p:spPr bwMode="auto">
            <a:xfrm>
              <a:off x="4840431" y="301989"/>
              <a:ext cx="407315" cy="37661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0BC8ACEF-1C3A-6BCF-DC55-E45629CE89D8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5298546" y="207541"/>
              <a:ext cx="3058223" cy="471065"/>
            </a:xfrm>
            <a:prstGeom prst="rect">
              <a:avLst/>
            </a:prstGeom>
            <a:noFill/>
          </p:spPr>
          <p:txBody>
            <a:bodyPr lIns="90488" tIns="44450" rIns="90488" bIns="44450"/>
            <a:lstStyle>
              <a:lvl1pPr marL="171450" indent="-17145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1pPr>
              <a:lvl2pPr marL="5143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8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2pPr>
              <a:lvl3pPr marL="8572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3pPr>
              <a:lvl4pPr marL="12001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4pPr>
              <a:lvl5pPr marL="15430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fontAlgn="base">
                <a:lnSpc>
                  <a:spcPct val="100000"/>
                </a:lnSpc>
                <a:buNone/>
              </a:pPr>
              <a:r>
                <a:rPr lang="zh-CN" altLang="en-US" sz="3200" dirty="0">
                  <a:latin typeface="Times New Roman" panose="02020603050405020304" pitchFamily="18" charset="0"/>
                  <a:ea typeface="楷体" panose="02010609060101010101" pitchFamily="49" charset="-122"/>
                  <a:sym typeface="+mn-ea"/>
                </a:rPr>
                <a:t>什么是编程语言</a:t>
              </a:r>
            </a:p>
          </p:txBody>
        </p:sp>
      </p:grp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BAE7D2ED-2C87-21CE-2847-B0545D99FF00}"/>
              </a:ext>
            </a:extLst>
          </p:cNvPr>
          <p:cNvSpPr/>
          <p:nvPr/>
        </p:nvSpPr>
        <p:spPr>
          <a:xfrm>
            <a:off x="248743" y="1417320"/>
            <a:ext cx="5623643" cy="3535680"/>
          </a:xfrm>
          <a:prstGeom prst="roundRect">
            <a:avLst>
              <a:gd name="adj" fmla="val 3791"/>
            </a:avLst>
          </a:prstGeom>
          <a:gradFill>
            <a:gsLst>
              <a:gs pos="0">
                <a:srgbClr val="7030A0">
                  <a:alpha val="5000"/>
                </a:srgbClr>
              </a:gs>
              <a:gs pos="100000">
                <a:srgbClr val="00B0F0">
                  <a:alpha val="5000"/>
                </a:srgbClr>
              </a:gs>
            </a:gsLst>
            <a:lin ang="13500000" scaled="1"/>
          </a:gradFill>
          <a:ln>
            <a:gradFill>
              <a:gsLst>
                <a:gs pos="0">
                  <a:srgbClr val="0070C0"/>
                </a:gs>
                <a:gs pos="100000">
                  <a:srgbClr val="7030A0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endParaRPr lang="zh-CN" altLang="en-US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楷体" panose="02010609060101010101" pitchFamily="49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634C252E-C001-C282-248F-CD3DA60677DE}"/>
              </a:ext>
            </a:extLst>
          </p:cNvPr>
          <p:cNvSpPr/>
          <p:nvPr/>
        </p:nvSpPr>
        <p:spPr>
          <a:xfrm>
            <a:off x="6196423" y="1417320"/>
            <a:ext cx="5746834" cy="3535680"/>
          </a:xfrm>
          <a:prstGeom prst="roundRect">
            <a:avLst>
              <a:gd name="adj" fmla="val 3791"/>
            </a:avLst>
          </a:prstGeom>
          <a:gradFill>
            <a:gsLst>
              <a:gs pos="0">
                <a:srgbClr val="7030A0">
                  <a:alpha val="5000"/>
                </a:srgbClr>
              </a:gs>
              <a:gs pos="100000">
                <a:srgbClr val="00B0F0">
                  <a:alpha val="5000"/>
                </a:srgbClr>
              </a:gs>
            </a:gsLst>
            <a:lin ang="13500000" scaled="1"/>
          </a:gradFill>
          <a:ln>
            <a:gradFill>
              <a:gsLst>
                <a:gs pos="0">
                  <a:srgbClr val="0070C0"/>
                </a:gs>
                <a:gs pos="100000">
                  <a:srgbClr val="7030A0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endParaRPr lang="zh-CN" altLang="en-US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楷体" panose="02010609060101010101" pitchFamily="49" charset="-122"/>
              <a:cs typeface="宋体" panose="02010600030101010101" pitchFamily="2" charset="-122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7511673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DB017852-D734-D683-8B6E-02DC8A6F41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500"/>
          <a:stretch/>
        </p:blipFill>
        <p:spPr>
          <a:xfrm>
            <a:off x="3428823" y="932941"/>
            <a:ext cx="5141893" cy="5589240"/>
          </a:xfrm>
          <a:prstGeom prst="rect">
            <a:avLst/>
          </a:prstGeom>
        </p:spPr>
      </p:pic>
      <p:grpSp>
        <p:nvGrpSpPr>
          <p:cNvPr id="2" name="组合 1">
            <a:extLst>
              <a:ext uri="{FF2B5EF4-FFF2-40B4-BE49-F238E27FC236}">
                <a16:creationId xmlns:a16="http://schemas.microsoft.com/office/drawing/2014/main" id="{28433C93-FE12-E744-12D3-825F1585C8DD}"/>
              </a:ext>
            </a:extLst>
          </p:cNvPr>
          <p:cNvGrpSpPr/>
          <p:nvPr/>
        </p:nvGrpSpPr>
        <p:grpSpPr>
          <a:xfrm>
            <a:off x="4320051" y="238845"/>
            <a:ext cx="3551898" cy="473591"/>
            <a:chOff x="4840431" y="194912"/>
            <a:chExt cx="3551898" cy="473591"/>
          </a:xfrm>
        </p:grpSpPr>
        <p:pic>
          <p:nvPicPr>
            <p:cNvPr id="5" name="Picture 4" descr="黑爵(AJAZZ)手柄/方向盘AG180报价_参数_图片_视频_怎么样_问答-苏宁易购">
              <a:extLst>
                <a:ext uri="{FF2B5EF4-FFF2-40B4-BE49-F238E27FC236}">
                  <a16:creationId xmlns:a16="http://schemas.microsoft.com/office/drawing/2014/main" id="{22B192E5-C7C5-A123-CA81-515BF9EF793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45" t="9275" r="3752" b="5379"/>
            <a:stretch/>
          </p:blipFill>
          <p:spPr bwMode="auto">
            <a:xfrm>
              <a:off x="4840431" y="291886"/>
              <a:ext cx="407315" cy="37661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Rectangle 3">
              <a:extLst>
                <a:ext uri="{FF2B5EF4-FFF2-40B4-BE49-F238E27FC236}">
                  <a16:creationId xmlns:a16="http://schemas.microsoft.com/office/drawing/2014/main" id="{2153CDB5-2C31-1468-A3A5-2BC5C522F5B5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5298546" y="194912"/>
              <a:ext cx="3093783" cy="471065"/>
            </a:xfrm>
            <a:prstGeom prst="rect">
              <a:avLst/>
            </a:prstGeom>
            <a:noFill/>
          </p:spPr>
          <p:txBody>
            <a:bodyPr lIns="90488" tIns="44450" rIns="90488" bIns="44450"/>
            <a:lstStyle>
              <a:lvl1pPr marL="171450" indent="-17145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1pPr>
              <a:lvl2pPr marL="5143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8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2pPr>
              <a:lvl3pPr marL="8572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3pPr>
              <a:lvl4pPr marL="12001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4pPr>
              <a:lvl5pPr marL="15430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fontAlgn="base">
                <a:lnSpc>
                  <a:spcPct val="100000"/>
                </a:lnSpc>
                <a:buNone/>
              </a:pPr>
              <a:r>
                <a:rPr lang="zh-CN" altLang="en-US" sz="3200" dirty="0">
                  <a:latin typeface="Times New Roman" panose="02020603050405020304" pitchFamily="18" charset="0"/>
                  <a:ea typeface="楷体" panose="02010609060101010101" pitchFamily="49" charset="-122"/>
                  <a:sym typeface="+mn-ea"/>
                </a:rPr>
                <a:t>常见的编程语言</a:t>
              </a:r>
            </a:p>
          </p:txBody>
        </p:sp>
      </p:grp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E118E73D-0AEE-F9D1-7E4C-47BE65F89689}"/>
              </a:ext>
            </a:extLst>
          </p:cNvPr>
          <p:cNvSpPr/>
          <p:nvPr/>
        </p:nvSpPr>
        <p:spPr>
          <a:xfrm>
            <a:off x="3428823" y="4198094"/>
            <a:ext cx="1264119" cy="1621401"/>
          </a:xfrm>
          <a:prstGeom prst="roundRect">
            <a:avLst>
              <a:gd name="adj" fmla="val 3791"/>
            </a:avLst>
          </a:prstGeom>
          <a:gradFill>
            <a:gsLst>
              <a:gs pos="0">
                <a:srgbClr val="7030A0">
                  <a:alpha val="5000"/>
                </a:srgbClr>
              </a:gs>
              <a:gs pos="100000">
                <a:srgbClr val="00B0F0">
                  <a:alpha val="5000"/>
                </a:srgbClr>
              </a:gs>
            </a:gsLst>
            <a:lin ang="13500000" scaled="1"/>
          </a:gradFill>
          <a:ln w="25400">
            <a:gradFill>
              <a:gsLst>
                <a:gs pos="0">
                  <a:srgbClr val="0070C0"/>
                </a:gs>
                <a:gs pos="100000">
                  <a:srgbClr val="7030A0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endParaRPr lang="zh-CN" altLang="en-US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楷体" panose="02010609060101010101" pitchFamily="49" charset="-122"/>
              <a:cs typeface="宋体" panose="02010600030101010101" pitchFamily="2" charset="-122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7303437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074FBE-5BB7-F11E-7464-2823A91717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E862670E-1F45-EF00-D66E-17121B4138B4}"/>
              </a:ext>
            </a:extLst>
          </p:cNvPr>
          <p:cNvSpPr txBox="1"/>
          <p:nvPr/>
        </p:nvSpPr>
        <p:spPr>
          <a:xfrm>
            <a:off x="1860561" y="5775529"/>
            <a:ext cx="892899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黑体" panose="02010609060101010101" charset="-122"/>
              </a:rPr>
              <a:t>全球知名TIOBE编程语言社区发布</a:t>
            </a:r>
            <a:r>
              <a:rPr lang="zh-CN" sz="24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黑体" panose="02010609060101010101" charset="-122"/>
              </a:rPr>
              <a:t>的</a:t>
            </a:r>
            <a:r>
              <a:rPr lang="en-US" altLang="zh-CN" sz="24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黑体" panose="02010609060101010101" charset="-122"/>
              </a:rPr>
              <a:t>2024</a:t>
            </a:r>
            <a:r>
              <a:rPr lang="zh-CN" altLang="en-US" sz="24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黑体" panose="02010609060101010101" charset="-122"/>
              </a:rPr>
              <a:t>年</a:t>
            </a:r>
            <a:r>
              <a:rPr sz="24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黑体" panose="02010609060101010101" charset="-122"/>
              </a:rPr>
              <a:t>1</a:t>
            </a:r>
            <a:r>
              <a:rPr lang="en-US" sz="24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黑体" panose="02010609060101010101" charset="-122"/>
              </a:rPr>
              <a:t>0</a:t>
            </a:r>
            <a:r>
              <a:rPr sz="24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黑体" panose="02010609060101010101" charset="-122"/>
              </a:rPr>
              <a:t>月编程语言排行榜</a:t>
            </a:r>
          </a:p>
          <a:p>
            <a:pPr algn="ctr"/>
            <a:r>
              <a:rPr lang="en-US" sz="2400" b="1" dirty="0">
                <a:solidFill>
                  <a:srgbClr val="A7357F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黑体" panose="02010609060101010101" charset="-122"/>
              </a:rPr>
              <a:t>C# </a:t>
            </a:r>
            <a:r>
              <a:rPr lang="zh-CN" altLang="en-US" sz="2400" b="1" dirty="0">
                <a:solidFill>
                  <a:srgbClr val="A7357F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黑体" panose="02010609060101010101" charset="-122"/>
              </a:rPr>
              <a:t>在该排行榜排名第五</a:t>
            </a: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B7866830-65A4-38A5-BA64-009970AEE24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53" t="1701" r="2374" b="48520"/>
          <a:stretch/>
        </p:blipFill>
        <p:spPr bwMode="auto">
          <a:xfrm>
            <a:off x="2306320" y="985520"/>
            <a:ext cx="7985760" cy="46915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矩形: 圆角 3">
            <a:extLst>
              <a:ext uri="{FF2B5EF4-FFF2-40B4-BE49-F238E27FC236}">
                <a16:creationId xmlns:a16="http://schemas.microsoft.com/office/drawing/2014/main" id="{CFC8DB28-E6EC-C1BC-3A8F-A6F06EA44B2B}"/>
              </a:ext>
            </a:extLst>
          </p:cNvPr>
          <p:cNvSpPr/>
          <p:nvPr/>
        </p:nvSpPr>
        <p:spPr>
          <a:xfrm>
            <a:off x="2306320" y="3069695"/>
            <a:ext cx="7985760" cy="445665"/>
          </a:xfrm>
          <a:prstGeom prst="roundRect">
            <a:avLst>
              <a:gd name="adj" fmla="val 3791"/>
            </a:avLst>
          </a:prstGeom>
          <a:gradFill>
            <a:gsLst>
              <a:gs pos="0">
                <a:srgbClr val="7030A0">
                  <a:alpha val="5000"/>
                </a:srgbClr>
              </a:gs>
              <a:gs pos="100000">
                <a:srgbClr val="00B0F0">
                  <a:alpha val="5000"/>
                </a:srgbClr>
              </a:gs>
            </a:gsLst>
            <a:lin ang="13500000" scaled="1"/>
          </a:gradFill>
          <a:ln w="25400">
            <a:gradFill>
              <a:gsLst>
                <a:gs pos="0">
                  <a:srgbClr val="0070C0"/>
                </a:gs>
                <a:gs pos="100000">
                  <a:srgbClr val="7030A0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endParaRPr lang="zh-CN" altLang="en-US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楷体" panose="02010609060101010101" pitchFamily="49" charset="-122"/>
              <a:cs typeface="宋体" panose="02010600030101010101" pitchFamily="2" charset="-122"/>
              <a:sym typeface="+mn-ea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D38F25B5-538A-797A-CE24-A98FCFEFA111}"/>
              </a:ext>
            </a:extLst>
          </p:cNvPr>
          <p:cNvGrpSpPr/>
          <p:nvPr/>
        </p:nvGrpSpPr>
        <p:grpSpPr>
          <a:xfrm>
            <a:off x="4320051" y="238845"/>
            <a:ext cx="3551898" cy="473591"/>
            <a:chOff x="4840431" y="194912"/>
            <a:chExt cx="3551898" cy="473591"/>
          </a:xfrm>
        </p:grpSpPr>
        <p:pic>
          <p:nvPicPr>
            <p:cNvPr id="7" name="Picture 4" descr="黑爵(AJAZZ)手柄/方向盘AG180报价_参数_图片_视频_怎么样_问答-苏宁易购">
              <a:extLst>
                <a:ext uri="{FF2B5EF4-FFF2-40B4-BE49-F238E27FC236}">
                  <a16:creationId xmlns:a16="http://schemas.microsoft.com/office/drawing/2014/main" id="{809E6730-DA14-2874-3C72-3A43191B970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45" t="9275" r="3752" b="5379"/>
            <a:stretch/>
          </p:blipFill>
          <p:spPr bwMode="auto">
            <a:xfrm>
              <a:off x="4840431" y="291886"/>
              <a:ext cx="407315" cy="37661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" name="Rectangle 3">
              <a:extLst>
                <a:ext uri="{FF2B5EF4-FFF2-40B4-BE49-F238E27FC236}">
                  <a16:creationId xmlns:a16="http://schemas.microsoft.com/office/drawing/2014/main" id="{7898092C-446B-434F-8026-ECE2038C5995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5298546" y="194912"/>
              <a:ext cx="3093783" cy="471065"/>
            </a:xfrm>
            <a:prstGeom prst="rect">
              <a:avLst/>
            </a:prstGeom>
            <a:noFill/>
          </p:spPr>
          <p:txBody>
            <a:bodyPr lIns="90488" tIns="44450" rIns="90488" bIns="44450"/>
            <a:lstStyle>
              <a:lvl1pPr marL="171450" indent="-17145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1pPr>
              <a:lvl2pPr marL="5143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8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2pPr>
              <a:lvl3pPr marL="8572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3pPr>
              <a:lvl4pPr marL="12001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4pPr>
              <a:lvl5pPr marL="15430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fontAlgn="base">
                <a:lnSpc>
                  <a:spcPct val="100000"/>
                </a:lnSpc>
                <a:buNone/>
              </a:pPr>
              <a:r>
                <a:rPr lang="zh-CN" altLang="en-US" sz="3200" dirty="0">
                  <a:latin typeface="Times New Roman" panose="02020603050405020304" pitchFamily="18" charset="0"/>
                  <a:ea typeface="楷体" panose="02010609060101010101" pitchFamily="49" charset="-122"/>
                  <a:sym typeface="+mn-ea"/>
                </a:rPr>
                <a:t>常见的编程语言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630427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B3C1D5B-11AC-48D7-B0A0-63BC88617D64}"/>
              </a:ext>
            </a:extLst>
          </p:cNvPr>
          <p:cNvSpPr>
            <a:spLocks noGrp="1"/>
          </p:cNvSpPr>
          <p:nvPr>
            <p:ph sz="quarter" idx="4294967295"/>
          </p:nvPr>
        </p:nvSpPr>
        <p:spPr>
          <a:xfrm>
            <a:off x="1337267" y="1037074"/>
            <a:ext cx="9051333" cy="3725700"/>
          </a:xfrm>
          <a:prstGeom prst="rect">
            <a:avLst/>
          </a:prstGeom>
        </p:spPr>
        <p:txBody>
          <a:bodyPr rtlCol="0">
            <a:noAutofit/>
          </a:bodyPr>
          <a:lstStyle>
            <a:defPPr>
              <a:defRPr lang="zh-CN"/>
            </a:defPPr>
          </a:lstStyle>
          <a:p>
            <a:pPr rtl="0">
              <a:lnSpc>
                <a:spcPct val="120000"/>
              </a:lnSpc>
            </a:pPr>
            <a:r>
              <a:rPr lang="zh-CN" altLang="en-US" sz="2800" b="1" dirty="0">
                <a:solidFill>
                  <a:schemeClr val="accent5">
                    <a:lumMod val="75000"/>
                  </a:schemeClr>
                </a:solidFill>
                <a:latin typeface="+mj-ea"/>
                <a:ea typeface="+mj-ea"/>
                <a:cs typeface="Microsoft YaHei UI" panose="020B0502040204020203" pitchFamily="34" charset="0"/>
              </a:rPr>
              <a:t>理解</a:t>
            </a:r>
            <a:r>
              <a:rPr lang="en-US" altLang="zh-CN" sz="28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C#</a:t>
            </a:r>
            <a:r>
              <a:rPr lang="zh-CN" altLang="en-US" sz="2800" b="1" dirty="0">
                <a:solidFill>
                  <a:schemeClr val="accent5">
                    <a:lumMod val="75000"/>
                  </a:schemeClr>
                </a:solidFill>
                <a:latin typeface="+mj-ea"/>
                <a:ea typeface="+mj-ea"/>
                <a:cs typeface="Microsoft YaHei UI" panose="020B0502040204020203" pitchFamily="34" charset="0"/>
              </a:rPr>
              <a:t>的特性</a:t>
            </a:r>
            <a:endParaRPr lang="en-US" altLang="zh-CN" sz="2800" b="1" dirty="0">
              <a:solidFill>
                <a:schemeClr val="accent5">
                  <a:lumMod val="75000"/>
                </a:schemeClr>
              </a:solidFill>
              <a:latin typeface="+mj-ea"/>
              <a:ea typeface="+mj-ea"/>
              <a:cs typeface="Microsoft YaHei UI" panose="020B0502040204020203" pitchFamily="34" charset="0"/>
            </a:endParaRPr>
          </a:p>
          <a:p>
            <a:pPr lvl="1">
              <a:lnSpc>
                <a:spcPct val="120000"/>
              </a:lnSpc>
            </a:pPr>
            <a:r>
              <a:rPr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C#</a:t>
            </a:r>
            <a:r>
              <a:rPr lang="zh-CN" altLang="en-US" sz="2400" b="1" dirty="0">
                <a:latin typeface="+mj-ea"/>
                <a:ea typeface="+mj-ea"/>
              </a:rPr>
              <a:t>是一种编译型语言</a:t>
            </a:r>
            <a:endParaRPr lang="en-US" altLang="zh-CN" sz="2400" b="1" dirty="0">
              <a:latin typeface="+mj-ea"/>
              <a:ea typeface="+mj-ea"/>
            </a:endParaRPr>
          </a:p>
          <a:p>
            <a:pPr lvl="1">
              <a:lnSpc>
                <a:spcPct val="120000"/>
              </a:lnSpc>
            </a:pPr>
            <a:r>
              <a:rPr lang="en-US" altLang="zh-CN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C#</a:t>
            </a:r>
            <a:r>
              <a:rPr lang="zh-CN" altLang="en-US" sz="2400" b="1" dirty="0">
                <a:latin typeface="+mj-ea"/>
                <a:ea typeface="+mj-ea"/>
              </a:rPr>
              <a:t>是托管代码</a:t>
            </a:r>
            <a:endParaRPr lang="en-US" altLang="zh-CN" sz="2400" b="1" dirty="0">
              <a:latin typeface="+mj-ea"/>
              <a:ea typeface="+mj-ea"/>
            </a:endParaRPr>
          </a:p>
          <a:p>
            <a:pPr lvl="1">
              <a:lnSpc>
                <a:spcPct val="120000"/>
              </a:lnSpc>
            </a:pPr>
            <a:r>
              <a:rPr lang="en-US" altLang="zh-CN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C#</a:t>
            </a:r>
            <a:r>
              <a:rPr lang="zh-CN" altLang="en-US" sz="2400" b="1" dirty="0">
                <a:latin typeface="+mj-ea"/>
                <a:ea typeface="+mj-ea"/>
              </a:rPr>
              <a:t>是一种强类型语言</a:t>
            </a:r>
            <a:endParaRPr lang="en-US" altLang="zh-CN" sz="2400" b="1" dirty="0">
              <a:latin typeface="+mj-ea"/>
              <a:ea typeface="+mj-ea"/>
            </a:endParaRPr>
          </a:p>
          <a:p>
            <a:pPr lvl="1">
              <a:lnSpc>
                <a:spcPct val="120000"/>
              </a:lnSpc>
            </a:pPr>
            <a:r>
              <a:rPr lang="en-US" altLang="zh-CN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C#</a:t>
            </a:r>
            <a:r>
              <a:rPr lang="zh-CN" altLang="en-US" sz="2400" b="1" dirty="0">
                <a:latin typeface="+mj-ea"/>
                <a:ea typeface="+mj-ea"/>
              </a:rPr>
              <a:t>是基于函数的语言</a:t>
            </a:r>
            <a:endParaRPr lang="en-US" altLang="zh-CN" sz="2400" b="1" dirty="0">
              <a:latin typeface="+mj-ea"/>
              <a:ea typeface="+mj-ea"/>
            </a:endParaRPr>
          </a:p>
          <a:p>
            <a:pPr lvl="1">
              <a:lnSpc>
                <a:spcPct val="120000"/>
              </a:lnSpc>
            </a:pPr>
            <a:r>
              <a:rPr lang="en-US" altLang="zh-CN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C#</a:t>
            </a:r>
            <a:r>
              <a:rPr lang="zh-CN" altLang="en-US" sz="2400" b="1" dirty="0">
                <a:latin typeface="+mj-ea"/>
                <a:ea typeface="+mj-ea"/>
              </a:rPr>
              <a:t>是面向对象的语言</a:t>
            </a:r>
            <a:endParaRPr lang="en-US" altLang="zh-CN" sz="2400" b="1" dirty="0">
              <a:latin typeface="+mj-ea"/>
              <a:ea typeface="+mj-ea"/>
            </a:endParaRPr>
          </a:p>
          <a:p>
            <a:pPr rtl="0">
              <a:lnSpc>
                <a:spcPct val="120000"/>
              </a:lnSpc>
            </a:pPr>
            <a:r>
              <a:rPr lang="zh-CN" altLang="en-US" sz="2800" b="1" dirty="0">
                <a:solidFill>
                  <a:schemeClr val="accent5">
                    <a:lumMod val="75000"/>
                  </a:schemeClr>
                </a:solidFill>
                <a:latin typeface="+mj-ea"/>
                <a:ea typeface="+mj-ea"/>
                <a:cs typeface="Microsoft YaHei UI" panose="020B0502040204020203" pitchFamily="34" charset="0"/>
              </a:rPr>
              <a:t>阅读和理解</a:t>
            </a:r>
            <a:r>
              <a:rPr lang="en-US" altLang="zh-CN" sz="28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C#</a:t>
            </a:r>
            <a:r>
              <a:rPr lang="zh-CN" altLang="en-US" sz="2800" b="1" dirty="0">
                <a:solidFill>
                  <a:schemeClr val="accent5">
                    <a:lumMod val="75000"/>
                  </a:schemeClr>
                </a:solidFill>
                <a:latin typeface="+mj-ea"/>
                <a:ea typeface="+mj-ea"/>
                <a:cs typeface="Microsoft YaHei UI" panose="020B0502040204020203" pitchFamily="34" charset="0"/>
              </a:rPr>
              <a:t>语法</a:t>
            </a:r>
            <a:endParaRPr lang="en-US" altLang="zh-CN" sz="2800" b="1" dirty="0">
              <a:solidFill>
                <a:schemeClr val="accent5">
                  <a:lumMod val="75000"/>
                </a:schemeClr>
              </a:solidFill>
              <a:latin typeface="+mj-ea"/>
              <a:ea typeface="+mj-ea"/>
              <a:cs typeface="Microsoft YaHei UI" panose="020B0502040204020203" pitchFamily="34" charset="0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2D9B568-BBDF-85ED-E175-2D3BEA22491F}"/>
              </a:ext>
            </a:extLst>
          </p:cNvPr>
          <p:cNvGrpSpPr/>
          <p:nvPr/>
        </p:nvGrpSpPr>
        <p:grpSpPr>
          <a:xfrm>
            <a:off x="5364993" y="251474"/>
            <a:ext cx="1462015" cy="490115"/>
            <a:chOff x="4840431" y="207541"/>
            <a:chExt cx="1462015" cy="490115"/>
          </a:xfrm>
        </p:grpSpPr>
        <p:pic>
          <p:nvPicPr>
            <p:cNvPr id="5" name="Picture 4" descr="黑爵(AJAZZ)手柄/方向盘AG180报价_参数_图片_视频_怎么样_问答-苏宁易购">
              <a:extLst>
                <a:ext uri="{FF2B5EF4-FFF2-40B4-BE49-F238E27FC236}">
                  <a16:creationId xmlns:a16="http://schemas.microsoft.com/office/drawing/2014/main" id="{846D7CE5-176C-824F-A9FC-DB401FC4652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45" t="9275" r="3752" b="5379"/>
            <a:stretch/>
          </p:blipFill>
          <p:spPr bwMode="auto">
            <a:xfrm>
              <a:off x="4840431" y="321039"/>
              <a:ext cx="407315" cy="37661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Rectangle 3">
              <a:extLst>
                <a:ext uri="{FF2B5EF4-FFF2-40B4-BE49-F238E27FC236}">
                  <a16:creationId xmlns:a16="http://schemas.microsoft.com/office/drawing/2014/main" id="{9B85DB68-B6DA-323E-B443-7C9E7455DD67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5298546" y="207541"/>
              <a:ext cx="1003900" cy="471065"/>
            </a:xfrm>
            <a:prstGeom prst="rect">
              <a:avLst/>
            </a:prstGeom>
            <a:noFill/>
          </p:spPr>
          <p:txBody>
            <a:bodyPr lIns="90488" tIns="44450" rIns="90488" bIns="44450"/>
            <a:lstStyle>
              <a:lvl1pPr marL="171450" indent="-17145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1pPr>
              <a:lvl2pPr marL="5143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8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2pPr>
              <a:lvl3pPr marL="8572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3pPr>
              <a:lvl4pPr marL="12001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4pPr>
              <a:lvl5pPr marL="15430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fontAlgn="base">
                <a:lnSpc>
                  <a:spcPct val="100000"/>
                </a:lnSpc>
                <a:buNone/>
              </a:pPr>
              <a:r>
                <a:rPr lang="zh-CN" altLang="en-US" sz="3200" dirty="0">
                  <a:latin typeface="Times New Roman" panose="02020603050405020304" pitchFamily="18" charset="0"/>
                  <a:ea typeface="楷体" panose="02010609060101010101" pitchFamily="49" charset="-122"/>
                  <a:sym typeface="+mn-ea"/>
                </a:rPr>
                <a:t>目录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45562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B3C1D5B-11AC-48D7-B0A0-63BC88617D64}"/>
              </a:ext>
            </a:extLst>
          </p:cNvPr>
          <p:cNvSpPr>
            <a:spLocks noGrp="1"/>
          </p:cNvSpPr>
          <p:nvPr>
            <p:ph sz="quarter" idx="4294967295"/>
          </p:nvPr>
        </p:nvSpPr>
        <p:spPr>
          <a:xfrm>
            <a:off x="1639122" y="1187085"/>
            <a:ext cx="8913756" cy="4694340"/>
          </a:xfrm>
          <a:prstGeom prst="rect">
            <a:avLst/>
          </a:prstGeom>
        </p:spPr>
        <p:txBody>
          <a:bodyPr rtlCol="0">
            <a:noAutofit/>
          </a:bodyPr>
          <a:lstStyle>
            <a:defPPr>
              <a:defRPr lang="zh-CN"/>
            </a:defPPr>
          </a:lstStyle>
          <a:p>
            <a:pPr rtl="0">
              <a:lnSpc>
                <a:spcPct val="150000"/>
              </a:lnSpc>
            </a:pPr>
            <a:r>
              <a:rPr lang="en-US" altLang="zh-CN" sz="2800" b="1" dirty="0">
                <a:solidFill>
                  <a:schemeClr val="accent5">
                    <a:lumMod val="75000"/>
                  </a:schemeClr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C#</a:t>
            </a:r>
            <a:r>
              <a:rPr lang="zh-CN" altLang="en-US" sz="2800" b="1" dirty="0">
                <a:solidFill>
                  <a:schemeClr val="accent5">
                    <a:lumMod val="75000"/>
                  </a:schemeClr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是一种编译型语言</a:t>
            </a:r>
            <a:endParaRPr lang="en-US" altLang="zh-CN" sz="2800" b="1" dirty="0">
              <a:solidFill>
                <a:schemeClr val="accent5">
                  <a:lumMod val="75000"/>
                </a:schemeClr>
              </a:solidFill>
              <a:latin typeface="Microsoft YaHei UI" panose="020B0502040204020203" pitchFamily="34" charset="0"/>
              <a:cs typeface="Microsoft YaHei UI" panose="020B0502040204020203" pitchFamily="34" charset="0"/>
            </a:endParaRPr>
          </a:p>
          <a:p>
            <a:pPr lvl="1">
              <a:lnSpc>
                <a:spcPct val="150000"/>
              </a:lnSpc>
            </a:pPr>
            <a:r>
              <a:rPr lang="zh-CN" altLang="en-US" sz="2400" b="1" dirty="0">
                <a:solidFill>
                  <a:srgbClr val="A7357F"/>
                </a:solidFill>
                <a:latin typeface="Microsoft YaHei UI" panose="020B0502040204020203" pitchFamily="34" charset="0"/>
              </a:rPr>
              <a:t>计算机芯片只能理解机器语言</a:t>
            </a:r>
            <a:endParaRPr lang="en-US" altLang="zh-CN" sz="2400" b="1" dirty="0">
              <a:solidFill>
                <a:srgbClr val="A7357F"/>
              </a:solidFill>
              <a:latin typeface="Microsoft YaHei UI" panose="020B0502040204020203" pitchFamily="34" charset="0"/>
            </a:endParaRPr>
          </a:p>
          <a:p>
            <a:pPr lvl="2">
              <a:lnSpc>
                <a:spcPct val="150000"/>
              </a:lnSpc>
            </a:pPr>
            <a:r>
              <a:rPr lang="en-US" altLang="zh-CN" sz="20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000000 00001 00010 0011 00000 100000</a:t>
            </a:r>
          </a:p>
          <a:p>
            <a:pPr lvl="2">
              <a:lnSpc>
                <a:spcPct val="150000"/>
              </a:lnSpc>
            </a:pPr>
            <a:r>
              <a:rPr lang="zh-CN" altLang="en-US" sz="20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人们曾经使用穿孔卡进行计算机编程（打孔代表</a:t>
            </a:r>
            <a:r>
              <a:rPr lang="en-US" altLang="zh-CN" sz="20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1</a:t>
            </a:r>
            <a:r>
              <a:rPr lang="zh-CN" altLang="en-US" sz="20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，不打孔代表</a:t>
            </a:r>
            <a:r>
              <a:rPr lang="en-US" altLang="zh-CN" sz="20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0</a:t>
            </a:r>
            <a:r>
              <a:rPr lang="zh-CN" altLang="en-US" sz="20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）</a:t>
            </a:r>
            <a:endParaRPr lang="en-US" altLang="zh-CN" sz="2000" dirty="0">
              <a:solidFill>
                <a:schemeClr val="tx1"/>
              </a:solidFill>
              <a:latin typeface="Microsoft YaHei UI" panose="020B0502040204020203" pitchFamily="34" charset="0"/>
              <a:cs typeface="Microsoft YaHei UI" panose="020B0502040204020203" pitchFamily="34" charset="0"/>
            </a:endParaRPr>
          </a:p>
          <a:p>
            <a:pPr lvl="1">
              <a:lnSpc>
                <a:spcPct val="150000"/>
              </a:lnSpc>
            </a:pPr>
            <a:r>
              <a:rPr lang="zh-CN" altLang="en-US" b="1" dirty="0">
                <a:solidFill>
                  <a:srgbClr val="A7357F"/>
                </a:solidFill>
                <a:latin typeface="Microsoft YaHei UI" panose="020B0502040204020203" pitchFamily="34" charset="0"/>
              </a:rPr>
              <a:t>编程语言被认为是人类和计算机之间的过渡语言</a:t>
            </a:r>
          </a:p>
          <a:p>
            <a:pPr lvl="1">
              <a:lnSpc>
                <a:spcPct val="150000"/>
              </a:lnSpc>
            </a:pPr>
            <a:r>
              <a:rPr lang="zh-CN" altLang="en-US" b="1" dirty="0">
                <a:solidFill>
                  <a:srgbClr val="A7357F"/>
                </a:solidFill>
                <a:latin typeface="Microsoft YaHei UI" panose="020B0502040204020203" pitchFamily="34" charset="0"/>
              </a:rPr>
              <a:t>两种编程语言</a:t>
            </a:r>
            <a:endParaRPr lang="en-US" altLang="zh-CN" b="1" dirty="0">
              <a:solidFill>
                <a:srgbClr val="A7357F"/>
              </a:solidFill>
              <a:latin typeface="Microsoft YaHei UI" panose="020B0502040204020203" pitchFamily="34" charset="0"/>
            </a:endParaRPr>
          </a:p>
          <a:p>
            <a:pPr lvl="2">
              <a:lnSpc>
                <a:spcPct val="150000"/>
              </a:lnSpc>
            </a:pPr>
            <a:r>
              <a:rPr lang="zh-CN" altLang="en-US" sz="20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解释型</a:t>
            </a:r>
          </a:p>
          <a:p>
            <a:pPr lvl="2">
              <a:lnSpc>
                <a:spcPct val="150000"/>
              </a:lnSpc>
            </a:pPr>
            <a:r>
              <a:rPr lang="zh-CN" altLang="en-US" sz="20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编译型</a:t>
            </a:r>
            <a:endParaRPr lang="en-US" altLang="zh-CN" sz="2000" dirty="0">
              <a:solidFill>
                <a:schemeClr val="tx1"/>
              </a:solidFill>
              <a:latin typeface="Microsoft YaHei UI" panose="020B0502040204020203" pitchFamily="34" charset="0"/>
              <a:cs typeface="Microsoft YaHei UI" panose="020B0502040204020203" pitchFamily="34" charset="0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8499CB8B-8634-2905-0724-D5ABE45B6EA5}"/>
              </a:ext>
            </a:extLst>
          </p:cNvPr>
          <p:cNvGrpSpPr/>
          <p:nvPr/>
        </p:nvGrpSpPr>
        <p:grpSpPr>
          <a:xfrm>
            <a:off x="4480816" y="251474"/>
            <a:ext cx="3230367" cy="490115"/>
            <a:chOff x="4840431" y="207541"/>
            <a:chExt cx="3230367" cy="490115"/>
          </a:xfrm>
        </p:grpSpPr>
        <p:pic>
          <p:nvPicPr>
            <p:cNvPr id="5" name="Picture 4" descr="黑爵(AJAZZ)手柄/方向盘AG180报价_参数_图片_视频_怎么样_问答-苏宁易购">
              <a:extLst>
                <a:ext uri="{FF2B5EF4-FFF2-40B4-BE49-F238E27FC236}">
                  <a16:creationId xmlns:a16="http://schemas.microsoft.com/office/drawing/2014/main" id="{1FA648F2-5861-4CC9-E0C9-B7D9CEEBCC7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45" t="9275" r="3752" b="5379"/>
            <a:stretch/>
          </p:blipFill>
          <p:spPr bwMode="auto">
            <a:xfrm>
              <a:off x="4840431" y="321039"/>
              <a:ext cx="407315" cy="37661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Rectangle 3">
              <a:extLst>
                <a:ext uri="{FF2B5EF4-FFF2-40B4-BE49-F238E27FC236}">
                  <a16:creationId xmlns:a16="http://schemas.microsoft.com/office/drawing/2014/main" id="{E92A8004-5789-0835-1671-BCA3C7554F18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5298546" y="207541"/>
              <a:ext cx="2772252" cy="471065"/>
            </a:xfrm>
            <a:prstGeom prst="rect">
              <a:avLst/>
            </a:prstGeom>
            <a:noFill/>
          </p:spPr>
          <p:txBody>
            <a:bodyPr lIns="90488" tIns="44450" rIns="90488" bIns="44450"/>
            <a:lstStyle>
              <a:lvl1pPr marL="171450" indent="-17145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1pPr>
              <a:lvl2pPr marL="5143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8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2pPr>
              <a:lvl3pPr marL="8572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3pPr>
              <a:lvl4pPr marL="12001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4pPr>
              <a:lvl5pPr marL="15430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fontAlgn="base">
                <a:lnSpc>
                  <a:spcPct val="100000"/>
                </a:lnSpc>
                <a:buNone/>
              </a:pPr>
              <a:r>
                <a:rPr lang="zh-CN" altLang="en-US" sz="3200" dirty="0">
                  <a:latin typeface="Times New Roman" panose="02020603050405020304" pitchFamily="18" charset="0"/>
                  <a:ea typeface="楷体" panose="02010609060101010101" pitchFamily="49" charset="-122"/>
                  <a:sym typeface="+mn-ea"/>
                </a:rPr>
                <a:t>理解</a:t>
              </a:r>
              <a:r>
                <a:rPr lang="en-US" altLang="zh-CN" sz="3200" dirty="0">
                  <a:latin typeface="Times New Roman" panose="02020603050405020304" pitchFamily="18" charset="0"/>
                  <a:ea typeface="楷体" panose="02010609060101010101" pitchFamily="49" charset="-122"/>
                  <a:sym typeface="+mn-ea"/>
                </a:rPr>
                <a:t>C#</a:t>
              </a:r>
              <a:r>
                <a:rPr lang="zh-CN" altLang="en-US" sz="3200" dirty="0">
                  <a:latin typeface="Times New Roman" panose="02020603050405020304" pitchFamily="18" charset="0"/>
                  <a:ea typeface="楷体" panose="02010609060101010101" pitchFamily="49" charset="-122"/>
                  <a:sym typeface="+mn-ea"/>
                </a:rPr>
                <a:t>的特性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138339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B3C1D5B-11AC-48D7-B0A0-63BC88617D64}"/>
              </a:ext>
            </a:extLst>
          </p:cNvPr>
          <p:cNvSpPr>
            <a:spLocks noGrp="1"/>
          </p:cNvSpPr>
          <p:nvPr>
            <p:ph sz="quarter" idx="4294967295"/>
          </p:nvPr>
        </p:nvSpPr>
        <p:spPr>
          <a:xfrm>
            <a:off x="526272" y="1280914"/>
            <a:ext cx="11122253" cy="4087074"/>
          </a:xfrm>
          <a:prstGeom prst="rect">
            <a:avLst/>
          </a:prstGeom>
        </p:spPr>
        <p:txBody>
          <a:bodyPr rtlCol="0">
            <a:noAutofit/>
          </a:bodyPr>
          <a:lstStyle>
            <a:defPPr>
              <a:defRPr lang="zh-CN"/>
            </a:defPPr>
          </a:lstStyle>
          <a:p>
            <a:pPr rtl="0"/>
            <a:r>
              <a:rPr lang="zh-CN" altLang="en-US" sz="2400" b="1" dirty="0">
                <a:solidFill>
                  <a:schemeClr val="accent5">
                    <a:lumMod val="75000"/>
                  </a:schemeClr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解释型语言：</a:t>
            </a:r>
            <a:r>
              <a:rPr lang="en-US" altLang="zh-CN" sz="2400" b="1" dirty="0">
                <a:solidFill>
                  <a:srgbClr val="A7357F"/>
                </a:solidFill>
                <a:latin typeface="Microsoft YaHei UI" panose="020B0502040204020203" pitchFamily="34" charset="0"/>
              </a:rPr>
              <a:t>JavaScript</a:t>
            </a:r>
            <a:r>
              <a:rPr lang="zh-CN" altLang="en-US" sz="2400" b="1" dirty="0">
                <a:solidFill>
                  <a:srgbClr val="A7357F"/>
                </a:solidFill>
                <a:latin typeface="Microsoft YaHei UI" panose="020B0502040204020203" pitchFamily="34" charset="0"/>
              </a:rPr>
              <a:t>、</a:t>
            </a:r>
            <a:r>
              <a:rPr lang="en-US" altLang="zh-CN" sz="2400" b="1" dirty="0">
                <a:solidFill>
                  <a:srgbClr val="A7357F"/>
                </a:solidFill>
                <a:latin typeface="Microsoft YaHei UI" panose="020B0502040204020203" pitchFamily="34" charset="0"/>
              </a:rPr>
              <a:t>PHP</a:t>
            </a:r>
            <a:r>
              <a:rPr lang="zh-CN" altLang="en-US" sz="2400" b="1" dirty="0">
                <a:solidFill>
                  <a:srgbClr val="A7357F"/>
                </a:solidFill>
                <a:latin typeface="Microsoft YaHei UI" panose="020B0502040204020203" pitchFamily="34" charset="0"/>
              </a:rPr>
              <a:t>、</a:t>
            </a:r>
            <a:r>
              <a:rPr lang="en-US" altLang="zh-CN" sz="2400" b="1" dirty="0">
                <a:solidFill>
                  <a:srgbClr val="A7357F"/>
                </a:solidFill>
                <a:latin typeface="Microsoft YaHei UI" panose="020B0502040204020203" pitchFamily="34" charset="0"/>
              </a:rPr>
              <a:t>Python</a:t>
            </a:r>
          </a:p>
          <a:p>
            <a:pPr lvl="1">
              <a:lnSpc>
                <a:spcPct val="150000"/>
              </a:lnSpc>
            </a:pPr>
            <a:r>
              <a:rPr lang="zh-CN" altLang="en-US" sz="2400" b="1" dirty="0">
                <a:solidFill>
                  <a:srgbClr val="A7357F"/>
                </a:solidFill>
                <a:latin typeface="Microsoft YaHei UI" panose="020B0502040204020203" pitchFamily="34" charset="0"/>
              </a:rPr>
              <a:t>编辑和执行代码包括</a:t>
            </a:r>
            <a:r>
              <a:rPr lang="en-US" altLang="zh-CN" sz="2400" b="1" dirty="0">
                <a:solidFill>
                  <a:srgbClr val="A7357F"/>
                </a:solidFill>
                <a:latin typeface="Microsoft YaHei UI" panose="020B0502040204020203" pitchFamily="34" charset="0"/>
              </a:rPr>
              <a:t>2</a:t>
            </a:r>
            <a:r>
              <a:rPr lang="zh-CN" altLang="en-US" sz="2400" b="1" dirty="0">
                <a:solidFill>
                  <a:srgbClr val="A7357F"/>
                </a:solidFill>
                <a:latin typeface="Microsoft YaHei UI" panose="020B0502040204020203" pitchFamily="34" charset="0"/>
              </a:rPr>
              <a:t>个步骤：</a:t>
            </a:r>
            <a:endParaRPr lang="en-US" altLang="zh-CN" sz="2400" b="1" dirty="0">
              <a:solidFill>
                <a:srgbClr val="A7357F"/>
              </a:solidFill>
              <a:latin typeface="Microsoft YaHei UI" panose="020B0502040204020203" pitchFamily="34" charset="0"/>
            </a:endParaRPr>
          </a:p>
          <a:p>
            <a:pPr lvl="2"/>
            <a:r>
              <a:rPr lang="zh-CN" altLang="en-US" sz="20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程序员先编写游戏代码</a:t>
            </a:r>
          </a:p>
          <a:p>
            <a:pPr lvl="2"/>
            <a:r>
              <a:rPr lang="zh-CN" altLang="en-US" sz="20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玩家每次玩游戏时，代码均</a:t>
            </a:r>
            <a:r>
              <a:rPr lang="zh-CN" altLang="en-US" sz="2000" b="1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实时</a:t>
            </a:r>
            <a:r>
              <a:rPr lang="zh-CN" altLang="en-US" sz="20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由编程语言转化为机器语言</a:t>
            </a:r>
            <a:endParaRPr lang="en-US" altLang="zh-CN" sz="2000" dirty="0">
              <a:solidFill>
                <a:schemeClr val="tx1"/>
              </a:solidFill>
              <a:latin typeface="Microsoft YaHei UI" panose="020B0502040204020203" pitchFamily="34" charset="0"/>
              <a:cs typeface="Microsoft YaHei UI" panose="020B0502040204020203" pitchFamily="34" charset="0"/>
            </a:endParaRPr>
          </a:p>
          <a:p>
            <a:pPr lvl="1">
              <a:lnSpc>
                <a:spcPct val="150000"/>
              </a:lnSpc>
            </a:pPr>
            <a:r>
              <a:rPr lang="zh-CN" altLang="en-US" sz="2400" b="1" dirty="0">
                <a:solidFill>
                  <a:srgbClr val="A7357F"/>
                </a:solidFill>
                <a:latin typeface="Microsoft YaHei UI" panose="020B0502040204020203" pitchFamily="34" charset="0"/>
              </a:rPr>
              <a:t>优点</a:t>
            </a:r>
            <a:endParaRPr lang="en-US" altLang="zh-CN" sz="2400" b="1" dirty="0">
              <a:solidFill>
                <a:srgbClr val="A7357F"/>
              </a:solidFill>
              <a:latin typeface="Microsoft YaHei UI" panose="020B0502040204020203" pitchFamily="34" charset="0"/>
            </a:endParaRPr>
          </a:p>
          <a:p>
            <a:pPr lvl="2"/>
            <a:r>
              <a:rPr lang="zh-CN" altLang="en-US" sz="2000" b="1" dirty="0">
                <a:latin typeface="Microsoft YaHei UI" panose="020B0502040204020203" pitchFamily="34" charset="0"/>
              </a:rPr>
              <a:t>具有可移植性：</a:t>
            </a:r>
            <a:r>
              <a:rPr lang="zh-CN" altLang="en-US" sz="20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代码可以专门针对当前计算机进行解释</a:t>
            </a:r>
          </a:p>
          <a:p>
            <a:pPr lvl="1">
              <a:lnSpc>
                <a:spcPct val="150000"/>
              </a:lnSpc>
            </a:pPr>
            <a:r>
              <a:rPr lang="zh-CN" altLang="en-US" sz="2400" b="1" dirty="0">
                <a:solidFill>
                  <a:srgbClr val="A7357F"/>
                </a:solidFill>
                <a:latin typeface="Microsoft YaHei UI" panose="020B0502040204020203" pitchFamily="34" charset="0"/>
              </a:rPr>
              <a:t>缺点</a:t>
            </a:r>
            <a:endParaRPr lang="en-US" altLang="zh-CN" sz="2400" b="1" dirty="0">
              <a:solidFill>
                <a:srgbClr val="A7357F"/>
              </a:solidFill>
              <a:latin typeface="Microsoft YaHei UI" panose="020B0502040204020203" pitchFamily="34" charset="0"/>
            </a:endParaRPr>
          </a:p>
          <a:p>
            <a:pPr lvl="2"/>
            <a:r>
              <a:rPr lang="zh-CN" altLang="en-US" sz="2000" b="1" dirty="0">
                <a:latin typeface="Microsoft YaHei UI" panose="020B0502040204020203" pitchFamily="34" charset="0"/>
              </a:rPr>
              <a:t>速度慢：</a:t>
            </a:r>
            <a:r>
              <a:rPr lang="zh-CN" altLang="en-US" sz="20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用于解释代码的处理能力并未应用于游戏本身</a:t>
            </a:r>
          </a:p>
          <a:p>
            <a:pPr lvl="2"/>
            <a:r>
              <a:rPr lang="zh-CN" altLang="en-US" sz="2000" b="1" dirty="0">
                <a:latin typeface="Microsoft YaHei UI" panose="020B0502040204020203" pitchFamily="34" charset="0"/>
              </a:rPr>
              <a:t>效率低：</a:t>
            </a:r>
            <a:r>
              <a:rPr lang="zh-CN" altLang="en-US" sz="20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因为代码可以在任何计算机上运行，所以没有针对任何特定的计算机进行优化</a:t>
            </a:r>
            <a:endParaRPr lang="en-US" altLang="zh-CN" sz="2000" dirty="0">
              <a:solidFill>
                <a:schemeClr val="tx1"/>
              </a:solidFill>
              <a:latin typeface="Microsoft YaHei UI" panose="020B0502040204020203" pitchFamily="34" charset="0"/>
              <a:cs typeface="Microsoft YaHei UI" panose="020B0502040204020203" pitchFamily="34" charset="0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2DC158EF-51AD-464E-8FCA-4BA7ECC5DAA8}"/>
              </a:ext>
            </a:extLst>
          </p:cNvPr>
          <p:cNvGrpSpPr/>
          <p:nvPr/>
        </p:nvGrpSpPr>
        <p:grpSpPr>
          <a:xfrm>
            <a:off x="4480816" y="251474"/>
            <a:ext cx="3230367" cy="490115"/>
            <a:chOff x="4840431" y="207541"/>
            <a:chExt cx="3230367" cy="490115"/>
          </a:xfrm>
        </p:grpSpPr>
        <p:pic>
          <p:nvPicPr>
            <p:cNvPr id="5" name="Picture 4" descr="黑爵(AJAZZ)手柄/方向盘AG180报价_参数_图片_视频_怎么样_问答-苏宁易购">
              <a:extLst>
                <a:ext uri="{FF2B5EF4-FFF2-40B4-BE49-F238E27FC236}">
                  <a16:creationId xmlns:a16="http://schemas.microsoft.com/office/drawing/2014/main" id="{10B6C271-91C0-5360-9CA5-5A48C6C8846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45" t="9275" r="3752" b="5379"/>
            <a:stretch/>
          </p:blipFill>
          <p:spPr bwMode="auto">
            <a:xfrm>
              <a:off x="4840431" y="321039"/>
              <a:ext cx="407315" cy="37661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Rectangle 3">
              <a:extLst>
                <a:ext uri="{FF2B5EF4-FFF2-40B4-BE49-F238E27FC236}">
                  <a16:creationId xmlns:a16="http://schemas.microsoft.com/office/drawing/2014/main" id="{E48F7013-C3F3-911A-6A2A-9016F7EDCE4B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5298546" y="207541"/>
              <a:ext cx="2772252" cy="471065"/>
            </a:xfrm>
            <a:prstGeom prst="rect">
              <a:avLst/>
            </a:prstGeom>
            <a:noFill/>
          </p:spPr>
          <p:txBody>
            <a:bodyPr lIns="90488" tIns="44450" rIns="90488" bIns="44450"/>
            <a:lstStyle>
              <a:lvl1pPr marL="171450" indent="-17145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1pPr>
              <a:lvl2pPr marL="5143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8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2pPr>
              <a:lvl3pPr marL="8572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3pPr>
              <a:lvl4pPr marL="12001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4pPr>
              <a:lvl5pPr marL="15430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fontAlgn="base">
                <a:lnSpc>
                  <a:spcPct val="100000"/>
                </a:lnSpc>
                <a:buNone/>
              </a:pPr>
              <a:r>
                <a:rPr lang="zh-CN" altLang="en-US" sz="3200" dirty="0">
                  <a:latin typeface="Times New Roman" panose="02020603050405020304" pitchFamily="18" charset="0"/>
                  <a:ea typeface="楷体" panose="02010609060101010101" pitchFamily="49" charset="-122"/>
                  <a:sym typeface="+mn-ea"/>
                </a:rPr>
                <a:t>理解</a:t>
              </a:r>
              <a:r>
                <a:rPr lang="en-US" altLang="zh-CN" sz="3200" dirty="0">
                  <a:latin typeface="Times New Roman" panose="02020603050405020304" pitchFamily="18" charset="0"/>
                  <a:ea typeface="楷体" panose="02010609060101010101" pitchFamily="49" charset="-122"/>
                  <a:sym typeface="+mn-ea"/>
                </a:rPr>
                <a:t>C#</a:t>
              </a:r>
              <a:r>
                <a:rPr lang="zh-CN" altLang="en-US" sz="3200" dirty="0">
                  <a:latin typeface="Times New Roman" panose="02020603050405020304" pitchFamily="18" charset="0"/>
                  <a:ea typeface="楷体" panose="02010609060101010101" pitchFamily="49" charset="-122"/>
                  <a:sym typeface="+mn-ea"/>
                </a:rPr>
                <a:t>的特性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838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B3C1D5B-11AC-48D7-B0A0-63BC88617D64}"/>
              </a:ext>
            </a:extLst>
          </p:cNvPr>
          <p:cNvSpPr>
            <a:spLocks noGrp="1"/>
          </p:cNvSpPr>
          <p:nvPr>
            <p:ph sz="quarter" idx="4294967295"/>
          </p:nvPr>
        </p:nvSpPr>
        <p:spPr>
          <a:xfrm>
            <a:off x="444500" y="1280914"/>
            <a:ext cx="11204026" cy="4923038"/>
          </a:xfrm>
          <a:prstGeom prst="rect">
            <a:avLst/>
          </a:prstGeom>
        </p:spPr>
        <p:txBody>
          <a:bodyPr rtlCol="0">
            <a:noAutofit/>
          </a:bodyPr>
          <a:lstStyle>
            <a:defPPr>
              <a:defRPr lang="zh-CN"/>
            </a:defPPr>
          </a:lstStyle>
          <a:p>
            <a:pPr rtl="0"/>
            <a:r>
              <a:rPr lang="zh-CN" altLang="en-US" sz="2800" b="1" dirty="0">
                <a:solidFill>
                  <a:schemeClr val="accent5">
                    <a:lumMod val="75000"/>
                  </a:schemeClr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编译型语言</a:t>
            </a:r>
            <a:endParaRPr lang="en-US" altLang="zh-CN" sz="2800" b="1" dirty="0">
              <a:solidFill>
                <a:schemeClr val="accent5">
                  <a:lumMod val="75000"/>
                </a:schemeClr>
              </a:solidFill>
              <a:latin typeface="Microsoft YaHei UI" panose="020B0502040204020203" pitchFamily="34" charset="0"/>
              <a:cs typeface="Microsoft YaHei UI" panose="020B0502040204020203" pitchFamily="34" charset="0"/>
            </a:endParaRPr>
          </a:p>
          <a:p>
            <a:pPr lvl="1"/>
            <a:r>
              <a:rPr lang="en-US" altLang="zh-CN" sz="2400" b="1" dirty="0">
                <a:latin typeface="Microsoft YaHei UI" panose="020B0502040204020203" pitchFamily="34" charset="0"/>
              </a:rPr>
              <a:t>C#</a:t>
            </a:r>
            <a:r>
              <a:rPr lang="zh-CN" altLang="en-US" sz="2400" b="1" dirty="0">
                <a:latin typeface="Microsoft YaHei UI" panose="020B0502040204020203" pitchFamily="34" charset="0"/>
              </a:rPr>
              <a:t>、</a:t>
            </a:r>
            <a:r>
              <a:rPr lang="en-US" altLang="zh-CN" sz="2400" b="1" dirty="0">
                <a:latin typeface="Microsoft YaHei UI" panose="020B0502040204020203" pitchFamily="34" charset="0"/>
              </a:rPr>
              <a:t>Basic</a:t>
            </a:r>
            <a:r>
              <a:rPr lang="zh-CN" altLang="en-US" sz="2400" b="1" dirty="0">
                <a:latin typeface="Microsoft YaHei UI" panose="020B0502040204020203" pitchFamily="34" charset="0"/>
              </a:rPr>
              <a:t>、</a:t>
            </a:r>
            <a:r>
              <a:rPr lang="en-US" altLang="zh-CN" sz="2400" b="1" dirty="0">
                <a:latin typeface="Microsoft YaHei UI" panose="020B0502040204020203" pitchFamily="34" charset="0"/>
              </a:rPr>
              <a:t>Java</a:t>
            </a:r>
            <a:r>
              <a:rPr lang="zh-CN" altLang="en-US" sz="2400" b="1" dirty="0">
                <a:latin typeface="Microsoft YaHei UI" panose="020B0502040204020203" pitchFamily="34" charset="0"/>
              </a:rPr>
              <a:t>、</a:t>
            </a:r>
            <a:r>
              <a:rPr lang="en-US" altLang="zh-CN" sz="2400" b="1" dirty="0">
                <a:latin typeface="Microsoft YaHei UI" panose="020B0502040204020203" pitchFamily="34" charset="0"/>
              </a:rPr>
              <a:t>C++</a:t>
            </a:r>
          </a:p>
          <a:p>
            <a:pPr lvl="1"/>
            <a:r>
              <a:rPr lang="zh-CN" altLang="en-US" sz="2400" b="1" dirty="0">
                <a:latin typeface="Microsoft YaHei UI" panose="020B0502040204020203" pitchFamily="34" charset="0"/>
              </a:rPr>
              <a:t>编程过程分为</a:t>
            </a:r>
            <a:r>
              <a:rPr lang="en-US" altLang="zh-CN" sz="2400" b="1" dirty="0">
                <a:latin typeface="Microsoft YaHei UI" panose="020B0502040204020203" pitchFamily="34" charset="0"/>
              </a:rPr>
              <a:t>3</a:t>
            </a:r>
            <a:r>
              <a:rPr lang="zh-CN" altLang="en-US" sz="2400" b="1" dirty="0">
                <a:latin typeface="Microsoft YaHei UI" panose="020B0502040204020203" pitchFamily="34" charset="0"/>
              </a:rPr>
              <a:t>个独立的步骤：</a:t>
            </a:r>
            <a:endParaRPr lang="en-US" altLang="zh-CN" sz="2400" b="1" dirty="0">
              <a:latin typeface="Microsoft YaHei UI" panose="020B0502040204020203" pitchFamily="34" charset="0"/>
            </a:endParaRPr>
          </a:p>
          <a:p>
            <a:pPr lvl="2"/>
            <a:r>
              <a:rPr lang="zh-CN" altLang="en-US" sz="20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编写代码</a:t>
            </a:r>
          </a:p>
          <a:p>
            <a:pPr lvl="2"/>
            <a:r>
              <a:rPr lang="zh-CN" altLang="en-US" sz="20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使用编译器转换代码为可执行文件</a:t>
            </a:r>
          </a:p>
          <a:p>
            <a:pPr lvl="2"/>
            <a:r>
              <a:rPr lang="zh-CN" altLang="en-US" sz="20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执行编译后的程序</a:t>
            </a:r>
            <a:endParaRPr lang="en-US" altLang="zh-CN" sz="2000" dirty="0">
              <a:solidFill>
                <a:schemeClr val="tx1"/>
              </a:solidFill>
              <a:latin typeface="Microsoft YaHei UI" panose="020B0502040204020203" pitchFamily="34" charset="0"/>
              <a:cs typeface="Microsoft YaHei UI" panose="020B0502040204020203" pitchFamily="34" charset="0"/>
            </a:endParaRPr>
          </a:p>
          <a:p>
            <a:pPr lvl="1"/>
            <a:r>
              <a:rPr lang="zh-CN" altLang="en-US" sz="2400" b="1" dirty="0">
                <a:latin typeface="Microsoft YaHei UI" panose="020B0502040204020203" pitchFamily="34" charset="0"/>
              </a:rPr>
              <a:t>优点</a:t>
            </a:r>
            <a:endParaRPr lang="en-US" altLang="zh-CN" sz="2400" b="1" dirty="0">
              <a:latin typeface="Microsoft YaHei UI" panose="020B0502040204020203" pitchFamily="34" charset="0"/>
            </a:endParaRPr>
          </a:p>
          <a:p>
            <a:pPr lvl="2"/>
            <a:r>
              <a:rPr lang="zh-CN" altLang="en-US" sz="2000" b="1" dirty="0">
                <a:latin typeface="Microsoft YaHei UI" panose="020B0502040204020203" pitchFamily="34" charset="0"/>
              </a:rPr>
              <a:t>速度快：</a:t>
            </a:r>
            <a:r>
              <a:rPr lang="zh-CN" altLang="en-US" sz="20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无需解释器即可直接在计算机上运行</a:t>
            </a:r>
            <a:endParaRPr lang="en-US" altLang="zh-CN" sz="2000" dirty="0">
              <a:solidFill>
                <a:schemeClr val="tx1"/>
              </a:solidFill>
              <a:latin typeface="Microsoft YaHei UI" panose="020B0502040204020203" pitchFamily="34" charset="0"/>
              <a:cs typeface="Microsoft YaHei UI" panose="020B0502040204020203" pitchFamily="34" charset="0"/>
            </a:endParaRPr>
          </a:p>
          <a:p>
            <a:pPr lvl="2"/>
            <a:r>
              <a:rPr lang="zh-CN" altLang="en-US" sz="2000" b="1" dirty="0">
                <a:latin typeface="Microsoft YaHei UI" panose="020B0502040204020203" pitchFamily="34" charset="0"/>
              </a:rPr>
              <a:t>效率高：</a:t>
            </a:r>
            <a:r>
              <a:rPr lang="zh-CN" altLang="en-US" sz="20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编译器针对特定的处理器架构进行了优化</a:t>
            </a:r>
          </a:p>
          <a:p>
            <a:pPr lvl="1"/>
            <a:r>
              <a:rPr lang="zh-CN" altLang="en-US" sz="2400" b="1" dirty="0">
                <a:latin typeface="Microsoft YaHei UI" panose="020B0502040204020203" pitchFamily="34" charset="0"/>
              </a:rPr>
              <a:t>缺点</a:t>
            </a:r>
            <a:endParaRPr lang="en-US" altLang="zh-CN" sz="2400" b="1" dirty="0">
              <a:latin typeface="Microsoft YaHei UI" panose="020B0502040204020203" pitchFamily="34" charset="0"/>
            </a:endParaRPr>
          </a:p>
          <a:p>
            <a:pPr lvl="2"/>
            <a:r>
              <a:rPr lang="zh-CN" altLang="en-US" sz="2000" b="1" dirty="0">
                <a:latin typeface="Microsoft YaHei UI" panose="020B0502040204020203" pitchFamily="34" charset="0"/>
              </a:rPr>
              <a:t>不具有可移植性：</a:t>
            </a:r>
            <a:r>
              <a:rPr lang="zh-CN" altLang="en-US" sz="20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只针对一种运行平台编译</a:t>
            </a:r>
          </a:p>
          <a:p>
            <a:pPr lvl="2"/>
            <a:r>
              <a:rPr lang="zh-CN" altLang="en-US" sz="2000" b="1" dirty="0">
                <a:latin typeface="Microsoft YaHei UI" panose="020B0502040204020203" pitchFamily="34" charset="0"/>
              </a:rPr>
              <a:t>需要额外的编译步骤</a:t>
            </a:r>
            <a:endParaRPr lang="en-US" altLang="zh-CN" sz="2000" dirty="0">
              <a:solidFill>
                <a:schemeClr val="tx1"/>
              </a:solidFill>
              <a:latin typeface="Microsoft YaHei UI" panose="020B0502040204020203" pitchFamily="34" charset="0"/>
              <a:cs typeface="Microsoft YaHei UI" panose="020B0502040204020203" pitchFamily="34" charset="0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0DF8BC66-7995-CBC8-52A3-5EE0DDD770BD}"/>
              </a:ext>
            </a:extLst>
          </p:cNvPr>
          <p:cNvGrpSpPr/>
          <p:nvPr/>
        </p:nvGrpSpPr>
        <p:grpSpPr>
          <a:xfrm>
            <a:off x="4480816" y="251474"/>
            <a:ext cx="3230367" cy="490115"/>
            <a:chOff x="4840431" y="207541"/>
            <a:chExt cx="3230367" cy="490115"/>
          </a:xfrm>
        </p:grpSpPr>
        <p:pic>
          <p:nvPicPr>
            <p:cNvPr id="5" name="Picture 4" descr="黑爵(AJAZZ)手柄/方向盘AG180报价_参数_图片_视频_怎么样_问答-苏宁易购">
              <a:extLst>
                <a:ext uri="{FF2B5EF4-FFF2-40B4-BE49-F238E27FC236}">
                  <a16:creationId xmlns:a16="http://schemas.microsoft.com/office/drawing/2014/main" id="{409C2194-8AF0-C73F-6B13-A752C479F83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45" t="9275" r="3752" b="5379"/>
            <a:stretch/>
          </p:blipFill>
          <p:spPr bwMode="auto">
            <a:xfrm>
              <a:off x="4840431" y="321039"/>
              <a:ext cx="407315" cy="37661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Rectangle 3">
              <a:extLst>
                <a:ext uri="{FF2B5EF4-FFF2-40B4-BE49-F238E27FC236}">
                  <a16:creationId xmlns:a16="http://schemas.microsoft.com/office/drawing/2014/main" id="{4D7A0056-09B8-CF04-8E4B-E4BF62BCB92C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5298546" y="207541"/>
              <a:ext cx="2772252" cy="471065"/>
            </a:xfrm>
            <a:prstGeom prst="rect">
              <a:avLst/>
            </a:prstGeom>
            <a:noFill/>
          </p:spPr>
          <p:txBody>
            <a:bodyPr lIns="90488" tIns="44450" rIns="90488" bIns="44450"/>
            <a:lstStyle>
              <a:lvl1pPr marL="171450" indent="-17145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1pPr>
              <a:lvl2pPr marL="5143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8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2pPr>
              <a:lvl3pPr marL="8572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3pPr>
              <a:lvl4pPr marL="12001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4pPr>
              <a:lvl5pPr marL="15430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fontAlgn="base">
                <a:lnSpc>
                  <a:spcPct val="100000"/>
                </a:lnSpc>
                <a:buNone/>
              </a:pPr>
              <a:r>
                <a:rPr lang="zh-CN" altLang="en-US" sz="3200" dirty="0">
                  <a:latin typeface="Times New Roman" panose="02020603050405020304" pitchFamily="18" charset="0"/>
                  <a:ea typeface="楷体" panose="02010609060101010101" pitchFamily="49" charset="-122"/>
                  <a:sym typeface="+mn-ea"/>
                </a:rPr>
                <a:t>理解</a:t>
              </a:r>
              <a:r>
                <a:rPr lang="en-US" altLang="zh-CN" sz="3200" dirty="0">
                  <a:latin typeface="Times New Roman" panose="02020603050405020304" pitchFamily="18" charset="0"/>
                  <a:ea typeface="楷体" panose="02010609060101010101" pitchFamily="49" charset="-122"/>
                  <a:sym typeface="+mn-ea"/>
                </a:rPr>
                <a:t>C#</a:t>
              </a:r>
              <a:r>
                <a:rPr lang="zh-CN" altLang="en-US" sz="3200" dirty="0">
                  <a:latin typeface="Times New Roman" panose="02020603050405020304" pitchFamily="18" charset="0"/>
                  <a:ea typeface="楷体" panose="02010609060101010101" pitchFamily="49" charset="-122"/>
                  <a:sym typeface="+mn-ea"/>
                </a:rPr>
                <a:t>的特性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858395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6">
            <a:extLst>
              <a:ext uri="{FF2B5EF4-FFF2-40B4-BE49-F238E27FC236}">
                <a16:creationId xmlns:a16="http://schemas.microsoft.com/office/drawing/2014/main" id="{130DD0A4-F70E-417C-B4E9-B75F3CF763C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38" t="5889" r="3775" b="8437"/>
          <a:stretch/>
        </p:blipFill>
        <p:spPr bwMode="auto">
          <a:xfrm>
            <a:off x="1336887" y="1260732"/>
            <a:ext cx="9213456" cy="46226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grpSp>
        <p:nvGrpSpPr>
          <p:cNvPr id="4" name="组合 3">
            <a:extLst>
              <a:ext uri="{FF2B5EF4-FFF2-40B4-BE49-F238E27FC236}">
                <a16:creationId xmlns:a16="http://schemas.microsoft.com/office/drawing/2014/main" id="{C3B187E5-25DC-21D4-E21A-6120A77F5E96}"/>
              </a:ext>
            </a:extLst>
          </p:cNvPr>
          <p:cNvGrpSpPr/>
          <p:nvPr/>
        </p:nvGrpSpPr>
        <p:grpSpPr>
          <a:xfrm>
            <a:off x="4480816" y="251474"/>
            <a:ext cx="3230367" cy="490115"/>
            <a:chOff x="4840431" y="207541"/>
            <a:chExt cx="3230367" cy="490115"/>
          </a:xfrm>
        </p:grpSpPr>
        <p:pic>
          <p:nvPicPr>
            <p:cNvPr id="5" name="Picture 4" descr="黑爵(AJAZZ)手柄/方向盘AG180报价_参数_图片_视频_怎么样_问答-苏宁易购">
              <a:extLst>
                <a:ext uri="{FF2B5EF4-FFF2-40B4-BE49-F238E27FC236}">
                  <a16:creationId xmlns:a16="http://schemas.microsoft.com/office/drawing/2014/main" id="{D6D27EF8-A762-6383-045B-47E854CF460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45" t="9275" r="3752" b="5379"/>
            <a:stretch/>
          </p:blipFill>
          <p:spPr bwMode="auto">
            <a:xfrm>
              <a:off x="4840431" y="321039"/>
              <a:ext cx="407315" cy="37661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Rectangle 3">
              <a:extLst>
                <a:ext uri="{FF2B5EF4-FFF2-40B4-BE49-F238E27FC236}">
                  <a16:creationId xmlns:a16="http://schemas.microsoft.com/office/drawing/2014/main" id="{E682DAB8-7E3E-D616-AFFF-24C048CC483F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5298546" y="207541"/>
              <a:ext cx="2772252" cy="471065"/>
            </a:xfrm>
            <a:prstGeom prst="rect">
              <a:avLst/>
            </a:prstGeom>
            <a:noFill/>
          </p:spPr>
          <p:txBody>
            <a:bodyPr lIns="90488" tIns="44450" rIns="90488" bIns="44450"/>
            <a:lstStyle>
              <a:lvl1pPr marL="171450" indent="-17145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1pPr>
              <a:lvl2pPr marL="5143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8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2pPr>
              <a:lvl3pPr marL="8572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3pPr>
              <a:lvl4pPr marL="12001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4pPr>
              <a:lvl5pPr marL="15430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fontAlgn="base">
                <a:lnSpc>
                  <a:spcPct val="100000"/>
                </a:lnSpc>
                <a:buNone/>
              </a:pPr>
              <a:r>
                <a:rPr lang="zh-CN" altLang="en-US" sz="3200" dirty="0">
                  <a:latin typeface="Times New Roman" panose="02020603050405020304" pitchFamily="18" charset="0"/>
                  <a:ea typeface="楷体" panose="02010609060101010101" pitchFamily="49" charset="-122"/>
                  <a:sym typeface="+mn-ea"/>
                </a:rPr>
                <a:t>理解</a:t>
              </a:r>
              <a:r>
                <a:rPr lang="en-US" altLang="zh-CN" sz="3200" dirty="0">
                  <a:latin typeface="Times New Roman" panose="02020603050405020304" pitchFamily="18" charset="0"/>
                  <a:ea typeface="楷体" panose="02010609060101010101" pitchFamily="49" charset="-122"/>
                  <a:sym typeface="+mn-ea"/>
                </a:rPr>
                <a:t>C#</a:t>
              </a:r>
              <a:r>
                <a:rPr lang="zh-CN" altLang="en-US" sz="3200" dirty="0">
                  <a:latin typeface="Times New Roman" panose="02020603050405020304" pitchFamily="18" charset="0"/>
                  <a:ea typeface="楷体" panose="02010609060101010101" pitchFamily="49" charset="-122"/>
                  <a:sym typeface="+mn-ea"/>
                </a:rPr>
                <a:t>的特性</a:t>
              </a:r>
            </a:p>
          </p:txBody>
        </p:sp>
      </p:grpSp>
      <p:sp>
        <p:nvSpPr>
          <p:cNvPr id="10" name="文本框 9">
            <a:extLst>
              <a:ext uri="{FF2B5EF4-FFF2-40B4-BE49-F238E27FC236}">
                <a16:creationId xmlns:a16="http://schemas.microsoft.com/office/drawing/2014/main" id="{79C4A085-4310-51BE-9527-554FF807072D}"/>
              </a:ext>
            </a:extLst>
          </p:cNvPr>
          <p:cNvSpPr txBox="1"/>
          <p:nvPr/>
        </p:nvSpPr>
        <p:spPr>
          <a:xfrm>
            <a:off x="5344356" y="5963278"/>
            <a:ext cx="1961402" cy="4594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lnSpc>
                <a:spcPct val="150000"/>
              </a:lnSpc>
            </a:pPr>
            <a:r>
              <a:rPr lang="zh-CN" altLang="en-US" sz="1800" dirty="0">
                <a:solidFill>
                  <a:schemeClr val="accent5">
                    <a:lumMod val="75000"/>
                  </a:schemeClr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编程语言分类图</a:t>
            </a:r>
            <a:endParaRPr lang="en-US" altLang="zh-CN" sz="1800" dirty="0">
              <a:solidFill>
                <a:schemeClr val="accent5">
                  <a:lumMod val="75000"/>
                </a:schemeClr>
              </a:solidFill>
              <a:latin typeface="Microsoft YaHei UI" panose="020B0502040204020203" pitchFamily="34" charset="0"/>
              <a:cs typeface="Microsoft YaHei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05122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B3C1D5B-11AC-48D7-B0A0-63BC88617D64}"/>
              </a:ext>
            </a:extLst>
          </p:cNvPr>
          <p:cNvSpPr>
            <a:spLocks noGrp="1"/>
          </p:cNvSpPr>
          <p:nvPr>
            <p:ph sz="quarter" idx="4294967295"/>
          </p:nvPr>
        </p:nvSpPr>
        <p:spPr>
          <a:xfrm>
            <a:off x="493987" y="1062474"/>
            <a:ext cx="11204026" cy="4923038"/>
          </a:xfrm>
          <a:prstGeom prst="rect">
            <a:avLst/>
          </a:prstGeom>
        </p:spPr>
        <p:txBody>
          <a:bodyPr rtlCol="0">
            <a:noAutofit/>
          </a:bodyPr>
          <a:lstStyle>
            <a:defPPr>
              <a:defRPr lang="zh-CN"/>
            </a:defPPr>
          </a:lstStyle>
          <a:p>
            <a:pPr rtl="0">
              <a:lnSpc>
                <a:spcPct val="150000"/>
              </a:lnSpc>
            </a:pPr>
            <a:r>
              <a:rPr lang="en-US" altLang="zh-CN" sz="3200" b="1" dirty="0">
                <a:solidFill>
                  <a:schemeClr val="accent5">
                    <a:lumMod val="75000"/>
                  </a:schemeClr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C#</a:t>
            </a:r>
            <a:r>
              <a:rPr lang="zh-CN" altLang="en-US" sz="3200" b="1" dirty="0">
                <a:solidFill>
                  <a:schemeClr val="accent5">
                    <a:lumMod val="75000"/>
                  </a:schemeClr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是托管代码</a:t>
            </a:r>
            <a:endParaRPr lang="en-US" altLang="zh-CN" sz="3200" b="1" dirty="0">
              <a:solidFill>
                <a:schemeClr val="accent5">
                  <a:lumMod val="75000"/>
                </a:schemeClr>
              </a:solidFill>
              <a:latin typeface="Microsoft YaHei UI" panose="020B0502040204020203" pitchFamily="34" charset="0"/>
              <a:cs typeface="Microsoft YaHei UI" panose="020B0502040204020203" pitchFamily="34" charset="0"/>
            </a:endParaRPr>
          </a:p>
          <a:p>
            <a:pPr lvl="1">
              <a:lnSpc>
                <a:spcPct val="150000"/>
              </a:lnSpc>
            </a:pPr>
            <a:r>
              <a:rPr lang="zh-CN" altLang="en-US" sz="2800" b="1" dirty="0">
                <a:latin typeface="Microsoft YaHei UI" panose="020B0502040204020203" pitchFamily="34" charset="0"/>
              </a:rPr>
              <a:t>计算机的内存空间是有限的</a:t>
            </a:r>
          </a:p>
          <a:p>
            <a:pPr lvl="1">
              <a:lnSpc>
                <a:spcPct val="150000"/>
              </a:lnSpc>
            </a:pPr>
            <a:r>
              <a:rPr lang="zh-CN" altLang="en-US" sz="2800" b="1" dirty="0">
                <a:latin typeface="Microsoft YaHei UI" panose="020B0502040204020203" pitchFamily="34" charset="0"/>
              </a:rPr>
              <a:t>像</a:t>
            </a:r>
            <a:r>
              <a:rPr lang="en-US" altLang="zh-CN" sz="2800" b="1" dirty="0">
                <a:latin typeface="Microsoft YaHei UI" panose="020B0502040204020203" pitchFamily="34" charset="0"/>
              </a:rPr>
              <a:t>BASIC</a:t>
            </a:r>
            <a:r>
              <a:rPr lang="zh-CN" altLang="en-US" sz="2800" b="1" dirty="0">
                <a:latin typeface="Microsoft YaHei UI" panose="020B0502040204020203" pitchFamily="34" charset="0"/>
              </a:rPr>
              <a:t>、</a:t>
            </a:r>
            <a:r>
              <a:rPr lang="en-US" altLang="zh-CN" sz="2800" b="1" dirty="0">
                <a:latin typeface="Microsoft YaHei UI" panose="020B0502040204020203" pitchFamily="34" charset="0"/>
              </a:rPr>
              <a:t>C++</a:t>
            </a:r>
            <a:r>
              <a:rPr lang="zh-CN" altLang="en-US" sz="2800" b="1" dirty="0">
                <a:latin typeface="Microsoft YaHei UI" panose="020B0502040204020203" pitchFamily="34" charset="0"/>
              </a:rPr>
              <a:t>等传统的编译型语言需要程序员直接管理内存，每次创建或销毁变量时都要手动分配和释放内存</a:t>
            </a:r>
            <a:endParaRPr lang="en-US" altLang="zh-CN" sz="2800" b="1" dirty="0">
              <a:latin typeface="Microsoft YaHei UI" panose="020B0502040204020203" pitchFamily="34" charset="0"/>
            </a:endParaRPr>
          </a:p>
          <a:p>
            <a:pPr lvl="1">
              <a:lnSpc>
                <a:spcPct val="150000"/>
              </a:lnSpc>
            </a:pPr>
            <a:r>
              <a:rPr lang="zh-CN" altLang="en-US" sz="2800" b="1" dirty="0">
                <a:latin typeface="Microsoft YaHei UI" panose="020B0502040204020203" pitchFamily="34" charset="0"/>
              </a:rPr>
              <a:t>在托管型代码中，内存的分配和释放是自动进行的</a:t>
            </a:r>
          </a:p>
          <a:p>
            <a:pPr lvl="1">
              <a:lnSpc>
                <a:spcPct val="150000"/>
              </a:lnSpc>
            </a:pPr>
            <a:r>
              <a:rPr lang="zh-CN" altLang="en-US" sz="2800" b="1" dirty="0">
                <a:latin typeface="Microsoft YaHei UI" panose="020B0502040204020203" pitchFamily="34" charset="0"/>
              </a:rPr>
              <a:t>这可以减少意外占用所有内存的可能性</a:t>
            </a:r>
            <a:endParaRPr lang="en-US" altLang="zh-CN" sz="2800" b="1" dirty="0">
              <a:latin typeface="Microsoft YaHei UI" panose="020B0502040204020203" pitchFamily="34" charset="0"/>
            </a:endParaRPr>
          </a:p>
          <a:p>
            <a:pPr lvl="2">
              <a:lnSpc>
                <a:spcPct val="150000"/>
              </a:lnSpc>
            </a:pPr>
            <a:r>
              <a:rPr lang="zh-CN" altLang="en-US" sz="24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内存泄漏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E816F580-4107-5A82-74A8-59B3B523759E}"/>
              </a:ext>
            </a:extLst>
          </p:cNvPr>
          <p:cNvGrpSpPr/>
          <p:nvPr/>
        </p:nvGrpSpPr>
        <p:grpSpPr>
          <a:xfrm>
            <a:off x="4480816" y="251474"/>
            <a:ext cx="3230367" cy="490115"/>
            <a:chOff x="4840431" y="207541"/>
            <a:chExt cx="3230367" cy="490115"/>
          </a:xfrm>
        </p:grpSpPr>
        <p:pic>
          <p:nvPicPr>
            <p:cNvPr id="5" name="Picture 4" descr="黑爵(AJAZZ)手柄/方向盘AG180报价_参数_图片_视频_怎么样_问答-苏宁易购">
              <a:extLst>
                <a:ext uri="{FF2B5EF4-FFF2-40B4-BE49-F238E27FC236}">
                  <a16:creationId xmlns:a16="http://schemas.microsoft.com/office/drawing/2014/main" id="{143FDF85-D343-A0AA-FDE1-D4DC431BF09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45" t="9275" r="3752" b="5379"/>
            <a:stretch/>
          </p:blipFill>
          <p:spPr bwMode="auto">
            <a:xfrm>
              <a:off x="4840431" y="321039"/>
              <a:ext cx="407315" cy="37661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Rectangle 3">
              <a:extLst>
                <a:ext uri="{FF2B5EF4-FFF2-40B4-BE49-F238E27FC236}">
                  <a16:creationId xmlns:a16="http://schemas.microsoft.com/office/drawing/2014/main" id="{CE336299-6954-9665-FA40-C9F5EA946C4C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5298546" y="207541"/>
              <a:ext cx="2772252" cy="471065"/>
            </a:xfrm>
            <a:prstGeom prst="rect">
              <a:avLst/>
            </a:prstGeom>
            <a:noFill/>
          </p:spPr>
          <p:txBody>
            <a:bodyPr lIns="90488" tIns="44450" rIns="90488" bIns="44450"/>
            <a:lstStyle>
              <a:lvl1pPr marL="171450" indent="-17145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1pPr>
              <a:lvl2pPr marL="5143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8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2pPr>
              <a:lvl3pPr marL="8572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3pPr>
              <a:lvl4pPr marL="12001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4pPr>
              <a:lvl5pPr marL="15430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fontAlgn="base">
                <a:lnSpc>
                  <a:spcPct val="100000"/>
                </a:lnSpc>
                <a:buNone/>
              </a:pPr>
              <a:r>
                <a:rPr lang="zh-CN" altLang="en-US" sz="3200" dirty="0">
                  <a:latin typeface="Times New Roman" panose="02020603050405020304" pitchFamily="18" charset="0"/>
                  <a:ea typeface="楷体" panose="02010609060101010101" pitchFamily="49" charset="-122"/>
                  <a:sym typeface="+mn-ea"/>
                </a:rPr>
                <a:t>理解</a:t>
              </a:r>
              <a:r>
                <a:rPr lang="en-US" altLang="zh-CN" sz="3200" dirty="0">
                  <a:latin typeface="Times New Roman" panose="02020603050405020304" pitchFamily="18" charset="0"/>
                  <a:ea typeface="楷体" panose="02010609060101010101" pitchFamily="49" charset="-122"/>
                  <a:sym typeface="+mn-ea"/>
                </a:rPr>
                <a:t>C#</a:t>
              </a:r>
              <a:r>
                <a:rPr lang="zh-CN" altLang="en-US" sz="3200" dirty="0">
                  <a:latin typeface="Times New Roman" panose="02020603050405020304" pitchFamily="18" charset="0"/>
                  <a:ea typeface="楷体" panose="02010609060101010101" pitchFamily="49" charset="-122"/>
                  <a:sym typeface="+mn-ea"/>
                </a:rPr>
                <a:t>的特性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841704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B3C1D5B-11AC-48D7-B0A0-63BC88617D64}"/>
              </a:ext>
            </a:extLst>
          </p:cNvPr>
          <p:cNvSpPr>
            <a:spLocks noGrp="1"/>
          </p:cNvSpPr>
          <p:nvPr>
            <p:ph sz="quarter" idx="4294967295"/>
          </p:nvPr>
        </p:nvSpPr>
        <p:spPr>
          <a:xfrm>
            <a:off x="444500" y="1280914"/>
            <a:ext cx="11204026" cy="4923038"/>
          </a:xfrm>
          <a:prstGeom prst="rect">
            <a:avLst/>
          </a:prstGeom>
        </p:spPr>
        <p:txBody>
          <a:bodyPr rtlCol="0">
            <a:noAutofit/>
          </a:bodyPr>
          <a:lstStyle>
            <a:defPPr>
              <a:defRPr lang="zh-CN"/>
            </a:defPPr>
          </a:lstStyle>
          <a:p>
            <a:pPr rtl="0"/>
            <a:r>
              <a:rPr lang="zh-CN" altLang="en-US" sz="2800" b="1" dirty="0">
                <a:solidFill>
                  <a:schemeClr val="accent5">
                    <a:lumMod val="75000"/>
                  </a:schemeClr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变量是一个具有命名的容器</a:t>
            </a:r>
            <a:endParaRPr lang="en-US" altLang="zh-CN" sz="2800" b="1" dirty="0">
              <a:solidFill>
                <a:schemeClr val="accent5">
                  <a:lumMod val="75000"/>
                </a:schemeClr>
              </a:solidFill>
              <a:latin typeface="Microsoft YaHei UI" panose="020B0502040204020203" pitchFamily="34" charset="0"/>
              <a:cs typeface="Microsoft YaHei UI" panose="020B0502040204020203" pitchFamily="34" charset="0"/>
            </a:endParaRPr>
          </a:p>
          <a:p>
            <a:pPr rtl="0">
              <a:lnSpc>
                <a:spcPct val="150000"/>
              </a:lnSpc>
            </a:pPr>
            <a:r>
              <a:rPr lang="zh-CN" altLang="en-US" sz="2800" b="1" dirty="0">
                <a:solidFill>
                  <a:schemeClr val="accent5">
                    <a:lumMod val="75000"/>
                  </a:schemeClr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借用了代数中的概念：</a:t>
            </a:r>
            <a:endParaRPr lang="en-US" altLang="zh-CN" sz="2800" b="1" dirty="0">
              <a:solidFill>
                <a:schemeClr val="accent5">
                  <a:lumMod val="75000"/>
                </a:schemeClr>
              </a:solidFill>
              <a:latin typeface="Microsoft YaHei UI" panose="020B0502040204020203" pitchFamily="34" charset="0"/>
              <a:cs typeface="Microsoft YaHei UI" panose="020B0502040204020203" pitchFamily="34" charset="0"/>
            </a:endParaRPr>
          </a:p>
          <a:p>
            <a:pPr lvl="1"/>
            <a:r>
              <a:rPr lang="en-US" altLang="zh-CN" sz="2400" dirty="0">
                <a:latin typeface="Microsoft YaHei UI" panose="020B0502040204020203" pitchFamily="34" charset="0"/>
              </a:rPr>
              <a:t>x = 5</a:t>
            </a:r>
          </a:p>
          <a:p>
            <a:pPr lvl="1"/>
            <a:r>
              <a:rPr lang="en-US" altLang="zh-CN" sz="2400" dirty="0">
                <a:latin typeface="Microsoft YaHei UI" panose="020B0502040204020203" pitchFamily="34" charset="0"/>
              </a:rPr>
              <a:t>x + 2 = </a:t>
            </a:r>
            <a:r>
              <a:rPr lang="zh-CN" altLang="en-US" sz="2400" dirty="0">
                <a:latin typeface="Microsoft YaHei UI" panose="020B0502040204020203" pitchFamily="34" charset="0"/>
              </a:rPr>
              <a:t>？</a:t>
            </a:r>
            <a:endParaRPr lang="en-US" altLang="zh-CN" sz="2400" b="1" dirty="0">
              <a:solidFill>
                <a:schemeClr val="accent5">
                  <a:lumMod val="75000"/>
                </a:schemeClr>
              </a:solidFill>
              <a:latin typeface="Microsoft YaHei UI" panose="020B0502040204020203" pitchFamily="34" charset="0"/>
              <a:cs typeface="Microsoft YaHei UI" panose="020B0502040204020203" pitchFamily="34" charset="0"/>
            </a:endParaRPr>
          </a:p>
          <a:p>
            <a:pPr rtl="0"/>
            <a:r>
              <a:rPr lang="zh-CN" altLang="en-US" sz="2800" b="1" dirty="0">
                <a:solidFill>
                  <a:schemeClr val="accent5">
                    <a:lumMod val="75000"/>
                  </a:schemeClr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计算机语言中的变量可以保存的不仅仅是简单的数字</a:t>
            </a:r>
            <a:endParaRPr lang="en-US" altLang="zh-CN" sz="2800" b="1" dirty="0">
              <a:solidFill>
                <a:schemeClr val="accent5">
                  <a:lumMod val="75000"/>
                </a:schemeClr>
              </a:solidFill>
              <a:latin typeface="Microsoft YaHei UI" panose="020B0502040204020203" pitchFamily="34" charset="0"/>
              <a:cs typeface="Microsoft YaHei UI" panose="020B0502040204020203" pitchFamily="34" charset="0"/>
            </a:endParaRPr>
          </a:p>
          <a:p>
            <a:pPr lvl="1"/>
            <a:r>
              <a:rPr lang="zh-CN" altLang="en-US" sz="2400" dirty="0">
                <a:latin typeface="Microsoft YaHei UI" panose="020B0502040204020203" pitchFamily="34" charset="0"/>
              </a:rPr>
              <a:t>数字</a:t>
            </a:r>
          </a:p>
          <a:p>
            <a:pPr lvl="1"/>
            <a:r>
              <a:rPr lang="zh-CN" altLang="en-US" sz="2400" dirty="0">
                <a:latin typeface="Microsoft YaHei UI" panose="020B0502040204020203" pitchFamily="34" charset="0"/>
              </a:rPr>
              <a:t>单词、句子、段落、小说</a:t>
            </a:r>
            <a:r>
              <a:rPr lang="en-US" altLang="zh-CN" sz="2400" dirty="0">
                <a:latin typeface="Microsoft YaHei UI" panose="020B0502040204020203" pitchFamily="34" charset="0"/>
              </a:rPr>
              <a:t>……</a:t>
            </a:r>
          </a:p>
          <a:p>
            <a:pPr lvl="1"/>
            <a:r>
              <a:rPr lang="zh-CN" altLang="en-US" sz="2400" dirty="0">
                <a:latin typeface="Microsoft YaHei UI" panose="020B0502040204020203" pitchFamily="34" charset="0"/>
              </a:rPr>
              <a:t>图像、声音、</a:t>
            </a:r>
            <a:r>
              <a:rPr lang="en-US" altLang="zh-CN" sz="2400" dirty="0">
                <a:latin typeface="Microsoft YaHei UI" panose="020B0502040204020203" pitchFamily="34" charset="0"/>
              </a:rPr>
              <a:t>3D</a:t>
            </a:r>
            <a:r>
              <a:rPr lang="zh-CN" altLang="en-US" sz="2400" dirty="0">
                <a:latin typeface="Microsoft YaHei UI" panose="020B0502040204020203" pitchFamily="34" charset="0"/>
              </a:rPr>
              <a:t>模型、动画</a:t>
            </a:r>
            <a:r>
              <a:rPr lang="en-US" altLang="zh-CN" sz="2400" dirty="0">
                <a:latin typeface="Microsoft YaHei UI" panose="020B0502040204020203" pitchFamily="34" charset="0"/>
              </a:rPr>
              <a:t>……</a:t>
            </a:r>
          </a:p>
          <a:p>
            <a:pPr lvl="1"/>
            <a:r>
              <a:rPr lang="zh-CN" altLang="en-US" sz="2400" dirty="0">
                <a:latin typeface="Microsoft YaHei UI" panose="020B0502040204020203" pitchFamily="34" charset="0"/>
              </a:rPr>
              <a:t>函数和方法</a:t>
            </a:r>
          </a:p>
          <a:p>
            <a:pPr lvl="1"/>
            <a:r>
              <a:rPr lang="zh-CN" altLang="en-US" sz="2400" dirty="0">
                <a:latin typeface="Microsoft YaHei UI" panose="020B0502040204020203" pitchFamily="34" charset="0"/>
              </a:rPr>
              <a:t>类和游戏对象</a:t>
            </a:r>
            <a:endParaRPr lang="en-US" altLang="zh-CN" sz="2400" dirty="0">
              <a:latin typeface="Microsoft YaHei UI" panose="020B0502040204020203" pitchFamily="34" charset="0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3A2FCBC0-507E-09CE-9F5F-58D80184A7FB}"/>
              </a:ext>
            </a:extLst>
          </p:cNvPr>
          <p:cNvGrpSpPr/>
          <p:nvPr/>
        </p:nvGrpSpPr>
        <p:grpSpPr>
          <a:xfrm>
            <a:off x="4480816" y="251474"/>
            <a:ext cx="3230367" cy="490115"/>
            <a:chOff x="4840431" y="207541"/>
            <a:chExt cx="3230367" cy="490115"/>
          </a:xfrm>
        </p:grpSpPr>
        <p:pic>
          <p:nvPicPr>
            <p:cNvPr id="5" name="Picture 4" descr="黑爵(AJAZZ)手柄/方向盘AG180报价_参数_图片_视频_怎么样_问答-苏宁易购">
              <a:extLst>
                <a:ext uri="{FF2B5EF4-FFF2-40B4-BE49-F238E27FC236}">
                  <a16:creationId xmlns:a16="http://schemas.microsoft.com/office/drawing/2014/main" id="{82F4C26B-216D-A769-5E6B-4B23E55347B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45" t="9275" r="3752" b="5379"/>
            <a:stretch/>
          </p:blipFill>
          <p:spPr bwMode="auto">
            <a:xfrm>
              <a:off x="4840431" y="321039"/>
              <a:ext cx="407315" cy="37661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Rectangle 3">
              <a:extLst>
                <a:ext uri="{FF2B5EF4-FFF2-40B4-BE49-F238E27FC236}">
                  <a16:creationId xmlns:a16="http://schemas.microsoft.com/office/drawing/2014/main" id="{27DA15EA-4888-1B09-1C5B-EE89E7933466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5298546" y="207541"/>
              <a:ext cx="2772252" cy="471065"/>
            </a:xfrm>
            <a:prstGeom prst="rect">
              <a:avLst/>
            </a:prstGeom>
            <a:noFill/>
          </p:spPr>
          <p:txBody>
            <a:bodyPr lIns="90488" tIns="44450" rIns="90488" bIns="44450"/>
            <a:lstStyle>
              <a:lvl1pPr marL="171450" indent="-17145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1pPr>
              <a:lvl2pPr marL="5143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8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2pPr>
              <a:lvl3pPr marL="8572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3pPr>
              <a:lvl4pPr marL="12001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4pPr>
              <a:lvl5pPr marL="15430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fontAlgn="base">
                <a:lnSpc>
                  <a:spcPct val="100000"/>
                </a:lnSpc>
                <a:buNone/>
              </a:pPr>
              <a:r>
                <a:rPr lang="zh-CN" altLang="en-US" sz="3200" dirty="0">
                  <a:latin typeface="Times New Roman" panose="02020603050405020304" pitchFamily="18" charset="0"/>
                  <a:ea typeface="楷体" panose="02010609060101010101" pitchFamily="49" charset="-122"/>
                  <a:sym typeface="+mn-ea"/>
                </a:rPr>
                <a:t>理解</a:t>
              </a:r>
              <a:r>
                <a:rPr lang="en-US" altLang="zh-CN" sz="3200" dirty="0">
                  <a:latin typeface="Times New Roman" panose="02020603050405020304" pitchFamily="18" charset="0"/>
                  <a:ea typeface="楷体" panose="02010609060101010101" pitchFamily="49" charset="-122"/>
                  <a:sym typeface="+mn-ea"/>
                </a:rPr>
                <a:t>C#</a:t>
              </a:r>
              <a:r>
                <a:rPr lang="zh-CN" altLang="en-US" sz="3200" dirty="0">
                  <a:latin typeface="Times New Roman" panose="02020603050405020304" pitchFamily="18" charset="0"/>
                  <a:ea typeface="楷体" panose="02010609060101010101" pitchFamily="49" charset="-122"/>
                  <a:sym typeface="+mn-ea"/>
                </a:rPr>
                <a:t>的特性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722797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B3C1D5B-11AC-48D7-B0A0-63BC88617D64}"/>
              </a:ext>
            </a:extLst>
          </p:cNvPr>
          <p:cNvSpPr>
            <a:spLocks noGrp="1"/>
          </p:cNvSpPr>
          <p:nvPr>
            <p:ph sz="quarter" idx="4294967295"/>
          </p:nvPr>
        </p:nvSpPr>
        <p:spPr>
          <a:xfrm>
            <a:off x="444500" y="1280914"/>
            <a:ext cx="11204026" cy="4923038"/>
          </a:xfrm>
          <a:prstGeom prst="rect">
            <a:avLst/>
          </a:prstGeom>
        </p:spPr>
        <p:txBody>
          <a:bodyPr rtlCol="0">
            <a:noAutofit/>
          </a:bodyPr>
          <a:lstStyle>
            <a:defPPr>
              <a:defRPr lang="zh-CN"/>
            </a:defPPr>
          </a:lstStyle>
          <a:p>
            <a:pPr rtl="0"/>
            <a:r>
              <a:rPr lang="en-US" altLang="zh-CN" sz="3200" b="1" dirty="0">
                <a:solidFill>
                  <a:schemeClr val="accent5">
                    <a:lumMod val="75000"/>
                  </a:schemeClr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C#</a:t>
            </a:r>
            <a:r>
              <a:rPr lang="zh-CN" altLang="en-US" sz="3200" b="1" dirty="0">
                <a:solidFill>
                  <a:schemeClr val="accent5">
                    <a:lumMod val="75000"/>
                  </a:schemeClr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是一种强类型语言</a:t>
            </a:r>
            <a:endParaRPr lang="en-US" altLang="zh-CN" sz="3200" b="1" dirty="0">
              <a:solidFill>
                <a:schemeClr val="accent5">
                  <a:lumMod val="75000"/>
                </a:schemeClr>
              </a:solidFill>
              <a:latin typeface="Microsoft YaHei UI" panose="020B0502040204020203" pitchFamily="34" charset="0"/>
              <a:cs typeface="Microsoft YaHei UI" panose="020B0502040204020203" pitchFamily="34" charset="0"/>
            </a:endParaRPr>
          </a:p>
          <a:p>
            <a:pPr lvl="1">
              <a:lnSpc>
                <a:spcPct val="150000"/>
              </a:lnSpc>
            </a:pPr>
            <a:r>
              <a:rPr lang="zh-CN" altLang="en-US" sz="2800" b="1" dirty="0">
                <a:latin typeface="Microsoft YaHei UI" panose="020B0502040204020203" pitchFamily="34" charset="0"/>
              </a:rPr>
              <a:t>在弱类型语言中，单个变量可以存储任意类型的数据</a:t>
            </a:r>
            <a:endParaRPr lang="en-US" altLang="zh-CN" sz="2800" b="1" dirty="0">
              <a:latin typeface="Microsoft YaHei UI" panose="020B0502040204020203" pitchFamily="34" charset="0"/>
            </a:endParaRPr>
          </a:p>
          <a:p>
            <a:pPr lvl="2"/>
            <a:r>
              <a:rPr lang="zh-CN" altLang="en-US" sz="24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同一个变量可能现在存储数字，之后存储动画</a:t>
            </a:r>
            <a:endParaRPr lang="en-US" altLang="zh-CN" sz="2400" dirty="0">
              <a:solidFill>
                <a:schemeClr val="tx1"/>
              </a:solidFill>
              <a:latin typeface="Microsoft YaHei UI" panose="020B0502040204020203" pitchFamily="34" charset="0"/>
              <a:cs typeface="Microsoft YaHei UI" panose="020B0502040204020203" pitchFamily="34" charset="0"/>
            </a:endParaRPr>
          </a:p>
          <a:p>
            <a:pPr lvl="1"/>
            <a:r>
              <a:rPr lang="zh-CN" altLang="en-US" sz="2800" b="1" dirty="0">
                <a:latin typeface="Microsoft YaHei UI" panose="020B0502040204020203" pitchFamily="34" charset="0"/>
              </a:rPr>
              <a:t>强类型语言限制了变量可以保存的数据类型</a:t>
            </a:r>
            <a:endParaRPr lang="en-US" altLang="zh-CN" sz="2800" b="1" dirty="0">
              <a:latin typeface="Microsoft YaHei UI" panose="020B0502040204020203" pitchFamily="34" charset="0"/>
            </a:endParaRPr>
          </a:p>
          <a:p>
            <a:pPr lvl="2"/>
            <a:r>
              <a:rPr lang="en-US" altLang="zh-CN" sz="24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int </a:t>
            </a:r>
            <a:r>
              <a:rPr lang="en-US" altLang="zh-CN" sz="2400" i="1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x</a:t>
            </a:r>
            <a:r>
              <a:rPr lang="en-US" altLang="zh-CN" sz="24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 = 5</a:t>
            </a:r>
            <a:r>
              <a:rPr lang="zh-CN" altLang="en-US" sz="24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；</a:t>
            </a:r>
            <a:r>
              <a:rPr lang="en-US" altLang="zh-CN" sz="24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— </a:t>
            </a:r>
            <a:r>
              <a:rPr lang="zh-CN" altLang="en-US" sz="24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整型变量 </a:t>
            </a:r>
            <a:r>
              <a:rPr lang="en-US" altLang="zh-CN" sz="2400" i="1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x </a:t>
            </a:r>
            <a:r>
              <a:rPr lang="zh-CN" altLang="en-US" sz="24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只能存储整数</a:t>
            </a:r>
          </a:p>
          <a:p>
            <a:pPr lvl="2"/>
            <a:r>
              <a:rPr lang="en-US" altLang="zh-CN" sz="24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Float </a:t>
            </a:r>
            <a:r>
              <a:rPr lang="en-US" altLang="zh-CN" sz="2400" i="1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y</a:t>
            </a:r>
            <a:r>
              <a:rPr lang="en-US" altLang="zh-CN" sz="24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 = 3.4f</a:t>
            </a:r>
            <a:r>
              <a:rPr lang="zh-CN" altLang="en-US" sz="24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；</a:t>
            </a:r>
            <a:r>
              <a:rPr lang="en-US" altLang="zh-CN" sz="24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— </a:t>
            </a:r>
            <a:r>
              <a:rPr lang="zh-CN" altLang="en-US" sz="24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浮点类型变量 </a:t>
            </a:r>
            <a:r>
              <a:rPr lang="en-US" altLang="zh-CN" sz="2400" i="1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y </a:t>
            </a:r>
            <a:r>
              <a:rPr lang="zh-CN" altLang="en-US" sz="24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只能存储浮点数</a:t>
            </a:r>
          </a:p>
          <a:p>
            <a:pPr lvl="1"/>
            <a:r>
              <a:rPr lang="zh-CN" altLang="en-US" sz="2800" b="1" dirty="0">
                <a:latin typeface="Microsoft YaHei UI" panose="020B0502040204020203" pitchFamily="34" charset="0"/>
              </a:rPr>
              <a:t>强类型语言支持语法检查</a:t>
            </a:r>
            <a:endParaRPr lang="en-US" altLang="zh-CN" sz="2800" b="1" dirty="0">
              <a:latin typeface="Microsoft YaHei UI" panose="020B0502040204020203" pitchFamily="34" charset="0"/>
            </a:endParaRPr>
          </a:p>
          <a:p>
            <a:pPr lvl="2"/>
            <a:r>
              <a:rPr lang="zh-CN" altLang="en-US" sz="24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方便编译器检查代码的正确性</a:t>
            </a:r>
          </a:p>
          <a:p>
            <a:pPr lvl="1"/>
            <a:r>
              <a:rPr lang="zh-CN" altLang="en-US" sz="2800" b="1" dirty="0">
                <a:latin typeface="Microsoft YaHei UI" panose="020B0502040204020203" pitchFamily="34" charset="0"/>
              </a:rPr>
              <a:t>强类型语言还支持代码自动完成</a:t>
            </a:r>
            <a:endParaRPr lang="en-US" altLang="zh-CN" sz="2800" b="1" dirty="0">
              <a:latin typeface="Microsoft YaHei UI" panose="020B0502040204020203" pitchFamily="34" charset="0"/>
            </a:endParaRPr>
          </a:p>
          <a:p>
            <a:pPr lvl="2"/>
            <a:r>
              <a:rPr lang="zh-CN" altLang="en-US" sz="24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代码编辑器可以预测您想要输入的内容，并基于已有代码提供有效选项</a:t>
            </a:r>
          </a:p>
          <a:p>
            <a:pPr lvl="2"/>
            <a:endParaRPr lang="zh-CN" altLang="en-US" sz="2400" dirty="0">
              <a:solidFill>
                <a:schemeClr val="tx1"/>
              </a:solidFill>
              <a:latin typeface="Microsoft YaHei UI" panose="020B0502040204020203" pitchFamily="34" charset="0"/>
              <a:cs typeface="Microsoft YaHei UI" panose="020B0502040204020203" pitchFamily="34" charset="0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7D6DA61-5049-3FCE-0C00-9FE47293370D}"/>
              </a:ext>
            </a:extLst>
          </p:cNvPr>
          <p:cNvGrpSpPr/>
          <p:nvPr/>
        </p:nvGrpSpPr>
        <p:grpSpPr>
          <a:xfrm>
            <a:off x="4480816" y="251474"/>
            <a:ext cx="3230367" cy="490115"/>
            <a:chOff x="4840431" y="207541"/>
            <a:chExt cx="3230367" cy="490115"/>
          </a:xfrm>
        </p:grpSpPr>
        <p:pic>
          <p:nvPicPr>
            <p:cNvPr id="5" name="Picture 4" descr="黑爵(AJAZZ)手柄/方向盘AG180报价_参数_图片_视频_怎么样_问答-苏宁易购">
              <a:extLst>
                <a:ext uri="{FF2B5EF4-FFF2-40B4-BE49-F238E27FC236}">
                  <a16:creationId xmlns:a16="http://schemas.microsoft.com/office/drawing/2014/main" id="{6D9F660E-D890-DEC8-B68B-6580E8D4A08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45" t="9275" r="3752" b="5379"/>
            <a:stretch/>
          </p:blipFill>
          <p:spPr bwMode="auto">
            <a:xfrm>
              <a:off x="4840431" y="321039"/>
              <a:ext cx="407315" cy="37661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Rectangle 3">
              <a:extLst>
                <a:ext uri="{FF2B5EF4-FFF2-40B4-BE49-F238E27FC236}">
                  <a16:creationId xmlns:a16="http://schemas.microsoft.com/office/drawing/2014/main" id="{39E1E4A5-E3D9-B871-8614-A42074282124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5298546" y="207541"/>
              <a:ext cx="2772252" cy="471065"/>
            </a:xfrm>
            <a:prstGeom prst="rect">
              <a:avLst/>
            </a:prstGeom>
            <a:noFill/>
          </p:spPr>
          <p:txBody>
            <a:bodyPr lIns="90488" tIns="44450" rIns="90488" bIns="44450"/>
            <a:lstStyle>
              <a:lvl1pPr marL="171450" indent="-17145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1pPr>
              <a:lvl2pPr marL="5143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8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2pPr>
              <a:lvl3pPr marL="8572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3pPr>
              <a:lvl4pPr marL="12001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4pPr>
              <a:lvl5pPr marL="15430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fontAlgn="base">
                <a:lnSpc>
                  <a:spcPct val="100000"/>
                </a:lnSpc>
                <a:buNone/>
              </a:pPr>
              <a:r>
                <a:rPr lang="zh-CN" altLang="en-US" sz="3200" dirty="0">
                  <a:latin typeface="Times New Roman" panose="02020603050405020304" pitchFamily="18" charset="0"/>
                  <a:ea typeface="楷体" panose="02010609060101010101" pitchFamily="49" charset="-122"/>
                  <a:sym typeface="+mn-ea"/>
                </a:rPr>
                <a:t>理解</a:t>
              </a:r>
              <a:r>
                <a:rPr lang="en-US" altLang="zh-CN" sz="3200" dirty="0">
                  <a:latin typeface="Times New Roman" panose="02020603050405020304" pitchFamily="18" charset="0"/>
                  <a:ea typeface="楷体" panose="02010609060101010101" pitchFamily="49" charset="-122"/>
                  <a:sym typeface="+mn-ea"/>
                </a:rPr>
                <a:t>C#</a:t>
              </a:r>
              <a:r>
                <a:rPr lang="zh-CN" altLang="en-US" sz="3200" dirty="0">
                  <a:latin typeface="Times New Roman" panose="02020603050405020304" pitchFamily="18" charset="0"/>
                  <a:ea typeface="楷体" panose="02010609060101010101" pitchFamily="49" charset="-122"/>
                  <a:sym typeface="+mn-ea"/>
                </a:rPr>
                <a:t>的特性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62378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B3C1D5B-11AC-48D7-B0A0-63BC88617D64}"/>
              </a:ext>
            </a:extLst>
          </p:cNvPr>
          <p:cNvSpPr>
            <a:spLocks noGrp="1"/>
          </p:cNvSpPr>
          <p:nvPr>
            <p:ph sz="quarter" idx="4294967295"/>
          </p:nvPr>
        </p:nvSpPr>
        <p:spPr>
          <a:xfrm>
            <a:off x="444500" y="1280914"/>
            <a:ext cx="11204026" cy="4923038"/>
          </a:xfrm>
          <a:prstGeom prst="rect">
            <a:avLst/>
          </a:prstGeom>
        </p:spPr>
        <p:txBody>
          <a:bodyPr rtlCol="0">
            <a:noAutofit/>
          </a:bodyPr>
          <a:lstStyle>
            <a:defPPr>
              <a:defRPr lang="zh-CN"/>
            </a:defPPr>
          </a:lstStyle>
          <a:p>
            <a:pPr rtl="0"/>
            <a:r>
              <a:rPr lang="en-US" altLang="zh-CN" sz="2800" b="1" dirty="0">
                <a:solidFill>
                  <a:schemeClr val="accent5">
                    <a:lumMod val="75000"/>
                  </a:schemeClr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C#</a:t>
            </a:r>
            <a:r>
              <a:rPr lang="zh-CN" altLang="en-US" sz="2800" b="1" dirty="0">
                <a:solidFill>
                  <a:schemeClr val="accent5">
                    <a:lumMod val="75000"/>
                  </a:schemeClr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是基于函数的语言</a:t>
            </a:r>
            <a:endParaRPr lang="en-US" altLang="zh-CN" sz="2800" b="1" dirty="0">
              <a:solidFill>
                <a:schemeClr val="accent5">
                  <a:lumMod val="75000"/>
                </a:schemeClr>
              </a:solidFill>
              <a:latin typeface="Microsoft YaHei UI" panose="020B0502040204020203" pitchFamily="34" charset="0"/>
              <a:cs typeface="Microsoft YaHei UI" panose="020B0502040204020203" pitchFamily="34" charset="0"/>
            </a:endParaRPr>
          </a:p>
          <a:p>
            <a:pPr lvl="1">
              <a:lnSpc>
                <a:spcPct val="150000"/>
              </a:lnSpc>
            </a:pPr>
            <a:r>
              <a:rPr lang="zh-CN" altLang="en-US" sz="2400" b="1" dirty="0">
                <a:latin typeface="Microsoft YaHei UI" panose="020B0502040204020203" pitchFamily="34" charset="0"/>
              </a:rPr>
              <a:t>早期的编程中，程序是由一系列命令构成的</a:t>
            </a:r>
            <a:endParaRPr lang="en-US" altLang="zh-CN" sz="2400" b="1" dirty="0">
              <a:latin typeface="Microsoft YaHei UI" panose="020B0502040204020203" pitchFamily="34" charset="0"/>
            </a:endParaRPr>
          </a:p>
          <a:p>
            <a:pPr lvl="1">
              <a:lnSpc>
                <a:spcPct val="150000"/>
              </a:lnSpc>
            </a:pPr>
            <a:r>
              <a:rPr lang="zh-CN" altLang="en-US" sz="2400" b="1" dirty="0">
                <a:latin typeface="Microsoft YaHei UI" panose="020B0502040204020203" pitchFamily="34" charset="0"/>
              </a:rPr>
              <a:t>比如有朋友想开车到你家，你这样给他指路：</a:t>
            </a:r>
            <a:endParaRPr lang="en-US" altLang="zh-CN" sz="2400" b="1" dirty="0">
              <a:latin typeface="Microsoft YaHei UI" panose="020B0502040204020203" pitchFamily="34" charset="0"/>
            </a:endParaRPr>
          </a:p>
          <a:p>
            <a:pPr lvl="2"/>
            <a:r>
              <a:rPr lang="en-US" altLang="zh-CN" sz="20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1. </a:t>
            </a:r>
            <a:r>
              <a:rPr lang="zh-CN" altLang="en-US" sz="20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从学校出发，沿南海大道向南走。</a:t>
            </a:r>
            <a:endParaRPr lang="en-US" altLang="zh-CN" sz="2000" dirty="0">
              <a:solidFill>
                <a:schemeClr val="tx1"/>
              </a:solidFill>
              <a:latin typeface="Microsoft YaHei UI" panose="020B0502040204020203" pitchFamily="34" charset="0"/>
              <a:cs typeface="Microsoft YaHei UI" panose="020B0502040204020203" pitchFamily="34" charset="0"/>
            </a:endParaRPr>
          </a:p>
          <a:p>
            <a:pPr lvl="2"/>
            <a:r>
              <a:rPr lang="en-US" altLang="zh-CN" sz="20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2. </a:t>
            </a:r>
            <a:r>
              <a:rPr lang="zh-CN" altLang="en-US" sz="20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到创业路后向西拐，走</a:t>
            </a:r>
            <a:r>
              <a:rPr lang="en-US" altLang="zh-CN" sz="20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2</a:t>
            </a:r>
            <a:r>
              <a:rPr lang="zh-CN" altLang="en-US" sz="20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公里。</a:t>
            </a:r>
            <a:endParaRPr lang="en-US" altLang="zh-CN" sz="2000" dirty="0">
              <a:solidFill>
                <a:schemeClr val="tx1"/>
              </a:solidFill>
              <a:latin typeface="Microsoft YaHei UI" panose="020B0502040204020203" pitchFamily="34" charset="0"/>
              <a:cs typeface="Microsoft YaHei UI" panose="020B0502040204020203" pitchFamily="34" charset="0"/>
            </a:endParaRPr>
          </a:p>
          <a:p>
            <a:pPr lvl="2"/>
            <a:r>
              <a:rPr lang="en-US" altLang="zh-CN" sz="20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3. </a:t>
            </a:r>
            <a:r>
              <a:rPr lang="zh-CN" altLang="en-US" sz="20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到丁字路口后，向左拐上南山大道，再向南走</a:t>
            </a:r>
            <a:r>
              <a:rPr lang="en-US" altLang="zh-CN" sz="20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3</a:t>
            </a:r>
            <a:r>
              <a:rPr lang="zh-CN" altLang="en-US" sz="20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公里。</a:t>
            </a:r>
            <a:endParaRPr lang="en-US" altLang="zh-CN" sz="2000" dirty="0">
              <a:solidFill>
                <a:schemeClr val="tx1"/>
              </a:solidFill>
              <a:latin typeface="Microsoft YaHei UI" panose="020B0502040204020203" pitchFamily="34" charset="0"/>
              <a:cs typeface="Microsoft YaHei UI" panose="020B0502040204020203" pitchFamily="34" charset="0"/>
            </a:endParaRPr>
          </a:p>
          <a:p>
            <a:pPr lvl="2"/>
            <a:r>
              <a:rPr lang="en-US" altLang="zh-CN" sz="20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4. </a:t>
            </a:r>
            <a:r>
              <a:rPr lang="zh-CN" altLang="en-US" sz="20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一直走，碰到又一个丁字路口后，进入</a:t>
            </a:r>
            <a:r>
              <a:rPr lang="en-US" altLang="zh-CN" sz="20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××</a:t>
            </a:r>
            <a:r>
              <a:rPr lang="zh-CN" altLang="en-US" sz="20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小区。</a:t>
            </a:r>
            <a:endParaRPr lang="en-US" altLang="zh-CN" sz="2000" dirty="0">
              <a:solidFill>
                <a:schemeClr val="tx1"/>
              </a:solidFill>
              <a:latin typeface="Microsoft YaHei UI" panose="020B0502040204020203" pitchFamily="34" charset="0"/>
              <a:cs typeface="Microsoft YaHei UI" panose="020B0502040204020203" pitchFamily="34" charset="0"/>
            </a:endParaRPr>
          </a:p>
          <a:p>
            <a:pPr lvl="2"/>
            <a:r>
              <a:rPr lang="en-US" altLang="zh-CN" sz="20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5. </a:t>
            </a:r>
            <a:r>
              <a:rPr lang="zh-CN" altLang="en-US" sz="20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我家就在</a:t>
            </a:r>
            <a:r>
              <a:rPr lang="en-US" altLang="zh-CN" sz="20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××</a:t>
            </a:r>
            <a:r>
              <a:rPr lang="zh-CN" altLang="en-US" sz="20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小区</a:t>
            </a:r>
            <a:r>
              <a:rPr lang="en-US" altLang="zh-CN" sz="20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2</a:t>
            </a:r>
            <a:r>
              <a:rPr lang="zh-CN" altLang="en-US" sz="20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号楼</a:t>
            </a:r>
            <a:r>
              <a:rPr lang="en-US" altLang="zh-CN" sz="20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3</a:t>
            </a:r>
            <a:r>
              <a:rPr lang="zh-CN" altLang="en-US" sz="20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单元</a:t>
            </a:r>
            <a:r>
              <a:rPr lang="en-US" altLang="zh-CN" sz="20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1601</a:t>
            </a:r>
            <a:r>
              <a:rPr lang="zh-CN" altLang="en-US" sz="20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。</a:t>
            </a:r>
            <a:endParaRPr lang="en-US" altLang="zh-CN" sz="2000" dirty="0">
              <a:solidFill>
                <a:schemeClr val="tx1"/>
              </a:solidFill>
              <a:latin typeface="Microsoft YaHei UI" panose="020B0502040204020203" pitchFamily="34" charset="0"/>
              <a:cs typeface="Microsoft YaHei UI" panose="020B0502040204020203" pitchFamily="34" charset="0"/>
            </a:endParaRPr>
          </a:p>
          <a:p>
            <a:pPr lvl="1">
              <a:lnSpc>
                <a:spcPct val="150000"/>
              </a:lnSpc>
            </a:pPr>
            <a:r>
              <a:rPr lang="zh-CN" altLang="en-US" sz="2400" b="1" dirty="0">
                <a:latin typeface="Microsoft YaHei UI" panose="020B0502040204020203" pitchFamily="34" charset="0"/>
              </a:rPr>
              <a:t>过程化语言允许将特定功能封装</a:t>
            </a:r>
            <a:endParaRPr lang="en-US" altLang="zh-CN" sz="2400" b="1" dirty="0">
              <a:latin typeface="Microsoft YaHei UI" panose="020B0502040204020203" pitchFamily="34" charset="0"/>
            </a:endParaRPr>
          </a:p>
          <a:p>
            <a:pPr lvl="2"/>
            <a:r>
              <a:rPr lang="zh-CN" altLang="en-US" sz="20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“如果你来的路上看到商店，能帮我</a:t>
            </a:r>
            <a:r>
              <a:rPr lang="en-US" altLang="zh-CN" sz="2000" dirty="0" err="1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BuySomeMilk</a:t>
            </a:r>
            <a:r>
              <a:rPr lang="en-US" altLang="zh-CN" sz="20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( ) </a:t>
            </a:r>
            <a:r>
              <a:rPr lang="zh-CN" altLang="en-US" sz="20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吗？”</a:t>
            </a:r>
          </a:p>
          <a:p>
            <a:pPr lvl="2"/>
            <a:r>
              <a:rPr lang="en-US" altLang="zh-CN" sz="2000" dirty="0" err="1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BuySomeMilk</a:t>
            </a:r>
            <a:r>
              <a:rPr lang="zh-CN" altLang="en-US" sz="20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（）函数封装了找牛奶和购买牛奶所涉及的诸多操作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510A12B8-8A58-150D-E829-BDF6EAC898D1}"/>
              </a:ext>
            </a:extLst>
          </p:cNvPr>
          <p:cNvGrpSpPr/>
          <p:nvPr/>
        </p:nvGrpSpPr>
        <p:grpSpPr>
          <a:xfrm>
            <a:off x="4480816" y="251474"/>
            <a:ext cx="3230367" cy="490115"/>
            <a:chOff x="4840431" y="207541"/>
            <a:chExt cx="3230367" cy="490115"/>
          </a:xfrm>
        </p:grpSpPr>
        <p:pic>
          <p:nvPicPr>
            <p:cNvPr id="5" name="Picture 4" descr="黑爵(AJAZZ)手柄/方向盘AG180报价_参数_图片_视频_怎么样_问答-苏宁易购">
              <a:extLst>
                <a:ext uri="{FF2B5EF4-FFF2-40B4-BE49-F238E27FC236}">
                  <a16:creationId xmlns:a16="http://schemas.microsoft.com/office/drawing/2014/main" id="{8994FBAB-1BD8-02BB-AD54-B549471E96B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45" t="9275" r="3752" b="5379"/>
            <a:stretch/>
          </p:blipFill>
          <p:spPr bwMode="auto">
            <a:xfrm>
              <a:off x="4840431" y="321039"/>
              <a:ext cx="407315" cy="37661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Rectangle 3">
              <a:extLst>
                <a:ext uri="{FF2B5EF4-FFF2-40B4-BE49-F238E27FC236}">
                  <a16:creationId xmlns:a16="http://schemas.microsoft.com/office/drawing/2014/main" id="{3C151C17-03F8-2A61-546E-9614250EACE5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5298546" y="207541"/>
              <a:ext cx="2772252" cy="471065"/>
            </a:xfrm>
            <a:prstGeom prst="rect">
              <a:avLst/>
            </a:prstGeom>
            <a:noFill/>
          </p:spPr>
          <p:txBody>
            <a:bodyPr lIns="90488" tIns="44450" rIns="90488" bIns="44450"/>
            <a:lstStyle>
              <a:lvl1pPr marL="171450" indent="-17145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1pPr>
              <a:lvl2pPr marL="5143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8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2pPr>
              <a:lvl3pPr marL="8572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3pPr>
              <a:lvl4pPr marL="12001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4pPr>
              <a:lvl5pPr marL="15430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fontAlgn="base">
                <a:lnSpc>
                  <a:spcPct val="100000"/>
                </a:lnSpc>
                <a:buNone/>
              </a:pPr>
              <a:r>
                <a:rPr lang="zh-CN" altLang="en-US" sz="3200" dirty="0">
                  <a:latin typeface="Times New Roman" panose="02020603050405020304" pitchFamily="18" charset="0"/>
                  <a:ea typeface="楷体" panose="02010609060101010101" pitchFamily="49" charset="-122"/>
                  <a:sym typeface="+mn-ea"/>
                </a:rPr>
                <a:t>理解</a:t>
              </a:r>
              <a:r>
                <a:rPr lang="en-US" altLang="zh-CN" sz="3200" dirty="0">
                  <a:latin typeface="Times New Roman" panose="02020603050405020304" pitchFamily="18" charset="0"/>
                  <a:ea typeface="楷体" panose="02010609060101010101" pitchFamily="49" charset="-122"/>
                  <a:sym typeface="+mn-ea"/>
                </a:rPr>
                <a:t>C#</a:t>
              </a:r>
              <a:r>
                <a:rPr lang="zh-CN" altLang="en-US" sz="3200" dirty="0">
                  <a:latin typeface="Times New Roman" panose="02020603050405020304" pitchFamily="18" charset="0"/>
                  <a:ea typeface="楷体" panose="02010609060101010101" pitchFamily="49" charset="-122"/>
                  <a:sym typeface="+mn-ea"/>
                </a:rPr>
                <a:t>的特性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412930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B3C1D5B-11AC-48D7-B0A0-63BC88617D64}"/>
              </a:ext>
            </a:extLst>
          </p:cNvPr>
          <p:cNvSpPr>
            <a:spLocks noGrp="1"/>
          </p:cNvSpPr>
          <p:nvPr>
            <p:ph sz="quarter" idx="4294967295"/>
          </p:nvPr>
        </p:nvSpPr>
        <p:spPr>
          <a:xfrm>
            <a:off x="444500" y="1136539"/>
            <a:ext cx="11204026" cy="5067414"/>
          </a:xfrm>
          <a:prstGeom prst="rect">
            <a:avLst/>
          </a:prstGeom>
        </p:spPr>
        <p:txBody>
          <a:bodyPr rtlCol="0">
            <a:noAutofit/>
          </a:bodyPr>
          <a:lstStyle>
            <a:defPPr>
              <a:defRPr lang="zh-CN"/>
            </a:defPPr>
          </a:lstStyle>
          <a:p>
            <a:pPr rtl="0">
              <a:lnSpc>
                <a:spcPct val="150000"/>
              </a:lnSpc>
            </a:pPr>
            <a:r>
              <a:rPr lang="en-US" altLang="zh-CN" sz="2800" b="1" dirty="0">
                <a:solidFill>
                  <a:schemeClr val="accent5">
                    <a:lumMod val="75000"/>
                  </a:schemeClr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C#</a:t>
            </a:r>
            <a:r>
              <a:rPr lang="zh-CN" altLang="en-US" sz="2800" b="1" dirty="0">
                <a:solidFill>
                  <a:schemeClr val="accent5">
                    <a:lumMod val="75000"/>
                  </a:schemeClr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是面向对象的语言</a:t>
            </a:r>
            <a:endParaRPr lang="en-US" altLang="zh-CN" sz="2800" b="1" dirty="0">
              <a:solidFill>
                <a:schemeClr val="accent5">
                  <a:lumMod val="75000"/>
                </a:schemeClr>
              </a:solidFill>
              <a:latin typeface="Microsoft YaHei UI" panose="020B0502040204020203" pitchFamily="34" charset="0"/>
              <a:cs typeface="Microsoft YaHei UI" panose="020B0502040204020203" pitchFamily="34" charset="0"/>
            </a:endParaRPr>
          </a:p>
          <a:p>
            <a:pPr lvl="1"/>
            <a:r>
              <a:rPr lang="zh-CN" altLang="en-US" sz="2400" b="1" dirty="0">
                <a:latin typeface="Microsoft YaHei UI" panose="020B0502040204020203" pitchFamily="34" charset="0"/>
              </a:rPr>
              <a:t>面向过程编程中，函数和数据是分开的</a:t>
            </a:r>
          </a:p>
          <a:p>
            <a:pPr lvl="1"/>
            <a:r>
              <a:rPr lang="zh-CN" altLang="en-US" sz="2400" b="1" dirty="0">
                <a:latin typeface="Microsoft YaHei UI" panose="020B0502040204020203" pitchFamily="34" charset="0"/>
              </a:rPr>
              <a:t>面向对象编程中，引入了类</a:t>
            </a:r>
          </a:p>
          <a:p>
            <a:pPr lvl="1"/>
            <a:r>
              <a:rPr lang="zh-CN" altLang="en-US" sz="2400" b="1" dirty="0">
                <a:latin typeface="Microsoft YaHei UI" panose="020B0502040204020203" pitchFamily="34" charset="0"/>
              </a:rPr>
              <a:t>类将函数和数据组合成一个对象</a:t>
            </a:r>
            <a:endParaRPr lang="en-US" altLang="zh-CN" sz="2400" b="1" dirty="0">
              <a:latin typeface="Microsoft YaHei UI" panose="020B0502040204020203" pitchFamily="34" charset="0"/>
            </a:endParaRPr>
          </a:p>
          <a:p>
            <a:pPr lvl="2"/>
            <a:r>
              <a:rPr lang="zh-CN" altLang="en-US" sz="20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类中的变量称为</a:t>
            </a:r>
            <a:r>
              <a:rPr lang="zh-CN" altLang="en-US" sz="2000" b="1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字段</a:t>
            </a:r>
          </a:p>
          <a:p>
            <a:pPr lvl="2"/>
            <a:r>
              <a:rPr lang="zh-CN" altLang="en-US" sz="20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类中的函数称为</a:t>
            </a:r>
            <a:r>
              <a:rPr lang="zh-CN" altLang="en-US" sz="2000" b="1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方法</a:t>
            </a:r>
            <a:endParaRPr lang="en-US" altLang="zh-CN" sz="2000" b="1" dirty="0">
              <a:solidFill>
                <a:schemeClr val="tx1"/>
              </a:solidFill>
              <a:latin typeface="Microsoft YaHei UI" panose="020B0502040204020203" pitchFamily="34" charset="0"/>
              <a:cs typeface="Microsoft YaHei UI" panose="020B0502040204020203" pitchFamily="34" charset="0"/>
            </a:endParaRPr>
          </a:p>
          <a:p>
            <a:pPr lvl="1">
              <a:lnSpc>
                <a:spcPct val="150000"/>
              </a:lnSpc>
            </a:pPr>
            <a:r>
              <a:rPr lang="zh-CN" altLang="en-US" sz="2400" b="1" dirty="0">
                <a:latin typeface="Microsoft YaHei UI" panose="020B0502040204020203" pitchFamily="34" charset="0"/>
              </a:rPr>
              <a:t>这就像鸟群一样，鸟群中的每只鸟都是独立的</a:t>
            </a:r>
            <a:endParaRPr lang="en-US" altLang="zh-CN" sz="2400" b="1" dirty="0">
              <a:latin typeface="Microsoft YaHei UI" panose="020B0502040204020203" pitchFamily="34" charset="0"/>
            </a:endParaRPr>
          </a:p>
          <a:p>
            <a:pPr lvl="2"/>
            <a:r>
              <a:rPr lang="zh-CN" altLang="en-US" sz="20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而不是整个鸟群被一个单一的、整体的程序所控制</a:t>
            </a:r>
            <a:endParaRPr lang="en-US" altLang="zh-CN" sz="2400" b="1" dirty="0">
              <a:latin typeface="Microsoft YaHei UI" panose="020B0502040204020203" pitchFamily="34" charset="0"/>
            </a:endParaRPr>
          </a:p>
          <a:p>
            <a:pPr lvl="1">
              <a:lnSpc>
                <a:spcPct val="150000"/>
              </a:lnSpc>
            </a:pPr>
            <a:r>
              <a:rPr lang="zh-CN" altLang="en-US" sz="2400" b="1" dirty="0">
                <a:latin typeface="Microsoft YaHei UI" panose="020B0502040204020203" pitchFamily="34" charset="0"/>
              </a:rPr>
              <a:t>面向对象还引入了类继承</a:t>
            </a:r>
            <a:endParaRPr lang="en-US" altLang="zh-CN" sz="2400" b="1" dirty="0">
              <a:latin typeface="Microsoft YaHei UI" panose="020B0502040204020203" pitchFamily="34" charset="0"/>
            </a:endParaRPr>
          </a:p>
          <a:p>
            <a:pPr lvl="2"/>
            <a:r>
              <a:rPr lang="zh-CN" altLang="en-US" sz="20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允许子类继承或重写其父类的函数</a:t>
            </a:r>
          </a:p>
          <a:p>
            <a:pPr lvl="2"/>
            <a:r>
              <a:rPr lang="zh-CN" altLang="en-US" sz="20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例如，</a:t>
            </a:r>
            <a:r>
              <a:rPr lang="zh-CN" altLang="en-US" sz="2000" b="1" i="1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狗 </a:t>
            </a:r>
            <a:r>
              <a:rPr lang="zh-CN" altLang="en-US" sz="20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将继承其父类</a:t>
            </a:r>
            <a:r>
              <a:rPr lang="zh-CN" altLang="en-US" sz="2000" b="1" i="1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哺乳动物 </a:t>
            </a:r>
            <a:r>
              <a:rPr lang="zh-CN" altLang="en-US" sz="20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的所有字段和方法，而</a:t>
            </a:r>
            <a:r>
              <a:rPr lang="zh-CN" altLang="en-US" sz="2000" b="1" i="1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哺乳动物 </a:t>
            </a:r>
            <a:r>
              <a:rPr lang="zh-CN" altLang="en-US" sz="20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又继承自</a:t>
            </a:r>
            <a:r>
              <a:rPr lang="zh-CN" altLang="en-US" sz="2000" b="1" i="1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动物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F287B60C-79EB-F5D2-123B-7DE1BEC3421A}"/>
              </a:ext>
            </a:extLst>
          </p:cNvPr>
          <p:cNvGrpSpPr/>
          <p:nvPr/>
        </p:nvGrpSpPr>
        <p:grpSpPr>
          <a:xfrm>
            <a:off x="4480816" y="251474"/>
            <a:ext cx="3230367" cy="490115"/>
            <a:chOff x="4840431" y="207541"/>
            <a:chExt cx="3230367" cy="490115"/>
          </a:xfrm>
        </p:grpSpPr>
        <p:pic>
          <p:nvPicPr>
            <p:cNvPr id="5" name="Picture 4" descr="黑爵(AJAZZ)手柄/方向盘AG180报价_参数_图片_视频_怎么样_问答-苏宁易购">
              <a:extLst>
                <a:ext uri="{FF2B5EF4-FFF2-40B4-BE49-F238E27FC236}">
                  <a16:creationId xmlns:a16="http://schemas.microsoft.com/office/drawing/2014/main" id="{02564A18-DB65-A6D6-54BA-6E41F228E40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45" t="9275" r="3752" b="5379"/>
            <a:stretch/>
          </p:blipFill>
          <p:spPr bwMode="auto">
            <a:xfrm>
              <a:off x="4840431" y="321039"/>
              <a:ext cx="407315" cy="37661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Rectangle 3">
              <a:extLst>
                <a:ext uri="{FF2B5EF4-FFF2-40B4-BE49-F238E27FC236}">
                  <a16:creationId xmlns:a16="http://schemas.microsoft.com/office/drawing/2014/main" id="{D126454C-7755-9B78-E12B-ACEE3654FFF3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5298546" y="207541"/>
              <a:ext cx="2772252" cy="471065"/>
            </a:xfrm>
            <a:prstGeom prst="rect">
              <a:avLst/>
            </a:prstGeom>
            <a:noFill/>
          </p:spPr>
          <p:txBody>
            <a:bodyPr lIns="90488" tIns="44450" rIns="90488" bIns="44450"/>
            <a:lstStyle>
              <a:lvl1pPr marL="171450" indent="-17145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1pPr>
              <a:lvl2pPr marL="5143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8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2pPr>
              <a:lvl3pPr marL="8572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3pPr>
              <a:lvl4pPr marL="12001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4pPr>
              <a:lvl5pPr marL="15430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fontAlgn="base">
                <a:lnSpc>
                  <a:spcPct val="100000"/>
                </a:lnSpc>
                <a:buNone/>
              </a:pPr>
              <a:r>
                <a:rPr lang="zh-CN" altLang="en-US" sz="3200" dirty="0">
                  <a:latin typeface="Times New Roman" panose="02020603050405020304" pitchFamily="18" charset="0"/>
                  <a:ea typeface="楷体" panose="02010609060101010101" pitchFamily="49" charset="-122"/>
                  <a:sym typeface="+mn-ea"/>
                </a:rPr>
                <a:t>理解</a:t>
              </a:r>
              <a:r>
                <a:rPr lang="en-US" altLang="zh-CN" sz="3200" dirty="0">
                  <a:latin typeface="Times New Roman" panose="02020603050405020304" pitchFamily="18" charset="0"/>
                  <a:ea typeface="楷体" panose="02010609060101010101" pitchFamily="49" charset="-122"/>
                  <a:sym typeface="+mn-ea"/>
                </a:rPr>
                <a:t>C#</a:t>
              </a:r>
              <a:r>
                <a:rPr lang="zh-CN" altLang="en-US" sz="3200" dirty="0">
                  <a:latin typeface="Times New Roman" panose="02020603050405020304" pitchFamily="18" charset="0"/>
                  <a:ea typeface="楷体" panose="02010609060101010101" pitchFamily="49" charset="-122"/>
                  <a:sym typeface="+mn-ea"/>
                </a:rPr>
                <a:t>的特性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132965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B3C1D5B-11AC-48D7-B0A0-63BC88617D64}"/>
              </a:ext>
            </a:extLst>
          </p:cNvPr>
          <p:cNvSpPr>
            <a:spLocks noGrp="1"/>
          </p:cNvSpPr>
          <p:nvPr>
            <p:ph sz="quarter" idx="4294967295"/>
          </p:nvPr>
        </p:nvSpPr>
        <p:spPr>
          <a:xfrm>
            <a:off x="444500" y="1124599"/>
            <a:ext cx="11204026" cy="5079353"/>
          </a:xfrm>
          <a:prstGeom prst="rect">
            <a:avLst/>
          </a:prstGeom>
        </p:spPr>
        <p:txBody>
          <a:bodyPr rtlCol="0">
            <a:noAutofit/>
          </a:bodyPr>
          <a:lstStyle>
            <a:defPPr>
              <a:defRPr lang="zh-CN"/>
            </a:defPPr>
          </a:lstStyle>
          <a:p>
            <a:pPr rtl="0">
              <a:lnSpc>
                <a:spcPct val="150000"/>
              </a:lnSpc>
            </a:pPr>
            <a:r>
              <a:rPr lang="zh-CN" altLang="en-US" sz="2800" b="1" dirty="0">
                <a:solidFill>
                  <a:schemeClr val="accent5">
                    <a:lumMod val="75000"/>
                  </a:schemeClr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所有语言都有语法</a:t>
            </a:r>
            <a:endParaRPr lang="en-US" altLang="zh-CN" sz="2800" b="1" dirty="0">
              <a:solidFill>
                <a:schemeClr val="accent5">
                  <a:lumMod val="75000"/>
                </a:schemeClr>
              </a:solidFill>
              <a:latin typeface="Microsoft YaHei UI" panose="020B0502040204020203" pitchFamily="34" charset="0"/>
              <a:cs typeface="Microsoft YaHei UI" panose="020B0502040204020203" pitchFamily="34" charset="0"/>
            </a:endParaRPr>
          </a:p>
          <a:p>
            <a:pPr rtl="0">
              <a:lnSpc>
                <a:spcPct val="150000"/>
              </a:lnSpc>
            </a:pPr>
            <a:endParaRPr lang="en-US" altLang="zh-CN" sz="2800" dirty="0">
              <a:solidFill>
                <a:schemeClr val="accent5">
                  <a:lumMod val="75000"/>
                </a:schemeClr>
              </a:solidFill>
              <a:latin typeface="Microsoft YaHei UI" panose="020B0502040204020203" pitchFamily="34" charset="0"/>
              <a:cs typeface="Microsoft YaHei UI" panose="020B0502040204020203" pitchFamily="34" charset="0"/>
            </a:endParaRPr>
          </a:p>
          <a:p>
            <a:pPr rtl="0">
              <a:lnSpc>
                <a:spcPct val="150000"/>
              </a:lnSpc>
            </a:pPr>
            <a:endParaRPr lang="en-US" altLang="zh-CN" sz="2800" dirty="0">
              <a:solidFill>
                <a:schemeClr val="accent5">
                  <a:lumMod val="75000"/>
                </a:schemeClr>
              </a:solidFill>
              <a:latin typeface="Microsoft YaHei UI" panose="020B0502040204020203" pitchFamily="34" charset="0"/>
              <a:cs typeface="Microsoft YaHei UI" panose="020B0502040204020203" pitchFamily="34" charset="0"/>
            </a:endParaRPr>
          </a:p>
          <a:p>
            <a:pPr rtl="0">
              <a:lnSpc>
                <a:spcPct val="150000"/>
              </a:lnSpc>
            </a:pPr>
            <a:endParaRPr lang="en-US" altLang="zh-CN" sz="2800" dirty="0">
              <a:solidFill>
                <a:schemeClr val="accent5">
                  <a:lumMod val="75000"/>
                </a:schemeClr>
              </a:solidFill>
              <a:latin typeface="Microsoft YaHei UI" panose="020B0502040204020203" pitchFamily="34" charset="0"/>
              <a:cs typeface="Microsoft YaHei UI" panose="020B0502040204020203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accent5">
                    <a:lumMod val="75000"/>
                  </a:schemeClr>
                </a:solidFill>
                <a:latin typeface="Microsoft YaHei UI" panose="020B0502040204020203" pitchFamily="34" charset="0"/>
              </a:rPr>
              <a:t>以上只有一句是正确的</a:t>
            </a:r>
            <a:endParaRPr lang="en-US" altLang="zh-CN" b="1" dirty="0">
              <a:solidFill>
                <a:schemeClr val="accent5">
                  <a:lumMod val="75000"/>
                </a:schemeClr>
              </a:solidFill>
              <a:latin typeface="Microsoft YaHei UI" panose="020B0502040204020203" pitchFamily="34" charset="0"/>
            </a:endParaRPr>
          </a:p>
          <a:p>
            <a:pPr lvl="1">
              <a:lnSpc>
                <a:spcPct val="150000"/>
              </a:lnSpc>
            </a:pPr>
            <a:r>
              <a:rPr lang="zh-CN" altLang="en-US" sz="24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只有遵循了汉语语法规则的那句是正确的</a:t>
            </a:r>
            <a:endParaRPr lang="en-US" altLang="zh-CN" sz="2400" dirty="0">
              <a:solidFill>
                <a:schemeClr val="tx1"/>
              </a:solidFill>
              <a:latin typeface="Microsoft YaHei UI" panose="020B0502040204020203" pitchFamily="34" charset="0"/>
              <a:cs typeface="Microsoft YaHei UI" panose="020B0502040204020203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accent5">
                    <a:lumMod val="75000"/>
                  </a:schemeClr>
                </a:solidFill>
                <a:latin typeface="Microsoft YaHei UI" panose="020B0502040204020203" pitchFamily="34" charset="0"/>
              </a:rPr>
              <a:t>其他三句都存在语法错误</a:t>
            </a:r>
            <a:endParaRPr lang="en-US" altLang="zh-CN" b="1" dirty="0">
              <a:solidFill>
                <a:schemeClr val="accent5">
                  <a:lumMod val="75000"/>
                </a:schemeClr>
              </a:solidFill>
              <a:latin typeface="Microsoft YaHei UI" panose="020B0502040204020203" pitchFamily="34" charset="0"/>
            </a:endParaRP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89B803F-E8C0-48F8-B928-BC3014FAD84C}"/>
              </a:ext>
            </a:extLst>
          </p:cNvPr>
          <p:cNvSpPr>
            <a:spLocks/>
          </p:cNvSpPr>
          <p:nvPr/>
        </p:nvSpPr>
        <p:spPr bwMode="auto">
          <a:xfrm>
            <a:off x="444500" y="1929200"/>
            <a:ext cx="3444107" cy="2169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496888" indent="137160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954088" indent="137160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1411288" indent="137160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1868488" indent="137160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marL="0" algn="ctr">
              <a:spcBef>
                <a:spcPts val="1800"/>
              </a:spcBef>
            </a:pPr>
            <a:r>
              <a:rPr lang="zh-CN" altLang="en-US" sz="2400" b="1" dirty="0">
                <a:latin typeface="Helvetica" panose="020B0604020202020204" pitchFamily="34" charset="0"/>
                <a:sym typeface="Helvetica" panose="020B0604020202020204" pitchFamily="34" charset="0"/>
              </a:rPr>
              <a:t>狗咬松鼠</a:t>
            </a:r>
            <a:endParaRPr lang="en-US" altLang="zh-CN" sz="2400" b="1" dirty="0">
              <a:latin typeface="Helvetica" panose="020B0604020202020204" pitchFamily="34" charset="0"/>
              <a:sym typeface="Helvetica" panose="020B0604020202020204" pitchFamily="34" charset="0"/>
            </a:endParaRPr>
          </a:p>
          <a:p>
            <a:pPr marL="0" algn="ctr">
              <a:spcBef>
                <a:spcPts val="1800"/>
              </a:spcBef>
            </a:pPr>
            <a:r>
              <a:rPr lang="zh-CN" altLang="en-US" sz="2400" b="1" dirty="0">
                <a:latin typeface="Helvetica" panose="020B0604020202020204" pitchFamily="34" charset="0"/>
                <a:sym typeface="Helvetica" panose="020B0604020202020204" pitchFamily="34" charset="0"/>
              </a:rPr>
              <a:t>松鼠狗咬</a:t>
            </a:r>
            <a:endParaRPr lang="en-US" altLang="zh-CN" sz="2400" b="1" dirty="0">
              <a:latin typeface="Helvetica" panose="020B0604020202020204" pitchFamily="34" charset="0"/>
              <a:sym typeface="Helvetica" panose="020B0604020202020204" pitchFamily="34" charset="0"/>
            </a:endParaRPr>
          </a:p>
          <a:p>
            <a:pPr marL="0" algn="ctr">
              <a:spcBef>
                <a:spcPts val="1800"/>
              </a:spcBef>
            </a:pPr>
            <a:r>
              <a:rPr lang="zh-CN" altLang="en-US" sz="2400" b="1" dirty="0">
                <a:latin typeface="Helvetica" panose="020B0604020202020204" pitchFamily="34" charset="0"/>
                <a:sym typeface="Helvetica" panose="020B0604020202020204" pitchFamily="34" charset="0"/>
              </a:rPr>
              <a:t>狗松鼠咬</a:t>
            </a:r>
            <a:endParaRPr lang="en-US" altLang="zh-CN" sz="2400" b="1" dirty="0">
              <a:latin typeface="Helvetica" panose="020B0604020202020204" pitchFamily="34" charset="0"/>
              <a:sym typeface="Helvetica" panose="020B0604020202020204" pitchFamily="34" charset="0"/>
            </a:endParaRPr>
          </a:p>
          <a:p>
            <a:pPr marL="0" algn="ctr">
              <a:spcBef>
                <a:spcPts val="1800"/>
              </a:spcBef>
            </a:pPr>
            <a:r>
              <a:rPr lang="zh-CN" altLang="en-US" sz="2400" b="1" dirty="0">
                <a:latin typeface="Helvetica" panose="020B0604020202020204" pitchFamily="34" charset="0"/>
                <a:sym typeface="Helvetica" panose="020B0604020202020204" pitchFamily="34" charset="0"/>
              </a:rPr>
              <a:t>咬狗松鼠</a:t>
            </a:r>
            <a:endParaRPr lang="zh-CN" altLang="zh-CN" sz="2000" dirty="0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273CB0A1-63AE-403C-A1D2-B7775DC2B725}"/>
              </a:ext>
            </a:extLst>
          </p:cNvPr>
          <p:cNvSpPr>
            <a:spLocks/>
          </p:cNvSpPr>
          <p:nvPr/>
        </p:nvSpPr>
        <p:spPr bwMode="auto">
          <a:xfrm>
            <a:off x="4648200" y="1929199"/>
            <a:ext cx="5824086" cy="2169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496888" indent="137160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954088" indent="137160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1411288" indent="137160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1868488" indent="137160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marL="0" algn="ctr">
              <a:spcBef>
                <a:spcPts val="1800"/>
              </a:spcBef>
            </a:pPr>
            <a:r>
              <a:rPr lang="en-US" altLang="zh-CN" sz="2400" b="1" dirty="0">
                <a:latin typeface="Helvetica" panose="020B0604020202020204" pitchFamily="34" charset="0"/>
                <a:sym typeface="Helvetica" panose="020B0604020202020204" pitchFamily="34" charset="0"/>
              </a:rPr>
              <a:t>[</a:t>
            </a:r>
            <a:r>
              <a:rPr lang="zh-CN" altLang="en-US" sz="2400" b="1" dirty="0">
                <a:latin typeface="Helvetica" panose="020B0604020202020204" pitchFamily="34" charset="0"/>
                <a:sym typeface="Helvetica" panose="020B0604020202020204" pitchFamily="34" charset="0"/>
              </a:rPr>
              <a:t>主语</a:t>
            </a:r>
            <a:r>
              <a:rPr lang="en-US" altLang="zh-CN" sz="2400" b="1" dirty="0">
                <a:latin typeface="Helvetica" panose="020B0604020202020204" pitchFamily="34" charset="0"/>
                <a:sym typeface="Helvetica" panose="020B0604020202020204" pitchFamily="34" charset="0"/>
              </a:rPr>
              <a:t>] [</a:t>
            </a:r>
            <a:r>
              <a:rPr lang="zh-CN" altLang="en-US" sz="2400" b="1" dirty="0">
                <a:latin typeface="Helvetica" panose="020B0604020202020204" pitchFamily="34" charset="0"/>
                <a:sym typeface="Helvetica" panose="020B0604020202020204" pitchFamily="34" charset="0"/>
              </a:rPr>
              <a:t>动词</a:t>
            </a:r>
            <a:r>
              <a:rPr lang="en-US" altLang="zh-CN" sz="2400" b="1" dirty="0">
                <a:latin typeface="Helvetica" panose="020B0604020202020204" pitchFamily="34" charset="0"/>
                <a:sym typeface="Helvetica" panose="020B0604020202020204" pitchFamily="34" charset="0"/>
              </a:rPr>
              <a:t>] [</a:t>
            </a:r>
            <a:r>
              <a:rPr lang="zh-CN" altLang="en-US" sz="2400" b="1" dirty="0">
                <a:latin typeface="Helvetica" panose="020B0604020202020204" pitchFamily="34" charset="0"/>
                <a:sym typeface="Helvetica" panose="020B0604020202020204" pitchFamily="34" charset="0"/>
              </a:rPr>
              <a:t>宾语</a:t>
            </a:r>
            <a:r>
              <a:rPr lang="en-US" altLang="zh-CN" sz="2400" b="1" dirty="0">
                <a:latin typeface="Helvetica" panose="020B0604020202020204" pitchFamily="34" charset="0"/>
                <a:sym typeface="Helvetica" panose="020B0604020202020204" pitchFamily="34" charset="0"/>
              </a:rPr>
              <a:t>]</a:t>
            </a:r>
          </a:p>
          <a:p>
            <a:pPr algn="ctr">
              <a:spcBef>
                <a:spcPts val="1800"/>
              </a:spcBef>
            </a:pPr>
            <a:r>
              <a:rPr lang="en-US" altLang="zh-CN" sz="2400" b="1" dirty="0">
                <a:latin typeface="Helvetica" panose="020B0604020202020204" pitchFamily="34" charset="0"/>
                <a:sym typeface="Helvetica" panose="020B0604020202020204" pitchFamily="34" charset="0"/>
              </a:rPr>
              <a:t>[</a:t>
            </a:r>
            <a:r>
              <a:rPr lang="zh-CN" altLang="en-US" sz="2400" b="1" dirty="0">
                <a:latin typeface="Helvetica" panose="020B0604020202020204" pitchFamily="34" charset="0"/>
                <a:sym typeface="Helvetica" panose="020B0604020202020204" pitchFamily="34" charset="0"/>
              </a:rPr>
              <a:t>宾语</a:t>
            </a:r>
            <a:r>
              <a:rPr lang="en-US" altLang="zh-CN" sz="2400" b="1" dirty="0">
                <a:latin typeface="Helvetica" panose="020B0604020202020204" pitchFamily="34" charset="0"/>
                <a:sym typeface="Helvetica" panose="020B0604020202020204" pitchFamily="34" charset="0"/>
              </a:rPr>
              <a:t>] [</a:t>
            </a:r>
            <a:r>
              <a:rPr lang="zh-CN" altLang="en-US" sz="2400" b="1" dirty="0">
                <a:latin typeface="Helvetica" panose="020B0604020202020204" pitchFamily="34" charset="0"/>
                <a:sym typeface="Helvetica" panose="020B0604020202020204" pitchFamily="34" charset="0"/>
              </a:rPr>
              <a:t>主语</a:t>
            </a:r>
            <a:r>
              <a:rPr lang="en-US" altLang="zh-CN" sz="2400" b="1" dirty="0">
                <a:latin typeface="Helvetica" panose="020B0604020202020204" pitchFamily="34" charset="0"/>
                <a:sym typeface="Helvetica" panose="020B0604020202020204" pitchFamily="34" charset="0"/>
              </a:rPr>
              <a:t>] [</a:t>
            </a:r>
            <a:r>
              <a:rPr lang="zh-CN" altLang="en-US" sz="2400" b="1" dirty="0">
                <a:latin typeface="Helvetica" panose="020B0604020202020204" pitchFamily="34" charset="0"/>
                <a:sym typeface="Helvetica" panose="020B0604020202020204" pitchFamily="34" charset="0"/>
              </a:rPr>
              <a:t>动词</a:t>
            </a:r>
            <a:r>
              <a:rPr lang="en-US" altLang="zh-CN" sz="2400" b="1" dirty="0">
                <a:latin typeface="Helvetica" panose="020B0604020202020204" pitchFamily="34" charset="0"/>
                <a:sym typeface="Helvetica" panose="020B0604020202020204" pitchFamily="34" charset="0"/>
              </a:rPr>
              <a:t>] </a:t>
            </a:r>
          </a:p>
          <a:p>
            <a:pPr algn="ctr">
              <a:spcBef>
                <a:spcPts val="1800"/>
              </a:spcBef>
            </a:pPr>
            <a:r>
              <a:rPr lang="en-US" altLang="zh-CN" sz="2400" b="1" dirty="0">
                <a:latin typeface="Helvetica" panose="020B0604020202020204" pitchFamily="34" charset="0"/>
                <a:sym typeface="Helvetica" panose="020B0604020202020204" pitchFamily="34" charset="0"/>
              </a:rPr>
              <a:t>[</a:t>
            </a:r>
            <a:r>
              <a:rPr lang="zh-CN" altLang="en-US" sz="2400" b="1" dirty="0">
                <a:latin typeface="Helvetica" panose="020B0604020202020204" pitchFamily="34" charset="0"/>
                <a:sym typeface="Helvetica" panose="020B0604020202020204" pitchFamily="34" charset="0"/>
              </a:rPr>
              <a:t>主语</a:t>
            </a:r>
            <a:r>
              <a:rPr lang="en-US" altLang="zh-CN" sz="2400" b="1" dirty="0">
                <a:latin typeface="Helvetica" panose="020B0604020202020204" pitchFamily="34" charset="0"/>
                <a:sym typeface="Helvetica" panose="020B0604020202020204" pitchFamily="34" charset="0"/>
              </a:rPr>
              <a:t>] [</a:t>
            </a:r>
            <a:r>
              <a:rPr lang="zh-CN" altLang="en-US" sz="2400" b="1" dirty="0">
                <a:latin typeface="Helvetica" panose="020B0604020202020204" pitchFamily="34" charset="0"/>
                <a:sym typeface="Helvetica" panose="020B0604020202020204" pitchFamily="34" charset="0"/>
              </a:rPr>
              <a:t>宾语</a:t>
            </a:r>
            <a:r>
              <a:rPr lang="en-US" altLang="zh-CN" sz="2400" b="1" dirty="0">
                <a:latin typeface="Helvetica" panose="020B0604020202020204" pitchFamily="34" charset="0"/>
                <a:sym typeface="Helvetica" panose="020B0604020202020204" pitchFamily="34" charset="0"/>
              </a:rPr>
              <a:t>] [</a:t>
            </a:r>
            <a:r>
              <a:rPr lang="zh-CN" altLang="en-US" sz="2400" b="1" dirty="0">
                <a:latin typeface="Helvetica" panose="020B0604020202020204" pitchFamily="34" charset="0"/>
                <a:sym typeface="Helvetica" panose="020B0604020202020204" pitchFamily="34" charset="0"/>
              </a:rPr>
              <a:t>动词</a:t>
            </a:r>
            <a:r>
              <a:rPr lang="en-US" altLang="zh-CN" sz="2400" b="1" dirty="0">
                <a:latin typeface="Helvetica" panose="020B0604020202020204" pitchFamily="34" charset="0"/>
                <a:sym typeface="Helvetica" panose="020B0604020202020204" pitchFamily="34" charset="0"/>
              </a:rPr>
              <a:t>] </a:t>
            </a:r>
            <a:endParaRPr lang="zh-CN" altLang="zh-CN" sz="2400" b="1" dirty="0">
              <a:latin typeface="Helvetica" panose="020B0604020202020204" pitchFamily="34" charset="0"/>
            </a:endParaRPr>
          </a:p>
          <a:p>
            <a:pPr algn="ctr">
              <a:spcBef>
                <a:spcPts val="1800"/>
              </a:spcBef>
            </a:pPr>
            <a:r>
              <a:rPr lang="en-US" altLang="zh-CN" sz="2400" b="1" dirty="0">
                <a:latin typeface="Helvetica" panose="020B0604020202020204" pitchFamily="34" charset="0"/>
                <a:sym typeface="Helvetica" panose="020B0604020202020204" pitchFamily="34" charset="0"/>
              </a:rPr>
              <a:t>[</a:t>
            </a:r>
            <a:r>
              <a:rPr lang="zh-CN" altLang="en-US" sz="2400" b="1" dirty="0">
                <a:latin typeface="Helvetica" panose="020B0604020202020204" pitchFamily="34" charset="0"/>
                <a:sym typeface="Helvetica" panose="020B0604020202020204" pitchFamily="34" charset="0"/>
              </a:rPr>
              <a:t>动词</a:t>
            </a:r>
            <a:r>
              <a:rPr lang="en-US" altLang="zh-CN" sz="2400" b="1" dirty="0">
                <a:latin typeface="Helvetica" panose="020B0604020202020204" pitchFamily="34" charset="0"/>
                <a:sym typeface="Helvetica" panose="020B0604020202020204" pitchFamily="34" charset="0"/>
              </a:rPr>
              <a:t>] [</a:t>
            </a:r>
            <a:r>
              <a:rPr lang="zh-CN" altLang="en-US" sz="2400" b="1" dirty="0">
                <a:latin typeface="Helvetica" panose="020B0604020202020204" pitchFamily="34" charset="0"/>
                <a:sym typeface="Helvetica" panose="020B0604020202020204" pitchFamily="34" charset="0"/>
              </a:rPr>
              <a:t>主语</a:t>
            </a:r>
            <a:r>
              <a:rPr lang="en-US" altLang="zh-CN" sz="2400" b="1" dirty="0">
                <a:latin typeface="Helvetica" panose="020B0604020202020204" pitchFamily="34" charset="0"/>
                <a:sym typeface="Helvetica" panose="020B0604020202020204" pitchFamily="34" charset="0"/>
              </a:rPr>
              <a:t>] [</a:t>
            </a:r>
            <a:r>
              <a:rPr lang="zh-CN" altLang="en-US" sz="2400" b="1" dirty="0">
                <a:latin typeface="Helvetica" panose="020B0604020202020204" pitchFamily="34" charset="0"/>
                <a:sym typeface="Helvetica" panose="020B0604020202020204" pitchFamily="34" charset="0"/>
              </a:rPr>
              <a:t>宾语</a:t>
            </a:r>
            <a:r>
              <a:rPr lang="en-US" altLang="zh-CN" sz="2400" b="1" dirty="0">
                <a:latin typeface="Helvetica" panose="020B0604020202020204" pitchFamily="34" charset="0"/>
                <a:sym typeface="Helvetica" panose="020B0604020202020204" pitchFamily="34" charset="0"/>
              </a:rPr>
              <a:t>]</a:t>
            </a:r>
            <a:endParaRPr lang="zh-CN" altLang="zh-CN" sz="2400" b="1" dirty="0">
              <a:latin typeface="Helvetica" panose="020B0604020202020204" pitchFamily="34" charset="0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9C46C86A-2CC2-4CFB-E886-A2485A85FF2A}"/>
              </a:ext>
            </a:extLst>
          </p:cNvPr>
          <p:cNvGrpSpPr/>
          <p:nvPr/>
        </p:nvGrpSpPr>
        <p:grpSpPr>
          <a:xfrm>
            <a:off x="4081909" y="251474"/>
            <a:ext cx="4028183" cy="490115"/>
            <a:chOff x="4840431" y="207541"/>
            <a:chExt cx="4028183" cy="490115"/>
          </a:xfrm>
        </p:grpSpPr>
        <p:pic>
          <p:nvPicPr>
            <p:cNvPr id="5" name="Picture 4" descr="黑爵(AJAZZ)手柄/方向盘AG180报价_参数_图片_视频_怎么样_问答-苏宁易购">
              <a:extLst>
                <a:ext uri="{FF2B5EF4-FFF2-40B4-BE49-F238E27FC236}">
                  <a16:creationId xmlns:a16="http://schemas.microsoft.com/office/drawing/2014/main" id="{AAD1AD31-8931-58D2-C1B0-39A2DC1E8FE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45" t="9275" r="3752" b="5379"/>
            <a:stretch/>
          </p:blipFill>
          <p:spPr bwMode="auto">
            <a:xfrm>
              <a:off x="4840431" y="321039"/>
              <a:ext cx="407315" cy="37661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" name="Rectangle 3">
              <a:extLst>
                <a:ext uri="{FF2B5EF4-FFF2-40B4-BE49-F238E27FC236}">
                  <a16:creationId xmlns:a16="http://schemas.microsoft.com/office/drawing/2014/main" id="{32E330A0-5386-930A-D063-599A9AB716E7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5298545" y="207541"/>
              <a:ext cx="3570069" cy="471065"/>
            </a:xfrm>
            <a:prstGeom prst="rect">
              <a:avLst/>
            </a:prstGeom>
            <a:noFill/>
          </p:spPr>
          <p:txBody>
            <a:bodyPr lIns="90488" tIns="44450" rIns="90488" bIns="44450"/>
            <a:lstStyle>
              <a:lvl1pPr marL="171450" indent="-17145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1pPr>
              <a:lvl2pPr marL="5143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8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2pPr>
              <a:lvl3pPr marL="8572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3pPr>
              <a:lvl4pPr marL="12001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4pPr>
              <a:lvl5pPr marL="15430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fontAlgn="base">
                <a:lnSpc>
                  <a:spcPct val="100000"/>
                </a:lnSpc>
                <a:buNone/>
              </a:pPr>
              <a:r>
                <a:rPr lang="zh-CN" altLang="en-US" sz="3200" dirty="0">
                  <a:latin typeface="Times New Roman" panose="02020603050405020304" pitchFamily="18" charset="0"/>
                  <a:ea typeface="楷体" panose="02010609060101010101" pitchFamily="49" charset="-122"/>
                  <a:sym typeface="+mn-ea"/>
                </a:rPr>
                <a:t>阅读和理解</a:t>
              </a:r>
              <a:r>
                <a:rPr lang="en-US" altLang="zh-CN" sz="3200" dirty="0">
                  <a:latin typeface="Times New Roman" panose="02020603050405020304" pitchFamily="18" charset="0"/>
                  <a:ea typeface="楷体" panose="02010609060101010101" pitchFamily="49" charset="-122"/>
                  <a:sym typeface="+mn-ea"/>
                </a:rPr>
                <a:t>C#</a:t>
              </a:r>
              <a:r>
                <a:rPr lang="zh-CN" altLang="en-US" sz="3200" dirty="0">
                  <a:latin typeface="Times New Roman" panose="02020603050405020304" pitchFamily="18" charset="0"/>
                  <a:ea typeface="楷体" panose="02010609060101010101" pitchFamily="49" charset="-122"/>
                  <a:sym typeface="+mn-ea"/>
                </a:rPr>
                <a:t>语法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822610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B3C1D5B-11AC-48D7-B0A0-63BC88617D64}"/>
              </a:ext>
            </a:extLst>
          </p:cNvPr>
          <p:cNvSpPr>
            <a:spLocks noGrp="1"/>
          </p:cNvSpPr>
          <p:nvPr>
            <p:ph sz="quarter" idx="4294967295"/>
          </p:nvPr>
        </p:nvSpPr>
        <p:spPr>
          <a:xfrm>
            <a:off x="444500" y="1211225"/>
            <a:ext cx="11204026" cy="4997067"/>
          </a:xfrm>
          <a:prstGeom prst="rect">
            <a:avLst/>
          </a:prstGeom>
        </p:spPr>
        <p:txBody>
          <a:bodyPr rtlCol="0">
            <a:noAutofit/>
          </a:bodyPr>
          <a:lstStyle>
            <a:defPPr>
              <a:defRPr lang="zh-CN"/>
            </a:defPPr>
          </a:lstStyle>
          <a:p>
            <a:pPr rtl="0">
              <a:lnSpc>
                <a:spcPct val="150000"/>
              </a:lnSpc>
            </a:pPr>
            <a:r>
              <a:rPr lang="en-US" altLang="zh-CN" sz="32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C#</a:t>
            </a:r>
            <a:r>
              <a:rPr lang="zh-CN" altLang="en-US" sz="3200" dirty="0">
                <a:solidFill>
                  <a:schemeClr val="accent5">
                    <a:lumMod val="75000"/>
                  </a:schemeClr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编程语言也有自己的语法规则</a:t>
            </a:r>
            <a:endParaRPr lang="en-US" altLang="zh-CN" sz="3200" dirty="0">
              <a:solidFill>
                <a:schemeClr val="accent5">
                  <a:lumMod val="75000"/>
                </a:schemeClr>
              </a:solidFill>
              <a:latin typeface="Microsoft YaHei UI" panose="020B0502040204020203" pitchFamily="34" charset="0"/>
              <a:cs typeface="Microsoft YaHei UI" panose="020B0502040204020203" pitchFamily="34" charset="0"/>
            </a:endParaRPr>
          </a:p>
          <a:p>
            <a:pPr lvl="1">
              <a:lnSpc>
                <a:spcPct val="150000"/>
              </a:lnSpc>
            </a:pPr>
            <a:r>
              <a:rPr lang="en-US" altLang="zh-CN" sz="2800" b="1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int x = 5;</a:t>
            </a:r>
          </a:p>
          <a:p>
            <a:pPr lvl="2">
              <a:lnSpc>
                <a:spcPct val="150000"/>
              </a:lnSpc>
            </a:pPr>
            <a:r>
              <a:rPr lang="zh-CN" altLang="en-US" sz="2800" b="1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声明</a:t>
            </a:r>
            <a:r>
              <a:rPr lang="zh-CN" altLang="en-US" sz="28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了一个名为</a:t>
            </a:r>
            <a:r>
              <a:rPr lang="en-US" altLang="zh-CN" sz="28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x </a:t>
            </a:r>
            <a:r>
              <a:rPr lang="zh-CN" altLang="en-US" sz="28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的 </a:t>
            </a:r>
            <a:r>
              <a:rPr lang="en-US" altLang="zh-CN" sz="28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int </a:t>
            </a:r>
            <a:r>
              <a:rPr lang="zh-CN" altLang="en-US" sz="28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型变量</a:t>
            </a:r>
            <a:endParaRPr lang="en-US" altLang="zh-CN" sz="2800" dirty="0">
              <a:solidFill>
                <a:schemeClr val="tx1"/>
              </a:solidFill>
              <a:latin typeface="Microsoft YaHei UI" panose="020B0502040204020203" pitchFamily="34" charset="0"/>
              <a:cs typeface="Microsoft YaHei UI" panose="020B0502040204020203" pitchFamily="34" charset="0"/>
            </a:endParaRPr>
          </a:p>
          <a:p>
            <a:pPr lvl="3"/>
            <a:r>
              <a:rPr lang="zh-CN" altLang="en-US" sz="24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若语句以变量类型开头，则语句的第二个单词是该类型的新变量名称</a:t>
            </a:r>
            <a:r>
              <a:rPr lang="en-US" altLang="zh-CN" sz="24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 </a:t>
            </a:r>
          </a:p>
          <a:p>
            <a:pPr lvl="2">
              <a:lnSpc>
                <a:spcPct val="150000"/>
              </a:lnSpc>
            </a:pPr>
            <a:r>
              <a:rPr lang="zh-CN" altLang="en-US" sz="2800" b="1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定义</a:t>
            </a:r>
            <a:r>
              <a:rPr lang="zh-CN" altLang="en-US" sz="28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 </a:t>
            </a:r>
            <a:r>
              <a:rPr lang="en-US" altLang="zh-CN" sz="28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x </a:t>
            </a:r>
            <a:r>
              <a:rPr lang="zh-CN" altLang="en-US" sz="28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的值为 </a:t>
            </a:r>
            <a:r>
              <a:rPr lang="en-US" altLang="zh-CN" sz="28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5</a:t>
            </a:r>
          </a:p>
          <a:p>
            <a:pPr lvl="3"/>
            <a:r>
              <a:rPr lang="zh-CN" altLang="en-US" sz="24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等号（</a:t>
            </a:r>
            <a:r>
              <a:rPr lang="en-US" altLang="zh-CN" sz="24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 = </a:t>
            </a:r>
            <a:r>
              <a:rPr lang="zh-CN" altLang="en-US" sz="24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）</a:t>
            </a:r>
            <a:r>
              <a:rPr lang="en-US" altLang="zh-CN" sz="24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 </a:t>
            </a:r>
            <a:r>
              <a:rPr lang="zh-CN" altLang="en-US" sz="24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用于为变量赋值</a:t>
            </a:r>
            <a:endParaRPr lang="en-US" altLang="zh-CN" sz="2400" dirty="0">
              <a:solidFill>
                <a:schemeClr val="tx1"/>
              </a:solidFill>
              <a:latin typeface="Microsoft YaHei UI" panose="020B0502040204020203" pitchFamily="34" charset="0"/>
              <a:cs typeface="Microsoft YaHei UI" panose="020B0502040204020203" pitchFamily="34" charset="0"/>
            </a:endParaRPr>
          </a:p>
          <a:p>
            <a:pPr lvl="2">
              <a:lnSpc>
                <a:spcPct val="150000"/>
              </a:lnSpc>
            </a:pPr>
            <a:r>
              <a:rPr lang="en-US" altLang="zh-CN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C#</a:t>
            </a:r>
            <a:r>
              <a:rPr lang="zh-CN" altLang="en-US" sz="28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中的每个简单语句都必须以分号（</a:t>
            </a:r>
            <a:r>
              <a:rPr lang="en-US" altLang="zh-CN" sz="28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;</a:t>
            </a:r>
            <a:r>
              <a:rPr lang="zh-CN" altLang="en-US" sz="28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）结束</a:t>
            </a:r>
            <a:r>
              <a:rPr lang="en-US" altLang="zh-CN" sz="28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 </a:t>
            </a:r>
          </a:p>
          <a:p>
            <a:pPr lvl="3"/>
            <a:r>
              <a:rPr lang="zh-CN" altLang="en-US" sz="24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使用分号是因为在十进制数中已经使用了英文句点作为小数点</a:t>
            </a:r>
            <a:endParaRPr lang="en-US" altLang="zh-CN" sz="2400" dirty="0">
              <a:solidFill>
                <a:schemeClr val="tx1"/>
              </a:solidFill>
              <a:latin typeface="Microsoft YaHei UI" panose="020B0502040204020203" pitchFamily="34" charset="0"/>
              <a:cs typeface="Microsoft YaHei UI" panose="020B0502040204020203" pitchFamily="34" charset="0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2D5D728F-D30E-49AD-E3AF-890384428D3E}"/>
              </a:ext>
            </a:extLst>
          </p:cNvPr>
          <p:cNvGrpSpPr/>
          <p:nvPr/>
        </p:nvGrpSpPr>
        <p:grpSpPr>
          <a:xfrm>
            <a:off x="4081909" y="251474"/>
            <a:ext cx="4028183" cy="490115"/>
            <a:chOff x="4840431" y="207541"/>
            <a:chExt cx="4028183" cy="490115"/>
          </a:xfrm>
        </p:grpSpPr>
        <p:pic>
          <p:nvPicPr>
            <p:cNvPr id="5" name="Picture 4" descr="黑爵(AJAZZ)手柄/方向盘AG180报价_参数_图片_视频_怎么样_问答-苏宁易购">
              <a:extLst>
                <a:ext uri="{FF2B5EF4-FFF2-40B4-BE49-F238E27FC236}">
                  <a16:creationId xmlns:a16="http://schemas.microsoft.com/office/drawing/2014/main" id="{D7EBE446-EC20-5B82-0672-0E80B12E212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45" t="9275" r="3752" b="5379"/>
            <a:stretch/>
          </p:blipFill>
          <p:spPr bwMode="auto">
            <a:xfrm>
              <a:off x="4840431" y="321039"/>
              <a:ext cx="407315" cy="37661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Rectangle 3">
              <a:extLst>
                <a:ext uri="{FF2B5EF4-FFF2-40B4-BE49-F238E27FC236}">
                  <a16:creationId xmlns:a16="http://schemas.microsoft.com/office/drawing/2014/main" id="{202C2D97-40BE-1681-6934-5A1970663FC8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5298545" y="207541"/>
              <a:ext cx="3570069" cy="471065"/>
            </a:xfrm>
            <a:prstGeom prst="rect">
              <a:avLst/>
            </a:prstGeom>
            <a:noFill/>
          </p:spPr>
          <p:txBody>
            <a:bodyPr lIns="90488" tIns="44450" rIns="90488" bIns="44450"/>
            <a:lstStyle>
              <a:lvl1pPr marL="171450" indent="-17145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1pPr>
              <a:lvl2pPr marL="5143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8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2pPr>
              <a:lvl3pPr marL="8572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3pPr>
              <a:lvl4pPr marL="12001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4pPr>
              <a:lvl5pPr marL="15430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fontAlgn="base">
                <a:lnSpc>
                  <a:spcPct val="100000"/>
                </a:lnSpc>
                <a:buNone/>
              </a:pPr>
              <a:r>
                <a:rPr lang="zh-CN" altLang="en-US" sz="3200" dirty="0">
                  <a:latin typeface="Times New Roman" panose="02020603050405020304" pitchFamily="18" charset="0"/>
                  <a:ea typeface="楷体" panose="02010609060101010101" pitchFamily="49" charset="-122"/>
                  <a:sym typeface="+mn-ea"/>
                </a:rPr>
                <a:t>阅读和理解</a:t>
              </a:r>
              <a:r>
                <a:rPr lang="en-US" altLang="zh-CN" sz="3200" dirty="0">
                  <a:latin typeface="Times New Roman" panose="02020603050405020304" pitchFamily="18" charset="0"/>
                  <a:ea typeface="楷体" panose="02010609060101010101" pitchFamily="49" charset="-122"/>
                  <a:sym typeface="+mn-ea"/>
                </a:rPr>
                <a:t>C#</a:t>
              </a:r>
              <a:r>
                <a:rPr lang="zh-CN" altLang="en-US" sz="3200" dirty="0">
                  <a:latin typeface="Times New Roman" panose="02020603050405020304" pitchFamily="18" charset="0"/>
                  <a:ea typeface="楷体" panose="02010609060101010101" pitchFamily="49" charset="-122"/>
                  <a:sym typeface="+mn-ea"/>
                </a:rPr>
                <a:t>语法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558736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B3C1D5B-11AC-48D7-B0A0-63BC88617D64}"/>
              </a:ext>
            </a:extLst>
          </p:cNvPr>
          <p:cNvSpPr>
            <a:spLocks noGrp="1"/>
          </p:cNvSpPr>
          <p:nvPr>
            <p:ph sz="quarter" idx="4294967295"/>
          </p:nvPr>
        </p:nvSpPr>
        <p:spPr>
          <a:xfrm>
            <a:off x="444500" y="1211225"/>
            <a:ext cx="11204026" cy="4997067"/>
          </a:xfrm>
          <a:prstGeom prst="rect">
            <a:avLst/>
          </a:prstGeom>
        </p:spPr>
        <p:txBody>
          <a:bodyPr rtlCol="0">
            <a:noAutofit/>
          </a:bodyPr>
          <a:lstStyle>
            <a:defPPr>
              <a:defRPr lang="zh-CN"/>
            </a:defPPr>
          </a:lstStyle>
          <a:p>
            <a:pPr rtl="0"/>
            <a:r>
              <a:rPr lang="en-US" altLang="zh-CN" sz="3200" dirty="0">
                <a:solidFill>
                  <a:schemeClr val="accent5">
                    <a:lumMod val="75000"/>
                  </a:schemeClr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C#</a:t>
            </a:r>
            <a:r>
              <a:rPr lang="zh-CN" altLang="en-US" sz="3200" dirty="0">
                <a:solidFill>
                  <a:schemeClr val="accent5">
                    <a:lumMod val="75000"/>
                  </a:schemeClr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编程语言也有自己的语法规则</a:t>
            </a:r>
            <a:endParaRPr lang="en-US" altLang="zh-CN" sz="3200" dirty="0">
              <a:solidFill>
                <a:schemeClr val="accent5">
                  <a:lumMod val="75000"/>
                </a:schemeClr>
              </a:solidFill>
              <a:latin typeface="Microsoft YaHei UI" panose="020B0502040204020203" pitchFamily="34" charset="0"/>
              <a:cs typeface="Microsoft YaHei UI" panose="020B0502040204020203" pitchFamily="34" charset="0"/>
            </a:endParaRPr>
          </a:p>
          <a:p>
            <a:pPr lvl="1"/>
            <a:r>
              <a:rPr lang="en-US" altLang="zh-CN" sz="2800" b="1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int x = 5;</a:t>
            </a:r>
          </a:p>
          <a:p>
            <a:pPr lvl="1"/>
            <a:r>
              <a:rPr lang="en-US" altLang="zh-CN" sz="2800" b="1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int y = x * ( 3 + x );</a:t>
            </a:r>
          </a:p>
          <a:p>
            <a:pPr lvl="2">
              <a:lnSpc>
                <a:spcPct val="150000"/>
              </a:lnSpc>
            </a:pPr>
            <a:r>
              <a:rPr lang="zh-CN" altLang="en-US" sz="2400" b="1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声明</a:t>
            </a:r>
            <a:r>
              <a:rPr lang="zh-CN" altLang="en-US" sz="24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了一个名为</a:t>
            </a:r>
            <a:r>
              <a:rPr lang="en-US" altLang="zh-CN" sz="24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y </a:t>
            </a:r>
            <a:r>
              <a:rPr lang="zh-CN" altLang="en-US" sz="24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的 </a:t>
            </a:r>
            <a:r>
              <a:rPr lang="en-US" altLang="zh-CN" sz="24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int </a:t>
            </a:r>
            <a:r>
              <a:rPr lang="zh-CN" altLang="en-US" sz="24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型变量</a:t>
            </a:r>
            <a:endParaRPr lang="en-US" altLang="zh-CN" sz="2400" dirty="0">
              <a:solidFill>
                <a:schemeClr val="tx1"/>
              </a:solidFill>
              <a:latin typeface="Microsoft YaHei UI" panose="020B0502040204020203" pitchFamily="34" charset="0"/>
              <a:cs typeface="Microsoft YaHei UI" panose="020B0502040204020203" pitchFamily="34" charset="0"/>
            </a:endParaRPr>
          </a:p>
          <a:p>
            <a:pPr lvl="2">
              <a:lnSpc>
                <a:spcPct val="150000"/>
              </a:lnSpc>
            </a:pPr>
            <a:r>
              <a:rPr lang="zh-CN" altLang="en-US" sz="24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计算 </a:t>
            </a:r>
            <a:r>
              <a:rPr lang="en-US" altLang="zh-CN" sz="24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3 + x </a:t>
            </a:r>
            <a:r>
              <a:rPr lang="zh-CN" altLang="en-US" sz="24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（即 </a:t>
            </a:r>
            <a:r>
              <a:rPr lang="en-US" altLang="zh-CN" sz="24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3+5</a:t>
            </a:r>
            <a:r>
              <a:rPr lang="zh-CN" altLang="en-US" sz="24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，结果为</a:t>
            </a:r>
            <a:r>
              <a:rPr lang="en-US" altLang="zh-CN" sz="24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8</a:t>
            </a:r>
            <a:r>
              <a:rPr lang="zh-CN" altLang="en-US" sz="24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）</a:t>
            </a:r>
            <a:endParaRPr lang="en-US" altLang="zh-CN" sz="2400" dirty="0">
              <a:solidFill>
                <a:schemeClr val="tx1"/>
              </a:solidFill>
              <a:latin typeface="Microsoft YaHei UI" panose="020B0502040204020203" pitchFamily="34" charset="0"/>
              <a:cs typeface="Microsoft YaHei UI" panose="020B0502040204020203" pitchFamily="34" charset="0"/>
            </a:endParaRPr>
          </a:p>
          <a:p>
            <a:pPr lvl="3"/>
            <a:r>
              <a:rPr lang="zh-CN" altLang="en-US" sz="20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与代数中一样，首先执行圆括号内的运算</a:t>
            </a:r>
            <a:endParaRPr lang="en-US" altLang="zh-CN" sz="2000" dirty="0">
              <a:solidFill>
                <a:schemeClr val="tx1"/>
              </a:solidFill>
              <a:latin typeface="Microsoft YaHei UI" panose="020B0502040204020203" pitchFamily="34" charset="0"/>
              <a:cs typeface="Microsoft YaHei UI" panose="020B0502040204020203" pitchFamily="34" charset="0"/>
            </a:endParaRPr>
          </a:p>
          <a:p>
            <a:pPr lvl="2">
              <a:lnSpc>
                <a:spcPct val="150000"/>
              </a:lnSpc>
            </a:pPr>
            <a:r>
              <a:rPr lang="zh-CN" altLang="en-US" sz="24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计算</a:t>
            </a:r>
            <a:r>
              <a:rPr lang="zh-CN" altLang="en-US" sz="2400" b="1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 </a:t>
            </a:r>
            <a:r>
              <a:rPr lang="en-US" altLang="zh-CN" sz="24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x * 8 </a:t>
            </a:r>
            <a:r>
              <a:rPr lang="zh-CN" altLang="en-US" sz="24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的乘积（</a:t>
            </a:r>
            <a:r>
              <a:rPr lang="en-US" altLang="zh-CN" sz="24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x </a:t>
            </a:r>
            <a:r>
              <a:rPr lang="zh-CN" altLang="en-US" sz="24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是</a:t>
            </a:r>
            <a:r>
              <a:rPr lang="en-US" altLang="zh-CN" sz="24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5</a:t>
            </a:r>
            <a:r>
              <a:rPr lang="zh-CN" altLang="en-US" sz="24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，因此结果是</a:t>
            </a:r>
            <a:r>
              <a:rPr lang="en-US" altLang="zh-CN" sz="24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40</a:t>
            </a:r>
            <a:r>
              <a:rPr lang="zh-CN" altLang="en-US" sz="24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）</a:t>
            </a:r>
            <a:endParaRPr lang="en-US" altLang="zh-CN" sz="2400" dirty="0">
              <a:solidFill>
                <a:schemeClr val="tx1"/>
              </a:solidFill>
              <a:latin typeface="Microsoft YaHei UI" panose="020B0502040204020203" pitchFamily="34" charset="0"/>
              <a:cs typeface="Microsoft YaHei UI" panose="020B0502040204020203" pitchFamily="34" charset="0"/>
            </a:endParaRPr>
          </a:p>
          <a:p>
            <a:pPr lvl="2">
              <a:lnSpc>
                <a:spcPct val="150000"/>
              </a:lnSpc>
            </a:pPr>
            <a:r>
              <a:rPr lang="zh-CN" altLang="en-US" sz="24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将变量 </a:t>
            </a:r>
            <a:r>
              <a:rPr lang="en-US" altLang="zh-CN" sz="24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y </a:t>
            </a:r>
            <a:r>
              <a:rPr lang="zh-CN" altLang="en-US" sz="24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的值</a:t>
            </a:r>
            <a:r>
              <a:rPr lang="zh-CN" altLang="en-US" sz="2400" b="1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定义</a:t>
            </a:r>
            <a:r>
              <a:rPr lang="zh-CN" altLang="en-US" sz="24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为 </a:t>
            </a:r>
            <a:r>
              <a:rPr lang="en-US" altLang="zh-CN" sz="24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40</a:t>
            </a:r>
          </a:p>
          <a:p>
            <a:pPr lvl="2">
              <a:lnSpc>
                <a:spcPct val="150000"/>
              </a:lnSpc>
            </a:pPr>
            <a:r>
              <a:rPr lang="zh-CN" altLang="en-US" sz="24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以分号（</a:t>
            </a:r>
            <a:r>
              <a:rPr lang="en-US" altLang="zh-CN" sz="24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;</a:t>
            </a:r>
            <a:r>
              <a:rPr lang="zh-CN" altLang="en-US" sz="24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）结束语句</a:t>
            </a:r>
            <a:endParaRPr lang="en-US" altLang="zh-CN" sz="2000" dirty="0">
              <a:solidFill>
                <a:schemeClr val="tx1"/>
              </a:solidFill>
              <a:latin typeface="Microsoft YaHei UI" panose="020B0502040204020203" pitchFamily="34" charset="0"/>
              <a:cs typeface="Microsoft YaHei UI" panose="020B0502040204020203" pitchFamily="34" charset="0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48D58FE7-5EC6-6E8C-B68B-3CF1FE06C201}"/>
              </a:ext>
            </a:extLst>
          </p:cNvPr>
          <p:cNvGrpSpPr/>
          <p:nvPr/>
        </p:nvGrpSpPr>
        <p:grpSpPr>
          <a:xfrm>
            <a:off x="4081909" y="251474"/>
            <a:ext cx="4028183" cy="490115"/>
            <a:chOff x="4840431" y="207541"/>
            <a:chExt cx="4028183" cy="490115"/>
          </a:xfrm>
        </p:grpSpPr>
        <p:pic>
          <p:nvPicPr>
            <p:cNvPr id="5" name="Picture 4" descr="黑爵(AJAZZ)手柄/方向盘AG180报价_参数_图片_视频_怎么样_问答-苏宁易购">
              <a:extLst>
                <a:ext uri="{FF2B5EF4-FFF2-40B4-BE49-F238E27FC236}">
                  <a16:creationId xmlns:a16="http://schemas.microsoft.com/office/drawing/2014/main" id="{786B40DB-8DCF-6D78-6079-48E54F44761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45" t="9275" r="3752" b="5379"/>
            <a:stretch/>
          </p:blipFill>
          <p:spPr bwMode="auto">
            <a:xfrm>
              <a:off x="4840431" y="321039"/>
              <a:ext cx="407315" cy="37661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Rectangle 3">
              <a:extLst>
                <a:ext uri="{FF2B5EF4-FFF2-40B4-BE49-F238E27FC236}">
                  <a16:creationId xmlns:a16="http://schemas.microsoft.com/office/drawing/2014/main" id="{57CC7224-466B-A36D-F787-06058B85DA20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5298545" y="207541"/>
              <a:ext cx="3570069" cy="471065"/>
            </a:xfrm>
            <a:prstGeom prst="rect">
              <a:avLst/>
            </a:prstGeom>
            <a:noFill/>
          </p:spPr>
          <p:txBody>
            <a:bodyPr lIns="90488" tIns="44450" rIns="90488" bIns="44450"/>
            <a:lstStyle>
              <a:lvl1pPr marL="171450" indent="-17145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1pPr>
              <a:lvl2pPr marL="5143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8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2pPr>
              <a:lvl3pPr marL="8572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3pPr>
              <a:lvl4pPr marL="12001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4pPr>
              <a:lvl5pPr marL="15430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fontAlgn="base">
                <a:lnSpc>
                  <a:spcPct val="100000"/>
                </a:lnSpc>
                <a:buNone/>
              </a:pPr>
              <a:r>
                <a:rPr lang="zh-CN" altLang="en-US" sz="3200" dirty="0">
                  <a:latin typeface="Times New Roman" panose="02020603050405020304" pitchFamily="18" charset="0"/>
                  <a:ea typeface="楷体" panose="02010609060101010101" pitchFamily="49" charset="-122"/>
                  <a:sym typeface="+mn-ea"/>
                </a:rPr>
                <a:t>阅读和理解</a:t>
              </a:r>
              <a:r>
                <a:rPr lang="en-US" altLang="zh-CN" sz="3200" dirty="0">
                  <a:latin typeface="Times New Roman" panose="02020603050405020304" pitchFamily="18" charset="0"/>
                  <a:ea typeface="楷体" panose="02010609060101010101" pitchFamily="49" charset="-122"/>
                  <a:sym typeface="+mn-ea"/>
                </a:rPr>
                <a:t>C#</a:t>
              </a:r>
              <a:r>
                <a:rPr lang="zh-CN" altLang="en-US" sz="3200" dirty="0">
                  <a:latin typeface="Times New Roman" panose="02020603050405020304" pitchFamily="18" charset="0"/>
                  <a:ea typeface="楷体" panose="02010609060101010101" pitchFamily="49" charset="-122"/>
                  <a:sym typeface="+mn-ea"/>
                </a:rPr>
                <a:t>语法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21652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B3C1D5B-11AC-48D7-B0A0-63BC88617D64}"/>
              </a:ext>
            </a:extLst>
          </p:cNvPr>
          <p:cNvSpPr>
            <a:spLocks noGrp="1"/>
          </p:cNvSpPr>
          <p:nvPr>
            <p:ph sz="quarter" idx="4294967295"/>
          </p:nvPr>
        </p:nvSpPr>
        <p:spPr>
          <a:xfrm>
            <a:off x="444500" y="1211225"/>
            <a:ext cx="11204026" cy="4997067"/>
          </a:xfrm>
          <a:prstGeom prst="rect">
            <a:avLst/>
          </a:prstGeom>
        </p:spPr>
        <p:txBody>
          <a:bodyPr rtlCol="0">
            <a:noAutofit/>
          </a:bodyPr>
          <a:lstStyle>
            <a:defPPr>
              <a:defRPr lang="zh-CN"/>
            </a:defPPr>
          </a:lstStyle>
          <a:p>
            <a:pPr rtl="0">
              <a:lnSpc>
                <a:spcPct val="150000"/>
              </a:lnSpc>
            </a:pPr>
            <a:r>
              <a:rPr lang="en-US" altLang="zh-CN" sz="3200" dirty="0">
                <a:solidFill>
                  <a:schemeClr val="accent5">
                    <a:lumMod val="75000"/>
                  </a:schemeClr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C#</a:t>
            </a:r>
            <a:r>
              <a:rPr lang="zh-CN" altLang="en-US" sz="3200" dirty="0">
                <a:solidFill>
                  <a:schemeClr val="accent5">
                    <a:lumMod val="75000"/>
                  </a:schemeClr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编程语言也有自己的语法规则</a:t>
            </a:r>
            <a:endParaRPr lang="en-US" altLang="zh-CN" sz="3200" dirty="0">
              <a:solidFill>
                <a:schemeClr val="accent5">
                  <a:lumMod val="75000"/>
                </a:schemeClr>
              </a:solidFill>
              <a:latin typeface="Microsoft YaHei UI" panose="020B0502040204020203" pitchFamily="34" charset="0"/>
              <a:cs typeface="Microsoft YaHei UI" panose="020B0502040204020203" pitchFamily="34" charset="0"/>
            </a:endParaRPr>
          </a:p>
          <a:p>
            <a:pPr lvl="1">
              <a:lnSpc>
                <a:spcPct val="150000"/>
              </a:lnSpc>
            </a:pPr>
            <a:r>
              <a:rPr lang="en-US" altLang="zh-CN" sz="2800" b="1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string</a:t>
            </a:r>
            <a:r>
              <a:rPr lang="en-US" altLang="zh-CN" sz="2800" b="1" i="1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 </a:t>
            </a:r>
            <a:r>
              <a:rPr lang="en-US" altLang="zh-CN" sz="2800" b="1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greeting</a:t>
            </a:r>
            <a:r>
              <a:rPr lang="en-US" altLang="zh-CN" sz="2800" b="1" i="1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 </a:t>
            </a:r>
            <a:r>
              <a:rPr lang="en-US" altLang="zh-CN" sz="2800" b="1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= “Hello World</a:t>
            </a:r>
            <a:r>
              <a:rPr lang="zh-CN" altLang="en-US" sz="2800" b="1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！</a:t>
            </a:r>
            <a:r>
              <a:rPr lang="en-US" altLang="zh-CN" sz="2800" b="1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”;</a:t>
            </a:r>
          </a:p>
          <a:p>
            <a:pPr lvl="2">
              <a:lnSpc>
                <a:spcPct val="150000"/>
              </a:lnSpc>
            </a:pPr>
            <a:r>
              <a:rPr lang="zh-CN" altLang="en-US" sz="2800" b="1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声明</a:t>
            </a:r>
            <a:r>
              <a:rPr lang="zh-CN" altLang="en-US" sz="28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了一个名为 </a:t>
            </a:r>
            <a:r>
              <a:rPr lang="en-US" altLang="zh-CN" sz="28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greeting</a:t>
            </a:r>
            <a:r>
              <a:rPr lang="en-US" altLang="zh-CN" sz="2800" i="1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 </a:t>
            </a:r>
            <a:r>
              <a:rPr lang="zh-CN" altLang="en-US" sz="28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的 </a:t>
            </a:r>
            <a:r>
              <a:rPr lang="en-US" altLang="zh-CN" sz="28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string </a:t>
            </a:r>
            <a:r>
              <a:rPr lang="zh-CN" altLang="en-US" sz="28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类型变量</a:t>
            </a:r>
            <a:endParaRPr lang="en-US" altLang="zh-CN" sz="2800" dirty="0">
              <a:solidFill>
                <a:schemeClr val="tx1"/>
              </a:solidFill>
              <a:latin typeface="Microsoft YaHei UI" panose="020B0502040204020203" pitchFamily="34" charset="0"/>
              <a:cs typeface="Microsoft YaHei UI" panose="020B0502040204020203" pitchFamily="34" charset="0"/>
            </a:endParaRPr>
          </a:p>
          <a:p>
            <a:pPr lvl="3"/>
            <a:r>
              <a:rPr lang="zh-CN" altLang="en-US" sz="24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字符串可以容纳一系列的字符，例如词语或句子</a:t>
            </a:r>
            <a:endParaRPr lang="en-US" altLang="zh-CN" sz="2400" dirty="0">
              <a:solidFill>
                <a:schemeClr val="tx1"/>
              </a:solidFill>
              <a:latin typeface="Microsoft YaHei UI" panose="020B0502040204020203" pitchFamily="34" charset="0"/>
              <a:cs typeface="Microsoft YaHei UI" panose="020B0502040204020203" pitchFamily="34" charset="0"/>
            </a:endParaRPr>
          </a:p>
          <a:p>
            <a:pPr lvl="2">
              <a:lnSpc>
                <a:spcPct val="150000"/>
              </a:lnSpc>
            </a:pPr>
            <a:r>
              <a:rPr lang="zh-CN" altLang="en-US" sz="28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将变量 </a:t>
            </a:r>
            <a:r>
              <a:rPr lang="en-US" altLang="zh-CN" sz="28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greeting</a:t>
            </a:r>
            <a:r>
              <a:rPr lang="zh-CN" altLang="en-US" sz="28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的值</a:t>
            </a:r>
            <a:r>
              <a:rPr lang="zh-CN" altLang="en-US" sz="2800" b="1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定义</a:t>
            </a:r>
            <a:r>
              <a:rPr lang="zh-CN" altLang="en-US" sz="28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为</a:t>
            </a:r>
            <a:r>
              <a:rPr lang="en-US" altLang="zh-CN" sz="28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“Hello World</a:t>
            </a:r>
            <a:r>
              <a:rPr lang="zh-CN" altLang="en-US" sz="28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！</a:t>
            </a:r>
            <a:r>
              <a:rPr lang="en-US" altLang="zh-CN" sz="28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”</a:t>
            </a:r>
          </a:p>
          <a:p>
            <a:pPr lvl="3"/>
            <a:r>
              <a:rPr lang="zh-CN" altLang="en-US" sz="24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双引号之间的任何内容都应当作原义字符串处理，编译器解释时不要为其添加其他含义</a:t>
            </a:r>
            <a:endParaRPr lang="en-US" altLang="zh-CN" sz="2400" dirty="0">
              <a:solidFill>
                <a:schemeClr val="tx1"/>
              </a:solidFill>
              <a:latin typeface="Microsoft YaHei UI" panose="020B0502040204020203" pitchFamily="34" charset="0"/>
              <a:cs typeface="Microsoft YaHei UI" panose="020B0502040204020203" pitchFamily="34" charset="0"/>
            </a:endParaRPr>
          </a:p>
          <a:p>
            <a:pPr lvl="2">
              <a:lnSpc>
                <a:spcPct val="150000"/>
              </a:lnSpc>
            </a:pPr>
            <a:r>
              <a:rPr lang="zh-CN" altLang="en-US" sz="28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以分号（</a:t>
            </a:r>
            <a:r>
              <a:rPr lang="en-US" altLang="zh-CN" sz="28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;</a:t>
            </a:r>
            <a:r>
              <a:rPr lang="zh-CN" altLang="en-US" sz="28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）结束语句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F05328DC-6161-1A7D-05AC-9D9B05C51B54}"/>
              </a:ext>
            </a:extLst>
          </p:cNvPr>
          <p:cNvGrpSpPr/>
          <p:nvPr/>
        </p:nvGrpSpPr>
        <p:grpSpPr>
          <a:xfrm>
            <a:off x="4081909" y="251474"/>
            <a:ext cx="4028183" cy="490115"/>
            <a:chOff x="4840431" y="207541"/>
            <a:chExt cx="4028183" cy="490115"/>
          </a:xfrm>
        </p:grpSpPr>
        <p:pic>
          <p:nvPicPr>
            <p:cNvPr id="5" name="Picture 4" descr="黑爵(AJAZZ)手柄/方向盘AG180报价_参数_图片_视频_怎么样_问答-苏宁易购">
              <a:extLst>
                <a:ext uri="{FF2B5EF4-FFF2-40B4-BE49-F238E27FC236}">
                  <a16:creationId xmlns:a16="http://schemas.microsoft.com/office/drawing/2014/main" id="{006A0FB3-D74D-494C-1D33-8A02F3F38AF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45" t="9275" r="3752" b="5379"/>
            <a:stretch/>
          </p:blipFill>
          <p:spPr bwMode="auto">
            <a:xfrm>
              <a:off x="4840431" y="321039"/>
              <a:ext cx="407315" cy="37661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Rectangle 3">
              <a:extLst>
                <a:ext uri="{FF2B5EF4-FFF2-40B4-BE49-F238E27FC236}">
                  <a16:creationId xmlns:a16="http://schemas.microsoft.com/office/drawing/2014/main" id="{38F67609-5BF9-7419-86A6-238024DB39FC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5298545" y="207541"/>
              <a:ext cx="3570069" cy="471065"/>
            </a:xfrm>
            <a:prstGeom prst="rect">
              <a:avLst/>
            </a:prstGeom>
            <a:noFill/>
          </p:spPr>
          <p:txBody>
            <a:bodyPr lIns="90488" tIns="44450" rIns="90488" bIns="44450"/>
            <a:lstStyle>
              <a:lvl1pPr marL="171450" indent="-17145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1pPr>
              <a:lvl2pPr marL="5143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8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2pPr>
              <a:lvl3pPr marL="8572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3pPr>
              <a:lvl4pPr marL="12001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4pPr>
              <a:lvl5pPr marL="15430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fontAlgn="base">
                <a:lnSpc>
                  <a:spcPct val="100000"/>
                </a:lnSpc>
                <a:buNone/>
              </a:pPr>
              <a:r>
                <a:rPr lang="zh-CN" altLang="en-US" sz="3200" dirty="0">
                  <a:latin typeface="Times New Roman" panose="02020603050405020304" pitchFamily="18" charset="0"/>
                  <a:ea typeface="楷体" panose="02010609060101010101" pitchFamily="49" charset="-122"/>
                  <a:sym typeface="+mn-ea"/>
                </a:rPr>
                <a:t>阅读和理解</a:t>
              </a:r>
              <a:r>
                <a:rPr lang="en-US" altLang="zh-CN" sz="3200" dirty="0">
                  <a:latin typeface="Times New Roman" panose="02020603050405020304" pitchFamily="18" charset="0"/>
                  <a:ea typeface="楷体" panose="02010609060101010101" pitchFamily="49" charset="-122"/>
                  <a:sym typeface="+mn-ea"/>
                </a:rPr>
                <a:t>C#</a:t>
              </a:r>
              <a:r>
                <a:rPr lang="zh-CN" altLang="en-US" sz="3200" dirty="0">
                  <a:latin typeface="Times New Roman" panose="02020603050405020304" pitchFamily="18" charset="0"/>
                  <a:ea typeface="楷体" panose="02010609060101010101" pitchFamily="49" charset="-122"/>
                  <a:sym typeface="+mn-ea"/>
                </a:rPr>
                <a:t>语法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414243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B3C1D5B-11AC-48D7-B0A0-63BC88617D64}"/>
              </a:ext>
            </a:extLst>
          </p:cNvPr>
          <p:cNvSpPr>
            <a:spLocks noGrp="1"/>
          </p:cNvSpPr>
          <p:nvPr>
            <p:ph sz="quarter" idx="4294967295"/>
          </p:nvPr>
        </p:nvSpPr>
        <p:spPr>
          <a:xfrm>
            <a:off x="444500" y="1211225"/>
            <a:ext cx="11204026" cy="4997067"/>
          </a:xfrm>
          <a:prstGeom prst="rect">
            <a:avLst/>
          </a:prstGeom>
        </p:spPr>
        <p:txBody>
          <a:bodyPr rtlCol="0">
            <a:noAutofit/>
          </a:bodyPr>
          <a:lstStyle>
            <a:defPPr>
              <a:defRPr lang="zh-CN"/>
            </a:defPPr>
          </a:lstStyle>
          <a:p>
            <a:pPr rtl="0"/>
            <a:r>
              <a:rPr lang="en-US" altLang="zh-CN" sz="3200" dirty="0">
                <a:solidFill>
                  <a:schemeClr val="accent5">
                    <a:lumMod val="75000"/>
                  </a:schemeClr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C#</a:t>
            </a:r>
            <a:r>
              <a:rPr lang="zh-CN" altLang="en-US" sz="3200" dirty="0">
                <a:solidFill>
                  <a:schemeClr val="accent5">
                    <a:lumMod val="75000"/>
                  </a:schemeClr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编程语言也有自己的语法规则</a:t>
            </a:r>
            <a:endParaRPr lang="en-US" altLang="zh-CN" sz="3200" dirty="0">
              <a:solidFill>
                <a:schemeClr val="accent5">
                  <a:lumMod val="75000"/>
                </a:schemeClr>
              </a:solidFill>
              <a:latin typeface="Microsoft YaHei UI" panose="020B0502040204020203" pitchFamily="34" charset="0"/>
              <a:cs typeface="Microsoft YaHei UI" panose="020B0502040204020203" pitchFamily="34" charset="0"/>
            </a:endParaRPr>
          </a:p>
          <a:p>
            <a:pPr lvl="1"/>
            <a:r>
              <a:rPr lang="en-US" altLang="zh-CN" sz="2800" b="1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string</a:t>
            </a:r>
            <a:r>
              <a:rPr lang="en-US" altLang="zh-CN" sz="2800" b="1" i="1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 </a:t>
            </a:r>
            <a:r>
              <a:rPr lang="en-US" altLang="zh-CN" sz="2800" b="1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greeting</a:t>
            </a:r>
            <a:r>
              <a:rPr lang="en-US" altLang="zh-CN" sz="2800" b="1" i="1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 </a:t>
            </a:r>
            <a:r>
              <a:rPr lang="en-US" altLang="zh-CN" sz="2800" b="1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= “Hello World</a:t>
            </a:r>
            <a:r>
              <a:rPr lang="zh-CN" altLang="en-US" sz="2800" b="1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！</a:t>
            </a:r>
            <a:r>
              <a:rPr lang="en-US" altLang="zh-CN" sz="2800" b="1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”;</a:t>
            </a:r>
          </a:p>
          <a:p>
            <a:pPr lvl="1"/>
            <a:r>
              <a:rPr lang="en-US" altLang="zh-CN" sz="2800" b="1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print</a:t>
            </a:r>
            <a:r>
              <a:rPr lang="zh-CN" altLang="en-US" sz="2800" b="1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（</a:t>
            </a:r>
            <a:r>
              <a:rPr lang="en-US" altLang="zh-CN" sz="2800" b="1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 greeting </a:t>
            </a:r>
            <a:r>
              <a:rPr lang="zh-CN" altLang="en-US" sz="2800" b="1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）</a:t>
            </a:r>
            <a:r>
              <a:rPr lang="en-US" altLang="zh-CN" sz="2800" b="1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;</a:t>
            </a:r>
          </a:p>
          <a:p>
            <a:pPr lvl="2">
              <a:lnSpc>
                <a:spcPct val="150000"/>
              </a:lnSpc>
            </a:pPr>
            <a:r>
              <a:rPr lang="zh-CN" altLang="en-US" sz="24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调用 </a:t>
            </a:r>
            <a:r>
              <a:rPr lang="en-US" altLang="zh-CN" sz="24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print</a:t>
            </a:r>
            <a:r>
              <a:rPr lang="zh-CN" altLang="en-US" sz="24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（）函数</a:t>
            </a:r>
            <a:endParaRPr lang="en-US" altLang="zh-CN" sz="2400" dirty="0">
              <a:solidFill>
                <a:schemeClr val="tx1"/>
              </a:solidFill>
              <a:latin typeface="Microsoft YaHei UI" panose="020B0502040204020203" pitchFamily="34" charset="0"/>
              <a:cs typeface="Microsoft YaHei UI" panose="020B0502040204020203" pitchFamily="34" charset="0"/>
            </a:endParaRPr>
          </a:p>
          <a:p>
            <a:pPr lvl="3"/>
            <a:r>
              <a:rPr lang="zh-CN" altLang="en-US" sz="24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在函数被调用时，函数会执行其中包含的动作</a:t>
            </a:r>
            <a:endParaRPr lang="en-US" altLang="zh-CN" sz="2400" dirty="0">
              <a:solidFill>
                <a:schemeClr val="tx1"/>
              </a:solidFill>
              <a:latin typeface="Microsoft YaHei UI" panose="020B0502040204020203" pitchFamily="34" charset="0"/>
              <a:cs typeface="Microsoft YaHei UI" panose="020B0502040204020203" pitchFamily="34" charset="0"/>
            </a:endParaRPr>
          </a:p>
          <a:p>
            <a:pPr lvl="2">
              <a:lnSpc>
                <a:spcPct val="150000"/>
              </a:lnSpc>
            </a:pPr>
            <a:r>
              <a:rPr lang="zh-CN" altLang="en-US" sz="24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将变量</a:t>
            </a:r>
            <a:r>
              <a:rPr lang="en-US" altLang="zh-CN" sz="24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greeting</a:t>
            </a:r>
            <a:r>
              <a:rPr lang="zh-CN" altLang="en-US" sz="24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传递给</a:t>
            </a:r>
            <a:r>
              <a:rPr lang="en-US" altLang="zh-CN" sz="24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print</a:t>
            </a:r>
            <a:r>
              <a:rPr lang="zh-CN" altLang="en-US" sz="24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（）函数</a:t>
            </a:r>
            <a:endParaRPr lang="en-US" altLang="zh-CN" sz="2400" dirty="0">
              <a:solidFill>
                <a:schemeClr val="tx1"/>
              </a:solidFill>
              <a:latin typeface="Microsoft YaHei UI" panose="020B0502040204020203" pitchFamily="34" charset="0"/>
              <a:cs typeface="Microsoft YaHei UI" panose="020B0502040204020203" pitchFamily="34" charset="0"/>
            </a:endParaRPr>
          </a:p>
          <a:p>
            <a:pPr lvl="3"/>
            <a:r>
              <a:rPr lang="zh-CN" altLang="en-US" sz="24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在函数后面的圆括号中包含的变量是传递给函数的</a:t>
            </a:r>
            <a:r>
              <a:rPr lang="zh-CN" altLang="en-US" sz="2400" b="1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参数</a:t>
            </a:r>
          </a:p>
          <a:p>
            <a:pPr lvl="3"/>
            <a:r>
              <a:rPr lang="en-US" altLang="zh-CN" sz="24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print</a:t>
            </a:r>
            <a:r>
              <a:rPr lang="zh-CN" altLang="en-US" sz="24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（）函数将打印字符串问候语到</a:t>
            </a:r>
            <a:r>
              <a:rPr lang="en-US" altLang="zh-CN" sz="24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Unity</a:t>
            </a:r>
            <a:r>
              <a:rPr lang="zh-CN" altLang="en-US" sz="24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的控制台面板</a:t>
            </a:r>
          </a:p>
          <a:p>
            <a:pPr lvl="3"/>
            <a:r>
              <a:rPr lang="zh-CN" altLang="en-US" sz="24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控制台面板会输出 </a:t>
            </a:r>
            <a:r>
              <a:rPr lang="en-US" altLang="zh-CN" sz="24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Hello World! </a:t>
            </a:r>
            <a:r>
              <a:rPr lang="zh-CN" altLang="en-US" sz="24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字样</a:t>
            </a:r>
            <a:endParaRPr lang="en-US" altLang="zh-CN" sz="2400" dirty="0">
              <a:solidFill>
                <a:schemeClr val="tx1"/>
              </a:solidFill>
              <a:latin typeface="Microsoft YaHei UI" panose="020B0502040204020203" pitchFamily="34" charset="0"/>
              <a:cs typeface="Microsoft YaHei UI" panose="020B0502040204020203" pitchFamily="34" charset="0"/>
            </a:endParaRPr>
          </a:p>
          <a:p>
            <a:pPr lvl="2">
              <a:lnSpc>
                <a:spcPct val="150000"/>
              </a:lnSpc>
            </a:pPr>
            <a:r>
              <a:rPr lang="zh-CN" altLang="en-US" sz="24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以分号（</a:t>
            </a:r>
            <a:r>
              <a:rPr lang="en-US" altLang="zh-CN" sz="24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;</a:t>
            </a:r>
            <a:r>
              <a:rPr lang="zh-CN" altLang="en-US" sz="24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）结束语句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C9E78621-B62D-BDF0-8F2F-DC17E83D9CFA}"/>
              </a:ext>
            </a:extLst>
          </p:cNvPr>
          <p:cNvGrpSpPr/>
          <p:nvPr/>
        </p:nvGrpSpPr>
        <p:grpSpPr>
          <a:xfrm>
            <a:off x="4081909" y="251474"/>
            <a:ext cx="4028183" cy="490115"/>
            <a:chOff x="4840431" y="207541"/>
            <a:chExt cx="4028183" cy="490115"/>
          </a:xfrm>
        </p:grpSpPr>
        <p:pic>
          <p:nvPicPr>
            <p:cNvPr id="5" name="Picture 4" descr="黑爵(AJAZZ)手柄/方向盘AG180报价_参数_图片_视频_怎么样_问答-苏宁易购">
              <a:extLst>
                <a:ext uri="{FF2B5EF4-FFF2-40B4-BE49-F238E27FC236}">
                  <a16:creationId xmlns:a16="http://schemas.microsoft.com/office/drawing/2014/main" id="{AA0ACB6D-D91C-DDA6-7D07-10420C7DA07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45" t="9275" r="3752" b="5379"/>
            <a:stretch/>
          </p:blipFill>
          <p:spPr bwMode="auto">
            <a:xfrm>
              <a:off x="4840431" y="321039"/>
              <a:ext cx="407315" cy="37661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Rectangle 3">
              <a:extLst>
                <a:ext uri="{FF2B5EF4-FFF2-40B4-BE49-F238E27FC236}">
                  <a16:creationId xmlns:a16="http://schemas.microsoft.com/office/drawing/2014/main" id="{68B58D5A-C02D-58A7-91C8-6A42565B3398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5298545" y="207541"/>
              <a:ext cx="3570069" cy="471065"/>
            </a:xfrm>
            <a:prstGeom prst="rect">
              <a:avLst/>
            </a:prstGeom>
            <a:noFill/>
          </p:spPr>
          <p:txBody>
            <a:bodyPr lIns="90488" tIns="44450" rIns="90488" bIns="44450"/>
            <a:lstStyle>
              <a:lvl1pPr marL="171450" indent="-17145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1pPr>
              <a:lvl2pPr marL="5143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8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2pPr>
              <a:lvl3pPr marL="8572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3pPr>
              <a:lvl4pPr marL="12001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4pPr>
              <a:lvl5pPr marL="15430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fontAlgn="base">
                <a:lnSpc>
                  <a:spcPct val="100000"/>
                </a:lnSpc>
                <a:buNone/>
              </a:pPr>
              <a:r>
                <a:rPr lang="zh-CN" altLang="en-US" sz="3200" dirty="0">
                  <a:latin typeface="Times New Roman" panose="02020603050405020304" pitchFamily="18" charset="0"/>
                  <a:ea typeface="楷体" panose="02010609060101010101" pitchFamily="49" charset="-122"/>
                  <a:sym typeface="+mn-ea"/>
                </a:rPr>
                <a:t>阅读和理解</a:t>
              </a:r>
              <a:r>
                <a:rPr lang="en-US" altLang="zh-CN" sz="3200" dirty="0">
                  <a:latin typeface="Times New Roman" panose="02020603050405020304" pitchFamily="18" charset="0"/>
                  <a:ea typeface="楷体" panose="02010609060101010101" pitchFamily="49" charset="-122"/>
                  <a:sym typeface="+mn-ea"/>
                </a:rPr>
                <a:t>C#</a:t>
              </a:r>
              <a:r>
                <a:rPr lang="zh-CN" altLang="en-US" sz="3200" dirty="0">
                  <a:latin typeface="Times New Roman" panose="02020603050405020304" pitchFamily="18" charset="0"/>
                  <a:ea typeface="楷体" panose="02010609060101010101" pitchFamily="49" charset="-122"/>
                  <a:sym typeface="+mn-ea"/>
                </a:rPr>
                <a:t>语法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9417471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B3C1D5B-11AC-48D7-B0A0-63BC88617D64}"/>
              </a:ext>
            </a:extLst>
          </p:cNvPr>
          <p:cNvSpPr>
            <a:spLocks noGrp="1"/>
          </p:cNvSpPr>
          <p:nvPr>
            <p:ph sz="quarter" idx="4294967295"/>
          </p:nvPr>
        </p:nvSpPr>
        <p:spPr>
          <a:xfrm>
            <a:off x="493987" y="1003701"/>
            <a:ext cx="11204026" cy="5068171"/>
          </a:xfrm>
          <a:prstGeom prst="rect">
            <a:avLst/>
          </a:prstGeom>
        </p:spPr>
        <p:txBody>
          <a:bodyPr rtlCol="0">
            <a:noAutofit/>
          </a:bodyPr>
          <a:lstStyle>
            <a:defPPr>
              <a:defRPr lang="zh-CN"/>
            </a:defPPr>
          </a:lstStyle>
          <a:p>
            <a:pPr rtl="0">
              <a:lnSpc>
                <a:spcPct val="150000"/>
              </a:lnSpc>
            </a:pPr>
            <a:r>
              <a:rPr lang="zh-CN" altLang="en-US" sz="3200" dirty="0">
                <a:solidFill>
                  <a:schemeClr val="accent5">
                    <a:lumMod val="75000"/>
                  </a:schemeClr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你学习了</a:t>
            </a:r>
            <a:r>
              <a:rPr lang="en-US" altLang="zh-CN" sz="3200" dirty="0">
                <a:solidFill>
                  <a:schemeClr val="accent5">
                    <a:lumMod val="75000"/>
                  </a:schemeClr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C#</a:t>
            </a:r>
            <a:r>
              <a:rPr lang="zh-CN" altLang="en-US" sz="3200" dirty="0">
                <a:solidFill>
                  <a:schemeClr val="accent5">
                    <a:lumMod val="75000"/>
                  </a:schemeClr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语言的重要特性</a:t>
            </a:r>
            <a:endParaRPr lang="en-US" altLang="zh-CN" sz="3200" dirty="0">
              <a:solidFill>
                <a:schemeClr val="accent5">
                  <a:lumMod val="75000"/>
                </a:schemeClr>
              </a:solidFill>
              <a:latin typeface="Microsoft YaHei UI" panose="020B0502040204020203" pitchFamily="34" charset="0"/>
              <a:cs typeface="Microsoft YaHei UI" panose="020B0502040204020203" pitchFamily="34" charset="0"/>
            </a:endParaRPr>
          </a:p>
          <a:p>
            <a:pPr lvl="1">
              <a:lnSpc>
                <a:spcPct val="150000"/>
              </a:lnSpc>
            </a:pPr>
            <a:r>
              <a:rPr lang="en-US" altLang="zh-CN" sz="28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c#</a:t>
            </a:r>
            <a:r>
              <a:rPr lang="zh-CN" altLang="en-US" sz="28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是一种编译型语言</a:t>
            </a:r>
          </a:p>
          <a:p>
            <a:pPr lvl="1">
              <a:lnSpc>
                <a:spcPct val="150000"/>
              </a:lnSpc>
            </a:pPr>
            <a:r>
              <a:rPr lang="en-US" altLang="zh-CN" sz="28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c#</a:t>
            </a:r>
            <a:r>
              <a:rPr lang="zh-CN" altLang="en-US" sz="28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是托管代码</a:t>
            </a:r>
          </a:p>
          <a:p>
            <a:pPr lvl="1">
              <a:lnSpc>
                <a:spcPct val="150000"/>
              </a:lnSpc>
            </a:pPr>
            <a:r>
              <a:rPr lang="en-US" altLang="zh-CN" sz="28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c#</a:t>
            </a:r>
            <a:r>
              <a:rPr lang="zh-CN" altLang="en-US" sz="28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是一种强类型语言</a:t>
            </a:r>
          </a:p>
          <a:p>
            <a:pPr lvl="1">
              <a:lnSpc>
                <a:spcPct val="150000"/>
              </a:lnSpc>
            </a:pPr>
            <a:r>
              <a:rPr lang="en-US" altLang="zh-CN" sz="28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c#</a:t>
            </a:r>
            <a:r>
              <a:rPr lang="zh-CN" altLang="en-US" sz="28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是基于函数的语言</a:t>
            </a:r>
          </a:p>
          <a:p>
            <a:pPr lvl="1">
              <a:lnSpc>
                <a:spcPct val="150000"/>
              </a:lnSpc>
            </a:pPr>
            <a:r>
              <a:rPr lang="en-US" altLang="zh-CN" sz="28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c#</a:t>
            </a:r>
            <a:r>
              <a:rPr lang="zh-CN" altLang="en-US" sz="28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是面向对象的语言</a:t>
            </a:r>
          </a:p>
          <a:p>
            <a:pPr rtl="0">
              <a:lnSpc>
                <a:spcPct val="150000"/>
              </a:lnSpc>
            </a:pPr>
            <a:r>
              <a:rPr lang="zh-CN" altLang="en-US" sz="3200" dirty="0">
                <a:solidFill>
                  <a:schemeClr val="accent5">
                    <a:lumMod val="75000"/>
                  </a:schemeClr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你学会了阅读和理解一些</a:t>
            </a:r>
            <a:r>
              <a:rPr lang="en-US" altLang="zh-CN" sz="3200" dirty="0">
                <a:solidFill>
                  <a:schemeClr val="accent5">
                    <a:lumMod val="75000"/>
                  </a:schemeClr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C#</a:t>
            </a:r>
            <a:r>
              <a:rPr lang="zh-CN" altLang="en-US" sz="3200" dirty="0">
                <a:solidFill>
                  <a:schemeClr val="accent5">
                    <a:lumMod val="75000"/>
                  </a:schemeClr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语句</a:t>
            </a:r>
            <a:endParaRPr lang="en-US" altLang="zh-CN" sz="3200" dirty="0">
              <a:solidFill>
                <a:schemeClr val="accent5">
                  <a:lumMod val="75000"/>
                </a:schemeClr>
              </a:solidFill>
              <a:latin typeface="Microsoft YaHei UI" panose="020B0502040204020203" pitchFamily="34" charset="0"/>
              <a:cs typeface="Microsoft YaHei UI" panose="020B0502040204020203" pitchFamily="34" charset="0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F933A7DF-F5D9-26E4-F905-47CD15678745}"/>
              </a:ext>
            </a:extLst>
          </p:cNvPr>
          <p:cNvGrpSpPr/>
          <p:nvPr/>
        </p:nvGrpSpPr>
        <p:grpSpPr>
          <a:xfrm>
            <a:off x="4943865" y="251474"/>
            <a:ext cx="2304269" cy="490115"/>
            <a:chOff x="4840431" y="207541"/>
            <a:chExt cx="2304269" cy="490115"/>
          </a:xfrm>
        </p:grpSpPr>
        <p:pic>
          <p:nvPicPr>
            <p:cNvPr id="8" name="Picture 4" descr="黑爵(AJAZZ)手柄/方向盘AG180报价_参数_图片_视频_怎么样_问答-苏宁易购">
              <a:extLst>
                <a:ext uri="{FF2B5EF4-FFF2-40B4-BE49-F238E27FC236}">
                  <a16:creationId xmlns:a16="http://schemas.microsoft.com/office/drawing/2014/main" id="{921E59EE-311B-7E5C-C2B4-877E1CF0747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45" t="9275" r="3752" b="5379"/>
            <a:stretch/>
          </p:blipFill>
          <p:spPr bwMode="auto">
            <a:xfrm>
              <a:off x="4840431" y="321039"/>
              <a:ext cx="407315" cy="37661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" name="Rectangle 3">
              <a:extLst>
                <a:ext uri="{FF2B5EF4-FFF2-40B4-BE49-F238E27FC236}">
                  <a16:creationId xmlns:a16="http://schemas.microsoft.com/office/drawing/2014/main" id="{85F901AB-77FA-E11D-3587-45DBD623CDED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5298546" y="207541"/>
              <a:ext cx="1846154" cy="471065"/>
            </a:xfrm>
            <a:prstGeom prst="rect">
              <a:avLst/>
            </a:prstGeom>
            <a:noFill/>
          </p:spPr>
          <p:txBody>
            <a:bodyPr lIns="90488" tIns="44450" rIns="90488" bIns="44450"/>
            <a:lstStyle>
              <a:lvl1pPr marL="171450" indent="-17145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1pPr>
              <a:lvl2pPr marL="5143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8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2pPr>
              <a:lvl3pPr marL="8572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3pPr>
              <a:lvl4pPr marL="12001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4pPr>
              <a:lvl5pPr marL="15430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fontAlgn="base">
                <a:lnSpc>
                  <a:spcPct val="100000"/>
                </a:lnSpc>
                <a:buNone/>
              </a:pPr>
              <a:r>
                <a:rPr lang="zh-CN" altLang="en-US" sz="3200" dirty="0">
                  <a:latin typeface="Times New Roman" panose="02020603050405020304" pitchFamily="18" charset="0"/>
                  <a:ea typeface="楷体" panose="02010609060101010101" pitchFamily="49" charset="-122"/>
                  <a:sym typeface="+mn-ea"/>
                </a:rPr>
                <a:t>内容小结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9156653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95CF58-37AA-20D9-5139-A37A802526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">
            <a:extLst>
              <a:ext uri="{FF2B5EF4-FFF2-40B4-BE49-F238E27FC236}">
                <a16:creationId xmlns:a16="http://schemas.microsoft.com/office/drawing/2014/main" id="{EDCBC97F-7D5C-13D0-ED87-79ECC80ABBC8}"/>
              </a:ext>
            </a:extLst>
          </p:cNvPr>
          <p:cNvSpPr txBox="1">
            <a:spLocks noChangeArrowheads="1"/>
          </p:cNvSpPr>
          <p:nvPr/>
        </p:nvSpPr>
        <p:spPr>
          <a:xfrm>
            <a:off x="2872780" y="2766563"/>
            <a:ext cx="6446441" cy="1324873"/>
          </a:xfrm>
          <a:prstGeom prst="rect">
            <a:avLst/>
          </a:prstGeom>
          <a:noFill/>
        </p:spPr>
        <p:txBody>
          <a:bodyPr lIns="0" tIns="0" rIns="0" bIns="0"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b="1" kern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b="1" kern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b="1" kern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b="1" kern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None/>
            </a:pPr>
            <a:r>
              <a:rPr lang="zh-CN" altLang="en-US" sz="10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变量和组件</a:t>
            </a:r>
            <a:endParaRPr kumimoji="0" lang="en-US" altLang="zh-CN" sz="100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4" name="Picture 4" descr="黑爵(AJAZZ)手柄/方向盘AG180报价_参数_图片_视频_怎么样_问答-苏宁易购">
            <a:extLst>
              <a:ext uri="{FF2B5EF4-FFF2-40B4-BE49-F238E27FC236}">
                <a16:creationId xmlns:a16="http://schemas.microsoft.com/office/drawing/2014/main" id="{6B9D4C12-6825-0A8B-C59C-46D63C7D97C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45" t="9275" r="3752" b="5379"/>
          <a:stretch/>
        </p:blipFill>
        <p:spPr bwMode="auto">
          <a:xfrm>
            <a:off x="6630660" y="1616743"/>
            <a:ext cx="7054860" cy="65231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0381768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02149C-E38A-DE6F-0A9B-40CD798838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40A8A9A-2CCF-B555-2AC4-7FF0EF4CE426}"/>
              </a:ext>
            </a:extLst>
          </p:cNvPr>
          <p:cNvSpPr>
            <a:spLocks noGrp="1"/>
          </p:cNvSpPr>
          <p:nvPr>
            <p:ph sz="quarter" idx="4294967295"/>
          </p:nvPr>
        </p:nvSpPr>
        <p:spPr>
          <a:xfrm>
            <a:off x="1317995" y="1341516"/>
            <a:ext cx="5195613" cy="3416751"/>
          </a:xfrm>
          <a:prstGeom prst="rect">
            <a:avLst/>
          </a:prstGeom>
        </p:spPr>
        <p:txBody>
          <a:bodyPr rtlCol="0">
            <a:noAutofit/>
          </a:bodyPr>
          <a:lstStyle>
            <a:defPPr>
              <a:defRPr lang="zh-CN"/>
            </a:defPPr>
          </a:lstStyle>
          <a:p>
            <a:pPr rtl="0">
              <a:lnSpc>
                <a:spcPct val="120000"/>
              </a:lnSpc>
            </a:pPr>
            <a:r>
              <a:rPr lang="en-US" altLang="zh-CN" sz="24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C#</a:t>
            </a:r>
            <a:r>
              <a:rPr lang="zh-CN" altLang="en-US" sz="2400" b="1" dirty="0">
                <a:solidFill>
                  <a:schemeClr val="accent5">
                    <a:lumMod val="7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Microsoft YaHei UI" panose="020B0502040204020203" pitchFamily="34" charset="0"/>
              </a:rPr>
              <a:t>中的变量</a:t>
            </a:r>
            <a:endParaRPr lang="en-US" altLang="zh-CN" sz="2400" b="1" dirty="0">
              <a:solidFill>
                <a:schemeClr val="accent5">
                  <a:lumMod val="75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Microsoft YaHei UI" panose="020B0502040204020203" pitchFamily="34" charset="0"/>
            </a:endParaRPr>
          </a:p>
          <a:p>
            <a:pPr lvl="1">
              <a:lnSpc>
                <a:spcPct val="120000"/>
              </a:lnSpc>
            </a:pPr>
            <a:r>
              <a:rPr lang="zh-CN" altLang="en-US" b="1" dirty="0">
                <a:latin typeface="Kaiti" panose="02010609060101010101" pitchFamily="49" charset="-122"/>
                <a:ea typeface="Kaiti" panose="02010609060101010101" pitchFamily="49" charset="-122"/>
                <a:cs typeface="Microsoft YaHei UI" panose="020B0502040204020203" pitchFamily="34" charset="0"/>
              </a:rPr>
              <a:t>声明和定义变量</a:t>
            </a:r>
          </a:p>
          <a:p>
            <a:pPr rtl="0">
              <a:lnSpc>
                <a:spcPct val="120000"/>
              </a:lnSpc>
            </a:pPr>
            <a:r>
              <a:rPr lang="zh-CN" altLang="en-US" sz="2400" b="1" dirty="0">
                <a:solidFill>
                  <a:schemeClr val="accent5">
                    <a:lumMod val="7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Microsoft YaHei UI" panose="020B0502040204020203" pitchFamily="34" charset="0"/>
              </a:rPr>
              <a:t>重要的</a:t>
            </a:r>
            <a:r>
              <a:rPr lang="en-US" altLang="zh-CN" sz="24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C#</a:t>
            </a:r>
            <a:r>
              <a:rPr lang="zh-CN" altLang="en-US" sz="2400" b="1" dirty="0">
                <a:solidFill>
                  <a:schemeClr val="accent5">
                    <a:lumMod val="7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Microsoft YaHei UI" panose="020B0502040204020203" pitchFamily="34" charset="0"/>
              </a:rPr>
              <a:t>变量类型</a:t>
            </a:r>
          </a:p>
          <a:p>
            <a:pPr rtl="0">
              <a:lnSpc>
                <a:spcPct val="120000"/>
              </a:lnSpc>
            </a:pPr>
            <a:r>
              <a:rPr lang="zh-CN" altLang="en-US" sz="2400" b="1" dirty="0">
                <a:solidFill>
                  <a:schemeClr val="accent5">
                    <a:lumMod val="7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Microsoft YaHei UI" panose="020B0502040204020203" pitchFamily="34" charset="0"/>
              </a:rPr>
              <a:t>命名惯例</a:t>
            </a:r>
          </a:p>
          <a:p>
            <a:pPr rtl="0">
              <a:lnSpc>
                <a:spcPct val="120000"/>
              </a:lnSpc>
            </a:pPr>
            <a:r>
              <a:rPr lang="en-US" altLang="zh-CN" sz="24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Unity</a:t>
            </a:r>
            <a:r>
              <a:rPr lang="zh-CN" altLang="en-US" sz="2400" b="1" dirty="0">
                <a:solidFill>
                  <a:schemeClr val="accent5">
                    <a:lumMod val="7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Microsoft YaHei UI" panose="020B0502040204020203" pitchFamily="34" charset="0"/>
              </a:rPr>
              <a:t>中的重要变量类型</a:t>
            </a:r>
          </a:p>
          <a:p>
            <a:pPr rtl="0">
              <a:lnSpc>
                <a:spcPct val="120000"/>
              </a:lnSpc>
            </a:pPr>
            <a:r>
              <a:rPr lang="en-US" altLang="zh-CN" sz="24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Unity</a:t>
            </a:r>
            <a:r>
              <a:rPr lang="zh-CN" altLang="en-US" sz="2400" b="1" dirty="0">
                <a:solidFill>
                  <a:schemeClr val="accent5">
                    <a:lumMod val="7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Microsoft YaHei UI" panose="020B0502040204020203" pitchFamily="34" charset="0"/>
              </a:rPr>
              <a:t>游戏对象和组件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8525D162-1C5F-2FA2-5361-CC6A58AE7CDA}"/>
              </a:ext>
            </a:extLst>
          </p:cNvPr>
          <p:cNvGrpSpPr/>
          <p:nvPr/>
        </p:nvGrpSpPr>
        <p:grpSpPr>
          <a:xfrm>
            <a:off x="5364993" y="251474"/>
            <a:ext cx="1462015" cy="490115"/>
            <a:chOff x="4840431" y="207541"/>
            <a:chExt cx="1462015" cy="490115"/>
          </a:xfrm>
        </p:grpSpPr>
        <p:pic>
          <p:nvPicPr>
            <p:cNvPr id="8" name="Picture 4" descr="黑爵(AJAZZ)手柄/方向盘AG180报价_参数_图片_视频_怎么样_问答-苏宁易购">
              <a:extLst>
                <a:ext uri="{FF2B5EF4-FFF2-40B4-BE49-F238E27FC236}">
                  <a16:creationId xmlns:a16="http://schemas.microsoft.com/office/drawing/2014/main" id="{12443D97-F116-E105-8AFB-FE063660794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45" t="9275" r="3752" b="5379"/>
            <a:stretch/>
          </p:blipFill>
          <p:spPr bwMode="auto">
            <a:xfrm>
              <a:off x="4840431" y="321039"/>
              <a:ext cx="407315" cy="37661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" name="Rectangle 3">
              <a:extLst>
                <a:ext uri="{FF2B5EF4-FFF2-40B4-BE49-F238E27FC236}">
                  <a16:creationId xmlns:a16="http://schemas.microsoft.com/office/drawing/2014/main" id="{4C791071-6C0F-3E27-44F6-D39C1C81D233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5298546" y="207541"/>
              <a:ext cx="1003900" cy="471065"/>
            </a:xfrm>
            <a:prstGeom prst="rect">
              <a:avLst/>
            </a:prstGeom>
            <a:noFill/>
          </p:spPr>
          <p:txBody>
            <a:bodyPr lIns="90488" tIns="44450" rIns="90488" bIns="44450"/>
            <a:lstStyle>
              <a:lvl1pPr marL="171450" indent="-17145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1pPr>
              <a:lvl2pPr marL="5143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8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2pPr>
              <a:lvl3pPr marL="8572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3pPr>
              <a:lvl4pPr marL="12001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4pPr>
              <a:lvl5pPr marL="15430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fontAlgn="base">
                <a:lnSpc>
                  <a:spcPct val="100000"/>
                </a:lnSpc>
                <a:buNone/>
              </a:pPr>
              <a:r>
                <a:rPr lang="zh-CN" altLang="en-US" sz="3200" dirty="0">
                  <a:latin typeface="Times New Roman" panose="02020603050405020304" pitchFamily="18" charset="0"/>
                  <a:ea typeface="楷体" panose="02010609060101010101" pitchFamily="49" charset="-122"/>
                  <a:sym typeface="+mn-ea"/>
                </a:rPr>
                <a:t>目录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9478767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4">
            <a:extLst>
              <a:ext uri="{FF2B5EF4-FFF2-40B4-BE49-F238E27FC236}">
                <a16:creationId xmlns:a16="http://schemas.microsoft.com/office/drawing/2014/main" id="{DC39BF49-E727-BFF6-CD4E-6FB1079E0190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>
          <a:xfrm>
            <a:off x="905933" y="1234353"/>
            <a:ext cx="10579101" cy="4637280"/>
          </a:xfrm>
        </p:spPr>
        <p:txBody>
          <a:bodyPr/>
          <a:lstStyle/>
          <a:p>
            <a:pPr marL="839788" lvl="1" indent="-342900">
              <a:spcBef>
                <a:spcPts val="1100"/>
              </a:spcBef>
              <a:buSzPct val="50000"/>
              <a:buFont typeface="Wingdings" panose="05000000000000000000" pitchFamily="2" charset="2"/>
              <a:buChar char="l"/>
            </a:pPr>
            <a:r>
              <a:rPr lang="en-US" altLang="zh-CN" sz="2000" b="1" dirty="0">
                <a:solidFill>
                  <a:schemeClr val="accent5">
                    <a:lumMod val="7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变量是一个</a:t>
            </a:r>
            <a:r>
              <a:rPr lang="zh-CN" altLang="en-US" sz="2000" b="1" dirty="0">
                <a:solidFill>
                  <a:schemeClr val="accent5">
                    <a:lumMod val="7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存储数</a:t>
            </a:r>
            <a:r>
              <a:rPr lang="zh-CN" altLang="en-US" sz="2000" b="1" dirty="0">
                <a:solidFill>
                  <a:srgbClr val="A7357F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据</a:t>
            </a:r>
            <a:r>
              <a:rPr lang="en-US" altLang="zh-CN" sz="2000" b="1" dirty="0">
                <a:solidFill>
                  <a:srgbClr val="A7357F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的</a:t>
            </a:r>
            <a:r>
              <a:rPr lang="zh-CN" altLang="en-US" sz="2000" b="1" dirty="0">
                <a:solidFill>
                  <a:schemeClr val="accent5">
                    <a:lumMod val="7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命名</a:t>
            </a:r>
            <a:r>
              <a:rPr lang="en-US" altLang="zh-CN" sz="2000" b="1" dirty="0" err="1">
                <a:solidFill>
                  <a:schemeClr val="accent5">
                    <a:lumMod val="7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容器</a:t>
            </a:r>
            <a:endParaRPr lang="en-US" altLang="zh-CN" sz="2000" b="1" dirty="0">
              <a:solidFill>
                <a:schemeClr val="accent5">
                  <a:lumMod val="75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marL="839788" lvl="1" indent="-342900">
              <a:spcBef>
                <a:spcPts val="1100"/>
              </a:spcBef>
              <a:buSzPct val="50000"/>
              <a:buFont typeface="Wingdings" panose="05000000000000000000" pitchFamily="2" charset="2"/>
              <a:buChar char="l"/>
            </a:pPr>
            <a:r>
              <a:rPr lang="en-US" altLang="zh-CN" sz="2000" b="1" dirty="0" err="1">
                <a:solidFill>
                  <a:schemeClr val="accent5">
                    <a:lumMod val="7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在</a:t>
            </a:r>
            <a:r>
              <a:rPr lang="en-US" altLang="zh-CN" sz="2000" b="1" dirty="0" err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C#</a:t>
            </a:r>
            <a:r>
              <a:rPr lang="en-US" altLang="zh-CN" sz="2000" b="1" dirty="0" err="1">
                <a:solidFill>
                  <a:schemeClr val="accent5">
                    <a:lumMod val="7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中，变量是</a:t>
            </a:r>
            <a:r>
              <a:rPr lang="zh-CN" altLang="en-US" sz="2000" b="1" dirty="0">
                <a:solidFill>
                  <a:schemeClr val="accent5">
                    <a:lumMod val="7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有</a:t>
            </a:r>
            <a:r>
              <a:rPr lang="en-US" altLang="zh-CN" sz="2000" b="1" dirty="0" err="1">
                <a:solidFill>
                  <a:schemeClr val="accent5">
                    <a:lumMod val="7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类型的，因此它们只能</a:t>
            </a:r>
            <a:r>
              <a:rPr lang="zh-CN" altLang="en-US" sz="2000" b="1" dirty="0">
                <a:solidFill>
                  <a:schemeClr val="accent5">
                    <a:lumMod val="7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存储</a:t>
            </a:r>
            <a:r>
              <a:rPr lang="en-US" altLang="zh-CN" sz="2000" b="1" dirty="0" err="1">
                <a:solidFill>
                  <a:schemeClr val="accent5">
                    <a:lumMod val="7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一种数据类型</a:t>
            </a:r>
            <a:endParaRPr lang="en-US" altLang="zh-CN" sz="2000" b="1" dirty="0">
              <a:solidFill>
                <a:schemeClr val="accent5">
                  <a:lumMod val="75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marL="1296984" lvl="2" indent="-342900">
              <a:spcBef>
                <a:spcPts val="1100"/>
              </a:spcBef>
              <a:buSzPct val="50000"/>
              <a:buFont typeface="Wingdings" panose="05000000000000000000" pitchFamily="2" charset="2"/>
              <a:buChar char="l"/>
            </a:pPr>
            <a:r>
              <a:rPr lang="en-US" altLang="zh-CN" b="1" dirty="0" err="1">
                <a:solidFill>
                  <a:srgbClr val="000000"/>
                </a:solidFill>
                <a:latin typeface="+mj-lt"/>
                <a:ea typeface="楷体" panose="02010609060101010101" pitchFamily="49" charset="-122"/>
              </a:rPr>
              <a:t>例如整</a:t>
            </a:r>
            <a:r>
              <a:rPr lang="zh-CN" altLang="en-US" b="1" dirty="0">
                <a:solidFill>
                  <a:srgbClr val="000000"/>
                </a:solidFill>
                <a:latin typeface="+mj-lt"/>
                <a:ea typeface="楷体" panose="02010609060101010101" pitchFamily="49" charset="-122"/>
              </a:rPr>
              <a:t>型</a:t>
            </a:r>
            <a:r>
              <a:rPr lang="en-US" altLang="zh-CN" b="1" dirty="0">
                <a:solidFill>
                  <a:srgbClr val="000000"/>
                </a:solidFill>
                <a:latin typeface="+mj-lt"/>
                <a:ea typeface="楷体" panose="02010609060101010101" pitchFamily="49" charset="-122"/>
              </a:rPr>
              <a:t>、</a:t>
            </a:r>
            <a:r>
              <a:rPr lang="en-US" altLang="zh-CN" b="1" dirty="0" err="1">
                <a:solidFill>
                  <a:srgbClr val="000000"/>
                </a:solidFill>
                <a:latin typeface="+mj-lt"/>
                <a:ea typeface="楷体" panose="02010609060101010101" pitchFamily="49" charset="-122"/>
              </a:rPr>
              <a:t>浮点</a:t>
            </a:r>
            <a:r>
              <a:rPr lang="zh-CN" altLang="en-US" b="1" dirty="0">
                <a:solidFill>
                  <a:srgbClr val="000000"/>
                </a:solidFill>
                <a:latin typeface="+mj-lt"/>
                <a:ea typeface="楷体" panose="02010609060101010101" pitchFamily="49" charset="-122"/>
              </a:rPr>
              <a:t>型</a:t>
            </a:r>
            <a:r>
              <a:rPr lang="en-US" altLang="zh-CN" b="1" dirty="0">
                <a:solidFill>
                  <a:srgbClr val="000000"/>
                </a:solidFill>
                <a:latin typeface="+mj-lt"/>
                <a:ea typeface="楷体" panose="02010609060101010101" pitchFamily="49" charset="-122"/>
              </a:rPr>
              <a:t>、</a:t>
            </a:r>
            <a:r>
              <a:rPr lang="en-US" altLang="zh-CN" b="1" dirty="0" err="1">
                <a:solidFill>
                  <a:srgbClr val="000000"/>
                </a:solidFill>
                <a:latin typeface="+mj-lt"/>
                <a:ea typeface="楷体" panose="02010609060101010101" pitchFamily="49" charset="-122"/>
              </a:rPr>
              <a:t>字符串</a:t>
            </a:r>
            <a:endParaRPr lang="en-US" altLang="zh-CN" b="1" dirty="0">
              <a:solidFill>
                <a:srgbClr val="000000"/>
              </a:solidFill>
              <a:latin typeface="+mj-lt"/>
              <a:ea typeface="楷体" panose="02010609060101010101" pitchFamily="49" charset="-122"/>
            </a:endParaRPr>
          </a:p>
          <a:p>
            <a:pPr marL="954088" lvl="1" indent="-457200">
              <a:spcBef>
                <a:spcPts val="1100"/>
              </a:spcBef>
              <a:buSzPct val="50000"/>
              <a:buFont typeface="Wingdings" panose="05000000000000000000" pitchFamily="2" charset="2"/>
              <a:buChar char="l"/>
            </a:pPr>
            <a:r>
              <a:rPr lang="en-US" altLang="zh-CN" sz="2000" b="1" dirty="0">
                <a:solidFill>
                  <a:schemeClr val="accent5">
                    <a:lumMod val="7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变量在使用前需要先声明</a:t>
            </a:r>
          </a:p>
          <a:p>
            <a:pPr marL="1296984" lvl="2" indent="-342900">
              <a:spcBef>
                <a:spcPts val="1100"/>
              </a:spcBef>
              <a:buSzPct val="50000"/>
              <a:buFont typeface="Wingdings" panose="05000000000000000000" pitchFamily="2" charset="2"/>
              <a:buChar char="l"/>
            </a:pPr>
            <a:r>
              <a:rPr lang="en-US" altLang="zh-CN" b="1" dirty="0">
                <a:solidFill>
                  <a:srgbClr val="000000"/>
                </a:solidFill>
                <a:latin typeface="+mj-lt"/>
                <a:ea typeface="楷体" panose="02010609060101010101" pitchFamily="49" charset="-122"/>
                <a:sym typeface="Courier" pitchFamily="125" charset="0"/>
              </a:rPr>
              <a:t>int x;</a:t>
            </a:r>
            <a:endParaRPr lang="en-US" altLang="zh-CN" b="1" dirty="0">
              <a:solidFill>
                <a:srgbClr val="000000"/>
              </a:solidFill>
              <a:latin typeface="+mj-lt"/>
              <a:ea typeface="楷体" panose="02010609060101010101" pitchFamily="49" charset="-122"/>
            </a:endParaRPr>
          </a:p>
          <a:p>
            <a:pPr marL="954088" lvl="1" indent="-457200">
              <a:spcBef>
                <a:spcPts val="1100"/>
              </a:spcBef>
              <a:buSzPct val="50000"/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chemeClr val="accent5">
                    <a:lumMod val="7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变量赋值是指为变量指定一个值</a:t>
            </a:r>
            <a:endParaRPr lang="en-US" altLang="zh-CN" sz="2000" b="1" dirty="0">
              <a:solidFill>
                <a:schemeClr val="accent5">
                  <a:lumMod val="75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marL="1296984" lvl="2" indent="-342900">
              <a:spcBef>
                <a:spcPts val="1100"/>
              </a:spcBef>
              <a:buSzPct val="50000"/>
              <a:buFont typeface="Wingdings" panose="05000000000000000000" pitchFamily="2" charset="2"/>
              <a:buChar char="l"/>
            </a:pPr>
            <a:r>
              <a:rPr lang="en-US" altLang="zh-CN" b="1" dirty="0">
                <a:solidFill>
                  <a:srgbClr val="000000"/>
                </a:solidFill>
                <a:latin typeface="+mj-lt"/>
                <a:ea typeface="楷体" panose="02010609060101010101" pitchFamily="49" charset="-122"/>
                <a:sym typeface="Courier" pitchFamily="125" charset="0"/>
              </a:rPr>
              <a:t>x = 5;</a:t>
            </a:r>
            <a:endParaRPr lang="en-US" altLang="zh-CN" b="1" dirty="0">
              <a:solidFill>
                <a:srgbClr val="000000"/>
              </a:solidFill>
              <a:latin typeface="+mj-lt"/>
              <a:ea typeface="楷体" panose="02010609060101010101" pitchFamily="49" charset="-122"/>
            </a:endParaRPr>
          </a:p>
          <a:p>
            <a:pPr marL="954088" lvl="1" indent="-457200">
              <a:spcBef>
                <a:spcPts val="1100"/>
              </a:spcBef>
              <a:buSzPct val="50000"/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chemeClr val="accent5">
                    <a:lumMod val="7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字面值是指输入到代码中的特定值，它可以赋值给变量</a:t>
            </a:r>
          </a:p>
          <a:p>
            <a:pPr marL="1296984" lvl="2" indent="-342900">
              <a:spcBef>
                <a:spcPts val="1100"/>
              </a:spcBef>
              <a:buSzPct val="50000"/>
              <a:buFont typeface="Wingdings" panose="05000000000000000000" pitchFamily="2" charset="2"/>
              <a:buChar char="l"/>
            </a:pPr>
            <a:r>
              <a:rPr lang="zh-CN" altLang="en-US" b="1" dirty="0">
                <a:solidFill>
                  <a:srgbClr val="000000"/>
                </a:solidFill>
                <a:latin typeface="+mj-lt"/>
                <a:ea typeface="楷体" panose="02010609060101010101" pitchFamily="49" charset="-122"/>
              </a:rPr>
              <a:t>上面的</a:t>
            </a:r>
            <a:r>
              <a:rPr lang="en-US" altLang="zh-CN" b="1" dirty="0">
                <a:solidFill>
                  <a:srgbClr val="000000"/>
                </a:solidFill>
                <a:latin typeface="+mj-lt"/>
                <a:ea typeface="楷体" panose="02010609060101010101" pitchFamily="49" charset="-122"/>
              </a:rPr>
              <a:t>5</a:t>
            </a:r>
            <a:r>
              <a:rPr lang="zh-CN" altLang="en-US" b="1" dirty="0">
                <a:solidFill>
                  <a:srgbClr val="000000"/>
                </a:solidFill>
                <a:latin typeface="+mj-lt"/>
                <a:ea typeface="楷体" panose="02010609060101010101" pitchFamily="49" charset="-122"/>
              </a:rPr>
              <a:t>是一个整型字面值</a:t>
            </a:r>
            <a:endParaRPr lang="en-US" altLang="zh-CN" b="1" dirty="0">
              <a:solidFill>
                <a:srgbClr val="000000"/>
              </a:solidFill>
              <a:latin typeface="+mj-lt"/>
              <a:ea typeface="楷体" panose="02010609060101010101" pitchFamily="49" charset="-122"/>
            </a:endParaRPr>
          </a:p>
          <a:p>
            <a:pPr marL="1296984" lvl="2" indent="-342900">
              <a:spcBef>
                <a:spcPts val="1100"/>
              </a:spcBef>
              <a:buSzPct val="50000"/>
              <a:buFont typeface="Wingdings" panose="05000000000000000000" pitchFamily="2" charset="2"/>
              <a:buChar char="l"/>
            </a:pPr>
            <a:r>
              <a:rPr lang="en-US" altLang="zh-CN" b="1" dirty="0" err="1">
                <a:solidFill>
                  <a:srgbClr val="000000"/>
                </a:solidFill>
                <a:latin typeface="+mj-lt"/>
                <a:ea typeface="楷体" panose="02010609060101010101" pitchFamily="49" charset="-122"/>
              </a:rPr>
              <a:t>字符串字面值是由双引号包围</a:t>
            </a:r>
            <a:r>
              <a:rPr lang="en-US" altLang="zh-CN" b="1" dirty="0">
                <a:solidFill>
                  <a:srgbClr val="000000"/>
                </a:solidFill>
                <a:latin typeface="+mj-lt"/>
                <a:ea typeface="楷体" panose="02010609060101010101" pitchFamily="49" charset="-122"/>
              </a:rPr>
              <a:t>: </a:t>
            </a:r>
            <a:r>
              <a:rPr lang="en-US" altLang="zh-CN" b="1" dirty="0">
                <a:solidFill>
                  <a:srgbClr val="000000"/>
                </a:solidFill>
                <a:latin typeface="+mj-lt"/>
                <a:ea typeface="楷体" panose="02010609060101010101" pitchFamily="49" charset="-122"/>
                <a:sym typeface="Courier" pitchFamily="125" charset="0"/>
              </a:rPr>
              <a:t>"Hello World!"</a:t>
            </a:r>
            <a:endParaRPr lang="en-US" altLang="zh-CN" b="1" dirty="0">
              <a:solidFill>
                <a:srgbClr val="000000"/>
              </a:solidFill>
              <a:latin typeface="+mj-lt"/>
              <a:ea typeface="楷体" panose="02010609060101010101" pitchFamily="49" charset="-122"/>
            </a:endParaRPr>
          </a:p>
          <a:p>
            <a:pPr marL="1296984" lvl="2" indent="-342900">
              <a:spcBef>
                <a:spcPts val="1100"/>
              </a:spcBef>
              <a:buSzPct val="50000"/>
              <a:buFont typeface="Wingdings" panose="05000000000000000000" pitchFamily="2" charset="2"/>
              <a:buChar char="l"/>
            </a:pPr>
            <a:r>
              <a:rPr lang="zh-CN" altLang="en-US" b="1" dirty="0">
                <a:solidFill>
                  <a:srgbClr val="000000"/>
                </a:solidFill>
                <a:latin typeface="+mj-lt"/>
                <a:ea typeface="楷体" panose="02010609060101010101" pitchFamily="49" charset="-122"/>
              </a:rPr>
              <a:t>单精度</a:t>
            </a:r>
            <a:r>
              <a:rPr lang="en-US" altLang="zh-CN" b="1" dirty="0" err="1">
                <a:solidFill>
                  <a:srgbClr val="000000"/>
                </a:solidFill>
                <a:latin typeface="+mj-lt"/>
                <a:ea typeface="楷体" panose="02010609060101010101" pitchFamily="49" charset="-122"/>
              </a:rPr>
              <a:t>浮点字面值后面需要跟一个f</a:t>
            </a:r>
            <a:r>
              <a:rPr lang="en-US" altLang="zh-CN" b="1" dirty="0">
                <a:solidFill>
                  <a:srgbClr val="000000"/>
                </a:solidFill>
                <a:latin typeface="+mj-lt"/>
                <a:ea typeface="楷体" panose="02010609060101010101" pitchFamily="49" charset="-122"/>
              </a:rPr>
              <a:t>: </a:t>
            </a:r>
            <a:r>
              <a:rPr lang="en-US" altLang="zh-CN" b="1" dirty="0">
                <a:solidFill>
                  <a:srgbClr val="000000"/>
                </a:solidFill>
                <a:latin typeface="+mj-lt"/>
                <a:ea typeface="楷体" panose="02010609060101010101" pitchFamily="49" charset="-122"/>
                <a:sym typeface="Courier" pitchFamily="125" charset="0"/>
              </a:rPr>
              <a:t>3.14f</a:t>
            </a:r>
            <a:endParaRPr lang="en-US" altLang="zh-CN" b="1" dirty="0">
              <a:solidFill>
                <a:srgbClr val="000000"/>
              </a:solidFill>
              <a:latin typeface="+mj-lt"/>
              <a:ea typeface="楷体" panose="02010609060101010101" pitchFamily="49" charset="-122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668394FA-D3DF-C5FD-27DE-05EB5B56E9CE}"/>
              </a:ext>
            </a:extLst>
          </p:cNvPr>
          <p:cNvGrpSpPr/>
          <p:nvPr/>
        </p:nvGrpSpPr>
        <p:grpSpPr>
          <a:xfrm>
            <a:off x="4645415" y="251474"/>
            <a:ext cx="2901170" cy="523226"/>
            <a:chOff x="4840431" y="207541"/>
            <a:chExt cx="2901170" cy="523226"/>
          </a:xfrm>
        </p:grpSpPr>
        <p:pic>
          <p:nvPicPr>
            <p:cNvPr id="4" name="Picture 4" descr="黑爵(AJAZZ)手柄/方向盘AG180报价_参数_图片_视频_怎么样_问答-苏宁易购">
              <a:extLst>
                <a:ext uri="{FF2B5EF4-FFF2-40B4-BE49-F238E27FC236}">
                  <a16:creationId xmlns:a16="http://schemas.microsoft.com/office/drawing/2014/main" id="{10D90470-A208-72AE-8EBF-04E96707FF7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45" t="9275" r="3752" b="5379"/>
            <a:stretch/>
          </p:blipFill>
          <p:spPr bwMode="auto">
            <a:xfrm>
              <a:off x="4840431" y="314689"/>
              <a:ext cx="407315" cy="37661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" name="Rectangle 3">
              <a:extLst>
                <a:ext uri="{FF2B5EF4-FFF2-40B4-BE49-F238E27FC236}">
                  <a16:creationId xmlns:a16="http://schemas.microsoft.com/office/drawing/2014/main" id="{21C0C224-2248-7A48-62D4-A9CF721E13B3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5298547" y="207541"/>
              <a:ext cx="2443054" cy="523226"/>
            </a:xfrm>
            <a:prstGeom prst="rect">
              <a:avLst/>
            </a:prstGeom>
            <a:noFill/>
          </p:spPr>
          <p:txBody>
            <a:bodyPr lIns="90488" tIns="44450" rIns="90488" bIns="44450"/>
            <a:lstStyle>
              <a:lvl1pPr marL="171450" indent="-17145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1pPr>
              <a:lvl2pPr marL="5143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8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2pPr>
              <a:lvl3pPr marL="8572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3pPr>
              <a:lvl4pPr marL="12001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4pPr>
              <a:lvl5pPr marL="15430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fontAlgn="base">
                <a:lnSpc>
                  <a:spcPct val="100000"/>
                </a:lnSpc>
                <a:buNone/>
              </a:pPr>
              <a:r>
                <a:rPr lang="en-US" altLang="zh-CN" sz="3200" dirty="0">
                  <a:latin typeface="Times New Roman" panose="02020603050405020304" pitchFamily="18" charset="0"/>
                  <a:ea typeface="楷体" panose="02010609060101010101" pitchFamily="49" charset="-122"/>
                  <a:sym typeface="+mn-ea"/>
                </a:rPr>
                <a:t>C# </a:t>
              </a:r>
              <a:r>
                <a:rPr lang="zh-CN" altLang="en-US" sz="3200" dirty="0">
                  <a:latin typeface="Times New Roman" panose="02020603050405020304" pitchFamily="18" charset="0"/>
                  <a:ea typeface="楷体" panose="02010609060101010101" pitchFamily="49" charset="-122"/>
                  <a:sym typeface="+mn-ea"/>
                </a:rPr>
                <a:t>中的变量</a:t>
              </a:r>
            </a:p>
          </p:txBody>
        </p:sp>
      </p:grpSp>
    </p:spTree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C39B676B-2E96-9181-8BEA-EE52970847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14010770-49D6-5460-FE36-9C0F007E7203}"/>
              </a:ext>
            </a:extLst>
          </p:cNvPr>
          <p:cNvGrpSpPr/>
          <p:nvPr/>
        </p:nvGrpSpPr>
        <p:grpSpPr>
          <a:xfrm>
            <a:off x="3630807" y="251474"/>
            <a:ext cx="4930385" cy="523226"/>
            <a:chOff x="4840431" y="207541"/>
            <a:chExt cx="4930385" cy="523226"/>
          </a:xfrm>
        </p:grpSpPr>
        <p:pic>
          <p:nvPicPr>
            <p:cNvPr id="6" name="Picture 4" descr="黑爵(AJAZZ)手柄/方向盘AG180报价_参数_图片_视频_怎么样_问答-苏宁易购">
              <a:extLst>
                <a:ext uri="{FF2B5EF4-FFF2-40B4-BE49-F238E27FC236}">
                  <a16:creationId xmlns:a16="http://schemas.microsoft.com/office/drawing/2014/main" id="{0248C22F-EE2C-2AFE-79A7-DF3D4E517F7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45" t="9275" r="3752" b="5379"/>
            <a:stretch/>
          </p:blipFill>
          <p:spPr bwMode="auto">
            <a:xfrm>
              <a:off x="4840431" y="314689"/>
              <a:ext cx="407315" cy="37661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" name="Rectangle 3">
              <a:extLst>
                <a:ext uri="{FF2B5EF4-FFF2-40B4-BE49-F238E27FC236}">
                  <a16:creationId xmlns:a16="http://schemas.microsoft.com/office/drawing/2014/main" id="{2CA9C851-6404-1A88-E1D9-46D0F7A5B107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5298546" y="207541"/>
              <a:ext cx="4472270" cy="523226"/>
            </a:xfrm>
            <a:prstGeom prst="rect">
              <a:avLst/>
            </a:prstGeom>
            <a:noFill/>
          </p:spPr>
          <p:txBody>
            <a:bodyPr lIns="90488" tIns="44450" rIns="90488" bIns="44450"/>
            <a:lstStyle>
              <a:lvl1pPr marL="171450" indent="-17145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1pPr>
              <a:lvl2pPr marL="5143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8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2pPr>
              <a:lvl3pPr marL="8572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3pPr>
              <a:lvl4pPr marL="12001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4pPr>
              <a:lvl5pPr marL="15430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fontAlgn="base">
                <a:lnSpc>
                  <a:spcPct val="100000"/>
                </a:lnSpc>
                <a:buNone/>
              </a:pPr>
              <a:r>
                <a:rPr lang="zh-CN" altLang="en-US" sz="3200" dirty="0">
                  <a:latin typeface="Times New Roman" panose="02020603050405020304" pitchFamily="18" charset="0"/>
                  <a:ea typeface="楷体" panose="02010609060101010101" pitchFamily="49" charset="-122"/>
                  <a:sym typeface="+mn-ea"/>
                </a:rPr>
                <a:t>重要的</a:t>
              </a:r>
              <a:r>
                <a:rPr lang="en-US" altLang="zh-CN" sz="3200" dirty="0">
                  <a:latin typeface="Times New Roman" panose="02020603050405020304" pitchFamily="18" charset="0"/>
                  <a:ea typeface="楷体" panose="02010609060101010101" pitchFamily="49" charset="-122"/>
                  <a:sym typeface="+mn-ea"/>
                </a:rPr>
                <a:t>C# </a:t>
              </a:r>
              <a:r>
                <a:rPr lang="zh-CN" altLang="en-US" sz="3200" dirty="0">
                  <a:latin typeface="Times New Roman" panose="02020603050405020304" pitchFamily="18" charset="0"/>
                  <a:ea typeface="楷体" panose="02010609060101010101" pitchFamily="49" charset="-122"/>
                  <a:sym typeface="+mn-ea"/>
                </a:rPr>
                <a:t>中的变量类型</a:t>
              </a:r>
            </a:p>
          </p:txBody>
        </p:sp>
      </p:grp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BA6CE7A1-CA4B-D5CC-8D92-23B521E13A2C}"/>
              </a:ext>
            </a:extLst>
          </p:cNvPr>
          <p:cNvSpPr/>
          <p:nvPr/>
        </p:nvSpPr>
        <p:spPr>
          <a:xfrm>
            <a:off x="2215687" y="2238110"/>
            <a:ext cx="2305209" cy="609639"/>
          </a:xfrm>
          <a:prstGeom prst="roundRect">
            <a:avLst>
              <a:gd name="adj" fmla="val 3791"/>
            </a:avLst>
          </a:prstGeom>
          <a:gradFill>
            <a:gsLst>
              <a:gs pos="0">
                <a:srgbClr val="7030A0">
                  <a:alpha val="5000"/>
                </a:srgbClr>
              </a:gs>
              <a:gs pos="100000">
                <a:srgbClr val="00B0F0">
                  <a:alpha val="5000"/>
                </a:srgbClr>
              </a:gs>
            </a:gsLst>
            <a:lin ang="13500000" scaled="1"/>
          </a:gradFill>
          <a:ln>
            <a:gradFill>
              <a:gsLst>
                <a:gs pos="0">
                  <a:srgbClr val="0070C0"/>
                </a:gs>
                <a:gs pos="100000">
                  <a:srgbClr val="7030A0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108000" rtlCol="0" anchor="ctr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2800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宋体" panose="02010600030101010101" pitchFamily="2" charset="-122"/>
                <a:sym typeface="+mn-ea"/>
              </a:rPr>
              <a:t>b</a:t>
            </a:r>
            <a:r>
              <a:rPr lang="en-US" altLang="zh-CN" sz="28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宋体" panose="02010600030101010101" pitchFamily="2" charset="-122"/>
                <a:sym typeface="+mn-ea"/>
              </a:rPr>
              <a:t>ool</a:t>
            </a:r>
            <a:endParaRPr lang="zh-CN" altLang="en-US" sz="28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楷体" panose="02010609060101010101" pitchFamily="49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BBD9B154-4B65-BD2A-3DA5-EE71A9D1F497}"/>
              </a:ext>
            </a:extLst>
          </p:cNvPr>
          <p:cNvSpPr/>
          <p:nvPr/>
        </p:nvSpPr>
        <p:spPr>
          <a:xfrm>
            <a:off x="4805248" y="2238109"/>
            <a:ext cx="2305209" cy="609639"/>
          </a:xfrm>
          <a:prstGeom prst="roundRect">
            <a:avLst>
              <a:gd name="adj" fmla="val 3791"/>
            </a:avLst>
          </a:prstGeom>
          <a:gradFill>
            <a:gsLst>
              <a:gs pos="0">
                <a:srgbClr val="7030A0">
                  <a:alpha val="5000"/>
                </a:srgbClr>
              </a:gs>
              <a:gs pos="100000">
                <a:srgbClr val="00B0F0">
                  <a:alpha val="5000"/>
                </a:srgbClr>
              </a:gs>
            </a:gsLst>
            <a:lin ang="13500000" scaled="1"/>
          </a:gradFill>
          <a:ln>
            <a:gradFill>
              <a:gsLst>
                <a:gs pos="0">
                  <a:srgbClr val="0070C0"/>
                </a:gs>
                <a:gs pos="100000">
                  <a:srgbClr val="7030A0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108000" rtlCol="0" anchor="ctr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2800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宋体" panose="02010600030101010101" pitchFamily="2" charset="-122"/>
                <a:sym typeface="+mn-ea"/>
              </a:rPr>
              <a:t>int</a:t>
            </a:r>
            <a:endParaRPr lang="zh-CN" altLang="en-US" sz="28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楷体" panose="02010609060101010101" pitchFamily="49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B4B8E2B6-7B03-9FE2-83D2-56CD14E4882D}"/>
              </a:ext>
            </a:extLst>
          </p:cNvPr>
          <p:cNvSpPr/>
          <p:nvPr/>
        </p:nvSpPr>
        <p:spPr>
          <a:xfrm>
            <a:off x="4803341" y="3126446"/>
            <a:ext cx="2305209" cy="609639"/>
          </a:xfrm>
          <a:prstGeom prst="roundRect">
            <a:avLst>
              <a:gd name="adj" fmla="val 3791"/>
            </a:avLst>
          </a:prstGeom>
          <a:gradFill>
            <a:gsLst>
              <a:gs pos="0">
                <a:srgbClr val="7030A0">
                  <a:alpha val="5000"/>
                </a:srgbClr>
              </a:gs>
              <a:gs pos="100000">
                <a:srgbClr val="00B0F0">
                  <a:alpha val="5000"/>
                </a:srgbClr>
              </a:gs>
            </a:gsLst>
            <a:lin ang="13500000" scaled="1"/>
          </a:gradFill>
          <a:ln>
            <a:gradFill>
              <a:gsLst>
                <a:gs pos="0">
                  <a:srgbClr val="0070C0"/>
                </a:gs>
                <a:gs pos="100000">
                  <a:srgbClr val="7030A0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108000" rtlCol="0" anchor="ctr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2800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sym typeface="+mn-ea"/>
              </a:rPr>
              <a:t>string</a:t>
            </a:r>
            <a:endParaRPr lang="zh-CN" altLang="en-US" sz="2800" dirty="0">
              <a:solidFill>
                <a:schemeClr val="tx1"/>
              </a:solidFill>
              <a:latin typeface="Times New Roman" panose="02020603050405020304" pitchFamily="18" charset="0"/>
              <a:ea typeface="楷体" panose="02010609060101010101" pitchFamily="49" charset="-122"/>
              <a:sym typeface="+mn-ea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AFA5F7B-128D-D4B0-07D8-C92CF4E61A6E}"/>
              </a:ext>
            </a:extLst>
          </p:cNvPr>
          <p:cNvSpPr/>
          <p:nvPr/>
        </p:nvSpPr>
        <p:spPr>
          <a:xfrm>
            <a:off x="2215687" y="3126446"/>
            <a:ext cx="2305209" cy="609639"/>
          </a:xfrm>
          <a:prstGeom prst="roundRect">
            <a:avLst>
              <a:gd name="adj" fmla="val 3791"/>
            </a:avLst>
          </a:prstGeom>
          <a:gradFill>
            <a:gsLst>
              <a:gs pos="0">
                <a:srgbClr val="7030A0">
                  <a:alpha val="5000"/>
                </a:srgbClr>
              </a:gs>
              <a:gs pos="100000">
                <a:srgbClr val="00B0F0">
                  <a:alpha val="5000"/>
                </a:srgbClr>
              </a:gs>
            </a:gsLst>
            <a:lin ang="13500000" scaled="1"/>
          </a:gradFill>
          <a:ln>
            <a:gradFill>
              <a:gsLst>
                <a:gs pos="0">
                  <a:srgbClr val="0070C0"/>
                </a:gs>
                <a:gs pos="100000">
                  <a:srgbClr val="7030A0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108000" rtlCol="0" anchor="ctr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2800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宋体" panose="02010600030101010101" pitchFamily="2" charset="-122"/>
                <a:sym typeface="+mn-ea"/>
              </a:rPr>
              <a:t>char</a:t>
            </a:r>
            <a:endParaRPr lang="zh-CN" altLang="en-US" sz="28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楷体" panose="02010609060101010101" pitchFamily="49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D705AB97-C6CF-569D-2AB6-1D5E8ECEBF99}"/>
              </a:ext>
            </a:extLst>
          </p:cNvPr>
          <p:cNvSpPr/>
          <p:nvPr/>
        </p:nvSpPr>
        <p:spPr>
          <a:xfrm>
            <a:off x="7392903" y="2238111"/>
            <a:ext cx="2305209" cy="609639"/>
          </a:xfrm>
          <a:prstGeom prst="roundRect">
            <a:avLst>
              <a:gd name="adj" fmla="val 3791"/>
            </a:avLst>
          </a:prstGeom>
          <a:gradFill>
            <a:gsLst>
              <a:gs pos="0">
                <a:srgbClr val="7030A0">
                  <a:alpha val="5000"/>
                </a:srgbClr>
              </a:gs>
              <a:gs pos="100000">
                <a:srgbClr val="00B0F0">
                  <a:alpha val="5000"/>
                </a:srgbClr>
              </a:gs>
            </a:gsLst>
            <a:lin ang="13500000" scaled="1"/>
          </a:gradFill>
          <a:ln>
            <a:gradFill>
              <a:gsLst>
                <a:gs pos="0">
                  <a:srgbClr val="0070C0"/>
                </a:gs>
                <a:gs pos="100000">
                  <a:srgbClr val="7030A0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108000" rtlCol="0" anchor="ctr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2800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宋体" panose="02010600030101010101" pitchFamily="2" charset="-122"/>
                <a:sym typeface="+mn-ea"/>
              </a:rPr>
              <a:t>float</a:t>
            </a:r>
            <a:endParaRPr lang="zh-CN" altLang="en-US" sz="28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楷体" panose="02010609060101010101" pitchFamily="49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3783A8B4-641C-5F5D-8EC5-1C0F3C6BB73A}"/>
              </a:ext>
            </a:extLst>
          </p:cNvPr>
          <p:cNvSpPr/>
          <p:nvPr/>
        </p:nvSpPr>
        <p:spPr>
          <a:xfrm>
            <a:off x="7392903" y="3126446"/>
            <a:ext cx="2305209" cy="609639"/>
          </a:xfrm>
          <a:prstGeom prst="roundRect">
            <a:avLst>
              <a:gd name="adj" fmla="val 3791"/>
            </a:avLst>
          </a:prstGeom>
          <a:gradFill>
            <a:gsLst>
              <a:gs pos="0">
                <a:srgbClr val="7030A0">
                  <a:alpha val="5000"/>
                </a:srgbClr>
              </a:gs>
              <a:gs pos="100000">
                <a:srgbClr val="00B0F0">
                  <a:alpha val="5000"/>
                </a:srgbClr>
              </a:gs>
            </a:gsLst>
            <a:lin ang="13500000" scaled="1"/>
          </a:gradFill>
          <a:ln>
            <a:gradFill>
              <a:gsLst>
                <a:gs pos="0">
                  <a:srgbClr val="0070C0"/>
                </a:gs>
                <a:gs pos="100000">
                  <a:srgbClr val="7030A0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108000" rtlCol="0" anchor="ctr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2800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宋体" panose="02010600030101010101" pitchFamily="2" charset="-122"/>
                <a:sym typeface="+mn-ea"/>
              </a:rPr>
              <a:t>class</a:t>
            </a:r>
            <a:endParaRPr lang="zh-CN" altLang="en-US" sz="28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楷体" panose="02010609060101010101" pitchFamily="49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E4EB6F9A-F457-587B-6A6F-6B61E03767A6}"/>
              </a:ext>
            </a:extLst>
          </p:cNvPr>
          <p:cNvSpPr txBox="1"/>
          <p:nvPr/>
        </p:nvSpPr>
        <p:spPr>
          <a:xfrm>
            <a:off x="3021089" y="3895651"/>
            <a:ext cx="623810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9688" algn="ctr">
              <a:spcBef>
                <a:spcPts val="1100"/>
              </a:spcBef>
              <a:buSzPct val="50000"/>
            </a:pPr>
            <a:r>
              <a:rPr lang="en-US" altLang="zh-CN" sz="2800" b="1" dirty="0">
                <a:solidFill>
                  <a:schemeClr val="accent5">
                    <a:lumMod val="7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C# </a:t>
            </a:r>
            <a:r>
              <a:rPr lang="zh-CN" altLang="en-US" sz="2800" b="1" dirty="0">
                <a:solidFill>
                  <a:schemeClr val="accent5">
                    <a:lumMod val="7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基础变量类型都以小写字母开头</a:t>
            </a:r>
          </a:p>
        </p:txBody>
      </p:sp>
    </p:spTree>
    <p:extLst>
      <p:ext uri="{BB962C8B-B14F-4D97-AF65-F5344CB8AC3E}">
        <p14:creationId xmlns:p14="http://schemas.microsoft.com/office/powerpoint/2010/main" val="3097196721"/>
      </p:ext>
    </p:extLst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E9E86697-AA1D-059E-CCF9-0D943C6F41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565346EC-C2CE-6FFE-F955-F7056DA1AD67}"/>
              </a:ext>
            </a:extLst>
          </p:cNvPr>
          <p:cNvGrpSpPr/>
          <p:nvPr/>
        </p:nvGrpSpPr>
        <p:grpSpPr>
          <a:xfrm>
            <a:off x="3630807" y="251474"/>
            <a:ext cx="4930385" cy="523226"/>
            <a:chOff x="4840431" y="207541"/>
            <a:chExt cx="4930385" cy="523226"/>
          </a:xfrm>
        </p:grpSpPr>
        <p:pic>
          <p:nvPicPr>
            <p:cNvPr id="6" name="Picture 4" descr="黑爵(AJAZZ)手柄/方向盘AG180报价_参数_图片_视频_怎么样_问答-苏宁易购">
              <a:extLst>
                <a:ext uri="{FF2B5EF4-FFF2-40B4-BE49-F238E27FC236}">
                  <a16:creationId xmlns:a16="http://schemas.microsoft.com/office/drawing/2014/main" id="{1130275B-94B5-7DCE-1A54-31E70D14430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45" t="9275" r="3752" b="5379"/>
            <a:stretch/>
          </p:blipFill>
          <p:spPr bwMode="auto">
            <a:xfrm>
              <a:off x="4840431" y="314689"/>
              <a:ext cx="407315" cy="37661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" name="Rectangle 3">
              <a:extLst>
                <a:ext uri="{FF2B5EF4-FFF2-40B4-BE49-F238E27FC236}">
                  <a16:creationId xmlns:a16="http://schemas.microsoft.com/office/drawing/2014/main" id="{9439CDCB-8AF1-A459-E944-084EB83BA845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5298546" y="207541"/>
              <a:ext cx="4472270" cy="523226"/>
            </a:xfrm>
            <a:prstGeom prst="rect">
              <a:avLst/>
            </a:prstGeom>
            <a:noFill/>
          </p:spPr>
          <p:txBody>
            <a:bodyPr lIns="90488" tIns="44450" rIns="90488" bIns="44450"/>
            <a:lstStyle>
              <a:lvl1pPr marL="171450" indent="-17145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1pPr>
              <a:lvl2pPr marL="5143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8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2pPr>
              <a:lvl3pPr marL="8572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3pPr>
              <a:lvl4pPr marL="12001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4pPr>
              <a:lvl5pPr marL="15430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fontAlgn="base">
                <a:lnSpc>
                  <a:spcPct val="100000"/>
                </a:lnSpc>
                <a:buNone/>
              </a:pPr>
              <a:r>
                <a:rPr lang="zh-CN" altLang="en-US" sz="3200" dirty="0">
                  <a:latin typeface="Times New Roman" panose="02020603050405020304" pitchFamily="18" charset="0"/>
                  <a:ea typeface="楷体" panose="02010609060101010101" pitchFamily="49" charset="-122"/>
                  <a:sym typeface="+mn-ea"/>
                </a:rPr>
                <a:t>重要的</a:t>
              </a:r>
              <a:r>
                <a:rPr lang="en-US" altLang="zh-CN" sz="3200" dirty="0">
                  <a:latin typeface="Times New Roman" panose="02020603050405020304" pitchFamily="18" charset="0"/>
                  <a:ea typeface="楷体" panose="02010609060101010101" pitchFamily="49" charset="-122"/>
                  <a:sym typeface="+mn-ea"/>
                </a:rPr>
                <a:t>C# </a:t>
              </a:r>
              <a:r>
                <a:rPr lang="zh-CN" altLang="en-US" sz="3200" dirty="0">
                  <a:latin typeface="Times New Roman" panose="02020603050405020304" pitchFamily="18" charset="0"/>
                  <a:ea typeface="楷体" panose="02010609060101010101" pitchFamily="49" charset="-122"/>
                  <a:sym typeface="+mn-ea"/>
                </a:rPr>
                <a:t>中的变量类型</a:t>
              </a:r>
            </a:p>
          </p:txBody>
        </p:sp>
      </p:grp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CDCC6D61-7E5C-88AE-B0BD-AA2B43F20724}"/>
              </a:ext>
            </a:extLst>
          </p:cNvPr>
          <p:cNvSpPr/>
          <p:nvPr/>
        </p:nvSpPr>
        <p:spPr>
          <a:xfrm>
            <a:off x="2832810" y="1306649"/>
            <a:ext cx="6708610" cy="609639"/>
          </a:xfrm>
          <a:prstGeom prst="roundRect">
            <a:avLst>
              <a:gd name="adj" fmla="val 3791"/>
            </a:avLst>
          </a:prstGeom>
          <a:gradFill>
            <a:gsLst>
              <a:gs pos="0">
                <a:srgbClr val="7030A0">
                  <a:alpha val="5000"/>
                </a:srgbClr>
              </a:gs>
              <a:gs pos="100000">
                <a:srgbClr val="00B0F0">
                  <a:alpha val="5000"/>
                </a:srgbClr>
              </a:gs>
            </a:gsLst>
            <a:lin ang="13500000" scaled="1"/>
          </a:gradFill>
          <a:ln>
            <a:gradFill>
              <a:gsLst>
                <a:gs pos="0">
                  <a:srgbClr val="0070C0"/>
                </a:gs>
                <a:gs pos="100000">
                  <a:srgbClr val="7030A0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108000" rtlCol="0" anchor="ctr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2000" b="1" dirty="0">
                <a:solidFill>
                  <a:srgbClr val="A7357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bool</a:t>
            </a:r>
            <a:r>
              <a:rPr lang="zh-CN" altLang="en-US" sz="2000" b="1" dirty="0">
                <a:solidFill>
                  <a:srgbClr val="A7357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：</a:t>
            </a:r>
            <a:r>
              <a:rPr lang="zh-CN" altLang="en-US" sz="2000" b="1" dirty="0">
                <a:solidFill>
                  <a:srgbClr val="A7357F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宋体" panose="02010600030101010101" pitchFamily="2" charset="-122"/>
                <a:sym typeface="+mn-ea"/>
              </a:rPr>
              <a:t>一个二进制位的真值（</a:t>
            </a:r>
            <a:r>
              <a:rPr lang="en-US" altLang="zh-CN" sz="2000" b="1" dirty="0">
                <a:solidFill>
                  <a:srgbClr val="A7357F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宋体" panose="02010600030101010101" pitchFamily="2" charset="-122"/>
                <a:sym typeface="+mn-ea"/>
              </a:rPr>
              <a:t>true</a:t>
            </a:r>
            <a:r>
              <a:rPr lang="zh-CN" altLang="en-US" sz="2000" b="1" dirty="0">
                <a:solidFill>
                  <a:srgbClr val="A7357F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宋体" panose="02010600030101010101" pitchFamily="2" charset="-122"/>
                <a:sym typeface="+mn-ea"/>
              </a:rPr>
              <a:t>）或假值（</a:t>
            </a:r>
            <a:r>
              <a:rPr lang="en-US" altLang="zh-CN" sz="2000" b="1" dirty="0">
                <a:solidFill>
                  <a:srgbClr val="A7357F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宋体" panose="02010600030101010101" pitchFamily="2" charset="-122"/>
                <a:sym typeface="+mn-ea"/>
              </a:rPr>
              <a:t>false</a:t>
            </a:r>
            <a:r>
              <a:rPr lang="zh-CN" altLang="en-US" sz="2000" b="1" dirty="0">
                <a:solidFill>
                  <a:srgbClr val="A7357F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宋体" panose="02010600030101010101" pitchFamily="2" charset="-122"/>
                <a:sym typeface="+mn-ea"/>
              </a:rPr>
              <a:t>）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EA884C55-9CD9-8541-0A6D-1D1A6909E048}"/>
              </a:ext>
            </a:extLst>
          </p:cNvPr>
          <p:cNvSpPr/>
          <p:nvPr/>
        </p:nvSpPr>
        <p:spPr>
          <a:xfrm>
            <a:off x="2832810" y="2052301"/>
            <a:ext cx="6708609" cy="4004208"/>
          </a:xfrm>
          <a:prstGeom prst="roundRect">
            <a:avLst>
              <a:gd name="adj" fmla="val 1731"/>
            </a:avLst>
          </a:prstGeom>
          <a:gradFill>
            <a:gsLst>
              <a:gs pos="0">
                <a:srgbClr val="7030A0">
                  <a:alpha val="5000"/>
                </a:srgbClr>
              </a:gs>
              <a:gs pos="100000">
                <a:srgbClr val="00B0F0">
                  <a:alpha val="5000"/>
                </a:srgbClr>
              </a:gs>
            </a:gsLst>
            <a:lin ang="13500000" scaled="1"/>
          </a:gradFill>
          <a:ln>
            <a:gradFill>
              <a:gsLst>
                <a:gs pos="0">
                  <a:srgbClr val="0070C0"/>
                </a:gs>
                <a:gs pos="100000">
                  <a:srgbClr val="7030A0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108000" rtlCol="0" anchor="ctr">
            <a:noAutofit/>
          </a:bodyPr>
          <a:lstStyle/>
          <a:p>
            <a:pPr marL="839788" lvl="1" indent="-342900">
              <a:spcBef>
                <a:spcPts val="1100"/>
              </a:spcBef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A7357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是</a:t>
            </a:r>
            <a:r>
              <a:rPr lang="en-US" altLang="zh-CN" sz="2000" b="1" dirty="0">
                <a:solidFill>
                  <a:srgbClr val="A7357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Boolean</a:t>
            </a:r>
            <a:r>
              <a:rPr lang="zh-CN" altLang="en-US" sz="2000" b="1" dirty="0">
                <a:solidFill>
                  <a:srgbClr val="A7357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的缩写</a:t>
            </a:r>
          </a:p>
          <a:p>
            <a:pPr marL="839788" lvl="1" indent="-342900">
              <a:spcBef>
                <a:spcPts val="1100"/>
              </a:spcBef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A7357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以乔治</a:t>
            </a:r>
            <a:r>
              <a:rPr lang="en-US" altLang="zh-CN" sz="2000" b="1" dirty="0">
                <a:solidFill>
                  <a:srgbClr val="A7357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·</a:t>
            </a:r>
            <a:r>
              <a:rPr lang="zh-CN" altLang="en-US" sz="2000" b="1" dirty="0">
                <a:solidFill>
                  <a:srgbClr val="A7357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布尔</a:t>
            </a:r>
            <a:r>
              <a:rPr lang="en-US" altLang="zh-CN" sz="2000" b="1" dirty="0">
                <a:solidFill>
                  <a:srgbClr val="A7357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(</a:t>
            </a:r>
            <a:r>
              <a:rPr lang="zh-CN" altLang="en-US" sz="2000" b="1" dirty="0">
                <a:solidFill>
                  <a:srgbClr val="A7357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英国数学家</a:t>
            </a:r>
            <a:r>
              <a:rPr lang="en-US" altLang="zh-CN" sz="2000" b="1" dirty="0">
                <a:solidFill>
                  <a:srgbClr val="A7357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)</a:t>
            </a:r>
            <a:r>
              <a:rPr lang="zh-CN" altLang="en-US" sz="2000" b="1" dirty="0">
                <a:solidFill>
                  <a:srgbClr val="A7357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的名字命名的 </a:t>
            </a:r>
          </a:p>
          <a:p>
            <a:pPr marL="839788" lvl="1" indent="-342900">
              <a:spcBef>
                <a:spcPts val="1100"/>
              </a:spcBef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A7357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布尔类型在</a:t>
            </a:r>
            <a:r>
              <a:rPr lang="en-US" altLang="zh-CN" sz="2000" b="1" dirty="0">
                <a:solidFill>
                  <a:srgbClr val="A7357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C#</a:t>
            </a:r>
            <a:r>
              <a:rPr lang="zh-CN" altLang="en-US" sz="2000" b="1" dirty="0">
                <a:solidFill>
                  <a:srgbClr val="A7357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中实际上占用的空间超过</a:t>
            </a:r>
            <a:r>
              <a:rPr lang="en-US" altLang="zh-CN" sz="2000" b="1" dirty="0">
                <a:solidFill>
                  <a:srgbClr val="A7357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1bit</a:t>
            </a:r>
          </a:p>
          <a:p>
            <a:pPr marL="1239838" lvl="2" indent="-285750">
              <a:spcBef>
                <a:spcPts val="700"/>
              </a:spcBef>
              <a:buFont typeface="Wingdings" panose="05000000000000000000" pitchFamily="2" charset="2"/>
              <a:buChar char="l"/>
            </a:pPr>
            <a:r>
              <a:rPr lang="zh-CN" altLang="en-US" sz="1800" b="1" dirty="0">
                <a:solidFill>
                  <a:srgbClr val="000000"/>
                </a:solidFill>
                <a:latin typeface="+mj-lt"/>
                <a:ea typeface="楷体" panose="02010609060101010101" pitchFamily="49" charset="-122"/>
              </a:rPr>
              <a:t>在</a:t>
            </a:r>
            <a:r>
              <a:rPr lang="en-US" altLang="zh-CN" sz="1800" b="1" dirty="0">
                <a:solidFill>
                  <a:srgbClr val="000000"/>
                </a:solidFill>
                <a:latin typeface="+mj-lt"/>
                <a:ea typeface="楷体" panose="02010609060101010101" pitchFamily="49" charset="-122"/>
              </a:rPr>
              <a:t>32</a:t>
            </a:r>
            <a:r>
              <a:rPr lang="zh-CN" altLang="en-US" sz="1800" b="1" dirty="0">
                <a:solidFill>
                  <a:srgbClr val="000000"/>
                </a:solidFill>
                <a:latin typeface="+mj-lt"/>
                <a:ea typeface="楷体" panose="02010609060101010101" pitchFamily="49" charset="-122"/>
              </a:rPr>
              <a:t>位系统上，最小可寻址的内存单元是</a:t>
            </a:r>
            <a:r>
              <a:rPr lang="en-US" altLang="zh-CN" sz="1800" b="1" dirty="0">
                <a:solidFill>
                  <a:srgbClr val="000000"/>
                </a:solidFill>
                <a:latin typeface="+mj-lt"/>
                <a:ea typeface="楷体" panose="02010609060101010101" pitchFamily="49" charset="-122"/>
              </a:rPr>
              <a:t>32bits.</a:t>
            </a:r>
          </a:p>
          <a:p>
            <a:pPr marL="1239838" lvl="2" indent="-285750">
              <a:spcBef>
                <a:spcPts val="700"/>
              </a:spcBef>
              <a:buFont typeface="Wingdings" panose="05000000000000000000" pitchFamily="2" charset="2"/>
              <a:buChar char="l"/>
            </a:pPr>
            <a:r>
              <a:rPr lang="zh-CN" altLang="en-US" sz="1800" b="1" dirty="0">
                <a:solidFill>
                  <a:srgbClr val="000000"/>
                </a:solidFill>
                <a:latin typeface="+mj-lt"/>
                <a:ea typeface="楷体" panose="02010609060101010101" pitchFamily="49" charset="-122"/>
              </a:rPr>
              <a:t>在</a:t>
            </a:r>
            <a:r>
              <a:rPr lang="en-US" altLang="zh-CN" sz="1800" b="1" dirty="0">
                <a:solidFill>
                  <a:srgbClr val="000000"/>
                </a:solidFill>
                <a:latin typeface="+mj-lt"/>
                <a:ea typeface="楷体" panose="02010609060101010101" pitchFamily="49" charset="-122"/>
              </a:rPr>
              <a:t>64</a:t>
            </a:r>
            <a:r>
              <a:rPr lang="zh-CN" altLang="en-US" sz="1800" b="1" dirty="0">
                <a:solidFill>
                  <a:srgbClr val="000000"/>
                </a:solidFill>
                <a:latin typeface="+mj-lt"/>
                <a:ea typeface="楷体" panose="02010609060101010101" pitchFamily="49" charset="-122"/>
              </a:rPr>
              <a:t>位系统上，最小可寻址的内存单元是</a:t>
            </a:r>
            <a:r>
              <a:rPr lang="en-US" altLang="zh-CN" sz="1800" b="1" dirty="0">
                <a:solidFill>
                  <a:srgbClr val="000000"/>
                </a:solidFill>
                <a:latin typeface="+mj-lt"/>
                <a:ea typeface="楷体" panose="02010609060101010101" pitchFamily="49" charset="-122"/>
              </a:rPr>
              <a:t>64bits.</a:t>
            </a:r>
          </a:p>
          <a:p>
            <a:pPr marL="839788" lvl="1" indent="-342900">
              <a:spcBef>
                <a:spcPts val="1100"/>
              </a:spcBef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A7357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示例</a:t>
            </a:r>
            <a:endParaRPr lang="en-US" altLang="zh-CN" sz="2000" b="1" dirty="0">
              <a:solidFill>
                <a:srgbClr val="A7357F"/>
              </a:solidFill>
              <a:latin typeface="楷体" panose="02010609060101010101" pitchFamily="49" charset="-122"/>
              <a:ea typeface="楷体" panose="02010609060101010101" pitchFamily="49" charset="-122"/>
              <a:sym typeface="Courier" pitchFamily="125" charset="0"/>
            </a:endParaRPr>
          </a:p>
          <a:p>
            <a:pPr marL="1239838" lvl="2" indent="-285750">
              <a:spcBef>
                <a:spcPts val="700"/>
              </a:spcBef>
              <a:buFont typeface="Wingdings" panose="05000000000000000000" pitchFamily="2" charset="2"/>
              <a:buChar char="l"/>
            </a:pPr>
            <a:r>
              <a:rPr lang="zh-CN" altLang="en-US" b="1" dirty="0">
                <a:solidFill>
                  <a:srgbClr val="000000"/>
                </a:solidFill>
                <a:latin typeface="+mj-lt"/>
                <a:ea typeface="楷体" panose="02010609060101010101" pitchFamily="49" charset="-122"/>
                <a:sym typeface="Courier" pitchFamily="125" charset="0"/>
              </a:rPr>
              <a:t>字面值：</a:t>
            </a:r>
            <a:r>
              <a:rPr lang="en-US" altLang="zh-CN" b="1" dirty="0">
                <a:solidFill>
                  <a:srgbClr val="000000"/>
                </a:solidFill>
                <a:latin typeface="+mj-lt"/>
                <a:ea typeface="楷体" panose="02010609060101010101" pitchFamily="49" charset="-122"/>
                <a:sym typeface="Courier" pitchFamily="125" charset="0"/>
              </a:rPr>
              <a:t>true,</a:t>
            </a:r>
            <a:r>
              <a:rPr lang="zh-CN" altLang="en-US" b="1" dirty="0">
                <a:solidFill>
                  <a:srgbClr val="000000"/>
                </a:solidFill>
                <a:latin typeface="+mj-lt"/>
                <a:ea typeface="楷体" panose="02010609060101010101" pitchFamily="49" charset="-122"/>
                <a:sym typeface="Courier" pitchFamily="125" charset="0"/>
              </a:rPr>
              <a:t> </a:t>
            </a:r>
            <a:r>
              <a:rPr lang="en-US" altLang="zh-CN" b="1" dirty="0">
                <a:solidFill>
                  <a:srgbClr val="000000"/>
                </a:solidFill>
                <a:latin typeface="+mj-lt"/>
                <a:ea typeface="楷体" panose="02010609060101010101" pitchFamily="49" charset="-122"/>
                <a:sym typeface="Courier" pitchFamily="125" charset="0"/>
              </a:rPr>
              <a:t>false     </a:t>
            </a:r>
            <a:endParaRPr lang="en-US" altLang="zh-CN" b="1" dirty="0">
              <a:solidFill>
                <a:srgbClr val="000000"/>
              </a:solidFill>
              <a:latin typeface="+mj-lt"/>
              <a:ea typeface="楷体" panose="02010609060101010101" pitchFamily="49" charset="-122"/>
            </a:endParaRPr>
          </a:p>
          <a:p>
            <a:pPr marL="1239838" lvl="2" indent="-285750">
              <a:spcBef>
                <a:spcPts val="700"/>
              </a:spcBef>
              <a:buFont typeface="Wingdings" panose="05000000000000000000" pitchFamily="2" charset="2"/>
              <a:buChar char="l"/>
            </a:pPr>
            <a:r>
              <a:rPr lang="en-US" altLang="zh-CN" b="1" dirty="0">
                <a:solidFill>
                  <a:srgbClr val="000000"/>
                </a:solidFill>
                <a:latin typeface="+mj-lt"/>
                <a:ea typeface="楷体" panose="02010609060101010101" pitchFamily="49" charset="-122"/>
                <a:sym typeface="Courier" pitchFamily="125" charset="0"/>
              </a:rPr>
              <a:t>bool verified = true;</a:t>
            </a:r>
            <a:endParaRPr lang="en-US" altLang="zh-CN" b="1" dirty="0">
              <a:solidFill>
                <a:srgbClr val="000000"/>
              </a:solidFill>
              <a:latin typeface="+mj-lt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71272435"/>
      </p:ext>
    </p:extLst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79C8686B-6597-465E-DFFE-63DBA38504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BADE5803-AE70-7FFE-0962-CDE7D713ED67}"/>
              </a:ext>
            </a:extLst>
          </p:cNvPr>
          <p:cNvGrpSpPr/>
          <p:nvPr/>
        </p:nvGrpSpPr>
        <p:grpSpPr>
          <a:xfrm>
            <a:off x="3630807" y="251474"/>
            <a:ext cx="4930385" cy="523226"/>
            <a:chOff x="4840431" y="207541"/>
            <a:chExt cx="4930385" cy="523226"/>
          </a:xfrm>
        </p:grpSpPr>
        <p:pic>
          <p:nvPicPr>
            <p:cNvPr id="6" name="Picture 4" descr="黑爵(AJAZZ)手柄/方向盘AG180报价_参数_图片_视频_怎么样_问答-苏宁易购">
              <a:extLst>
                <a:ext uri="{FF2B5EF4-FFF2-40B4-BE49-F238E27FC236}">
                  <a16:creationId xmlns:a16="http://schemas.microsoft.com/office/drawing/2014/main" id="{64D1060F-D03B-6805-7F33-01515179D09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45" t="9275" r="3752" b="5379"/>
            <a:stretch/>
          </p:blipFill>
          <p:spPr bwMode="auto">
            <a:xfrm>
              <a:off x="4840431" y="314689"/>
              <a:ext cx="407315" cy="37661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" name="Rectangle 3">
              <a:extLst>
                <a:ext uri="{FF2B5EF4-FFF2-40B4-BE49-F238E27FC236}">
                  <a16:creationId xmlns:a16="http://schemas.microsoft.com/office/drawing/2014/main" id="{57B4ECDC-0485-9DFE-2912-1E98FEFF08B6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5298546" y="207541"/>
              <a:ext cx="4472270" cy="523226"/>
            </a:xfrm>
            <a:prstGeom prst="rect">
              <a:avLst/>
            </a:prstGeom>
            <a:noFill/>
          </p:spPr>
          <p:txBody>
            <a:bodyPr lIns="90488" tIns="44450" rIns="90488" bIns="44450"/>
            <a:lstStyle>
              <a:lvl1pPr marL="171450" indent="-17145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1pPr>
              <a:lvl2pPr marL="5143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8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2pPr>
              <a:lvl3pPr marL="8572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3pPr>
              <a:lvl4pPr marL="12001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4pPr>
              <a:lvl5pPr marL="15430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fontAlgn="base">
                <a:lnSpc>
                  <a:spcPct val="100000"/>
                </a:lnSpc>
                <a:buNone/>
              </a:pPr>
              <a:r>
                <a:rPr lang="zh-CN" altLang="en-US" sz="3200" dirty="0">
                  <a:latin typeface="Times New Roman" panose="02020603050405020304" pitchFamily="18" charset="0"/>
                  <a:ea typeface="楷体" panose="02010609060101010101" pitchFamily="49" charset="-122"/>
                  <a:sym typeface="+mn-ea"/>
                </a:rPr>
                <a:t>重要的</a:t>
              </a:r>
              <a:r>
                <a:rPr lang="en-US" altLang="zh-CN" sz="3200" dirty="0">
                  <a:latin typeface="Times New Roman" panose="02020603050405020304" pitchFamily="18" charset="0"/>
                  <a:ea typeface="楷体" panose="02010609060101010101" pitchFamily="49" charset="-122"/>
                  <a:sym typeface="+mn-ea"/>
                </a:rPr>
                <a:t>C# </a:t>
              </a:r>
              <a:r>
                <a:rPr lang="zh-CN" altLang="en-US" sz="3200" dirty="0">
                  <a:latin typeface="Times New Roman" panose="02020603050405020304" pitchFamily="18" charset="0"/>
                  <a:ea typeface="楷体" panose="02010609060101010101" pitchFamily="49" charset="-122"/>
                  <a:sym typeface="+mn-ea"/>
                </a:rPr>
                <a:t>中的变量类型</a:t>
              </a:r>
            </a:p>
          </p:txBody>
        </p:sp>
      </p:grp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6DC79203-12F9-FFDD-6EB3-2F1AC4A14AB6}"/>
              </a:ext>
            </a:extLst>
          </p:cNvPr>
          <p:cNvSpPr/>
          <p:nvPr/>
        </p:nvSpPr>
        <p:spPr>
          <a:xfrm>
            <a:off x="1671548" y="1236499"/>
            <a:ext cx="8848904" cy="609639"/>
          </a:xfrm>
          <a:prstGeom prst="roundRect">
            <a:avLst>
              <a:gd name="adj" fmla="val 3791"/>
            </a:avLst>
          </a:prstGeom>
          <a:gradFill>
            <a:gsLst>
              <a:gs pos="0">
                <a:srgbClr val="7030A0">
                  <a:alpha val="5000"/>
                </a:srgbClr>
              </a:gs>
              <a:gs pos="100000">
                <a:srgbClr val="00B0F0">
                  <a:alpha val="5000"/>
                </a:srgbClr>
              </a:gs>
            </a:gsLst>
            <a:lin ang="13500000" scaled="1"/>
          </a:gradFill>
          <a:ln>
            <a:gradFill>
              <a:gsLst>
                <a:gs pos="0">
                  <a:srgbClr val="0070C0"/>
                </a:gs>
                <a:gs pos="100000">
                  <a:srgbClr val="7030A0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108000" rtlCol="0" anchor="ctr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2000" b="1" dirty="0">
                <a:solidFill>
                  <a:srgbClr val="A7357F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宋体" panose="02010600030101010101" pitchFamily="2" charset="-122"/>
                <a:sym typeface="+mn-ea"/>
              </a:rPr>
              <a:t>int</a:t>
            </a:r>
            <a:r>
              <a:rPr lang="zh-CN" altLang="en-US" sz="2000" b="1" dirty="0">
                <a:solidFill>
                  <a:srgbClr val="A7357F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宋体" panose="02010600030101010101" pitchFamily="2" charset="-122"/>
                <a:sym typeface="+mn-ea"/>
              </a:rPr>
              <a:t>：</a:t>
            </a:r>
            <a:r>
              <a:rPr lang="en-US" altLang="zh-CN" sz="2000" b="1" dirty="0">
                <a:solidFill>
                  <a:srgbClr val="A7357F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宋体" panose="02010600030101010101" pitchFamily="2" charset="-122"/>
                <a:sym typeface="+mn-ea"/>
              </a:rPr>
              <a:t>32</a:t>
            </a:r>
            <a:r>
              <a:rPr lang="zh-CN" altLang="en-US" sz="2000" b="1" dirty="0">
                <a:solidFill>
                  <a:srgbClr val="A7357F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宋体" panose="02010600030101010101" pitchFamily="2" charset="-122"/>
                <a:sym typeface="+mn-ea"/>
              </a:rPr>
              <a:t>位整数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C30D8354-A2A0-0D10-DAEC-8556648B0F55}"/>
              </a:ext>
            </a:extLst>
          </p:cNvPr>
          <p:cNvSpPr/>
          <p:nvPr/>
        </p:nvSpPr>
        <p:spPr>
          <a:xfrm>
            <a:off x="1671547" y="1982151"/>
            <a:ext cx="8848905" cy="4089728"/>
          </a:xfrm>
          <a:prstGeom prst="roundRect">
            <a:avLst>
              <a:gd name="adj" fmla="val 1731"/>
            </a:avLst>
          </a:prstGeom>
          <a:gradFill>
            <a:gsLst>
              <a:gs pos="0">
                <a:srgbClr val="7030A0">
                  <a:alpha val="5000"/>
                </a:srgbClr>
              </a:gs>
              <a:gs pos="100000">
                <a:srgbClr val="00B0F0">
                  <a:alpha val="5000"/>
                </a:srgbClr>
              </a:gs>
            </a:gsLst>
            <a:lin ang="13500000" scaled="1"/>
          </a:gradFill>
          <a:ln>
            <a:gradFill>
              <a:gsLst>
                <a:gs pos="0">
                  <a:srgbClr val="0070C0"/>
                </a:gs>
                <a:gs pos="100000">
                  <a:srgbClr val="7030A0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108000" rtlCol="0" anchor="ctr">
            <a:noAutofit/>
          </a:bodyPr>
          <a:lstStyle/>
          <a:p>
            <a:pPr marL="839788" lvl="1" indent="-342900">
              <a:spcBef>
                <a:spcPts val="1100"/>
              </a:spcBef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A7357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存储一个整数值</a:t>
            </a:r>
          </a:p>
          <a:p>
            <a:pPr marL="1296988" lvl="2" indent="-342900">
              <a:spcBef>
                <a:spcPts val="1100"/>
              </a:spcBef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latin typeface="+mj-lt"/>
                <a:ea typeface="楷体" panose="02010609060101010101" pitchFamily="49" charset="-122"/>
              </a:rPr>
              <a:t>整数值是不带小数部分的数值</a:t>
            </a:r>
          </a:p>
          <a:p>
            <a:pPr marL="1296988" lvl="2" indent="-342900">
              <a:spcBef>
                <a:spcPts val="1100"/>
              </a:spcBef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latin typeface="+mj-lt"/>
                <a:ea typeface="楷体" panose="02010609060101010101" pitchFamily="49" charset="-122"/>
              </a:rPr>
              <a:t>整数运算非常精确和快速</a:t>
            </a:r>
          </a:p>
          <a:p>
            <a:pPr marL="839788" lvl="1" indent="-342900">
              <a:spcBef>
                <a:spcPts val="1100"/>
              </a:spcBef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A7357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可存储一个介于 </a:t>
            </a:r>
            <a:r>
              <a:rPr lang="en-US" altLang="zh-CN" sz="2000" b="1" dirty="0">
                <a:solidFill>
                  <a:srgbClr val="A7357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–2,147,483,648 </a:t>
            </a:r>
            <a:r>
              <a:rPr lang="zh-CN" altLang="en-US" sz="2000" b="1" dirty="0">
                <a:solidFill>
                  <a:srgbClr val="A7357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到 </a:t>
            </a:r>
            <a:r>
              <a:rPr lang="en-US" altLang="zh-CN" sz="2000" b="1" dirty="0">
                <a:solidFill>
                  <a:srgbClr val="A7357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2,147,483,647 </a:t>
            </a:r>
            <a:r>
              <a:rPr lang="zh-CN" altLang="en-US" sz="2000" b="1" dirty="0">
                <a:solidFill>
                  <a:srgbClr val="A7357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之间的数值</a:t>
            </a:r>
          </a:p>
          <a:p>
            <a:pPr marL="1296988" lvl="2" indent="-342900">
              <a:spcBef>
                <a:spcPts val="1100"/>
              </a:spcBef>
              <a:buFont typeface="Wingdings" panose="05000000000000000000" pitchFamily="2" charset="2"/>
              <a:buChar char="l"/>
            </a:pPr>
            <a:r>
              <a:rPr lang="en-US" altLang="zh-CN" sz="2000" b="1" dirty="0">
                <a:solidFill>
                  <a:srgbClr val="000000"/>
                </a:solidFill>
                <a:latin typeface="+mj-lt"/>
                <a:ea typeface="楷体" panose="02010609060101010101" pitchFamily="49" charset="-122"/>
              </a:rPr>
              <a:t>1</a:t>
            </a:r>
            <a:r>
              <a:rPr lang="zh-CN" altLang="en-US" sz="2000" b="1" dirty="0">
                <a:solidFill>
                  <a:srgbClr val="000000"/>
                </a:solidFill>
                <a:latin typeface="+mj-lt"/>
                <a:ea typeface="楷体" panose="02010609060101010101" pitchFamily="49" charset="-122"/>
              </a:rPr>
              <a:t>个二进制位用于存储正负号，剩余</a:t>
            </a:r>
            <a:r>
              <a:rPr lang="en-US" altLang="zh-CN" sz="2000" b="1" dirty="0">
                <a:solidFill>
                  <a:srgbClr val="000000"/>
                </a:solidFill>
                <a:latin typeface="+mj-lt"/>
                <a:ea typeface="楷体" panose="02010609060101010101" pitchFamily="49" charset="-122"/>
              </a:rPr>
              <a:t>31</a:t>
            </a:r>
            <a:r>
              <a:rPr lang="zh-CN" altLang="en-US" sz="2000" b="1" dirty="0">
                <a:solidFill>
                  <a:srgbClr val="000000"/>
                </a:solidFill>
                <a:latin typeface="+mj-lt"/>
                <a:ea typeface="楷体" panose="02010609060101010101" pitchFamily="49" charset="-122"/>
              </a:rPr>
              <a:t>个二进制位用于存储数值</a:t>
            </a:r>
          </a:p>
          <a:p>
            <a:pPr marL="839788" lvl="1" indent="-342900">
              <a:spcBef>
                <a:spcPts val="1100"/>
              </a:spcBef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A7357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示例</a:t>
            </a:r>
            <a:endParaRPr lang="en-US" altLang="zh-CN" sz="2000" b="1" dirty="0">
              <a:solidFill>
                <a:srgbClr val="A7357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1296988" lvl="2" indent="-342900">
              <a:spcBef>
                <a:spcPts val="1100"/>
              </a:spcBef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latin typeface="+mj-lt"/>
                <a:ea typeface="楷体" panose="02010609060101010101" pitchFamily="49" charset="-122"/>
              </a:rPr>
              <a:t>字面值：</a:t>
            </a:r>
            <a:r>
              <a:rPr lang="en-US" altLang="zh-CN" sz="2000" b="1" dirty="0">
                <a:solidFill>
                  <a:srgbClr val="000000"/>
                </a:solidFill>
                <a:latin typeface="+mj-lt"/>
                <a:ea typeface="楷体" panose="02010609060101010101" pitchFamily="49" charset="-122"/>
              </a:rPr>
              <a:t>1,</a:t>
            </a:r>
            <a:r>
              <a:rPr lang="zh-CN" altLang="en-US" sz="2000" b="1" dirty="0">
                <a:solidFill>
                  <a:srgbClr val="000000"/>
                </a:solidFill>
                <a:latin typeface="+mj-lt"/>
                <a:ea typeface="楷体" panose="02010609060101010101" pitchFamily="49" charset="-122"/>
              </a:rPr>
              <a:t> </a:t>
            </a:r>
            <a:r>
              <a:rPr lang="en-US" altLang="zh-CN" sz="2000" b="1" dirty="0">
                <a:solidFill>
                  <a:srgbClr val="000000"/>
                </a:solidFill>
                <a:latin typeface="+mj-lt"/>
                <a:ea typeface="楷体" panose="02010609060101010101" pitchFamily="49" charset="-122"/>
              </a:rPr>
              <a:t>34567,</a:t>
            </a:r>
            <a:r>
              <a:rPr lang="zh-CN" altLang="en-US" sz="2000" b="1" dirty="0">
                <a:solidFill>
                  <a:srgbClr val="000000"/>
                </a:solidFill>
                <a:latin typeface="+mj-lt"/>
                <a:ea typeface="楷体" panose="02010609060101010101" pitchFamily="49" charset="-122"/>
              </a:rPr>
              <a:t> </a:t>
            </a:r>
            <a:r>
              <a:rPr lang="en-US" altLang="zh-CN" sz="2000" b="1" dirty="0">
                <a:solidFill>
                  <a:srgbClr val="000000"/>
                </a:solidFill>
                <a:latin typeface="+mj-lt"/>
                <a:ea typeface="楷体" panose="02010609060101010101" pitchFamily="49" charset="-122"/>
              </a:rPr>
              <a:t>-48198</a:t>
            </a:r>
          </a:p>
          <a:p>
            <a:pPr marL="1296988" lvl="2" indent="-342900">
              <a:spcBef>
                <a:spcPts val="1100"/>
              </a:spcBef>
              <a:buFont typeface="Wingdings" panose="05000000000000000000" pitchFamily="2" charset="2"/>
              <a:buChar char="l"/>
            </a:pPr>
            <a:r>
              <a:rPr lang="en-US" altLang="zh-CN" sz="2000" b="1" dirty="0">
                <a:solidFill>
                  <a:srgbClr val="000000"/>
                </a:solidFill>
                <a:latin typeface="+mj-lt"/>
                <a:ea typeface="楷体" panose="02010609060101010101" pitchFamily="49" charset="-122"/>
              </a:rPr>
              <a:t>int </a:t>
            </a:r>
            <a:r>
              <a:rPr lang="en-US" altLang="zh-CN" sz="2000" b="1" dirty="0" err="1">
                <a:solidFill>
                  <a:srgbClr val="000000"/>
                </a:solidFill>
                <a:latin typeface="+mj-lt"/>
                <a:ea typeface="楷体" panose="02010609060101010101" pitchFamily="49" charset="-122"/>
              </a:rPr>
              <a:t>nonFractionalNumber</a:t>
            </a:r>
            <a:r>
              <a:rPr lang="en-US" altLang="zh-CN" sz="2000" b="1" dirty="0">
                <a:solidFill>
                  <a:srgbClr val="000000"/>
                </a:solidFill>
                <a:latin typeface="+mj-lt"/>
                <a:ea typeface="楷体" panose="02010609060101010101" pitchFamily="49" charset="-122"/>
              </a:rPr>
              <a:t> = 12345;</a:t>
            </a:r>
          </a:p>
        </p:txBody>
      </p:sp>
    </p:spTree>
    <p:extLst>
      <p:ext uri="{BB962C8B-B14F-4D97-AF65-F5344CB8AC3E}">
        <p14:creationId xmlns:p14="http://schemas.microsoft.com/office/powerpoint/2010/main" val="3833023261"/>
      </p:ext>
    </p:extLst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84A9DABD-B5B8-1E22-E855-52EB712260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69290907-6473-B328-E633-C2D24A7AD709}"/>
              </a:ext>
            </a:extLst>
          </p:cNvPr>
          <p:cNvGrpSpPr/>
          <p:nvPr/>
        </p:nvGrpSpPr>
        <p:grpSpPr>
          <a:xfrm>
            <a:off x="3630807" y="251474"/>
            <a:ext cx="4930385" cy="523226"/>
            <a:chOff x="4840431" y="207541"/>
            <a:chExt cx="4930385" cy="523226"/>
          </a:xfrm>
        </p:grpSpPr>
        <p:pic>
          <p:nvPicPr>
            <p:cNvPr id="6" name="Picture 4" descr="黑爵(AJAZZ)手柄/方向盘AG180报价_参数_图片_视频_怎么样_问答-苏宁易购">
              <a:extLst>
                <a:ext uri="{FF2B5EF4-FFF2-40B4-BE49-F238E27FC236}">
                  <a16:creationId xmlns:a16="http://schemas.microsoft.com/office/drawing/2014/main" id="{63131E08-D405-43B1-7825-A104B99622A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45" t="9275" r="3752" b="5379"/>
            <a:stretch/>
          </p:blipFill>
          <p:spPr bwMode="auto">
            <a:xfrm>
              <a:off x="4840431" y="314689"/>
              <a:ext cx="407315" cy="37661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" name="Rectangle 3">
              <a:extLst>
                <a:ext uri="{FF2B5EF4-FFF2-40B4-BE49-F238E27FC236}">
                  <a16:creationId xmlns:a16="http://schemas.microsoft.com/office/drawing/2014/main" id="{085A3FFE-D731-9415-6D2E-E902D5B293E0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5298546" y="207541"/>
              <a:ext cx="4472270" cy="523226"/>
            </a:xfrm>
            <a:prstGeom prst="rect">
              <a:avLst/>
            </a:prstGeom>
            <a:noFill/>
          </p:spPr>
          <p:txBody>
            <a:bodyPr lIns="90488" tIns="44450" rIns="90488" bIns="44450"/>
            <a:lstStyle>
              <a:lvl1pPr marL="171450" indent="-17145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1pPr>
              <a:lvl2pPr marL="5143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8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2pPr>
              <a:lvl3pPr marL="8572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3pPr>
              <a:lvl4pPr marL="12001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4pPr>
              <a:lvl5pPr marL="15430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fontAlgn="base">
                <a:lnSpc>
                  <a:spcPct val="100000"/>
                </a:lnSpc>
                <a:buNone/>
              </a:pPr>
              <a:r>
                <a:rPr lang="zh-CN" altLang="en-US" sz="3200" dirty="0">
                  <a:latin typeface="Times New Roman" panose="02020603050405020304" pitchFamily="18" charset="0"/>
                  <a:ea typeface="楷体" panose="02010609060101010101" pitchFamily="49" charset="-122"/>
                  <a:sym typeface="+mn-ea"/>
                </a:rPr>
                <a:t>重要的</a:t>
              </a:r>
              <a:r>
                <a:rPr lang="en-US" altLang="zh-CN" sz="3200" dirty="0">
                  <a:latin typeface="Times New Roman" panose="02020603050405020304" pitchFamily="18" charset="0"/>
                  <a:ea typeface="楷体" panose="02010609060101010101" pitchFamily="49" charset="-122"/>
                  <a:sym typeface="+mn-ea"/>
                </a:rPr>
                <a:t>C# </a:t>
              </a:r>
              <a:r>
                <a:rPr lang="zh-CN" altLang="en-US" sz="3200" dirty="0">
                  <a:latin typeface="Times New Roman" panose="02020603050405020304" pitchFamily="18" charset="0"/>
                  <a:ea typeface="楷体" panose="02010609060101010101" pitchFamily="49" charset="-122"/>
                  <a:sym typeface="+mn-ea"/>
                </a:rPr>
                <a:t>中的变量类型</a:t>
              </a:r>
            </a:p>
          </p:txBody>
        </p:sp>
      </p:grp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C7E29EC4-1351-FF85-FFE0-D82037977850}"/>
              </a:ext>
            </a:extLst>
          </p:cNvPr>
          <p:cNvSpPr/>
          <p:nvPr/>
        </p:nvSpPr>
        <p:spPr>
          <a:xfrm>
            <a:off x="2110739" y="1025994"/>
            <a:ext cx="7970522" cy="609639"/>
          </a:xfrm>
          <a:prstGeom prst="roundRect">
            <a:avLst>
              <a:gd name="adj" fmla="val 3791"/>
            </a:avLst>
          </a:prstGeom>
          <a:gradFill>
            <a:gsLst>
              <a:gs pos="0">
                <a:srgbClr val="7030A0">
                  <a:alpha val="5000"/>
                </a:srgbClr>
              </a:gs>
              <a:gs pos="100000">
                <a:srgbClr val="00B0F0">
                  <a:alpha val="5000"/>
                </a:srgbClr>
              </a:gs>
            </a:gsLst>
            <a:lin ang="13500000" scaled="1"/>
          </a:gradFill>
          <a:ln>
            <a:gradFill>
              <a:gsLst>
                <a:gs pos="0">
                  <a:srgbClr val="0070C0"/>
                </a:gs>
                <a:gs pos="100000">
                  <a:srgbClr val="7030A0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108000" rtlCol="0" anchor="ctr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2000" b="1" dirty="0">
                <a:solidFill>
                  <a:srgbClr val="A7357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宋体" panose="02010600030101010101" pitchFamily="2" charset="-122"/>
                <a:sym typeface="+mn-ea"/>
              </a:rPr>
              <a:t>f</a:t>
            </a:r>
            <a:r>
              <a:rPr lang="en-US" altLang="zh-CN" sz="2000" b="1" dirty="0">
                <a:solidFill>
                  <a:srgbClr val="A7357F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宋体" panose="02010600030101010101" pitchFamily="2" charset="-122"/>
                <a:sym typeface="+mn-ea"/>
              </a:rPr>
              <a:t>loat: 32</a:t>
            </a:r>
            <a:r>
              <a:rPr lang="zh-CN" altLang="en-US" sz="2000" b="1" dirty="0">
                <a:solidFill>
                  <a:srgbClr val="A7357F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宋体" panose="02010600030101010101" pitchFamily="2" charset="-122"/>
                <a:sym typeface="+mn-ea"/>
              </a:rPr>
              <a:t>位小数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AA4D70A7-C9B3-7555-2C20-A3656C793C01}"/>
              </a:ext>
            </a:extLst>
          </p:cNvPr>
          <p:cNvSpPr/>
          <p:nvPr/>
        </p:nvSpPr>
        <p:spPr>
          <a:xfrm>
            <a:off x="2110740" y="1731004"/>
            <a:ext cx="7970522" cy="4875522"/>
          </a:xfrm>
          <a:prstGeom prst="roundRect">
            <a:avLst>
              <a:gd name="adj" fmla="val 1731"/>
            </a:avLst>
          </a:prstGeom>
          <a:gradFill>
            <a:gsLst>
              <a:gs pos="0">
                <a:srgbClr val="7030A0">
                  <a:alpha val="5000"/>
                </a:srgbClr>
              </a:gs>
              <a:gs pos="100000">
                <a:srgbClr val="00B0F0">
                  <a:alpha val="5000"/>
                </a:srgbClr>
              </a:gs>
            </a:gsLst>
            <a:lin ang="13500000" scaled="1"/>
          </a:gradFill>
          <a:ln>
            <a:gradFill>
              <a:gsLst>
                <a:gs pos="0">
                  <a:srgbClr val="0070C0"/>
                </a:gs>
                <a:gs pos="100000">
                  <a:srgbClr val="7030A0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108000" rtlCol="0" anchor="ctr">
            <a:noAutofit/>
          </a:bodyPr>
          <a:lstStyle/>
          <a:p>
            <a:pPr marL="825500" lvl="1" indent="-342900" defTabSz="885825">
              <a:spcBef>
                <a:spcPts val="1100"/>
              </a:spcBef>
              <a:buFont typeface="Wingdings" panose="05000000000000000000" pitchFamily="2" charset="2"/>
              <a:buChar char="l"/>
            </a:pPr>
            <a:r>
              <a:rPr lang="zh-CN" altLang="en-US" sz="1900" b="1" dirty="0">
                <a:solidFill>
                  <a:srgbClr val="A7357F"/>
                </a:solidFill>
                <a:latin typeface="+mj-ea"/>
                <a:ea typeface="+mj-ea"/>
              </a:rPr>
              <a:t>存储带有小数部分的浮点数</a:t>
            </a:r>
            <a:endParaRPr lang="en-US" altLang="zh-CN" sz="1900" b="1" dirty="0">
              <a:solidFill>
                <a:srgbClr val="A7357F"/>
              </a:solidFill>
              <a:latin typeface="+mj-ea"/>
              <a:ea typeface="+mj-ea"/>
            </a:endParaRPr>
          </a:p>
          <a:p>
            <a:pPr marL="1211262" lvl="2" indent="-285750" defTabSz="885825">
              <a:spcBef>
                <a:spcPts val="700"/>
              </a:spcBef>
              <a:buFont typeface="Wingdings" panose="05000000000000000000" pitchFamily="2" charset="2"/>
              <a:buChar char="l"/>
            </a:pPr>
            <a:r>
              <a:rPr lang="en-US" altLang="zh-CN" sz="1700" b="1" dirty="0" err="1">
                <a:solidFill>
                  <a:srgbClr val="000000"/>
                </a:solidFill>
                <a:latin typeface="+mj-lt"/>
                <a:ea typeface="+mj-ea"/>
              </a:rPr>
              <a:t>浮点数是</a:t>
            </a:r>
            <a:r>
              <a:rPr lang="zh-CN" altLang="en-US" sz="1700" b="1" dirty="0">
                <a:solidFill>
                  <a:srgbClr val="000000"/>
                </a:solidFill>
                <a:latin typeface="+mj-lt"/>
                <a:ea typeface="+mj-ea"/>
              </a:rPr>
              <a:t>以类似科学计数法的方式存储的</a:t>
            </a:r>
            <a:endParaRPr lang="en-US" altLang="zh-CN" sz="1700" b="1" dirty="0">
              <a:solidFill>
                <a:srgbClr val="000000"/>
              </a:solidFill>
              <a:latin typeface="+mj-lt"/>
              <a:ea typeface="+mj-ea"/>
            </a:endParaRPr>
          </a:p>
          <a:p>
            <a:pPr marL="1211262" lvl="2" indent="-285750" defTabSz="885825">
              <a:spcBef>
                <a:spcPts val="700"/>
              </a:spcBef>
              <a:buFont typeface="Wingdings" panose="05000000000000000000" pitchFamily="2" charset="2"/>
              <a:buChar char="l"/>
            </a:pPr>
            <a:r>
              <a:rPr lang="zh-CN" altLang="en-US" sz="1700" b="1" dirty="0">
                <a:solidFill>
                  <a:srgbClr val="000000"/>
                </a:solidFill>
                <a:latin typeface="+mj-lt"/>
                <a:ea typeface="+mj-ea"/>
              </a:rPr>
              <a:t>科学计数法以</a:t>
            </a:r>
            <a:r>
              <a:rPr lang="en-US" altLang="zh-CN" sz="1700" b="1" dirty="0">
                <a:solidFill>
                  <a:srgbClr val="000000"/>
                </a:solidFill>
                <a:latin typeface="+mj-lt"/>
                <a:ea typeface="+mj-ea"/>
              </a:rPr>
              <a:t> a*10</a:t>
            </a:r>
            <a:r>
              <a:rPr lang="en-US" altLang="zh-CN" sz="1700" b="1" baseline="32000" dirty="0">
                <a:solidFill>
                  <a:srgbClr val="000000"/>
                </a:solidFill>
                <a:latin typeface="+mj-lt"/>
                <a:ea typeface="+mj-ea"/>
              </a:rPr>
              <a:t>b</a:t>
            </a:r>
            <a:r>
              <a:rPr lang="zh-CN" altLang="en-US" sz="1700" b="1" dirty="0">
                <a:solidFill>
                  <a:srgbClr val="000000"/>
                </a:solidFill>
                <a:latin typeface="+mj-lt"/>
                <a:ea typeface="+mj-ea"/>
              </a:rPr>
              <a:t>形式表示数值：</a:t>
            </a:r>
            <a:r>
              <a:rPr lang="en-US" altLang="zh-CN" sz="1700" b="1" dirty="0">
                <a:solidFill>
                  <a:srgbClr val="000000"/>
                </a:solidFill>
                <a:latin typeface="+mj-lt"/>
                <a:ea typeface="+mj-ea"/>
              </a:rPr>
              <a:t>300</a:t>
            </a:r>
            <a:r>
              <a:rPr lang="zh-CN" altLang="en-US" sz="1700" b="1" dirty="0">
                <a:solidFill>
                  <a:srgbClr val="000000"/>
                </a:solidFill>
                <a:latin typeface="+mj-lt"/>
                <a:ea typeface="+mj-ea"/>
              </a:rPr>
              <a:t>表示为</a:t>
            </a:r>
            <a:r>
              <a:rPr lang="en-US" altLang="zh-CN" sz="1700" b="1" dirty="0">
                <a:solidFill>
                  <a:srgbClr val="000000"/>
                </a:solidFill>
                <a:latin typeface="+mj-lt"/>
                <a:ea typeface="+mj-ea"/>
              </a:rPr>
              <a:t> 3*10</a:t>
            </a:r>
            <a:r>
              <a:rPr lang="en-US" altLang="zh-CN" sz="1600" b="1" baseline="32000" dirty="0">
                <a:solidFill>
                  <a:srgbClr val="000000"/>
                </a:solidFill>
                <a:latin typeface="+mj-lt"/>
                <a:ea typeface="+mj-ea"/>
              </a:rPr>
              <a:t>2</a:t>
            </a:r>
            <a:endParaRPr lang="en-US" altLang="zh-CN" sz="1700" b="1" dirty="0">
              <a:solidFill>
                <a:srgbClr val="000000"/>
              </a:solidFill>
              <a:latin typeface="+mj-lt"/>
              <a:ea typeface="+mj-ea"/>
            </a:endParaRPr>
          </a:p>
          <a:p>
            <a:pPr marL="825500" lvl="1" indent="-342900" defTabSz="885825">
              <a:spcBef>
                <a:spcPts val="1100"/>
              </a:spcBef>
              <a:buFont typeface="Wingdings" panose="05000000000000000000" pitchFamily="2" charset="2"/>
              <a:buChar char="l"/>
            </a:pPr>
            <a:r>
              <a:rPr lang="en-US" altLang="zh-CN" sz="1900" b="1" dirty="0" err="1">
                <a:solidFill>
                  <a:srgbClr val="A7357F"/>
                </a:solidFill>
                <a:latin typeface="+mj-ea"/>
                <a:ea typeface="+mj-ea"/>
              </a:rPr>
              <a:t>浮点数是以a</a:t>
            </a:r>
            <a:r>
              <a:rPr lang="en-US" altLang="zh-CN" sz="1900" b="1" dirty="0">
                <a:solidFill>
                  <a:srgbClr val="A7357F"/>
                </a:solidFill>
                <a:latin typeface="+mj-ea"/>
                <a:ea typeface="+mj-ea"/>
              </a:rPr>
              <a:t>*2</a:t>
            </a:r>
            <a:r>
              <a:rPr lang="en-US" altLang="zh-CN" sz="1900" b="1" baseline="30000" dirty="0">
                <a:solidFill>
                  <a:srgbClr val="A7357F"/>
                </a:solidFill>
                <a:latin typeface="+mj-ea"/>
                <a:ea typeface="+mj-ea"/>
              </a:rPr>
              <a:t>b</a:t>
            </a:r>
            <a:r>
              <a:rPr lang="zh-CN" altLang="en-US" sz="1900" b="1" dirty="0">
                <a:solidFill>
                  <a:srgbClr val="A7357F"/>
                </a:solidFill>
                <a:latin typeface="+mj-ea"/>
                <a:ea typeface="+mj-ea"/>
              </a:rPr>
              <a:t>格式存储</a:t>
            </a:r>
            <a:endParaRPr lang="en-US" altLang="zh-CN" sz="1900" b="1" dirty="0">
              <a:solidFill>
                <a:srgbClr val="A7357F"/>
              </a:solidFill>
              <a:latin typeface="+mj-ea"/>
              <a:ea typeface="+mj-ea"/>
            </a:endParaRPr>
          </a:p>
          <a:p>
            <a:pPr marL="1211262" lvl="2" indent="-285750" defTabSz="885825">
              <a:spcBef>
                <a:spcPts val="700"/>
              </a:spcBef>
              <a:buFont typeface="Wingdings" panose="05000000000000000000" pitchFamily="2" charset="2"/>
              <a:buChar char="l"/>
            </a:pPr>
            <a:r>
              <a:rPr lang="en-US" altLang="zh-CN" sz="1700" b="1" dirty="0">
                <a:solidFill>
                  <a:srgbClr val="000000"/>
                </a:solidFill>
                <a:latin typeface="+mj-lt"/>
                <a:ea typeface="+mj-ea"/>
              </a:rPr>
              <a:t>23</a:t>
            </a:r>
            <a:r>
              <a:rPr lang="zh-CN" altLang="en-US" sz="1700" b="1" dirty="0">
                <a:solidFill>
                  <a:srgbClr val="000000"/>
                </a:solidFill>
                <a:latin typeface="+mj-lt"/>
                <a:ea typeface="+mj-ea"/>
              </a:rPr>
              <a:t>个二进制位用于存储数值的有效数字</a:t>
            </a:r>
            <a:r>
              <a:rPr lang="en-US" altLang="zh-CN" sz="1700" b="1" dirty="0">
                <a:solidFill>
                  <a:srgbClr val="000000"/>
                </a:solidFill>
                <a:latin typeface="+mj-lt"/>
                <a:ea typeface="+mj-ea"/>
              </a:rPr>
              <a:t>(</a:t>
            </a:r>
            <a:r>
              <a:rPr lang="zh-CN" altLang="en-US" sz="1700" b="1" dirty="0">
                <a:solidFill>
                  <a:srgbClr val="000000"/>
                </a:solidFill>
                <a:latin typeface="+mj-lt"/>
                <a:ea typeface="+mj-ea"/>
              </a:rPr>
              <a:t>即上面的</a:t>
            </a:r>
            <a:r>
              <a:rPr lang="en-US" altLang="zh-CN" sz="1700" b="1" dirty="0">
                <a:solidFill>
                  <a:srgbClr val="000000"/>
                </a:solidFill>
                <a:latin typeface="+mj-lt"/>
                <a:ea typeface="+mj-ea"/>
              </a:rPr>
              <a:t>a</a:t>
            </a:r>
            <a:r>
              <a:rPr lang="zh-CN" altLang="en-US" sz="1700" b="1" dirty="0">
                <a:solidFill>
                  <a:srgbClr val="000000"/>
                </a:solidFill>
                <a:latin typeface="+mj-lt"/>
                <a:ea typeface="+mj-ea"/>
              </a:rPr>
              <a:t>部分</a:t>
            </a:r>
            <a:r>
              <a:rPr lang="en-US" altLang="zh-CN" sz="1700" b="1" dirty="0">
                <a:solidFill>
                  <a:srgbClr val="000000"/>
                </a:solidFill>
                <a:latin typeface="+mj-lt"/>
                <a:ea typeface="+mj-ea"/>
              </a:rPr>
              <a:t>)</a:t>
            </a:r>
          </a:p>
          <a:p>
            <a:pPr marL="1211262" lvl="2" indent="-285750" defTabSz="885825">
              <a:spcBef>
                <a:spcPts val="700"/>
              </a:spcBef>
              <a:buFont typeface="Wingdings" panose="05000000000000000000" pitchFamily="2" charset="2"/>
              <a:buChar char="l"/>
            </a:pPr>
            <a:r>
              <a:rPr lang="en-US" altLang="zh-CN" sz="1700" b="1" dirty="0">
                <a:solidFill>
                  <a:srgbClr val="000000"/>
                </a:solidFill>
                <a:latin typeface="+mj-lt"/>
                <a:ea typeface="+mj-ea"/>
              </a:rPr>
              <a:t>8</a:t>
            </a:r>
            <a:r>
              <a:rPr lang="zh-CN" altLang="en-US" sz="1700" b="1" dirty="0">
                <a:solidFill>
                  <a:srgbClr val="000000"/>
                </a:solidFill>
                <a:latin typeface="+mj-lt"/>
                <a:ea typeface="+mj-ea"/>
              </a:rPr>
              <a:t>个二进制位用于存储指数</a:t>
            </a:r>
            <a:r>
              <a:rPr lang="en-US" altLang="zh-CN" sz="1700" b="1" dirty="0">
                <a:solidFill>
                  <a:srgbClr val="000000"/>
                </a:solidFill>
                <a:latin typeface="+mj-lt"/>
                <a:ea typeface="+mj-ea"/>
              </a:rPr>
              <a:t>(</a:t>
            </a:r>
            <a:r>
              <a:rPr lang="zh-CN" altLang="en-US" sz="1700" b="1" dirty="0">
                <a:solidFill>
                  <a:srgbClr val="000000"/>
                </a:solidFill>
                <a:latin typeface="+mj-lt"/>
                <a:ea typeface="+mj-ea"/>
              </a:rPr>
              <a:t>即上面的</a:t>
            </a:r>
            <a:r>
              <a:rPr lang="en-US" altLang="zh-CN" sz="1700" b="1" dirty="0">
                <a:solidFill>
                  <a:srgbClr val="000000"/>
                </a:solidFill>
                <a:latin typeface="+mj-lt"/>
                <a:ea typeface="+mj-ea"/>
              </a:rPr>
              <a:t>b</a:t>
            </a:r>
            <a:r>
              <a:rPr lang="zh-CN" altLang="en-US" sz="1700" b="1" dirty="0">
                <a:solidFill>
                  <a:srgbClr val="000000"/>
                </a:solidFill>
                <a:latin typeface="+mj-lt"/>
                <a:ea typeface="+mj-ea"/>
              </a:rPr>
              <a:t>部分</a:t>
            </a:r>
            <a:r>
              <a:rPr lang="en-US" altLang="zh-CN" sz="1700" b="1" dirty="0">
                <a:solidFill>
                  <a:srgbClr val="000000"/>
                </a:solidFill>
                <a:latin typeface="+mj-lt"/>
                <a:ea typeface="+mj-ea"/>
              </a:rPr>
              <a:t>)</a:t>
            </a:r>
          </a:p>
          <a:p>
            <a:pPr marL="1211262" lvl="2" indent="-285750" defTabSz="885825">
              <a:spcBef>
                <a:spcPts val="700"/>
              </a:spcBef>
              <a:buFont typeface="Wingdings" panose="05000000000000000000" pitchFamily="2" charset="2"/>
              <a:buChar char="l"/>
            </a:pPr>
            <a:r>
              <a:rPr lang="en-US" altLang="zh-CN" sz="1700" b="1" dirty="0">
                <a:solidFill>
                  <a:srgbClr val="000000"/>
                </a:solidFill>
                <a:latin typeface="+mj-lt"/>
                <a:ea typeface="+mj-ea"/>
              </a:rPr>
              <a:t>1</a:t>
            </a:r>
            <a:r>
              <a:rPr lang="zh-CN" altLang="en-US" sz="1700" b="1" dirty="0">
                <a:solidFill>
                  <a:srgbClr val="000000"/>
                </a:solidFill>
                <a:latin typeface="+mj-lt"/>
                <a:ea typeface="+mj-ea"/>
              </a:rPr>
              <a:t>个二进制位用于存储正负号</a:t>
            </a:r>
            <a:endParaRPr lang="en-US" altLang="zh-CN" sz="1700" b="1" dirty="0">
              <a:solidFill>
                <a:srgbClr val="000000"/>
              </a:solidFill>
              <a:latin typeface="+mj-lt"/>
              <a:ea typeface="+mj-ea"/>
            </a:endParaRPr>
          </a:p>
          <a:p>
            <a:pPr marL="825500" lvl="1" indent="-342900" defTabSz="885825">
              <a:spcBef>
                <a:spcPts val="1100"/>
              </a:spcBef>
              <a:buFont typeface="Wingdings" panose="05000000000000000000" pitchFamily="2" charset="2"/>
              <a:buChar char="l"/>
            </a:pPr>
            <a:r>
              <a:rPr lang="zh-CN" altLang="en-US" sz="1900" b="1" dirty="0">
                <a:solidFill>
                  <a:srgbClr val="A7357F"/>
                </a:solidFill>
                <a:latin typeface="+mj-ea"/>
                <a:ea typeface="+mj-ea"/>
              </a:rPr>
              <a:t>浮点数在处理非常大的数字以及</a:t>
            </a:r>
            <a:r>
              <a:rPr lang="en-US" altLang="zh-CN" sz="1900" b="1" dirty="0">
                <a:solidFill>
                  <a:srgbClr val="A7357F"/>
                </a:solidFill>
                <a:latin typeface="+mj-ea"/>
                <a:ea typeface="+mj-ea"/>
              </a:rPr>
              <a:t>1</a:t>
            </a:r>
            <a:r>
              <a:rPr lang="zh-CN" altLang="en-US" sz="1900" b="1" dirty="0">
                <a:solidFill>
                  <a:srgbClr val="A7357F"/>
                </a:solidFill>
                <a:latin typeface="+mj-ea"/>
                <a:ea typeface="+mj-ea"/>
              </a:rPr>
              <a:t>和</a:t>
            </a:r>
            <a:r>
              <a:rPr lang="en-US" altLang="zh-CN" sz="1900" b="1" dirty="0">
                <a:solidFill>
                  <a:srgbClr val="A7357F"/>
                </a:solidFill>
                <a:latin typeface="+mj-ea"/>
                <a:ea typeface="+mj-ea"/>
              </a:rPr>
              <a:t>-1</a:t>
            </a:r>
            <a:r>
              <a:rPr lang="zh-CN" altLang="en-US" sz="1900" b="1" dirty="0">
                <a:solidFill>
                  <a:srgbClr val="A7357F"/>
                </a:solidFill>
                <a:latin typeface="+mj-ea"/>
                <a:ea typeface="+mj-ea"/>
              </a:rPr>
              <a:t>之间的数字时精度较低</a:t>
            </a:r>
            <a:endParaRPr lang="en-US" altLang="zh-CN" sz="1900" b="1" dirty="0">
              <a:solidFill>
                <a:srgbClr val="A7357F"/>
              </a:solidFill>
              <a:latin typeface="+mj-ea"/>
              <a:ea typeface="+mj-ea"/>
            </a:endParaRPr>
          </a:p>
          <a:p>
            <a:pPr marL="1211262" lvl="2" indent="-285750" defTabSz="885825">
              <a:spcBef>
                <a:spcPts val="700"/>
              </a:spcBef>
              <a:buFont typeface="Wingdings" panose="05000000000000000000" pitchFamily="2" charset="2"/>
              <a:buChar char="l"/>
            </a:pPr>
            <a:r>
              <a:rPr lang="zh-CN" altLang="en-US" sz="1700" b="1" dirty="0">
                <a:solidFill>
                  <a:srgbClr val="000000"/>
                </a:solidFill>
                <a:latin typeface="+mj-lt"/>
                <a:ea typeface="+mj-ea"/>
              </a:rPr>
              <a:t>例如无法用浮点数精确表示</a:t>
            </a:r>
            <a:r>
              <a:rPr lang="en-US" altLang="zh-CN" sz="1700" b="1" dirty="0">
                <a:solidFill>
                  <a:srgbClr val="000000"/>
                </a:solidFill>
                <a:latin typeface="+mj-lt"/>
                <a:ea typeface="+mj-ea"/>
              </a:rPr>
              <a:t> 1/3</a:t>
            </a:r>
          </a:p>
          <a:p>
            <a:pPr marL="1211262" lvl="2" indent="-285750" defTabSz="885825">
              <a:spcBef>
                <a:spcPts val="700"/>
              </a:spcBef>
              <a:buFont typeface="Wingdings" panose="05000000000000000000" pitchFamily="2" charset="2"/>
              <a:buChar char="l"/>
            </a:pPr>
            <a:r>
              <a:rPr lang="en-US" altLang="zh-CN" sz="1700" b="1" dirty="0">
                <a:solidFill>
                  <a:srgbClr val="000000"/>
                </a:solidFill>
                <a:latin typeface="+mj-lt"/>
                <a:ea typeface="+mj-ea"/>
              </a:rPr>
              <a:t>0.1+0.2==0.3?</a:t>
            </a:r>
          </a:p>
          <a:p>
            <a:pPr marL="825500" lvl="1" indent="-342900" defTabSz="885825">
              <a:spcBef>
                <a:spcPts val="1100"/>
              </a:spcBef>
              <a:buFont typeface="Wingdings" panose="05000000000000000000" pitchFamily="2" charset="2"/>
              <a:buChar char="l"/>
            </a:pPr>
            <a:r>
              <a:rPr lang="zh-CN" altLang="en-US" sz="1900" b="1" dirty="0">
                <a:solidFill>
                  <a:srgbClr val="A7357F"/>
                </a:solidFill>
                <a:latin typeface="+mj-ea"/>
                <a:ea typeface="+mj-ea"/>
              </a:rPr>
              <a:t>示例</a:t>
            </a:r>
            <a:r>
              <a:rPr lang="en-US" altLang="zh-CN" sz="1900" b="1" dirty="0">
                <a:solidFill>
                  <a:srgbClr val="A7357F"/>
                </a:solidFill>
                <a:latin typeface="+mj-ea"/>
                <a:ea typeface="+mj-ea"/>
              </a:rPr>
              <a:t>:</a:t>
            </a:r>
            <a:endParaRPr lang="en-US" altLang="zh-CN" sz="1900" b="1" dirty="0">
              <a:solidFill>
                <a:srgbClr val="A7357F"/>
              </a:solidFill>
              <a:latin typeface="+mj-ea"/>
              <a:ea typeface="+mj-ea"/>
              <a:sym typeface="Courier" pitchFamily="125" charset="0"/>
            </a:endParaRPr>
          </a:p>
          <a:p>
            <a:pPr marL="1211262" lvl="2" indent="-285750" defTabSz="885825">
              <a:spcBef>
                <a:spcPts val="700"/>
              </a:spcBef>
              <a:buFont typeface="Wingdings" panose="05000000000000000000" pitchFamily="2" charset="2"/>
              <a:buChar char="l"/>
            </a:pPr>
            <a:r>
              <a:rPr lang="zh-CN" altLang="en-US" sz="1700" b="1" dirty="0">
                <a:solidFill>
                  <a:srgbClr val="000000"/>
                </a:solidFill>
                <a:latin typeface="+mj-lt"/>
                <a:ea typeface="+mj-ea"/>
                <a:sym typeface="Courier" pitchFamily="125" charset="0"/>
              </a:rPr>
              <a:t>字面值：</a:t>
            </a:r>
            <a:r>
              <a:rPr lang="en-US" altLang="zh-CN" sz="1700" b="1" dirty="0">
                <a:solidFill>
                  <a:srgbClr val="000000"/>
                </a:solidFill>
                <a:latin typeface="+mj-lt"/>
                <a:ea typeface="+mj-ea"/>
                <a:sym typeface="Courier" pitchFamily="125" charset="0"/>
              </a:rPr>
              <a:t>3.14f</a:t>
            </a:r>
            <a:r>
              <a:rPr lang="zh-CN" altLang="en-US" sz="1700" b="1" dirty="0">
                <a:solidFill>
                  <a:srgbClr val="000000"/>
                </a:solidFill>
                <a:latin typeface="+mj-lt"/>
                <a:ea typeface="+mj-ea"/>
                <a:sym typeface="Courier" pitchFamily="125" charset="0"/>
              </a:rPr>
              <a:t>，</a:t>
            </a:r>
            <a:r>
              <a:rPr lang="en-US" altLang="zh-CN" sz="1700" b="1" dirty="0">
                <a:solidFill>
                  <a:srgbClr val="000000"/>
                </a:solidFill>
                <a:latin typeface="+mj-lt"/>
                <a:ea typeface="+mj-ea"/>
                <a:sym typeface="Courier" pitchFamily="125" charset="0"/>
              </a:rPr>
              <a:t>123f</a:t>
            </a:r>
            <a:r>
              <a:rPr lang="zh-CN" altLang="en-US" sz="1700" b="1" dirty="0">
                <a:solidFill>
                  <a:srgbClr val="000000"/>
                </a:solidFill>
                <a:latin typeface="+mj-lt"/>
                <a:ea typeface="+mj-ea"/>
                <a:sym typeface="Courier" pitchFamily="125" charset="0"/>
              </a:rPr>
              <a:t>，</a:t>
            </a:r>
            <a:r>
              <a:rPr lang="en-US" altLang="zh-CN" sz="1700" b="1" dirty="0">
                <a:solidFill>
                  <a:srgbClr val="000000"/>
                </a:solidFill>
                <a:latin typeface="+mj-lt"/>
                <a:ea typeface="+mj-ea"/>
                <a:sym typeface="Courier" pitchFamily="125" charset="0"/>
              </a:rPr>
              <a:t>123.456f</a:t>
            </a:r>
          </a:p>
          <a:p>
            <a:pPr marL="1211262" lvl="2" indent="-285750" defTabSz="885825">
              <a:spcBef>
                <a:spcPts val="700"/>
              </a:spcBef>
              <a:buFont typeface="Wingdings" panose="05000000000000000000" pitchFamily="2" charset="2"/>
              <a:buChar char="l"/>
            </a:pPr>
            <a:r>
              <a:rPr lang="en-US" altLang="zh-CN" sz="1700" b="1" dirty="0">
                <a:solidFill>
                  <a:srgbClr val="000000"/>
                </a:solidFill>
                <a:latin typeface="+mj-lt"/>
                <a:ea typeface="+mj-ea"/>
                <a:sym typeface="Courier" pitchFamily="125" charset="0"/>
              </a:rPr>
              <a:t>float </a:t>
            </a:r>
            <a:r>
              <a:rPr lang="en-US" altLang="zh-CN" sz="1700" b="1" dirty="0" err="1">
                <a:solidFill>
                  <a:srgbClr val="000000"/>
                </a:solidFill>
                <a:latin typeface="+mj-lt"/>
                <a:ea typeface="+mj-ea"/>
                <a:sym typeface="Courier" pitchFamily="125" charset="0"/>
              </a:rPr>
              <a:t>notPreciselyOneThird</a:t>
            </a:r>
            <a:r>
              <a:rPr lang="en-US" altLang="zh-CN" sz="1700" b="1" dirty="0">
                <a:solidFill>
                  <a:srgbClr val="000000"/>
                </a:solidFill>
                <a:latin typeface="+mj-lt"/>
                <a:ea typeface="+mj-ea"/>
                <a:sym typeface="Courier" pitchFamily="125" charset="0"/>
              </a:rPr>
              <a:t> = 1.0f/3.0f;</a:t>
            </a:r>
            <a:endParaRPr lang="en-US" altLang="zh-CN" sz="1700" b="1" dirty="0">
              <a:solidFill>
                <a:srgbClr val="000000"/>
              </a:solidFill>
              <a:latin typeface="+mj-lt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513133384"/>
      </p:ext>
    </p:extLst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9DA3C5B7-3BCF-A683-5BD6-7DD3DD663F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8A737942-46E4-6405-5DE5-98510EDFAC7C}"/>
              </a:ext>
            </a:extLst>
          </p:cNvPr>
          <p:cNvGrpSpPr/>
          <p:nvPr/>
        </p:nvGrpSpPr>
        <p:grpSpPr>
          <a:xfrm>
            <a:off x="3630807" y="251474"/>
            <a:ext cx="4930385" cy="523226"/>
            <a:chOff x="4840431" y="207541"/>
            <a:chExt cx="4930385" cy="523226"/>
          </a:xfrm>
        </p:grpSpPr>
        <p:pic>
          <p:nvPicPr>
            <p:cNvPr id="6" name="Picture 4" descr="黑爵(AJAZZ)手柄/方向盘AG180报价_参数_图片_视频_怎么样_问答-苏宁易购">
              <a:extLst>
                <a:ext uri="{FF2B5EF4-FFF2-40B4-BE49-F238E27FC236}">
                  <a16:creationId xmlns:a16="http://schemas.microsoft.com/office/drawing/2014/main" id="{D25804D6-967F-1DF8-9242-0FBE79843D3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45" t="9275" r="3752" b="5379"/>
            <a:stretch/>
          </p:blipFill>
          <p:spPr bwMode="auto">
            <a:xfrm>
              <a:off x="4840431" y="314689"/>
              <a:ext cx="407315" cy="37661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" name="Rectangle 3">
              <a:extLst>
                <a:ext uri="{FF2B5EF4-FFF2-40B4-BE49-F238E27FC236}">
                  <a16:creationId xmlns:a16="http://schemas.microsoft.com/office/drawing/2014/main" id="{16880339-E954-4C02-8081-44A59B449D40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5298546" y="207541"/>
              <a:ext cx="4472270" cy="523226"/>
            </a:xfrm>
            <a:prstGeom prst="rect">
              <a:avLst/>
            </a:prstGeom>
            <a:noFill/>
          </p:spPr>
          <p:txBody>
            <a:bodyPr lIns="90488" tIns="44450" rIns="90488" bIns="44450"/>
            <a:lstStyle>
              <a:lvl1pPr marL="171450" indent="-17145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1pPr>
              <a:lvl2pPr marL="5143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8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2pPr>
              <a:lvl3pPr marL="8572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3pPr>
              <a:lvl4pPr marL="12001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4pPr>
              <a:lvl5pPr marL="15430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fontAlgn="base">
                <a:lnSpc>
                  <a:spcPct val="100000"/>
                </a:lnSpc>
                <a:buNone/>
              </a:pPr>
              <a:r>
                <a:rPr lang="zh-CN" altLang="en-US" sz="3200" dirty="0">
                  <a:latin typeface="Times New Roman" panose="02020603050405020304" pitchFamily="18" charset="0"/>
                  <a:ea typeface="楷体" panose="02010609060101010101" pitchFamily="49" charset="-122"/>
                  <a:sym typeface="+mn-ea"/>
                </a:rPr>
                <a:t>重要的</a:t>
              </a:r>
              <a:r>
                <a:rPr lang="en-US" altLang="zh-CN" sz="3200" dirty="0">
                  <a:latin typeface="Times New Roman" panose="02020603050405020304" pitchFamily="18" charset="0"/>
                  <a:ea typeface="楷体" panose="02010609060101010101" pitchFamily="49" charset="-122"/>
                  <a:sym typeface="+mn-ea"/>
                </a:rPr>
                <a:t>C# </a:t>
              </a:r>
              <a:r>
                <a:rPr lang="zh-CN" altLang="en-US" sz="3200" dirty="0">
                  <a:latin typeface="Times New Roman" panose="02020603050405020304" pitchFamily="18" charset="0"/>
                  <a:ea typeface="楷体" panose="02010609060101010101" pitchFamily="49" charset="-122"/>
                  <a:sym typeface="+mn-ea"/>
                </a:rPr>
                <a:t>中的变量类型</a:t>
              </a:r>
            </a:p>
          </p:txBody>
        </p:sp>
      </p:grp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FEE6C5F2-2F15-5503-0EAB-643591ACCBE9}"/>
              </a:ext>
            </a:extLst>
          </p:cNvPr>
          <p:cNvSpPr/>
          <p:nvPr/>
        </p:nvSpPr>
        <p:spPr>
          <a:xfrm>
            <a:off x="2110738" y="1149189"/>
            <a:ext cx="7970522" cy="609639"/>
          </a:xfrm>
          <a:prstGeom prst="roundRect">
            <a:avLst>
              <a:gd name="adj" fmla="val 3791"/>
            </a:avLst>
          </a:prstGeom>
          <a:gradFill>
            <a:gsLst>
              <a:gs pos="0">
                <a:srgbClr val="7030A0">
                  <a:alpha val="5000"/>
                </a:srgbClr>
              </a:gs>
              <a:gs pos="100000">
                <a:srgbClr val="00B0F0">
                  <a:alpha val="5000"/>
                </a:srgbClr>
              </a:gs>
            </a:gsLst>
            <a:lin ang="13500000" scaled="1"/>
          </a:gradFill>
          <a:ln>
            <a:gradFill>
              <a:gsLst>
                <a:gs pos="0">
                  <a:srgbClr val="0070C0"/>
                </a:gs>
                <a:gs pos="100000">
                  <a:srgbClr val="7030A0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108000" rtlCol="0" anchor="ctr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2000" b="1" dirty="0">
                <a:solidFill>
                  <a:srgbClr val="A7357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宋体" panose="02010600030101010101" pitchFamily="2" charset="-122"/>
                <a:sym typeface="+mn-ea"/>
              </a:rPr>
              <a:t>char: 16</a:t>
            </a:r>
            <a:r>
              <a:rPr lang="zh-CN" altLang="en-US" sz="2000" b="1" dirty="0">
                <a:solidFill>
                  <a:srgbClr val="A7357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宋体" panose="02010600030101010101" pitchFamily="2" charset="-122"/>
                <a:sym typeface="+mn-ea"/>
              </a:rPr>
              <a:t>位表示单个字符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C168A97A-DD7E-AD63-8055-93B5033C2AC3}"/>
              </a:ext>
            </a:extLst>
          </p:cNvPr>
          <p:cNvSpPr/>
          <p:nvPr/>
        </p:nvSpPr>
        <p:spPr>
          <a:xfrm>
            <a:off x="2110739" y="1854199"/>
            <a:ext cx="7970522" cy="4429761"/>
          </a:xfrm>
          <a:prstGeom prst="roundRect">
            <a:avLst>
              <a:gd name="adj" fmla="val 1731"/>
            </a:avLst>
          </a:prstGeom>
          <a:gradFill>
            <a:gsLst>
              <a:gs pos="0">
                <a:srgbClr val="7030A0">
                  <a:alpha val="5000"/>
                </a:srgbClr>
              </a:gs>
              <a:gs pos="100000">
                <a:srgbClr val="00B0F0">
                  <a:alpha val="5000"/>
                </a:srgbClr>
              </a:gs>
            </a:gsLst>
            <a:lin ang="13500000" scaled="1"/>
          </a:gradFill>
          <a:ln>
            <a:gradFill>
              <a:gsLst>
                <a:gs pos="0">
                  <a:srgbClr val="0070C0"/>
                </a:gs>
                <a:gs pos="100000">
                  <a:srgbClr val="7030A0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108000" rtlCol="0" anchor="ctr">
            <a:noAutofit/>
          </a:bodyPr>
          <a:lstStyle/>
          <a:p>
            <a:pPr marL="825500" lvl="1" indent="-342900" defTabSz="885825">
              <a:spcBef>
                <a:spcPts val="1100"/>
              </a:spcBef>
              <a:buFont typeface="Wingdings" panose="05000000000000000000" pitchFamily="2" charset="2"/>
              <a:buChar char="l"/>
            </a:pPr>
            <a:r>
              <a:rPr lang="zh-CN" altLang="en-US" sz="1900" b="1" dirty="0">
                <a:solidFill>
                  <a:srgbClr val="A7357F"/>
                </a:solidFill>
                <a:latin typeface="+mj-ea"/>
                <a:ea typeface="+mj-ea"/>
              </a:rPr>
              <a:t>单个字符以</a:t>
            </a:r>
            <a:r>
              <a:rPr lang="en-US" altLang="zh-CN" sz="1900" b="1" dirty="0">
                <a:solidFill>
                  <a:srgbClr val="A7357F"/>
                </a:solidFill>
                <a:latin typeface="+mj-ea"/>
                <a:ea typeface="+mj-ea"/>
              </a:rPr>
              <a:t>16</a:t>
            </a:r>
            <a:r>
              <a:rPr lang="zh-CN" altLang="en-US" sz="1900" b="1" dirty="0">
                <a:solidFill>
                  <a:srgbClr val="A7357F"/>
                </a:solidFill>
                <a:latin typeface="+mj-ea"/>
                <a:ea typeface="+mj-ea"/>
              </a:rPr>
              <a:t>个二进制位表示</a:t>
            </a:r>
          </a:p>
          <a:p>
            <a:pPr marL="825500" lvl="1" indent="-342900" defTabSz="885825">
              <a:spcBef>
                <a:spcPts val="1100"/>
              </a:spcBef>
              <a:buFont typeface="Wingdings" panose="05000000000000000000" pitchFamily="2" charset="2"/>
              <a:buChar char="l"/>
            </a:pPr>
            <a:r>
              <a:rPr lang="zh-CN" altLang="en-US" sz="1900" b="1" dirty="0">
                <a:solidFill>
                  <a:srgbClr val="A7357F"/>
                </a:solidFill>
                <a:latin typeface="+mj-ea"/>
                <a:ea typeface="+mj-ea"/>
              </a:rPr>
              <a:t>用</a:t>
            </a:r>
            <a:r>
              <a:rPr lang="en-US" altLang="zh-CN" sz="1900" b="1" dirty="0">
                <a:solidFill>
                  <a:srgbClr val="A7357F"/>
                </a:solidFill>
                <a:latin typeface="+mj-ea"/>
                <a:ea typeface="+mj-ea"/>
              </a:rPr>
              <a:t>Unicode</a:t>
            </a:r>
            <a:r>
              <a:rPr lang="zh-CN" altLang="en-US" sz="1900" b="1" dirty="0">
                <a:solidFill>
                  <a:srgbClr val="A7357F"/>
                </a:solidFill>
                <a:latin typeface="+mj-ea"/>
                <a:ea typeface="+mj-ea"/>
              </a:rPr>
              <a:t>值存储字符</a:t>
            </a:r>
          </a:p>
          <a:p>
            <a:pPr marL="1282700" lvl="2" indent="-342900" defTabSz="885825">
              <a:spcBef>
                <a:spcPts val="1100"/>
              </a:spcBef>
              <a:buFont typeface="Wingdings" panose="05000000000000000000" pitchFamily="2" charset="2"/>
              <a:buChar char="l"/>
            </a:pPr>
            <a:r>
              <a:rPr lang="en-US" altLang="zh-CN" sz="1900" b="1" dirty="0">
                <a:solidFill>
                  <a:srgbClr val="000000"/>
                </a:solidFill>
                <a:latin typeface="+mj-lt"/>
                <a:ea typeface="+mj-ea"/>
              </a:rPr>
              <a:t>Unicode</a:t>
            </a:r>
            <a:r>
              <a:rPr lang="zh-CN" altLang="en-US" sz="1900" b="1" dirty="0">
                <a:solidFill>
                  <a:srgbClr val="000000"/>
                </a:solidFill>
                <a:latin typeface="+mj-lt"/>
                <a:ea typeface="+mj-ea"/>
              </a:rPr>
              <a:t>可表示</a:t>
            </a:r>
            <a:r>
              <a:rPr lang="en-US" altLang="zh-CN" sz="1900" b="1" dirty="0">
                <a:solidFill>
                  <a:srgbClr val="000000"/>
                </a:solidFill>
                <a:latin typeface="+mj-lt"/>
                <a:ea typeface="+mj-ea"/>
              </a:rPr>
              <a:t>100</a:t>
            </a:r>
            <a:r>
              <a:rPr lang="zh-CN" altLang="en-US" sz="1900" b="1" dirty="0">
                <a:solidFill>
                  <a:srgbClr val="000000"/>
                </a:solidFill>
                <a:latin typeface="+mj-lt"/>
                <a:ea typeface="+mj-ea"/>
              </a:rPr>
              <a:t>多个字符集和语言中的</a:t>
            </a:r>
            <a:r>
              <a:rPr lang="en-US" altLang="zh-CN" sz="1900" b="1" dirty="0">
                <a:solidFill>
                  <a:srgbClr val="000000"/>
                </a:solidFill>
                <a:latin typeface="+mj-lt"/>
                <a:ea typeface="+mj-ea"/>
              </a:rPr>
              <a:t>11</a:t>
            </a:r>
            <a:r>
              <a:rPr lang="zh-CN" altLang="en-US" sz="1900" b="1" dirty="0">
                <a:solidFill>
                  <a:srgbClr val="000000"/>
                </a:solidFill>
                <a:latin typeface="+mj-lt"/>
                <a:ea typeface="+mj-ea"/>
              </a:rPr>
              <a:t>万多个字符。</a:t>
            </a:r>
          </a:p>
          <a:p>
            <a:pPr marL="825500" lvl="1" indent="-342900" defTabSz="885825">
              <a:spcBef>
                <a:spcPts val="1100"/>
              </a:spcBef>
              <a:buFont typeface="Wingdings" panose="05000000000000000000" pitchFamily="2" charset="2"/>
              <a:buChar char="l"/>
            </a:pPr>
            <a:r>
              <a:rPr lang="zh-CN" altLang="en-US" sz="1900" b="1" dirty="0">
                <a:solidFill>
                  <a:srgbClr val="A7357F"/>
                </a:solidFill>
                <a:latin typeface="+mj-ea"/>
                <a:ea typeface="+mj-ea"/>
              </a:rPr>
              <a:t>大写字母和小写字母代表不同的值</a:t>
            </a:r>
            <a:r>
              <a:rPr lang="en-US" altLang="zh-CN" sz="1900" b="1" dirty="0">
                <a:solidFill>
                  <a:srgbClr val="A7357F"/>
                </a:solidFill>
                <a:latin typeface="+mj-ea"/>
                <a:ea typeface="+mj-ea"/>
              </a:rPr>
              <a:t>!</a:t>
            </a:r>
          </a:p>
          <a:p>
            <a:pPr marL="825500" lvl="1" indent="-342900" defTabSz="885825">
              <a:spcBef>
                <a:spcPts val="1100"/>
              </a:spcBef>
              <a:buFont typeface="Wingdings" panose="05000000000000000000" pitchFamily="2" charset="2"/>
              <a:buChar char="l"/>
            </a:pPr>
            <a:r>
              <a:rPr lang="zh-CN" altLang="en-US" sz="1900" b="1" dirty="0">
                <a:solidFill>
                  <a:srgbClr val="A7357F"/>
                </a:solidFill>
                <a:latin typeface="+mj-ea"/>
                <a:ea typeface="+mj-ea"/>
              </a:rPr>
              <a:t>字符型字面值的两边使用单引号</a:t>
            </a:r>
          </a:p>
          <a:p>
            <a:pPr marL="825500" lvl="1" indent="-342900" defTabSz="885825">
              <a:spcBef>
                <a:spcPts val="1100"/>
              </a:spcBef>
              <a:buFont typeface="Wingdings" panose="05000000000000000000" pitchFamily="2" charset="2"/>
              <a:buChar char="l"/>
            </a:pPr>
            <a:r>
              <a:rPr lang="zh-CN" altLang="en-US" sz="1900" b="1" dirty="0">
                <a:solidFill>
                  <a:srgbClr val="A7357F"/>
                </a:solidFill>
                <a:latin typeface="+mj-ea"/>
                <a:ea typeface="+mj-ea"/>
              </a:rPr>
              <a:t>示例</a:t>
            </a:r>
            <a:endParaRPr lang="en-US" altLang="zh-CN" sz="1900" b="1" dirty="0">
              <a:solidFill>
                <a:srgbClr val="A7357F"/>
              </a:solidFill>
              <a:latin typeface="+mj-ea"/>
              <a:ea typeface="+mj-ea"/>
            </a:endParaRPr>
          </a:p>
          <a:p>
            <a:pPr marL="1282700" lvl="2" indent="-342900" defTabSz="885825">
              <a:spcBef>
                <a:spcPts val="1100"/>
              </a:spcBef>
              <a:buFont typeface="Wingdings" panose="05000000000000000000" pitchFamily="2" charset="2"/>
              <a:buChar char="l"/>
            </a:pPr>
            <a:r>
              <a:rPr lang="zh-CN" altLang="en-US" sz="1900" b="1" dirty="0">
                <a:solidFill>
                  <a:srgbClr val="000000"/>
                </a:solidFill>
                <a:latin typeface="+mj-lt"/>
                <a:ea typeface="+mj-ea"/>
              </a:rPr>
              <a:t>示例：</a:t>
            </a:r>
            <a:r>
              <a:rPr lang="en-US" altLang="zh-CN" sz="1900" b="1" dirty="0">
                <a:solidFill>
                  <a:srgbClr val="000000"/>
                </a:solidFill>
                <a:latin typeface="+mj-lt"/>
                <a:ea typeface="+mj-ea"/>
              </a:rPr>
              <a:t>'</a:t>
            </a:r>
            <a:r>
              <a:rPr lang="en-US" altLang="zh-CN" sz="1900" b="1" dirty="0" err="1">
                <a:solidFill>
                  <a:srgbClr val="000000"/>
                </a:solidFill>
                <a:latin typeface="+mj-lt"/>
                <a:ea typeface="+mj-ea"/>
              </a:rPr>
              <a:t>A','a</a:t>
            </a:r>
            <a:r>
              <a:rPr lang="en-US" altLang="zh-CN" sz="1900" b="1" dirty="0">
                <a:solidFill>
                  <a:srgbClr val="000000"/>
                </a:solidFill>
                <a:latin typeface="+mj-lt"/>
                <a:ea typeface="+mj-ea"/>
              </a:rPr>
              <a:t>','\t'</a:t>
            </a:r>
          </a:p>
          <a:p>
            <a:pPr marL="1282700" lvl="2" indent="-342900" defTabSz="885825">
              <a:spcBef>
                <a:spcPts val="1100"/>
              </a:spcBef>
              <a:buFont typeface="Wingdings" panose="05000000000000000000" pitchFamily="2" charset="2"/>
              <a:buChar char="l"/>
            </a:pPr>
            <a:r>
              <a:rPr lang="en-US" altLang="zh-CN" sz="1900" b="1" dirty="0">
                <a:solidFill>
                  <a:srgbClr val="000000"/>
                </a:solidFill>
                <a:latin typeface="+mj-lt"/>
                <a:ea typeface="+mj-ea"/>
              </a:rPr>
              <a:t>char </a:t>
            </a:r>
            <a:r>
              <a:rPr lang="en-US" altLang="zh-CN" sz="1900" b="1" dirty="0" err="1">
                <a:solidFill>
                  <a:srgbClr val="000000"/>
                </a:solidFill>
                <a:latin typeface="+mj-lt"/>
                <a:ea typeface="+mj-ea"/>
              </a:rPr>
              <a:t>theLetterA</a:t>
            </a:r>
            <a:r>
              <a:rPr lang="en-US" altLang="zh-CN" sz="1900" b="1" dirty="0">
                <a:solidFill>
                  <a:srgbClr val="000000"/>
                </a:solidFill>
                <a:latin typeface="+mj-lt"/>
                <a:ea typeface="+mj-ea"/>
              </a:rPr>
              <a:t> = 'A';</a:t>
            </a:r>
          </a:p>
        </p:txBody>
      </p:sp>
    </p:spTree>
    <p:extLst>
      <p:ext uri="{BB962C8B-B14F-4D97-AF65-F5344CB8AC3E}">
        <p14:creationId xmlns:p14="http://schemas.microsoft.com/office/powerpoint/2010/main" val="3329368346"/>
      </p:ext>
    </p:extLst>
  </p:cSld>
  <p:clrMapOvr>
    <a:masterClrMapping/>
  </p:clrMapOvr>
  <p:transition spd="med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736B4FEF-B4DB-3C43-D87C-962A9F7B86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BA12093C-74F2-054B-02F2-55644D407453}"/>
              </a:ext>
            </a:extLst>
          </p:cNvPr>
          <p:cNvGrpSpPr/>
          <p:nvPr/>
        </p:nvGrpSpPr>
        <p:grpSpPr>
          <a:xfrm>
            <a:off x="3630807" y="251474"/>
            <a:ext cx="4930385" cy="523226"/>
            <a:chOff x="4840431" y="207541"/>
            <a:chExt cx="4930385" cy="523226"/>
          </a:xfrm>
        </p:grpSpPr>
        <p:pic>
          <p:nvPicPr>
            <p:cNvPr id="6" name="Picture 4" descr="黑爵(AJAZZ)手柄/方向盘AG180报价_参数_图片_视频_怎么样_问答-苏宁易购">
              <a:extLst>
                <a:ext uri="{FF2B5EF4-FFF2-40B4-BE49-F238E27FC236}">
                  <a16:creationId xmlns:a16="http://schemas.microsoft.com/office/drawing/2014/main" id="{F6C7AEEC-AF3E-69E9-8F2D-3447065F276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45" t="9275" r="3752" b="5379"/>
            <a:stretch/>
          </p:blipFill>
          <p:spPr bwMode="auto">
            <a:xfrm>
              <a:off x="4840431" y="314689"/>
              <a:ext cx="407315" cy="37661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" name="Rectangle 3">
              <a:extLst>
                <a:ext uri="{FF2B5EF4-FFF2-40B4-BE49-F238E27FC236}">
                  <a16:creationId xmlns:a16="http://schemas.microsoft.com/office/drawing/2014/main" id="{2A7C07EF-B3A0-F0A8-ED2A-188E1F563C0C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5298546" y="207541"/>
              <a:ext cx="4472270" cy="523226"/>
            </a:xfrm>
            <a:prstGeom prst="rect">
              <a:avLst/>
            </a:prstGeom>
            <a:noFill/>
          </p:spPr>
          <p:txBody>
            <a:bodyPr lIns="90488" tIns="44450" rIns="90488" bIns="44450"/>
            <a:lstStyle>
              <a:lvl1pPr marL="171450" indent="-17145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1pPr>
              <a:lvl2pPr marL="5143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8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2pPr>
              <a:lvl3pPr marL="8572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3pPr>
              <a:lvl4pPr marL="12001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4pPr>
              <a:lvl5pPr marL="15430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fontAlgn="base">
                <a:lnSpc>
                  <a:spcPct val="100000"/>
                </a:lnSpc>
                <a:buNone/>
              </a:pPr>
              <a:r>
                <a:rPr lang="zh-CN" altLang="en-US" sz="3200" dirty="0">
                  <a:latin typeface="Times New Roman" panose="02020603050405020304" pitchFamily="18" charset="0"/>
                  <a:ea typeface="楷体" panose="02010609060101010101" pitchFamily="49" charset="-122"/>
                  <a:sym typeface="+mn-ea"/>
                </a:rPr>
                <a:t>重要的</a:t>
              </a:r>
              <a:r>
                <a:rPr lang="en-US" altLang="zh-CN" sz="3200" dirty="0">
                  <a:latin typeface="Times New Roman" panose="02020603050405020304" pitchFamily="18" charset="0"/>
                  <a:ea typeface="楷体" panose="02010609060101010101" pitchFamily="49" charset="-122"/>
                  <a:sym typeface="+mn-ea"/>
                </a:rPr>
                <a:t>C# </a:t>
              </a:r>
              <a:r>
                <a:rPr lang="zh-CN" altLang="en-US" sz="3200" dirty="0">
                  <a:latin typeface="Times New Roman" panose="02020603050405020304" pitchFamily="18" charset="0"/>
                  <a:ea typeface="楷体" panose="02010609060101010101" pitchFamily="49" charset="-122"/>
                  <a:sym typeface="+mn-ea"/>
                </a:rPr>
                <a:t>中的变量类型</a:t>
              </a:r>
            </a:p>
          </p:txBody>
        </p:sp>
      </p:grp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38986BBB-2AC1-9443-896B-20425C26A879}"/>
              </a:ext>
            </a:extLst>
          </p:cNvPr>
          <p:cNvSpPr/>
          <p:nvPr/>
        </p:nvSpPr>
        <p:spPr>
          <a:xfrm>
            <a:off x="1500706" y="1037356"/>
            <a:ext cx="9190588" cy="609639"/>
          </a:xfrm>
          <a:prstGeom prst="roundRect">
            <a:avLst>
              <a:gd name="adj" fmla="val 3791"/>
            </a:avLst>
          </a:prstGeom>
          <a:gradFill>
            <a:gsLst>
              <a:gs pos="0">
                <a:srgbClr val="7030A0">
                  <a:alpha val="5000"/>
                </a:srgbClr>
              </a:gs>
              <a:gs pos="100000">
                <a:srgbClr val="00B0F0">
                  <a:alpha val="5000"/>
                </a:srgbClr>
              </a:gs>
            </a:gsLst>
            <a:lin ang="13500000" scaled="1"/>
          </a:gradFill>
          <a:ln>
            <a:gradFill>
              <a:gsLst>
                <a:gs pos="0">
                  <a:srgbClr val="0070C0"/>
                </a:gs>
                <a:gs pos="100000">
                  <a:srgbClr val="7030A0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108000" rtlCol="0" anchor="ctr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2000" b="1" dirty="0">
                <a:solidFill>
                  <a:srgbClr val="A7357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宋体" panose="02010600030101010101" pitchFamily="2" charset="-122"/>
                <a:sym typeface="+mn-ea"/>
              </a:rPr>
              <a:t>string : </a:t>
            </a:r>
            <a:r>
              <a:rPr lang="zh-CN" altLang="en-US" sz="2000" b="1" dirty="0">
                <a:solidFill>
                  <a:srgbClr val="A7357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宋体" panose="02010600030101010101" pitchFamily="2" charset="-122"/>
                <a:sym typeface="+mn-ea"/>
              </a:rPr>
              <a:t>一系列的</a:t>
            </a:r>
            <a:r>
              <a:rPr lang="en-US" altLang="zh-CN" sz="2000" b="1" dirty="0">
                <a:solidFill>
                  <a:srgbClr val="A7357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宋体" panose="02010600030101010101" pitchFamily="2" charset="-122"/>
                <a:sym typeface="+mn-ea"/>
              </a:rPr>
              <a:t>16</a:t>
            </a:r>
            <a:r>
              <a:rPr lang="zh-CN" altLang="en-US" sz="2000" b="1" dirty="0">
                <a:solidFill>
                  <a:srgbClr val="A7357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宋体" panose="02010600030101010101" pitchFamily="2" charset="-122"/>
                <a:sym typeface="+mn-ea"/>
              </a:rPr>
              <a:t>位字符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6264BA6B-A267-829B-39E1-8BC22E4C2240}"/>
              </a:ext>
            </a:extLst>
          </p:cNvPr>
          <p:cNvSpPr/>
          <p:nvPr/>
        </p:nvSpPr>
        <p:spPr>
          <a:xfrm>
            <a:off x="1500706" y="1742366"/>
            <a:ext cx="9190588" cy="4757012"/>
          </a:xfrm>
          <a:prstGeom prst="roundRect">
            <a:avLst>
              <a:gd name="adj" fmla="val 1731"/>
            </a:avLst>
          </a:prstGeom>
          <a:gradFill>
            <a:gsLst>
              <a:gs pos="0">
                <a:srgbClr val="7030A0">
                  <a:alpha val="5000"/>
                </a:srgbClr>
              </a:gs>
              <a:gs pos="100000">
                <a:srgbClr val="00B0F0">
                  <a:alpha val="5000"/>
                </a:srgbClr>
              </a:gs>
            </a:gsLst>
            <a:lin ang="13500000" scaled="1"/>
          </a:gradFill>
          <a:ln>
            <a:gradFill>
              <a:gsLst>
                <a:gs pos="0">
                  <a:srgbClr val="0070C0"/>
                </a:gs>
                <a:gs pos="100000">
                  <a:srgbClr val="7030A0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108000" rtlCol="0" anchor="ctr">
            <a:noAutofit/>
          </a:bodyPr>
          <a:lstStyle/>
          <a:p>
            <a:pPr marL="839788" lvl="1" indent="-342900">
              <a:spcBef>
                <a:spcPts val="1100"/>
              </a:spcBef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A7357F"/>
                </a:solidFill>
                <a:latin typeface="+mj-ea"/>
                <a:ea typeface="+mj-ea"/>
              </a:rPr>
              <a:t>存储从小到空字符</a:t>
            </a:r>
            <a:r>
              <a:rPr lang="en-US" altLang="zh-CN" sz="2000" b="1" dirty="0">
                <a:solidFill>
                  <a:srgbClr val="A7357F"/>
                </a:solidFill>
                <a:latin typeface="+mj-ea"/>
                <a:ea typeface="+mj-ea"/>
              </a:rPr>
              <a:t>("") </a:t>
            </a:r>
            <a:r>
              <a:rPr lang="zh-CN" altLang="en-US" sz="2000" b="1" dirty="0">
                <a:solidFill>
                  <a:srgbClr val="A7357F"/>
                </a:solidFill>
                <a:latin typeface="+mj-ea"/>
                <a:ea typeface="+mj-ea"/>
              </a:rPr>
              <a:t>大到整本小说的内容</a:t>
            </a:r>
            <a:endParaRPr lang="en-US" altLang="zh-CN" sz="2000" b="1" dirty="0">
              <a:solidFill>
                <a:srgbClr val="A7357F"/>
              </a:solidFill>
              <a:latin typeface="+mj-ea"/>
              <a:ea typeface="+mj-ea"/>
            </a:endParaRPr>
          </a:p>
          <a:p>
            <a:pPr marL="1239838" lvl="2" indent="-285750">
              <a:spcBef>
                <a:spcPts val="700"/>
              </a:spcBef>
              <a:buFont typeface="Wingdings" panose="05000000000000000000" pitchFamily="2" charset="2"/>
              <a:buChar char="l"/>
            </a:pPr>
            <a:r>
              <a:rPr lang="en-US" altLang="zh-CN" sz="2000" b="1" dirty="0">
                <a:solidFill>
                  <a:srgbClr val="000000"/>
                </a:solidFill>
                <a:latin typeface="+mj-lt"/>
                <a:ea typeface="+mj-ea"/>
                <a:cs typeface="Times New Roman" panose="02020603050405020304" pitchFamily="18" charset="0"/>
              </a:rPr>
              <a:t>4GB</a:t>
            </a:r>
            <a:r>
              <a:rPr lang="zh-CN" altLang="en-US" sz="2000" b="1" dirty="0">
                <a:solidFill>
                  <a:srgbClr val="000000"/>
                </a:solidFill>
                <a:latin typeface="+mj-lt"/>
                <a:ea typeface="+mj-ea"/>
                <a:cs typeface="Times New Roman" panose="02020603050405020304" pitchFamily="18" charset="0"/>
              </a:rPr>
              <a:t>内存理论上限是</a:t>
            </a:r>
            <a:r>
              <a:rPr lang="en-US" altLang="zh-CN" sz="2000" b="1" dirty="0">
                <a:solidFill>
                  <a:srgbClr val="000000"/>
                </a:solidFill>
                <a:latin typeface="+mj-lt"/>
                <a:ea typeface="+mj-ea"/>
                <a:cs typeface="Times New Roman" panose="02020603050405020304" pitchFamily="18" charset="0"/>
              </a:rPr>
              <a:t>20</a:t>
            </a:r>
            <a:r>
              <a:rPr lang="zh-CN" altLang="en-US" sz="2000" b="1" dirty="0">
                <a:solidFill>
                  <a:srgbClr val="000000"/>
                </a:solidFill>
                <a:latin typeface="+mj-lt"/>
                <a:ea typeface="+mj-ea"/>
                <a:cs typeface="Times New Roman" panose="02020603050405020304" pitchFamily="18" charset="0"/>
              </a:rPr>
              <a:t>亿字符</a:t>
            </a:r>
            <a:r>
              <a:rPr lang="en-US" altLang="zh-CN" sz="2000" b="1" dirty="0">
                <a:solidFill>
                  <a:srgbClr val="000000"/>
                </a:solidFill>
                <a:latin typeface="+mj-lt"/>
                <a:ea typeface="+mj-ea"/>
                <a:cs typeface="Times New Roman" panose="02020603050405020304" pitchFamily="18" charset="0"/>
              </a:rPr>
              <a:t>, </a:t>
            </a:r>
            <a:r>
              <a:rPr lang="zh-CN" altLang="en-US" sz="2000" b="1" dirty="0">
                <a:solidFill>
                  <a:srgbClr val="000000"/>
                </a:solidFill>
                <a:latin typeface="+mj-lt"/>
                <a:ea typeface="+mj-ea"/>
                <a:cs typeface="Times New Roman" panose="02020603050405020304" pitchFamily="18" charset="0"/>
              </a:rPr>
              <a:t>可以包含</a:t>
            </a:r>
            <a:r>
              <a:rPr lang="en-US" altLang="zh-CN" sz="2000" b="1" dirty="0">
                <a:solidFill>
                  <a:srgbClr val="000000"/>
                </a:solidFill>
                <a:latin typeface="+mj-lt"/>
                <a:ea typeface="+mj-ea"/>
                <a:cs typeface="Times New Roman" panose="02020603050405020304" pitchFamily="18" charset="0"/>
              </a:rPr>
              <a:t>12,000</a:t>
            </a:r>
            <a:r>
              <a:rPr lang="zh-CN" altLang="en-US" sz="2000" b="1" dirty="0">
                <a:solidFill>
                  <a:srgbClr val="000000"/>
                </a:solidFill>
                <a:latin typeface="+mj-lt"/>
                <a:ea typeface="+mj-ea"/>
                <a:cs typeface="Times New Roman" panose="02020603050405020304" pitchFamily="18" charset="0"/>
              </a:rPr>
              <a:t>个《哈姆雷特》</a:t>
            </a:r>
            <a:endParaRPr lang="en-US" altLang="zh-CN" sz="2000" b="1" dirty="0">
              <a:solidFill>
                <a:srgbClr val="000000"/>
              </a:solidFill>
              <a:latin typeface="+mj-lt"/>
              <a:ea typeface="+mj-ea"/>
              <a:cs typeface="Times New Roman" panose="02020603050405020304" pitchFamily="18" charset="0"/>
            </a:endParaRPr>
          </a:p>
          <a:p>
            <a:pPr marL="839788" lvl="1" indent="-342900">
              <a:spcBef>
                <a:spcPts val="1100"/>
              </a:spcBef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A7357F"/>
                </a:solidFill>
                <a:latin typeface="+mj-ea"/>
                <a:ea typeface="+mj-ea"/>
              </a:rPr>
              <a:t>字符串字面值的两边使用双引号</a:t>
            </a:r>
            <a:endParaRPr lang="en-US" altLang="zh-CN" sz="2000" b="1" dirty="0">
              <a:solidFill>
                <a:srgbClr val="A7357F"/>
              </a:solidFill>
              <a:latin typeface="+mj-ea"/>
              <a:ea typeface="+mj-ea"/>
            </a:endParaRPr>
          </a:p>
          <a:p>
            <a:pPr marL="1239838" lvl="2" indent="-285750">
              <a:spcBef>
                <a:spcPts val="700"/>
              </a:spcBef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latin typeface="+mj-lt"/>
                <a:ea typeface="+mj-ea"/>
                <a:cs typeface="Times New Roman" panose="02020603050405020304" pitchFamily="18" charset="0"/>
                <a:sym typeface="Geneva" pitchFamily="125" charset="-128"/>
              </a:rPr>
              <a:t>字面值示例</a:t>
            </a:r>
            <a:r>
              <a:rPr lang="en-US" altLang="zh-CN" sz="2000" b="1" dirty="0">
                <a:solidFill>
                  <a:srgbClr val="000000"/>
                </a:solidFill>
                <a:latin typeface="+mj-lt"/>
                <a:ea typeface="+mj-ea"/>
                <a:cs typeface="Times New Roman" panose="02020603050405020304" pitchFamily="18" charset="0"/>
              </a:rPr>
              <a:t>:</a:t>
            </a:r>
            <a:r>
              <a:rPr lang="en-US" altLang="zh-CN" sz="2000" b="1" dirty="0">
                <a:solidFill>
                  <a:srgbClr val="000000"/>
                </a:solidFill>
                <a:latin typeface="+mj-lt"/>
                <a:ea typeface="+mj-ea"/>
                <a:cs typeface="Times New Roman" panose="02020603050405020304" pitchFamily="18" charset="0"/>
                <a:sym typeface="Courier" pitchFamily="125" charset="0"/>
              </a:rPr>
              <a:t> "Hello", "", "\</a:t>
            </a:r>
            <a:r>
              <a:rPr lang="en-US" altLang="zh-CN" sz="2000" b="1" dirty="0" err="1">
                <a:solidFill>
                  <a:srgbClr val="000000"/>
                </a:solidFill>
                <a:latin typeface="+mj-lt"/>
                <a:ea typeface="+mj-ea"/>
                <a:cs typeface="Times New Roman" panose="02020603050405020304" pitchFamily="18" charset="0"/>
                <a:sym typeface="Courier" pitchFamily="125" charset="0"/>
              </a:rPr>
              <a:t>tTab</a:t>
            </a:r>
            <a:r>
              <a:rPr lang="en-US" altLang="zh-CN" sz="2000" b="1" dirty="0">
                <a:solidFill>
                  <a:srgbClr val="000000"/>
                </a:solidFill>
                <a:latin typeface="+mj-lt"/>
                <a:ea typeface="+mj-ea"/>
                <a:cs typeface="Times New Roman" panose="02020603050405020304" pitchFamily="18" charset="0"/>
                <a:sym typeface="Courier" pitchFamily="125" charset="0"/>
              </a:rPr>
              <a:t>"</a:t>
            </a:r>
          </a:p>
          <a:p>
            <a:pPr marL="1296988" lvl="2" indent="-342900">
              <a:spcBef>
                <a:spcPts val="1100"/>
              </a:spcBef>
              <a:buFont typeface="Wingdings" panose="05000000000000000000" pitchFamily="2" charset="2"/>
              <a:buChar char="l"/>
            </a:pPr>
            <a:r>
              <a:rPr lang="en-US" altLang="zh-CN" sz="2000" b="1" dirty="0">
                <a:solidFill>
                  <a:srgbClr val="000000"/>
                </a:solidFill>
                <a:latin typeface="+mj-lt"/>
                <a:ea typeface="+mj-ea"/>
                <a:cs typeface="Times New Roman" panose="02020603050405020304" pitchFamily="18" charset="0"/>
                <a:sym typeface="Courier" pitchFamily="125" charset="0"/>
              </a:rPr>
              <a:t>string </a:t>
            </a:r>
            <a:r>
              <a:rPr lang="en-US" altLang="zh-CN" sz="2000" b="1" dirty="0" err="1">
                <a:solidFill>
                  <a:srgbClr val="000000"/>
                </a:solidFill>
                <a:latin typeface="+mj-lt"/>
                <a:ea typeface="+mj-ea"/>
                <a:cs typeface="Times New Roman" panose="02020603050405020304" pitchFamily="18" charset="0"/>
                <a:sym typeface="Courier" pitchFamily="125" charset="0"/>
              </a:rPr>
              <a:t>theFirstLineOfHamlet</a:t>
            </a:r>
            <a:r>
              <a:rPr lang="en-US" altLang="zh-CN" sz="2000" b="1" dirty="0">
                <a:solidFill>
                  <a:srgbClr val="000000"/>
                </a:solidFill>
                <a:latin typeface="+mj-lt"/>
                <a:ea typeface="+mj-ea"/>
                <a:cs typeface="Times New Roman" panose="02020603050405020304" pitchFamily="18" charset="0"/>
                <a:sym typeface="Courier" pitchFamily="125" charset="0"/>
              </a:rPr>
              <a:t> = "Who's there?";</a:t>
            </a:r>
            <a:endParaRPr lang="en-US" altLang="zh-CN" sz="2000" b="1" dirty="0">
              <a:solidFill>
                <a:srgbClr val="000000"/>
              </a:solidFill>
              <a:latin typeface="+mj-lt"/>
              <a:ea typeface="+mj-ea"/>
              <a:cs typeface="Times New Roman" panose="02020603050405020304" pitchFamily="18" charset="0"/>
            </a:endParaRPr>
          </a:p>
          <a:p>
            <a:pPr marL="839788" lvl="1" indent="-342900">
              <a:spcBef>
                <a:spcPts val="1100"/>
              </a:spcBef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A7357F"/>
                </a:solidFill>
                <a:latin typeface="+mj-ea"/>
                <a:ea typeface="+mj-ea"/>
              </a:rPr>
              <a:t>你可以通过下标索引访问字符串中的单个字符</a:t>
            </a:r>
            <a:endParaRPr lang="en-US" altLang="zh-CN" sz="2000" b="1" dirty="0">
              <a:solidFill>
                <a:srgbClr val="A7357F"/>
              </a:solidFill>
              <a:latin typeface="+mj-ea"/>
              <a:ea typeface="+mj-ea"/>
            </a:endParaRPr>
          </a:p>
          <a:p>
            <a:pPr marL="1296988" lvl="2" indent="-342900">
              <a:spcBef>
                <a:spcPts val="1100"/>
              </a:spcBef>
              <a:buFont typeface="Wingdings" panose="05000000000000000000" pitchFamily="2" charset="2"/>
              <a:buChar char="l"/>
            </a:pPr>
            <a:r>
              <a:rPr lang="en-US" altLang="zh-CN" sz="2000" b="1" dirty="0">
                <a:solidFill>
                  <a:srgbClr val="000000"/>
                </a:solidFill>
                <a:latin typeface="+mj-lt"/>
                <a:ea typeface="+mj-ea"/>
                <a:cs typeface="Times New Roman" panose="02020603050405020304" pitchFamily="18" charset="0"/>
                <a:sym typeface="Courier" pitchFamily="125" charset="0"/>
              </a:rPr>
              <a:t>char </a:t>
            </a:r>
            <a:r>
              <a:rPr lang="en-US" altLang="zh-CN" sz="2000" b="1" dirty="0" err="1">
                <a:solidFill>
                  <a:srgbClr val="000000"/>
                </a:solidFill>
                <a:latin typeface="+mj-lt"/>
                <a:ea typeface="+mj-ea"/>
                <a:cs typeface="Times New Roman" panose="02020603050405020304" pitchFamily="18" charset="0"/>
                <a:sym typeface="Courier" pitchFamily="125" charset="0"/>
              </a:rPr>
              <a:t>theCharW</a:t>
            </a:r>
            <a:r>
              <a:rPr lang="en-US" altLang="zh-CN" sz="2000" b="1" dirty="0">
                <a:solidFill>
                  <a:srgbClr val="000000"/>
                </a:solidFill>
                <a:latin typeface="+mj-lt"/>
                <a:ea typeface="+mj-ea"/>
                <a:cs typeface="Times New Roman" panose="02020603050405020304" pitchFamily="18" charset="0"/>
                <a:sym typeface="Courier" pitchFamily="125" charset="0"/>
              </a:rPr>
              <a:t> = </a:t>
            </a:r>
            <a:r>
              <a:rPr lang="en-US" altLang="zh-CN" sz="2000" b="1" dirty="0" err="1">
                <a:solidFill>
                  <a:srgbClr val="000000"/>
                </a:solidFill>
                <a:latin typeface="+mj-lt"/>
                <a:ea typeface="+mj-ea"/>
                <a:cs typeface="Times New Roman" panose="02020603050405020304" pitchFamily="18" charset="0"/>
                <a:sym typeface="Courier" pitchFamily="125" charset="0"/>
              </a:rPr>
              <a:t>theFirstLineOfHamlet</a:t>
            </a:r>
            <a:r>
              <a:rPr lang="en-US" altLang="zh-CN" sz="2000" b="1" dirty="0">
                <a:solidFill>
                  <a:srgbClr val="000000"/>
                </a:solidFill>
                <a:latin typeface="+mj-lt"/>
                <a:ea typeface="+mj-ea"/>
                <a:cs typeface="Times New Roman" panose="02020603050405020304" pitchFamily="18" charset="0"/>
                <a:sym typeface="Courier" pitchFamily="125" charset="0"/>
              </a:rPr>
              <a:t>[0];</a:t>
            </a:r>
            <a:endParaRPr lang="en-US" altLang="zh-CN" sz="2000" b="1" dirty="0">
              <a:solidFill>
                <a:srgbClr val="000000"/>
              </a:solidFill>
              <a:latin typeface="+mj-lt"/>
              <a:ea typeface="+mj-ea"/>
              <a:cs typeface="Times New Roman" panose="02020603050405020304" pitchFamily="18" charset="0"/>
            </a:endParaRPr>
          </a:p>
          <a:p>
            <a:pPr marL="1296988" lvl="2" indent="-342900">
              <a:spcBef>
                <a:spcPts val="1100"/>
              </a:spcBef>
              <a:buFont typeface="Wingdings" panose="05000000000000000000" pitchFamily="2" charset="2"/>
              <a:buChar char="l"/>
            </a:pPr>
            <a:r>
              <a:rPr lang="en-US" altLang="zh-CN" sz="2000" b="1" dirty="0">
                <a:solidFill>
                  <a:srgbClr val="000000"/>
                </a:solidFill>
                <a:latin typeface="+mj-lt"/>
                <a:ea typeface="+mj-ea"/>
                <a:cs typeface="Times New Roman" panose="02020603050405020304" pitchFamily="18" charset="0"/>
                <a:sym typeface="Courier" pitchFamily="125" charset="0"/>
              </a:rPr>
              <a:t>char </a:t>
            </a:r>
            <a:r>
              <a:rPr lang="en-US" altLang="zh-CN" sz="2000" b="1" dirty="0" err="1">
                <a:solidFill>
                  <a:srgbClr val="000000"/>
                </a:solidFill>
                <a:latin typeface="+mj-lt"/>
                <a:ea typeface="+mj-ea"/>
                <a:cs typeface="Times New Roman" panose="02020603050405020304" pitchFamily="18" charset="0"/>
                <a:sym typeface="Courier" pitchFamily="125" charset="0"/>
              </a:rPr>
              <a:t>questionMark</a:t>
            </a:r>
            <a:r>
              <a:rPr lang="en-US" altLang="zh-CN" sz="2000" b="1" dirty="0">
                <a:solidFill>
                  <a:srgbClr val="000000"/>
                </a:solidFill>
                <a:latin typeface="+mj-lt"/>
                <a:ea typeface="+mj-ea"/>
                <a:cs typeface="Times New Roman" panose="02020603050405020304" pitchFamily="18" charset="0"/>
                <a:sym typeface="Courier" pitchFamily="125" charset="0"/>
              </a:rPr>
              <a:t> = </a:t>
            </a:r>
            <a:r>
              <a:rPr lang="en-US" altLang="zh-CN" sz="2000" b="1" dirty="0" err="1">
                <a:solidFill>
                  <a:srgbClr val="000000"/>
                </a:solidFill>
                <a:latin typeface="+mj-lt"/>
                <a:ea typeface="+mj-ea"/>
                <a:cs typeface="Times New Roman" panose="02020603050405020304" pitchFamily="18" charset="0"/>
                <a:sym typeface="Courier" pitchFamily="125" charset="0"/>
              </a:rPr>
              <a:t>theFirstLineOfHamlet</a:t>
            </a:r>
            <a:r>
              <a:rPr lang="en-US" altLang="zh-CN" sz="2000" b="1" dirty="0">
                <a:solidFill>
                  <a:srgbClr val="000000"/>
                </a:solidFill>
                <a:latin typeface="+mj-lt"/>
                <a:ea typeface="+mj-ea"/>
                <a:cs typeface="Times New Roman" panose="02020603050405020304" pitchFamily="18" charset="0"/>
                <a:sym typeface="Courier" pitchFamily="125" charset="0"/>
              </a:rPr>
              <a:t>[11];</a:t>
            </a:r>
            <a:endParaRPr lang="en-US" altLang="zh-CN" sz="2000" b="1" dirty="0">
              <a:solidFill>
                <a:srgbClr val="000000"/>
              </a:solidFill>
              <a:latin typeface="+mj-lt"/>
              <a:ea typeface="+mj-ea"/>
              <a:cs typeface="Times New Roman" panose="02020603050405020304" pitchFamily="18" charset="0"/>
            </a:endParaRPr>
          </a:p>
          <a:p>
            <a:pPr marL="839788" lvl="1" indent="-342900">
              <a:spcBef>
                <a:spcPts val="1100"/>
              </a:spcBef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A7357F"/>
                </a:solidFill>
                <a:latin typeface="+mj-ea"/>
                <a:ea typeface="+mj-ea"/>
              </a:rPr>
              <a:t>字符串的长度可以通过</a:t>
            </a:r>
            <a:r>
              <a:rPr lang="en-US" altLang="zh-CN" sz="2000" b="1" dirty="0">
                <a:solidFill>
                  <a:srgbClr val="A7357F"/>
                </a:solidFill>
                <a:latin typeface="+mj-ea"/>
                <a:ea typeface="+mj-ea"/>
              </a:rPr>
              <a:t>.Length</a:t>
            </a:r>
            <a:r>
              <a:rPr lang="zh-CN" altLang="en-US" sz="2000" b="1" dirty="0">
                <a:solidFill>
                  <a:srgbClr val="A7357F"/>
                </a:solidFill>
                <a:latin typeface="+mj-ea"/>
                <a:ea typeface="+mj-ea"/>
              </a:rPr>
              <a:t>来获取</a:t>
            </a:r>
            <a:endParaRPr lang="en-US" altLang="zh-CN" sz="2000" b="1" dirty="0">
              <a:solidFill>
                <a:srgbClr val="A7357F"/>
              </a:solidFill>
              <a:latin typeface="+mj-ea"/>
              <a:ea typeface="+mj-ea"/>
            </a:endParaRPr>
          </a:p>
          <a:p>
            <a:pPr marL="1239838" lvl="2" indent="-285750">
              <a:spcBef>
                <a:spcPts val="700"/>
              </a:spcBef>
              <a:buFont typeface="Wingdings" panose="05000000000000000000" pitchFamily="2" charset="2"/>
              <a:buChar char="l"/>
            </a:pPr>
            <a:r>
              <a:rPr lang="en-US" altLang="zh-CN" sz="2000" b="1" dirty="0">
                <a:solidFill>
                  <a:srgbClr val="000000"/>
                </a:solidFill>
                <a:latin typeface="+mj-lt"/>
                <a:ea typeface="+mj-ea"/>
                <a:cs typeface="Times New Roman" panose="02020603050405020304" pitchFamily="18" charset="0"/>
                <a:sym typeface="Courier" pitchFamily="125" charset="0"/>
              </a:rPr>
              <a:t>int </a:t>
            </a:r>
            <a:r>
              <a:rPr lang="en-US" altLang="zh-CN" sz="2000" b="1" dirty="0" err="1">
                <a:solidFill>
                  <a:srgbClr val="000000"/>
                </a:solidFill>
                <a:latin typeface="+mj-lt"/>
                <a:ea typeface="+mj-ea"/>
                <a:cs typeface="Times New Roman" panose="02020603050405020304" pitchFamily="18" charset="0"/>
                <a:sym typeface="Courier" pitchFamily="125" charset="0"/>
              </a:rPr>
              <a:t>len</a:t>
            </a:r>
            <a:r>
              <a:rPr lang="en-US" altLang="zh-CN" sz="2000" b="1" dirty="0">
                <a:solidFill>
                  <a:srgbClr val="000000"/>
                </a:solidFill>
                <a:latin typeface="+mj-lt"/>
                <a:ea typeface="+mj-ea"/>
                <a:cs typeface="Times New Roman" panose="02020603050405020304" pitchFamily="18" charset="0"/>
                <a:sym typeface="Courier" pitchFamily="125" charset="0"/>
              </a:rPr>
              <a:t> = </a:t>
            </a:r>
            <a:r>
              <a:rPr lang="en-US" altLang="zh-CN" sz="2000" b="1" dirty="0" err="1">
                <a:solidFill>
                  <a:srgbClr val="000000"/>
                </a:solidFill>
                <a:latin typeface="+mj-lt"/>
                <a:ea typeface="+mj-ea"/>
                <a:cs typeface="Times New Roman" panose="02020603050405020304" pitchFamily="18" charset="0"/>
                <a:sym typeface="Courier" pitchFamily="125" charset="0"/>
              </a:rPr>
              <a:t>theFirstLineOfHamlet.Length</a:t>
            </a:r>
            <a:r>
              <a:rPr lang="en-US" altLang="zh-CN" sz="2000" b="1" dirty="0">
                <a:solidFill>
                  <a:srgbClr val="000000"/>
                </a:solidFill>
                <a:latin typeface="+mj-lt"/>
                <a:ea typeface="+mj-ea"/>
                <a:cs typeface="Times New Roman" panose="02020603050405020304" pitchFamily="18" charset="0"/>
                <a:sym typeface="Courier" pitchFamily="125" charset="0"/>
              </a:rPr>
              <a:t>;</a:t>
            </a:r>
            <a:endParaRPr lang="en-US" altLang="zh-CN" sz="2000" b="1" dirty="0">
              <a:solidFill>
                <a:srgbClr val="000000"/>
              </a:solidFill>
              <a:latin typeface="+mj-lt"/>
              <a:ea typeface="+mj-ea"/>
              <a:cs typeface="Times New Roman" panose="02020603050405020304" pitchFamily="18" charset="0"/>
            </a:endParaRPr>
          </a:p>
          <a:p>
            <a:pPr marL="1239838" lvl="2" indent="-285750">
              <a:buFont typeface="Wingdings" panose="05000000000000000000" pitchFamily="2" charset="2"/>
              <a:buChar char="l"/>
            </a:pPr>
            <a:r>
              <a:rPr lang="en-US" altLang="zh-CN" sz="2000" b="1" dirty="0" err="1">
                <a:solidFill>
                  <a:srgbClr val="000000"/>
                </a:solidFill>
                <a:latin typeface="+mj-lt"/>
                <a:ea typeface="+mj-ea"/>
                <a:cs typeface="Times New Roman" panose="02020603050405020304" pitchFamily="18" charset="0"/>
                <a:sym typeface="Courier" pitchFamily="125" charset="0"/>
              </a:rPr>
              <a:t>len</a:t>
            </a:r>
            <a:r>
              <a:rPr lang="zh-CN" altLang="en-US" sz="2000" b="1" dirty="0">
                <a:solidFill>
                  <a:srgbClr val="000000"/>
                </a:solidFill>
                <a:latin typeface="+mj-lt"/>
                <a:ea typeface="+mj-ea"/>
                <a:cs typeface="Times New Roman" panose="02020603050405020304" pitchFamily="18" charset="0"/>
              </a:rPr>
              <a:t>的值为</a:t>
            </a:r>
            <a:r>
              <a:rPr lang="en-US" altLang="zh-CN" sz="2000" b="1" dirty="0">
                <a:solidFill>
                  <a:srgbClr val="000000"/>
                </a:solidFill>
                <a:latin typeface="+mj-lt"/>
                <a:ea typeface="+mj-ea"/>
                <a:cs typeface="Times New Roman" panose="02020603050405020304" pitchFamily="18" charset="0"/>
                <a:sym typeface="Courier" pitchFamily="125" charset="0"/>
              </a:rPr>
              <a:t>12</a:t>
            </a:r>
            <a:endParaRPr lang="en-US" altLang="zh-CN" sz="2000" b="1" dirty="0">
              <a:solidFill>
                <a:srgbClr val="000000"/>
              </a:solidFill>
              <a:latin typeface="+mj-lt"/>
              <a:ea typeface="+mj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1892048"/>
      </p:ext>
    </p:extLst>
  </p:cSld>
  <p:clrMapOvr>
    <a:masterClrMapping/>
  </p:clrMapOvr>
  <p:transition spd="med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8BB7F615-55C4-299B-0A4A-EA334E04D0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DAA7F82C-DA6B-93E1-EA8C-30C49CCC02BB}"/>
              </a:ext>
            </a:extLst>
          </p:cNvPr>
          <p:cNvGrpSpPr/>
          <p:nvPr/>
        </p:nvGrpSpPr>
        <p:grpSpPr>
          <a:xfrm>
            <a:off x="3630807" y="251474"/>
            <a:ext cx="4930385" cy="523226"/>
            <a:chOff x="4840431" y="207541"/>
            <a:chExt cx="4930385" cy="523226"/>
          </a:xfrm>
        </p:grpSpPr>
        <p:pic>
          <p:nvPicPr>
            <p:cNvPr id="6" name="Picture 4" descr="黑爵(AJAZZ)手柄/方向盘AG180报价_参数_图片_视频_怎么样_问答-苏宁易购">
              <a:extLst>
                <a:ext uri="{FF2B5EF4-FFF2-40B4-BE49-F238E27FC236}">
                  <a16:creationId xmlns:a16="http://schemas.microsoft.com/office/drawing/2014/main" id="{29C05597-9852-F386-3CD5-311AB81F1DE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45" t="9275" r="3752" b="5379"/>
            <a:stretch/>
          </p:blipFill>
          <p:spPr bwMode="auto">
            <a:xfrm>
              <a:off x="4840431" y="314689"/>
              <a:ext cx="407315" cy="37661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" name="Rectangle 3">
              <a:extLst>
                <a:ext uri="{FF2B5EF4-FFF2-40B4-BE49-F238E27FC236}">
                  <a16:creationId xmlns:a16="http://schemas.microsoft.com/office/drawing/2014/main" id="{34C773C4-6F69-211F-C1A4-8A0F7897FDBA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5298546" y="207541"/>
              <a:ext cx="4472270" cy="523226"/>
            </a:xfrm>
            <a:prstGeom prst="rect">
              <a:avLst/>
            </a:prstGeom>
            <a:noFill/>
          </p:spPr>
          <p:txBody>
            <a:bodyPr lIns="90488" tIns="44450" rIns="90488" bIns="44450"/>
            <a:lstStyle>
              <a:lvl1pPr marL="171450" indent="-17145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1pPr>
              <a:lvl2pPr marL="5143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8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2pPr>
              <a:lvl3pPr marL="8572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3pPr>
              <a:lvl4pPr marL="12001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4pPr>
              <a:lvl5pPr marL="15430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fontAlgn="base">
                <a:lnSpc>
                  <a:spcPct val="100000"/>
                </a:lnSpc>
                <a:buNone/>
              </a:pPr>
              <a:r>
                <a:rPr lang="zh-CN" altLang="en-US" sz="3200" dirty="0">
                  <a:latin typeface="Times New Roman" panose="02020603050405020304" pitchFamily="18" charset="0"/>
                  <a:ea typeface="楷体" panose="02010609060101010101" pitchFamily="49" charset="-122"/>
                  <a:sym typeface="+mn-ea"/>
                </a:rPr>
                <a:t>重要的</a:t>
              </a:r>
              <a:r>
                <a:rPr lang="en-US" altLang="zh-CN" sz="3200" dirty="0">
                  <a:latin typeface="Times New Roman" panose="02020603050405020304" pitchFamily="18" charset="0"/>
                  <a:ea typeface="楷体" panose="02010609060101010101" pitchFamily="49" charset="-122"/>
                  <a:sym typeface="+mn-ea"/>
                </a:rPr>
                <a:t>C# </a:t>
              </a:r>
              <a:r>
                <a:rPr lang="zh-CN" altLang="en-US" sz="3200" dirty="0">
                  <a:latin typeface="Times New Roman" panose="02020603050405020304" pitchFamily="18" charset="0"/>
                  <a:ea typeface="楷体" panose="02010609060101010101" pitchFamily="49" charset="-122"/>
                  <a:sym typeface="+mn-ea"/>
                </a:rPr>
                <a:t>中的变量类型</a:t>
              </a:r>
            </a:p>
          </p:txBody>
        </p:sp>
      </p:grp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354291E6-070C-215F-CE5C-6E1E0CA3119A}"/>
              </a:ext>
            </a:extLst>
          </p:cNvPr>
          <p:cNvSpPr/>
          <p:nvPr/>
        </p:nvSpPr>
        <p:spPr>
          <a:xfrm>
            <a:off x="2110738" y="1149189"/>
            <a:ext cx="7970522" cy="609639"/>
          </a:xfrm>
          <a:prstGeom prst="roundRect">
            <a:avLst>
              <a:gd name="adj" fmla="val 3791"/>
            </a:avLst>
          </a:prstGeom>
          <a:gradFill>
            <a:gsLst>
              <a:gs pos="0">
                <a:srgbClr val="7030A0">
                  <a:alpha val="5000"/>
                </a:srgbClr>
              </a:gs>
              <a:gs pos="100000">
                <a:srgbClr val="00B0F0">
                  <a:alpha val="5000"/>
                </a:srgbClr>
              </a:gs>
            </a:gsLst>
            <a:lin ang="13500000" scaled="1"/>
          </a:gradFill>
          <a:ln>
            <a:gradFill>
              <a:gsLst>
                <a:gs pos="0">
                  <a:srgbClr val="0070C0"/>
                </a:gs>
                <a:gs pos="100000">
                  <a:srgbClr val="7030A0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108000" rtlCol="0" anchor="ctr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2000" b="1" dirty="0">
                <a:solidFill>
                  <a:srgbClr val="A7357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宋体" panose="02010600030101010101" pitchFamily="2" charset="-122"/>
                <a:sym typeface="+mn-ea"/>
              </a:rPr>
              <a:t>class:</a:t>
            </a:r>
            <a:r>
              <a:rPr lang="zh-CN" altLang="en-US" sz="2000" b="1" dirty="0">
                <a:solidFill>
                  <a:srgbClr val="A7357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宋体" panose="02010600030101010101" pitchFamily="2" charset="-122"/>
                <a:sym typeface="+mn-ea"/>
              </a:rPr>
              <a:t>变量和功能的集合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5B282968-E4C6-6CCE-5941-A9B8CBB61EAD}"/>
              </a:ext>
            </a:extLst>
          </p:cNvPr>
          <p:cNvSpPr/>
          <p:nvPr/>
        </p:nvSpPr>
        <p:spPr>
          <a:xfrm>
            <a:off x="2110739" y="1874078"/>
            <a:ext cx="7970522" cy="4119004"/>
          </a:xfrm>
          <a:prstGeom prst="roundRect">
            <a:avLst>
              <a:gd name="adj" fmla="val 1731"/>
            </a:avLst>
          </a:prstGeom>
          <a:gradFill>
            <a:gsLst>
              <a:gs pos="0">
                <a:srgbClr val="7030A0">
                  <a:alpha val="5000"/>
                </a:srgbClr>
              </a:gs>
              <a:gs pos="100000">
                <a:srgbClr val="00B0F0">
                  <a:alpha val="5000"/>
                </a:srgbClr>
              </a:gs>
            </a:gsLst>
            <a:lin ang="13500000" scaled="1"/>
          </a:gradFill>
          <a:ln>
            <a:gradFill>
              <a:gsLst>
                <a:gs pos="0">
                  <a:srgbClr val="0070C0"/>
                </a:gs>
                <a:gs pos="100000">
                  <a:srgbClr val="7030A0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108000" rtlCol="0" anchor="ctr">
            <a:noAutofit/>
          </a:bodyPr>
          <a:lstStyle/>
          <a:p>
            <a:pPr marL="839788" lvl="1" indent="-342900">
              <a:spcBef>
                <a:spcPts val="1100"/>
              </a:spcBef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A7357F"/>
                </a:solidFill>
                <a:ea typeface="楷体" panose="02010609060101010101" pitchFamily="49" charset="-122"/>
              </a:rPr>
              <a:t>类可以定义新的变量类型</a:t>
            </a:r>
            <a:endParaRPr lang="en-US" altLang="zh-CN" sz="2000" b="1" dirty="0">
              <a:solidFill>
                <a:srgbClr val="A7357F"/>
              </a:solidFill>
            </a:endParaRPr>
          </a:p>
          <a:p>
            <a:pPr marL="839788" lvl="1" indent="-342900">
              <a:spcBef>
                <a:spcPts val="1100"/>
              </a:spcBef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A7357F"/>
                </a:solidFill>
                <a:ea typeface="楷体" panose="02010609060101010101" pitchFamily="49" charset="-122"/>
              </a:rPr>
              <a:t>后续章节会更加详细地讲解类</a:t>
            </a:r>
            <a:endParaRPr lang="en-US" altLang="zh-CN" sz="2000" b="1" dirty="0">
              <a:solidFill>
                <a:srgbClr val="A7357F"/>
              </a:solidFill>
            </a:endParaRPr>
          </a:p>
          <a:p>
            <a:pPr marL="839788" lvl="1" indent="-342900">
              <a:spcBef>
                <a:spcPts val="1100"/>
              </a:spcBef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A7357F"/>
                </a:solidFill>
                <a:ea typeface="楷体" panose="02010609060101010101" pitchFamily="49" charset="-122"/>
              </a:rPr>
              <a:t>已经在</a:t>
            </a:r>
            <a:r>
              <a:rPr lang="en-US" altLang="zh-CN" sz="2000" b="1" dirty="0">
                <a:solidFill>
                  <a:srgbClr val="A7357F"/>
                </a:solidFill>
              </a:rPr>
              <a:t>HelloWorld</a:t>
            </a:r>
            <a:r>
              <a:rPr lang="zh-CN" altLang="en-US" sz="2000" b="1" dirty="0">
                <a:solidFill>
                  <a:srgbClr val="A7357F"/>
                </a:solidFill>
                <a:ea typeface="楷体" panose="02010609060101010101" pitchFamily="49" charset="-122"/>
              </a:rPr>
              <a:t>项目中使用过</a:t>
            </a:r>
            <a:endParaRPr lang="en-US" altLang="zh-CN" sz="2000" b="1" dirty="0">
              <a:solidFill>
                <a:srgbClr val="A7357F"/>
              </a:solidFill>
            </a:endParaRPr>
          </a:p>
          <a:p>
            <a:pPr marL="0" lvl="2" indent="0">
              <a:spcBef>
                <a:spcPts val="700"/>
              </a:spcBef>
              <a:buNone/>
            </a:pPr>
            <a:r>
              <a:rPr lang="en-US" altLang="zh-CN" sz="1800" b="1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	public class </a:t>
            </a:r>
            <a:r>
              <a:rPr lang="en-US" altLang="zh-CN" sz="1800" b="1" dirty="0" err="1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HelloWorld:MonoBehaviour</a:t>
            </a:r>
            <a:r>
              <a:rPr lang="en-US" altLang="zh-CN" sz="1800" b="1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 {</a:t>
            </a:r>
            <a:endParaRPr lang="en-US" altLang="zh-CN" sz="1800" b="1" dirty="0">
              <a:solidFill>
                <a:srgbClr val="000000"/>
              </a:solidFill>
            </a:endParaRPr>
          </a:p>
          <a:p>
            <a:pPr marL="0" lvl="2" indent="0">
              <a:spcBef>
                <a:spcPts val="700"/>
              </a:spcBef>
              <a:buNone/>
            </a:pPr>
            <a:r>
              <a:rPr lang="en-US" altLang="zh-CN" sz="1800" b="1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	    void Start(){</a:t>
            </a:r>
            <a:endParaRPr lang="en-US" altLang="zh-CN" sz="1800" b="1" dirty="0">
              <a:solidFill>
                <a:srgbClr val="000000"/>
              </a:solidFill>
            </a:endParaRPr>
          </a:p>
          <a:p>
            <a:pPr marL="0" lvl="2" indent="0">
              <a:spcBef>
                <a:spcPts val="700"/>
              </a:spcBef>
              <a:buNone/>
            </a:pPr>
            <a:r>
              <a:rPr lang="en-US" altLang="zh-CN" sz="1800" b="1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	        print("Hello World!");</a:t>
            </a:r>
            <a:endParaRPr lang="en-US" altLang="zh-CN" sz="1800" b="1" dirty="0">
              <a:solidFill>
                <a:srgbClr val="000000"/>
              </a:solidFill>
            </a:endParaRPr>
          </a:p>
          <a:p>
            <a:pPr marL="0" lvl="2" indent="0">
              <a:spcBef>
                <a:spcPts val="700"/>
              </a:spcBef>
              <a:buNone/>
            </a:pPr>
            <a:r>
              <a:rPr lang="en-US" altLang="zh-CN" sz="1800" b="1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	    }</a:t>
            </a:r>
            <a:endParaRPr lang="en-US" altLang="zh-CN" sz="1800" b="1" dirty="0">
              <a:solidFill>
                <a:srgbClr val="000000"/>
              </a:solidFill>
            </a:endParaRPr>
          </a:p>
          <a:p>
            <a:pPr marL="0" lvl="2" indent="0">
              <a:spcBef>
                <a:spcPts val="700"/>
              </a:spcBef>
              <a:buNone/>
            </a:pPr>
            <a:r>
              <a:rPr lang="en-US" altLang="zh-CN" sz="1800" b="1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	}</a:t>
            </a:r>
            <a:endParaRPr lang="en-US" altLang="zh-CN" b="1" dirty="0">
              <a:solidFill>
                <a:srgbClr val="000000"/>
              </a:solidFill>
            </a:endParaRPr>
          </a:p>
          <a:p>
            <a:pPr marL="839788" lvl="1" indent="-342900">
              <a:spcBef>
                <a:spcPts val="1100"/>
              </a:spcBef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A7357F"/>
                </a:solidFill>
                <a:ea typeface="楷体" panose="02010609060101010101" pitchFamily="49" charset="-122"/>
              </a:rPr>
              <a:t>大括号</a:t>
            </a:r>
            <a:r>
              <a:rPr lang="en-US" altLang="zh-CN" sz="2000" b="1" dirty="0">
                <a:solidFill>
                  <a:srgbClr val="A7357F"/>
                </a:solidFill>
                <a:ea typeface="楷体" panose="02010609060101010101" pitchFamily="49" charset="-122"/>
              </a:rPr>
              <a:t> </a:t>
            </a:r>
            <a:r>
              <a:rPr lang="en-US" altLang="zh-CN" sz="2000" b="1" dirty="0">
                <a:solidFill>
                  <a:srgbClr val="A7357F"/>
                </a:solidFill>
                <a:ea typeface="楷体" panose="02010609060101010101" pitchFamily="49" charset="-122"/>
                <a:sym typeface="Courier" pitchFamily="125" charset="0"/>
              </a:rPr>
              <a:t>{ }</a:t>
            </a:r>
            <a:r>
              <a:rPr lang="en-US" altLang="zh-CN" sz="2000" b="1" dirty="0">
                <a:solidFill>
                  <a:srgbClr val="A7357F"/>
                </a:solidFill>
                <a:ea typeface="楷体" panose="02010609060101010101" pitchFamily="49" charset="-122"/>
              </a:rPr>
              <a:t> </a:t>
            </a:r>
            <a:r>
              <a:rPr lang="zh-CN" altLang="en-US" sz="2000" b="1" dirty="0">
                <a:solidFill>
                  <a:srgbClr val="A7357F"/>
                </a:solidFill>
                <a:ea typeface="楷体" panose="02010609060101010101" pitchFamily="49" charset="-122"/>
              </a:rPr>
              <a:t>之间的所有内容都是类的一部分</a:t>
            </a:r>
            <a:endParaRPr lang="en-US" altLang="zh-CN" sz="2000" b="1" dirty="0">
              <a:solidFill>
                <a:srgbClr val="A7357F"/>
              </a:solidFill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45880591"/>
      </p:ext>
    </p:extLst>
  </p:cSld>
  <p:clrMapOvr>
    <a:masterClrMapping/>
  </p:clrMapOvr>
  <p:transition spd="med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C8BBB7A7-4D1E-3650-1003-C69ADCE4E6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2E5F6605-A41A-B51A-8090-7DABC4B7BF2A}"/>
              </a:ext>
            </a:extLst>
          </p:cNvPr>
          <p:cNvGrpSpPr/>
          <p:nvPr/>
        </p:nvGrpSpPr>
        <p:grpSpPr>
          <a:xfrm>
            <a:off x="4639884" y="251474"/>
            <a:ext cx="2912233" cy="523226"/>
            <a:chOff x="4840431" y="207541"/>
            <a:chExt cx="2912233" cy="523226"/>
          </a:xfrm>
        </p:grpSpPr>
        <p:pic>
          <p:nvPicPr>
            <p:cNvPr id="6" name="Picture 4" descr="黑爵(AJAZZ)手柄/方向盘AG180报价_参数_图片_视频_怎么样_问答-苏宁易购">
              <a:extLst>
                <a:ext uri="{FF2B5EF4-FFF2-40B4-BE49-F238E27FC236}">
                  <a16:creationId xmlns:a16="http://schemas.microsoft.com/office/drawing/2014/main" id="{6FEBE329-2103-3BC4-75F1-DFA9AF95A66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45" t="9275" r="3752" b="5379"/>
            <a:stretch/>
          </p:blipFill>
          <p:spPr bwMode="auto">
            <a:xfrm>
              <a:off x="4840431" y="314689"/>
              <a:ext cx="407315" cy="37661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" name="Rectangle 3">
              <a:extLst>
                <a:ext uri="{FF2B5EF4-FFF2-40B4-BE49-F238E27FC236}">
                  <a16:creationId xmlns:a16="http://schemas.microsoft.com/office/drawing/2014/main" id="{35ABF239-B6D3-4BB0-FCDF-8FE46CF3E181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5298546" y="207541"/>
              <a:ext cx="2454118" cy="523226"/>
            </a:xfrm>
            <a:prstGeom prst="rect">
              <a:avLst/>
            </a:prstGeom>
            <a:noFill/>
          </p:spPr>
          <p:txBody>
            <a:bodyPr lIns="90488" tIns="44450" rIns="90488" bIns="44450"/>
            <a:lstStyle>
              <a:lvl1pPr marL="171450" indent="-17145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1pPr>
              <a:lvl2pPr marL="5143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8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2pPr>
              <a:lvl3pPr marL="8572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3pPr>
              <a:lvl4pPr marL="12001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4pPr>
              <a:lvl5pPr marL="15430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fontAlgn="base">
                <a:lnSpc>
                  <a:spcPct val="100000"/>
                </a:lnSpc>
                <a:buNone/>
              </a:pPr>
              <a:r>
                <a:rPr lang="en-US" altLang="zh-CN" sz="3200" dirty="0">
                  <a:latin typeface="Times New Roman" panose="02020603050405020304" pitchFamily="18" charset="0"/>
                  <a:ea typeface="楷体" panose="02010609060101010101" pitchFamily="49" charset="-122"/>
                  <a:sym typeface="+mn-ea"/>
                </a:rPr>
                <a:t>C# </a:t>
              </a:r>
              <a:r>
                <a:rPr lang="zh-CN" altLang="en-US" sz="3200" dirty="0">
                  <a:latin typeface="Times New Roman" panose="02020603050405020304" pitchFamily="18" charset="0"/>
                  <a:ea typeface="楷体" panose="02010609060101010101" pitchFamily="49" charset="-122"/>
                  <a:sym typeface="+mn-ea"/>
                </a:rPr>
                <a:t>命名惯例</a:t>
              </a:r>
            </a:p>
          </p:txBody>
        </p:sp>
      </p:grp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3D98C084-5699-1172-501E-1CFB6DED9F6E}"/>
              </a:ext>
            </a:extLst>
          </p:cNvPr>
          <p:cNvSpPr/>
          <p:nvPr/>
        </p:nvSpPr>
        <p:spPr>
          <a:xfrm>
            <a:off x="2339797" y="1102359"/>
            <a:ext cx="7970522" cy="5267961"/>
          </a:xfrm>
          <a:prstGeom prst="roundRect">
            <a:avLst>
              <a:gd name="adj" fmla="val 1731"/>
            </a:avLst>
          </a:prstGeom>
          <a:gradFill>
            <a:gsLst>
              <a:gs pos="0">
                <a:srgbClr val="7030A0">
                  <a:alpha val="5000"/>
                </a:srgbClr>
              </a:gs>
              <a:gs pos="100000">
                <a:srgbClr val="00B0F0">
                  <a:alpha val="5000"/>
                </a:srgbClr>
              </a:gs>
            </a:gsLst>
            <a:lin ang="13500000" scaled="1"/>
          </a:gradFill>
          <a:ln>
            <a:gradFill>
              <a:gsLst>
                <a:gs pos="0">
                  <a:srgbClr val="0070C0"/>
                </a:gs>
                <a:gs pos="100000">
                  <a:srgbClr val="7030A0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108000" rtlCol="0" anchor="ctr">
            <a:noAutofit/>
          </a:bodyPr>
          <a:lstStyle/>
          <a:p>
            <a:pPr marL="839788" lvl="1" indent="-342900">
              <a:spcBef>
                <a:spcPts val="1100"/>
              </a:spcBef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A7357F"/>
                </a:solidFill>
                <a:ea typeface="楷体" panose="02010609060101010101" pitchFamily="49" charset="-122"/>
              </a:rPr>
              <a:t>在所有名称中都使用骆驼式命名法</a:t>
            </a:r>
          </a:p>
          <a:p>
            <a:pPr marL="839788" lvl="1" indent="-342900">
              <a:spcBef>
                <a:spcPts val="1100"/>
              </a:spcBef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A7357F"/>
                </a:solidFill>
                <a:ea typeface="楷体" panose="02010609060101010101" pitchFamily="49" charset="-122"/>
              </a:rPr>
              <a:t>变量名称应使用小写字母开头</a:t>
            </a:r>
            <a:endParaRPr lang="en-US" altLang="zh-CN" sz="2000" b="1" dirty="0">
              <a:solidFill>
                <a:srgbClr val="A7357F"/>
              </a:solidFill>
              <a:ea typeface="楷体" panose="02010609060101010101" pitchFamily="49" charset="-122"/>
            </a:endParaRPr>
          </a:p>
          <a:p>
            <a:pPr marL="1296988" lvl="2" indent="-342900">
              <a:spcBef>
                <a:spcPts val="1100"/>
              </a:spcBef>
              <a:buFont typeface="Wingdings" panose="05000000000000000000" pitchFamily="2" charset="2"/>
              <a:buChar char="l"/>
            </a:pPr>
            <a:r>
              <a:rPr lang="en-US" altLang="zh-CN" sz="2000" b="1" dirty="0" err="1">
                <a:solidFill>
                  <a:srgbClr val="000000"/>
                </a:solidFill>
                <a:latin typeface="+mj-lt"/>
                <a:ea typeface="楷体" panose="02010609060101010101" pitchFamily="49" charset="-122"/>
                <a:cs typeface="Times New Roman" panose="02020603050405020304" pitchFamily="18" charset="0"/>
              </a:rPr>
              <a:t>thisVariable</a:t>
            </a:r>
            <a:r>
              <a:rPr lang="en-US" altLang="zh-CN" sz="2000" b="1" dirty="0">
                <a:solidFill>
                  <a:srgbClr val="000000"/>
                </a:solidFill>
                <a:latin typeface="+mj-lt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sz="2000" b="1" dirty="0" err="1">
                <a:solidFill>
                  <a:srgbClr val="000000"/>
                </a:solidFill>
                <a:latin typeface="+mj-lt"/>
                <a:ea typeface="楷体" panose="02010609060101010101" pitchFamily="49" charset="-122"/>
                <a:cs typeface="Times New Roman" panose="02020603050405020304" pitchFamily="18" charset="0"/>
              </a:rPr>
              <a:t>anotherVariable</a:t>
            </a:r>
            <a:r>
              <a:rPr lang="en-US" altLang="zh-CN" sz="2000" b="1" dirty="0">
                <a:solidFill>
                  <a:srgbClr val="000000"/>
                </a:solidFill>
                <a:latin typeface="+mj-lt"/>
                <a:ea typeface="楷体" panose="02010609060101010101" pitchFamily="49" charset="-122"/>
                <a:cs typeface="Times New Roman" panose="02020603050405020304" pitchFamily="18" charset="0"/>
              </a:rPr>
              <a:t>, bob</a:t>
            </a:r>
          </a:p>
          <a:p>
            <a:pPr marL="839788" lvl="1" indent="-342900">
              <a:spcBef>
                <a:spcPts val="1100"/>
              </a:spcBef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A7357F"/>
                </a:solidFill>
                <a:ea typeface="楷体" panose="02010609060101010101" pitchFamily="49" charset="-122"/>
              </a:rPr>
              <a:t>函数名称应使用大写字母开头</a:t>
            </a:r>
            <a:endParaRPr lang="en-US" altLang="zh-CN" sz="2000" b="1" dirty="0">
              <a:solidFill>
                <a:srgbClr val="A7357F"/>
              </a:solidFill>
              <a:ea typeface="楷体" panose="02010609060101010101" pitchFamily="49" charset="-122"/>
            </a:endParaRPr>
          </a:p>
          <a:p>
            <a:pPr marL="1296988" lvl="2" indent="-342900">
              <a:spcBef>
                <a:spcPts val="1100"/>
              </a:spcBef>
              <a:buFont typeface="Wingdings" panose="05000000000000000000" pitchFamily="2" charset="2"/>
              <a:buChar char="l"/>
            </a:pPr>
            <a:r>
              <a:rPr lang="en-US" altLang="zh-CN" sz="2000" b="1" dirty="0" err="1">
                <a:solidFill>
                  <a:srgbClr val="000000"/>
                </a:solidFill>
                <a:latin typeface="+mj-lt"/>
                <a:ea typeface="楷体" panose="02010609060101010101" pitchFamily="49" charset="-122"/>
                <a:cs typeface="Times New Roman" panose="02020603050405020304" pitchFamily="18" charset="0"/>
              </a:rPr>
              <a:t>ThatFunction</a:t>
            </a:r>
            <a:r>
              <a:rPr lang="en-US" altLang="zh-CN" sz="2000" b="1" dirty="0">
                <a:solidFill>
                  <a:srgbClr val="000000"/>
                </a:solidFill>
                <a:latin typeface="+mj-lt"/>
                <a:ea typeface="楷体" panose="02010609060101010101" pitchFamily="49" charset="-122"/>
                <a:cs typeface="Times New Roman" panose="02020603050405020304" pitchFamily="18" charset="0"/>
              </a:rPr>
              <a:t>(), Start(), Update()</a:t>
            </a:r>
          </a:p>
          <a:p>
            <a:pPr marL="839788" lvl="1" indent="-342900">
              <a:spcBef>
                <a:spcPts val="1100"/>
              </a:spcBef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A7357F"/>
                </a:solidFill>
                <a:ea typeface="楷体" panose="02010609060101010101" pitchFamily="49" charset="-122"/>
              </a:rPr>
              <a:t>类名称应使用大写字母开头</a:t>
            </a:r>
            <a:endParaRPr lang="en-US" altLang="zh-CN" sz="2000" b="1" dirty="0">
              <a:solidFill>
                <a:srgbClr val="A7357F"/>
              </a:solidFill>
              <a:ea typeface="楷体" panose="02010609060101010101" pitchFamily="49" charset="-122"/>
            </a:endParaRPr>
          </a:p>
          <a:p>
            <a:pPr marL="1296988" lvl="2" indent="-342900">
              <a:spcBef>
                <a:spcPts val="1100"/>
              </a:spcBef>
              <a:buFont typeface="Wingdings" panose="05000000000000000000" pitchFamily="2" charset="2"/>
              <a:buChar char="l"/>
            </a:pPr>
            <a:r>
              <a:rPr lang="en-US" altLang="zh-CN" sz="2000" b="1" dirty="0" err="1">
                <a:solidFill>
                  <a:srgbClr val="000000"/>
                </a:solidFill>
                <a:latin typeface="+mj-lt"/>
                <a:ea typeface="楷体" panose="02010609060101010101" pitchFamily="49" charset="-122"/>
                <a:cs typeface="Times New Roman" panose="02020603050405020304" pitchFamily="18" charset="0"/>
              </a:rPr>
              <a:t>SomeClass</a:t>
            </a:r>
            <a:r>
              <a:rPr lang="en-US" altLang="zh-CN" sz="2000" b="1" dirty="0">
                <a:solidFill>
                  <a:srgbClr val="000000"/>
                </a:solidFill>
                <a:latin typeface="+mj-lt"/>
                <a:ea typeface="楷体" panose="02010609060101010101" pitchFamily="49" charset="-122"/>
                <a:cs typeface="Times New Roman" panose="02020603050405020304" pitchFamily="18" charset="0"/>
              </a:rPr>
              <a:t>, GameObject, </a:t>
            </a:r>
            <a:r>
              <a:rPr lang="en-US" altLang="zh-CN" sz="2000" b="1" dirty="0" err="1">
                <a:solidFill>
                  <a:srgbClr val="000000"/>
                </a:solidFill>
                <a:latin typeface="+mj-lt"/>
                <a:ea typeface="楷体" panose="02010609060101010101" pitchFamily="49" charset="-122"/>
                <a:cs typeface="Times New Roman" panose="02020603050405020304" pitchFamily="18" charset="0"/>
              </a:rPr>
              <a:t>HeroShip</a:t>
            </a:r>
            <a:endParaRPr lang="en-US" altLang="zh-CN" sz="2000" b="1" dirty="0">
              <a:solidFill>
                <a:srgbClr val="000000"/>
              </a:solidFill>
              <a:latin typeface="+mj-lt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839788" lvl="1" indent="-342900">
              <a:spcBef>
                <a:spcPts val="1100"/>
              </a:spcBef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A7357F"/>
                </a:solidFill>
                <a:ea typeface="楷体" panose="02010609060101010101" pitchFamily="49" charset="-122"/>
              </a:rPr>
              <a:t>私有变量名称应以下划线开头</a:t>
            </a:r>
            <a:endParaRPr lang="en-US" altLang="zh-CN" sz="2000" b="1" dirty="0">
              <a:solidFill>
                <a:srgbClr val="A7357F"/>
              </a:solidFill>
              <a:ea typeface="楷体" panose="02010609060101010101" pitchFamily="49" charset="-122"/>
            </a:endParaRPr>
          </a:p>
          <a:p>
            <a:pPr marL="1296988" lvl="2" indent="-342900">
              <a:spcBef>
                <a:spcPts val="1100"/>
              </a:spcBef>
              <a:buFont typeface="Wingdings" panose="05000000000000000000" pitchFamily="2" charset="2"/>
              <a:buChar char="l"/>
            </a:pPr>
            <a:r>
              <a:rPr lang="en-US" altLang="zh-CN" sz="2000" b="1" dirty="0">
                <a:solidFill>
                  <a:srgbClr val="000000"/>
                </a:solidFill>
                <a:latin typeface="+mj-lt"/>
                <a:ea typeface="楷体" panose="02010609060101010101" pitchFamily="49" charset="-122"/>
                <a:cs typeface="Times New Roman" panose="02020603050405020304" pitchFamily="18" charset="0"/>
              </a:rPr>
              <a:t>_</a:t>
            </a:r>
            <a:r>
              <a:rPr lang="en-US" altLang="zh-CN" sz="2000" b="1" dirty="0" err="1">
                <a:solidFill>
                  <a:srgbClr val="000000"/>
                </a:solidFill>
                <a:latin typeface="+mj-lt"/>
                <a:ea typeface="楷体" panose="02010609060101010101" pitchFamily="49" charset="-122"/>
                <a:cs typeface="Times New Roman" panose="02020603050405020304" pitchFamily="18" charset="0"/>
              </a:rPr>
              <a:t>privateVariable</a:t>
            </a:r>
            <a:r>
              <a:rPr lang="en-US" altLang="zh-CN" sz="2000" b="1" dirty="0">
                <a:solidFill>
                  <a:srgbClr val="000000"/>
                </a:solidFill>
                <a:latin typeface="+mj-lt"/>
                <a:ea typeface="楷体" panose="02010609060101010101" pitchFamily="49" charset="-122"/>
                <a:cs typeface="Times New Roman" panose="02020603050405020304" pitchFamily="18" charset="0"/>
              </a:rPr>
              <a:t>, _</a:t>
            </a:r>
            <a:r>
              <a:rPr lang="en-US" altLang="zh-CN" sz="2000" b="1" dirty="0" err="1">
                <a:solidFill>
                  <a:srgbClr val="000000"/>
                </a:solidFill>
                <a:latin typeface="+mj-lt"/>
                <a:ea typeface="楷体" panose="02010609060101010101" pitchFamily="49" charset="-122"/>
                <a:cs typeface="Times New Roman" panose="02020603050405020304" pitchFamily="18" charset="0"/>
              </a:rPr>
              <a:t>hiddenVariable</a:t>
            </a:r>
            <a:endParaRPr lang="en-US" altLang="zh-CN" sz="2000" b="1" dirty="0">
              <a:solidFill>
                <a:srgbClr val="000000"/>
              </a:solidFill>
              <a:latin typeface="+mj-lt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839788" lvl="1" indent="-342900">
              <a:spcBef>
                <a:spcPts val="1100"/>
              </a:spcBef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A7357F"/>
                </a:solidFill>
                <a:ea typeface="楷体" panose="02010609060101010101" pitchFamily="49" charset="-122"/>
              </a:rPr>
              <a:t>静态变量名称使用蛇底式命名法</a:t>
            </a:r>
            <a:endParaRPr lang="en-US" altLang="zh-CN" sz="2000" b="1" dirty="0">
              <a:solidFill>
                <a:srgbClr val="A7357F"/>
              </a:solidFill>
              <a:ea typeface="楷体" panose="02010609060101010101" pitchFamily="49" charset="-122"/>
            </a:endParaRPr>
          </a:p>
          <a:p>
            <a:pPr marL="1296988" lvl="2" indent="-342900">
              <a:spcBef>
                <a:spcPts val="1100"/>
              </a:spcBef>
              <a:buFont typeface="Wingdings" panose="05000000000000000000" pitchFamily="2" charset="2"/>
              <a:buChar char="l"/>
            </a:pPr>
            <a:r>
              <a:rPr lang="en-US" altLang="zh-CN" sz="2000" b="1" dirty="0">
                <a:solidFill>
                  <a:srgbClr val="000000"/>
                </a:solidFill>
                <a:latin typeface="+mj-lt"/>
                <a:ea typeface="楷体" panose="02010609060101010101" pitchFamily="49" charset="-122"/>
                <a:cs typeface="Times New Roman" panose="02020603050405020304" pitchFamily="18" charset="0"/>
              </a:rPr>
              <a:t>STATIC_VAR, NUM_INSTANCES</a:t>
            </a:r>
          </a:p>
        </p:txBody>
      </p:sp>
    </p:spTree>
    <p:extLst>
      <p:ext uri="{BB962C8B-B14F-4D97-AF65-F5344CB8AC3E}">
        <p14:creationId xmlns:p14="http://schemas.microsoft.com/office/powerpoint/2010/main" val="1295182631"/>
      </p:ext>
    </p:extLst>
  </p:cSld>
  <p:clrMapOvr>
    <a:masterClrMapping/>
  </p:clrMapOvr>
  <p:transition spd="med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9E19E1D3-0E02-BBC3-AD71-F3F95F20DF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6D751844-E1C2-82F9-A432-44D38B77FE20}"/>
              </a:ext>
            </a:extLst>
          </p:cNvPr>
          <p:cNvGrpSpPr/>
          <p:nvPr/>
        </p:nvGrpSpPr>
        <p:grpSpPr>
          <a:xfrm>
            <a:off x="3630807" y="251474"/>
            <a:ext cx="4930385" cy="523226"/>
            <a:chOff x="4840431" y="207541"/>
            <a:chExt cx="4930385" cy="523226"/>
          </a:xfrm>
        </p:grpSpPr>
        <p:pic>
          <p:nvPicPr>
            <p:cNvPr id="6" name="Picture 4" descr="黑爵(AJAZZ)手柄/方向盘AG180报价_参数_图片_视频_怎么样_问答-苏宁易购">
              <a:extLst>
                <a:ext uri="{FF2B5EF4-FFF2-40B4-BE49-F238E27FC236}">
                  <a16:creationId xmlns:a16="http://schemas.microsoft.com/office/drawing/2014/main" id="{4C7F87EE-3522-A271-7D23-1F794D18A5F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45" t="9275" r="3752" b="5379"/>
            <a:stretch/>
          </p:blipFill>
          <p:spPr bwMode="auto">
            <a:xfrm>
              <a:off x="4840431" y="314689"/>
              <a:ext cx="407315" cy="37661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" name="Rectangle 3">
              <a:extLst>
                <a:ext uri="{FF2B5EF4-FFF2-40B4-BE49-F238E27FC236}">
                  <a16:creationId xmlns:a16="http://schemas.microsoft.com/office/drawing/2014/main" id="{7B64874D-D4A7-2027-9AE8-466D4B59E7EE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5298546" y="207541"/>
              <a:ext cx="4472270" cy="523226"/>
            </a:xfrm>
            <a:prstGeom prst="rect">
              <a:avLst/>
            </a:prstGeom>
            <a:noFill/>
          </p:spPr>
          <p:txBody>
            <a:bodyPr lIns="90488" tIns="44450" rIns="90488" bIns="44450"/>
            <a:lstStyle>
              <a:lvl1pPr marL="171450" indent="-17145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1pPr>
              <a:lvl2pPr marL="5143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8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2pPr>
              <a:lvl3pPr marL="8572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3pPr>
              <a:lvl4pPr marL="12001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4pPr>
              <a:lvl5pPr marL="15430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fontAlgn="base">
                <a:lnSpc>
                  <a:spcPct val="100000"/>
                </a:lnSpc>
                <a:buNone/>
              </a:pPr>
              <a:r>
                <a:rPr lang="en-US" altLang="zh-CN" sz="3200" dirty="0">
                  <a:latin typeface="Times New Roman" panose="02020603050405020304" pitchFamily="18" charset="0"/>
                  <a:ea typeface="楷体" panose="02010609060101010101" pitchFamily="49" charset="-122"/>
                  <a:sym typeface="+mn-ea"/>
                </a:rPr>
                <a:t>Unity</a:t>
              </a:r>
              <a:r>
                <a:rPr lang="zh-CN" altLang="en-US" sz="3200" dirty="0">
                  <a:latin typeface="Times New Roman" panose="02020603050405020304" pitchFamily="18" charset="0"/>
                  <a:ea typeface="楷体" panose="02010609060101010101" pitchFamily="49" charset="-122"/>
                  <a:sym typeface="+mn-ea"/>
                </a:rPr>
                <a:t>中的重要变量类型 </a:t>
              </a:r>
            </a:p>
          </p:txBody>
        </p:sp>
      </p:grp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CEE4B8EC-056C-DAC7-4557-43948DDC6271}"/>
              </a:ext>
            </a:extLst>
          </p:cNvPr>
          <p:cNvSpPr/>
          <p:nvPr/>
        </p:nvSpPr>
        <p:spPr>
          <a:xfrm>
            <a:off x="1794626" y="2167757"/>
            <a:ext cx="1815868" cy="609639"/>
          </a:xfrm>
          <a:prstGeom prst="roundRect">
            <a:avLst>
              <a:gd name="adj" fmla="val 3791"/>
            </a:avLst>
          </a:prstGeom>
          <a:gradFill>
            <a:gsLst>
              <a:gs pos="0">
                <a:srgbClr val="7030A0">
                  <a:alpha val="5000"/>
                </a:srgbClr>
              </a:gs>
              <a:gs pos="100000">
                <a:srgbClr val="00B0F0">
                  <a:alpha val="5000"/>
                </a:srgbClr>
              </a:gs>
            </a:gsLst>
            <a:lin ang="13500000" scaled="1"/>
          </a:gradFill>
          <a:ln>
            <a:gradFill>
              <a:gsLst>
                <a:gs pos="0">
                  <a:srgbClr val="0070C0"/>
                </a:gs>
                <a:gs pos="100000">
                  <a:srgbClr val="7030A0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108000" rtlCol="0" anchor="ctr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2000" b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宋体" panose="02010600030101010101" pitchFamily="2" charset="-122"/>
                <a:sym typeface="+mn-ea"/>
              </a:rPr>
              <a:t>Vector3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7B4B4FE7-29AC-25DD-292B-C56589E9B199}"/>
              </a:ext>
            </a:extLst>
          </p:cNvPr>
          <p:cNvSpPr/>
          <p:nvPr/>
        </p:nvSpPr>
        <p:spPr>
          <a:xfrm>
            <a:off x="3919913" y="2167757"/>
            <a:ext cx="1815868" cy="609639"/>
          </a:xfrm>
          <a:prstGeom prst="roundRect">
            <a:avLst>
              <a:gd name="adj" fmla="val 3791"/>
            </a:avLst>
          </a:prstGeom>
          <a:gradFill>
            <a:gsLst>
              <a:gs pos="0">
                <a:srgbClr val="7030A0">
                  <a:alpha val="5000"/>
                </a:srgbClr>
              </a:gs>
              <a:gs pos="100000">
                <a:srgbClr val="00B0F0">
                  <a:alpha val="5000"/>
                </a:srgbClr>
              </a:gs>
            </a:gsLst>
            <a:lin ang="13500000" scaled="1"/>
          </a:gradFill>
          <a:ln>
            <a:gradFill>
              <a:gsLst>
                <a:gs pos="0">
                  <a:srgbClr val="0070C0"/>
                </a:gs>
                <a:gs pos="100000">
                  <a:srgbClr val="7030A0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108000" rtlCol="0" anchor="ctr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2000" b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宋体" panose="02010600030101010101" pitchFamily="2" charset="-122"/>
                <a:sym typeface="+mn-ea"/>
              </a:rPr>
              <a:t>Color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975673B2-912C-DCD3-F0EE-272C5F56A111}"/>
              </a:ext>
            </a:extLst>
          </p:cNvPr>
          <p:cNvSpPr/>
          <p:nvPr/>
        </p:nvSpPr>
        <p:spPr>
          <a:xfrm>
            <a:off x="1794626" y="3048965"/>
            <a:ext cx="1815868" cy="609639"/>
          </a:xfrm>
          <a:prstGeom prst="roundRect">
            <a:avLst>
              <a:gd name="adj" fmla="val 3791"/>
            </a:avLst>
          </a:prstGeom>
          <a:gradFill>
            <a:gsLst>
              <a:gs pos="0">
                <a:srgbClr val="7030A0">
                  <a:alpha val="5000"/>
                </a:srgbClr>
              </a:gs>
              <a:gs pos="100000">
                <a:srgbClr val="00B0F0">
                  <a:alpha val="5000"/>
                </a:srgbClr>
              </a:gs>
            </a:gsLst>
            <a:lin ang="13500000" scaled="1"/>
          </a:gradFill>
          <a:ln>
            <a:gradFill>
              <a:gsLst>
                <a:gs pos="0">
                  <a:srgbClr val="0070C0"/>
                </a:gs>
                <a:gs pos="100000">
                  <a:srgbClr val="7030A0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108000" rtlCol="0" anchor="ctr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2000" b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宋体" panose="02010600030101010101" pitchFamily="2" charset="-122"/>
                <a:sym typeface="+mn-ea"/>
              </a:rPr>
              <a:t>Screen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BA694459-555A-E3D7-E987-B975C247A3B9}"/>
              </a:ext>
            </a:extLst>
          </p:cNvPr>
          <p:cNvSpPr/>
          <p:nvPr/>
        </p:nvSpPr>
        <p:spPr>
          <a:xfrm>
            <a:off x="8170487" y="2167756"/>
            <a:ext cx="1815868" cy="609639"/>
          </a:xfrm>
          <a:prstGeom prst="roundRect">
            <a:avLst>
              <a:gd name="adj" fmla="val 3791"/>
            </a:avLst>
          </a:prstGeom>
          <a:gradFill>
            <a:gsLst>
              <a:gs pos="0">
                <a:srgbClr val="7030A0">
                  <a:alpha val="5000"/>
                </a:srgbClr>
              </a:gs>
              <a:gs pos="100000">
                <a:srgbClr val="00B0F0">
                  <a:alpha val="5000"/>
                </a:srgbClr>
              </a:gs>
            </a:gsLst>
            <a:lin ang="13500000" scaled="1"/>
          </a:gradFill>
          <a:ln>
            <a:gradFill>
              <a:gsLst>
                <a:gs pos="0">
                  <a:srgbClr val="0070C0"/>
                </a:gs>
                <a:gs pos="100000">
                  <a:srgbClr val="7030A0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108000" rtlCol="0" anchor="ctr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2000" b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宋体" panose="02010600030101010101" pitchFamily="2" charset="-122"/>
                <a:sym typeface="+mn-ea"/>
              </a:rPr>
              <a:t>Mathf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DB78F14C-DD01-84E5-0727-DF620FF0B503}"/>
              </a:ext>
            </a:extLst>
          </p:cNvPr>
          <p:cNvSpPr/>
          <p:nvPr/>
        </p:nvSpPr>
        <p:spPr>
          <a:xfrm>
            <a:off x="6045200" y="2167757"/>
            <a:ext cx="1815868" cy="609639"/>
          </a:xfrm>
          <a:prstGeom prst="roundRect">
            <a:avLst>
              <a:gd name="adj" fmla="val 3791"/>
            </a:avLst>
          </a:prstGeom>
          <a:gradFill>
            <a:gsLst>
              <a:gs pos="0">
                <a:srgbClr val="7030A0">
                  <a:alpha val="5000"/>
                </a:srgbClr>
              </a:gs>
              <a:gs pos="100000">
                <a:srgbClr val="00B0F0">
                  <a:alpha val="5000"/>
                </a:srgbClr>
              </a:gs>
            </a:gsLst>
            <a:lin ang="13500000" scaled="1"/>
          </a:gradFill>
          <a:ln>
            <a:gradFill>
              <a:gsLst>
                <a:gs pos="0">
                  <a:srgbClr val="0070C0"/>
                </a:gs>
                <a:gs pos="100000">
                  <a:srgbClr val="7030A0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108000" rtlCol="0" anchor="ctr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2000" b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宋体" panose="02010600030101010101" pitchFamily="2" charset="-122"/>
                <a:sym typeface="+mn-ea"/>
              </a:rPr>
              <a:t>Quaternion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8C89EDC1-8382-48FC-8D0A-29A25E20C16C}"/>
              </a:ext>
            </a:extLst>
          </p:cNvPr>
          <p:cNvSpPr/>
          <p:nvPr/>
        </p:nvSpPr>
        <p:spPr>
          <a:xfrm>
            <a:off x="3919913" y="3048964"/>
            <a:ext cx="1815868" cy="609639"/>
          </a:xfrm>
          <a:prstGeom prst="roundRect">
            <a:avLst>
              <a:gd name="adj" fmla="val 3791"/>
            </a:avLst>
          </a:prstGeom>
          <a:gradFill>
            <a:gsLst>
              <a:gs pos="0">
                <a:srgbClr val="7030A0">
                  <a:alpha val="5000"/>
                </a:srgbClr>
              </a:gs>
              <a:gs pos="100000">
                <a:srgbClr val="00B0F0">
                  <a:alpha val="5000"/>
                </a:srgbClr>
              </a:gs>
            </a:gsLst>
            <a:lin ang="13500000" scaled="1"/>
          </a:gradFill>
          <a:ln>
            <a:gradFill>
              <a:gsLst>
                <a:gs pos="0">
                  <a:srgbClr val="0070C0"/>
                </a:gs>
                <a:gs pos="100000">
                  <a:srgbClr val="7030A0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108000" rtlCol="0" anchor="ctr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2000" b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宋体" panose="02010600030101010101" pitchFamily="2" charset="-122"/>
                <a:sym typeface="+mn-ea"/>
              </a:rPr>
              <a:t>SystemInfo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071265DF-A8DD-AA4B-3846-6309A17C695B}"/>
              </a:ext>
            </a:extLst>
          </p:cNvPr>
          <p:cNvSpPr/>
          <p:nvPr/>
        </p:nvSpPr>
        <p:spPr>
          <a:xfrm>
            <a:off x="6045200" y="3048965"/>
            <a:ext cx="1815868" cy="609639"/>
          </a:xfrm>
          <a:prstGeom prst="roundRect">
            <a:avLst>
              <a:gd name="adj" fmla="val 3791"/>
            </a:avLst>
          </a:prstGeom>
          <a:gradFill>
            <a:gsLst>
              <a:gs pos="0">
                <a:srgbClr val="7030A0">
                  <a:alpha val="5000"/>
                </a:srgbClr>
              </a:gs>
              <a:gs pos="100000">
                <a:srgbClr val="00B0F0">
                  <a:alpha val="5000"/>
                </a:srgbClr>
              </a:gs>
            </a:gsLst>
            <a:lin ang="13500000" scaled="1"/>
          </a:gradFill>
          <a:ln>
            <a:gradFill>
              <a:gsLst>
                <a:gs pos="0">
                  <a:srgbClr val="0070C0"/>
                </a:gs>
                <a:gs pos="100000">
                  <a:srgbClr val="7030A0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108000" rtlCol="0" anchor="ctr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2000" b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宋体" panose="02010600030101010101" pitchFamily="2" charset="-122"/>
                <a:sym typeface="+mn-ea"/>
              </a:rPr>
              <a:t>GameObject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AE0128AE-D3F8-CA8D-7831-C70A1848D0D7}"/>
              </a:ext>
            </a:extLst>
          </p:cNvPr>
          <p:cNvSpPr txBox="1"/>
          <p:nvPr/>
        </p:nvSpPr>
        <p:spPr>
          <a:xfrm>
            <a:off x="1623391" y="3792481"/>
            <a:ext cx="8507896" cy="576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2400" b="1" dirty="0">
                <a:solidFill>
                  <a:srgbClr val="A7357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宋体" panose="02010600030101010101" pitchFamily="2" charset="-122"/>
                <a:sym typeface="+mn-ea"/>
              </a:rPr>
              <a:t>Unity</a:t>
            </a:r>
            <a:r>
              <a:rPr lang="zh-CN" altLang="en-US" sz="2400" b="1" dirty="0">
                <a:solidFill>
                  <a:srgbClr val="A7357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宋体" panose="02010600030101010101" pitchFamily="2" charset="-122"/>
                <a:sym typeface="+mn-ea"/>
              </a:rPr>
              <a:t>中重要的变量类型都是类，所以它们都以大写字母开头</a:t>
            </a:r>
          </a:p>
        </p:txBody>
      </p:sp>
    </p:spTree>
    <p:extLst>
      <p:ext uri="{BB962C8B-B14F-4D97-AF65-F5344CB8AC3E}">
        <p14:creationId xmlns:p14="http://schemas.microsoft.com/office/powerpoint/2010/main" val="3405074836"/>
      </p:ext>
    </p:extLst>
  </p:cSld>
  <p:clrMapOvr>
    <a:masterClrMapping/>
  </p:clrMapOvr>
  <p:transition spd="med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ACBBBEB0-BB79-CFAA-718E-EFA32A22C0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AE9991F7-C3D8-BF16-06D9-07A1DDE63DBC}"/>
              </a:ext>
            </a:extLst>
          </p:cNvPr>
          <p:cNvGrpSpPr/>
          <p:nvPr/>
        </p:nvGrpSpPr>
        <p:grpSpPr>
          <a:xfrm>
            <a:off x="3630807" y="251474"/>
            <a:ext cx="4930385" cy="523226"/>
            <a:chOff x="4840431" y="207541"/>
            <a:chExt cx="4930385" cy="523226"/>
          </a:xfrm>
        </p:grpSpPr>
        <p:pic>
          <p:nvPicPr>
            <p:cNvPr id="6" name="Picture 4" descr="黑爵(AJAZZ)手柄/方向盘AG180报价_参数_图片_视频_怎么样_问答-苏宁易购">
              <a:extLst>
                <a:ext uri="{FF2B5EF4-FFF2-40B4-BE49-F238E27FC236}">
                  <a16:creationId xmlns:a16="http://schemas.microsoft.com/office/drawing/2014/main" id="{CECAA47A-4920-FA82-1894-29E93EC76DC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45" t="9275" r="3752" b="5379"/>
            <a:stretch/>
          </p:blipFill>
          <p:spPr bwMode="auto">
            <a:xfrm>
              <a:off x="4840431" y="314689"/>
              <a:ext cx="407315" cy="37661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" name="Rectangle 3">
              <a:extLst>
                <a:ext uri="{FF2B5EF4-FFF2-40B4-BE49-F238E27FC236}">
                  <a16:creationId xmlns:a16="http://schemas.microsoft.com/office/drawing/2014/main" id="{931B39B6-6B91-3A54-BACD-0EE3917EA67B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5298546" y="207541"/>
              <a:ext cx="4472270" cy="523226"/>
            </a:xfrm>
            <a:prstGeom prst="rect">
              <a:avLst/>
            </a:prstGeom>
            <a:noFill/>
          </p:spPr>
          <p:txBody>
            <a:bodyPr lIns="90488" tIns="44450" rIns="90488" bIns="44450"/>
            <a:lstStyle>
              <a:lvl1pPr marL="171450" indent="-17145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1pPr>
              <a:lvl2pPr marL="5143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8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2pPr>
              <a:lvl3pPr marL="8572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3pPr>
              <a:lvl4pPr marL="12001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4pPr>
              <a:lvl5pPr marL="15430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fontAlgn="base">
                <a:lnSpc>
                  <a:spcPct val="100000"/>
                </a:lnSpc>
                <a:buNone/>
              </a:pPr>
              <a:r>
                <a:rPr lang="en-US" altLang="zh-CN" sz="3200" dirty="0">
                  <a:latin typeface="Times New Roman" panose="02020603050405020304" pitchFamily="18" charset="0"/>
                  <a:ea typeface="楷体" panose="02010609060101010101" pitchFamily="49" charset="-122"/>
                  <a:sym typeface="+mn-ea"/>
                </a:rPr>
                <a:t>Unity</a:t>
              </a:r>
              <a:r>
                <a:rPr lang="zh-CN" altLang="en-US" sz="3200" dirty="0">
                  <a:latin typeface="Times New Roman" panose="02020603050405020304" pitchFamily="18" charset="0"/>
                  <a:ea typeface="楷体" panose="02010609060101010101" pitchFamily="49" charset="-122"/>
                  <a:sym typeface="+mn-ea"/>
                </a:rPr>
                <a:t>中的重要变量类型 </a:t>
              </a:r>
            </a:p>
          </p:txBody>
        </p:sp>
      </p:grp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4980DA11-0F31-BA46-C0DD-63865E263986}"/>
              </a:ext>
            </a:extLst>
          </p:cNvPr>
          <p:cNvSpPr/>
          <p:nvPr/>
        </p:nvSpPr>
        <p:spPr>
          <a:xfrm>
            <a:off x="1886923" y="1244560"/>
            <a:ext cx="8603644" cy="609639"/>
          </a:xfrm>
          <a:prstGeom prst="roundRect">
            <a:avLst>
              <a:gd name="adj" fmla="val 3791"/>
            </a:avLst>
          </a:prstGeom>
          <a:gradFill>
            <a:gsLst>
              <a:gs pos="0">
                <a:srgbClr val="7030A0">
                  <a:alpha val="5000"/>
                </a:srgbClr>
              </a:gs>
              <a:gs pos="100000">
                <a:srgbClr val="00B0F0">
                  <a:alpha val="5000"/>
                </a:srgbClr>
              </a:gs>
            </a:gsLst>
            <a:lin ang="13500000" scaled="1"/>
          </a:gradFill>
          <a:ln>
            <a:gradFill>
              <a:gsLst>
                <a:gs pos="0">
                  <a:srgbClr val="0070C0"/>
                </a:gs>
                <a:gs pos="100000">
                  <a:srgbClr val="7030A0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108000" rtlCol="0" anchor="ctr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2400" b="1" dirty="0">
                <a:solidFill>
                  <a:srgbClr val="A7357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宋体" panose="02010600030101010101" pitchFamily="2" charset="-122"/>
                <a:sym typeface="+mn-ea"/>
              </a:rPr>
              <a:t>Vector3: </a:t>
            </a:r>
            <a:r>
              <a:rPr lang="zh-CN" altLang="en-US" sz="2400" b="1" dirty="0">
                <a:solidFill>
                  <a:srgbClr val="A7357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宋体" panose="02010600030101010101" pitchFamily="2" charset="-122"/>
                <a:sym typeface="+mn-ea"/>
              </a:rPr>
              <a:t>三个浮点数的集合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99A1A164-1A08-DB1C-665F-9A4A41F8EFA8}"/>
              </a:ext>
            </a:extLst>
          </p:cNvPr>
          <p:cNvSpPr/>
          <p:nvPr/>
        </p:nvSpPr>
        <p:spPr>
          <a:xfrm>
            <a:off x="1886922" y="1949570"/>
            <a:ext cx="8603645" cy="4656956"/>
          </a:xfrm>
          <a:prstGeom prst="roundRect">
            <a:avLst>
              <a:gd name="adj" fmla="val 1731"/>
            </a:avLst>
          </a:prstGeom>
          <a:gradFill>
            <a:gsLst>
              <a:gs pos="0">
                <a:srgbClr val="7030A0">
                  <a:alpha val="5000"/>
                </a:srgbClr>
              </a:gs>
              <a:gs pos="100000">
                <a:srgbClr val="00B0F0">
                  <a:alpha val="5000"/>
                </a:srgbClr>
              </a:gs>
            </a:gsLst>
            <a:lin ang="13500000" scaled="1"/>
          </a:gradFill>
          <a:ln>
            <a:gradFill>
              <a:gsLst>
                <a:gs pos="0">
                  <a:srgbClr val="0070C0"/>
                </a:gs>
                <a:gs pos="100000">
                  <a:srgbClr val="7030A0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108000" rtlCol="0" anchor="ctr">
            <a:noAutofit/>
          </a:bodyPr>
          <a:lstStyle/>
          <a:p>
            <a:pPr marL="839788" lvl="1" indent="-342900">
              <a:spcBef>
                <a:spcPts val="1100"/>
              </a:spcBef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A7357F"/>
                </a:solidFill>
                <a:ea typeface="楷体" panose="02010609060101010101" pitchFamily="49" charset="-122"/>
              </a:rPr>
              <a:t>用于存储对象的三维空间位置</a:t>
            </a:r>
            <a:endParaRPr lang="en-US" altLang="zh-CN" sz="2000" b="1" dirty="0">
              <a:solidFill>
                <a:srgbClr val="A7357F"/>
              </a:solidFill>
            </a:endParaRPr>
          </a:p>
          <a:p>
            <a:pPr marL="0" lvl="2" indent="0">
              <a:spcBef>
                <a:spcPts val="700"/>
              </a:spcBef>
              <a:buNone/>
            </a:pPr>
            <a:r>
              <a:rPr lang="en-US" altLang="zh-CN" sz="1800" b="1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	Vector3 </a:t>
            </a:r>
            <a:r>
              <a:rPr lang="en-US" altLang="zh-CN" sz="1800" b="1" dirty="0" err="1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vec</a:t>
            </a:r>
            <a:r>
              <a:rPr lang="en-US" altLang="zh-CN" sz="1800" b="1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 = new Vector3(3,4,0);</a:t>
            </a:r>
          </a:p>
          <a:p>
            <a:pPr marL="839788" lvl="1" indent="-342900">
              <a:spcBef>
                <a:spcPts val="1100"/>
              </a:spcBef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A7357F"/>
                </a:solidFill>
                <a:ea typeface="楷体" panose="02010609060101010101" pitchFamily="49" charset="-122"/>
              </a:rPr>
              <a:t>实例变量和函数</a:t>
            </a:r>
            <a:endParaRPr lang="en-US" altLang="zh-CN" sz="2000" b="1" dirty="0">
              <a:solidFill>
                <a:srgbClr val="A7357F"/>
              </a:solidFill>
            </a:endParaRPr>
          </a:p>
          <a:p>
            <a:pPr marL="0" lvl="2">
              <a:spcBef>
                <a:spcPts val="700"/>
              </a:spcBef>
            </a:pPr>
            <a:r>
              <a:rPr lang="en-US" altLang="zh-CN" sz="1800" dirty="0">
                <a:solidFill>
                  <a:srgbClr val="000000"/>
                </a:solidFill>
              </a:rPr>
              <a:t>	</a:t>
            </a:r>
            <a:r>
              <a:rPr lang="en-US" altLang="zh-CN" b="1" dirty="0" err="1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vec.x</a:t>
            </a:r>
            <a:r>
              <a:rPr lang="en-US" altLang="zh-CN" b="1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;				//</a:t>
            </a:r>
            <a:r>
              <a:rPr lang="en-US" altLang="zh-CN" b="1" dirty="0">
                <a:solidFill>
                  <a:srgbClr val="000000"/>
                </a:solidFill>
                <a:latin typeface="Courier" pitchFamily="125" charset="0"/>
              </a:rPr>
              <a:t> vector</a:t>
            </a:r>
            <a:r>
              <a:rPr lang="zh-CN" altLang="en-US" b="1" dirty="0">
                <a:solidFill>
                  <a:srgbClr val="000000"/>
                </a:solidFill>
                <a:latin typeface="Courier" pitchFamily="125" charset="0"/>
              </a:rPr>
              <a:t>的</a:t>
            </a:r>
            <a:r>
              <a:rPr lang="en-US" altLang="zh-CN" b="1" dirty="0">
                <a:solidFill>
                  <a:srgbClr val="000000"/>
                </a:solidFill>
                <a:latin typeface="Courier" pitchFamily="125" charset="0"/>
              </a:rPr>
              <a:t>x</a:t>
            </a:r>
            <a:r>
              <a:rPr lang="zh-CN" altLang="en-US" b="1" dirty="0">
                <a:solidFill>
                  <a:srgbClr val="000000"/>
                </a:solidFill>
                <a:latin typeface="Courier" pitchFamily="125" charset="0"/>
              </a:rPr>
              <a:t>值</a:t>
            </a:r>
            <a:endParaRPr lang="en-US" altLang="zh-CN" b="1" dirty="0">
              <a:solidFill>
                <a:srgbClr val="000000"/>
              </a:solidFill>
              <a:latin typeface="Courier" pitchFamily="125" charset="0"/>
            </a:endParaRPr>
          </a:p>
          <a:p>
            <a:pPr marL="0" lvl="2">
              <a:spcBef>
                <a:spcPts val="700"/>
              </a:spcBef>
            </a:pPr>
            <a:r>
              <a:rPr lang="en-US" altLang="zh-CN" b="1" dirty="0">
                <a:solidFill>
                  <a:srgbClr val="000000"/>
                </a:solidFill>
                <a:latin typeface="Courier" pitchFamily="125" charset="0"/>
              </a:rPr>
              <a:t>	</a:t>
            </a:r>
            <a:r>
              <a:rPr lang="en-US" altLang="zh-CN" b="1" dirty="0" err="1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vec.y</a:t>
            </a:r>
            <a:r>
              <a:rPr lang="en-US" altLang="zh-CN" b="1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;				//</a:t>
            </a:r>
            <a:r>
              <a:rPr lang="en-US" altLang="zh-CN" b="1" dirty="0">
                <a:solidFill>
                  <a:srgbClr val="000000"/>
                </a:solidFill>
                <a:latin typeface="Courier" pitchFamily="125" charset="0"/>
              </a:rPr>
              <a:t> vector</a:t>
            </a:r>
            <a:r>
              <a:rPr lang="zh-CN" altLang="en-US" b="1" dirty="0">
                <a:solidFill>
                  <a:srgbClr val="000000"/>
                </a:solidFill>
                <a:latin typeface="Courier" pitchFamily="125" charset="0"/>
              </a:rPr>
              <a:t>的</a:t>
            </a:r>
            <a:r>
              <a:rPr lang="en-US" altLang="zh-CN" b="1" dirty="0">
                <a:solidFill>
                  <a:srgbClr val="000000"/>
                </a:solidFill>
                <a:latin typeface="Courier" pitchFamily="125" charset="0"/>
              </a:rPr>
              <a:t>y</a:t>
            </a:r>
            <a:r>
              <a:rPr lang="zh-CN" altLang="en-US" b="1" dirty="0">
                <a:solidFill>
                  <a:srgbClr val="000000"/>
                </a:solidFill>
                <a:latin typeface="Courier" pitchFamily="125" charset="0"/>
              </a:rPr>
              <a:t>值</a:t>
            </a:r>
            <a:endParaRPr lang="en-US" altLang="zh-CN" b="1" dirty="0">
              <a:solidFill>
                <a:srgbClr val="000000"/>
              </a:solidFill>
              <a:latin typeface="Courier" pitchFamily="125" charset="0"/>
            </a:endParaRPr>
          </a:p>
          <a:p>
            <a:pPr marL="0" lvl="2">
              <a:spcBef>
                <a:spcPts val="700"/>
              </a:spcBef>
            </a:pPr>
            <a:r>
              <a:rPr lang="en-US" altLang="zh-CN" b="1" dirty="0">
                <a:solidFill>
                  <a:srgbClr val="000000"/>
                </a:solidFill>
                <a:latin typeface="Courier" pitchFamily="125" charset="0"/>
              </a:rPr>
              <a:t>	</a:t>
            </a:r>
            <a:r>
              <a:rPr lang="en-US" altLang="zh-CN" b="1" dirty="0" err="1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vec.z</a:t>
            </a:r>
            <a:r>
              <a:rPr lang="en-US" altLang="zh-CN" b="1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;				</a:t>
            </a:r>
            <a:r>
              <a:rPr lang="en-US" altLang="zh-CN" b="1" dirty="0">
                <a:solidFill>
                  <a:srgbClr val="000000"/>
                </a:solidFill>
                <a:latin typeface="Courier" pitchFamily="125" charset="0"/>
              </a:rPr>
              <a:t>// v</a:t>
            </a:r>
            <a:r>
              <a:rPr lang="en-US" altLang="zh-CN" b="1" dirty="0">
                <a:solidFill>
                  <a:srgbClr val="000000"/>
                </a:solidFill>
                <a:latin typeface="Courier" pitchFamily="125" charset="0"/>
                <a:sym typeface="Geneva" pitchFamily="125" charset="-128"/>
              </a:rPr>
              <a:t>ector</a:t>
            </a:r>
            <a:r>
              <a:rPr lang="zh-CN" altLang="en-US" b="1" dirty="0">
                <a:solidFill>
                  <a:srgbClr val="000000"/>
                </a:solidFill>
                <a:latin typeface="Courier" pitchFamily="125" charset="0"/>
                <a:sym typeface="Geneva" pitchFamily="125" charset="-128"/>
              </a:rPr>
              <a:t>的</a:t>
            </a:r>
            <a:r>
              <a:rPr lang="en-US" altLang="zh-CN" b="1" dirty="0">
                <a:solidFill>
                  <a:srgbClr val="000000"/>
                </a:solidFill>
                <a:latin typeface="Courier" pitchFamily="125" charset="0"/>
                <a:sym typeface="Geneva" pitchFamily="125" charset="-128"/>
              </a:rPr>
              <a:t>z</a:t>
            </a:r>
            <a:r>
              <a:rPr lang="zh-CN" altLang="en-US" b="1" dirty="0">
                <a:solidFill>
                  <a:srgbClr val="000000"/>
                </a:solidFill>
                <a:latin typeface="Courier" pitchFamily="125" charset="0"/>
                <a:sym typeface="Geneva" pitchFamily="125" charset="-128"/>
              </a:rPr>
              <a:t>值</a:t>
            </a:r>
            <a:endParaRPr lang="en-US" altLang="zh-CN" b="1" dirty="0">
              <a:solidFill>
                <a:srgbClr val="000000"/>
              </a:solidFill>
              <a:latin typeface="Courier" pitchFamily="125" charset="0"/>
            </a:endParaRPr>
          </a:p>
          <a:p>
            <a:pPr marL="0" lvl="2">
              <a:spcBef>
                <a:spcPts val="700"/>
              </a:spcBef>
            </a:pPr>
            <a:r>
              <a:rPr lang="en-US" altLang="zh-CN" b="1" dirty="0">
                <a:solidFill>
                  <a:srgbClr val="000000"/>
                </a:solidFill>
                <a:latin typeface="Courier" pitchFamily="125" charset="0"/>
              </a:rPr>
              <a:t>	</a:t>
            </a:r>
            <a:r>
              <a:rPr lang="en-US" altLang="zh-CN" b="1" dirty="0" err="1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vec.magnitude</a:t>
            </a:r>
            <a:r>
              <a:rPr lang="en-US" altLang="zh-CN" b="1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;		</a:t>
            </a:r>
            <a:r>
              <a:rPr lang="en-US" altLang="zh-CN" b="1" dirty="0">
                <a:solidFill>
                  <a:srgbClr val="000000"/>
                </a:solidFill>
                <a:latin typeface="Courier" pitchFamily="125" charset="0"/>
              </a:rPr>
              <a:t>// </a:t>
            </a:r>
            <a:r>
              <a:rPr lang="zh-CN" altLang="en-US" b="1" dirty="0">
                <a:solidFill>
                  <a:srgbClr val="000000"/>
                </a:solidFill>
                <a:latin typeface="Courier" pitchFamily="125" charset="0"/>
              </a:rPr>
              <a:t>三维向量到坐标原点的距离长度</a:t>
            </a:r>
            <a:endParaRPr lang="en-US" altLang="zh-CN" b="1" dirty="0">
              <a:solidFill>
                <a:srgbClr val="000000"/>
              </a:solidFill>
              <a:latin typeface="Courier" pitchFamily="125" charset="0"/>
            </a:endParaRPr>
          </a:p>
          <a:p>
            <a:pPr marL="0" lvl="2">
              <a:spcBef>
                <a:spcPts val="700"/>
              </a:spcBef>
            </a:pPr>
            <a:r>
              <a:rPr lang="en-US" altLang="zh-CN" b="1" dirty="0">
                <a:solidFill>
                  <a:srgbClr val="000000"/>
                </a:solidFill>
                <a:latin typeface="Courier" pitchFamily="125" charset="0"/>
              </a:rPr>
              <a:t>	</a:t>
            </a:r>
            <a:r>
              <a:rPr lang="en-US" altLang="zh-CN" b="1" dirty="0" err="1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vec.Normalize</a:t>
            </a:r>
            <a:r>
              <a:rPr lang="en-US" altLang="zh-CN" b="1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();</a:t>
            </a:r>
            <a:r>
              <a:rPr lang="en-US" altLang="zh-CN" b="1" dirty="0">
                <a:solidFill>
                  <a:srgbClr val="000000"/>
                </a:solidFill>
                <a:latin typeface="Courier" pitchFamily="125" charset="0"/>
              </a:rPr>
              <a:t> 		// </a:t>
            </a:r>
            <a:r>
              <a:rPr lang="zh-CN" altLang="en-US" b="1" dirty="0">
                <a:solidFill>
                  <a:srgbClr val="000000"/>
                </a:solidFill>
                <a:latin typeface="Courier" pitchFamily="125" charset="0"/>
              </a:rPr>
              <a:t>设置变量的</a:t>
            </a:r>
            <a:r>
              <a:rPr lang="en-US" altLang="zh-CN" b="1" dirty="0">
                <a:solidFill>
                  <a:srgbClr val="000000"/>
                </a:solidFill>
                <a:latin typeface="Courier" pitchFamily="125" charset="0"/>
              </a:rPr>
              <a:t>Magnitude</a:t>
            </a:r>
            <a:r>
              <a:rPr lang="zh-CN" altLang="en-US" b="1" dirty="0">
                <a:solidFill>
                  <a:srgbClr val="000000"/>
                </a:solidFill>
                <a:latin typeface="Courier" pitchFamily="125" charset="0"/>
              </a:rPr>
              <a:t>属性为</a:t>
            </a:r>
            <a:r>
              <a:rPr lang="en-US" altLang="zh-CN" b="1" dirty="0">
                <a:solidFill>
                  <a:srgbClr val="000000"/>
                </a:solidFill>
                <a:latin typeface="Courier" pitchFamily="125" charset="0"/>
              </a:rPr>
              <a:t>1</a:t>
            </a:r>
          </a:p>
          <a:p>
            <a:pPr marL="839788" lvl="1" indent="-342900">
              <a:spcBef>
                <a:spcPts val="1100"/>
              </a:spcBef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A7357F"/>
                </a:solidFill>
                <a:ea typeface="楷体" panose="02010609060101010101" pitchFamily="49" charset="-122"/>
              </a:rPr>
              <a:t>静态类变量和函数</a:t>
            </a:r>
            <a:endParaRPr lang="en-US" altLang="zh-CN" sz="2000" b="1" dirty="0">
              <a:solidFill>
                <a:srgbClr val="A7357F"/>
              </a:solidFill>
            </a:endParaRPr>
          </a:p>
          <a:p>
            <a:pPr marL="0" lvl="2" indent="0">
              <a:spcBef>
                <a:spcPts val="700"/>
              </a:spcBef>
              <a:buNone/>
            </a:pPr>
            <a:r>
              <a:rPr lang="en-US" altLang="zh-CN" sz="1800" dirty="0">
                <a:solidFill>
                  <a:srgbClr val="000000"/>
                </a:solidFill>
              </a:rPr>
              <a:t>	</a:t>
            </a:r>
            <a:r>
              <a:rPr lang="en-US" altLang="zh-CN" sz="1800" b="1" dirty="0">
                <a:solidFill>
                  <a:srgbClr val="000000"/>
                </a:solidFill>
                <a:latin typeface="+mj-lt"/>
                <a:sym typeface="Courier" pitchFamily="125" charset="0"/>
              </a:rPr>
              <a:t>Vector3.zero;</a:t>
            </a:r>
            <a:r>
              <a:rPr lang="en-US" altLang="zh-CN" sz="1800" b="1" dirty="0">
                <a:solidFill>
                  <a:srgbClr val="000000"/>
                </a:solidFill>
                <a:latin typeface="+mj-lt"/>
              </a:rPr>
              <a:t> 		// </a:t>
            </a:r>
            <a:r>
              <a:rPr lang="en-US" altLang="zh-CN" sz="1800" b="1" dirty="0">
                <a:solidFill>
                  <a:srgbClr val="000000"/>
                </a:solidFill>
                <a:latin typeface="+mj-lt"/>
                <a:sym typeface="Courier" pitchFamily="125" charset="0"/>
              </a:rPr>
              <a:t>new Vector3(0, 0, 0)</a:t>
            </a:r>
            <a:r>
              <a:rPr lang="zh-CN" altLang="en-US" sz="1800" b="1" dirty="0">
                <a:solidFill>
                  <a:srgbClr val="000000"/>
                </a:solidFill>
                <a:latin typeface="+mj-lt"/>
                <a:sym typeface="Courier" pitchFamily="125" charset="0"/>
              </a:rPr>
              <a:t>的简写</a:t>
            </a:r>
            <a:endParaRPr lang="en-US" altLang="zh-CN" b="1" dirty="0">
              <a:solidFill>
                <a:srgbClr val="000000"/>
              </a:solidFill>
              <a:latin typeface="+mj-lt"/>
            </a:endParaRPr>
          </a:p>
          <a:p>
            <a:pPr marL="0" lvl="2" indent="0">
              <a:spcBef>
                <a:spcPts val="700"/>
              </a:spcBef>
              <a:buNone/>
            </a:pPr>
            <a:r>
              <a:rPr lang="en-US" altLang="zh-CN" b="1" dirty="0">
                <a:solidFill>
                  <a:srgbClr val="000000"/>
                </a:solidFill>
                <a:latin typeface="+mj-lt"/>
              </a:rPr>
              <a:t>	</a:t>
            </a:r>
            <a:r>
              <a:rPr lang="en-US" altLang="zh-CN" sz="1800" b="1" dirty="0">
                <a:solidFill>
                  <a:srgbClr val="000000"/>
                </a:solidFill>
                <a:latin typeface="+mj-lt"/>
                <a:sym typeface="Courier" pitchFamily="125" charset="0"/>
              </a:rPr>
              <a:t>Vector3.Dot(</a:t>
            </a:r>
            <a:r>
              <a:rPr lang="en-US" altLang="zh-CN" sz="1800" b="1" dirty="0" err="1">
                <a:solidFill>
                  <a:srgbClr val="000000"/>
                </a:solidFill>
                <a:latin typeface="+mj-lt"/>
                <a:sym typeface="Courier" pitchFamily="125" charset="0"/>
              </a:rPr>
              <a:t>vA</a:t>
            </a:r>
            <a:r>
              <a:rPr lang="en-US" altLang="zh-CN" sz="1800" b="1" dirty="0">
                <a:solidFill>
                  <a:srgbClr val="000000"/>
                </a:solidFill>
                <a:latin typeface="+mj-lt"/>
                <a:sym typeface="Courier" pitchFamily="125" charset="0"/>
              </a:rPr>
              <a:t>, </a:t>
            </a:r>
            <a:r>
              <a:rPr lang="en-US" altLang="zh-CN" sz="1800" b="1" dirty="0" err="1">
                <a:solidFill>
                  <a:srgbClr val="000000"/>
                </a:solidFill>
                <a:latin typeface="+mj-lt"/>
                <a:sym typeface="Courier" pitchFamily="125" charset="0"/>
              </a:rPr>
              <a:t>vB</a:t>
            </a:r>
            <a:r>
              <a:rPr lang="en-US" altLang="zh-CN" sz="1800" b="1" dirty="0">
                <a:solidFill>
                  <a:srgbClr val="000000"/>
                </a:solidFill>
                <a:latin typeface="+mj-lt"/>
                <a:sym typeface="Courier" pitchFamily="125" charset="0"/>
              </a:rPr>
              <a:t>);</a:t>
            </a:r>
            <a:r>
              <a:rPr lang="en-US" altLang="zh-CN" sz="1800" b="1" dirty="0">
                <a:solidFill>
                  <a:srgbClr val="000000"/>
                </a:solidFill>
                <a:latin typeface="+mj-lt"/>
              </a:rPr>
              <a:t> 	</a:t>
            </a:r>
            <a:r>
              <a:rPr lang="en-US" altLang="zh-CN" b="1" dirty="0">
                <a:solidFill>
                  <a:srgbClr val="000000"/>
                </a:solidFill>
                <a:latin typeface="+mj-lt"/>
              </a:rPr>
              <a:t>//</a:t>
            </a:r>
            <a:r>
              <a:rPr lang="en-US" altLang="zh-CN" sz="1800" b="1" dirty="0">
                <a:solidFill>
                  <a:srgbClr val="000000"/>
                </a:solidFill>
                <a:latin typeface="+mj-lt"/>
              </a:rPr>
              <a:t> </a:t>
            </a:r>
            <a:r>
              <a:rPr lang="zh-CN" altLang="en-US" sz="1800" b="1" dirty="0">
                <a:solidFill>
                  <a:srgbClr val="000000"/>
                </a:solidFill>
                <a:latin typeface="+mj-lt"/>
              </a:rPr>
              <a:t>计算</a:t>
            </a:r>
            <a:r>
              <a:rPr lang="en-US" altLang="zh-CN" sz="1800" b="1" dirty="0" err="1">
                <a:solidFill>
                  <a:srgbClr val="000000"/>
                </a:solidFill>
                <a:latin typeface="+mj-lt"/>
              </a:rPr>
              <a:t>vA</a:t>
            </a:r>
            <a:r>
              <a:rPr lang="zh-CN" altLang="en-US" sz="1800" b="1" dirty="0">
                <a:solidFill>
                  <a:srgbClr val="000000"/>
                </a:solidFill>
                <a:latin typeface="+mj-lt"/>
              </a:rPr>
              <a:t>和</a:t>
            </a:r>
            <a:r>
              <a:rPr lang="en-US" altLang="zh-CN" sz="1800" b="1" dirty="0" err="1">
                <a:solidFill>
                  <a:srgbClr val="000000"/>
                </a:solidFill>
                <a:latin typeface="+mj-lt"/>
              </a:rPr>
              <a:t>vB</a:t>
            </a:r>
            <a:r>
              <a:rPr lang="zh-CN" altLang="en-US" sz="1800" b="1" dirty="0">
                <a:solidFill>
                  <a:srgbClr val="000000"/>
                </a:solidFill>
                <a:latin typeface="+mj-lt"/>
              </a:rPr>
              <a:t>的内积</a:t>
            </a:r>
          </a:p>
        </p:txBody>
      </p:sp>
    </p:spTree>
    <p:extLst>
      <p:ext uri="{BB962C8B-B14F-4D97-AF65-F5344CB8AC3E}">
        <p14:creationId xmlns:p14="http://schemas.microsoft.com/office/powerpoint/2010/main" val="629106977"/>
      </p:ext>
    </p:extLst>
  </p:cSld>
  <p:clrMapOvr>
    <a:masterClrMapping/>
  </p:clrMapOvr>
  <p:transition spd="med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0BCA4F7D-2698-5A83-7B17-1FC2B987AD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48213757-0793-273A-1C34-8B25E36A86BA}"/>
              </a:ext>
            </a:extLst>
          </p:cNvPr>
          <p:cNvGrpSpPr/>
          <p:nvPr/>
        </p:nvGrpSpPr>
        <p:grpSpPr>
          <a:xfrm>
            <a:off x="3630807" y="251474"/>
            <a:ext cx="4930385" cy="523226"/>
            <a:chOff x="4840431" y="207541"/>
            <a:chExt cx="4930385" cy="523226"/>
          </a:xfrm>
        </p:grpSpPr>
        <p:pic>
          <p:nvPicPr>
            <p:cNvPr id="6" name="Picture 4" descr="黑爵(AJAZZ)手柄/方向盘AG180报价_参数_图片_视频_怎么样_问答-苏宁易购">
              <a:extLst>
                <a:ext uri="{FF2B5EF4-FFF2-40B4-BE49-F238E27FC236}">
                  <a16:creationId xmlns:a16="http://schemas.microsoft.com/office/drawing/2014/main" id="{8CEDE14E-8362-B5CD-9C14-62ED97C565D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45" t="9275" r="3752" b="5379"/>
            <a:stretch/>
          </p:blipFill>
          <p:spPr bwMode="auto">
            <a:xfrm>
              <a:off x="4840431" y="314689"/>
              <a:ext cx="407315" cy="37661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" name="Rectangle 3">
              <a:extLst>
                <a:ext uri="{FF2B5EF4-FFF2-40B4-BE49-F238E27FC236}">
                  <a16:creationId xmlns:a16="http://schemas.microsoft.com/office/drawing/2014/main" id="{3DC5BFF8-829E-C997-F824-FCEF847D686A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5298546" y="207541"/>
              <a:ext cx="4472270" cy="523226"/>
            </a:xfrm>
            <a:prstGeom prst="rect">
              <a:avLst/>
            </a:prstGeom>
            <a:noFill/>
          </p:spPr>
          <p:txBody>
            <a:bodyPr lIns="90488" tIns="44450" rIns="90488" bIns="44450"/>
            <a:lstStyle>
              <a:lvl1pPr marL="171450" indent="-17145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1pPr>
              <a:lvl2pPr marL="5143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8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2pPr>
              <a:lvl3pPr marL="8572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3pPr>
              <a:lvl4pPr marL="12001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4pPr>
              <a:lvl5pPr marL="15430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fontAlgn="base">
                <a:lnSpc>
                  <a:spcPct val="100000"/>
                </a:lnSpc>
                <a:buNone/>
              </a:pPr>
              <a:r>
                <a:rPr lang="en-US" altLang="zh-CN" sz="3200" dirty="0">
                  <a:latin typeface="Times New Roman" panose="02020603050405020304" pitchFamily="18" charset="0"/>
                  <a:ea typeface="楷体" panose="02010609060101010101" pitchFamily="49" charset="-122"/>
                  <a:sym typeface="+mn-ea"/>
                </a:rPr>
                <a:t>Unity</a:t>
              </a:r>
              <a:r>
                <a:rPr lang="zh-CN" altLang="en-US" sz="3200" dirty="0">
                  <a:latin typeface="Times New Roman" panose="02020603050405020304" pitchFamily="18" charset="0"/>
                  <a:ea typeface="楷体" panose="02010609060101010101" pitchFamily="49" charset="-122"/>
                  <a:sym typeface="+mn-ea"/>
                </a:rPr>
                <a:t>中的重要变量类型 </a:t>
              </a:r>
            </a:p>
          </p:txBody>
        </p:sp>
      </p:grp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C3E5975C-36CC-5AA4-1935-ABE506FA6625}"/>
              </a:ext>
            </a:extLst>
          </p:cNvPr>
          <p:cNvSpPr/>
          <p:nvPr/>
        </p:nvSpPr>
        <p:spPr>
          <a:xfrm>
            <a:off x="1351703" y="1135058"/>
            <a:ext cx="9488594" cy="609639"/>
          </a:xfrm>
          <a:prstGeom prst="roundRect">
            <a:avLst>
              <a:gd name="adj" fmla="val 3791"/>
            </a:avLst>
          </a:prstGeom>
          <a:gradFill>
            <a:gsLst>
              <a:gs pos="0">
                <a:srgbClr val="7030A0">
                  <a:alpha val="5000"/>
                </a:srgbClr>
              </a:gs>
              <a:gs pos="100000">
                <a:srgbClr val="00B0F0">
                  <a:alpha val="5000"/>
                </a:srgbClr>
              </a:gs>
            </a:gsLst>
            <a:lin ang="13500000" scaled="1"/>
          </a:gradFill>
          <a:ln>
            <a:gradFill>
              <a:gsLst>
                <a:gs pos="0">
                  <a:srgbClr val="0070C0"/>
                </a:gs>
                <a:gs pos="100000">
                  <a:srgbClr val="7030A0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108000" rtlCol="0" anchor="ctr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2400" b="1" dirty="0">
                <a:solidFill>
                  <a:srgbClr val="A7357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宋体" panose="02010600030101010101" pitchFamily="2" charset="-122"/>
                <a:sym typeface="+mn-ea"/>
              </a:rPr>
              <a:t>Color: </a:t>
            </a:r>
            <a:r>
              <a:rPr lang="zh-CN" altLang="en-US" sz="2400" b="1" dirty="0">
                <a:solidFill>
                  <a:srgbClr val="A7357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宋体" panose="02010600030101010101" pitchFamily="2" charset="-122"/>
                <a:sym typeface="+mn-ea"/>
              </a:rPr>
              <a:t>带有透明度信息的颜色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86C4A210-D22A-9ECF-14AC-1F64ACA1E93F}"/>
              </a:ext>
            </a:extLst>
          </p:cNvPr>
          <p:cNvSpPr/>
          <p:nvPr/>
        </p:nvSpPr>
        <p:spPr>
          <a:xfrm>
            <a:off x="1351702" y="1840068"/>
            <a:ext cx="9488595" cy="4659310"/>
          </a:xfrm>
          <a:prstGeom prst="roundRect">
            <a:avLst>
              <a:gd name="adj" fmla="val 1731"/>
            </a:avLst>
          </a:prstGeom>
          <a:gradFill>
            <a:gsLst>
              <a:gs pos="0">
                <a:srgbClr val="7030A0">
                  <a:alpha val="5000"/>
                </a:srgbClr>
              </a:gs>
              <a:gs pos="100000">
                <a:srgbClr val="00B0F0">
                  <a:alpha val="5000"/>
                </a:srgbClr>
              </a:gs>
            </a:gsLst>
            <a:lin ang="13500000" scaled="1"/>
          </a:gradFill>
          <a:ln>
            <a:gradFill>
              <a:gsLst>
                <a:gs pos="0">
                  <a:srgbClr val="0070C0"/>
                </a:gs>
                <a:gs pos="100000">
                  <a:srgbClr val="7030A0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108000" rtlCol="0" anchor="ctr">
            <a:noAutofit/>
          </a:bodyPr>
          <a:lstStyle/>
          <a:p>
            <a:pPr marL="839788" lvl="1" indent="-342900">
              <a:spcBef>
                <a:spcPts val="1100"/>
              </a:spcBef>
              <a:buFont typeface="Wingdings" panose="05000000000000000000" pitchFamily="2" charset="2"/>
              <a:buChar char="l"/>
            </a:pPr>
            <a:r>
              <a:rPr lang="en-US" altLang="zh-CN" sz="2000" b="1" dirty="0">
                <a:solidFill>
                  <a:srgbClr val="A7357F"/>
                </a:solidFill>
                <a:latin typeface="+mj-ea"/>
                <a:ea typeface="+mj-ea"/>
              </a:rPr>
              <a:t>4个浮点数分别表示红色、绿色、蓝色和透明度(</a:t>
            </a:r>
            <a:r>
              <a:rPr lang="zh-CN" altLang="en-US" sz="2000" b="1" dirty="0">
                <a:solidFill>
                  <a:srgbClr val="A7357F"/>
                </a:solidFill>
                <a:latin typeface="+mj-ea"/>
                <a:ea typeface="+mj-ea"/>
              </a:rPr>
              <a:t>它们的值都在</a:t>
            </a:r>
            <a:r>
              <a:rPr lang="en-US" altLang="zh-CN" sz="2000" b="1" dirty="0">
                <a:solidFill>
                  <a:srgbClr val="A7357F"/>
                </a:solidFill>
                <a:latin typeface="+mj-ea"/>
                <a:ea typeface="+mj-ea"/>
              </a:rPr>
              <a:t>0</a:t>
            </a:r>
            <a:r>
              <a:rPr lang="zh-CN" altLang="en-US" sz="2000" b="1" dirty="0">
                <a:solidFill>
                  <a:srgbClr val="A7357F"/>
                </a:solidFill>
                <a:latin typeface="+mj-ea"/>
                <a:ea typeface="+mj-ea"/>
              </a:rPr>
              <a:t>和</a:t>
            </a:r>
            <a:r>
              <a:rPr lang="en-US" altLang="zh-CN" sz="2000" b="1" dirty="0">
                <a:solidFill>
                  <a:srgbClr val="A7357F"/>
                </a:solidFill>
                <a:latin typeface="+mj-ea"/>
                <a:ea typeface="+mj-ea"/>
              </a:rPr>
              <a:t>1</a:t>
            </a:r>
            <a:r>
              <a:rPr lang="zh-CN" altLang="en-US" sz="2000" b="1" dirty="0">
                <a:solidFill>
                  <a:srgbClr val="A7357F"/>
                </a:solidFill>
                <a:latin typeface="+mj-ea"/>
                <a:ea typeface="+mj-ea"/>
              </a:rPr>
              <a:t>之间</a:t>
            </a:r>
            <a:r>
              <a:rPr lang="en-US" altLang="zh-CN" sz="2000" b="1" dirty="0">
                <a:solidFill>
                  <a:srgbClr val="A7357F"/>
                </a:solidFill>
                <a:latin typeface="+mj-ea"/>
                <a:ea typeface="+mj-ea"/>
              </a:rPr>
              <a:t>)</a:t>
            </a:r>
          </a:p>
          <a:p>
            <a:pPr marL="0" lvl="2" indent="0">
              <a:spcBef>
                <a:spcPts val="700"/>
              </a:spcBef>
              <a:buNone/>
            </a:pPr>
            <a:r>
              <a:rPr lang="en-US" altLang="zh-CN" sz="1800" b="1" dirty="0">
                <a:solidFill>
                  <a:srgbClr val="000000"/>
                </a:solidFill>
                <a:latin typeface="+mj-lt"/>
                <a:sym typeface="Courier" pitchFamily="125" charset="0"/>
              </a:rPr>
              <a:t>	Color col = new Color(0.5f,0.5f,0f,1f);</a:t>
            </a:r>
          </a:p>
          <a:p>
            <a:pPr marL="0" lvl="2" indent="0">
              <a:spcBef>
                <a:spcPts val="700"/>
              </a:spcBef>
              <a:buNone/>
            </a:pPr>
            <a:r>
              <a:rPr lang="en-US" altLang="zh-CN" sz="1800" b="1" dirty="0">
                <a:solidFill>
                  <a:srgbClr val="000000"/>
                </a:solidFill>
                <a:latin typeface="+mj-lt"/>
                <a:sym typeface="Courier" pitchFamily="125" charset="0"/>
              </a:rPr>
              <a:t>	Color col = new Color(1f,0f,0f); 		</a:t>
            </a:r>
            <a:r>
              <a:rPr lang="en-US" altLang="zh-CN" sz="1800" b="1" dirty="0">
                <a:solidFill>
                  <a:srgbClr val="000000"/>
                </a:solidFill>
                <a:latin typeface="+mj-lt"/>
              </a:rPr>
              <a:t>// </a:t>
            </a:r>
            <a:r>
              <a:rPr lang="zh-CN" altLang="en-US" sz="1800" b="1" dirty="0">
                <a:solidFill>
                  <a:srgbClr val="000000"/>
                </a:solidFill>
                <a:latin typeface="+mj-lt"/>
                <a:ea typeface="楷体" panose="02010609060101010101" pitchFamily="49" charset="-122"/>
              </a:rPr>
              <a:t>透明度是可选择的</a:t>
            </a:r>
            <a:endParaRPr lang="en-US" altLang="zh-CN" sz="1800" b="1" dirty="0">
              <a:solidFill>
                <a:srgbClr val="000000"/>
              </a:solidFill>
              <a:latin typeface="+mj-lt"/>
              <a:sym typeface="Courier" pitchFamily="125" charset="0"/>
            </a:endParaRPr>
          </a:p>
          <a:p>
            <a:pPr marL="839788" lvl="1" indent="-342900">
              <a:spcBef>
                <a:spcPts val="1100"/>
              </a:spcBef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A7357F"/>
                </a:solidFill>
                <a:latin typeface="+mj-ea"/>
                <a:ea typeface="+mj-ea"/>
              </a:rPr>
              <a:t>在</a:t>
            </a:r>
            <a:r>
              <a:rPr lang="en-US" altLang="zh-CN" sz="2000" b="1" dirty="0">
                <a:solidFill>
                  <a:srgbClr val="A7357F"/>
                </a:solidFill>
                <a:latin typeface="+mj-ea"/>
                <a:ea typeface="+mj-ea"/>
              </a:rPr>
              <a:t>Unity</a:t>
            </a:r>
            <a:r>
              <a:rPr lang="zh-CN" altLang="en-US" sz="2000" b="1" dirty="0">
                <a:solidFill>
                  <a:srgbClr val="A7357F"/>
                </a:solidFill>
                <a:latin typeface="+mj-ea"/>
                <a:ea typeface="+mj-ea"/>
              </a:rPr>
              <a:t>的拾色器中，颜色的四个通道被定义为</a:t>
            </a:r>
            <a:r>
              <a:rPr lang="en-US" altLang="zh-CN" sz="2000" b="1" dirty="0">
                <a:solidFill>
                  <a:srgbClr val="A7357F"/>
                </a:solidFill>
                <a:latin typeface="+mj-ea"/>
                <a:ea typeface="+mj-ea"/>
              </a:rPr>
              <a:t>0</a:t>
            </a:r>
            <a:r>
              <a:rPr lang="zh-CN" altLang="en-US" sz="2000" b="1" dirty="0">
                <a:solidFill>
                  <a:srgbClr val="A7357F"/>
                </a:solidFill>
                <a:latin typeface="+mj-ea"/>
                <a:ea typeface="+mj-ea"/>
              </a:rPr>
              <a:t>到</a:t>
            </a:r>
            <a:r>
              <a:rPr lang="en-US" altLang="zh-CN" sz="2000" b="1" dirty="0">
                <a:solidFill>
                  <a:srgbClr val="A7357F"/>
                </a:solidFill>
                <a:latin typeface="+mj-ea"/>
                <a:ea typeface="+mj-ea"/>
              </a:rPr>
              <a:t>255</a:t>
            </a:r>
            <a:r>
              <a:rPr lang="zh-CN" altLang="en-US" sz="2000" b="1" dirty="0">
                <a:solidFill>
                  <a:srgbClr val="A7357F"/>
                </a:solidFill>
                <a:latin typeface="+mj-ea"/>
                <a:ea typeface="+mj-ea"/>
              </a:rPr>
              <a:t>之间的整数。</a:t>
            </a:r>
            <a:endParaRPr lang="en-US" altLang="zh-CN" sz="2000" b="1" dirty="0">
              <a:solidFill>
                <a:srgbClr val="A7357F"/>
              </a:solidFill>
              <a:latin typeface="+mj-ea"/>
              <a:ea typeface="+mj-ea"/>
            </a:endParaRPr>
          </a:p>
          <a:p>
            <a:pPr marL="1296988" lvl="2" indent="-342900">
              <a:spcBef>
                <a:spcPts val="1100"/>
              </a:spcBef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chemeClr val="tx1"/>
                </a:solidFill>
                <a:latin typeface="+mj-lt"/>
                <a:ea typeface="+mj-ea"/>
              </a:rPr>
              <a:t>这些值会被自动转换为</a:t>
            </a:r>
            <a:r>
              <a:rPr lang="en-US" altLang="zh-CN" sz="2000" b="1" dirty="0">
                <a:solidFill>
                  <a:schemeClr val="tx1"/>
                </a:solidFill>
                <a:latin typeface="+mj-lt"/>
                <a:ea typeface="+mj-ea"/>
              </a:rPr>
              <a:t>0</a:t>
            </a:r>
            <a:r>
              <a:rPr lang="zh-CN" altLang="en-US" sz="2000" b="1" dirty="0">
                <a:solidFill>
                  <a:schemeClr val="tx1"/>
                </a:solidFill>
                <a:latin typeface="+mj-lt"/>
                <a:ea typeface="+mj-ea"/>
              </a:rPr>
              <a:t>到</a:t>
            </a:r>
            <a:r>
              <a:rPr lang="en-US" altLang="zh-CN" sz="2000" b="1" dirty="0">
                <a:solidFill>
                  <a:schemeClr val="tx1"/>
                </a:solidFill>
                <a:latin typeface="+mj-lt"/>
                <a:ea typeface="+mj-ea"/>
              </a:rPr>
              <a:t>1</a:t>
            </a:r>
            <a:r>
              <a:rPr lang="zh-CN" altLang="en-US" sz="2000" b="1" dirty="0">
                <a:solidFill>
                  <a:schemeClr val="tx1"/>
                </a:solidFill>
                <a:latin typeface="+mj-lt"/>
                <a:ea typeface="+mj-ea"/>
              </a:rPr>
              <a:t>之间的数</a:t>
            </a:r>
            <a:endParaRPr lang="en-US" altLang="zh-CN" sz="2000" b="1" dirty="0">
              <a:solidFill>
                <a:schemeClr val="tx1"/>
              </a:solidFill>
              <a:latin typeface="+mj-lt"/>
              <a:ea typeface="+mj-ea"/>
            </a:endParaRPr>
          </a:p>
          <a:p>
            <a:pPr marL="839788" lvl="1" indent="-342900">
              <a:spcBef>
                <a:spcPts val="1100"/>
              </a:spcBef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A7357F"/>
                </a:solidFill>
                <a:latin typeface="+mj-ea"/>
                <a:ea typeface="+mj-ea"/>
              </a:rPr>
              <a:t>实例变量和函数</a:t>
            </a:r>
            <a:endParaRPr lang="en-US" altLang="zh-CN" sz="2000" b="1" dirty="0">
              <a:solidFill>
                <a:srgbClr val="A7357F"/>
              </a:solidFill>
              <a:latin typeface="+mj-ea"/>
              <a:ea typeface="+mj-ea"/>
            </a:endParaRPr>
          </a:p>
          <a:p>
            <a:pPr marL="0" lvl="2">
              <a:spcBef>
                <a:spcPts val="700"/>
              </a:spcBef>
            </a:pPr>
            <a:r>
              <a:rPr lang="en-US" altLang="zh-CN" b="1" dirty="0">
                <a:solidFill>
                  <a:srgbClr val="000000"/>
                </a:solidFill>
                <a:latin typeface="+mj-lt"/>
              </a:rPr>
              <a:t>	</a:t>
            </a:r>
            <a:r>
              <a:rPr lang="en-US" altLang="zh-CN" b="1" dirty="0" err="1">
                <a:solidFill>
                  <a:srgbClr val="000000"/>
                </a:solidFill>
                <a:latin typeface="+mj-lt"/>
                <a:sym typeface="Courier" pitchFamily="125" charset="0"/>
              </a:rPr>
              <a:t>col.r</a:t>
            </a:r>
            <a:r>
              <a:rPr lang="en-US" altLang="zh-CN" b="1" dirty="0">
                <a:solidFill>
                  <a:srgbClr val="000000"/>
                </a:solidFill>
                <a:latin typeface="+mj-lt"/>
              </a:rPr>
              <a:t> 		//</a:t>
            </a:r>
            <a:r>
              <a:rPr lang="zh-CN" altLang="en-US" b="1" dirty="0">
                <a:solidFill>
                  <a:srgbClr val="000000"/>
                </a:solidFill>
                <a:latin typeface="+mj-lt"/>
              </a:rPr>
              <a:t>颜色的红色通道值</a:t>
            </a:r>
            <a:endParaRPr lang="en-US" altLang="zh-CN" b="1" dirty="0">
              <a:solidFill>
                <a:srgbClr val="000000"/>
              </a:solidFill>
              <a:latin typeface="+mj-lt"/>
            </a:endParaRPr>
          </a:p>
          <a:p>
            <a:pPr marL="0" lvl="2">
              <a:spcBef>
                <a:spcPts val="700"/>
              </a:spcBef>
            </a:pPr>
            <a:r>
              <a:rPr lang="en-US" altLang="zh-CN" b="1" dirty="0">
                <a:solidFill>
                  <a:srgbClr val="000000"/>
                </a:solidFill>
                <a:latin typeface="+mj-lt"/>
              </a:rPr>
              <a:t>	</a:t>
            </a:r>
            <a:r>
              <a:rPr lang="en-US" altLang="zh-CN" b="1" dirty="0" err="1">
                <a:solidFill>
                  <a:srgbClr val="000000"/>
                </a:solidFill>
                <a:latin typeface="+mj-lt"/>
                <a:sym typeface="Courier" pitchFamily="125" charset="0"/>
              </a:rPr>
              <a:t>col.g</a:t>
            </a:r>
            <a:r>
              <a:rPr lang="en-US" altLang="zh-CN" b="1" dirty="0">
                <a:solidFill>
                  <a:srgbClr val="000000"/>
                </a:solidFill>
                <a:latin typeface="+mj-lt"/>
              </a:rPr>
              <a:t> 		//</a:t>
            </a:r>
            <a:r>
              <a:rPr lang="zh-CN" altLang="en-US" b="1" dirty="0">
                <a:solidFill>
                  <a:srgbClr val="000000"/>
                </a:solidFill>
                <a:latin typeface="+mj-lt"/>
              </a:rPr>
              <a:t>颜色的绿色通道值</a:t>
            </a:r>
            <a:endParaRPr lang="en-US" altLang="zh-CN" b="1" dirty="0">
              <a:solidFill>
                <a:srgbClr val="000000"/>
              </a:solidFill>
              <a:latin typeface="+mj-lt"/>
            </a:endParaRPr>
          </a:p>
          <a:p>
            <a:pPr marL="0" lvl="2">
              <a:spcBef>
                <a:spcPts val="700"/>
              </a:spcBef>
            </a:pPr>
            <a:r>
              <a:rPr lang="en-US" altLang="zh-CN" b="1" dirty="0">
                <a:solidFill>
                  <a:srgbClr val="000000"/>
                </a:solidFill>
                <a:latin typeface="+mj-lt"/>
              </a:rPr>
              <a:t>	</a:t>
            </a:r>
            <a:r>
              <a:rPr lang="en-US" altLang="zh-CN" b="1" dirty="0" err="1">
                <a:solidFill>
                  <a:srgbClr val="000000"/>
                </a:solidFill>
                <a:latin typeface="+mj-lt"/>
                <a:sym typeface="Courier" pitchFamily="125" charset="0"/>
              </a:rPr>
              <a:t>col.b</a:t>
            </a:r>
            <a:r>
              <a:rPr lang="en-US" altLang="zh-CN" b="1" dirty="0">
                <a:solidFill>
                  <a:srgbClr val="000000"/>
                </a:solidFill>
                <a:latin typeface="+mj-lt"/>
              </a:rPr>
              <a:t> 		//</a:t>
            </a:r>
            <a:r>
              <a:rPr lang="zh-CN" altLang="en-US" b="1" dirty="0">
                <a:solidFill>
                  <a:srgbClr val="000000"/>
                </a:solidFill>
                <a:latin typeface="+mj-lt"/>
              </a:rPr>
              <a:t>颜色的蓝色通道值</a:t>
            </a:r>
            <a:endParaRPr lang="en-US" altLang="zh-CN" b="1" dirty="0">
              <a:solidFill>
                <a:srgbClr val="000000"/>
              </a:solidFill>
              <a:latin typeface="+mj-lt"/>
            </a:endParaRPr>
          </a:p>
          <a:p>
            <a:pPr marL="0" lvl="2">
              <a:spcBef>
                <a:spcPts val="700"/>
              </a:spcBef>
            </a:pPr>
            <a:r>
              <a:rPr lang="en-US" altLang="zh-CN" b="1" dirty="0">
                <a:solidFill>
                  <a:srgbClr val="000000"/>
                </a:solidFill>
                <a:latin typeface="+mj-lt"/>
              </a:rPr>
              <a:t>	</a:t>
            </a:r>
            <a:r>
              <a:rPr lang="en-US" altLang="zh-CN" b="1" dirty="0" err="1">
                <a:solidFill>
                  <a:srgbClr val="000000"/>
                </a:solidFill>
                <a:latin typeface="+mj-lt"/>
                <a:sym typeface="Courier" pitchFamily="125" charset="0"/>
              </a:rPr>
              <a:t>col.a</a:t>
            </a:r>
            <a:r>
              <a:rPr lang="en-US" altLang="zh-CN" b="1" dirty="0">
                <a:solidFill>
                  <a:srgbClr val="000000"/>
                </a:solidFill>
                <a:latin typeface="+mj-lt"/>
              </a:rPr>
              <a:t> 		//</a:t>
            </a:r>
            <a:r>
              <a:rPr lang="zh-CN" altLang="en-US" b="1" dirty="0">
                <a:solidFill>
                  <a:srgbClr val="000000"/>
                </a:solidFill>
                <a:latin typeface="+mj-lt"/>
              </a:rPr>
              <a:t>颜色的</a:t>
            </a:r>
            <a:r>
              <a:rPr lang="en-US" altLang="zh-CN" b="1" dirty="0">
                <a:solidFill>
                  <a:srgbClr val="000000"/>
                </a:solidFill>
                <a:latin typeface="+mj-lt"/>
              </a:rPr>
              <a:t>alpha</a:t>
            </a:r>
            <a:r>
              <a:rPr lang="zh-CN" altLang="en-US" b="1" dirty="0">
                <a:solidFill>
                  <a:srgbClr val="000000"/>
                </a:solidFill>
                <a:latin typeface="+mj-lt"/>
              </a:rPr>
              <a:t>通道值</a:t>
            </a:r>
          </a:p>
        </p:txBody>
      </p:sp>
    </p:spTree>
    <p:extLst>
      <p:ext uri="{BB962C8B-B14F-4D97-AF65-F5344CB8AC3E}">
        <p14:creationId xmlns:p14="http://schemas.microsoft.com/office/powerpoint/2010/main" val="3448616094"/>
      </p:ext>
    </p:extLst>
  </p:cSld>
  <p:clrMapOvr>
    <a:masterClrMapping/>
  </p:clrMapOvr>
  <p:transition spd="med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07CBAA53-3B89-3967-696E-0C0D986090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3086F70D-B65F-5C68-C1C4-156A298EF667}"/>
              </a:ext>
            </a:extLst>
          </p:cNvPr>
          <p:cNvGrpSpPr/>
          <p:nvPr/>
        </p:nvGrpSpPr>
        <p:grpSpPr>
          <a:xfrm>
            <a:off x="3630807" y="251474"/>
            <a:ext cx="4930385" cy="523226"/>
            <a:chOff x="4840431" y="207541"/>
            <a:chExt cx="4930385" cy="523226"/>
          </a:xfrm>
        </p:grpSpPr>
        <p:pic>
          <p:nvPicPr>
            <p:cNvPr id="6" name="Picture 4" descr="黑爵(AJAZZ)手柄/方向盘AG180报价_参数_图片_视频_怎么样_问答-苏宁易购">
              <a:extLst>
                <a:ext uri="{FF2B5EF4-FFF2-40B4-BE49-F238E27FC236}">
                  <a16:creationId xmlns:a16="http://schemas.microsoft.com/office/drawing/2014/main" id="{EF0ACBD0-D3D7-F1D6-314D-06F42CFECD7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45" t="9275" r="3752" b="5379"/>
            <a:stretch/>
          </p:blipFill>
          <p:spPr bwMode="auto">
            <a:xfrm>
              <a:off x="4840431" y="314689"/>
              <a:ext cx="407315" cy="37661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" name="Rectangle 3">
              <a:extLst>
                <a:ext uri="{FF2B5EF4-FFF2-40B4-BE49-F238E27FC236}">
                  <a16:creationId xmlns:a16="http://schemas.microsoft.com/office/drawing/2014/main" id="{C46746D9-57EE-3AC8-09DB-8B173588A35D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5298546" y="207541"/>
              <a:ext cx="4472270" cy="523226"/>
            </a:xfrm>
            <a:prstGeom prst="rect">
              <a:avLst/>
            </a:prstGeom>
            <a:noFill/>
          </p:spPr>
          <p:txBody>
            <a:bodyPr lIns="90488" tIns="44450" rIns="90488" bIns="44450"/>
            <a:lstStyle>
              <a:lvl1pPr marL="171450" indent="-17145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1pPr>
              <a:lvl2pPr marL="5143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8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2pPr>
              <a:lvl3pPr marL="8572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3pPr>
              <a:lvl4pPr marL="12001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4pPr>
              <a:lvl5pPr marL="15430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fontAlgn="base">
                <a:lnSpc>
                  <a:spcPct val="100000"/>
                </a:lnSpc>
                <a:buNone/>
              </a:pPr>
              <a:r>
                <a:rPr lang="en-US" altLang="zh-CN" sz="3200" dirty="0">
                  <a:latin typeface="Times New Roman" panose="02020603050405020304" pitchFamily="18" charset="0"/>
                  <a:ea typeface="楷体" panose="02010609060101010101" pitchFamily="49" charset="-122"/>
                  <a:sym typeface="+mn-ea"/>
                </a:rPr>
                <a:t>Unity</a:t>
              </a:r>
              <a:r>
                <a:rPr lang="zh-CN" altLang="en-US" sz="3200" dirty="0">
                  <a:latin typeface="Times New Roman" panose="02020603050405020304" pitchFamily="18" charset="0"/>
                  <a:ea typeface="楷体" panose="02010609060101010101" pitchFamily="49" charset="-122"/>
                  <a:sym typeface="+mn-ea"/>
                </a:rPr>
                <a:t>中的重要变量类型 </a:t>
              </a:r>
            </a:p>
          </p:txBody>
        </p:sp>
      </p:grp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40866EF2-DE65-007D-BA52-83E7D7E76BA9}"/>
              </a:ext>
            </a:extLst>
          </p:cNvPr>
          <p:cNvSpPr/>
          <p:nvPr/>
        </p:nvSpPr>
        <p:spPr>
          <a:xfrm>
            <a:off x="1755139" y="1135058"/>
            <a:ext cx="9009380" cy="609639"/>
          </a:xfrm>
          <a:prstGeom prst="roundRect">
            <a:avLst>
              <a:gd name="adj" fmla="val 3791"/>
            </a:avLst>
          </a:prstGeom>
          <a:gradFill>
            <a:gsLst>
              <a:gs pos="0">
                <a:srgbClr val="7030A0">
                  <a:alpha val="5000"/>
                </a:srgbClr>
              </a:gs>
              <a:gs pos="100000">
                <a:srgbClr val="00B0F0">
                  <a:alpha val="5000"/>
                </a:srgbClr>
              </a:gs>
            </a:gsLst>
            <a:lin ang="13500000" scaled="1"/>
          </a:gradFill>
          <a:ln>
            <a:gradFill>
              <a:gsLst>
                <a:gs pos="0">
                  <a:srgbClr val="0070C0"/>
                </a:gs>
                <a:gs pos="100000">
                  <a:srgbClr val="7030A0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108000" rtlCol="0" anchor="ctr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2400" b="1" dirty="0">
                <a:solidFill>
                  <a:srgbClr val="A7357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宋体" panose="02010600030101010101" pitchFamily="2" charset="-122"/>
                <a:sym typeface="+mn-ea"/>
              </a:rPr>
              <a:t>Color: </a:t>
            </a:r>
            <a:r>
              <a:rPr lang="zh-CN" altLang="en-US" sz="2400" b="1" dirty="0">
                <a:solidFill>
                  <a:srgbClr val="A7357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宋体" panose="02010600030101010101" pitchFamily="2" charset="-122"/>
                <a:sym typeface="+mn-ea"/>
              </a:rPr>
              <a:t>带有透明度信息的颜色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403AF789-E076-E503-8BBE-CB4550DBB5FF}"/>
              </a:ext>
            </a:extLst>
          </p:cNvPr>
          <p:cNvSpPr/>
          <p:nvPr/>
        </p:nvSpPr>
        <p:spPr>
          <a:xfrm>
            <a:off x="1755138" y="1840068"/>
            <a:ext cx="9009381" cy="4766458"/>
          </a:xfrm>
          <a:prstGeom prst="roundRect">
            <a:avLst>
              <a:gd name="adj" fmla="val 1731"/>
            </a:avLst>
          </a:prstGeom>
          <a:gradFill>
            <a:gsLst>
              <a:gs pos="0">
                <a:srgbClr val="7030A0">
                  <a:alpha val="5000"/>
                </a:srgbClr>
              </a:gs>
              <a:gs pos="100000">
                <a:srgbClr val="00B0F0">
                  <a:alpha val="5000"/>
                </a:srgbClr>
              </a:gs>
            </a:gsLst>
            <a:lin ang="13500000" scaled="1"/>
          </a:gradFill>
          <a:ln>
            <a:gradFill>
              <a:gsLst>
                <a:gs pos="0">
                  <a:srgbClr val="0070C0"/>
                </a:gs>
                <a:gs pos="100000">
                  <a:srgbClr val="7030A0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108000" rtlCol="0" anchor="ctr">
            <a:noAutofit/>
          </a:bodyPr>
          <a:lstStyle/>
          <a:p>
            <a:pPr marL="839788" lvl="1" indent="-342900">
              <a:spcBef>
                <a:spcPts val="1100"/>
              </a:spcBef>
              <a:buFont typeface="Wingdings" panose="05000000000000000000" pitchFamily="2" charset="2"/>
              <a:buChar char="l"/>
            </a:pPr>
            <a:r>
              <a:rPr lang="en-US" altLang="zh-CN" sz="2000" b="1" dirty="0" err="1">
                <a:solidFill>
                  <a:srgbClr val="A7357F"/>
                </a:solidFill>
              </a:rPr>
              <a:t>静态类变量和函数</a:t>
            </a:r>
            <a:endParaRPr lang="en-US" altLang="zh-CN" sz="2000" b="1" dirty="0">
              <a:solidFill>
                <a:srgbClr val="A7357F"/>
              </a:solidFill>
            </a:endParaRPr>
          </a:p>
          <a:p>
            <a:pPr marL="803275" lvl="2" indent="0">
              <a:spcBef>
                <a:spcPts val="100"/>
              </a:spcBef>
              <a:buNone/>
            </a:pPr>
            <a:r>
              <a:rPr lang="en-US" altLang="zh-CN" sz="1500" b="1" dirty="0">
                <a:solidFill>
                  <a:srgbClr val="000000"/>
                </a:solidFill>
                <a:latin typeface="+mj-lt"/>
                <a:sym typeface="Courier" pitchFamily="125" charset="0"/>
              </a:rPr>
              <a:t>// Primary Colors: Red, Green, and Blue</a:t>
            </a:r>
          </a:p>
          <a:p>
            <a:pPr marL="803275" lvl="2" indent="0">
              <a:spcBef>
                <a:spcPts val="100"/>
              </a:spcBef>
              <a:buNone/>
            </a:pPr>
            <a:r>
              <a:rPr lang="en-US" altLang="zh-CN" sz="1500" b="1" dirty="0" err="1">
                <a:solidFill>
                  <a:srgbClr val="000000"/>
                </a:solidFill>
                <a:latin typeface="+mj-lt"/>
                <a:sym typeface="Courier" pitchFamily="125" charset="0"/>
              </a:rPr>
              <a:t>Color.red</a:t>
            </a:r>
            <a:r>
              <a:rPr lang="en-US" altLang="zh-CN" sz="1500" b="1" dirty="0">
                <a:solidFill>
                  <a:srgbClr val="000000"/>
                </a:solidFill>
                <a:latin typeface="+mj-lt"/>
                <a:sym typeface="Courier" pitchFamily="125" charset="0"/>
              </a:rPr>
              <a:t>     = new Color(1, 0, 0, 1); 		// </a:t>
            </a:r>
            <a:r>
              <a:rPr lang="zh-CN" altLang="en-US" sz="1500" b="1" dirty="0">
                <a:solidFill>
                  <a:srgbClr val="000000"/>
                </a:solidFill>
                <a:latin typeface="+mj-lt"/>
                <a:sym typeface="Courier" pitchFamily="125" charset="0"/>
              </a:rPr>
              <a:t>纯红色</a:t>
            </a:r>
            <a:endParaRPr lang="en-US" altLang="zh-CN" sz="1500" b="1" dirty="0">
              <a:solidFill>
                <a:srgbClr val="000000"/>
              </a:solidFill>
              <a:latin typeface="+mj-lt"/>
              <a:sym typeface="Courier" pitchFamily="125" charset="0"/>
            </a:endParaRPr>
          </a:p>
          <a:p>
            <a:pPr marL="803275" lvl="2" indent="0">
              <a:spcBef>
                <a:spcPts val="100"/>
              </a:spcBef>
              <a:buNone/>
            </a:pPr>
            <a:r>
              <a:rPr lang="en-US" altLang="zh-CN" sz="1500" b="1" dirty="0" err="1">
                <a:solidFill>
                  <a:srgbClr val="000000"/>
                </a:solidFill>
                <a:latin typeface="+mj-lt"/>
                <a:sym typeface="Courier" pitchFamily="125" charset="0"/>
              </a:rPr>
              <a:t>Color.green</a:t>
            </a:r>
            <a:r>
              <a:rPr lang="en-US" altLang="zh-CN" sz="1500" b="1" dirty="0">
                <a:solidFill>
                  <a:srgbClr val="000000"/>
                </a:solidFill>
                <a:latin typeface="+mj-lt"/>
                <a:sym typeface="Courier" pitchFamily="125" charset="0"/>
              </a:rPr>
              <a:t>   = new Color(0, 1, 0, 1); 		// </a:t>
            </a:r>
            <a:r>
              <a:rPr lang="zh-CN" altLang="en-US" sz="1500" b="1" dirty="0">
                <a:solidFill>
                  <a:srgbClr val="000000"/>
                </a:solidFill>
                <a:latin typeface="+mj-lt"/>
                <a:sym typeface="Courier" pitchFamily="125" charset="0"/>
              </a:rPr>
              <a:t>纯绿色</a:t>
            </a:r>
            <a:endParaRPr lang="en-US" altLang="zh-CN" sz="1500" b="1" dirty="0">
              <a:solidFill>
                <a:srgbClr val="000000"/>
              </a:solidFill>
              <a:latin typeface="+mj-lt"/>
              <a:sym typeface="Courier" pitchFamily="125" charset="0"/>
            </a:endParaRPr>
          </a:p>
          <a:p>
            <a:pPr marL="803275" lvl="2" indent="0">
              <a:spcBef>
                <a:spcPts val="100"/>
              </a:spcBef>
              <a:buNone/>
            </a:pPr>
            <a:r>
              <a:rPr lang="en-US" altLang="zh-CN" sz="1500" b="1" dirty="0" err="1">
                <a:solidFill>
                  <a:srgbClr val="000000"/>
                </a:solidFill>
                <a:latin typeface="+mj-lt"/>
                <a:sym typeface="Courier" pitchFamily="125" charset="0"/>
              </a:rPr>
              <a:t>Color.blue</a:t>
            </a:r>
            <a:r>
              <a:rPr lang="en-US" altLang="zh-CN" sz="1500" b="1" dirty="0">
                <a:solidFill>
                  <a:srgbClr val="000000"/>
                </a:solidFill>
                <a:latin typeface="+mj-lt"/>
                <a:sym typeface="Courier" pitchFamily="125" charset="0"/>
              </a:rPr>
              <a:t>    = new Color(0, 0, 1, 1); 		// </a:t>
            </a:r>
            <a:r>
              <a:rPr lang="zh-CN" altLang="en-US" sz="1500" b="1" dirty="0">
                <a:solidFill>
                  <a:srgbClr val="000000"/>
                </a:solidFill>
                <a:latin typeface="+mj-lt"/>
                <a:sym typeface="Courier" pitchFamily="125" charset="0"/>
              </a:rPr>
              <a:t>纯蓝色</a:t>
            </a:r>
            <a:endParaRPr lang="en-US" altLang="zh-CN" sz="1500" b="1" dirty="0">
              <a:solidFill>
                <a:srgbClr val="000000"/>
              </a:solidFill>
              <a:latin typeface="+mj-lt"/>
              <a:sym typeface="Courier" pitchFamily="125" charset="0"/>
            </a:endParaRPr>
          </a:p>
          <a:p>
            <a:pPr marL="803275" lvl="2" indent="0">
              <a:spcBef>
                <a:spcPts val="100"/>
              </a:spcBef>
              <a:buNone/>
            </a:pPr>
            <a:endParaRPr lang="en-US" altLang="zh-CN" sz="1500" b="1" dirty="0">
              <a:solidFill>
                <a:srgbClr val="000000"/>
              </a:solidFill>
              <a:latin typeface="+mj-lt"/>
              <a:sym typeface="Courier" pitchFamily="125" charset="0"/>
            </a:endParaRPr>
          </a:p>
          <a:p>
            <a:pPr marL="803275" lvl="2" indent="0">
              <a:spcBef>
                <a:spcPts val="100"/>
              </a:spcBef>
              <a:buNone/>
            </a:pPr>
            <a:r>
              <a:rPr lang="en-US" altLang="zh-CN" sz="1500" b="1" dirty="0">
                <a:solidFill>
                  <a:srgbClr val="000000"/>
                </a:solidFill>
                <a:latin typeface="+mj-lt"/>
                <a:sym typeface="Courier" pitchFamily="125" charset="0"/>
              </a:rPr>
              <a:t>// Secondary Colors: Cyan, Magenta, and Yellow</a:t>
            </a:r>
          </a:p>
          <a:p>
            <a:pPr marL="803275" lvl="2" indent="0">
              <a:spcBef>
                <a:spcPts val="100"/>
              </a:spcBef>
              <a:buNone/>
            </a:pPr>
            <a:r>
              <a:rPr lang="en-US" altLang="zh-CN" sz="1500" b="1" dirty="0" err="1">
                <a:solidFill>
                  <a:srgbClr val="000000"/>
                </a:solidFill>
                <a:latin typeface="+mj-lt"/>
                <a:sym typeface="Courier" pitchFamily="125" charset="0"/>
              </a:rPr>
              <a:t>Color.cyan</a:t>
            </a:r>
            <a:r>
              <a:rPr lang="en-US" altLang="zh-CN" sz="1500" b="1" dirty="0">
                <a:solidFill>
                  <a:srgbClr val="000000"/>
                </a:solidFill>
                <a:latin typeface="+mj-lt"/>
                <a:sym typeface="Courier" pitchFamily="125" charset="0"/>
              </a:rPr>
              <a:t>    = new Color(0, 1, 1, 1); 		// </a:t>
            </a:r>
            <a:r>
              <a:rPr lang="zh-CN" altLang="en-US" sz="1500" b="1" dirty="0">
                <a:solidFill>
                  <a:srgbClr val="000000"/>
                </a:solidFill>
                <a:latin typeface="+mj-lt"/>
                <a:sym typeface="Courier" pitchFamily="125" charset="0"/>
              </a:rPr>
              <a:t>青色，亮蓝绿色</a:t>
            </a:r>
            <a:endParaRPr lang="en-US" altLang="zh-CN" sz="1500" b="1" dirty="0">
              <a:solidFill>
                <a:srgbClr val="000000"/>
              </a:solidFill>
              <a:latin typeface="+mj-lt"/>
              <a:sym typeface="Courier" pitchFamily="125" charset="0"/>
            </a:endParaRPr>
          </a:p>
          <a:p>
            <a:pPr marL="803275" lvl="2" indent="0">
              <a:spcBef>
                <a:spcPts val="100"/>
              </a:spcBef>
              <a:buNone/>
            </a:pPr>
            <a:r>
              <a:rPr lang="en-US" altLang="zh-CN" sz="1500" b="1" dirty="0" err="1">
                <a:solidFill>
                  <a:srgbClr val="000000"/>
                </a:solidFill>
                <a:latin typeface="+mj-lt"/>
                <a:sym typeface="Courier" pitchFamily="125" charset="0"/>
              </a:rPr>
              <a:t>Color.magenta</a:t>
            </a:r>
            <a:r>
              <a:rPr lang="en-US" altLang="zh-CN" sz="1500" b="1" dirty="0">
                <a:solidFill>
                  <a:srgbClr val="000000"/>
                </a:solidFill>
                <a:latin typeface="+mj-lt"/>
                <a:sym typeface="Courier" pitchFamily="125" charset="0"/>
              </a:rPr>
              <a:t> = new Color(1, 0, 1, 1); 		// </a:t>
            </a:r>
            <a:r>
              <a:rPr lang="zh-CN" altLang="en-US" sz="1500" b="1" dirty="0">
                <a:solidFill>
                  <a:srgbClr val="000000"/>
                </a:solidFill>
                <a:latin typeface="+mj-lt"/>
                <a:sym typeface="Courier" pitchFamily="125" charset="0"/>
              </a:rPr>
              <a:t>品红，粉紫色</a:t>
            </a:r>
            <a:endParaRPr lang="en-US" altLang="zh-CN" sz="1500" b="1" dirty="0">
              <a:solidFill>
                <a:srgbClr val="000000"/>
              </a:solidFill>
              <a:latin typeface="+mj-lt"/>
              <a:sym typeface="Courier" pitchFamily="125" charset="0"/>
            </a:endParaRPr>
          </a:p>
          <a:p>
            <a:pPr marL="803275" lvl="2" indent="0">
              <a:spcBef>
                <a:spcPts val="100"/>
              </a:spcBef>
              <a:buNone/>
            </a:pPr>
            <a:r>
              <a:rPr lang="en-US" altLang="zh-CN" sz="1500" b="1" dirty="0" err="1">
                <a:solidFill>
                  <a:srgbClr val="000000"/>
                </a:solidFill>
                <a:latin typeface="+mj-lt"/>
                <a:sym typeface="Courier" pitchFamily="125" charset="0"/>
              </a:rPr>
              <a:t>Color.yellow</a:t>
            </a:r>
            <a:r>
              <a:rPr lang="en-US" altLang="zh-CN" sz="1500" b="1" dirty="0">
                <a:solidFill>
                  <a:srgbClr val="000000"/>
                </a:solidFill>
                <a:latin typeface="+mj-lt"/>
                <a:sym typeface="Courier" pitchFamily="125" charset="0"/>
              </a:rPr>
              <a:t>  = new Color(1, 0.92f, 0.016f, 1); 	// </a:t>
            </a:r>
            <a:r>
              <a:rPr lang="zh-CN" altLang="en-US" sz="1500" b="1" dirty="0">
                <a:solidFill>
                  <a:srgbClr val="000000"/>
                </a:solidFill>
                <a:latin typeface="+mj-lt"/>
                <a:sym typeface="Courier" pitchFamily="125" charset="0"/>
              </a:rPr>
              <a:t>黄色，按常理推想，标准的黄色应该是</a:t>
            </a:r>
            <a:r>
              <a:rPr lang="en-US" altLang="zh-CN" sz="1500" b="1" dirty="0">
                <a:solidFill>
                  <a:srgbClr val="000000"/>
                </a:solidFill>
                <a:latin typeface="+mj-lt"/>
                <a:sym typeface="Courier" pitchFamily="125" charset="0"/>
              </a:rPr>
              <a:t>new Color(1,1,0,1)</a:t>
            </a:r>
            <a:r>
              <a:rPr lang="zh-CN" altLang="en-US" sz="1500" b="1" dirty="0">
                <a:solidFill>
                  <a:srgbClr val="000000"/>
                </a:solidFill>
                <a:latin typeface="+mj-lt"/>
                <a:ea typeface="楷体" panose="02010609060101010101" pitchFamily="49" charset="-122"/>
                <a:sym typeface="Courier" pitchFamily="125" charset="0"/>
              </a:rPr>
              <a:t>，但</a:t>
            </a:r>
            <a:r>
              <a:rPr lang="en-US" altLang="zh-CN" sz="1500" b="1" dirty="0">
                <a:solidFill>
                  <a:srgbClr val="000000"/>
                </a:solidFill>
                <a:latin typeface="+mj-lt"/>
                <a:ea typeface="楷体" panose="02010609060101010101" pitchFamily="49" charset="-122"/>
                <a:sym typeface="Courier" pitchFamily="125" charset="0"/>
              </a:rPr>
              <a:t>Unity</a:t>
            </a:r>
            <a:r>
              <a:rPr lang="zh-CN" altLang="en-US" sz="1500" b="1" dirty="0">
                <a:solidFill>
                  <a:srgbClr val="000000"/>
                </a:solidFill>
                <a:latin typeface="+mj-lt"/>
                <a:ea typeface="楷体" panose="02010609060101010101" pitchFamily="49" charset="-122"/>
                <a:sym typeface="Courier" pitchFamily="125" charset="0"/>
              </a:rPr>
              <a:t>认为</a:t>
            </a:r>
            <a:r>
              <a:rPr lang="zh-CN" altLang="en-US" sz="1500" b="1" dirty="0">
                <a:solidFill>
                  <a:srgbClr val="000000"/>
                </a:solidFill>
                <a:latin typeface="+mj-lt"/>
                <a:sym typeface="Courier" pitchFamily="125" charset="0"/>
              </a:rPr>
              <a:t>这种黄色更为悦目</a:t>
            </a:r>
            <a:endParaRPr lang="en-US" altLang="zh-CN" sz="1500" b="1" dirty="0">
              <a:solidFill>
                <a:srgbClr val="000000"/>
              </a:solidFill>
              <a:latin typeface="+mj-lt"/>
              <a:sym typeface="Courier" pitchFamily="125" charset="0"/>
            </a:endParaRPr>
          </a:p>
          <a:p>
            <a:pPr marL="803275" lvl="2" indent="0">
              <a:spcBef>
                <a:spcPts val="100"/>
              </a:spcBef>
              <a:buNone/>
            </a:pPr>
            <a:endParaRPr lang="en-US" altLang="zh-CN" sz="1500" b="1" dirty="0">
              <a:solidFill>
                <a:srgbClr val="000000"/>
              </a:solidFill>
              <a:latin typeface="+mj-lt"/>
              <a:sym typeface="Courier" pitchFamily="125" charset="0"/>
            </a:endParaRPr>
          </a:p>
          <a:p>
            <a:pPr marL="803275" lvl="2" indent="0">
              <a:spcBef>
                <a:spcPts val="100"/>
              </a:spcBef>
              <a:buNone/>
            </a:pPr>
            <a:r>
              <a:rPr lang="en-US" altLang="zh-CN" sz="1500" b="1" dirty="0">
                <a:solidFill>
                  <a:srgbClr val="000000"/>
                </a:solidFill>
                <a:latin typeface="+mj-lt"/>
                <a:sym typeface="Courier" pitchFamily="125" charset="0"/>
              </a:rPr>
              <a:t>// Black, White</a:t>
            </a:r>
            <a:r>
              <a:rPr lang="zh-CN" altLang="en-US" sz="1500" b="1" dirty="0">
                <a:solidFill>
                  <a:srgbClr val="000000"/>
                </a:solidFill>
                <a:latin typeface="+mj-lt"/>
                <a:sym typeface="Courier" pitchFamily="125" charset="0"/>
              </a:rPr>
              <a:t>和</a:t>
            </a:r>
            <a:r>
              <a:rPr lang="en-US" altLang="zh-CN" sz="1500" b="1" dirty="0">
                <a:solidFill>
                  <a:srgbClr val="000000"/>
                </a:solidFill>
                <a:latin typeface="+mj-lt"/>
                <a:sym typeface="Courier" pitchFamily="125" charset="0"/>
              </a:rPr>
              <a:t>Clear</a:t>
            </a:r>
          </a:p>
          <a:p>
            <a:pPr marL="803275" lvl="2" indent="0">
              <a:spcBef>
                <a:spcPts val="100"/>
              </a:spcBef>
              <a:buNone/>
            </a:pPr>
            <a:r>
              <a:rPr lang="en-US" altLang="zh-CN" sz="1500" b="1" dirty="0" err="1">
                <a:solidFill>
                  <a:srgbClr val="000000"/>
                </a:solidFill>
                <a:latin typeface="+mj-lt"/>
                <a:sym typeface="Courier" pitchFamily="125" charset="0"/>
              </a:rPr>
              <a:t>Color.black</a:t>
            </a:r>
            <a:r>
              <a:rPr lang="en-US" altLang="zh-CN" sz="1500" b="1" dirty="0">
                <a:solidFill>
                  <a:srgbClr val="000000"/>
                </a:solidFill>
                <a:latin typeface="+mj-lt"/>
                <a:sym typeface="Courier" pitchFamily="125" charset="0"/>
              </a:rPr>
              <a:t>   = new Color(0, 0, 0, 1); 		// </a:t>
            </a:r>
            <a:r>
              <a:rPr lang="zh-CN" altLang="en-US" sz="1500" b="1" dirty="0">
                <a:solidFill>
                  <a:srgbClr val="000000"/>
                </a:solidFill>
                <a:latin typeface="+mj-lt"/>
                <a:sym typeface="Courier" pitchFamily="125" charset="0"/>
              </a:rPr>
              <a:t>纯黑色</a:t>
            </a:r>
            <a:endParaRPr lang="en-US" altLang="zh-CN" sz="1500" b="1" dirty="0">
              <a:solidFill>
                <a:srgbClr val="000000"/>
              </a:solidFill>
              <a:latin typeface="+mj-lt"/>
              <a:sym typeface="Courier" pitchFamily="125" charset="0"/>
            </a:endParaRPr>
          </a:p>
          <a:p>
            <a:pPr marL="803275" lvl="2" indent="0">
              <a:spcBef>
                <a:spcPts val="100"/>
              </a:spcBef>
              <a:buNone/>
            </a:pPr>
            <a:r>
              <a:rPr lang="en-US" altLang="zh-CN" sz="1500" b="1" dirty="0" err="1">
                <a:solidFill>
                  <a:srgbClr val="000000"/>
                </a:solidFill>
                <a:latin typeface="+mj-lt"/>
                <a:sym typeface="Courier" pitchFamily="125" charset="0"/>
              </a:rPr>
              <a:t>Color.white</a:t>
            </a:r>
            <a:r>
              <a:rPr lang="en-US" altLang="zh-CN" sz="1500" b="1" dirty="0">
                <a:solidFill>
                  <a:srgbClr val="000000"/>
                </a:solidFill>
                <a:latin typeface="+mj-lt"/>
                <a:sym typeface="Courier" pitchFamily="125" charset="0"/>
              </a:rPr>
              <a:t>   = new Color(1, 1, 1, 1); 		// </a:t>
            </a:r>
            <a:r>
              <a:rPr lang="zh-CN" altLang="en-US" sz="1500" b="1" dirty="0">
                <a:solidFill>
                  <a:srgbClr val="000000"/>
                </a:solidFill>
                <a:latin typeface="+mj-lt"/>
                <a:sym typeface="Courier" pitchFamily="125" charset="0"/>
              </a:rPr>
              <a:t>纯白色</a:t>
            </a:r>
            <a:endParaRPr lang="en-US" altLang="zh-CN" sz="1500" b="1" dirty="0">
              <a:solidFill>
                <a:srgbClr val="000000"/>
              </a:solidFill>
              <a:latin typeface="+mj-lt"/>
              <a:sym typeface="Courier" pitchFamily="125" charset="0"/>
            </a:endParaRPr>
          </a:p>
          <a:p>
            <a:pPr marL="803275" lvl="2" indent="0">
              <a:spcBef>
                <a:spcPts val="100"/>
              </a:spcBef>
              <a:buNone/>
            </a:pPr>
            <a:r>
              <a:rPr lang="en-US" altLang="zh-CN" sz="1500" b="1" dirty="0" err="1">
                <a:solidFill>
                  <a:srgbClr val="000000"/>
                </a:solidFill>
                <a:latin typeface="+mj-lt"/>
                <a:sym typeface="Courier" pitchFamily="125" charset="0"/>
              </a:rPr>
              <a:t>Color.gray</a:t>
            </a:r>
            <a:r>
              <a:rPr lang="en-US" altLang="zh-CN" sz="1500" b="1" dirty="0">
                <a:solidFill>
                  <a:srgbClr val="000000"/>
                </a:solidFill>
                <a:latin typeface="+mj-lt"/>
                <a:sym typeface="Courier" pitchFamily="125" charset="0"/>
              </a:rPr>
              <a:t>    = new Color(0.5f, 0.5f, 0.5f, 1) 	// </a:t>
            </a:r>
            <a:r>
              <a:rPr lang="zh-CN" altLang="en-US" sz="1500" b="1" dirty="0">
                <a:solidFill>
                  <a:srgbClr val="000000"/>
                </a:solidFill>
                <a:latin typeface="+mj-lt"/>
                <a:ea typeface="楷体" panose="02010609060101010101" pitchFamily="49" charset="-122"/>
                <a:sym typeface="Courier" pitchFamily="125" charset="0"/>
              </a:rPr>
              <a:t>灰色</a:t>
            </a:r>
            <a:endParaRPr lang="en-US" altLang="zh-CN" sz="1500" b="1" dirty="0">
              <a:solidFill>
                <a:srgbClr val="000000"/>
              </a:solidFill>
              <a:latin typeface="+mj-lt"/>
              <a:sym typeface="Courier" pitchFamily="125" charset="0"/>
            </a:endParaRPr>
          </a:p>
          <a:p>
            <a:pPr marL="803275" lvl="2" indent="0">
              <a:spcBef>
                <a:spcPts val="100"/>
              </a:spcBef>
              <a:buNone/>
            </a:pPr>
            <a:r>
              <a:rPr lang="en-US" altLang="zh-CN" sz="1500" b="1" dirty="0" err="1">
                <a:solidFill>
                  <a:srgbClr val="000000"/>
                </a:solidFill>
                <a:latin typeface="+mj-lt"/>
                <a:sym typeface="Courier" pitchFamily="125" charset="0"/>
              </a:rPr>
              <a:t>Color.grey</a:t>
            </a:r>
            <a:r>
              <a:rPr lang="en-US" altLang="zh-CN" sz="1500" b="1" dirty="0">
                <a:solidFill>
                  <a:srgbClr val="000000"/>
                </a:solidFill>
                <a:latin typeface="+mj-lt"/>
                <a:sym typeface="Courier" pitchFamily="125" charset="0"/>
              </a:rPr>
              <a:t>    = new Color(0.5f, 0.5f, 0.5f, 1) 	// </a:t>
            </a:r>
            <a:r>
              <a:rPr lang="zh-CN" altLang="en-US" sz="1500" b="1" dirty="0">
                <a:solidFill>
                  <a:srgbClr val="000000"/>
                </a:solidFill>
                <a:latin typeface="+mj-lt"/>
                <a:ea typeface="楷体" panose="02010609060101010101" pitchFamily="49" charset="-122"/>
                <a:sym typeface="Courier" pitchFamily="125" charset="0"/>
              </a:rPr>
              <a:t>灰色</a:t>
            </a:r>
            <a:r>
              <a:rPr lang="zh-CN" altLang="en-US" sz="1500" b="1" dirty="0">
                <a:solidFill>
                  <a:srgbClr val="000000"/>
                </a:solidFill>
                <a:latin typeface="+mj-lt"/>
                <a:sym typeface="Courier" pitchFamily="125" charset="0"/>
              </a:rPr>
              <a:t>（英式拼写）</a:t>
            </a:r>
            <a:endParaRPr lang="en-US" altLang="zh-CN" sz="1500" b="1" dirty="0">
              <a:solidFill>
                <a:srgbClr val="000000"/>
              </a:solidFill>
              <a:latin typeface="+mj-lt"/>
              <a:sym typeface="Courier" pitchFamily="125" charset="0"/>
            </a:endParaRPr>
          </a:p>
          <a:p>
            <a:pPr marL="803275" lvl="2" indent="0">
              <a:spcBef>
                <a:spcPts val="100"/>
              </a:spcBef>
              <a:buNone/>
            </a:pPr>
            <a:r>
              <a:rPr lang="en-US" altLang="zh-CN" sz="1500" b="1" dirty="0" err="1">
                <a:solidFill>
                  <a:srgbClr val="000000"/>
                </a:solidFill>
                <a:latin typeface="+mj-lt"/>
                <a:sym typeface="Courier" pitchFamily="125" charset="0"/>
              </a:rPr>
              <a:t>Color.clear</a:t>
            </a:r>
            <a:r>
              <a:rPr lang="en-US" altLang="zh-CN" sz="1500" b="1" dirty="0">
                <a:solidFill>
                  <a:srgbClr val="000000"/>
                </a:solidFill>
                <a:latin typeface="+mj-lt"/>
                <a:sym typeface="Courier" pitchFamily="125" charset="0"/>
              </a:rPr>
              <a:t>   = new Color(0, 0, 0, 0); 		// </a:t>
            </a:r>
            <a:r>
              <a:rPr lang="zh-CN" altLang="en-US" sz="1500" b="1" dirty="0">
                <a:solidFill>
                  <a:srgbClr val="000000"/>
                </a:solidFill>
                <a:latin typeface="+mj-lt"/>
                <a:sym typeface="Courier" pitchFamily="125" charset="0"/>
              </a:rPr>
              <a:t>完全透明</a:t>
            </a:r>
          </a:p>
        </p:txBody>
      </p:sp>
    </p:spTree>
    <p:extLst>
      <p:ext uri="{BB962C8B-B14F-4D97-AF65-F5344CB8AC3E}">
        <p14:creationId xmlns:p14="http://schemas.microsoft.com/office/powerpoint/2010/main" val="1501543845"/>
      </p:ext>
    </p:extLst>
  </p:cSld>
  <p:clrMapOvr>
    <a:masterClrMapping/>
  </p:clrMapOvr>
  <p:transition spd="med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5CACFD24-3E3E-16DA-6EEC-7576A6E27B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AADF3694-8A50-CC80-2DB9-9AF11F24B239}"/>
              </a:ext>
            </a:extLst>
          </p:cNvPr>
          <p:cNvGrpSpPr/>
          <p:nvPr/>
        </p:nvGrpSpPr>
        <p:grpSpPr>
          <a:xfrm>
            <a:off x="3630807" y="251474"/>
            <a:ext cx="4930385" cy="523226"/>
            <a:chOff x="4840431" y="207541"/>
            <a:chExt cx="4930385" cy="523226"/>
          </a:xfrm>
        </p:grpSpPr>
        <p:pic>
          <p:nvPicPr>
            <p:cNvPr id="6" name="Picture 4" descr="黑爵(AJAZZ)手柄/方向盘AG180报价_参数_图片_视频_怎么样_问答-苏宁易购">
              <a:extLst>
                <a:ext uri="{FF2B5EF4-FFF2-40B4-BE49-F238E27FC236}">
                  <a16:creationId xmlns:a16="http://schemas.microsoft.com/office/drawing/2014/main" id="{097EC648-D0D4-C93C-B533-0AC63D182AB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45" t="9275" r="3752" b="5379"/>
            <a:stretch/>
          </p:blipFill>
          <p:spPr bwMode="auto">
            <a:xfrm>
              <a:off x="4840431" y="314689"/>
              <a:ext cx="407315" cy="37661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" name="Rectangle 3">
              <a:extLst>
                <a:ext uri="{FF2B5EF4-FFF2-40B4-BE49-F238E27FC236}">
                  <a16:creationId xmlns:a16="http://schemas.microsoft.com/office/drawing/2014/main" id="{79567053-159E-4A05-B195-E5CA22F1DDC0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5298546" y="207541"/>
              <a:ext cx="4472270" cy="523226"/>
            </a:xfrm>
            <a:prstGeom prst="rect">
              <a:avLst/>
            </a:prstGeom>
            <a:noFill/>
          </p:spPr>
          <p:txBody>
            <a:bodyPr lIns="90488" tIns="44450" rIns="90488" bIns="44450"/>
            <a:lstStyle>
              <a:lvl1pPr marL="171450" indent="-17145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1pPr>
              <a:lvl2pPr marL="5143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8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2pPr>
              <a:lvl3pPr marL="8572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3pPr>
              <a:lvl4pPr marL="12001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4pPr>
              <a:lvl5pPr marL="15430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fontAlgn="base">
                <a:lnSpc>
                  <a:spcPct val="100000"/>
                </a:lnSpc>
                <a:buNone/>
              </a:pPr>
              <a:r>
                <a:rPr lang="en-US" altLang="zh-CN" sz="3200" dirty="0">
                  <a:latin typeface="Times New Roman" panose="02020603050405020304" pitchFamily="18" charset="0"/>
                  <a:ea typeface="楷体" panose="02010609060101010101" pitchFamily="49" charset="-122"/>
                  <a:sym typeface="+mn-ea"/>
                </a:rPr>
                <a:t>Unity</a:t>
              </a:r>
              <a:r>
                <a:rPr lang="zh-CN" altLang="en-US" sz="3200" dirty="0">
                  <a:latin typeface="Times New Roman" panose="02020603050405020304" pitchFamily="18" charset="0"/>
                  <a:ea typeface="楷体" panose="02010609060101010101" pitchFamily="49" charset="-122"/>
                  <a:sym typeface="+mn-ea"/>
                </a:rPr>
                <a:t>中的重要变量类型 </a:t>
              </a:r>
            </a:p>
          </p:txBody>
        </p:sp>
      </p:grp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1BF0FC83-7F0F-4BF4-AF63-CC6D48B6A831}"/>
              </a:ext>
            </a:extLst>
          </p:cNvPr>
          <p:cNvSpPr/>
          <p:nvPr/>
        </p:nvSpPr>
        <p:spPr>
          <a:xfrm>
            <a:off x="1755139" y="1135058"/>
            <a:ext cx="9009380" cy="609639"/>
          </a:xfrm>
          <a:prstGeom prst="roundRect">
            <a:avLst>
              <a:gd name="adj" fmla="val 3791"/>
            </a:avLst>
          </a:prstGeom>
          <a:gradFill>
            <a:gsLst>
              <a:gs pos="0">
                <a:srgbClr val="7030A0">
                  <a:alpha val="5000"/>
                </a:srgbClr>
              </a:gs>
              <a:gs pos="100000">
                <a:srgbClr val="00B0F0">
                  <a:alpha val="5000"/>
                </a:srgbClr>
              </a:gs>
            </a:gsLst>
            <a:lin ang="13500000" scaled="1"/>
          </a:gradFill>
          <a:ln>
            <a:gradFill>
              <a:gsLst>
                <a:gs pos="0">
                  <a:srgbClr val="0070C0"/>
                </a:gs>
                <a:gs pos="100000">
                  <a:srgbClr val="7030A0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108000" rtlCol="0" anchor="ctr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2400" b="1" dirty="0">
                <a:solidFill>
                  <a:srgbClr val="A7357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宋体" panose="02010600030101010101" pitchFamily="2" charset="-122"/>
                <a:sym typeface="+mn-ea"/>
              </a:rPr>
              <a:t>Quaternion</a:t>
            </a:r>
            <a:r>
              <a:rPr lang="zh-CN" altLang="en-US" sz="2400" b="1" dirty="0">
                <a:solidFill>
                  <a:srgbClr val="A7357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宋体" panose="02010600030101010101" pitchFamily="2" charset="-122"/>
                <a:sym typeface="+mn-ea"/>
              </a:rPr>
              <a:t>：旋转信息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C0475628-ED42-9F4A-256C-0F04CE027DE6}"/>
              </a:ext>
            </a:extLst>
          </p:cNvPr>
          <p:cNvSpPr/>
          <p:nvPr/>
        </p:nvSpPr>
        <p:spPr>
          <a:xfrm>
            <a:off x="1755138" y="1930400"/>
            <a:ext cx="9009381" cy="4174067"/>
          </a:xfrm>
          <a:prstGeom prst="roundRect">
            <a:avLst>
              <a:gd name="adj" fmla="val 1731"/>
            </a:avLst>
          </a:prstGeom>
          <a:gradFill>
            <a:gsLst>
              <a:gs pos="0">
                <a:srgbClr val="7030A0">
                  <a:alpha val="5000"/>
                </a:srgbClr>
              </a:gs>
              <a:gs pos="100000">
                <a:srgbClr val="00B0F0">
                  <a:alpha val="5000"/>
                </a:srgbClr>
              </a:gs>
            </a:gsLst>
            <a:lin ang="13500000" scaled="1"/>
          </a:gradFill>
          <a:ln>
            <a:gradFill>
              <a:gsLst>
                <a:gs pos="0">
                  <a:srgbClr val="0070C0"/>
                </a:gs>
                <a:gs pos="100000">
                  <a:srgbClr val="7030A0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108000" rtlCol="0" anchor="ctr">
            <a:noAutofit/>
          </a:bodyPr>
          <a:lstStyle/>
          <a:p>
            <a:pPr marL="839788" lvl="1" indent="-342900">
              <a:spcBef>
                <a:spcPts val="1100"/>
              </a:spcBef>
              <a:buFont typeface="Wingdings" panose="05000000000000000000" pitchFamily="2" charset="2"/>
              <a:buChar char="l"/>
            </a:pPr>
            <a:r>
              <a:rPr lang="en-US" altLang="zh-CN" sz="2000" b="1" dirty="0" err="1">
                <a:solidFill>
                  <a:srgbClr val="A7357F"/>
                </a:solidFill>
                <a:latin typeface="+mj-ea"/>
                <a:ea typeface="+mj-ea"/>
              </a:rPr>
              <a:t>基于三个虚拟数值和一个标量值</a:t>
            </a:r>
            <a:endParaRPr lang="en-US" altLang="zh-CN" sz="2000" b="1" dirty="0">
              <a:solidFill>
                <a:srgbClr val="A7357F"/>
              </a:solidFill>
              <a:latin typeface="+mj-ea"/>
              <a:ea typeface="+mj-ea"/>
            </a:endParaRPr>
          </a:p>
          <a:p>
            <a:pPr marL="839788" lvl="1" indent="-342900">
              <a:spcBef>
                <a:spcPts val="1100"/>
              </a:spcBef>
              <a:buFont typeface="Wingdings" panose="05000000000000000000" pitchFamily="2" charset="2"/>
              <a:buChar char="l"/>
            </a:pPr>
            <a:r>
              <a:rPr lang="en-US" altLang="zh-CN" sz="2000" b="1" dirty="0" err="1">
                <a:solidFill>
                  <a:srgbClr val="A7357F"/>
                </a:solidFill>
                <a:latin typeface="+mj-ea"/>
                <a:ea typeface="+mj-ea"/>
              </a:rPr>
              <a:t>使用欧拉角（例如，x、y、z）来输入旋转</a:t>
            </a:r>
            <a:r>
              <a:rPr lang="zh-CN" altLang="en-US" sz="2000" b="1" dirty="0">
                <a:solidFill>
                  <a:srgbClr val="A7357F"/>
                </a:solidFill>
                <a:latin typeface="+mj-ea"/>
                <a:ea typeface="+mj-ea"/>
              </a:rPr>
              <a:t>角度</a:t>
            </a:r>
            <a:endParaRPr lang="en-US" altLang="zh-CN" sz="2000" b="1" dirty="0">
              <a:solidFill>
                <a:srgbClr val="A7357F"/>
              </a:solidFill>
              <a:latin typeface="+mj-ea"/>
              <a:ea typeface="+mj-ea"/>
            </a:endParaRPr>
          </a:p>
          <a:p>
            <a:pPr marL="368300" lvl="2" indent="434975">
              <a:spcBef>
                <a:spcPts val="700"/>
              </a:spcBef>
              <a:buNone/>
            </a:pPr>
            <a:r>
              <a:rPr lang="en-US" altLang="zh-CN" sz="18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	</a:t>
            </a:r>
            <a:r>
              <a:rPr lang="en-US" altLang="zh-CN" sz="1900" b="1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Quaternion up45Deg = </a:t>
            </a:r>
            <a:r>
              <a:rPr lang="en-US" altLang="zh-CN" sz="1900" b="1" dirty="0" err="1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Quaternion.Euler</a:t>
            </a:r>
            <a:r>
              <a:rPr lang="en-US" altLang="zh-CN" sz="1900" b="1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(-45, 0, 0);</a:t>
            </a:r>
          </a:p>
          <a:p>
            <a:pPr marL="839788" lvl="1" indent="-342900">
              <a:spcBef>
                <a:spcPts val="1100"/>
              </a:spcBef>
              <a:buFont typeface="Wingdings" panose="05000000000000000000" pitchFamily="2" charset="2"/>
              <a:buChar char="l"/>
            </a:pPr>
            <a:r>
              <a:rPr lang="en-US" altLang="zh-CN" sz="2000" b="1" dirty="0" err="1">
                <a:solidFill>
                  <a:srgbClr val="A7357F"/>
                </a:solidFill>
                <a:latin typeface="+mj-ea"/>
                <a:ea typeface="+mj-ea"/>
              </a:rPr>
              <a:t>在欧拉角中，x、y、z分别代表绕各自轴线的旋转</a:t>
            </a:r>
            <a:endParaRPr lang="en-US" altLang="zh-CN" sz="2000" b="1" dirty="0">
              <a:solidFill>
                <a:srgbClr val="A7357F"/>
              </a:solidFill>
              <a:latin typeface="+mj-ea"/>
              <a:ea typeface="+mj-ea"/>
            </a:endParaRPr>
          </a:p>
          <a:p>
            <a:pPr marL="839788" lvl="1" indent="-342900">
              <a:spcBef>
                <a:spcPts val="1100"/>
              </a:spcBef>
              <a:buFont typeface="Wingdings" panose="05000000000000000000" pitchFamily="2" charset="2"/>
              <a:buChar char="l"/>
            </a:pPr>
            <a:r>
              <a:rPr lang="en-US" altLang="zh-CN" sz="2000" b="1" dirty="0" err="1">
                <a:solidFill>
                  <a:srgbClr val="A7357F"/>
                </a:solidFill>
                <a:latin typeface="+mj-ea"/>
                <a:ea typeface="+mj-ea"/>
              </a:rPr>
              <a:t>四元数在插值和计算方面比欧拉角更具优势</a:t>
            </a:r>
            <a:endParaRPr lang="en-US" altLang="zh-CN" sz="2000" b="1" dirty="0">
              <a:solidFill>
                <a:srgbClr val="A7357F"/>
              </a:solidFill>
              <a:latin typeface="+mj-ea"/>
              <a:ea typeface="+mj-ea"/>
            </a:endParaRPr>
          </a:p>
          <a:p>
            <a:pPr marL="1296988" lvl="2" indent="-342900">
              <a:spcBef>
                <a:spcPts val="1100"/>
              </a:spcBef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</a:rPr>
              <a:t>它们还避免了万向锁</a:t>
            </a:r>
            <a:r>
              <a:rPr lang="en-US" altLang="zh-CN" dirty="0">
                <a:solidFill>
                  <a:srgbClr val="000000"/>
                </a:solidFill>
              </a:rPr>
              <a:t> (</a:t>
            </a:r>
            <a:r>
              <a:rPr lang="zh-CN" altLang="en-US" dirty="0">
                <a:solidFill>
                  <a:srgbClr val="000000"/>
                </a:solidFill>
              </a:rPr>
              <a:t>即两个欧拉轴对齐的情况</a:t>
            </a:r>
            <a:r>
              <a:rPr lang="en-US" altLang="zh-CN" dirty="0">
                <a:solidFill>
                  <a:srgbClr val="000000"/>
                </a:solidFill>
              </a:rPr>
              <a:t>)</a:t>
            </a:r>
          </a:p>
          <a:p>
            <a:pPr marL="839788" lvl="1" indent="-342900">
              <a:spcBef>
                <a:spcPts val="1100"/>
              </a:spcBef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A7357F"/>
                </a:solidFill>
                <a:latin typeface="+mj-ea"/>
                <a:ea typeface="+mj-ea"/>
              </a:rPr>
              <a:t>实例变量和函数</a:t>
            </a:r>
            <a:endParaRPr lang="en-US" altLang="zh-CN" sz="2000" b="1" dirty="0">
              <a:solidFill>
                <a:srgbClr val="A7357F"/>
              </a:solidFill>
              <a:latin typeface="+mj-ea"/>
              <a:ea typeface="+mj-ea"/>
            </a:endParaRPr>
          </a:p>
          <a:p>
            <a:pPr marL="368300" lvl="2" indent="434975">
              <a:spcBef>
                <a:spcPts val="700"/>
              </a:spcBef>
              <a:buNone/>
            </a:pPr>
            <a:r>
              <a:rPr lang="en-US" altLang="zh-CN" sz="1800" dirty="0">
                <a:solidFill>
                  <a:srgbClr val="000000"/>
                </a:solidFill>
              </a:rPr>
              <a:t>	</a:t>
            </a:r>
            <a:r>
              <a:rPr lang="en-US" altLang="zh-CN" sz="1800" b="1" dirty="0">
                <a:solidFill>
                  <a:srgbClr val="000000"/>
                </a:solidFill>
                <a:latin typeface="+mj-lt"/>
                <a:sym typeface="Courier" pitchFamily="125" charset="0"/>
              </a:rPr>
              <a:t>up45Deg.eulerAngles</a:t>
            </a:r>
            <a:r>
              <a:rPr lang="en-US" altLang="zh-CN" sz="1800" b="1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altLang="zh-CN" b="1" dirty="0">
                <a:solidFill>
                  <a:srgbClr val="000000"/>
                </a:solidFill>
                <a:latin typeface="+mj-lt"/>
              </a:rPr>
              <a:t>//</a:t>
            </a:r>
            <a:r>
              <a:rPr lang="zh-CN" altLang="en-US" sz="1800" dirty="0">
                <a:solidFill>
                  <a:srgbClr val="000000"/>
                </a:solidFill>
              </a:rPr>
              <a:t>返回以欧拉角表示的旋转信息</a:t>
            </a:r>
            <a:endParaRPr lang="en-US" altLang="zh-CN" sz="18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606754"/>
      </p:ext>
    </p:extLst>
  </p:cSld>
  <p:clrMapOvr>
    <a:masterClrMapping/>
  </p:clrMapOvr>
  <p:transition spd="med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73BBCCC2-628C-8973-F1AA-28E31DE3B8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4480075D-EDEA-474B-D632-851D576BE27E}"/>
              </a:ext>
            </a:extLst>
          </p:cNvPr>
          <p:cNvGrpSpPr/>
          <p:nvPr/>
        </p:nvGrpSpPr>
        <p:grpSpPr>
          <a:xfrm>
            <a:off x="3630807" y="251474"/>
            <a:ext cx="4930385" cy="523226"/>
            <a:chOff x="4840431" y="207541"/>
            <a:chExt cx="4930385" cy="523226"/>
          </a:xfrm>
        </p:grpSpPr>
        <p:pic>
          <p:nvPicPr>
            <p:cNvPr id="6" name="Picture 4" descr="黑爵(AJAZZ)手柄/方向盘AG180报价_参数_图片_视频_怎么样_问答-苏宁易购">
              <a:extLst>
                <a:ext uri="{FF2B5EF4-FFF2-40B4-BE49-F238E27FC236}">
                  <a16:creationId xmlns:a16="http://schemas.microsoft.com/office/drawing/2014/main" id="{37FC1534-CBEB-66BF-7336-FB89AFF9F47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45" t="9275" r="3752" b="5379"/>
            <a:stretch/>
          </p:blipFill>
          <p:spPr bwMode="auto">
            <a:xfrm>
              <a:off x="4840431" y="314689"/>
              <a:ext cx="407315" cy="37661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" name="Rectangle 3">
              <a:extLst>
                <a:ext uri="{FF2B5EF4-FFF2-40B4-BE49-F238E27FC236}">
                  <a16:creationId xmlns:a16="http://schemas.microsoft.com/office/drawing/2014/main" id="{A8BDDB9E-E52C-2FDB-F0D0-08EE928B4876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5298546" y="207541"/>
              <a:ext cx="4472270" cy="523226"/>
            </a:xfrm>
            <a:prstGeom prst="rect">
              <a:avLst/>
            </a:prstGeom>
            <a:noFill/>
          </p:spPr>
          <p:txBody>
            <a:bodyPr lIns="90488" tIns="44450" rIns="90488" bIns="44450"/>
            <a:lstStyle>
              <a:lvl1pPr marL="171450" indent="-17145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1pPr>
              <a:lvl2pPr marL="5143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8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2pPr>
              <a:lvl3pPr marL="8572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3pPr>
              <a:lvl4pPr marL="12001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4pPr>
              <a:lvl5pPr marL="15430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fontAlgn="base">
                <a:lnSpc>
                  <a:spcPct val="100000"/>
                </a:lnSpc>
                <a:buNone/>
              </a:pPr>
              <a:r>
                <a:rPr lang="en-US" altLang="zh-CN" sz="3200" dirty="0">
                  <a:latin typeface="Times New Roman" panose="02020603050405020304" pitchFamily="18" charset="0"/>
                  <a:ea typeface="楷体" panose="02010609060101010101" pitchFamily="49" charset="-122"/>
                  <a:sym typeface="+mn-ea"/>
                </a:rPr>
                <a:t>Unity</a:t>
              </a:r>
              <a:r>
                <a:rPr lang="zh-CN" altLang="en-US" sz="3200" dirty="0">
                  <a:latin typeface="Times New Roman" panose="02020603050405020304" pitchFamily="18" charset="0"/>
                  <a:ea typeface="楷体" panose="02010609060101010101" pitchFamily="49" charset="-122"/>
                  <a:sym typeface="+mn-ea"/>
                </a:rPr>
                <a:t>中的重要变量类型 </a:t>
              </a:r>
            </a:p>
          </p:txBody>
        </p:sp>
      </p:grp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83801D63-1296-8965-E91D-7A56FD8CB4AE}"/>
              </a:ext>
            </a:extLst>
          </p:cNvPr>
          <p:cNvSpPr/>
          <p:nvPr/>
        </p:nvSpPr>
        <p:spPr>
          <a:xfrm>
            <a:off x="1323340" y="965724"/>
            <a:ext cx="9463194" cy="609639"/>
          </a:xfrm>
          <a:prstGeom prst="roundRect">
            <a:avLst>
              <a:gd name="adj" fmla="val 3791"/>
            </a:avLst>
          </a:prstGeom>
          <a:gradFill>
            <a:gsLst>
              <a:gs pos="0">
                <a:srgbClr val="7030A0">
                  <a:alpha val="5000"/>
                </a:srgbClr>
              </a:gs>
              <a:gs pos="100000">
                <a:srgbClr val="00B0F0">
                  <a:alpha val="5000"/>
                </a:srgbClr>
              </a:gs>
            </a:gsLst>
            <a:lin ang="13500000" scaled="1"/>
          </a:gradFill>
          <a:ln>
            <a:gradFill>
              <a:gsLst>
                <a:gs pos="0">
                  <a:srgbClr val="0070C0"/>
                </a:gs>
                <a:gs pos="100000">
                  <a:srgbClr val="7030A0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108000" rtlCol="0" anchor="ctr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2400" b="1" dirty="0">
                <a:solidFill>
                  <a:srgbClr val="A7357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宋体" panose="02010600030101010101" pitchFamily="2" charset="-122"/>
                <a:sym typeface="+mn-ea"/>
              </a:rPr>
              <a:t>Mathf</a:t>
            </a:r>
            <a:r>
              <a:rPr lang="zh-CN" altLang="en-US" sz="2400" b="1" dirty="0">
                <a:solidFill>
                  <a:srgbClr val="A7357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宋体" panose="02010600030101010101" pitchFamily="2" charset="-122"/>
                <a:sym typeface="+mn-ea"/>
              </a:rPr>
              <a:t>：一个数学函数库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55B6362B-9D2C-40FC-22A8-68E136EE28BB}"/>
              </a:ext>
            </a:extLst>
          </p:cNvPr>
          <p:cNvSpPr/>
          <p:nvPr/>
        </p:nvSpPr>
        <p:spPr>
          <a:xfrm>
            <a:off x="1323340" y="1670734"/>
            <a:ext cx="9463194" cy="5017932"/>
          </a:xfrm>
          <a:prstGeom prst="roundRect">
            <a:avLst>
              <a:gd name="adj" fmla="val 1731"/>
            </a:avLst>
          </a:prstGeom>
          <a:gradFill>
            <a:gsLst>
              <a:gs pos="0">
                <a:srgbClr val="7030A0">
                  <a:alpha val="5000"/>
                </a:srgbClr>
              </a:gs>
              <a:gs pos="100000">
                <a:srgbClr val="00B0F0">
                  <a:alpha val="5000"/>
                </a:srgbClr>
              </a:gs>
            </a:gsLst>
            <a:lin ang="13500000" scaled="1"/>
          </a:gradFill>
          <a:ln>
            <a:gradFill>
              <a:gsLst>
                <a:gs pos="0">
                  <a:srgbClr val="0070C0"/>
                </a:gs>
                <a:gs pos="100000">
                  <a:srgbClr val="7030A0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108000" rtlCol="0" anchor="ctr">
            <a:noAutofit/>
          </a:bodyPr>
          <a:lstStyle/>
          <a:p>
            <a:pPr marL="839788" lvl="1" indent="-342900">
              <a:spcBef>
                <a:spcPts val="1100"/>
              </a:spcBef>
              <a:buFont typeface="Wingdings" panose="05000000000000000000" pitchFamily="2" charset="2"/>
              <a:buChar char="l"/>
            </a:pPr>
            <a:r>
              <a:rPr lang="en-US" altLang="zh-CN" sz="2400" b="1" dirty="0" err="1">
                <a:solidFill>
                  <a:srgbClr val="A7357F"/>
                </a:solidFill>
              </a:rPr>
              <a:t>静态类变量和函数</a:t>
            </a:r>
            <a:endParaRPr lang="en-US" altLang="zh-CN" sz="2400" b="1" dirty="0">
              <a:solidFill>
                <a:srgbClr val="A7357F"/>
              </a:solidFill>
            </a:endParaRPr>
          </a:p>
          <a:p>
            <a:pPr marL="803275" lvl="2">
              <a:spcBef>
                <a:spcPts val="1300"/>
              </a:spcBef>
            </a:pPr>
            <a:r>
              <a:rPr lang="en-US" altLang="zh-CN" sz="1700" b="1" dirty="0">
                <a:solidFill>
                  <a:srgbClr val="000000"/>
                </a:solidFill>
                <a:latin typeface="+mj-lt"/>
                <a:sym typeface="Courier" pitchFamily="125" charset="0"/>
              </a:rPr>
              <a:t>print(</a:t>
            </a:r>
            <a:r>
              <a:rPr lang="en-US" altLang="zh-CN" sz="1700" b="1" dirty="0" err="1">
                <a:solidFill>
                  <a:srgbClr val="000000"/>
                </a:solidFill>
                <a:latin typeface="+mj-lt"/>
                <a:sym typeface="Courier" pitchFamily="125" charset="0"/>
              </a:rPr>
              <a:t>Mathf.PI</a:t>
            </a:r>
            <a:r>
              <a:rPr lang="en-US" altLang="zh-CN" sz="1700" b="1" dirty="0">
                <a:solidFill>
                  <a:srgbClr val="000000"/>
                </a:solidFill>
                <a:latin typeface="+mj-lt"/>
                <a:sym typeface="Courier" pitchFamily="125" charset="0"/>
              </a:rPr>
              <a:t>);     	//</a:t>
            </a:r>
            <a:r>
              <a:rPr lang="zh-CN" altLang="en-US" sz="1700" b="1" dirty="0">
                <a:solidFill>
                  <a:srgbClr val="000000"/>
                </a:solidFill>
                <a:latin typeface="+mj-lt"/>
                <a:sym typeface="Courier" pitchFamily="125" charset="0"/>
              </a:rPr>
              <a:t>圆周率</a:t>
            </a:r>
            <a:endParaRPr lang="en-US" altLang="zh-CN" sz="1700" b="1" dirty="0">
              <a:solidFill>
                <a:srgbClr val="000000"/>
              </a:solidFill>
              <a:latin typeface="+mj-lt"/>
              <a:sym typeface="Courier" pitchFamily="125" charset="0"/>
            </a:endParaRPr>
          </a:p>
          <a:p>
            <a:pPr marL="803275" lvl="2" indent="0">
              <a:spcBef>
                <a:spcPts val="1300"/>
              </a:spcBef>
              <a:buNone/>
            </a:pPr>
            <a:r>
              <a:rPr lang="en-US" altLang="zh-CN" sz="1700" b="1" dirty="0">
                <a:solidFill>
                  <a:srgbClr val="000000"/>
                </a:solidFill>
                <a:latin typeface="+mj-lt"/>
                <a:sym typeface="Courier" pitchFamily="125" charset="0"/>
              </a:rPr>
              <a:t>Mathf.Sin(x);        	//</a:t>
            </a:r>
            <a:r>
              <a:rPr lang="zh-CN" altLang="en-US" sz="1700" b="1" dirty="0">
                <a:solidFill>
                  <a:srgbClr val="000000"/>
                </a:solidFill>
                <a:latin typeface="+mj-lt"/>
                <a:ea typeface="楷体" panose="02010609060101010101" pitchFamily="49" charset="-122"/>
                <a:sym typeface="Courier" pitchFamily="125" charset="0"/>
              </a:rPr>
              <a:t>计算</a:t>
            </a:r>
            <a:r>
              <a:rPr lang="en-US" altLang="zh-CN" sz="1700" b="1" dirty="0">
                <a:solidFill>
                  <a:srgbClr val="000000"/>
                </a:solidFill>
                <a:latin typeface="+mj-lt"/>
                <a:ea typeface="楷体" panose="02010609060101010101" pitchFamily="49" charset="-122"/>
                <a:sym typeface="Courier" pitchFamily="125" charset="0"/>
              </a:rPr>
              <a:t>x</a:t>
            </a:r>
            <a:r>
              <a:rPr lang="zh-CN" altLang="en-US" sz="1700" b="1" dirty="0">
                <a:solidFill>
                  <a:srgbClr val="000000"/>
                </a:solidFill>
                <a:latin typeface="+mj-lt"/>
                <a:ea typeface="楷体" panose="02010609060101010101" pitchFamily="49" charset="-122"/>
                <a:sym typeface="Courier" pitchFamily="125" charset="0"/>
              </a:rPr>
              <a:t>的正弦值</a:t>
            </a:r>
            <a:endParaRPr lang="en-US" altLang="zh-CN" sz="1700" b="1" dirty="0">
              <a:solidFill>
                <a:srgbClr val="000000"/>
              </a:solidFill>
              <a:latin typeface="+mj-lt"/>
              <a:sym typeface="Courier" pitchFamily="125" charset="0"/>
            </a:endParaRPr>
          </a:p>
          <a:p>
            <a:pPr marL="803275" lvl="2" indent="0">
              <a:spcBef>
                <a:spcPts val="1300"/>
              </a:spcBef>
              <a:buNone/>
            </a:pPr>
            <a:r>
              <a:rPr lang="en-US" altLang="zh-CN" sz="1700" b="1" dirty="0" err="1">
                <a:solidFill>
                  <a:srgbClr val="000000"/>
                </a:solidFill>
                <a:latin typeface="+mj-lt"/>
                <a:sym typeface="Courier" pitchFamily="125" charset="0"/>
              </a:rPr>
              <a:t>Mathf.Cos</a:t>
            </a:r>
            <a:r>
              <a:rPr lang="en-US" altLang="zh-CN" sz="1700" b="1" dirty="0">
                <a:solidFill>
                  <a:srgbClr val="000000"/>
                </a:solidFill>
                <a:latin typeface="+mj-lt"/>
                <a:sym typeface="Courier" pitchFamily="125" charset="0"/>
              </a:rPr>
              <a:t>(x);        	//.Tan(), .Asin(), .</a:t>
            </a:r>
            <a:r>
              <a:rPr lang="en-US" altLang="zh-CN" sz="1700" b="1" dirty="0" err="1">
                <a:solidFill>
                  <a:srgbClr val="000000"/>
                </a:solidFill>
                <a:latin typeface="+mj-lt"/>
                <a:sym typeface="Courier" pitchFamily="125" charset="0"/>
              </a:rPr>
              <a:t>Acos</a:t>
            </a:r>
            <a:r>
              <a:rPr lang="en-US" altLang="zh-CN" sz="1700" b="1" dirty="0">
                <a:solidFill>
                  <a:srgbClr val="000000"/>
                </a:solidFill>
                <a:latin typeface="+mj-lt"/>
                <a:sym typeface="Courier" pitchFamily="125" charset="0"/>
              </a:rPr>
              <a:t>(), .</a:t>
            </a:r>
            <a:r>
              <a:rPr lang="en-US" altLang="zh-CN" sz="1700" b="1" dirty="0" err="1">
                <a:solidFill>
                  <a:srgbClr val="000000"/>
                </a:solidFill>
                <a:latin typeface="+mj-lt"/>
                <a:sym typeface="Courier" pitchFamily="125" charset="0"/>
              </a:rPr>
              <a:t>Atan</a:t>
            </a:r>
            <a:r>
              <a:rPr lang="en-US" altLang="zh-CN" sz="1700" b="1" dirty="0">
                <a:solidFill>
                  <a:srgbClr val="000000"/>
                </a:solidFill>
                <a:latin typeface="+mj-lt"/>
                <a:sym typeface="Courier" pitchFamily="125" charset="0"/>
              </a:rPr>
              <a:t>()</a:t>
            </a:r>
            <a:r>
              <a:rPr lang="zh-CN" altLang="en-US" sz="1700" b="1" dirty="0">
                <a:solidFill>
                  <a:srgbClr val="000000"/>
                </a:solidFill>
                <a:latin typeface="+mj-lt"/>
                <a:ea typeface="楷体" panose="02010609060101010101" pitchFamily="49" charset="-122"/>
                <a:sym typeface="Courier" pitchFamily="125" charset="0"/>
              </a:rPr>
              <a:t>也可调用</a:t>
            </a:r>
            <a:endParaRPr lang="en-US" altLang="zh-CN" sz="1700" b="1" dirty="0">
              <a:solidFill>
                <a:srgbClr val="000000"/>
              </a:solidFill>
              <a:latin typeface="+mj-lt"/>
              <a:sym typeface="Courier" pitchFamily="125" charset="0"/>
            </a:endParaRPr>
          </a:p>
          <a:p>
            <a:pPr marL="803275" lvl="2" indent="0">
              <a:spcBef>
                <a:spcPts val="1300"/>
              </a:spcBef>
              <a:buNone/>
            </a:pPr>
            <a:r>
              <a:rPr lang="en-US" altLang="zh-CN" sz="1700" b="1" dirty="0">
                <a:solidFill>
                  <a:srgbClr val="000000"/>
                </a:solidFill>
                <a:latin typeface="+mj-lt"/>
                <a:sym typeface="Courier" pitchFamily="125" charset="0"/>
              </a:rPr>
              <a:t>Mathf.Atan2(y, x); 	//</a:t>
            </a:r>
            <a:r>
              <a:rPr lang="zh-CN" altLang="en-US" sz="1700" b="1" dirty="0">
                <a:solidFill>
                  <a:srgbClr val="000000"/>
                </a:solidFill>
                <a:latin typeface="+mj-lt"/>
                <a:ea typeface="楷体" panose="02010609060101010101" pitchFamily="49" charset="-122"/>
                <a:sym typeface="Courier" pitchFamily="125" charset="0"/>
              </a:rPr>
              <a:t>计算出沿Z轴旋转的角度</a:t>
            </a:r>
            <a:r>
              <a:rPr lang="en-US" altLang="zh-CN" sz="1700" b="1" dirty="0">
                <a:solidFill>
                  <a:srgbClr val="000000"/>
                </a:solidFill>
                <a:latin typeface="+mj-lt"/>
                <a:sym typeface="Courier" pitchFamily="125" charset="0"/>
              </a:rPr>
              <a:t>                    </a:t>
            </a:r>
          </a:p>
          <a:p>
            <a:pPr marL="803275" lvl="2" indent="0">
              <a:spcBef>
                <a:spcPts val="1300"/>
              </a:spcBef>
              <a:buNone/>
            </a:pPr>
            <a:r>
              <a:rPr lang="en-US" altLang="zh-CN" sz="1700" b="1" dirty="0" err="1">
                <a:solidFill>
                  <a:srgbClr val="000000"/>
                </a:solidFill>
                <a:latin typeface="+mj-lt"/>
                <a:sym typeface="Courier" pitchFamily="125" charset="0"/>
              </a:rPr>
              <a:t>Mathf.Min</a:t>
            </a:r>
            <a:r>
              <a:rPr lang="en-US" altLang="zh-CN" sz="1700" b="1" dirty="0">
                <a:solidFill>
                  <a:srgbClr val="000000"/>
                </a:solidFill>
                <a:latin typeface="+mj-lt"/>
                <a:sym typeface="Courier" pitchFamily="125" charset="0"/>
              </a:rPr>
              <a:t>(2, 3, 1);	//</a:t>
            </a:r>
            <a:r>
              <a:rPr lang="zh-CN" altLang="en-US" sz="1700" b="1" dirty="0">
                <a:solidFill>
                  <a:srgbClr val="000000"/>
                </a:solidFill>
                <a:latin typeface="+mj-lt"/>
                <a:sym typeface="Courier" pitchFamily="125" charset="0"/>
              </a:rPr>
              <a:t>三个数字（浮点数或整数）中的最小值</a:t>
            </a:r>
            <a:endParaRPr lang="en-US" altLang="zh-CN" sz="1700" b="1" dirty="0">
              <a:solidFill>
                <a:srgbClr val="000000"/>
              </a:solidFill>
              <a:latin typeface="+mj-lt"/>
              <a:sym typeface="Courier" pitchFamily="125" charset="0"/>
            </a:endParaRPr>
          </a:p>
          <a:p>
            <a:pPr marL="803275" lvl="2" indent="0">
              <a:spcBef>
                <a:spcPts val="1300"/>
              </a:spcBef>
              <a:buNone/>
            </a:pPr>
            <a:r>
              <a:rPr lang="en-US" altLang="zh-CN" sz="1700" b="1" dirty="0" err="1">
                <a:solidFill>
                  <a:srgbClr val="000000"/>
                </a:solidFill>
                <a:latin typeface="+mj-lt"/>
                <a:sym typeface="Courier" pitchFamily="125" charset="0"/>
              </a:rPr>
              <a:t>Mathf.Max</a:t>
            </a:r>
            <a:r>
              <a:rPr lang="en-US" altLang="zh-CN" sz="1700" b="1" dirty="0">
                <a:solidFill>
                  <a:srgbClr val="000000"/>
                </a:solidFill>
                <a:latin typeface="+mj-lt"/>
                <a:sym typeface="Courier" pitchFamily="125" charset="0"/>
              </a:rPr>
              <a:t>(2, 3, 1);	//</a:t>
            </a:r>
            <a:r>
              <a:rPr lang="zh-CN" altLang="en-US" sz="1700" b="1" dirty="0">
                <a:solidFill>
                  <a:srgbClr val="000000"/>
                </a:solidFill>
                <a:latin typeface="+mj-lt"/>
                <a:sym typeface="Courier" pitchFamily="125" charset="0"/>
              </a:rPr>
              <a:t>三个数字（浮点数或整数）中的最大值</a:t>
            </a:r>
            <a:endParaRPr lang="en-US" altLang="zh-CN" sz="1700" b="1" dirty="0">
              <a:solidFill>
                <a:srgbClr val="000000"/>
              </a:solidFill>
              <a:latin typeface="+mj-lt"/>
              <a:sym typeface="Courier" pitchFamily="125" charset="0"/>
            </a:endParaRPr>
          </a:p>
          <a:p>
            <a:pPr marL="803275" lvl="2" indent="0">
              <a:spcBef>
                <a:spcPts val="1300"/>
              </a:spcBef>
              <a:buNone/>
            </a:pPr>
            <a:r>
              <a:rPr lang="en-US" altLang="zh-CN" sz="1700" b="1" dirty="0" err="1">
                <a:solidFill>
                  <a:srgbClr val="000000"/>
                </a:solidFill>
                <a:latin typeface="+mj-lt"/>
                <a:sym typeface="Courier" pitchFamily="125" charset="0"/>
              </a:rPr>
              <a:t>Mathf.Round</a:t>
            </a:r>
            <a:r>
              <a:rPr lang="en-US" altLang="zh-CN" sz="1700" b="1" dirty="0">
                <a:solidFill>
                  <a:srgbClr val="000000"/>
                </a:solidFill>
                <a:latin typeface="+mj-lt"/>
                <a:sym typeface="Courier" pitchFamily="125" charset="0"/>
              </a:rPr>
              <a:t>(1.75f);	//</a:t>
            </a:r>
            <a:r>
              <a:rPr lang="zh-CN" altLang="en-US" sz="1700" b="1" dirty="0">
                <a:solidFill>
                  <a:srgbClr val="000000"/>
                </a:solidFill>
                <a:latin typeface="+mj-lt"/>
                <a:sym typeface="Courier" pitchFamily="125" charset="0"/>
              </a:rPr>
              <a:t>四舍五入到最接近的整数</a:t>
            </a:r>
            <a:endParaRPr lang="en-US" altLang="zh-CN" sz="1700" b="1" dirty="0">
              <a:solidFill>
                <a:srgbClr val="000000"/>
              </a:solidFill>
              <a:latin typeface="+mj-lt"/>
              <a:sym typeface="Courier" pitchFamily="125" charset="0"/>
            </a:endParaRPr>
          </a:p>
          <a:p>
            <a:pPr marL="803275" lvl="2" indent="0">
              <a:spcBef>
                <a:spcPts val="1300"/>
              </a:spcBef>
              <a:buNone/>
            </a:pPr>
            <a:r>
              <a:rPr lang="en-US" altLang="zh-CN" sz="1700" b="1" dirty="0" err="1">
                <a:solidFill>
                  <a:srgbClr val="000000"/>
                </a:solidFill>
                <a:latin typeface="+mj-lt"/>
                <a:sym typeface="Courier" pitchFamily="125" charset="0"/>
              </a:rPr>
              <a:t>Mathf.Ceil</a:t>
            </a:r>
            <a:r>
              <a:rPr lang="en-US" altLang="zh-CN" sz="1700" b="1" dirty="0">
                <a:solidFill>
                  <a:srgbClr val="000000"/>
                </a:solidFill>
                <a:latin typeface="+mj-lt"/>
                <a:sym typeface="Courier" pitchFamily="125" charset="0"/>
              </a:rPr>
              <a:t>(1.75f); 	//</a:t>
            </a:r>
            <a:r>
              <a:rPr lang="zh-CN" altLang="en-US" sz="1700" b="1" dirty="0">
                <a:solidFill>
                  <a:srgbClr val="000000"/>
                </a:solidFill>
                <a:latin typeface="+mj-lt"/>
                <a:sym typeface="Courier" pitchFamily="125" charset="0"/>
              </a:rPr>
              <a:t>向上舍入到最接近的整数</a:t>
            </a:r>
            <a:endParaRPr lang="en-US" altLang="zh-CN" sz="1700" b="1" dirty="0">
              <a:solidFill>
                <a:srgbClr val="000000"/>
              </a:solidFill>
              <a:latin typeface="+mj-lt"/>
              <a:sym typeface="Courier" pitchFamily="125" charset="0"/>
            </a:endParaRPr>
          </a:p>
          <a:p>
            <a:pPr marL="803275" lvl="2" indent="0">
              <a:spcBef>
                <a:spcPts val="1300"/>
              </a:spcBef>
              <a:buNone/>
            </a:pPr>
            <a:r>
              <a:rPr lang="en-US" altLang="zh-CN" sz="1700" b="1" dirty="0" err="1">
                <a:solidFill>
                  <a:srgbClr val="000000"/>
                </a:solidFill>
                <a:latin typeface="+mj-lt"/>
                <a:sym typeface="Courier" pitchFamily="125" charset="0"/>
              </a:rPr>
              <a:t>Mathf.Floor</a:t>
            </a:r>
            <a:r>
              <a:rPr lang="en-US" altLang="zh-CN" sz="1700" b="1" dirty="0">
                <a:solidFill>
                  <a:srgbClr val="000000"/>
                </a:solidFill>
                <a:latin typeface="+mj-lt"/>
                <a:sym typeface="Courier" pitchFamily="125" charset="0"/>
              </a:rPr>
              <a:t>(1.75f);	//</a:t>
            </a:r>
            <a:r>
              <a:rPr lang="zh-CN" altLang="en-US" sz="1700" b="1" dirty="0">
                <a:solidFill>
                  <a:srgbClr val="000000"/>
                </a:solidFill>
                <a:latin typeface="+mj-lt"/>
                <a:sym typeface="Courier" pitchFamily="125" charset="0"/>
              </a:rPr>
              <a:t>向下舍入到最接近的整数</a:t>
            </a:r>
            <a:endParaRPr lang="en-US" altLang="zh-CN" sz="1700" b="1" dirty="0">
              <a:solidFill>
                <a:srgbClr val="000000"/>
              </a:solidFill>
              <a:latin typeface="+mj-lt"/>
              <a:sym typeface="Courier" pitchFamily="125" charset="0"/>
            </a:endParaRPr>
          </a:p>
          <a:p>
            <a:pPr marL="803275" lvl="2" indent="0">
              <a:spcBef>
                <a:spcPts val="1300"/>
              </a:spcBef>
              <a:buNone/>
            </a:pPr>
            <a:r>
              <a:rPr lang="en-US" altLang="zh-CN" sz="1700" b="1" dirty="0" err="1">
                <a:solidFill>
                  <a:srgbClr val="000000"/>
                </a:solidFill>
                <a:latin typeface="+mj-lt"/>
                <a:sym typeface="Courier" pitchFamily="125" charset="0"/>
              </a:rPr>
              <a:t>Mathf.Abs</a:t>
            </a:r>
            <a:r>
              <a:rPr lang="en-US" altLang="zh-CN" sz="1700" b="1" dirty="0">
                <a:solidFill>
                  <a:srgbClr val="000000"/>
                </a:solidFill>
                <a:latin typeface="+mj-lt"/>
                <a:sym typeface="Courier" pitchFamily="125" charset="0"/>
              </a:rPr>
              <a:t>(-25);    	//-25</a:t>
            </a:r>
            <a:r>
              <a:rPr lang="zh-CN" altLang="en-US" sz="1700" b="1" dirty="0">
                <a:solidFill>
                  <a:srgbClr val="000000"/>
                </a:solidFill>
                <a:latin typeface="+mj-lt"/>
                <a:sym typeface="Courier" pitchFamily="125" charset="0"/>
              </a:rPr>
              <a:t>的绝对值</a:t>
            </a:r>
          </a:p>
        </p:txBody>
      </p:sp>
    </p:spTree>
    <p:extLst>
      <p:ext uri="{BB962C8B-B14F-4D97-AF65-F5344CB8AC3E}">
        <p14:creationId xmlns:p14="http://schemas.microsoft.com/office/powerpoint/2010/main" val="287196387"/>
      </p:ext>
    </p:extLst>
  </p:cSld>
  <p:clrMapOvr>
    <a:masterClrMapping/>
  </p:clrMapOvr>
  <p:transition spd="med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6736AD63-3058-7376-7242-0FE9530697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074099DE-6967-1815-996D-E734BD549BBE}"/>
              </a:ext>
            </a:extLst>
          </p:cNvPr>
          <p:cNvGrpSpPr/>
          <p:nvPr/>
        </p:nvGrpSpPr>
        <p:grpSpPr>
          <a:xfrm>
            <a:off x="3630807" y="251474"/>
            <a:ext cx="4930385" cy="523226"/>
            <a:chOff x="4840431" y="207541"/>
            <a:chExt cx="4930385" cy="523226"/>
          </a:xfrm>
        </p:grpSpPr>
        <p:pic>
          <p:nvPicPr>
            <p:cNvPr id="6" name="Picture 4" descr="黑爵(AJAZZ)手柄/方向盘AG180报价_参数_图片_视频_怎么样_问答-苏宁易购">
              <a:extLst>
                <a:ext uri="{FF2B5EF4-FFF2-40B4-BE49-F238E27FC236}">
                  <a16:creationId xmlns:a16="http://schemas.microsoft.com/office/drawing/2014/main" id="{AB10879B-CEE7-E75D-D149-25985437113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45" t="9275" r="3752" b="5379"/>
            <a:stretch/>
          </p:blipFill>
          <p:spPr bwMode="auto">
            <a:xfrm>
              <a:off x="4840431" y="314689"/>
              <a:ext cx="407315" cy="37661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" name="Rectangle 3">
              <a:extLst>
                <a:ext uri="{FF2B5EF4-FFF2-40B4-BE49-F238E27FC236}">
                  <a16:creationId xmlns:a16="http://schemas.microsoft.com/office/drawing/2014/main" id="{5C8381A7-49F9-D5A0-D457-06FFA8A73A5F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5298546" y="207541"/>
              <a:ext cx="4472270" cy="523226"/>
            </a:xfrm>
            <a:prstGeom prst="rect">
              <a:avLst/>
            </a:prstGeom>
            <a:noFill/>
          </p:spPr>
          <p:txBody>
            <a:bodyPr lIns="90488" tIns="44450" rIns="90488" bIns="44450"/>
            <a:lstStyle>
              <a:lvl1pPr marL="171450" indent="-17145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1pPr>
              <a:lvl2pPr marL="5143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8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2pPr>
              <a:lvl3pPr marL="8572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3pPr>
              <a:lvl4pPr marL="12001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4pPr>
              <a:lvl5pPr marL="15430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fontAlgn="base">
                <a:lnSpc>
                  <a:spcPct val="100000"/>
                </a:lnSpc>
                <a:buNone/>
              </a:pPr>
              <a:r>
                <a:rPr lang="en-US" altLang="zh-CN" sz="3200" dirty="0">
                  <a:latin typeface="Times New Roman" panose="02020603050405020304" pitchFamily="18" charset="0"/>
                  <a:ea typeface="楷体" panose="02010609060101010101" pitchFamily="49" charset="-122"/>
                  <a:sym typeface="+mn-ea"/>
                </a:rPr>
                <a:t>Unity</a:t>
              </a:r>
              <a:r>
                <a:rPr lang="zh-CN" altLang="en-US" sz="3200" dirty="0">
                  <a:latin typeface="Times New Roman" panose="02020603050405020304" pitchFamily="18" charset="0"/>
                  <a:ea typeface="楷体" panose="02010609060101010101" pitchFamily="49" charset="-122"/>
                  <a:sym typeface="+mn-ea"/>
                </a:rPr>
                <a:t>中的重要变量类型 </a:t>
              </a:r>
            </a:p>
          </p:txBody>
        </p:sp>
      </p:grp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D0D14530-2832-7991-EB49-8F35138F08AE}"/>
              </a:ext>
            </a:extLst>
          </p:cNvPr>
          <p:cNvSpPr/>
          <p:nvPr/>
        </p:nvSpPr>
        <p:spPr>
          <a:xfrm>
            <a:off x="1722718" y="1658284"/>
            <a:ext cx="9009380" cy="609639"/>
          </a:xfrm>
          <a:prstGeom prst="roundRect">
            <a:avLst>
              <a:gd name="adj" fmla="val 3791"/>
            </a:avLst>
          </a:prstGeom>
          <a:gradFill>
            <a:gsLst>
              <a:gs pos="0">
                <a:srgbClr val="7030A0">
                  <a:alpha val="5000"/>
                </a:srgbClr>
              </a:gs>
              <a:gs pos="100000">
                <a:srgbClr val="00B0F0">
                  <a:alpha val="5000"/>
                </a:srgbClr>
              </a:gs>
            </a:gsLst>
            <a:lin ang="13500000" scaled="1"/>
          </a:gradFill>
          <a:ln>
            <a:gradFill>
              <a:gsLst>
                <a:gs pos="0">
                  <a:srgbClr val="0070C0"/>
                </a:gs>
                <a:gs pos="100000">
                  <a:srgbClr val="7030A0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108000" rtlCol="0" anchor="ctr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2400" b="1" dirty="0">
                <a:solidFill>
                  <a:srgbClr val="A7357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宋体" panose="02010600030101010101" pitchFamily="2" charset="-122"/>
                <a:sym typeface="+mn-ea"/>
              </a:rPr>
              <a:t>Screen</a:t>
            </a:r>
            <a:r>
              <a:rPr lang="zh-CN" altLang="en-US" sz="2400" b="1" dirty="0">
                <a:solidFill>
                  <a:srgbClr val="A7357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宋体" panose="02010600030101010101" pitchFamily="2" charset="-122"/>
                <a:sym typeface="+mn-ea"/>
              </a:rPr>
              <a:t>：关于屏幕显示的信息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4705A952-BA46-5504-249E-87D36780944F}"/>
              </a:ext>
            </a:extLst>
          </p:cNvPr>
          <p:cNvSpPr/>
          <p:nvPr/>
        </p:nvSpPr>
        <p:spPr>
          <a:xfrm>
            <a:off x="1722717" y="2436692"/>
            <a:ext cx="9009381" cy="2810933"/>
          </a:xfrm>
          <a:prstGeom prst="roundRect">
            <a:avLst>
              <a:gd name="adj" fmla="val 1731"/>
            </a:avLst>
          </a:prstGeom>
          <a:gradFill>
            <a:gsLst>
              <a:gs pos="0">
                <a:srgbClr val="7030A0">
                  <a:alpha val="5000"/>
                </a:srgbClr>
              </a:gs>
              <a:gs pos="100000">
                <a:srgbClr val="00B0F0">
                  <a:alpha val="5000"/>
                </a:srgbClr>
              </a:gs>
            </a:gsLst>
            <a:lin ang="13500000" scaled="1"/>
          </a:gradFill>
          <a:ln>
            <a:gradFill>
              <a:gsLst>
                <a:gs pos="0">
                  <a:srgbClr val="0070C0"/>
                </a:gs>
                <a:gs pos="100000">
                  <a:srgbClr val="7030A0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108000" rtlCol="0" anchor="ctr">
            <a:noAutofit/>
          </a:bodyPr>
          <a:lstStyle/>
          <a:p>
            <a:pPr marL="839788" lvl="1" indent="-342900">
              <a:spcBef>
                <a:spcPts val="1100"/>
              </a:spcBef>
              <a:buFont typeface="Wingdings" panose="05000000000000000000" pitchFamily="2" charset="2"/>
              <a:buChar char="l"/>
            </a:pPr>
            <a:r>
              <a:rPr lang="en-US" altLang="zh-CN" sz="2400" b="1" dirty="0" err="1">
                <a:solidFill>
                  <a:srgbClr val="A7357F"/>
                </a:solidFill>
                <a:latin typeface="+mj-ea"/>
                <a:ea typeface="+mj-ea"/>
                <a:sym typeface="Geneva" pitchFamily="125" charset="-128"/>
              </a:rPr>
              <a:t>静态类变量和函数</a:t>
            </a:r>
            <a:endParaRPr lang="en-US" altLang="zh-CN" sz="2400" b="1" dirty="0">
              <a:solidFill>
                <a:srgbClr val="A7357F"/>
              </a:solidFill>
              <a:latin typeface="+mj-ea"/>
              <a:ea typeface="+mj-ea"/>
            </a:endParaRPr>
          </a:p>
          <a:p>
            <a:pPr marL="0" lvl="2" indent="0">
              <a:spcBef>
                <a:spcPts val="700"/>
              </a:spcBef>
              <a:buNone/>
            </a:pPr>
            <a:r>
              <a:rPr lang="en-US" altLang="zh-CN" sz="1800" dirty="0">
                <a:solidFill>
                  <a:srgbClr val="000000"/>
                </a:solidFill>
              </a:rPr>
              <a:t>	</a:t>
            </a:r>
            <a:r>
              <a:rPr lang="en-US" altLang="zh-CN" sz="1800" b="1" dirty="0" err="1">
                <a:solidFill>
                  <a:srgbClr val="000000"/>
                </a:solidFill>
                <a:latin typeface="+mj-lt"/>
                <a:sym typeface="Courier" pitchFamily="125" charset="0"/>
              </a:rPr>
              <a:t>Screen.width</a:t>
            </a:r>
            <a:r>
              <a:rPr lang="en-US" altLang="zh-CN" sz="1800" b="1" dirty="0">
                <a:solidFill>
                  <a:srgbClr val="000000"/>
                </a:solidFill>
                <a:latin typeface="+mj-lt"/>
                <a:sym typeface="Courier" pitchFamily="125" charset="0"/>
              </a:rPr>
              <a:t>				</a:t>
            </a:r>
            <a:r>
              <a:rPr lang="en-US" altLang="zh-CN" sz="1800" b="1" dirty="0">
                <a:solidFill>
                  <a:srgbClr val="000000"/>
                </a:solidFill>
                <a:latin typeface="+mj-lt"/>
              </a:rPr>
              <a:t>//</a:t>
            </a:r>
            <a:r>
              <a:rPr lang="zh-CN" altLang="en-US" sz="1800" b="1" dirty="0">
                <a:solidFill>
                  <a:srgbClr val="000000"/>
                </a:solidFill>
                <a:latin typeface="+mj-lt"/>
              </a:rPr>
              <a:t>以像素为单位输出屏幕宽度</a:t>
            </a:r>
            <a:endParaRPr lang="en-US" altLang="zh-CN" b="1" dirty="0">
              <a:solidFill>
                <a:srgbClr val="000000"/>
              </a:solidFill>
              <a:latin typeface="+mj-lt"/>
            </a:endParaRPr>
          </a:p>
          <a:p>
            <a:pPr marL="0" lvl="2" indent="0">
              <a:spcBef>
                <a:spcPts val="700"/>
              </a:spcBef>
              <a:buNone/>
            </a:pPr>
            <a:r>
              <a:rPr lang="en-US" altLang="zh-CN" b="1" dirty="0">
                <a:solidFill>
                  <a:srgbClr val="000000"/>
                </a:solidFill>
                <a:latin typeface="+mj-lt"/>
              </a:rPr>
              <a:t>	</a:t>
            </a:r>
            <a:r>
              <a:rPr lang="en-US" altLang="zh-CN" sz="1800" b="1" dirty="0" err="1">
                <a:solidFill>
                  <a:srgbClr val="000000"/>
                </a:solidFill>
                <a:latin typeface="+mj-lt"/>
                <a:sym typeface="Courier" pitchFamily="125" charset="0"/>
              </a:rPr>
              <a:t>Screen.height</a:t>
            </a:r>
            <a:r>
              <a:rPr lang="en-US" altLang="zh-CN" sz="1800" b="1" dirty="0">
                <a:solidFill>
                  <a:srgbClr val="000000"/>
                </a:solidFill>
                <a:latin typeface="+mj-lt"/>
                <a:sym typeface="Courier" pitchFamily="125" charset="0"/>
              </a:rPr>
              <a:t>				</a:t>
            </a:r>
            <a:r>
              <a:rPr lang="en-US" altLang="zh-CN" sz="1800" b="1" dirty="0">
                <a:solidFill>
                  <a:srgbClr val="000000"/>
                </a:solidFill>
                <a:latin typeface="+mj-lt"/>
              </a:rPr>
              <a:t>//</a:t>
            </a:r>
            <a:r>
              <a:rPr lang="zh-CN" altLang="en-US" sz="1800" b="1" dirty="0">
                <a:solidFill>
                  <a:srgbClr val="000000"/>
                </a:solidFill>
                <a:latin typeface="+mj-lt"/>
              </a:rPr>
              <a:t>以像素为单位输出屏幕高度</a:t>
            </a:r>
            <a:endParaRPr lang="en-US" altLang="zh-CN" b="1" dirty="0">
              <a:solidFill>
                <a:srgbClr val="000000"/>
              </a:solidFill>
              <a:latin typeface="+mj-lt"/>
            </a:endParaRPr>
          </a:p>
          <a:p>
            <a:pPr marL="0" lvl="2" indent="0">
              <a:spcBef>
                <a:spcPts val="700"/>
              </a:spcBef>
              <a:buNone/>
            </a:pPr>
            <a:r>
              <a:rPr lang="en-US" altLang="zh-CN" b="1" dirty="0">
                <a:solidFill>
                  <a:srgbClr val="000000"/>
                </a:solidFill>
                <a:latin typeface="+mj-lt"/>
              </a:rPr>
              <a:t>	</a:t>
            </a:r>
            <a:r>
              <a:rPr lang="en-US" altLang="zh-CN" sz="1800" b="1" dirty="0" err="1">
                <a:solidFill>
                  <a:srgbClr val="000000"/>
                </a:solidFill>
                <a:latin typeface="+mj-lt"/>
                <a:sym typeface="Courier" pitchFamily="125" charset="0"/>
              </a:rPr>
              <a:t>Screen.showCursor</a:t>
            </a:r>
            <a:r>
              <a:rPr lang="en-US" altLang="zh-CN" sz="1800" b="1" dirty="0">
                <a:solidFill>
                  <a:srgbClr val="000000"/>
                </a:solidFill>
                <a:latin typeface="+mj-lt"/>
                <a:sym typeface="Courier" pitchFamily="125" charset="0"/>
              </a:rPr>
              <a:t> = false;		</a:t>
            </a:r>
            <a:r>
              <a:rPr lang="en-US" altLang="zh-CN" sz="1800" b="1" dirty="0">
                <a:solidFill>
                  <a:srgbClr val="000000"/>
                </a:solidFill>
                <a:latin typeface="+mj-lt"/>
              </a:rPr>
              <a:t>//</a:t>
            </a:r>
            <a:r>
              <a:rPr lang="zh-CN" altLang="en-US" sz="1800" b="1" dirty="0">
                <a:solidFill>
                  <a:srgbClr val="000000"/>
                </a:solidFill>
                <a:latin typeface="+mj-lt"/>
              </a:rPr>
              <a:t>隐藏光标</a:t>
            </a:r>
            <a:endParaRPr lang="en-US" altLang="zh-CN" sz="1800" b="1" dirty="0">
              <a:solidFill>
                <a:srgbClr val="000000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581428033"/>
      </p:ext>
    </p:extLst>
  </p:cSld>
  <p:clrMapOvr>
    <a:masterClrMapping/>
  </p:clrMapOvr>
  <p:transition spd="med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2251482C-9968-E5C0-95C5-30F61050BF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8567A645-771C-3303-3C45-AE7271B4B0E9}"/>
              </a:ext>
            </a:extLst>
          </p:cNvPr>
          <p:cNvGrpSpPr/>
          <p:nvPr/>
        </p:nvGrpSpPr>
        <p:grpSpPr>
          <a:xfrm>
            <a:off x="3630807" y="251474"/>
            <a:ext cx="4930385" cy="523226"/>
            <a:chOff x="4840431" y="207541"/>
            <a:chExt cx="4930385" cy="523226"/>
          </a:xfrm>
        </p:grpSpPr>
        <p:pic>
          <p:nvPicPr>
            <p:cNvPr id="6" name="Picture 4" descr="黑爵(AJAZZ)手柄/方向盘AG180报价_参数_图片_视频_怎么样_问答-苏宁易购">
              <a:extLst>
                <a:ext uri="{FF2B5EF4-FFF2-40B4-BE49-F238E27FC236}">
                  <a16:creationId xmlns:a16="http://schemas.microsoft.com/office/drawing/2014/main" id="{2AE0EB4B-FF30-A67F-5689-4AF37D57B1F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45" t="9275" r="3752" b="5379"/>
            <a:stretch/>
          </p:blipFill>
          <p:spPr bwMode="auto">
            <a:xfrm>
              <a:off x="4840431" y="314689"/>
              <a:ext cx="407315" cy="37661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" name="Rectangle 3">
              <a:extLst>
                <a:ext uri="{FF2B5EF4-FFF2-40B4-BE49-F238E27FC236}">
                  <a16:creationId xmlns:a16="http://schemas.microsoft.com/office/drawing/2014/main" id="{8BA2328F-FE9B-5C7E-1C90-D387E388660C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5298546" y="207541"/>
              <a:ext cx="4472270" cy="523226"/>
            </a:xfrm>
            <a:prstGeom prst="rect">
              <a:avLst/>
            </a:prstGeom>
            <a:noFill/>
          </p:spPr>
          <p:txBody>
            <a:bodyPr lIns="90488" tIns="44450" rIns="90488" bIns="44450"/>
            <a:lstStyle>
              <a:lvl1pPr marL="171450" indent="-17145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1pPr>
              <a:lvl2pPr marL="5143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8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2pPr>
              <a:lvl3pPr marL="8572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3pPr>
              <a:lvl4pPr marL="12001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4pPr>
              <a:lvl5pPr marL="15430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fontAlgn="base">
                <a:lnSpc>
                  <a:spcPct val="100000"/>
                </a:lnSpc>
                <a:buNone/>
              </a:pPr>
              <a:r>
                <a:rPr lang="en-US" altLang="zh-CN" sz="3200" dirty="0">
                  <a:latin typeface="Times New Roman" panose="02020603050405020304" pitchFamily="18" charset="0"/>
                  <a:ea typeface="楷体" panose="02010609060101010101" pitchFamily="49" charset="-122"/>
                  <a:sym typeface="+mn-ea"/>
                </a:rPr>
                <a:t>Unity</a:t>
              </a:r>
              <a:r>
                <a:rPr lang="zh-CN" altLang="en-US" sz="3200" dirty="0">
                  <a:latin typeface="Times New Roman" panose="02020603050405020304" pitchFamily="18" charset="0"/>
                  <a:ea typeface="楷体" panose="02010609060101010101" pitchFamily="49" charset="-122"/>
                  <a:sym typeface="+mn-ea"/>
                </a:rPr>
                <a:t>中的重要变量类型 </a:t>
              </a:r>
            </a:p>
          </p:txBody>
        </p:sp>
      </p:grp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5E02631C-78B7-0120-E5C4-3E0677CD0DD5}"/>
              </a:ext>
            </a:extLst>
          </p:cNvPr>
          <p:cNvSpPr/>
          <p:nvPr/>
        </p:nvSpPr>
        <p:spPr>
          <a:xfrm>
            <a:off x="1787559" y="1625580"/>
            <a:ext cx="9009380" cy="609639"/>
          </a:xfrm>
          <a:prstGeom prst="roundRect">
            <a:avLst>
              <a:gd name="adj" fmla="val 3791"/>
            </a:avLst>
          </a:prstGeom>
          <a:gradFill>
            <a:gsLst>
              <a:gs pos="0">
                <a:srgbClr val="7030A0">
                  <a:alpha val="5000"/>
                </a:srgbClr>
              </a:gs>
              <a:gs pos="100000">
                <a:srgbClr val="00B0F0">
                  <a:alpha val="5000"/>
                </a:srgbClr>
              </a:gs>
            </a:gsLst>
            <a:lin ang="13500000" scaled="1"/>
          </a:gradFill>
          <a:ln>
            <a:gradFill>
              <a:gsLst>
                <a:gs pos="0">
                  <a:srgbClr val="0070C0"/>
                </a:gs>
                <a:gs pos="100000">
                  <a:srgbClr val="7030A0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108000" rtlCol="0" anchor="ctr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2400" b="1" dirty="0">
                <a:solidFill>
                  <a:srgbClr val="A7357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宋体" panose="02010600030101010101" pitchFamily="2" charset="-122"/>
                <a:sym typeface="+mn-ea"/>
              </a:rPr>
              <a:t>SystemInfo:</a:t>
            </a:r>
            <a:r>
              <a:rPr lang="zh-CN" altLang="en-US" sz="2400" b="1" dirty="0">
                <a:solidFill>
                  <a:srgbClr val="A7357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宋体" panose="02010600030101010101" pitchFamily="2" charset="-122"/>
                <a:sym typeface="+mn-ea"/>
              </a:rPr>
              <a:t> 关于设备的信息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053CD9D4-C2E4-1783-3E68-A38F5B2F3D5B}"/>
              </a:ext>
            </a:extLst>
          </p:cNvPr>
          <p:cNvSpPr/>
          <p:nvPr/>
        </p:nvSpPr>
        <p:spPr>
          <a:xfrm>
            <a:off x="1787558" y="2420922"/>
            <a:ext cx="9009381" cy="2794000"/>
          </a:xfrm>
          <a:prstGeom prst="roundRect">
            <a:avLst>
              <a:gd name="adj" fmla="val 1731"/>
            </a:avLst>
          </a:prstGeom>
          <a:gradFill>
            <a:gsLst>
              <a:gs pos="0">
                <a:srgbClr val="7030A0">
                  <a:alpha val="5000"/>
                </a:srgbClr>
              </a:gs>
              <a:gs pos="100000">
                <a:srgbClr val="00B0F0">
                  <a:alpha val="5000"/>
                </a:srgbClr>
              </a:gs>
            </a:gsLst>
            <a:lin ang="13500000" scaled="1"/>
          </a:gradFill>
          <a:ln>
            <a:gradFill>
              <a:gsLst>
                <a:gs pos="0">
                  <a:srgbClr val="0070C0"/>
                </a:gs>
                <a:gs pos="100000">
                  <a:srgbClr val="7030A0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108000" rtlCol="0" anchor="ctr">
            <a:noAutofit/>
          </a:bodyPr>
          <a:lstStyle/>
          <a:p>
            <a:pPr marL="839788" lvl="1" indent="-342900">
              <a:spcBef>
                <a:spcPts val="1100"/>
              </a:spcBef>
              <a:buFont typeface="Wingdings" panose="05000000000000000000" pitchFamily="2" charset="2"/>
              <a:buChar char="l"/>
            </a:pPr>
            <a:r>
              <a:rPr lang="en-US" altLang="zh-CN" sz="2400" b="1" dirty="0" err="1">
                <a:solidFill>
                  <a:srgbClr val="A7357F"/>
                </a:solidFill>
                <a:sym typeface="Geneva" pitchFamily="125" charset="-128"/>
              </a:rPr>
              <a:t>静态类变量和函数</a:t>
            </a:r>
            <a:endParaRPr lang="en-US" altLang="zh-CN" sz="2400" b="1" dirty="0">
              <a:solidFill>
                <a:srgbClr val="A7357F"/>
              </a:solidFill>
            </a:endParaRPr>
          </a:p>
          <a:p>
            <a:pPr marL="0" lvl="2" indent="0">
              <a:spcBef>
                <a:spcPts val="700"/>
              </a:spcBef>
              <a:buNone/>
            </a:pPr>
            <a:r>
              <a:rPr lang="en-US" altLang="zh-CN" sz="1800" dirty="0">
                <a:solidFill>
                  <a:srgbClr val="000000"/>
                </a:solidFill>
              </a:rPr>
              <a:t>	</a:t>
            </a:r>
            <a:r>
              <a:rPr lang="en-US" altLang="zh-CN" sz="1800" b="1" dirty="0" err="1">
                <a:solidFill>
                  <a:srgbClr val="000000"/>
                </a:solidFill>
                <a:latin typeface="+mj-lt"/>
                <a:sym typeface="Courier" pitchFamily="125" charset="0"/>
              </a:rPr>
              <a:t>SystemInfo.operatingSystem</a:t>
            </a:r>
            <a:r>
              <a:rPr lang="en-US" altLang="zh-CN" sz="1800" b="1" dirty="0">
                <a:solidFill>
                  <a:srgbClr val="000000"/>
                </a:solidFill>
                <a:latin typeface="+mj-lt"/>
                <a:sym typeface="Courier" pitchFamily="125" charset="0"/>
              </a:rPr>
              <a:t>		</a:t>
            </a:r>
            <a:r>
              <a:rPr lang="en-US" altLang="zh-CN" sz="1800" b="1" dirty="0">
                <a:solidFill>
                  <a:srgbClr val="000000"/>
                </a:solidFill>
                <a:latin typeface="+mj-lt"/>
              </a:rPr>
              <a:t>// </a:t>
            </a:r>
            <a:r>
              <a:rPr lang="zh-CN" altLang="en-US" sz="1800" b="1" dirty="0">
                <a:solidFill>
                  <a:srgbClr val="000000"/>
                </a:solidFill>
                <a:latin typeface="+mj-lt"/>
              </a:rPr>
              <a:t>输出操作系统名称</a:t>
            </a:r>
            <a:endParaRPr lang="en-US" altLang="zh-CN" sz="1800" b="1" dirty="0">
              <a:solidFill>
                <a:srgbClr val="000000"/>
              </a:solidFill>
              <a:latin typeface="+mj-lt"/>
              <a:sym typeface="Courier" pitchFamily="125" charset="0"/>
            </a:endParaRPr>
          </a:p>
          <a:p>
            <a:pPr marL="0" lvl="2" indent="0">
              <a:spcBef>
                <a:spcPts val="700"/>
              </a:spcBef>
              <a:buNone/>
            </a:pPr>
            <a:r>
              <a:rPr lang="en-US" altLang="zh-CN" sz="1800" b="1" dirty="0">
                <a:solidFill>
                  <a:srgbClr val="000000"/>
                </a:solidFill>
                <a:latin typeface="+mj-lt"/>
                <a:sym typeface="Courier" pitchFamily="125" charset="0"/>
              </a:rPr>
              <a:t>	</a:t>
            </a:r>
            <a:r>
              <a:rPr lang="en-US" altLang="zh-CN" sz="1800" b="1" dirty="0" err="1">
                <a:solidFill>
                  <a:srgbClr val="000000"/>
                </a:solidFill>
                <a:latin typeface="+mj-lt"/>
                <a:sym typeface="Courier" pitchFamily="125" charset="0"/>
              </a:rPr>
              <a:t>SystemInfo.systemMemorySize</a:t>
            </a:r>
            <a:r>
              <a:rPr lang="en-US" altLang="zh-CN" sz="1800" b="1" dirty="0">
                <a:solidFill>
                  <a:srgbClr val="000000"/>
                </a:solidFill>
                <a:latin typeface="+mj-lt"/>
                <a:sym typeface="Courier" pitchFamily="125" charset="0"/>
              </a:rPr>
              <a:t>	</a:t>
            </a:r>
            <a:r>
              <a:rPr lang="en-US" altLang="zh-CN" sz="1800" b="1" dirty="0">
                <a:solidFill>
                  <a:srgbClr val="000000"/>
                </a:solidFill>
                <a:latin typeface="+mj-lt"/>
              </a:rPr>
              <a:t>// </a:t>
            </a:r>
            <a:r>
              <a:rPr lang="zh-CN" altLang="en-US" sz="1800" b="1" dirty="0">
                <a:solidFill>
                  <a:srgbClr val="000000"/>
                </a:solidFill>
                <a:latin typeface="+mj-lt"/>
              </a:rPr>
              <a:t>内存大小</a:t>
            </a:r>
            <a:endParaRPr lang="en-US" altLang="zh-CN" sz="1800" b="1" dirty="0">
              <a:solidFill>
                <a:srgbClr val="000000"/>
              </a:solidFill>
              <a:latin typeface="+mj-lt"/>
              <a:sym typeface="Courier" pitchFamily="125" charset="0"/>
            </a:endParaRPr>
          </a:p>
          <a:p>
            <a:pPr marL="0" lvl="2" indent="0">
              <a:spcBef>
                <a:spcPts val="700"/>
              </a:spcBef>
              <a:buNone/>
            </a:pPr>
            <a:r>
              <a:rPr lang="en-US" altLang="zh-CN" sz="1800" b="1" dirty="0">
                <a:solidFill>
                  <a:srgbClr val="000000"/>
                </a:solidFill>
                <a:latin typeface="+mj-lt"/>
                <a:sym typeface="Courier" pitchFamily="125" charset="0"/>
              </a:rPr>
              <a:t>	</a:t>
            </a:r>
            <a:r>
              <a:rPr lang="en-US" altLang="zh-CN" sz="1800" b="1" dirty="0" err="1">
                <a:solidFill>
                  <a:srgbClr val="000000"/>
                </a:solidFill>
                <a:latin typeface="+mj-lt"/>
                <a:sym typeface="Courier" pitchFamily="125" charset="0"/>
              </a:rPr>
              <a:t>SystemInfo.supportsAccelerometer</a:t>
            </a:r>
            <a:r>
              <a:rPr lang="en-US" altLang="zh-CN" sz="1800" b="1" dirty="0">
                <a:solidFill>
                  <a:srgbClr val="000000"/>
                </a:solidFill>
                <a:latin typeface="+mj-lt"/>
                <a:sym typeface="Courier" pitchFamily="125" charset="0"/>
              </a:rPr>
              <a:t>	</a:t>
            </a:r>
            <a:r>
              <a:rPr lang="en-US" altLang="zh-CN" sz="1800" b="1" dirty="0">
                <a:solidFill>
                  <a:srgbClr val="000000"/>
                </a:solidFill>
                <a:latin typeface="+mj-lt"/>
              </a:rPr>
              <a:t>// </a:t>
            </a:r>
            <a:r>
              <a:rPr lang="zh-CN" altLang="en-US" sz="1800" b="1" dirty="0">
                <a:solidFill>
                  <a:srgbClr val="000000"/>
                </a:solidFill>
                <a:latin typeface="+mj-lt"/>
              </a:rPr>
              <a:t>是否支持加速度计</a:t>
            </a:r>
            <a:endParaRPr lang="en-US" altLang="zh-CN" sz="1800" b="1" dirty="0">
              <a:solidFill>
                <a:srgbClr val="000000"/>
              </a:solidFill>
              <a:latin typeface="+mj-lt"/>
              <a:sym typeface="Courier" pitchFamily="125" charset="0"/>
            </a:endParaRPr>
          </a:p>
          <a:p>
            <a:pPr marL="0" lvl="2" indent="0">
              <a:spcBef>
                <a:spcPts val="700"/>
              </a:spcBef>
              <a:buNone/>
            </a:pPr>
            <a:r>
              <a:rPr lang="en-US" altLang="zh-CN" sz="1800" b="1" dirty="0">
                <a:solidFill>
                  <a:srgbClr val="000000"/>
                </a:solidFill>
                <a:latin typeface="+mj-lt"/>
                <a:sym typeface="Courier" pitchFamily="125" charset="0"/>
              </a:rPr>
              <a:t>	</a:t>
            </a:r>
            <a:r>
              <a:rPr lang="en-US" altLang="zh-CN" sz="1800" b="1" dirty="0" err="1">
                <a:solidFill>
                  <a:srgbClr val="000000"/>
                </a:solidFill>
                <a:latin typeface="+mj-lt"/>
                <a:sym typeface="Courier" pitchFamily="125" charset="0"/>
              </a:rPr>
              <a:t>SystemInfo.supportsGyroscope</a:t>
            </a:r>
            <a:r>
              <a:rPr lang="en-US" altLang="zh-CN" sz="1800" b="1" dirty="0">
                <a:solidFill>
                  <a:srgbClr val="000000"/>
                </a:solidFill>
                <a:latin typeface="+mj-lt"/>
                <a:sym typeface="Courier" pitchFamily="125" charset="0"/>
              </a:rPr>
              <a:t>	</a:t>
            </a:r>
            <a:r>
              <a:rPr lang="en-US" altLang="zh-CN" sz="1800" b="1" dirty="0">
                <a:solidFill>
                  <a:srgbClr val="000000"/>
                </a:solidFill>
                <a:latin typeface="+mj-lt"/>
              </a:rPr>
              <a:t>// </a:t>
            </a:r>
            <a:r>
              <a:rPr lang="zh-CN" altLang="en-US" sz="1800" b="1" dirty="0">
                <a:solidFill>
                  <a:srgbClr val="000000"/>
                </a:solidFill>
                <a:latin typeface="+mj-lt"/>
              </a:rPr>
              <a:t>是否支持陀螺仪</a:t>
            </a:r>
            <a:endParaRPr lang="en-US" altLang="zh-CN" sz="1800" b="1" dirty="0">
              <a:solidFill>
                <a:srgbClr val="000000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399495235"/>
      </p:ext>
    </p:extLst>
  </p:cSld>
  <p:clrMapOvr>
    <a:masterClrMapping/>
  </p:clrMapOvr>
  <p:transition spd="med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53F85F4D-FFA8-DBF3-C747-1B252C8D9F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B9289C5E-66CB-BBBF-5656-B689055AFF9E}"/>
              </a:ext>
            </a:extLst>
          </p:cNvPr>
          <p:cNvGrpSpPr/>
          <p:nvPr/>
        </p:nvGrpSpPr>
        <p:grpSpPr>
          <a:xfrm>
            <a:off x="3630807" y="251474"/>
            <a:ext cx="4930385" cy="523226"/>
            <a:chOff x="4840431" y="207541"/>
            <a:chExt cx="4930385" cy="523226"/>
          </a:xfrm>
        </p:grpSpPr>
        <p:pic>
          <p:nvPicPr>
            <p:cNvPr id="6" name="Picture 4" descr="黑爵(AJAZZ)手柄/方向盘AG180报价_参数_图片_视频_怎么样_问答-苏宁易购">
              <a:extLst>
                <a:ext uri="{FF2B5EF4-FFF2-40B4-BE49-F238E27FC236}">
                  <a16:creationId xmlns:a16="http://schemas.microsoft.com/office/drawing/2014/main" id="{39B3B3C8-A0FA-0158-5992-BA51AC3DEE0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45" t="9275" r="3752" b="5379"/>
            <a:stretch/>
          </p:blipFill>
          <p:spPr bwMode="auto">
            <a:xfrm>
              <a:off x="4840431" y="314689"/>
              <a:ext cx="407315" cy="37661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" name="Rectangle 3">
              <a:extLst>
                <a:ext uri="{FF2B5EF4-FFF2-40B4-BE49-F238E27FC236}">
                  <a16:creationId xmlns:a16="http://schemas.microsoft.com/office/drawing/2014/main" id="{FF295461-58F7-A722-B813-ABE29BD630CA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5298546" y="207541"/>
              <a:ext cx="4472270" cy="523226"/>
            </a:xfrm>
            <a:prstGeom prst="rect">
              <a:avLst/>
            </a:prstGeom>
            <a:noFill/>
          </p:spPr>
          <p:txBody>
            <a:bodyPr lIns="90488" tIns="44450" rIns="90488" bIns="44450"/>
            <a:lstStyle>
              <a:lvl1pPr marL="171450" indent="-17145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1pPr>
              <a:lvl2pPr marL="5143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8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2pPr>
              <a:lvl3pPr marL="8572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3pPr>
              <a:lvl4pPr marL="12001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4pPr>
              <a:lvl5pPr marL="15430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fontAlgn="base">
                <a:lnSpc>
                  <a:spcPct val="100000"/>
                </a:lnSpc>
                <a:buNone/>
              </a:pPr>
              <a:r>
                <a:rPr lang="en-US" altLang="zh-CN" sz="3200" dirty="0">
                  <a:latin typeface="Times New Roman" panose="02020603050405020304" pitchFamily="18" charset="0"/>
                  <a:ea typeface="楷体" panose="02010609060101010101" pitchFamily="49" charset="-122"/>
                  <a:sym typeface="+mn-ea"/>
                </a:rPr>
                <a:t>Unity</a:t>
              </a:r>
              <a:r>
                <a:rPr lang="zh-CN" altLang="en-US" sz="3200" dirty="0">
                  <a:latin typeface="Times New Roman" panose="02020603050405020304" pitchFamily="18" charset="0"/>
                  <a:ea typeface="楷体" panose="02010609060101010101" pitchFamily="49" charset="-122"/>
                  <a:sym typeface="+mn-ea"/>
                </a:rPr>
                <a:t>中的重要变量类型 </a:t>
              </a:r>
            </a:p>
          </p:txBody>
        </p:sp>
      </p:grp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70A3E7EC-4ED7-1982-A83A-5C59BF5194CE}"/>
              </a:ext>
            </a:extLst>
          </p:cNvPr>
          <p:cNvSpPr/>
          <p:nvPr/>
        </p:nvSpPr>
        <p:spPr>
          <a:xfrm>
            <a:off x="606636" y="1171726"/>
            <a:ext cx="10978728" cy="609639"/>
          </a:xfrm>
          <a:prstGeom prst="roundRect">
            <a:avLst>
              <a:gd name="adj" fmla="val 3791"/>
            </a:avLst>
          </a:prstGeom>
          <a:gradFill>
            <a:gsLst>
              <a:gs pos="0">
                <a:srgbClr val="7030A0">
                  <a:alpha val="5000"/>
                </a:srgbClr>
              </a:gs>
              <a:gs pos="100000">
                <a:srgbClr val="00B0F0">
                  <a:alpha val="5000"/>
                </a:srgbClr>
              </a:gs>
            </a:gsLst>
            <a:lin ang="13500000" scaled="1"/>
          </a:gradFill>
          <a:ln>
            <a:gradFill>
              <a:gsLst>
                <a:gs pos="0">
                  <a:srgbClr val="0070C0"/>
                </a:gs>
                <a:gs pos="100000">
                  <a:srgbClr val="7030A0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108000" rtlCol="0" anchor="ctr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2400" b="1" dirty="0">
                <a:solidFill>
                  <a:srgbClr val="A7357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宋体" panose="02010600030101010101" pitchFamily="2" charset="-122"/>
                <a:sym typeface="+mn-ea"/>
              </a:rPr>
              <a:t>GameObject: </a:t>
            </a:r>
            <a:r>
              <a:rPr lang="zh-CN" altLang="en-US" sz="2400" b="1" dirty="0">
                <a:solidFill>
                  <a:srgbClr val="A7357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宋体" panose="02010600030101010101" pitchFamily="2" charset="-122"/>
                <a:sym typeface="+mn-ea"/>
              </a:rPr>
              <a:t>场景中任意对象的类型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F9B48223-462A-FD0E-746C-338416640082}"/>
              </a:ext>
            </a:extLst>
          </p:cNvPr>
          <p:cNvSpPr/>
          <p:nvPr/>
        </p:nvSpPr>
        <p:spPr>
          <a:xfrm>
            <a:off x="606635" y="1876736"/>
            <a:ext cx="10978729" cy="4464212"/>
          </a:xfrm>
          <a:prstGeom prst="roundRect">
            <a:avLst>
              <a:gd name="adj" fmla="val 1731"/>
            </a:avLst>
          </a:prstGeom>
          <a:gradFill>
            <a:gsLst>
              <a:gs pos="0">
                <a:srgbClr val="7030A0">
                  <a:alpha val="5000"/>
                </a:srgbClr>
              </a:gs>
              <a:gs pos="100000">
                <a:srgbClr val="00B0F0">
                  <a:alpha val="5000"/>
                </a:srgbClr>
              </a:gs>
            </a:gsLst>
            <a:lin ang="13500000" scaled="1"/>
          </a:gradFill>
          <a:ln>
            <a:gradFill>
              <a:gsLst>
                <a:gs pos="0">
                  <a:srgbClr val="0070C0"/>
                </a:gs>
                <a:gs pos="100000">
                  <a:srgbClr val="7030A0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108000" rtlCol="0" anchor="ctr">
            <a:noAutofit/>
          </a:bodyPr>
          <a:lstStyle/>
          <a:p>
            <a:pPr marL="839788" lvl="1" indent="-342900">
              <a:spcBef>
                <a:spcPts val="1100"/>
              </a:spcBef>
              <a:buFont typeface="Wingdings" panose="05000000000000000000" pitchFamily="2" charset="2"/>
              <a:buChar char="l"/>
            </a:pPr>
            <a:r>
              <a:rPr lang="zh-CN" altLang="en-US" sz="2200" b="1" dirty="0">
                <a:solidFill>
                  <a:srgbClr val="A7357F"/>
                </a:solidFill>
              </a:rPr>
              <a:t>由</a:t>
            </a:r>
            <a:r>
              <a:rPr lang="en-US" altLang="zh-CN" sz="2200" b="1" dirty="0" err="1">
                <a:solidFill>
                  <a:srgbClr val="A7357F"/>
                </a:solidFill>
              </a:rPr>
              <a:t>组件构成</a:t>
            </a:r>
            <a:endParaRPr lang="en-US" altLang="zh-CN" sz="2200" b="1" dirty="0">
              <a:solidFill>
                <a:srgbClr val="A7357F"/>
              </a:solidFill>
            </a:endParaRPr>
          </a:p>
          <a:p>
            <a:pPr marL="0" lvl="2" indent="0">
              <a:spcBef>
                <a:spcPts val="700"/>
              </a:spcBef>
              <a:buNone/>
            </a:pPr>
            <a:r>
              <a:rPr lang="en-US" altLang="zh-CN" sz="18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	</a:t>
            </a:r>
            <a:r>
              <a:rPr lang="en-US" altLang="zh-CN" sz="1800" b="1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GameObject go = new GameObject("</a:t>
            </a:r>
            <a:r>
              <a:rPr lang="en-US" altLang="zh-CN" sz="1800" b="1" dirty="0" err="1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MyGO</a:t>
            </a:r>
            <a:r>
              <a:rPr lang="en-US" altLang="zh-CN" sz="1800" b="1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");</a:t>
            </a:r>
          </a:p>
          <a:p>
            <a:pPr marL="839788" lvl="1" indent="-342900">
              <a:spcBef>
                <a:spcPts val="1100"/>
              </a:spcBef>
              <a:buFont typeface="Wingdings" panose="05000000000000000000" pitchFamily="2" charset="2"/>
              <a:buChar char="l"/>
            </a:pPr>
            <a:r>
              <a:rPr lang="zh-CN" altLang="en-US" sz="2200" b="1" dirty="0">
                <a:solidFill>
                  <a:srgbClr val="A7357F"/>
                </a:solidFill>
              </a:rPr>
              <a:t>始终具有一个变换组件</a:t>
            </a:r>
            <a:endParaRPr lang="en-US" altLang="zh-CN" sz="2200" b="1" dirty="0">
              <a:solidFill>
                <a:srgbClr val="A7357F"/>
              </a:solidFill>
            </a:endParaRPr>
          </a:p>
          <a:p>
            <a:pPr marL="839788" lvl="1" indent="-342900">
              <a:spcBef>
                <a:spcPts val="1100"/>
              </a:spcBef>
              <a:buFont typeface="Wingdings" panose="05000000000000000000" pitchFamily="2" charset="2"/>
              <a:buChar char="l"/>
            </a:pPr>
            <a:r>
              <a:rPr lang="en-US" altLang="zh-CN" sz="2200" b="1" dirty="0" err="1">
                <a:solidFill>
                  <a:srgbClr val="A7357F"/>
                </a:solidFill>
                <a:sym typeface="Geneva" pitchFamily="125" charset="-128"/>
              </a:rPr>
              <a:t>静态类变量和函数</a:t>
            </a:r>
            <a:endParaRPr lang="en-US" altLang="zh-CN" sz="2200" b="1" dirty="0">
              <a:solidFill>
                <a:srgbClr val="A7357F"/>
              </a:solidFill>
            </a:endParaRPr>
          </a:p>
          <a:p>
            <a:pPr marL="0" lvl="2" indent="0">
              <a:spcBef>
                <a:spcPts val="700"/>
              </a:spcBef>
              <a:buNone/>
            </a:pPr>
            <a:r>
              <a:rPr lang="en-US" altLang="zh-CN" b="1" dirty="0">
                <a:solidFill>
                  <a:srgbClr val="000000"/>
                </a:solidFill>
                <a:latin typeface="+mj-lt"/>
              </a:rPr>
              <a:t>	</a:t>
            </a:r>
            <a:r>
              <a:rPr lang="en-US" altLang="zh-CN" b="1" dirty="0">
                <a:solidFill>
                  <a:srgbClr val="000000"/>
                </a:solidFill>
                <a:latin typeface="+mj-lt"/>
                <a:sym typeface="Courier" pitchFamily="125" charset="0"/>
              </a:rPr>
              <a:t>go.name				</a:t>
            </a:r>
            <a:r>
              <a:rPr lang="en-US" altLang="zh-CN" b="1" dirty="0">
                <a:solidFill>
                  <a:srgbClr val="000000"/>
                </a:solidFill>
                <a:latin typeface="+mj-lt"/>
              </a:rPr>
              <a:t>// </a:t>
            </a:r>
            <a:r>
              <a:rPr lang="zh-CN" altLang="en-US" b="1" dirty="0">
                <a:solidFill>
                  <a:srgbClr val="000000"/>
                </a:solidFill>
                <a:latin typeface="+mj-lt"/>
              </a:rPr>
              <a:t>游戏对象</a:t>
            </a:r>
            <a:r>
              <a:rPr lang="en-US" altLang="zh-CN" b="1" dirty="0">
                <a:solidFill>
                  <a:srgbClr val="000000"/>
                </a:solidFill>
                <a:latin typeface="+mj-lt"/>
              </a:rPr>
              <a:t>go</a:t>
            </a:r>
            <a:r>
              <a:rPr lang="zh-CN" altLang="en-US" b="1" dirty="0">
                <a:solidFill>
                  <a:srgbClr val="000000"/>
                </a:solidFill>
                <a:latin typeface="+mj-lt"/>
              </a:rPr>
              <a:t>的名称</a:t>
            </a:r>
            <a:r>
              <a:rPr lang="en-US" altLang="zh-CN" b="1" dirty="0">
                <a:solidFill>
                  <a:srgbClr val="000000"/>
                </a:solidFill>
                <a:latin typeface="+mj-lt"/>
              </a:rPr>
              <a:t>(</a:t>
            </a:r>
            <a:r>
              <a:rPr lang="en-US" altLang="zh-CN" b="1" dirty="0">
                <a:solidFill>
                  <a:srgbClr val="000000"/>
                </a:solidFill>
                <a:latin typeface="+mj-lt"/>
                <a:sym typeface="Courier" pitchFamily="125" charset="0"/>
              </a:rPr>
              <a:t>"</a:t>
            </a:r>
            <a:r>
              <a:rPr lang="en-US" altLang="zh-CN" b="1" dirty="0" err="1">
                <a:solidFill>
                  <a:srgbClr val="000000"/>
                </a:solidFill>
                <a:latin typeface="+mj-lt"/>
                <a:sym typeface="Courier" pitchFamily="125" charset="0"/>
              </a:rPr>
              <a:t>MyGO</a:t>
            </a:r>
            <a:r>
              <a:rPr lang="en-US" altLang="zh-CN" b="1" dirty="0">
                <a:solidFill>
                  <a:srgbClr val="000000"/>
                </a:solidFill>
                <a:latin typeface="+mj-lt"/>
                <a:sym typeface="Courier" pitchFamily="125" charset="0"/>
              </a:rPr>
              <a:t>"</a:t>
            </a:r>
            <a:r>
              <a:rPr lang="en-US" altLang="zh-CN" b="1" dirty="0">
                <a:solidFill>
                  <a:srgbClr val="000000"/>
                </a:solidFill>
                <a:latin typeface="+mj-lt"/>
              </a:rPr>
              <a:t>)</a:t>
            </a:r>
          </a:p>
          <a:p>
            <a:pPr marL="0" lvl="2" indent="0">
              <a:spcBef>
                <a:spcPts val="700"/>
              </a:spcBef>
              <a:buNone/>
            </a:pPr>
            <a:r>
              <a:rPr lang="en-US" altLang="zh-CN" b="1" dirty="0">
                <a:solidFill>
                  <a:srgbClr val="000000"/>
                </a:solidFill>
                <a:latin typeface="+mj-lt"/>
              </a:rPr>
              <a:t>	</a:t>
            </a:r>
            <a:r>
              <a:rPr lang="en-US" altLang="zh-CN" b="1" dirty="0" err="1">
                <a:solidFill>
                  <a:srgbClr val="000000"/>
                </a:solidFill>
                <a:latin typeface="+mj-lt"/>
                <a:sym typeface="Courier" pitchFamily="125" charset="0"/>
              </a:rPr>
              <a:t>go.GetComponent</a:t>
            </a:r>
            <a:r>
              <a:rPr lang="en-US" altLang="zh-CN" b="1" dirty="0">
                <a:solidFill>
                  <a:srgbClr val="000000"/>
                </a:solidFill>
                <a:latin typeface="+mj-lt"/>
                <a:sym typeface="Courier" pitchFamily="125" charset="0"/>
              </a:rPr>
              <a:t>&lt;Transform&gt;()   	</a:t>
            </a:r>
            <a:r>
              <a:rPr lang="en-US" altLang="zh-CN" b="1" dirty="0">
                <a:solidFill>
                  <a:srgbClr val="000000"/>
                </a:solidFill>
                <a:latin typeface="+mj-lt"/>
              </a:rPr>
              <a:t>// </a:t>
            </a:r>
            <a:r>
              <a:rPr lang="zh-CN" altLang="en-US" b="1" dirty="0">
                <a:solidFill>
                  <a:srgbClr val="000000"/>
                </a:solidFill>
                <a:latin typeface="+mj-lt"/>
              </a:rPr>
              <a:t>访问对象的变换组件</a:t>
            </a:r>
            <a:endParaRPr lang="en-US" altLang="zh-CN" b="1" dirty="0">
              <a:solidFill>
                <a:srgbClr val="000000"/>
              </a:solidFill>
              <a:latin typeface="+mj-lt"/>
            </a:endParaRPr>
          </a:p>
          <a:p>
            <a:pPr marL="0" lvl="2" indent="0">
              <a:spcBef>
                <a:spcPts val="700"/>
              </a:spcBef>
              <a:buNone/>
            </a:pPr>
            <a:r>
              <a:rPr lang="en-US" altLang="zh-CN" b="1" dirty="0">
                <a:solidFill>
                  <a:srgbClr val="000000"/>
                </a:solidFill>
                <a:latin typeface="+mj-lt"/>
              </a:rPr>
              <a:t>	</a:t>
            </a:r>
            <a:r>
              <a:rPr lang="en-US" altLang="zh-CN" b="1" dirty="0" err="1">
                <a:solidFill>
                  <a:srgbClr val="000000"/>
                </a:solidFill>
                <a:latin typeface="+mj-lt"/>
                <a:sym typeface="Courier" pitchFamily="125" charset="0"/>
              </a:rPr>
              <a:t>go.transform</a:t>
            </a:r>
            <a:r>
              <a:rPr lang="en-US" altLang="zh-CN" b="1" dirty="0">
                <a:solidFill>
                  <a:srgbClr val="000000"/>
                </a:solidFill>
                <a:latin typeface="+mj-lt"/>
                <a:sym typeface="Courier" pitchFamily="125" charset="0"/>
              </a:rPr>
              <a:t>		  		</a:t>
            </a:r>
            <a:r>
              <a:rPr lang="en-US" altLang="zh-CN" b="1" dirty="0">
                <a:solidFill>
                  <a:srgbClr val="000000"/>
                </a:solidFill>
                <a:latin typeface="+mj-lt"/>
              </a:rPr>
              <a:t>// </a:t>
            </a:r>
            <a:r>
              <a:rPr lang="zh-CN" altLang="en-US" b="1" dirty="0">
                <a:solidFill>
                  <a:srgbClr val="000000"/>
                </a:solidFill>
                <a:latin typeface="+mj-lt"/>
              </a:rPr>
              <a:t>访问同一个变换组件</a:t>
            </a:r>
            <a:endParaRPr lang="en-US" altLang="zh-CN" b="1" dirty="0">
              <a:solidFill>
                <a:srgbClr val="000000"/>
              </a:solidFill>
              <a:latin typeface="+mj-lt"/>
            </a:endParaRPr>
          </a:p>
          <a:p>
            <a:pPr marL="0" lvl="2" indent="0">
              <a:spcBef>
                <a:spcPts val="700"/>
              </a:spcBef>
              <a:buNone/>
            </a:pPr>
            <a:r>
              <a:rPr lang="en-US" altLang="zh-CN" b="1" dirty="0">
                <a:solidFill>
                  <a:srgbClr val="000000"/>
                </a:solidFill>
                <a:latin typeface="+mj-lt"/>
              </a:rPr>
              <a:t>	</a:t>
            </a:r>
            <a:r>
              <a:rPr lang="en-US" altLang="zh-CN" b="1" dirty="0" err="1">
                <a:solidFill>
                  <a:srgbClr val="000000"/>
                </a:solidFill>
                <a:latin typeface="+mj-lt"/>
                <a:sym typeface="Courier" pitchFamily="125" charset="0"/>
              </a:rPr>
              <a:t>go.SetActive</a:t>
            </a:r>
            <a:r>
              <a:rPr lang="en-US" altLang="zh-CN" b="1" dirty="0">
                <a:solidFill>
                  <a:srgbClr val="000000"/>
                </a:solidFill>
                <a:latin typeface="+mj-lt"/>
                <a:sym typeface="Courier" pitchFamily="125" charset="0"/>
              </a:rPr>
              <a:t>(false)	</a:t>
            </a:r>
            <a:r>
              <a:rPr lang="en-US" altLang="zh-CN" b="1" dirty="0">
                <a:solidFill>
                  <a:srgbClr val="000000"/>
                </a:solidFill>
                <a:latin typeface="+mj-lt"/>
              </a:rPr>
              <a:t>    	   	// </a:t>
            </a:r>
            <a:r>
              <a:rPr lang="zh-CN" altLang="en-US" b="1" dirty="0">
                <a:solidFill>
                  <a:srgbClr val="000000"/>
                </a:solidFill>
                <a:latin typeface="+mj-lt"/>
              </a:rPr>
              <a:t>让</a:t>
            </a:r>
            <a:r>
              <a:rPr lang="en-US" altLang="zh-CN" b="1" dirty="0">
                <a:solidFill>
                  <a:srgbClr val="000000"/>
                </a:solidFill>
                <a:latin typeface="+mj-lt"/>
              </a:rPr>
              <a:t>go</a:t>
            </a:r>
            <a:r>
              <a:rPr lang="zh-CN" altLang="en-US" b="1" dirty="0">
                <a:solidFill>
                  <a:srgbClr val="000000"/>
                </a:solidFill>
                <a:latin typeface="+mj-lt"/>
              </a:rPr>
              <a:t>失去焦点，变为不可见，使其不可运行代码</a:t>
            </a:r>
            <a:endParaRPr lang="en-US" altLang="zh-CN" b="1" dirty="0">
              <a:solidFill>
                <a:srgbClr val="000000"/>
              </a:solidFill>
              <a:latin typeface="+mj-lt"/>
            </a:endParaRPr>
          </a:p>
          <a:p>
            <a:pPr marL="0" lvl="2" indent="0">
              <a:spcBef>
                <a:spcPts val="700"/>
              </a:spcBef>
              <a:buNone/>
            </a:pPr>
            <a:r>
              <a:rPr lang="en-US" altLang="zh-CN" b="1" dirty="0">
                <a:solidFill>
                  <a:srgbClr val="000000"/>
                </a:solidFill>
                <a:latin typeface="+mj-lt"/>
              </a:rPr>
              <a:t>	</a:t>
            </a:r>
            <a:r>
              <a:rPr lang="en-US" altLang="zh-CN" b="1" dirty="0" err="1">
                <a:solidFill>
                  <a:srgbClr val="000000"/>
                </a:solidFill>
                <a:latin typeface="+mj-lt"/>
              </a:rPr>
              <a:t>GetComponent</a:t>
            </a:r>
            <a:r>
              <a:rPr lang="en-US" altLang="zh-CN" b="1" dirty="0">
                <a:solidFill>
                  <a:srgbClr val="000000"/>
                </a:solidFill>
                <a:latin typeface="+mj-lt"/>
              </a:rPr>
              <a:t>&lt;&gt;()</a:t>
            </a:r>
            <a:r>
              <a:rPr lang="zh-CN" altLang="en-US" b="1" dirty="0">
                <a:solidFill>
                  <a:srgbClr val="000000"/>
                </a:solidFill>
                <a:latin typeface="+mj-lt"/>
              </a:rPr>
              <a:t>是一种泛型方法，可以用来访问游戏对象所绑定的组件</a:t>
            </a:r>
            <a:endParaRPr lang="en-US" altLang="zh-CN" b="1" dirty="0">
              <a:solidFill>
                <a:srgbClr val="000000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560976756"/>
      </p:ext>
    </p:extLst>
  </p:cSld>
  <p:clrMapOvr>
    <a:masterClrMapping/>
  </p:clrMapOvr>
  <p:transition spd="med"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6" name="Picture 6" descr="f19.01_GameObject Components.png">
            <a:extLst>
              <a:ext uri="{FF2B5EF4-FFF2-40B4-BE49-F238E27FC236}">
                <a16:creationId xmlns:a16="http://schemas.microsoft.com/office/drawing/2014/main" id="{7A53E22C-4351-E1C9-1E52-AA37A38C95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3723" y="950399"/>
            <a:ext cx="5548313" cy="513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6" name="组合 5">
            <a:extLst>
              <a:ext uri="{FF2B5EF4-FFF2-40B4-BE49-F238E27FC236}">
                <a16:creationId xmlns:a16="http://schemas.microsoft.com/office/drawing/2014/main" id="{5B38F91B-341C-0D62-D975-0F830A6FAFE4}"/>
              </a:ext>
            </a:extLst>
          </p:cNvPr>
          <p:cNvGrpSpPr/>
          <p:nvPr/>
        </p:nvGrpSpPr>
        <p:grpSpPr>
          <a:xfrm>
            <a:off x="3834464" y="251474"/>
            <a:ext cx="4523073" cy="523226"/>
            <a:chOff x="4840431" y="207541"/>
            <a:chExt cx="4523073" cy="523226"/>
          </a:xfrm>
        </p:grpSpPr>
        <p:pic>
          <p:nvPicPr>
            <p:cNvPr id="7" name="Picture 4" descr="黑爵(AJAZZ)手柄/方向盘AG180报价_参数_图片_视频_怎么样_问答-苏宁易购">
              <a:extLst>
                <a:ext uri="{FF2B5EF4-FFF2-40B4-BE49-F238E27FC236}">
                  <a16:creationId xmlns:a16="http://schemas.microsoft.com/office/drawing/2014/main" id="{E225276A-13F0-ACF4-5603-832338BE3C9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45" t="9275" r="3752" b="5379"/>
            <a:stretch/>
          </p:blipFill>
          <p:spPr bwMode="auto">
            <a:xfrm>
              <a:off x="4840431" y="314689"/>
              <a:ext cx="407315" cy="37661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" name="Rectangle 3">
              <a:extLst>
                <a:ext uri="{FF2B5EF4-FFF2-40B4-BE49-F238E27FC236}">
                  <a16:creationId xmlns:a16="http://schemas.microsoft.com/office/drawing/2014/main" id="{79B95A6D-EFA6-B0BB-5EED-971CDB2E1E45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5298546" y="207541"/>
              <a:ext cx="4064958" cy="523226"/>
            </a:xfrm>
            <a:prstGeom prst="rect">
              <a:avLst/>
            </a:prstGeom>
            <a:noFill/>
          </p:spPr>
          <p:txBody>
            <a:bodyPr lIns="90488" tIns="44450" rIns="90488" bIns="44450"/>
            <a:lstStyle>
              <a:lvl1pPr marL="171450" indent="-17145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1pPr>
              <a:lvl2pPr marL="5143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8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2pPr>
              <a:lvl3pPr marL="8572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3pPr>
              <a:lvl4pPr marL="12001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4pPr>
              <a:lvl5pPr marL="15430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fontAlgn="base">
                <a:lnSpc>
                  <a:spcPct val="100000"/>
                </a:lnSpc>
                <a:buNone/>
              </a:pPr>
              <a:r>
                <a:rPr lang="en-US" altLang="zh-CN" sz="3200" dirty="0">
                  <a:latin typeface="Times New Roman" panose="02020603050405020304" pitchFamily="18" charset="0"/>
                  <a:ea typeface="楷体" panose="02010609060101010101" pitchFamily="49" charset="-122"/>
                  <a:sym typeface="+mn-ea"/>
                </a:rPr>
                <a:t>Unity</a:t>
              </a:r>
              <a:r>
                <a:rPr lang="zh-CN" altLang="en-US" sz="3200" dirty="0">
                  <a:latin typeface="Times New Roman" panose="02020603050405020304" pitchFamily="18" charset="0"/>
                  <a:ea typeface="楷体" panose="02010609060101010101" pitchFamily="49" charset="-122"/>
                  <a:sym typeface="+mn-ea"/>
                </a:rPr>
                <a:t>游戏对象和组件</a:t>
              </a:r>
            </a:p>
          </p:txBody>
        </p:sp>
      </p:grp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35F53600-E19F-2E4D-09C5-88FA1A56FDA9}"/>
              </a:ext>
            </a:extLst>
          </p:cNvPr>
          <p:cNvSpPr/>
          <p:nvPr/>
        </p:nvSpPr>
        <p:spPr>
          <a:xfrm>
            <a:off x="4088922" y="6214879"/>
            <a:ext cx="4583114" cy="475482"/>
          </a:xfrm>
          <a:prstGeom prst="roundRect">
            <a:avLst>
              <a:gd name="adj" fmla="val 3791"/>
            </a:avLst>
          </a:prstGeom>
          <a:gradFill>
            <a:gsLst>
              <a:gs pos="0">
                <a:srgbClr val="7030A0">
                  <a:alpha val="5000"/>
                </a:srgbClr>
              </a:gs>
              <a:gs pos="100000">
                <a:srgbClr val="00B0F0">
                  <a:alpha val="5000"/>
                </a:srgbClr>
              </a:gs>
            </a:gsLst>
            <a:lin ang="13500000" scaled="1"/>
          </a:gradFill>
          <a:ln>
            <a:gradFill>
              <a:gsLst>
                <a:gs pos="0">
                  <a:srgbClr val="0070C0"/>
                </a:gs>
                <a:gs pos="100000">
                  <a:srgbClr val="7030A0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108000" rtlCol="0" anchor="ctr">
            <a:no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000" b="1" dirty="0">
                <a:solidFill>
                  <a:srgbClr val="A7357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宋体" panose="02010600030101010101" pitchFamily="2" charset="-122"/>
                <a:sym typeface="+mn-ea"/>
              </a:rPr>
              <a:t>游戏对象由组件构成</a:t>
            </a:r>
          </a:p>
        </p:txBody>
      </p:sp>
    </p:spTree>
  </p:cSld>
  <p:clrMapOvr>
    <a:masterClrMapping/>
  </p:clrMapOvr>
  <p:transition spd="med"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487502F3-93D1-7DDC-0B34-A5A0DA4962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: 圆角 3">
            <a:extLst>
              <a:ext uri="{FF2B5EF4-FFF2-40B4-BE49-F238E27FC236}">
                <a16:creationId xmlns:a16="http://schemas.microsoft.com/office/drawing/2014/main" id="{E909D99C-81A5-726A-72FE-F80C2CE6B6C0}"/>
              </a:ext>
            </a:extLst>
          </p:cNvPr>
          <p:cNvSpPr/>
          <p:nvPr/>
        </p:nvSpPr>
        <p:spPr>
          <a:xfrm>
            <a:off x="2336045" y="1065708"/>
            <a:ext cx="7901260" cy="609639"/>
          </a:xfrm>
          <a:prstGeom prst="roundRect">
            <a:avLst>
              <a:gd name="adj" fmla="val 3791"/>
            </a:avLst>
          </a:prstGeom>
          <a:gradFill>
            <a:gsLst>
              <a:gs pos="0">
                <a:srgbClr val="7030A0">
                  <a:alpha val="5000"/>
                </a:srgbClr>
              </a:gs>
              <a:gs pos="100000">
                <a:srgbClr val="00B0F0">
                  <a:alpha val="5000"/>
                </a:srgbClr>
              </a:gs>
            </a:gsLst>
            <a:lin ang="13500000" scaled="1"/>
          </a:gradFill>
          <a:ln>
            <a:gradFill>
              <a:gsLst>
                <a:gs pos="0">
                  <a:srgbClr val="0070C0"/>
                </a:gs>
                <a:gs pos="100000">
                  <a:srgbClr val="7030A0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108000" rtlCol="0" anchor="ctr">
            <a:no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400" b="1" dirty="0">
                <a:solidFill>
                  <a:srgbClr val="A7357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宋体" panose="02010600030101010101" pitchFamily="2" charset="-122"/>
                <a:sym typeface="+mn-ea"/>
              </a:rPr>
              <a:t>变换组件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C0556A08-9882-D4A6-FF49-FE98FFA370FB}"/>
              </a:ext>
            </a:extLst>
          </p:cNvPr>
          <p:cNvSpPr/>
          <p:nvPr/>
        </p:nvSpPr>
        <p:spPr>
          <a:xfrm>
            <a:off x="2336044" y="1770718"/>
            <a:ext cx="7901261" cy="4835808"/>
          </a:xfrm>
          <a:prstGeom prst="roundRect">
            <a:avLst>
              <a:gd name="adj" fmla="val 1731"/>
            </a:avLst>
          </a:prstGeom>
          <a:gradFill>
            <a:gsLst>
              <a:gs pos="0">
                <a:srgbClr val="7030A0">
                  <a:alpha val="5000"/>
                </a:srgbClr>
              </a:gs>
              <a:gs pos="100000">
                <a:srgbClr val="00B0F0">
                  <a:alpha val="5000"/>
                </a:srgbClr>
              </a:gs>
            </a:gsLst>
            <a:lin ang="13500000" scaled="1"/>
          </a:gradFill>
          <a:ln>
            <a:gradFill>
              <a:gsLst>
                <a:gs pos="0">
                  <a:srgbClr val="0070C0"/>
                </a:gs>
                <a:gs pos="100000">
                  <a:srgbClr val="7030A0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108000" rtlCol="0" anchor="ctr">
            <a:noAutofit/>
          </a:bodyPr>
          <a:lstStyle/>
          <a:p>
            <a:pPr marL="839788" lvl="1" indent="-342900">
              <a:spcBef>
                <a:spcPts val="1100"/>
              </a:spcBef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A7357F"/>
                </a:solidFill>
              </a:rPr>
              <a:t>控制定位、旋转和缩放</a:t>
            </a:r>
            <a:endParaRPr lang="en-US" altLang="zh-CN" sz="1800" b="1" dirty="0">
              <a:solidFill>
                <a:srgbClr val="A7357F"/>
              </a:solidFill>
            </a:endParaRPr>
          </a:p>
          <a:p>
            <a:pPr marL="0" lvl="2" indent="0">
              <a:spcBef>
                <a:spcPts val="700"/>
              </a:spcBef>
              <a:buNone/>
            </a:pPr>
            <a:r>
              <a:rPr lang="en-US" altLang="zh-CN" sz="18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	</a:t>
            </a:r>
            <a:r>
              <a:rPr lang="en-US" altLang="zh-CN" sz="1800" b="1" dirty="0">
                <a:solidFill>
                  <a:srgbClr val="000000"/>
                </a:solidFill>
                <a:latin typeface="+mj-lt"/>
                <a:sym typeface="Courier" pitchFamily="125" charset="0"/>
              </a:rPr>
              <a:t>Transform tr = </a:t>
            </a:r>
            <a:r>
              <a:rPr lang="en-US" altLang="zh-CN" sz="1800" b="1" dirty="0" err="1">
                <a:solidFill>
                  <a:srgbClr val="000000"/>
                </a:solidFill>
                <a:latin typeface="+mj-lt"/>
                <a:sym typeface="Courier" pitchFamily="125" charset="0"/>
              </a:rPr>
              <a:t>go.GetComponent</a:t>
            </a:r>
            <a:r>
              <a:rPr lang="en-US" altLang="zh-CN" sz="1800" b="1" dirty="0">
                <a:solidFill>
                  <a:srgbClr val="000000"/>
                </a:solidFill>
                <a:latin typeface="+mj-lt"/>
                <a:sym typeface="Courier" pitchFamily="125" charset="0"/>
              </a:rPr>
              <a:t>&lt;Transform&gt;();</a:t>
            </a:r>
            <a:endParaRPr lang="en-US" altLang="zh-CN" b="1" dirty="0">
              <a:solidFill>
                <a:srgbClr val="000000"/>
              </a:solidFill>
              <a:latin typeface="+mj-lt"/>
            </a:endParaRPr>
          </a:p>
          <a:p>
            <a:pPr marL="839788" lvl="1" indent="-342900">
              <a:spcBef>
                <a:spcPts val="1100"/>
              </a:spcBef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A7357F"/>
                </a:solidFill>
              </a:rPr>
              <a:t>也负责着层级面板中的父子关系</a:t>
            </a:r>
            <a:endParaRPr lang="en-US" altLang="zh-CN" sz="2000" b="1" dirty="0">
              <a:solidFill>
                <a:srgbClr val="A7357F"/>
              </a:solidFill>
            </a:endParaRPr>
          </a:p>
          <a:p>
            <a:pPr marL="0" lvl="2">
              <a:spcBef>
                <a:spcPts val="700"/>
              </a:spcBef>
            </a:pPr>
            <a:r>
              <a:rPr lang="en-US" altLang="zh-CN" sz="1800" dirty="0">
                <a:solidFill>
                  <a:srgbClr val="000000"/>
                </a:solidFill>
              </a:rPr>
              <a:t>	</a:t>
            </a:r>
            <a:r>
              <a:rPr lang="en-US" altLang="zh-CN" b="1" dirty="0" err="1">
                <a:solidFill>
                  <a:srgbClr val="000000"/>
                </a:solidFill>
                <a:latin typeface="+mj-lt"/>
                <a:sym typeface="Courier" pitchFamily="125" charset="0"/>
              </a:rPr>
              <a:t>tr.parent</a:t>
            </a:r>
            <a:r>
              <a:rPr lang="en-US" altLang="zh-CN" b="1" dirty="0">
                <a:solidFill>
                  <a:srgbClr val="000000"/>
                </a:solidFill>
                <a:latin typeface="+mj-lt"/>
                <a:sym typeface="Courier" pitchFamily="125" charset="0"/>
              </a:rPr>
              <a:t>		</a:t>
            </a:r>
            <a:r>
              <a:rPr lang="en-US" altLang="zh-CN" b="1" dirty="0">
                <a:solidFill>
                  <a:srgbClr val="000000"/>
                </a:solidFill>
                <a:latin typeface="+mj-lt"/>
              </a:rPr>
              <a:t>// </a:t>
            </a:r>
            <a:r>
              <a:rPr lang="zh-CN" altLang="en-US" b="1" dirty="0">
                <a:solidFill>
                  <a:srgbClr val="000000"/>
                </a:solidFill>
                <a:latin typeface="+mj-lt"/>
              </a:rPr>
              <a:t>该变换在层级中的父级</a:t>
            </a:r>
            <a:endParaRPr lang="en-US" altLang="zh-CN" b="1" dirty="0">
              <a:solidFill>
                <a:srgbClr val="000000"/>
              </a:solidFill>
              <a:latin typeface="+mj-lt"/>
            </a:endParaRPr>
          </a:p>
          <a:p>
            <a:pPr marL="839788" lvl="1" indent="-342900">
              <a:spcBef>
                <a:spcPts val="1100"/>
              </a:spcBef>
              <a:buFont typeface="Wingdings" panose="05000000000000000000" pitchFamily="2" charset="2"/>
              <a:buChar char="l"/>
            </a:pPr>
            <a:r>
              <a:rPr lang="en-US" altLang="zh-CN" sz="2000" b="1" dirty="0" err="1">
                <a:solidFill>
                  <a:srgbClr val="A7357F"/>
                </a:solidFill>
              </a:rPr>
              <a:t>子对象可以通过</a:t>
            </a:r>
            <a:r>
              <a:rPr lang="en-US" altLang="zh-CN" sz="2000" b="1" dirty="0">
                <a:solidFill>
                  <a:srgbClr val="A7357F"/>
                </a:solidFill>
              </a:rPr>
              <a:t> foreach </a:t>
            </a:r>
            <a:r>
              <a:rPr lang="en-US" altLang="zh-CN" sz="2000" b="1" dirty="0" err="1">
                <a:solidFill>
                  <a:srgbClr val="A7357F"/>
                </a:solidFill>
              </a:rPr>
              <a:t>循环进行迭代</a:t>
            </a:r>
            <a:endParaRPr lang="en-US" altLang="zh-CN" sz="2000" b="1" dirty="0">
              <a:solidFill>
                <a:srgbClr val="A7357F"/>
              </a:solidFill>
            </a:endParaRPr>
          </a:p>
          <a:p>
            <a:pPr marL="0" lvl="2" indent="0">
              <a:spcBef>
                <a:spcPts val="700"/>
              </a:spcBef>
              <a:buNone/>
            </a:pPr>
            <a:r>
              <a:rPr lang="en-US" altLang="zh-CN" b="1" dirty="0">
                <a:solidFill>
                  <a:srgbClr val="000000"/>
                </a:solidFill>
                <a:latin typeface="+mj-lt"/>
              </a:rPr>
              <a:t>	</a:t>
            </a:r>
            <a:r>
              <a:rPr lang="en-US" altLang="zh-CN" b="1" dirty="0">
                <a:solidFill>
                  <a:srgbClr val="000000"/>
                </a:solidFill>
                <a:latin typeface="+mj-lt"/>
                <a:sym typeface="Courier" pitchFamily="125" charset="0"/>
              </a:rPr>
              <a:t>foreach (Transform </a:t>
            </a:r>
            <a:r>
              <a:rPr lang="en-US" altLang="zh-CN" b="1" dirty="0" err="1">
                <a:solidFill>
                  <a:srgbClr val="000000"/>
                </a:solidFill>
                <a:latin typeface="+mj-lt"/>
                <a:sym typeface="Courier" pitchFamily="125" charset="0"/>
              </a:rPr>
              <a:t>tChild</a:t>
            </a:r>
            <a:r>
              <a:rPr lang="en-US" altLang="zh-CN" b="1" dirty="0">
                <a:solidFill>
                  <a:srgbClr val="000000"/>
                </a:solidFill>
                <a:latin typeface="+mj-lt"/>
                <a:sym typeface="Courier" pitchFamily="125" charset="0"/>
              </a:rPr>
              <a:t> in tr) {…}</a:t>
            </a:r>
            <a:endParaRPr lang="en-US" altLang="zh-CN" b="1" dirty="0">
              <a:solidFill>
                <a:srgbClr val="000000"/>
              </a:solidFill>
              <a:latin typeface="+mj-lt"/>
            </a:endParaRPr>
          </a:p>
          <a:p>
            <a:pPr marL="839788" lvl="1" indent="-342900">
              <a:spcBef>
                <a:spcPts val="1100"/>
              </a:spcBef>
              <a:buFont typeface="Wingdings" panose="05000000000000000000" pitchFamily="2" charset="2"/>
              <a:buChar char="l"/>
            </a:pPr>
            <a:r>
              <a:rPr lang="en-US" altLang="zh-CN" sz="2000" b="1" dirty="0" err="1">
                <a:solidFill>
                  <a:srgbClr val="A7357F"/>
                </a:solidFill>
                <a:sym typeface="Geneva" pitchFamily="125" charset="-128"/>
              </a:rPr>
              <a:t>静态类变量和函数</a:t>
            </a:r>
            <a:endParaRPr lang="en-US" altLang="zh-CN" sz="2000" b="1" dirty="0">
              <a:solidFill>
                <a:srgbClr val="A7357F"/>
              </a:solidFill>
            </a:endParaRPr>
          </a:p>
          <a:p>
            <a:pPr marL="0" lvl="2">
              <a:spcBef>
                <a:spcPts val="700"/>
              </a:spcBef>
            </a:pPr>
            <a:r>
              <a:rPr lang="en-US" altLang="zh-CN" b="1" dirty="0">
                <a:solidFill>
                  <a:srgbClr val="000000"/>
                </a:solidFill>
                <a:latin typeface="+mj-lt"/>
              </a:rPr>
              <a:t>	</a:t>
            </a:r>
            <a:r>
              <a:rPr lang="en-US" altLang="zh-CN" b="1" dirty="0" err="1">
                <a:solidFill>
                  <a:srgbClr val="000000"/>
                </a:solidFill>
                <a:latin typeface="+mj-lt"/>
                <a:sym typeface="Courier" pitchFamily="125" charset="0"/>
              </a:rPr>
              <a:t>tr.position</a:t>
            </a:r>
            <a:r>
              <a:rPr lang="en-US" altLang="zh-CN" b="1" dirty="0">
                <a:solidFill>
                  <a:srgbClr val="000000"/>
                </a:solidFill>
                <a:latin typeface="+mj-lt"/>
                <a:sym typeface="Courier" pitchFamily="125" charset="0"/>
              </a:rPr>
              <a:t>		</a:t>
            </a:r>
            <a:r>
              <a:rPr lang="en-US" altLang="zh-CN" b="1" dirty="0">
                <a:solidFill>
                  <a:srgbClr val="000000"/>
                </a:solidFill>
                <a:latin typeface="+mj-lt"/>
              </a:rPr>
              <a:t>// </a:t>
            </a:r>
            <a:r>
              <a:rPr lang="zh-CN" altLang="en-US" b="1" dirty="0">
                <a:solidFill>
                  <a:srgbClr val="000000"/>
                </a:solidFill>
                <a:latin typeface="+mj-lt"/>
              </a:rPr>
              <a:t>世界坐标中的位置</a:t>
            </a:r>
            <a:endParaRPr lang="en-US" altLang="zh-CN" b="1" dirty="0">
              <a:solidFill>
                <a:srgbClr val="000000"/>
              </a:solidFill>
              <a:latin typeface="+mj-lt"/>
            </a:endParaRPr>
          </a:p>
          <a:p>
            <a:pPr marL="0" lvl="2">
              <a:spcBef>
                <a:spcPts val="700"/>
              </a:spcBef>
            </a:pPr>
            <a:r>
              <a:rPr lang="en-US" altLang="zh-CN" b="1" dirty="0">
                <a:solidFill>
                  <a:srgbClr val="000000"/>
                </a:solidFill>
                <a:latin typeface="+mj-lt"/>
              </a:rPr>
              <a:t>	</a:t>
            </a:r>
            <a:r>
              <a:rPr lang="en-US" altLang="zh-CN" b="1" dirty="0" err="1">
                <a:solidFill>
                  <a:srgbClr val="000000"/>
                </a:solidFill>
                <a:latin typeface="+mj-lt"/>
                <a:sym typeface="Courier" pitchFamily="125" charset="0"/>
              </a:rPr>
              <a:t>tr.localPosition</a:t>
            </a:r>
            <a:r>
              <a:rPr lang="en-US" altLang="zh-CN" b="1" dirty="0">
                <a:solidFill>
                  <a:srgbClr val="000000"/>
                </a:solidFill>
                <a:latin typeface="+mj-lt"/>
                <a:sym typeface="Courier" pitchFamily="125" charset="0"/>
              </a:rPr>
              <a:t>	</a:t>
            </a:r>
            <a:r>
              <a:rPr lang="en-US" altLang="zh-CN" b="1" dirty="0">
                <a:solidFill>
                  <a:srgbClr val="000000"/>
                </a:solidFill>
                <a:latin typeface="+mj-lt"/>
              </a:rPr>
              <a:t>// </a:t>
            </a:r>
            <a:r>
              <a:rPr lang="en-US" altLang="zh-CN" b="1" dirty="0" err="1">
                <a:solidFill>
                  <a:srgbClr val="000000"/>
                </a:solidFill>
                <a:latin typeface="+mj-lt"/>
              </a:rPr>
              <a:t>相对于父对象的位置</a:t>
            </a:r>
            <a:endParaRPr lang="en-US" altLang="zh-CN" b="1" dirty="0">
              <a:solidFill>
                <a:srgbClr val="000000"/>
              </a:solidFill>
              <a:latin typeface="+mj-lt"/>
            </a:endParaRPr>
          </a:p>
          <a:p>
            <a:pPr marL="0" lvl="2">
              <a:spcBef>
                <a:spcPts val="700"/>
              </a:spcBef>
            </a:pPr>
            <a:r>
              <a:rPr lang="en-US" altLang="zh-CN" b="1" dirty="0">
                <a:solidFill>
                  <a:srgbClr val="000000"/>
                </a:solidFill>
                <a:latin typeface="+mj-lt"/>
              </a:rPr>
              <a:t>	</a:t>
            </a:r>
            <a:r>
              <a:rPr lang="en-US" altLang="zh-CN" b="1" dirty="0" err="1">
                <a:solidFill>
                  <a:srgbClr val="000000"/>
                </a:solidFill>
                <a:latin typeface="+mj-lt"/>
                <a:sym typeface="Courier" pitchFamily="125" charset="0"/>
              </a:rPr>
              <a:t>tr.rotation</a:t>
            </a:r>
            <a:r>
              <a:rPr lang="en-US" altLang="zh-CN" b="1" dirty="0">
                <a:solidFill>
                  <a:srgbClr val="000000"/>
                </a:solidFill>
                <a:latin typeface="+mj-lt"/>
                <a:sym typeface="Courier" pitchFamily="125" charset="0"/>
              </a:rPr>
              <a:t>   	</a:t>
            </a:r>
            <a:r>
              <a:rPr lang="en-US" altLang="zh-CN" b="1" dirty="0">
                <a:solidFill>
                  <a:srgbClr val="000000"/>
                </a:solidFill>
                <a:latin typeface="+mj-lt"/>
              </a:rPr>
              <a:t>// </a:t>
            </a:r>
            <a:r>
              <a:rPr lang="zh-CN" altLang="en-US" b="1" dirty="0">
                <a:solidFill>
                  <a:srgbClr val="000000"/>
                </a:solidFill>
                <a:latin typeface="+mj-lt"/>
              </a:rPr>
              <a:t>世界坐标中的旋转</a:t>
            </a:r>
            <a:endParaRPr lang="en-US" altLang="zh-CN" b="1" dirty="0">
              <a:solidFill>
                <a:srgbClr val="000000"/>
              </a:solidFill>
              <a:latin typeface="+mj-lt"/>
            </a:endParaRPr>
          </a:p>
          <a:p>
            <a:pPr marL="0" lvl="2">
              <a:spcBef>
                <a:spcPts val="700"/>
              </a:spcBef>
            </a:pPr>
            <a:r>
              <a:rPr lang="en-US" altLang="zh-CN" b="1" dirty="0">
                <a:solidFill>
                  <a:srgbClr val="000000"/>
                </a:solidFill>
                <a:latin typeface="+mj-lt"/>
              </a:rPr>
              <a:t>	</a:t>
            </a:r>
            <a:r>
              <a:rPr lang="en-US" altLang="zh-CN" b="1" dirty="0" err="1">
                <a:solidFill>
                  <a:srgbClr val="000000"/>
                </a:solidFill>
                <a:latin typeface="+mj-lt"/>
                <a:sym typeface="Courier" pitchFamily="125" charset="0"/>
              </a:rPr>
              <a:t>tr.localScale</a:t>
            </a:r>
            <a:r>
              <a:rPr lang="en-US" altLang="zh-CN" b="1" dirty="0">
                <a:solidFill>
                  <a:srgbClr val="000000"/>
                </a:solidFill>
                <a:latin typeface="+mj-lt"/>
                <a:sym typeface="Courier" pitchFamily="125" charset="0"/>
              </a:rPr>
              <a:t>		</a:t>
            </a:r>
            <a:r>
              <a:rPr lang="en-US" altLang="zh-CN" b="1" dirty="0">
                <a:solidFill>
                  <a:srgbClr val="000000"/>
                </a:solidFill>
                <a:latin typeface="+mj-lt"/>
              </a:rPr>
              <a:t>// </a:t>
            </a:r>
            <a:r>
              <a:rPr lang="zh-CN" altLang="en-US" b="1" dirty="0">
                <a:solidFill>
                  <a:srgbClr val="000000"/>
                </a:solidFill>
                <a:latin typeface="+mj-lt"/>
              </a:rPr>
              <a:t>缩放</a:t>
            </a:r>
            <a:r>
              <a:rPr lang="en-US" altLang="zh-CN" b="1" dirty="0">
                <a:solidFill>
                  <a:srgbClr val="000000"/>
                </a:solidFill>
                <a:latin typeface="+mj-lt"/>
              </a:rPr>
              <a:t>(</a:t>
            </a:r>
            <a:r>
              <a:rPr lang="zh-CN" altLang="en-US" b="1" dirty="0">
                <a:solidFill>
                  <a:srgbClr val="000000"/>
                </a:solidFill>
                <a:latin typeface="+mj-lt"/>
              </a:rPr>
              <a:t>始终以局部坐标表示</a:t>
            </a:r>
            <a:r>
              <a:rPr lang="en-US" altLang="zh-CN" b="1" dirty="0">
                <a:solidFill>
                  <a:srgbClr val="000000"/>
                </a:solidFill>
                <a:latin typeface="+mj-lt"/>
              </a:rPr>
              <a:t>)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545C87BE-D15D-983E-DDA2-4A9C858BC04E}"/>
              </a:ext>
            </a:extLst>
          </p:cNvPr>
          <p:cNvGrpSpPr/>
          <p:nvPr/>
        </p:nvGrpSpPr>
        <p:grpSpPr>
          <a:xfrm>
            <a:off x="3834464" y="251474"/>
            <a:ext cx="4523073" cy="523226"/>
            <a:chOff x="4840431" y="207541"/>
            <a:chExt cx="4523073" cy="523226"/>
          </a:xfrm>
        </p:grpSpPr>
        <p:pic>
          <p:nvPicPr>
            <p:cNvPr id="8" name="Picture 4" descr="黑爵(AJAZZ)手柄/方向盘AG180报价_参数_图片_视频_怎么样_问答-苏宁易购">
              <a:extLst>
                <a:ext uri="{FF2B5EF4-FFF2-40B4-BE49-F238E27FC236}">
                  <a16:creationId xmlns:a16="http://schemas.microsoft.com/office/drawing/2014/main" id="{AF1D5E32-3C54-6A1C-1559-CF002E9537D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45" t="9275" r="3752" b="5379"/>
            <a:stretch/>
          </p:blipFill>
          <p:spPr bwMode="auto">
            <a:xfrm>
              <a:off x="4840431" y="314689"/>
              <a:ext cx="407315" cy="37661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" name="Rectangle 3">
              <a:extLst>
                <a:ext uri="{FF2B5EF4-FFF2-40B4-BE49-F238E27FC236}">
                  <a16:creationId xmlns:a16="http://schemas.microsoft.com/office/drawing/2014/main" id="{5AE2D225-665D-65E9-DB4A-F478BC2F8D04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5298546" y="207541"/>
              <a:ext cx="4064958" cy="523226"/>
            </a:xfrm>
            <a:prstGeom prst="rect">
              <a:avLst/>
            </a:prstGeom>
            <a:noFill/>
          </p:spPr>
          <p:txBody>
            <a:bodyPr lIns="90488" tIns="44450" rIns="90488" bIns="44450"/>
            <a:lstStyle>
              <a:lvl1pPr marL="171450" indent="-17145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1pPr>
              <a:lvl2pPr marL="5143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8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2pPr>
              <a:lvl3pPr marL="8572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3pPr>
              <a:lvl4pPr marL="12001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4pPr>
              <a:lvl5pPr marL="15430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fontAlgn="base">
                <a:lnSpc>
                  <a:spcPct val="100000"/>
                </a:lnSpc>
                <a:buNone/>
              </a:pPr>
              <a:r>
                <a:rPr lang="en-US" altLang="zh-CN" sz="3200" dirty="0">
                  <a:latin typeface="Times New Roman" panose="02020603050405020304" pitchFamily="18" charset="0"/>
                  <a:ea typeface="楷体" panose="02010609060101010101" pitchFamily="49" charset="-122"/>
                  <a:sym typeface="+mn-ea"/>
                </a:rPr>
                <a:t>Unity</a:t>
              </a:r>
              <a:r>
                <a:rPr lang="zh-CN" altLang="en-US" sz="3200" dirty="0">
                  <a:latin typeface="Times New Roman" panose="02020603050405020304" pitchFamily="18" charset="0"/>
                  <a:ea typeface="楷体" panose="02010609060101010101" pitchFamily="49" charset="-122"/>
                  <a:sym typeface="+mn-ea"/>
                </a:rPr>
                <a:t>游戏对象和组件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74844477"/>
      </p:ext>
    </p:extLst>
  </p:cSld>
  <p:clrMapOvr>
    <a:masterClrMapping/>
  </p:clrMapOvr>
  <p:transition spd="med"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A127890F-FD15-F12C-0B46-9FA1ACE8E9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: 圆角 3">
            <a:extLst>
              <a:ext uri="{FF2B5EF4-FFF2-40B4-BE49-F238E27FC236}">
                <a16:creationId xmlns:a16="http://schemas.microsoft.com/office/drawing/2014/main" id="{9674394F-237D-6BB5-8E91-E9061890AC83}"/>
              </a:ext>
            </a:extLst>
          </p:cNvPr>
          <p:cNvSpPr/>
          <p:nvPr/>
        </p:nvSpPr>
        <p:spPr>
          <a:xfrm>
            <a:off x="2336045" y="1465898"/>
            <a:ext cx="7901260" cy="609639"/>
          </a:xfrm>
          <a:prstGeom prst="roundRect">
            <a:avLst>
              <a:gd name="adj" fmla="val 3791"/>
            </a:avLst>
          </a:prstGeom>
          <a:gradFill>
            <a:gsLst>
              <a:gs pos="0">
                <a:srgbClr val="7030A0">
                  <a:alpha val="5000"/>
                </a:srgbClr>
              </a:gs>
              <a:gs pos="100000">
                <a:srgbClr val="00B0F0">
                  <a:alpha val="5000"/>
                </a:srgbClr>
              </a:gs>
            </a:gsLst>
            <a:lin ang="13500000" scaled="1"/>
          </a:gradFill>
          <a:ln>
            <a:gradFill>
              <a:gsLst>
                <a:gs pos="0">
                  <a:srgbClr val="0070C0"/>
                </a:gs>
                <a:gs pos="100000">
                  <a:srgbClr val="7030A0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108000" rtlCol="0" anchor="ctr">
            <a:no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400" b="1" dirty="0">
                <a:solidFill>
                  <a:srgbClr val="A7357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宋体" panose="02010600030101010101" pitchFamily="2" charset="-122"/>
                <a:sym typeface="+mn-ea"/>
              </a:rPr>
              <a:t>网格过滤器组件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4BE5B29B-295B-3E9C-A3A8-3FEF7886EED7}"/>
              </a:ext>
            </a:extLst>
          </p:cNvPr>
          <p:cNvSpPr/>
          <p:nvPr/>
        </p:nvSpPr>
        <p:spPr>
          <a:xfrm>
            <a:off x="2336044" y="2170908"/>
            <a:ext cx="7901261" cy="3013317"/>
          </a:xfrm>
          <a:prstGeom prst="roundRect">
            <a:avLst>
              <a:gd name="adj" fmla="val 1731"/>
            </a:avLst>
          </a:prstGeom>
          <a:gradFill>
            <a:gsLst>
              <a:gs pos="0">
                <a:srgbClr val="7030A0">
                  <a:alpha val="5000"/>
                </a:srgbClr>
              </a:gs>
              <a:gs pos="100000">
                <a:srgbClr val="00B0F0">
                  <a:alpha val="5000"/>
                </a:srgbClr>
              </a:gs>
            </a:gsLst>
            <a:lin ang="13500000" scaled="1"/>
          </a:gradFill>
          <a:ln>
            <a:gradFill>
              <a:gsLst>
                <a:gs pos="0">
                  <a:srgbClr val="0070C0"/>
                </a:gs>
                <a:gs pos="100000">
                  <a:srgbClr val="7030A0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108000" rtlCol="0" anchor="ctr">
            <a:noAutofit/>
          </a:bodyPr>
          <a:lstStyle/>
          <a:p>
            <a:pPr marL="839788" lvl="1" indent="-342900">
              <a:spcBef>
                <a:spcPts val="1100"/>
              </a:spcBef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A7357F"/>
                </a:solidFill>
              </a:rPr>
              <a:t>你所看到的模型</a:t>
            </a:r>
            <a:endParaRPr lang="en-US" altLang="zh-CN" sz="1800" b="1" dirty="0">
              <a:solidFill>
                <a:srgbClr val="A7357F"/>
              </a:solidFill>
            </a:endParaRPr>
          </a:p>
          <a:p>
            <a:pPr marL="0" lvl="2" indent="0">
              <a:spcBef>
                <a:spcPts val="700"/>
              </a:spcBef>
              <a:buNone/>
            </a:pPr>
            <a:r>
              <a:rPr lang="en-US" altLang="zh-CN" sz="1800" b="1" dirty="0">
                <a:solidFill>
                  <a:srgbClr val="000000"/>
                </a:solidFill>
                <a:latin typeface="+mj-lt"/>
                <a:sym typeface="Courier" pitchFamily="125" charset="0"/>
              </a:rPr>
              <a:t>	</a:t>
            </a:r>
            <a:r>
              <a:rPr lang="en-US" altLang="zh-CN" sz="1800" b="1" dirty="0" err="1">
                <a:solidFill>
                  <a:srgbClr val="000000"/>
                </a:solidFill>
                <a:latin typeface="+mj-lt"/>
                <a:sym typeface="Courier" pitchFamily="125" charset="0"/>
              </a:rPr>
              <a:t>MeshFilter</a:t>
            </a:r>
            <a:r>
              <a:rPr lang="en-US" altLang="zh-CN" sz="1800" b="1" dirty="0">
                <a:solidFill>
                  <a:srgbClr val="000000"/>
                </a:solidFill>
                <a:latin typeface="+mj-lt"/>
                <a:sym typeface="Courier" pitchFamily="125" charset="0"/>
              </a:rPr>
              <a:t> mf = </a:t>
            </a:r>
            <a:r>
              <a:rPr lang="en-US" altLang="zh-CN" sz="1800" b="1" dirty="0" err="1">
                <a:solidFill>
                  <a:srgbClr val="000000"/>
                </a:solidFill>
                <a:latin typeface="+mj-lt"/>
                <a:sym typeface="Courier" pitchFamily="125" charset="0"/>
              </a:rPr>
              <a:t>go.GetComponent</a:t>
            </a:r>
            <a:r>
              <a:rPr lang="en-US" altLang="zh-CN" sz="1800" b="1" dirty="0">
                <a:solidFill>
                  <a:srgbClr val="000000"/>
                </a:solidFill>
                <a:latin typeface="+mj-lt"/>
                <a:sym typeface="Courier" pitchFamily="125" charset="0"/>
              </a:rPr>
              <a:t>&lt;</a:t>
            </a:r>
            <a:r>
              <a:rPr lang="en-US" altLang="zh-CN" sz="1800" b="1" dirty="0" err="1">
                <a:solidFill>
                  <a:srgbClr val="000000"/>
                </a:solidFill>
                <a:latin typeface="+mj-lt"/>
                <a:sym typeface="Courier" pitchFamily="125" charset="0"/>
              </a:rPr>
              <a:t>MeshFilter</a:t>
            </a:r>
            <a:r>
              <a:rPr lang="en-US" altLang="zh-CN" sz="1800" b="1" dirty="0">
                <a:solidFill>
                  <a:srgbClr val="000000"/>
                </a:solidFill>
                <a:latin typeface="+mj-lt"/>
                <a:sym typeface="Courier" pitchFamily="125" charset="0"/>
              </a:rPr>
              <a:t>&gt;();</a:t>
            </a:r>
            <a:endParaRPr lang="en-US" altLang="zh-CN" b="1" dirty="0">
              <a:solidFill>
                <a:srgbClr val="000000"/>
              </a:solidFill>
              <a:latin typeface="+mj-lt"/>
            </a:endParaRPr>
          </a:p>
          <a:p>
            <a:pPr marL="839788" lvl="1" indent="-342900">
              <a:spcBef>
                <a:spcPts val="1100"/>
              </a:spcBef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A7357F"/>
                </a:solidFill>
              </a:rPr>
              <a:t>将</a:t>
            </a:r>
            <a:r>
              <a:rPr lang="en-US" altLang="zh-CN" sz="2000" b="1" dirty="0">
                <a:solidFill>
                  <a:srgbClr val="A7357F"/>
                </a:solidFill>
              </a:rPr>
              <a:t>3D</a:t>
            </a:r>
            <a:r>
              <a:rPr lang="zh-CN" altLang="en-US" sz="2000" b="1" dirty="0">
                <a:solidFill>
                  <a:srgbClr val="A7357F"/>
                </a:solidFill>
              </a:rPr>
              <a:t>模型绑定到游戏对象上</a:t>
            </a:r>
            <a:endParaRPr lang="en-US" altLang="zh-CN" sz="2000" b="1" dirty="0">
              <a:solidFill>
                <a:srgbClr val="A7357F"/>
              </a:solidFill>
            </a:endParaRPr>
          </a:p>
          <a:p>
            <a:pPr marL="839788" lvl="1" indent="-342900">
              <a:spcBef>
                <a:spcPts val="1100"/>
              </a:spcBef>
              <a:buFont typeface="Wingdings" panose="05000000000000000000" pitchFamily="2" charset="2"/>
              <a:buChar char="l"/>
            </a:pPr>
            <a:r>
              <a:rPr lang="en-US" altLang="zh-CN" sz="2000" b="1" dirty="0">
                <a:solidFill>
                  <a:srgbClr val="A7357F"/>
                </a:solidFill>
              </a:rPr>
              <a:t>实际上是对象的3D外壳（游戏中的3D对象内部是空心的）</a:t>
            </a:r>
          </a:p>
          <a:p>
            <a:pPr marL="839788" lvl="1" indent="-342900">
              <a:spcBef>
                <a:spcPts val="1100"/>
              </a:spcBef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A7357F"/>
                </a:solidFill>
              </a:rPr>
              <a:t>网格过滤器由网格渲染器组件在屏幕上渲染显示</a:t>
            </a:r>
            <a:endParaRPr lang="en-US" altLang="zh-CN" sz="2000" b="1" dirty="0">
              <a:solidFill>
                <a:srgbClr val="A7357F"/>
              </a:solidFill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9B8DA8E3-5F08-6EBF-6812-6D89AD1A053A}"/>
              </a:ext>
            </a:extLst>
          </p:cNvPr>
          <p:cNvGrpSpPr/>
          <p:nvPr/>
        </p:nvGrpSpPr>
        <p:grpSpPr>
          <a:xfrm>
            <a:off x="3834464" y="251474"/>
            <a:ext cx="4523073" cy="523226"/>
            <a:chOff x="4840431" y="207541"/>
            <a:chExt cx="4523073" cy="523226"/>
          </a:xfrm>
        </p:grpSpPr>
        <p:pic>
          <p:nvPicPr>
            <p:cNvPr id="8" name="Picture 4" descr="黑爵(AJAZZ)手柄/方向盘AG180报价_参数_图片_视频_怎么样_问答-苏宁易购">
              <a:extLst>
                <a:ext uri="{FF2B5EF4-FFF2-40B4-BE49-F238E27FC236}">
                  <a16:creationId xmlns:a16="http://schemas.microsoft.com/office/drawing/2014/main" id="{BB4595EC-165D-DACC-5A46-37F4D016F2C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45" t="9275" r="3752" b="5379"/>
            <a:stretch/>
          </p:blipFill>
          <p:spPr bwMode="auto">
            <a:xfrm>
              <a:off x="4840431" y="314689"/>
              <a:ext cx="407315" cy="37661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" name="Rectangle 3">
              <a:extLst>
                <a:ext uri="{FF2B5EF4-FFF2-40B4-BE49-F238E27FC236}">
                  <a16:creationId xmlns:a16="http://schemas.microsoft.com/office/drawing/2014/main" id="{ED923F0A-C623-DF09-0DBD-84149D47728A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5298546" y="207541"/>
              <a:ext cx="4064958" cy="523226"/>
            </a:xfrm>
            <a:prstGeom prst="rect">
              <a:avLst/>
            </a:prstGeom>
            <a:noFill/>
          </p:spPr>
          <p:txBody>
            <a:bodyPr lIns="90488" tIns="44450" rIns="90488" bIns="44450"/>
            <a:lstStyle>
              <a:lvl1pPr marL="171450" indent="-17145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1pPr>
              <a:lvl2pPr marL="5143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8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2pPr>
              <a:lvl3pPr marL="8572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3pPr>
              <a:lvl4pPr marL="12001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4pPr>
              <a:lvl5pPr marL="15430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fontAlgn="base">
                <a:lnSpc>
                  <a:spcPct val="100000"/>
                </a:lnSpc>
                <a:buNone/>
              </a:pPr>
              <a:r>
                <a:rPr lang="en-US" altLang="zh-CN" sz="3200" dirty="0">
                  <a:latin typeface="Times New Roman" panose="02020603050405020304" pitchFamily="18" charset="0"/>
                  <a:ea typeface="楷体" panose="02010609060101010101" pitchFamily="49" charset="-122"/>
                  <a:sym typeface="+mn-ea"/>
                </a:rPr>
                <a:t>Unity</a:t>
              </a:r>
              <a:r>
                <a:rPr lang="zh-CN" altLang="en-US" sz="3200" dirty="0">
                  <a:latin typeface="Times New Roman" panose="02020603050405020304" pitchFamily="18" charset="0"/>
                  <a:ea typeface="楷体" panose="02010609060101010101" pitchFamily="49" charset="-122"/>
                  <a:sym typeface="+mn-ea"/>
                </a:rPr>
                <a:t>游戏对象和组件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13420979"/>
      </p:ext>
    </p:extLst>
  </p:cSld>
  <p:clrMapOvr>
    <a:masterClrMapping/>
  </p:clrMapOvr>
  <p:transition spd="med"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: 圆角 6">
            <a:extLst>
              <a:ext uri="{FF2B5EF4-FFF2-40B4-BE49-F238E27FC236}">
                <a16:creationId xmlns:a16="http://schemas.microsoft.com/office/drawing/2014/main" id="{C0FE1E0E-7AD2-475D-55A8-AE36D002651C}"/>
              </a:ext>
            </a:extLst>
          </p:cNvPr>
          <p:cNvSpPr/>
          <p:nvPr/>
        </p:nvSpPr>
        <p:spPr>
          <a:xfrm>
            <a:off x="2488444" y="2086550"/>
            <a:ext cx="7901261" cy="3013317"/>
          </a:xfrm>
          <a:prstGeom prst="roundRect">
            <a:avLst>
              <a:gd name="adj" fmla="val 1731"/>
            </a:avLst>
          </a:prstGeom>
          <a:gradFill>
            <a:gsLst>
              <a:gs pos="0">
                <a:srgbClr val="7030A0">
                  <a:alpha val="5000"/>
                </a:srgbClr>
              </a:gs>
              <a:gs pos="100000">
                <a:srgbClr val="00B0F0">
                  <a:alpha val="5000"/>
                </a:srgbClr>
              </a:gs>
            </a:gsLst>
            <a:lin ang="13500000" scaled="1"/>
          </a:gradFill>
          <a:ln>
            <a:gradFill>
              <a:gsLst>
                <a:gs pos="0">
                  <a:srgbClr val="0070C0"/>
                </a:gs>
                <a:gs pos="100000">
                  <a:srgbClr val="7030A0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108000" rtlCol="0" anchor="ctr">
            <a:noAutofit/>
          </a:bodyPr>
          <a:lstStyle/>
          <a:p>
            <a:pPr marL="839788" lvl="1" indent="-342900">
              <a:spcBef>
                <a:spcPts val="1100"/>
              </a:spcBef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A7357F"/>
                </a:solidFill>
                <a:latin typeface="+mj-ea"/>
                <a:ea typeface="+mj-ea"/>
              </a:rPr>
              <a:t>在屏幕上渲染游戏对象</a:t>
            </a:r>
            <a:endParaRPr lang="en-US" altLang="zh-CN" sz="2000" b="1" dirty="0">
              <a:solidFill>
                <a:srgbClr val="A7357F"/>
              </a:solidFill>
              <a:latin typeface="+mj-ea"/>
              <a:ea typeface="+mj-ea"/>
            </a:endParaRPr>
          </a:p>
          <a:p>
            <a:pPr marL="736600" lvl="2" indent="-101600">
              <a:spcBef>
                <a:spcPts val="700"/>
              </a:spcBef>
              <a:buNone/>
            </a:pPr>
            <a:r>
              <a:rPr lang="en-US" altLang="zh-CN" sz="1800" b="1" dirty="0">
                <a:solidFill>
                  <a:srgbClr val="000000"/>
                </a:solidFill>
                <a:latin typeface="+mj-lt"/>
                <a:sym typeface="Courier" pitchFamily="125" charset="0"/>
              </a:rPr>
              <a:t>	Renderer rend = </a:t>
            </a:r>
            <a:r>
              <a:rPr lang="en-US" altLang="zh-CN" sz="1800" b="1" dirty="0" err="1">
                <a:solidFill>
                  <a:srgbClr val="000000"/>
                </a:solidFill>
                <a:latin typeface="+mj-lt"/>
                <a:sym typeface="Courier" pitchFamily="125" charset="0"/>
              </a:rPr>
              <a:t>go.GetComponent</a:t>
            </a:r>
            <a:r>
              <a:rPr lang="en-US" altLang="zh-CN" sz="1800" b="1" dirty="0">
                <a:solidFill>
                  <a:srgbClr val="000000"/>
                </a:solidFill>
                <a:latin typeface="+mj-lt"/>
                <a:sym typeface="Courier" pitchFamily="125" charset="0"/>
              </a:rPr>
              <a:t>&lt;Renderer&gt;();</a:t>
            </a:r>
            <a:endParaRPr lang="en-US" altLang="zh-CN" b="1" dirty="0">
              <a:solidFill>
                <a:srgbClr val="000000"/>
              </a:solidFill>
              <a:latin typeface="+mj-lt"/>
            </a:endParaRPr>
          </a:p>
          <a:p>
            <a:pPr marL="839788" lvl="1" indent="-342900">
              <a:spcBef>
                <a:spcPts val="1100"/>
              </a:spcBef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A7357F"/>
                </a:solidFill>
                <a:latin typeface="+mj-ea"/>
                <a:ea typeface="+mj-ea"/>
              </a:rPr>
              <a:t>通常是网格渲染器</a:t>
            </a:r>
            <a:endParaRPr lang="en-US" altLang="zh-CN" sz="2000" b="1" dirty="0">
              <a:solidFill>
                <a:srgbClr val="A7357F"/>
              </a:solidFill>
              <a:latin typeface="+mj-ea"/>
              <a:ea typeface="+mj-ea"/>
            </a:endParaRPr>
          </a:p>
          <a:p>
            <a:pPr marL="1296988" lvl="2" indent="-342900">
              <a:spcBef>
                <a:spcPts val="1100"/>
              </a:spcBef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</a:rPr>
              <a:t>渲染器</a:t>
            </a:r>
            <a:r>
              <a:rPr lang="en-US" altLang="zh-CN" dirty="0">
                <a:solidFill>
                  <a:srgbClr val="000000"/>
                </a:solidFill>
              </a:rPr>
              <a:t>是</a:t>
            </a:r>
            <a:r>
              <a:rPr lang="zh-CN" altLang="en-US" dirty="0">
                <a:solidFill>
                  <a:srgbClr val="000000"/>
                </a:solidFill>
              </a:rPr>
              <a:t>网格渲染器</a:t>
            </a:r>
            <a:r>
              <a:rPr lang="en-US" altLang="zh-CN" dirty="0" err="1">
                <a:solidFill>
                  <a:srgbClr val="000000"/>
                </a:solidFill>
              </a:rPr>
              <a:t>的父类</a:t>
            </a:r>
            <a:endParaRPr lang="en-US" altLang="zh-CN" dirty="0">
              <a:solidFill>
                <a:srgbClr val="000000"/>
              </a:solidFill>
            </a:endParaRPr>
          </a:p>
          <a:p>
            <a:pPr marL="1296988" lvl="2" indent="-342900">
              <a:spcBef>
                <a:spcPts val="1100"/>
              </a:spcBef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</a:rPr>
              <a:t>因此，代码中总是使用渲染器</a:t>
            </a:r>
            <a:endParaRPr lang="en-US" altLang="zh-CN" dirty="0">
              <a:solidFill>
                <a:srgbClr val="000000"/>
              </a:solidFill>
            </a:endParaRPr>
          </a:p>
          <a:p>
            <a:pPr marL="839788" lvl="1" indent="-342900">
              <a:spcBef>
                <a:spcPts val="1100"/>
              </a:spcBef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A7357F"/>
                </a:solidFill>
                <a:latin typeface="+mj-ea"/>
                <a:ea typeface="+mj-ea"/>
              </a:rPr>
              <a:t>将网格渲染器与材质（材质包含各种纹理和着色器）结合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1DB95755-1954-AC71-D669-CCF58FBAC914}"/>
              </a:ext>
            </a:extLst>
          </p:cNvPr>
          <p:cNvSpPr/>
          <p:nvPr/>
        </p:nvSpPr>
        <p:spPr>
          <a:xfrm>
            <a:off x="2488445" y="1263901"/>
            <a:ext cx="7901260" cy="609639"/>
          </a:xfrm>
          <a:prstGeom prst="roundRect">
            <a:avLst>
              <a:gd name="adj" fmla="val 3791"/>
            </a:avLst>
          </a:prstGeom>
          <a:gradFill>
            <a:gsLst>
              <a:gs pos="0">
                <a:srgbClr val="7030A0">
                  <a:alpha val="5000"/>
                </a:srgbClr>
              </a:gs>
              <a:gs pos="100000">
                <a:srgbClr val="00B0F0">
                  <a:alpha val="5000"/>
                </a:srgbClr>
              </a:gs>
            </a:gsLst>
            <a:lin ang="13500000" scaled="1"/>
          </a:gradFill>
          <a:ln>
            <a:gradFill>
              <a:gsLst>
                <a:gs pos="0">
                  <a:srgbClr val="0070C0"/>
                </a:gs>
                <a:gs pos="100000">
                  <a:srgbClr val="7030A0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108000" rtlCol="0" anchor="ctr">
            <a:no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400" b="1" dirty="0">
                <a:solidFill>
                  <a:srgbClr val="A7357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宋体" panose="02010600030101010101" pitchFamily="2" charset="-122"/>
                <a:sym typeface="+mn-ea"/>
              </a:rPr>
              <a:t>渲染器组件</a:t>
            </a: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A4A7B582-2750-736D-CF0B-D46EB20EC4AD}"/>
              </a:ext>
            </a:extLst>
          </p:cNvPr>
          <p:cNvGrpSpPr/>
          <p:nvPr/>
        </p:nvGrpSpPr>
        <p:grpSpPr>
          <a:xfrm>
            <a:off x="3986864" y="279746"/>
            <a:ext cx="4523073" cy="523226"/>
            <a:chOff x="4840431" y="207541"/>
            <a:chExt cx="4523073" cy="523226"/>
          </a:xfrm>
        </p:grpSpPr>
        <p:pic>
          <p:nvPicPr>
            <p:cNvPr id="12" name="Picture 4" descr="黑爵(AJAZZ)手柄/方向盘AG180报价_参数_图片_视频_怎么样_问答-苏宁易购">
              <a:extLst>
                <a:ext uri="{FF2B5EF4-FFF2-40B4-BE49-F238E27FC236}">
                  <a16:creationId xmlns:a16="http://schemas.microsoft.com/office/drawing/2014/main" id="{A5D52805-E89B-5209-39D9-445564224C5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45" t="9275" r="3752" b="5379"/>
            <a:stretch/>
          </p:blipFill>
          <p:spPr bwMode="auto">
            <a:xfrm>
              <a:off x="4840431" y="314689"/>
              <a:ext cx="407315" cy="37661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3" name="Rectangle 3">
              <a:extLst>
                <a:ext uri="{FF2B5EF4-FFF2-40B4-BE49-F238E27FC236}">
                  <a16:creationId xmlns:a16="http://schemas.microsoft.com/office/drawing/2014/main" id="{A2520CC4-774C-8947-0F11-7E0F1DB1548F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5298546" y="207541"/>
              <a:ext cx="4064958" cy="523226"/>
            </a:xfrm>
            <a:prstGeom prst="rect">
              <a:avLst/>
            </a:prstGeom>
            <a:noFill/>
          </p:spPr>
          <p:txBody>
            <a:bodyPr lIns="90488" tIns="44450" rIns="90488" bIns="44450"/>
            <a:lstStyle>
              <a:lvl1pPr marL="171450" indent="-17145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1pPr>
              <a:lvl2pPr marL="5143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8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2pPr>
              <a:lvl3pPr marL="8572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3pPr>
              <a:lvl4pPr marL="12001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4pPr>
              <a:lvl5pPr marL="15430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fontAlgn="base">
                <a:lnSpc>
                  <a:spcPct val="100000"/>
                </a:lnSpc>
                <a:buNone/>
              </a:pPr>
              <a:r>
                <a:rPr lang="en-US" altLang="zh-CN" sz="3200" dirty="0">
                  <a:latin typeface="Times New Roman" panose="02020603050405020304" pitchFamily="18" charset="0"/>
                  <a:ea typeface="楷体" panose="02010609060101010101" pitchFamily="49" charset="-122"/>
                  <a:sym typeface="+mn-ea"/>
                </a:rPr>
                <a:t>Unity</a:t>
              </a:r>
              <a:r>
                <a:rPr lang="zh-CN" altLang="en-US" sz="3200" dirty="0">
                  <a:latin typeface="Times New Roman" panose="02020603050405020304" pitchFamily="18" charset="0"/>
                  <a:ea typeface="楷体" panose="02010609060101010101" pitchFamily="49" charset="-122"/>
                  <a:sym typeface="+mn-ea"/>
                </a:rPr>
                <a:t>游戏对象和组件</a:t>
              </a:r>
            </a:p>
          </p:txBody>
        </p:sp>
      </p:grpSp>
    </p:spTree>
  </p:cSld>
  <p:clrMapOvr>
    <a:masterClrMapping/>
  </p:clrMapOvr>
  <p:transition spd="med"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3A5018AE-4B41-39DA-F4E1-F5A54F26B3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: 圆角 6">
            <a:extLst>
              <a:ext uri="{FF2B5EF4-FFF2-40B4-BE49-F238E27FC236}">
                <a16:creationId xmlns:a16="http://schemas.microsoft.com/office/drawing/2014/main" id="{7549F2B1-2088-6ED3-21CE-F7800DB97B4A}"/>
              </a:ext>
            </a:extLst>
          </p:cNvPr>
          <p:cNvSpPr/>
          <p:nvPr/>
        </p:nvSpPr>
        <p:spPr>
          <a:xfrm>
            <a:off x="1878844" y="1794502"/>
            <a:ext cx="8721423" cy="4686783"/>
          </a:xfrm>
          <a:prstGeom prst="roundRect">
            <a:avLst>
              <a:gd name="adj" fmla="val 1731"/>
            </a:avLst>
          </a:prstGeom>
          <a:gradFill>
            <a:gsLst>
              <a:gs pos="0">
                <a:srgbClr val="7030A0">
                  <a:alpha val="5000"/>
                </a:srgbClr>
              </a:gs>
              <a:gs pos="100000">
                <a:srgbClr val="00B0F0">
                  <a:alpha val="5000"/>
                </a:srgbClr>
              </a:gs>
            </a:gsLst>
            <a:lin ang="13500000" scaled="1"/>
          </a:gradFill>
          <a:ln>
            <a:gradFill>
              <a:gsLst>
                <a:gs pos="0">
                  <a:srgbClr val="0070C0"/>
                </a:gs>
                <a:gs pos="100000">
                  <a:srgbClr val="7030A0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108000" rtlCol="0" anchor="ctr">
            <a:noAutofit/>
          </a:bodyPr>
          <a:lstStyle/>
          <a:p>
            <a:pPr marL="839788" lvl="1" indent="-342900">
              <a:spcBef>
                <a:spcPts val="1100"/>
              </a:spcBef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A7357F"/>
                </a:solidFill>
              </a:rPr>
              <a:t>游戏对象的物理存在</a:t>
            </a:r>
            <a:endParaRPr lang="en-US" altLang="zh-CN" sz="1800" b="1" dirty="0">
              <a:solidFill>
                <a:srgbClr val="A7357F"/>
              </a:solidFill>
            </a:endParaRPr>
          </a:p>
          <a:p>
            <a:pPr marL="884238" lvl="2" indent="-122238">
              <a:spcBef>
                <a:spcPts val="700"/>
              </a:spcBef>
              <a:buNone/>
            </a:pPr>
            <a:r>
              <a:rPr lang="en-US" altLang="zh-CN" sz="1800" dirty="0">
                <a:solidFill>
                  <a:schemeClr val="tx1"/>
                </a:solidFill>
                <a:latin typeface="Courier" pitchFamily="125" charset="0"/>
                <a:sym typeface="Courier" pitchFamily="125" charset="0"/>
              </a:rPr>
              <a:t>	</a:t>
            </a:r>
            <a:r>
              <a:rPr lang="en-US" altLang="zh-CN" sz="1800" b="1" dirty="0">
                <a:solidFill>
                  <a:schemeClr val="tx1"/>
                </a:solidFill>
                <a:latin typeface="Courier" pitchFamily="125" charset="0"/>
                <a:sym typeface="Courier" pitchFamily="125" charset="0"/>
              </a:rPr>
              <a:t>Collider </a:t>
            </a:r>
            <a:r>
              <a:rPr lang="en-US" altLang="zh-CN" sz="1800" b="1" dirty="0" err="1">
                <a:solidFill>
                  <a:schemeClr val="tx1"/>
                </a:solidFill>
                <a:latin typeface="Courier" pitchFamily="125" charset="0"/>
                <a:sym typeface="Courier" pitchFamily="125" charset="0"/>
              </a:rPr>
              <a:t>coll</a:t>
            </a:r>
            <a:r>
              <a:rPr lang="en-US" altLang="zh-CN" sz="1800" b="1" dirty="0">
                <a:solidFill>
                  <a:schemeClr val="tx1"/>
                </a:solidFill>
                <a:latin typeface="Courier" pitchFamily="125" charset="0"/>
                <a:sym typeface="Courier" pitchFamily="125" charset="0"/>
              </a:rPr>
              <a:t> = </a:t>
            </a:r>
            <a:r>
              <a:rPr lang="en-US" altLang="zh-CN" sz="1800" b="1" dirty="0" err="1">
                <a:solidFill>
                  <a:schemeClr val="tx1"/>
                </a:solidFill>
                <a:latin typeface="Courier" pitchFamily="125" charset="0"/>
                <a:sym typeface="Courier" pitchFamily="125" charset="0"/>
              </a:rPr>
              <a:t>go.GetComponent</a:t>
            </a:r>
            <a:r>
              <a:rPr lang="en-US" altLang="zh-CN" sz="1800" b="1" dirty="0">
                <a:solidFill>
                  <a:schemeClr val="tx1"/>
                </a:solidFill>
                <a:latin typeface="Courier" pitchFamily="125" charset="0"/>
                <a:sym typeface="Courier" pitchFamily="125" charset="0"/>
              </a:rPr>
              <a:t>&lt;Collider&gt;();</a:t>
            </a:r>
            <a:endParaRPr lang="en-US" altLang="zh-CN" b="1" dirty="0">
              <a:solidFill>
                <a:schemeClr val="tx1"/>
              </a:solidFill>
            </a:endParaRPr>
          </a:p>
          <a:p>
            <a:pPr marL="839788" lvl="1" indent="-342900">
              <a:spcBef>
                <a:spcPts val="1100"/>
              </a:spcBef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A7357F"/>
                </a:solidFill>
              </a:rPr>
              <a:t>有四种类型的碰撞体（按复杂度排序）</a:t>
            </a:r>
          </a:p>
          <a:p>
            <a:pPr marL="1047750" lvl="2" indent="-285750">
              <a:spcBef>
                <a:spcPts val="700"/>
              </a:spcBef>
              <a:buFont typeface="Wingdings" panose="05000000000000000000" pitchFamily="2" charset="2"/>
              <a:buChar char="l"/>
            </a:pPr>
            <a:r>
              <a:rPr lang="zh-CN" altLang="en-US" sz="1800" dirty="0">
                <a:solidFill>
                  <a:srgbClr val="000000"/>
                </a:solidFill>
              </a:rPr>
              <a:t>球状碰撞器</a:t>
            </a:r>
            <a:r>
              <a:rPr lang="en-US" altLang="zh-CN" sz="1800" dirty="0">
                <a:solidFill>
                  <a:srgbClr val="000000"/>
                </a:solidFill>
              </a:rPr>
              <a:t> //</a:t>
            </a:r>
            <a:r>
              <a:rPr lang="zh-CN" altLang="en-US" sz="1800" dirty="0">
                <a:solidFill>
                  <a:srgbClr val="000000"/>
                </a:solidFill>
              </a:rPr>
              <a:t>运算速度最快的碰撞器形状</a:t>
            </a:r>
            <a:endParaRPr lang="en-US" altLang="zh-CN" sz="1800" dirty="0">
              <a:solidFill>
                <a:srgbClr val="000000"/>
              </a:solidFill>
            </a:endParaRPr>
          </a:p>
          <a:p>
            <a:pPr marL="1047750" lvl="2" indent="-285750">
              <a:spcBef>
                <a:spcPts val="700"/>
              </a:spcBef>
              <a:buFont typeface="Wingdings" panose="05000000000000000000" pitchFamily="2" charset="2"/>
              <a:buChar char="l"/>
            </a:pPr>
            <a:r>
              <a:rPr lang="zh-CN" altLang="en-US" sz="1800" dirty="0">
                <a:solidFill>
                  <a:srgbClr val="000000"/>
                </a:solidFill>
              </a:rPr>
              <a:t>胶囊碰撞器</a:t>
            </a:r>
            <a:r>
              <a:rPr lang="en-US" altLang="zh-CN" sz="1800" dirty="0">
                <a:solidFill>
                  <a:srgbClr val="000000"/>
                </a:solidFill>
              </a:rPr>
              <a:t> //</a:t>
            </a:r>
            <a:r>
              <a:rPr lang="zh-CN" altLang="en-US" sz="1800" dirty="0">
                <a:solidFill>
                  <a:srgbClr val="000000"/>
                </a:solidFill>
              </a:rPr>
              <a:t>两端为球体，中间部分为圆柱体的碰撞器。运算速度次之</a:t>
            </a:r>
            <a:endParaRPr lang="en-US" altLang="zh-CN" sz="1800" dirty="0">
              <a:solidFill>
                <a:srgbClr val="000000"/>
              </a:solidFill>
            </a:endParaRPr>
          </a:p>
          <a:p>
            <a:pPr marL="1047750" lvl="2" indent="-285750">
              <a:spcBef>
                <a:spcPts val="700"/>
              </a:spcBef>
              <a:buFont typeface="Wingdings" panose="05000000000000000000" pitchFamily="2" charset="2"/>
              <a:buChar char="l"/>
            </a:pPr>
            <a:r>
              <a:rPr lang="zh-CN" altLang="en-US" sz="1800" dirty="0">
                <a:solidFill>
                  <a:srgbClr val="000000"/>
                </a:solidFill>
              </a:rPr>
              <a:t>盒装碰撞器</a:t>
            </a:r>
            <a:r>
              <a:rPr lang="en-US" altLang="zh-CN" sz="1800" dirty="0">
                <a:solidFill>
                  <a:srgbClr val="000000"/>
                </a:solidFill>
              </a:rPr>
              <a:t> //</a:t>
            </a:r>
            <a:r>
              <a:rPr lang="zh-CN" altLang="en-US" sz="1800" dirty="0">
                <a:solidFill>
                  <a:srgbClr val="000000"/>
                </a:solidFill>
              </a:rPr>
              <a:t>一种长方体。适用于箱子、汽车、人体驱干等</a:t>
            </a:r>
            <a:endParaRPr lang="en-US" altLang="zh-CN" sz="1800" dirty="0">
              <a:solidFill>
                <a:srgbClr val="000000"/>
              </a:solidFill>
            </a:endParaRPr>
          </a:p>
          <a:p>
            <a:pPr marL="1047750" lvl="2" indent="-285750">
              <a:spcBef>
                <a:spcPts val="700"/>
              </a:spcBef>
              <a:buFont typeface="Wingdings" panose="05000000000000000000" pitchFamily="2" charset="2"/>
              <a:buChar char="l"/>
            </a:pPr>
            <a:r>
              <a:rPr lang="zh-CN" altLang="en-US" sz="1800" dirty="0">
                <a:solidFill>
                  <a:srgbClr val="000000"/>
                </a:solidFill>
              </a:rPr>
              <a:t>网格碰撞器</a:t>
            </a:r>
            <a:r>
              <a:rPr lang="en-US" altLang="zh-CN" sz="1800" dirty="0">
                <a:solidFill>
                  <a:srgbClr val="000000"/>
                </a:solidFill>
              </a:rPr>
              <a:t> //</a:t>
            </a:r>
            <a:r>
              <a:rPr lang="zh-CN" altLang="en-US" sz="1800" dirty="0">
                <a:solidFill>
                  <a:srgbClr val="000000"/>
                </a:solidFill>
              </a:rPr>
              <a:t>由三维网格构成的碰撞器。</a:t>
            </a:r>
            <a:endParaRPr lang="en-US" altLang="zh-CN" sz="1800" dirty="0">
              <a:solidFill>
                <a:srgbClr val="000000"/>
              </a:solidFill>
            </a:endParaRPr>
          </a:p>
          <a:p>
            <a:pPr marL="1697038" lvl="3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</a:rPr>
              <a:t>只有凸多面体的网格碰撞器才可以与其他网格碰撞器发生碰撞。</a:t>
            </a:r>
            <a:endParaRPr lang="en-US" altLang="zh-CN" dirty="0">
              <a:solidFill>
                <a:srgbClr val="000000"/>
              </a:solidFill>
            </a:endParaRPr>
          </a:p>
          <a:p>
            <a:pPr marL="1697038" lvl="3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</a:rPr>
              <a:t>运算速度比另外三种碰撞器要慢许多</a:t>
            </a:r>
            <a:r>
              <a:rPr lang="en-US" altLang="zh-CN" dirty="0">
                <a:solidFill>
                  <a:srgbClr val="000000"/>
                </a:solidFill>
              </a:rPr>
              <a:t>!</a:t>
            </a:r>
          </a:p>
          <a:p>
            <a:pPr marL="839788" lvl="1" indent="-342900">
              <a:spcBef>
                <a:spcPts val="1100"/>
              </a:spcBef>
              <a:buFont typeface="Wingdings" panose="05000000000000000000" pitchFamily="2" charset="2"/>
              <a:buChar char="l"/>
            </a:pPr>
            <a:r>
              <a:rPr lang="en-US" altLang="zh-CN" sz="2000" b="1" dirty="0">
                <a:solidFill>
                  <a:srgbClr val="A7357F"/>
                </a:solidFill>
              </a:rPr>
              <a:t>Unity</a:t>
            </a:r>
            <a:r>
              <a:rPr lang="zh-CN" altLang="en-US" sz="2000" b="1" dirty="0">
                <a:solidFill>
                  <a:srgbClr val="A7357F"/>
                </a:solidFill>
              </a:rPr>
              <a:t>中的物理过程和碰撞是通过</a:t>
            </a:r>
            <a:r>
              <a:rPr lang="en-US" altLang="zh-CN" sz="2000" b="1" dirty="0">
                <a:solidFill>
                  <a:srgbClr val="A7357F"/>
                </a:solidFill>
              </a:rPr>
              <a:t>NVIDIA PhysX</a:t>
            </a:r>
            <a:r>
              <a:rPr lang="zh-CN" altLang="en-US" sz="2000" b="1" dirty="0">
                <a:solidFill>
                  <a:srgbClr val="A7357F"/>
                </a:solidFill>
              </a:rPr>
              <a:t>引擎处理的</a:t>
            </a:r>
            <a:endParaRPr lang="en-US" altLang="zh-CN" sz="2000" b="1" dirty="0">
              <a:solidFill>
                <a:srgbClr val="A7357F"/>
              </a:solidFill>
            </a:endParaRPr>
          </a:p>
          <a:p>
            <a:pPr marL="839788" lvl="1" indent="-342900">
              <a:spcBef>
                <a:spcPts val="1100"/>
              </a:spcBef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A7357F"/>
                </a:solidFill>
              </a:rPr>
              <a:t>没有刚体组件的碰撞器无法移动</a:t>
            </a:r>
            <a:endParaRPr lang="en-US" altLang="zh-CN" sz="2000" b="1" dirty="0">
              <a:solidFill>
                <a:srgbClr val="A7357F"/>
              </a:solidFill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EA530322-20FA-7494-197A-E3ED88D3F843}"/>
              </a:ext>
            </a:extLst>
          </p:cNvPr>
          <p:cNvSpPr/>
          <p:nvPr/>
        </p:nvSpPr>
        <p:spPr>
          <a:xfrm>
            <a:off x="1878845" y="1054256"/>
            <a:ext cx="8721422" cy="609639"/>
          </a:xfrm>
          <a:prstGeom prst="roundRect">
            <a:avLst>
              <a:gd name="adj" fmla="val 3791"/>
            </a:avLst>
          </a:prstGeom>
          <a:gradFill>
            <a:gsLst>
              <a:gs pos="0">
                <a:srgbClr val="7030A0">
                  <a:alpha val="5000"/>
                </a:srgbClr>
              </a:gs>
              <a:gs pos="100000">
                <a:srgbClr val="00B0F0">
                  <a:alpha val="5000"/>
                </a:srgbClr>
              </a:gs>
            </a:gsLst>
            <a:lin ang="13500000" scaled="1"/>
          </a:gradFill>
          <a:ln>
            <a:gradFill>
              <a:gsLst>
                <a:gs pos="0">
                  <a:srgbClr val="0070C0"/>
                </a:gs>
                <a:gs pos="100000">
                  <a:srgbClr val="7030A0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108000" rtlCol="0" anchor="ctr">
            <a:no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400" b="1" dirty="0">
                <a:solidFill>
                  <a:srgbClr val="A7357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宋体" panose="02010600030101010101" pitchFamily="2" charset="-122"/>
                <a:sym typeface="+mn-ea"/>
              </a:rPr>
              <a:t>碰撞器组件</a:t>
            </a: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6DDC65A3-41E1-F872-CB6C-D21F43762165}"/>
              </a:ext>
            </a:extLst>
          </p:cNvPr>
          <p:cNvGrpSpPr/>
          <p:nvPr/>
        </p:nvGrpSpPr>
        <p:grpSpPr>
          <a:xfrm>
            <a:off x="3986864" y="279746"/>
            <a:ext cx="4523073" cy="523226"/>
            <a:chOff x="4840431" y="207541"/>
            <a:chExt cx="4523073" cy="523226"/>
          </a:xfrm>
        </p:grpSpPr>
        <p:pic>
          <p:nvPicPr>
            <p:cNvPr id="12" name="Picture 4" descr="黑爵(AJAZZ)手柄/方向盘AG180报价_参数_图片_视频_怎么样_问答-苏宁易购">
              <a:extLst>
                <a:ext uri="{FF2B5EF4-FFF2-40B4-BE49-F238E27FC236}">
                  <a16:creationId xmlns:a16="http://schemas.microsoft.com/office/drawing/2014/main" id="{B6244017-73F0-18D3-0726-4AD1578DC1E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45" t="9275" r="3752" b="5379"/>
            <a:stretch/>
          </p:blipFill>
          <p:spPr bwMode="auto">
            <a:xfrm>
              <a:off x="4840431" y="314689"/>
              <a:ext cx="407315" cy="37661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3" name="Rectangle 3">
              <a:extLst>
                <a:ext uri="{FF2B5EF4-FFF2-40B4-BE49-F238E27FC236}">
                  <a16:creationId xmlns:a16="http://schemas.microsoft.com/office/drawing/2014/main" id="{7F17A979-8B06-E233-3C67-04832615D5E4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5298546" y="207541"/>
              <a:ext cx="4064958" cy="523226"/>
            </a:xfrm>
            <a:prstGeom prst="rect">
              <a:avLst/>
            </a:prstGeom>
            <a:noFill/>
          </p:spPr>
          <p:txBody>
            <a:bodyPr lIns="90488" tIns="44450" rIns="90488" bIns="44450"/>
            <a:lstStyle>
              <a:lvl1pPr marL="171450" indent="-17145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1pPr>
              <a:lvl2pPr marL="5143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8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2pPr>
              <a:lvl3pPr marL="8572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3pPr>
              <a:lvl4pPr marL="12001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4pPr>
              <a:lvl5pPr marL="15430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fontAlgn="base">
                <a:lnSpc>
                  <a:spcPct val="100000"/>
                </a:lnSpc>
                <a:buNone/>
              </a:pPr>
              <a:r>
                <a:rPr lang="en-US" altLang="zh-CN" sz="3200" dirty="0">
                  <a:latin typeface="Times New Roman" panose="02020603050405020304" pitchFamily="18" charset="0"/>
                  <a:ea typeface="楷体" panose="02010609060101010101" pitchFamily="49" charset="-122"/>
                  <a:sym typeface="+mn-ea"/>
                </a:rPr>
                <a:t>Unity</a:t>
              </a:r>
              <a:r>
                <a:rPr lang="zh-CN" altLang="en-US" sz="3200" dirty="0">
                  <a:latin typeface="Times New Roman" panose="02020603050405020304" pitchFamily="18" charset="0"/>
                  <a:ea typeface="楷体" panose="02010609060101010101" pitchFamily="49" charset="-122"/>
                  <a:sym typeface="+mn-ea"/>
                </a:rPr>
                <a:t>游戏对象和组件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32889234"/>
      </p:ext>
    </p:extLst>
  </p:cSld>
  <p:clrMapOvr>
    <a:masterClrMapping/>
  </p:clrMapOvr>
  <p:transition spd="med"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80397CBF-1775-1B68-8176-7C0A764644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: 圆角 6">
            <a:extLst>
              <a:ext uri="{FF2B5EF4-FFF2-40B4-BE49-F238E27FC236}">
                <a16:creationId xmlns:a16="http://schemas.microsoft.com/office/drawing/2014/main" id="{0E29D53B-5406-DB07-14E4-BF179684E6AD}"/>
              </a:ext>
            </a:extLst>
          </p:cNvPr>
          <p:cNvSpPr/>
          <p:nvPr/>
        </p:nvSpPr>
        <p:spPr>
          <a:xfrm>
            <a:off x="1811111" y="1763312"/>
            <a:ext cx="8950023" cy="4686783"/>
          </a:xfrm>
          <a:prstGeom prst="roundRect">
            <a:avLst>
              <a:gd name="adj" fmla="val 1731"/>
            </a:avLst>
          </a:prstGeom>
          <a:gradFill>
            <a:gsLst>
              <a:gs pos="0">
                <a:srgbClr val="7030A0">
                  <a:alpha val="5000"/>
                </a:srgbClr>
              </a:gs>
              <a:gs pos="100000">
                <a:srgbClr val="00B0F0">
                  <a:alpha val="5000"/>
                </a:srgbClr>
              </a:gs>
            </a:gsLst>
            <a:lin ang="13500000" scaled="1"/>
          </a:gradFill>
          <a:ln>
            <a:gradFill>
              <a:gsLst>
                <a:gs pos="0">
                  <a:srgbClr val="0070C0"/>
                </a:gs>
                <a:gs pos="100000">
                  <a:srgbClr val="7030A0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108000" rtlCol="0" anchor="ctr">
            <a:noAutofit/>
          </a:bodyPr>
          <a:lstStyle/>
          <a:p>
            <a:pPr marL="839788" lvl="1" indent="-342900">
              <a:spcBef>
                <a:spcPts val="1100"/>
              </a:spcBef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A7357F"/>
                </a:solidFill>
              </a:rPr>
              <a:t>游戏对象的物理模拟</a:t>
            </a:r>
          </a:p>
          <a:p>
            <a:pPr marL="954088" lvl="2">
              <a:spcBef>
                <a:spcPts val="1100"/>
              </a:spcBef>
            </a:pPr>
            <a:r>
              <a:rPr lang="en-US" altLang="zh-CN" sz="2000" b="1" dirty="0" err="1">
                <a:solidFill>
                  <a:schemeClr val="tx1"/>
                </a:solidFill>
              </a:rPr>
              <a:t>Rigidbody</a:t>
            </a:r>
            <a:r>
              <a:rPr lang="en-US" altLang="zh-CN" sz="2000" b="1" dirty="0">
                <a:solidFill>
                  <a:schemeClr val="tx1"/>
                </a:solidFill>
              </a:rPr>
              <a:t> rigid = </a:t>
            </a:r>
            <a:r>
              <a:rPr lang="en-US" altLang="zh-CN" sz="2000" b="1" dirty="0" err="1">
                <a:solidFill>
                  <a:schemeClr val="tx1"/>
                </a:solidFill>
              </a:rPr>
              <a:t>go.GetComponent</a:t>
            </a:r>
            <a:r>
              <a:rPr lang="en-US" altLang="zh-CN" sz="2000" b="1" dirty="0">
                <a:solidFill>
                  <a:schemeClr val="tx1"/>
                </a:solidFill>
              </a:rPr>
              <a:t>&lt;</a:t>
            </a:r>
            <a:r>
              <a:rPr lang="en-US" altLang="zh-CN" sz="2000" b="1" dirty="0" err="1">
                <a:solidFill>
                  <a:schemeClr val="tx1"/>
                </a:solidFill>
              </a:rPr>
              <a:t>Rigidbody</a:t>
            </a:r>
            <a:r>
              <a:rPr lang="en-US" altLang="zh-CN" sz="2000" b="1" dirty="0">
                <a:solidFill>
                  <a:schemeClr val="tx1"/>
                </a:solidFill>
              </a:rPr>
              <a:t>&gt;();</a:t>
            </a:r>
          </a:p>
          <a:p>
            <a:pPr marL="839788" lvl="1" indent="-342900">
              <a:spcBef>
                <a:spcPts val="1100"/>
              </a:spcBef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A7357F"/>
                </a:solidFill>
              </a:rPr>
              <a:t>处理速度、弹性、摩擦力、重力等</a:t>
            </a:r>
          </a:p>
          <a:p>
            <a:pPr marL="839788" lvl="1" indent="-342900">
              <a:spcBef>
                <a:spcPts val="1100"/>
              </a:spcBef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A7357F"/>
                </a:solidFill>
              </a:rPr>
              <a:t>在每次</a:t>
            </a:r>
            <a:r>
              <a:rPr lang="en-US" altLang="zh-CN" sz="2000" b="1" dirty="0" err="1">
                <a:solidFill>
                  <a:srgbClr val="A7357F"/>
                </a:solidFill>
              </a:rPr>
              <a:t>FixedUpdate</a:t>
            </a:r>
            <a:r>
              <a:rPr lang="en-US" altLang="zh-CN" sz="2000" b="1" dirty="0">
                <a:solidFill>
                  <a:srgbClr val="A7357F"/>
                </a:solidFill>
              </a:rPr>
              <a:t>()</a:t>
            </a:r>
            <a:r>
              <a:rPr lang="zh-CN" altLang="en-US" sz="2000" b="1" dirty="0">
                <a:solidFill>
                  <a:srgbClr val="A7357F"/>
                </a:solidFill>
              </a:rPr>
              <a:t>函数中更新</a:t>
            </a:r>
          </a:p>
          <a:p>
            <a:pPr marL="1296988" lvl="2" indent="-342900">
              <a:spcBef>
                <a:spcPts val="1100"/>
              </a:spcBef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chemeClr val="tx1"/>
                </a:solidFill>
              </a:rPr>
              <a:t>通常每个</a:t>
            </a:r>
            <a:r>
              <a:rPr lang="en-US" altLang="zh-CN" sz="2000" b="1" dirty="0">
                <a:solidFill>
                  <a:schemeClr val="tx1"/>
                </a:solidFill>
              </a:rPr>
              <a:t>1/50</a:t>
            </a:r>
            <a:r>
              <a:rPr lang="zh-CN" altLang="en-US" sz="2000" b="1" dirty="0">
                <a:solidFill>
                  <a:schemeClr val="tx1"/>
                </a:solidFill>
              </a:rPr>
              <a:t>秒执行一次</a:t>
            </a:r>
          </a:p>
          <a:p>
            <a:pPr marL="839788" lvl="1" indent="-342900">
              <a:spcBef>
                <a:spcPts val="1100"/>
              </a:spcBef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A7357F"/>
                </a:solidFill>
              </a:rPr>
              <a:t>如果你希望直接设置游戏对象的位置，而不使用刚体所提供的物理过程，需要将运动学模式设置为</a:t>
            </a:r>
            <a:r>
              <a:rPr lang="en-US" altLang="zh-CN" sz="2000" b="1" dirty="0">
                <a:solidFill>
                  <a:srgbClr val="A7357F"/>
                </a:solidFill>
              </a:rPr>
              <a:t>true</a:t>
            </a:r>
          </a:p>
          <a:p>
            <a:pPr marL="496888" lvl="1">
              <a:spcBef>
                <a:spcPts val="1100"/>
              </a:spcBef>
            </a:pPr>
            <a:r>
              <a:rPr lang="en-US" altLang="zh-CN" sz="2000" b="1" dirty="0">
                <a:solidFill>
                  <a:srgbClr val="A7357F"/>
                </a:solidFill>
              </a:rPr>
              <a:t>	</a:t>
            </a:r>
            <a:r>
              <a:rPr lang="en-US" altLang="zh-CN" sz="2000" b="1" dirty="0" err="1">
                <a:solidFill>
                  <a:schemeClr val="tx1"/>
                </a:solidFill>
              </a:rPr>
              <a:t>rigid.isKinematic</a:t>
            </a:r>
            <a:r>
              <a:rPr lang="en-US" altLang="zh-CN" sz="2000" b="1" dirty="0">
                <a:solidFill>
                  <a:schemeClr val="tx1"/>
                </a:solidFill>
              </a:rPr>
              <a:t> = true;	// </a:t>
            </a:r>
            <a:r>
              <a:rPr lang="zh-CN" altLang="en-US" sz="2000" b="1" dirty="0">
                <a:solidFill>
                  <a:schemeClr val="tx1"/>
                </a:solidFill>
              </a:rPr>
              <a:t>刚体不会自动移动</a:t>
            </a:r>
          </a:p>
          <a:p>
            <a:pPr marL="839788" lvl="1" indent="-342900">
              <a:spcBef>
                <a:spcPts val="1100"/>
              </a:spcBef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A7357F"/>
                </a:solidFill>
              </a:rPr>
              <a:t>没有刚体组件的碰撞器无法移动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51B3C7CE-60E2-8039-23C4-A772295F1361}"/>
              </a:ext>
            </a:extLst>
          </p:cNvPr>
          <p:cNvSpPr/>
          <p:nvPr/>
        </p:nvSpPr>
        <p:spPr>
          <a:xfrm>
            <a:off x="1811112" y="1023066"/>
            <a:ext cx="8950022" cy="609639"/>
          </a:xfrm>
          <a:prstGeom prst="roundRect">
            <a:avLst>
              <a:gd name="adj" fmla="val 3791"/>
            </a:avLst>
          </a:prstGeom>
          <a:gradFill>
            <a:gsLst>
              <a:gs pos="0">
                <a:srgbClr val="7030A0">
                  <a:alpha val="5000"/>
                </a:srgbClr>
              </a:gs>
              <a:gs pos="100000">
                <a:srgbClr val="00B0F0">
                  <a:alpha val="5000"/>
                </a:srgbClr>
              </a:gs>
            </a:gsLst>
            <a:lin ang="13500000" scaled="1"/>
          </a:gradFill>
          <a:ln>
            <a:gradFill>
              <a:gsLst>
                <a:gs pos="0">
                  <a:srgbClr val="0070C0"/>
                </a:gs>
                <a:gs pos="100000">
                  <a:srgbClr val="7030A0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108000" rtlCol="0" anchor="ctr">
            <a:no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400" b="1" dirty="0">
                <a:solidFill>
                  <a:srgbClr val="A7357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宋体" panose="02010600030101010101" pitchFamily="2" charset="-122"/>
                <a:sym typeface="+mn-ea"/>
              </a:rPr>
              <a:t>刚体组件</a:t>
            </a: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5B021DA2-2E63-8941-302F-7754797CF973}"/>
              </a:ext>
            </a:extLst>
          </p:cNvPr>
          <p:cNvGrpSpPr/>
          <p:nvPr/>
        </p:nvGrpSpPr>
        <p:grpSpPr>
          <a:xfrm>
            <a:off x="3986864" y="279746"/>
            <a:ext cx="4523073" cy="523226"/>
            <a:chOff x="4840431" y="207541"/>
            <a:chExt cx="4523073" cy="523226"/>
          </a:xfrm>
        </p:grpSpPr>
        <p:pic>
          <p:nvPicPr>
            <p:cNvPr id="12" name="Picture 4" descr="黑爵(AJAZZ)手柄/方向盘AG180报价_参数_图片_视频_怎么样_问答-苏宁易购">
              <a:extLst>
                <a:ext uri="{FF2B5EF4-FFF2-40B4-BE49-F238E27FC236}">
                  <a16:creationId xmlns:a16="http://schemas.microsoft.com/office/drawing/2014/main" id="{4954A8F6-DA30-632F-A766-7C3A6BC73B8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45" t="9275" r="3752" b="5379"/>
            <a:stretch/>
          </p:blipFill>
          <p:spPr bwMode="auto">
            <a:xfrm>
              <a:off x="4840431" y="314689"/>
              <a:ext cx="407315" cy="37661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3" name="Rectangle 3">
              <a:extLst>
                <a:ext uri="{FF2B5EF4-FFF2-40B4-BE49-F238E27FC236}">
                  <a16:creationId xmlns:a16="http://schemas.microsoft.com/office/drawing/2014/main" id="{F0D838C1-1951-57AC-2652-7952ADBFBBF3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5298546" y="207541"/>
              <a:ext cx="4064958" cy="523226"/>
            </a:xfrm>
            <a:prstGeom prst="rect">
              <a:avLst/>
            </a:prstGeom>
            <a:noFill/>
          </p:spPr>
          <p:txBody>
            <a:bodyPr lIns="90488" tIns="44450" rIns="90488" bIns="44450"/>
            <a:lstStyle>
              <a:lvl1pPr marL="171450" indent="-17145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1pPr>
              <a:lvl2pPr marL="5143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8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2pPr>
              <a:lvl3pPr marL="8572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3pPr>
              <a:lvl4pPr marL="12001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4pPr>
              <a:lvl5pPr marL="15430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fontAlgn="base">
                <a:lnSpc>
                  <a:spcPct val="100000"/>
                </a:lnSpc>
                <a:buNone/>
              </a:pPr>
              <a:r>
                <a:rPr lang="en-US" altLang="zh-CN" sz="3200" dirty="0">
                  <a:latin typeface="Times New Roman" panose="02020603050405020304" pitchFamily="18" charset="0"/>
                  <a:ea typeface="楷体" panose="02010609060101010101" pitchFamily="49" charset="-122"/>
                  <a:sym typeface="+mn-ea"/>
                </a:rPr>
                <a:t>Unity</a:t>
              </a:r>
              <a:r>
                <a:rPr lang="zh-CN" altLang="en-US" sz="3200" dirty="0">
                  <a:latin typeface="Times New Roman" panose="02020603050405020304" pitchFamily="18" charset="0"/>
                  <a:ea typeface="楷体" panose="02010609060101010101" pitchFamily="49" charset="-122"/>
                  <a:sym typeface="+mn-ea"/>
                </a:rPr>
                <a:t>游戏对象和组件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94728747"/>
      </p:ext>
    </p:extLst>
  </p:cSld>
  <p:clrMapOvr>
    <a:masterClrMapping/>
  </p:clrMapOvr>
  <p:transition spd="med"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9DD0FE50-7FC8-FF8E-34B8-E7724B7D4E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: 圆角 6">
            <a:extLst>
              <a:ext uri="{FF2B5EF4-FFF2-40B4-BE49-F238E27FC236}">
                <a16:creationId xmlns:a16="http://schemas.microsoft.com/office/drawing/2014/main" id="{55182463-3357-0F97-4A6A-BEB10C206CBE}"/>
              </a:ext>
            </a:extLst>
          </p:cNvPr>
          <p:cNvSpPr/>
          <p:nvPr/>
        </p:nvSpPr>
        <p:spPr>
          <a:xfrm>
            <a:off x="871311" y="1763312"/>
            <a:ext cx="10711089" cy="4814942"/>
          </a:xfrm>
          <a:prstGeom prst="roundRect">
            <a:avLst>
              <a:gd name="adj" fmla="val 1731"/>
            </a:avLst>
          </a:prstGeom>
          <a:gradFill>
            <a:gsLst>
              <a:gs pos="0">
                <a:srgbClr val="7030A0">
                  <a:alpha val="5000"/>
                </a:srgbClr>
              </a:gs>
              <a:gs pos="100000">
                <a:srgbClr val="00B0F0">
                  <a:alpha val="5000"/>
                </a:srgbClr>
              </a:gs>
            </a:gsLst>
            <a:lin ang="13500000" scaled="1"/>
          </a:gradFill>
          <a:ln>
            <a:gradFill>
              <a:gsLst>
                <a:gs pos="0">
                  <a:srgbClr val="0070C0"/>
                </a:gs>
                <a:gs pos="100000">
                  <a:srgbClr val="7030A0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108000" rtlCol="0" anchor="ctr">
            <a:noAutofit/>
          </a:bodyPr>
          <a:lstStyle/>
          <a:p>
            <a:pPr marL="839788" lvl="1" indent="-342900">
              <a:spcBef>
                <a:spcPts val="1100"/>
              </a:spcBef>
              <a:buFont typeface="Wingdings" panose="05000000000000000000" pitchFamily="2" charset="2"/>
              <a:buChar char="l"/>
            </a:pPr>
            <a:r>
              <a:rPr lang="zh-CN" altLang="en-US" sz="2200" b="1" dirty="0">
                <a:solidFill>
                  <a:srgbClr val="A7357F"/>
                </a:solidFill>
              </a:rPr>
              <a:t>你编写的</a:t>
            </a:r>
            <a:r>
              <a:rPr lang="en-US" altLang="zh-CN" sz="2200" b="1" dirty="0">
                <a:solidFill>
                  <a:srgbClr val="A7357F"/>
                </a:solidFill>
              </a:rPr>
              <a:t>C#</a:t>
            </a:r>
            <a:r>
              <a:rPr lang="zh-CN" altLang="en-US" sz="2200" b="1" dirty="0">
                <a:solidFill>
                  <a:srgbClr val="A7357F"/>
                </a:solidFill>
              </a:rPr>
              <a:t>脚本</a:t>
            </a:r>
            <a:endParaRPr lang="en-US" altLang="zh-CN" sz="2200" b="1" dirty="0">
              <a:solidFill>
                <a:srgbClr val="A7357F"/>
              </a:solidFill>
            </a:endParaRPr>
          </a:p>
          <a:p>
            <a:pPr marL="828675" lvl="2" indent="-114300">
              <a:spcBef>
                <a:spcPts val="700"/>
              </a:spcBef>
              <a:buNone/>
            </a:pPr>
            <a:r>
              <a:rPr lang="en-US" altLang="zh-CN" sz="18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	</a:t>
            </a:r>
            <a:r>
              <a:rPr lang="en-US" altLang="zh-CN" sz="2000" b="1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HelloWorld </a:t>
            </a:r>
            <a:r>
              <a:rPr lang="en-US" altLang="zh-CN" sz="2000" b="1" dirty="0" err="1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hw</a:t>
            </a:r>
            <a:r>
              <a:rPr lang="en-US" altLang="zh-CN" sz="2000" b="1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 = </a:t>
            </a:r>
            <a:r>
              <a:rPr lang="en-US" altLang="zh-CN" sz="2000" b="1" dirty="0" err="1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go.GetComponent</a:t>
            </a:r>
            <a:r>
              <a:rPr lang="en-US" altLang="zh-CN" sz="2000" b="1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&lt;HelloWorld&gt;();</a:t>
            </a:r>
            <a:endParaRPr lang="en-US" altLang="zh-CN" sz="2000" b="1" dirty="0">
              <a:solidFill>
                <a:srgbClr val="000000"/>
              </a:solidFill>
            </a:endParaRPr>
          </a:p>
          <a:p>
            <a:pPr marL="839788" lvl="1" indent="-342900">
              <a:spcBef>
                <a:spcPts val="1100"/>
              </a:spcBef>
              <a:buFont typeface="Wingdings" panose="05000000000000000000" pitchFamily="2" charset="2"/>
              <a:buChar char="l"/>
            </a:pPr>
            <a:r>
              <a:rPr lang="en-US" altLang="zh-CN" sz="2200" b="1" dirty="0" err="1">
                <a:solidFill>
                  <a:srgbClr val="A7357F"/>
                </a:solidFill>
              </a:rPr>
              <a:t>因为C#脚本</a:t>
            </a:r>
            <a:r>
              <a:rPr lang="zh-CN" altLang="en-US" sz="2200" b="1" dirty="0">
                <a:solidFill>
                  <a:srgbClr val="A7357F"/>
                </a:solidFill>
              </a:rPr>
              <a:t>可以</a:t>
            </a:r>
            <a:r>
              <a:rPr lang="en-US" altLang="zh-CN" sz="2200" b="1" dirty="0" err="1">
                <a:solidFill>
                  <a:srgbClr val="A7357F"/>
                </a:solidFill>
              </a:rPr>
              <a:t>作为组件处理</a:t>
            </a:r>
            <a:r>
              <a:rPr lang="en-US" altLang="zh-CN" sz="2200" b="1" dirty="0">
                <a:solidFill>
                  <a:srgbClr val="A7357F"/>
                </a:solidFill>
              </a:rPr>
              <a:t>，</a:t>
            </a:r>
            <a:r>
              <a:rPr lang="zh-CN" altLang="en-US" sz="2200" b="1" dirty="0">
                <a:solidFill>
                  <a:srgbClr val="A7357F"/>
                </a:solidFill>
              </a:rPr>
              <a:t>所以</a:t>
            </a:r>
            <a:r>
              <a:rPr lang="en-US" altLang="zh-CN" sz="2200" b="1" dirty="0" err="1">
                <a:solidFill>
                  <a:srgbClr val="A7357F"/>
                </a:solidFill>
              </a:rPr>
              <a:t>多个脚本可以附加到同一个游戏对象上</a:t>
            </a:r>
            <a:endParaRPr lang="en-US" altLang="zh-CN" sz="2200" b="1" dirty="0">
              <a:solidFill>
                <a:srgbClr val="A7357F"/>
              </a:solidFill>
            </a:endParaRPr>
          </a:p>
          <a:p>
            <a:pPr marL="1000125" lvl="2" indent="-285750">
              <a:spcBef>
                <a:spcPts val="700"/>
              </a:spcBef>
              <a:buFont typeface="Wingdings" panose="05000000000000000000" pitchFamily="2" charset="2"/>
              <a:buChar char="l"/>
            </a:pPr>
            <a:r>
              <a:rPr lang="en-US" altLang="zh-CN" sz="2000" dirty="0" err="1">
                <a:solidFill>
                  <a:srgbClr val="000000"/>
                </a:solidFill>
              </a:rPr>
              <a:t>这使得面向对象编程更加灵活</a:t>
            </a:r>
            <a:endParaRPr lang="en-US" altLang="zh-CN" sz="2000" dirty="0">
              <a:solidFill>
                <a:srgbClr val="000000"/>
              </a:solidFill>
            </a:endParaRPr>
          </a:p>
          <a:p>
            <a:pPr marL="1000125" lvl="2" indent="-285750">
              <a:spcBef>
                <a:spcPts val="700"/>
              </a:spcBef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</a:rPr>
              <a:t>在后续部分会有多个示例</a:t>
            </a:r>
            <a:endParaRPr lang="en-US" altLang="zh-CN" sz="2000" dirty="0">
              <a:solidFill>
                <a:srgbClr val="000000"/>
              </a:solidFill>
            </a:endParaRPr>
          </a:p>
          <a:p>
            <a:pPr marL="839788" lvl="1" indent="-342900">
              <a:spcBef>
                <a:spcPts val="1100"/>
              </a:spcBef>
              <a:buFont typeface="Wingdings" panose="05000000000000000000" pitchFamily="2" charset="2"/>
              <a:buChar char="l"/>
            </a:pPr>
            <a:r>
              <a:rPr lang="en-US" altLang="zh-CN" sz="2200" b="1" dirty="0" err="1">
                <a:solidFill>
                  <a:srgbClr val="A7357F"/>
                </a:solidFill>
              </a:rPr>
              <a:t>脚本中的公共字段将在Unity</a:t>
            </a:r>
            <a:r>
              <a:rPr lang="zh-CN" altLang="en-US" sz="2200" b="1" dirty="0">
                <a:solidFill>
                  <a:srgbClr val="A7357F"/>
                </a:solidFill>
              </a:rPr>
              <a:t>检查器</a:t>
            </a:r>
            <a:r>
              <a:rPr lang="en-US" altLang="zh-CN" sz="2200" b="1" dirty="0" err="1">
                <a:solidFill>
                  <a:srgbClr val="A7357F"/>
                </a:solidFill>
              </a:rPr>
              <a:t>中显示为可编辑字段</a:t>
            </a:r>
            <a:r>
              <a:rPr lang="en-US" altLang="zh-CN" sz="2200" b="1" dirty="0">
                <a:solidFill>
                  <a:srgbClr val="A7357F"/>
                </a:solidFill>
              </a:rPr>
              <a:t> </a:t>
            </a:r>
          </a:p>
          <a:p>
            <a:pPr marL="1000125" lvl="2" indent="-285750">
              <a:lnSpc>
                <a:spcPct val="120000"/>
              </a:lnSpc>
              <a:spcBef>
                <a:spcPts val="700"/>
              </a:spcBef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</a:rPr>
              <a:t>类和变量的名称会与它们在</a:t>
            </a:r>
            <a:r>
              <a:rPr lang="en-US" altLang="zh-CN" sz="2000" dirty="0">
                <a:solidFill>
                  <a:srgbClr val="000000"/>
                </a:solidFill>
              </a:rPr>
              <a:t>C#</a:t>
            </a:r>
            <a:r>
              <a:rPr lang="zh-CN" altLang="en-US" sz="2000" dirty="0">
                <a:solidFill>
                  <a:srgbClr val="000000"/>
                </a:solidFill>
              </a:rPr>
              <a:t>脚本中的拼写不同</a:t>
            </a:r>
            <a:endParaRPr lang="en-US" altLang="zh-CN" sz="2000" dirty="0">
              <a:solidFill>
                <a:srgbClr val="000000"/>
              </a:solidFill>
            </a:endParaRPr>
          </a:p>
          <a:p>
            <a:pPr marL="1697038" lvl="3" indent="-28575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</a:rPr>
              <a:t>类名</a:t>
            </a:r>
            <a:r>
              <a:rPr lang="en-US" altLang="zh-CN" sz="2000" dirty="0" err="1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ScopeExample</a:t>
            </a:r>
            <a:r>
              <a:rPr lang="zh-CN" altLang="en-US" sz="2000" dirty="0">
                <a:solidFill>
                  <a:srgbClr val="000000"/>
                </a:solidFill>
              </a:rPr>
              <a:t>变为</a:t>
            </a:r>
            <a:r>
              <a:rPr lang="en-US" altLang="zh-CN" sz="2000" dirty="0">
                <a:solidFill>
                  <a:srgbClr val="000000"/>
                </a:solidFill>
              </a:rPr>
              <a:t>Scope Example (Script).</a:t>
            </a:r>
          </a:p>
          <a:p>
            <a:pPr marL="1697038" lvl="3" indent="-28575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</a:rPr>
              <a:t>变量名</a:t>
            </a:r>
            <a:r>
              <a:rPr lang="en-US" altLang="zh-CN" sz="2000" dirty="0" err="1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trueOrFalse</a:t>
            </a:r>
            <a:r>
              <a:rPr lang="zh-CN" altLang="en-US" sz="2000" dirty="0">
                <a:solidFill>
                  <a:srgbClr val="000000"/>
                </a:solidFill>
              </a:rPr>
              <a:t>变为</a:t>
            </a:r>
            <a:r>
              <a:rPr lang="en-US" altLang="zh-CN" sz="2000" dirty="0">
                <a:solidFill>
                  <a:srgbClr val="000000"/>
                </a:solidFill>
              </a:rPr>
              <a:t>True Or False.</a:t>
            </a:r>
          </a:p>
          <a:p>
            <a:pPr marL="1697038" lvl="3" indent="-28575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</a:rPr>
              <a:t>变量名</a:t>
            </a:r>
            <a:r>
              <a:rPr lang="en-US" altLang="zh-CN" sz="2000" dirty="0" err="1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graduationAge</a:t>
            </a:r>
            <a:r>
              <a:rPr lang="zh-CN" altLang="en-US" sz="2000" dirty="0">
                <a:solidFill>
                  <a:srgbClr val="000000"/>
                </a:solidFill>
              </a:rPr>
              <a:t>变为</a:t>
            </a:r>
            <a:r>
              <a:rPr lang="en-US" altLang="zh-CN" sz="2000" dirty="0">
                <a:solidFill>
                  <a:srgbClr val="000000"/>
                </a:solidFill>
              </a:rPr>
              <a:t>Graduation Age.</a:t>
            </a:r>
          </a:p>
          <a:p>
            <a:pPr marL="1697038" lvl="3" indent="-28575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</a:rPr>
              <a:t>变量名</a:t>
            </a:r>
            <a:r>
              <a:rPr lang="en-US" altLang="zh-CN" sz="2000" dirty="0" err="1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goldenRatio</a:t>
            </a:r>
            <a:r>
              <a:rPr lang="zh-CN" altLang="en-US" sz="20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变为</a:t>
            </a:r>
            <a:r>
              <a:rPr lang="en-US" altLang="zh-CN" sz="2000" dirty="0">
                <a:solidFill>
                  <a:srgbClr val="000000"/>
                </a:solidFill>
              </a:rPr>
              <a:t>Golden Ratio.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02823558-E2A8-78C1-D4D8-0D52E1D083D4}"/>
              </a:ext>
            </a:extLst>
          </p:cNvPr>
          <p:cNvSpPr/>
          <p:nvPr/>
        </p:nvSpPr>
        <p:spPr>
          <a:xfrm>
            <a:off x="871312" y="1023066"/>
            <a:ext cx="10711088" cy="609639"/>
          </a:xfrm>
          <a:prstGeom prst="roundRect">
            <a:avLst>
              <a:gd name="adj" fmla="val 3791"/>
            </a:avLst>
          </a:prstGeom>
          <a:gradFill>
            <a:gsLst>
              <a:gs pos="0">
                <a:srgbClr val="7030A0">
                  <a:alpha val="5000"/>
                </a:srgbClr>
              </a:gs>
              <a:gs pos="100000">
                <a:srgbClr val="00B0F0">
                  <a:alpha val="5000"/>
                </a:srgbClr>
              </a:gs>
            </a:gsLst>
            <a:lin ang="13500000" scaled="1"/>
          </a:gradFill>
          <a:ln>
            <a:gradFill>
              <a:gsLst>
                <a:gs pos="0">
                  <a:srgbClr val="0070C0"/>
                </a:gs>
                <a:gs pos="100000">
                  <a:srgbClr val="7030A0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108000" rtlCol="0" anchor="ctr">
            <a:no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400" b="1" dirty="0">
                <a:solidFill>
                  <a:srgbClr val="A7357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宋体" panose="02010600030101010101" pitchFamily="2" charset="-122"/>
                <a:sym typeface="+mn-ea"/>
              </a:rPr>
              <a:t>脚本组件</a:t>
            </a: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6190F7AB-FFC2-5463-677F-CF7FE80678CF}"/>
              </a:ext>
            </a:extLst>
          </p:cNvPr>
          <p:cNvGrpSpPr/>
          <p:nvPr/>
        </p:nvGrpSpPr>
        <p:grpSpPr>
          <a:xfrm>
            <a:off x="3986864" y="279746"/>
            <a:ext cx="4523073" cy="523226"/>
            <a:chOff x="4840431" y="207541"/>
            <a:chExt cx="4523073" cy="523226"/>
          </a:xfrm>
        </p:grpSpPr>
        <p:pic>
          <p:nvPicPr>
            <p:cNvPr id="12" name="Picture 4" descr="黑爵(AJAZZ)手柄/方向盘AG180报价_参数_图片_视频_怎么样_问答-苏宁易购">
              <a:extLst>
                <a:ext uri="{FF2B5EF4-FFF2-40B4-BE49-F238E27FC236}">
                  <a16:creationId xmlns:a16="http://schemas.microsoft.com/office/drawing/2014/main" id="{CDE6A513-5487-9FA5-175F-A2B5A3CEF02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45" t="9275" r="3752" b="5379"/>
            <a:stretch/>
          </p:blipFill>
          <p:spPr bwMode="auto">
            <a:xfrm>
              <a:off x="4840431" y="314689"/>
              <a:ext cx="407315" cy="37661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3" name="Rectangle 3">
              <a:extLst>
                <a:ext uri="{FF2B5EF4-FFF2-40B4-BE49-F238E27FC236}">
                  <a16:creationId xmlns:a16="http://schemas.microsoft.com/office/drawing/2014/main" id="{1C504C73-CB9D-7FD9-F5EF-5A2662FA8F8E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5298546" y="207541"/>
              <a:ext cx="4064958" cy="523226"/>
            </a:xfrm>
            <a:prstGeom prst="rect">
              <a:avLst/>
            </a:prstGeom>
            <a:noFill/>
          </p:spPr>
          <p:txBody>
            <a:bodyPr lIns="90488" tIns="44450" rIns="90488" bIns="44450"/>
            <a:lstStyle>
              <a:lvl1pPr marL="171450" indent="-17145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1pPr>
              <a:lvl2pPr marL="5143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8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2pPr>
              <a:lvl3pPr marL="8572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3pPr>
              <a:lvl4pPr marL="12001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4pPr>
              <a:lvl5pPr marL="15430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fontAlgn="base">
                <a:lnSpc>
                  <a:spcPct val="100000"/>
                </a:lnSpc>
                <a:buNone/>
              </a:pPr>
              <a:r>
                <a:rPr lang="en-US" altLang="zh-CN" sz="3200" dirty="0">
                  <a:latin typeface="Times New Roman" panose="02020603050405020304" pitchFamily="18" charset="0"/>
                  <a:ea typeface="楷体" panose="02010609060101010101" pitchFamily="49" charset="-122"/>
                  <a:sym typeface="+mn-ea"/>
                </a:rPr>
                <a:t>Unity</a:t>
              </a:r>
              <a:r>
                <a:rPr lang="zh-CN" altLang="en-US" sz="3200" dirty="0">
                  <a:latin typeface="Times New Roman" panose="02020603050405020304" pitchFamily="18" charset="0"/>
                  <a:ea typeface="楷体" panose="02010609060101010101" pitchFamily="49" charset="-122"/>
                  <a:sym typeface="+mn-ea"/>
                </a:rPr>
                <a:t>游戏对象和组件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6201271"/>
      </p:ext>
    </p:extLst>
  </p:cSld>
  <p:clrMapOvr>
    <a:masterClrMapping/>
  </p:clrMapOvr>
  <p:transition spd="med"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Rectangle 4">
            <a:extLst>
              <a:ext uri="{FF2B5EF4-FFF2-40B4-BE49-F238E27FC236}">
                <a16:creationId xmlns:a16="http://schemas.microsoft.com/office/drawing/2014/main" id="{C6FBB411-71B5-7417-EBC1-B11F5D3356CC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>
          <a:xfrm>
            <a:off x="1109133" y="1193800"/>
            <a:ext cx="7289800" cy="5412726"/>
          </a:xfrm>
        </p:spPr>
        <p:txBody>
          <a:bodyPr/>
          <a:lstStyle/>
          <a:p>
            <a:pPr eaLnBrk="1">
              <a:lnSpc>
                <a:spcPct val="120000"/>
              </a:lnSpc>
              <a:buSzTx/>
              <a:buFont typeface="Wingdings" panose="05000000000000000000" pitchFamily="2" charset="2"/>
              <a:buChar char="l"/>
            </a:pPr>
            <a:r>
              <a:rPr lang="zh-CN" altLang="en-US" b="1" dirty="0">
                <a:solidFill>
                  <a:srgbClr val="A7357F"/>
                </a:solidFill>
                <a:latin typeface="+mj-ea"/>
                <a:ea typeface="+mj-ea"/>
              </a:rPr>
              <a:t>学习了如何申明和定义</a:t>
            </a:r>
            <a:r>
              <a:rPr lang="en-US" altLang="zh-CN" b="1" dirty="0">
                <a:solidFill>
                  <a:srgbClr val="A7357F"/>
                </a:solidFill>
                <a:latin typeface="+mj-ea"/>
                <a:ea typeface="+mj-ea"/>
              </a:rPr>
              <a:t>C#</a:t>
            </a:r>
            <a:r>
              <a:rPr lang="zh-CN" altLang="en-US" b="1" dirty="0">
                <a:solidFill>
                  <a:srgbClr val="A7357F"/>
                </a:solidFill>
                <a:latin typeface="+mj-ea"/>
                <a:ea typeface="+mj-ea"/>
              </a:rPr>
              <a:t>变量</a:t>
            </a:r>
            <a:endParaRPr lang="en-US" altLang="zh-CN" b="1" dirty="0">
              <a:solidFill>
                <a:srgbClr val="A7357F"/>
              </a:solidFill>
              <a:latin typeface="+mj-ea"/>
              <a:ea typeface="+mj-ea"/>
            </a:endParaRPr>
          </a:p>
          <a:p>
            <a:pPr eaLnBrk="1">
              <a:lnSpc>
                <a:spcPct val="120000"/>
              </a:lnSpc>
              <a:buSzTx/>
              <a:buFont typeface="Wingdings" panose="05000000000000000000" pitchFamily="2" charset="2"/>
              <a:buChar char="l"/>
            </a:pPr>
            <a:r>
              <a:rPr lang="zh-CN" altLang="en-US" b="1" dirty="0">
                <a:solidFill>
                  <a:srgbClr val="A7357F"/>
                </a:solidFill>
                <a:latin typeface="+mj-ea"/>
                <a:ea typeface="+mj-ea"/>
              </a:rPr>
              <a:t>学习了几种重要的</a:t>
            </a:r>
            <a:r>
              <a:rPr lang="en-US" altLang="zh-CN" b="1" dirty="0">
                <a:solidFill>
                  <a:srgbClr val="A7357F"/>
                </a:solidFill>
                <a:latin typeface="+mj-ea"/>
                <a:ea typeface="+mj-ea"/>
              </a:rPr>
              <a:t>C#</a:t>
            </a:r>
            <a:r>
              <a:rPr lang="zh-CN" altLang="en-US" b="1" dirty="0">
                <a:solidFill>
                  <a:srgbClr val="A7357F"/>
                </a:solidFill>
                <a:latin typeface="+mj-ea"/>
                <a:ea typeface="+mj-ea"/>
              </a:rPr>
              <a:t>变量类型</a:t>
            </a:r>
            <a:endParaRPr lang="en-US" altLang="zh-CN" b="1" dirty="0">
              <a:solidFill>
                <a:srgbClr val="A7357F"/>
              </a:solidFill>
              <a:latin typeface="+mj-ea"/>
              <a:ea typeface="+mj-ea"/>
            </a:endParaRPr>
          </a:p>
          <a:p>
            <a:pPr marL="839788" lvl="1" indent="-342900">
              <a:lnSpc>
                <a:spcPct val="120000"/>
              </a:lnSpc>
              <a:spcBef>
                <a:spcPts val="1100"/>
              </a:spcBef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latin typeface="+mj-ea"/>
                <a:ea typeface="+mj-ea"/>
              </a:rPr>
              <a:t>这些变量名都以小写字母开头</a:t>
            </a:r>
            <a:endParaRPr lang="en-US" altLang="zh-CN" dirty="0">
              <a:solidFill>
                <a:srgbClr val="000000"/>
              </a:solidFill>
              <a:latin typeface="+mj-ea"/>
              <a:ea typeface="+mj-ea"/>
            </a:endParaRP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b="1" dirty="0">
                <a:solidFill>
                  <a:srgbClr val="A7357F"/>
                </a:solidFill>
                <a:latin typeface="+mj-ea"/>
                <a:ea typeface="+mj-ea"/>
              </a:rPr>
              <a:t>学习了本书中使用的命名惯例</a:t>
            </a:r>
            <a:endParaRPr lang="en-US" altLang="zh-CN" b="1" dirty="0">
              <a:solidFill>
                <a:srgbClr val="A7357F"/>
              </a:solidFill>
              <a:latin typeface="+mj-ea"/>
              <a:ea typeface="+mj-ea"/>
            </a:endParaRPr>
          </a:p>
          <a:p>
            <a:pPr>
              <a:lnSpc>
                <a:spcPct val="120000"/>
              </a:lnSpc>
              <a:buSzTx/>
              <a:buFont typeface="Wingdings" panose="05000000000000000000" pitchFamily="2" charset="2"/>
              <a:buChar char="l"/>
            </a:pPr>
            <a:r>
              <a:rPr lang="en-US" altLang="zh-CN" b="1" dirty="0" err="1">
                <a:solidFill>
                  <a:srgbClr val="A7357F"/>
                </a:solidFill>
                <a:latin typeface="+mj-ea"/>
                <a:ea typeface="+mj-ea"/>
              </a:rPr>
              <a:t>Unity中的重要变量类型</a:t>
            </a:r>
            <a:endParaRPr lang="en-US" altLang="zh-CN" b="1" dirty="0">
              <a:solidFill>
                <a:srgbClr val="A7357F"/>
              </a:solidFill>
              <a:latin typeface="+mj-ea"/>
              <a:ea typeface="+mj-ea"/>
            </a:endParaRPr>
          </a:p>
          <a:p>
            <a:pPr marL="839788" lvl="1" indent="-342900">
              <a:lnSpc>
                <a:spcPct val="120000"/>
              </a:lnSpc>
              <a:spcBef>
                <a:spcPts val="1100"/>
              </a:spcBef>
              <a:buFont typeface="Wingdings" panose="05000000000000000000" pitchFamily="2" charset="2"/>
              <a:buChar char="l"/>
            </a:pPr>
            <a:r>
              <a:rPr lang="en-US" altLang="zh-CN" dirty="0" err="1">
                <a:solidFill>
                  <a:srgbClr val="000000"/>
                </a:solidFill>
                <a:latin typeface="+mj-ea"/>
                <a:ea typeface="+mj-ea"/>
              </a:rPr>
              <a:t>这些变量名都以小写字母开头</a:t>
            </a:r>
            <a:endParaRPr lang="en-US" altLang="zh-CN" dirty="0">
              <a:solidFill>
                <a:srgbClr val="000000"/>
              </a:solidFill>
              <a:latin typeface="+mj-ea"/>
              <a:ea typeface="+mj-ea"/>
            </a:endParaRP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en-US" altLang="zh-CN" b="1" dirty="0" err="1">
                <a:solidFill>
                  <a:srgbClr val="A7357F"/>
                </a:solidFill>
                <a:latin typeface="+mj-ea"/>
                <a:ea typeface="+mj-ea"/>
              </a:rPr>
              <a:t>学习了Unity</a:t>
            </a:r>
            <a:r>
              <a:rPr lang="en-US" altLang="zh-CN" b="1" dirty="0">
                <a:solidFill>
                  <a:srgbClr val="A7357F"/>
                </a:solidFill>
                <a:latin typeface="+mj-ea"/>
                <a:ea typeface="+mj-ea"/>
              </a:rPr>
              <a:t> </a:t>
            </a:r>
            <a:r>
              <a:rPr lang="en-US" altLang="zh-CN" b="1" dirty="0" err="1">
                <a:solidFill>
                  <a:srgbClr val="A7357F"/>
                </a:solidFill>
                <a:latin typeface="+mj-ea"/>
                <a:ea typeface="+mj-ea"/>
              </a:rPr>
              <a:t>游戏对象组件</a:t>
            </a:r>
            <a:endParaRPr lang="en-US" altLang="zh-CN" b="1" dirty="0">
              <a:solidFill>
                <a:srgbClr val="A7357F"/>
              </a:solidFill>
              <a:latin typeface="+mj-ea"/>
              <a:ea typeface="+mj-ea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D59051B6-2481-6A5F-0FF6-3A4A94CB3B8B}"/>
              </a:ext>
            </a:extLst>
          </p:cNvPr>
          <p:cNvGrpSpPr/>
          <p:nvPr/>
        </p:nvGrpSpPr>
        <p:grpSpPr>
          <a:xfrm>
            <a:off x="4929672" y="251474"/>
            <a:ext cx="2332656" cy="523226"/>
            <a:chOff x="4840431" y="207541"/>
            <a:chExt cx="2332656" cy="523226"/>
          </a:xfrm>
        </p:grpSpPr>
        <p:pic>
          <p:nvPicPr>
            <p:cNvPr id="4" name="Picture 4" descr="黑爵(AJAZZ)手柄/方向盘AG180报价_参数_图片_视频_怎么样_问答-苏宁易购">
              <a:extLst>
                <a:ext uri="{FF2B5EF4-FFF2-40B4-BE49-F238E27FC236}">
                  <a16:creationId xmlns:a16="http://schemas.microsoft.com/office/drawing/2014/main" id="{09B44BE4-4F6D-B7CD-5BFA-B2A84A95C93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45" t="9275" r="3752" b="5379"/>
            <a:stretch/>
          </p:blipFill>
          <p:spPr bwMode="auto">
            <a:xfrm>
              <a:off x="4840431" y="314689"/>
              <a:ext cx="407315" cy="37661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" name="Rectangle 3">
              <a:extLst>
                <a:ext uri="{FF2B5EF4-FFF2-40B4-BE49-F238E27FC236}">
                  <a16:creationId xmlns:a16="http://schemas.microsoft.com/office/drawing/2014/main" id="{D52B5811-2D15-D24C-E429-AA59F27725C8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5298546" y="207541"/>
              <a:ext cx="1874541" cy="523226"/>
            </a:xfrm>
            <a:prstGeom prst="rect">
              <a:avLst/>
            </a:prstGeom>
            <a:noFill/>
          </p:spPr>
          <p:txBody>
            <a:bodyPr lIns="90488" tIns="44450" rIns="90488" bIns="44450"/>
            <a:lstStyle>
              <a:lvl1pPr marL="171450" indent="-17145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1pPr>
              <a:lvl2pPr marL="5143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8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2pPr>
              <a:lvl3pPr marL="8572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3pPr>
              <a:lvl4pPr marL="12001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4pPr>
              <a:lvl5pPr marL="15430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fontAlgn="base">
                <a:lnSpc>
                  <a:spcPct val="100000"/>
                </a:lnSpc>
                <a:buNone/>
              </a:pPr>
              <a:r>
                <a:rPr lang="zh-CN" altLang="en-US" sz="3200" dirty="0">
                  <a:latin typeface="Times New Roman" panose="02020603050405020304" pitchFamily="18" charset="0"/>
                  <a:ea typeface="楷体" panose="02010609060101010101" pitchFamily="49" charset="-122"/>
                  <a:sym typeface="+mn-ea"/>
                </a:rPr>
                <a:t>内容小结</a:t>
              </a:r>
            </a:p>
          </p:txBody>
        </p:sp>
      </p:grpSp>
    </p:spTree>
  </p:cSld>
  <p:clrMapOvr>
    <a:masterClrMapping/>
  </p:clrMapOvr>
  <p:transition spd="med"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B5AA73-ED64-4585-F819-B95D1D63F1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">
            <a:extLst>
              <a:ext uri="{FF2B5EF4-FFF2-40B4-BE49-F238E27FC236}">
                <a16:creationId xmlns:a16="http://schemas.microsoft.com/office/drawing/2014/main" id="{A5C85310-F8B0-039F-0285-97D56716ED16}"/>
              </a:ext>
            </a:extLst>
          </p:cNvPr>
          <p:cNvSpPr txBox="1">
            <a:spLocks noChangeArrowheads="1"/>
          </p:cNvSpPr>
          <p:nvPr/>
        </p:nvSpPr>
        <p:spPr>
          <a:xfrm>
            <a:off x="2978487" y="2145533"/>
            <a:ext cx="6235025" cy="2566933"/>
          </a:xfrm>
          <a:prstGeom prst="rect">
            <a:avLst/>
          </a:prstGeom>
          <a:noFill/>
        </p:spPr>
        <p:txBody>
          <a:bodyPr lIns="0" tIns="0" rIns="0" bIns="0"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b="1" kern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b="1" kern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b="1" kern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b="1" kern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fontAlgn="auto">
              <a:spcAft>
                <a:spcPts val="0"/>
              </a:spcAft>
              <a:buNone/>
            </a:pPr>
            <a:r>
              <a:rPr lang="zh-CN" altLang="en-US" sz="96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布尔运算和比较运算符</a:t>
            </a:r>
          </a:p>
        </p:txBody>
      </p:sp>
      <p:pic>
        <p:nvPicPr>
          <p:cNvPr id="4" name="Picture 4" descr="黑爵(AJAZZ)手柄/方向盘AG180报价_参数_图片_视频_怎么样_问答-苏宁易购">
            <a:extLst>
              <a:ext uri="{FF2B5EF4-FFF2-40B4-BE49-F238E27FC236}">
                <a16:creationId xmlns:a16="http://schemas.microsoft.com/office/drawing/2014/main" id="{39E9F3CE-243A-0C6C-133A-B26E4CDC21D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45" t="9275" r="3752" b="5379"/>
          <a:stretch/>
        </p:blipFill>
        <p:spPr bwMode="auto">
          <a:xfrm>
            <a:off x="6630660" y="1616743"/>
            <a:ext cx="7054860" cy="65231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2110980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4">
            <a:extLst>
              <a:ext uri="{FF2B5EF4-FFF2-40B4-BE49-F238E27FC236}">
                <a16:creationId xmlns:a16="http://schemas.microsoft.com/office/drawing/2014/main" id="{BCF96E0F-A95F-10FD-A61B-401CF01B6F5E}"/>
              </a:ext>
            </a:extLst>
          </p:cNvPr>
          <p:cNvSpPr txBox="1">
            <a:spLocks noChangeArrowheads="1"/>
          </p:cNvSpPr>
          <p:nvPr/>
        </p:nvSpPr>
        <p:spPr>
          <a:xfrm>
            <a:off x="701040" y="1018540"/>
            <a:ext cx="8229600" cy="2369820"/>
          </a:xfrm>
          <a:prstGeom prst="rect">
            <a:avLst/>
          </a:prstGeom>
        </p:spPr>
        <p:txBody>
          <a:bodyPr/>
          <a:lstStyle>
            <a:lvl1pPr marL="228598" indent="-228598" algn="l" defTabSz="914391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zh-CN" sz="2800" kern="1200">
                <a:solidFill>
                  <a:schemeClr val="tx1"/>
                </a:solidFill>
                <a:latin typeface="+mn-cs"/>
                <a:ea typeface="+mn-ea"/>
                <a:cs typeface="+mn-cs"/>
              </a:defRPr>
            </a:lvl1pPr>
            <a:lvl2pPr marL="68579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sz="2400" kern="1200">
                <a:solidFill>
                  <a:schemeClr val="tx1"/>
                </a:solidFill>
                <a:latin typeface="+mn-cs"/>
                <a:ea typeface="+mn-ea"/>
                <a:cs typeface="+mn-cs"/>
              </a:defRPr>
            </a:lvl2pPr>
            <a:lvl3pPr marL="1142989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sz="2000" kern="1200">
                <a:solidFill>
                  <a:schemeClr val="tx1"/>
                </a:solidFill>
                <a:latin typeface="+mn-cs"/>
                <a:ea typeface="+mn-ea"/>
                <a:cs typeface="+mn-cs"/>
              </a:defRPr>
            </a:lvl3pPr>
            <a:lvl4pPr marL="1600185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sz="1800" kern="1200">
                <a:solidFill>
                  <a:schemeClr val="tx1"/>
                </a:solidFill>
                <a:latin typeface="+mn-cs"/>
                <a:ea typeface="+mn-ea"/>
                <a:cs typeface="+mn-cs"/>
              </a:defRPr>
            </a:lvl4pPr>
            <a:lvl5pPr marL="2057380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sz="1800" kern="1200">
                <a:solidFill>
                  <a:schemeClr val="tx1"/>
                </a:solidFill>
                <a:latin typeface="+mn-cs"/>
                <a:ea typeface="+mn-ea"/>
                <a:cs typeface="+mn-cs"/>
              </a:defRPr>
            </a:lvl5pPr>
            <a:lvl6pPr marL="2514576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sz="1800" kern="1200">
                <a:solidFill>
                  <a:schemeClr val="tx1"/>
                </a:solidFill>
                <a:latin typeface="+mn-cs"/>
                <a:ea typeface="+mn-ea"/>
                <a:cs typeface="+mn-cs"/>
              </a:defRPr>
            </a:lvl6pPr>
            <a:lvl7pPr marL="2971772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sz="1800" kern="1200">
                <a:solidFill>
                  <a:schemeClr val="tx1"/>
                </a:solidFill>
                <a:latin typeface="+mn-cs"/>
                <a:ea typeface="+mn-ea"/>
                <a:cs typeface="+mn-cs"/>
              </a:defRPr>
            </a:lvl7pPr>
            <a:lvl8pPr marL="3428967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sz="1800" kern="1200">
                <a:solidFill>
                  <a:schemeClr val="tx1"/>
                </a:solidFill>
                <a:latin typeface="+mn-cs"/>
                <a:ea typeface="+mn-ea"/>
                <a:cs typeface="+mn-cs"/>
              </a:defRPr>
            </a:lvl8pPr>
            <a:lvl9pPr marL="3886163" indent="-228598" algn="l" defTabSz="91439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sz="1800" kern="1200">
                <a:solidFill>
                  <a:schemeClr val="tx1"/>
                </a:solidFill>
                <a:latin typeface="+mn-cs"/>
                <a:ea typeface="+mn-ea"/>
                <a:cs typeface="+mn-cs"/>
              </a:defRPr>
            </a:lvl9pPr>
          </a:lstStyle>
          <a:p>
            <a:r>
              <a:rPr lang="zh-CN" altLang="en-US" dirty="0"/>
              <a:t>布尔运算</a:t>
            </a:r>
          </a:p>
          <a:p>
            <a:pPr marL="750888" lvl="1" indent="-254000">
              <a:spcBef>
                <a:spcPts val="1100"/>
              </a:spcBef>
              <a:buFontTx/>
              <a:buChar char="–"/>
            </a:pPr>
            <a:r>
              <a:rPr lang="zh-CN" altLang="en-US" sz="2000" dirty="0">
                <a:solidFill>
                  <a:srgbClr val="000000"/>
                </a:solidFill>
              </a:rPr>
              <a:t>短路 </a:t>
            </a:r>
            <a:r>
              <a:rPr lang="en-US" altLang="zh-CN" sz="2000" dirty="0">
                <a:solidFill>
                  <a:srgbClr val="000000"/>
                </a:solidFill>
              </a:rPr>
              <a:t>vs </a:t>
            </a:r>
            <a:r>
              <a:rPr lang="zh-CN" altLang="en-US" sz="2000" dirty="0">
                <a:solidFill>
                  <a:srgbClr val="000000"/>
                </a:solidFill>
              </a:rPr>
              <a:t>非短路</a:t>
            </a:r>
          </a:p>
          <a:p>
            <a:pPr marL="750888" lvl="1" indent="-254000">
              <a:spcBef>
                <a:spcPts val="1100"/>
              </a:spcBef>
              <a:buFontTx/>
              <a:buChar char="–"/>
            </a:pPr>
            <a:r>
              <a:rPr lang="zh-CN" altLang="en-US" sz="2000" dirty="0">
                <a:solidFill>
                  <a:srgbClr val="000000"/>
                </a:solidFill>
              </a:rPr>
              <a:t>布尔运算的组合</a:t>
            </a:r>
          </a:p>
          <a:p>
            <a:pPr marL="1106488" lvl="2" indent="-152400">
              <a:spcBef>
                <a:spcPts val="700"/>
              </a:spcBef>
              <a:buFontTx/>
              <a:buChar char="•"/>
            </a:pPr>
            <a:r>
              <a:rPr lang="zh-CN" altLang="en-US" sz="1800" dirty="0">
                <a:solidFill>
                  <a:srgbClr val="000000"/>
                </a:solidFill>
              </a:rPr>
              <a:t>运算顺序</a:t>
            </a:r>
          </a:p>
          <a:p>
            <a:r>
              <a:rPr lang="zh-CN" altLang="en-US" dirty="0"/>
              <a:t>比较运算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B2B4536D-BB43-C736-7C4F-7D28C78AD5EC}"/>
              </a:ext>
            </a:extLst>
          </p:cNvPr>
          <p:cNvGrpSpPr/>
          <p:nvPr/>
        </p:nvGrpSpPr>
        <p:grpSpPr>
          <a:xfrm>
            <a:off x="5364993" y="251474"/>
            <a:ext cx="1462015" cy="490115"/>
            <a:chOff x="4840431" y="207541"/>
            <a:chExt cx="1462015" cy="490115"/>
          </a:xfrm>
        </p:grpSpPr>
        <p:pic>
          <p:nvPicPr>
            <p:cNvPr id="5" name="Picture 4" descr="黑爵(AJAZZ)手柄/方向盘AG180报价_参数_图片_视频_怎么样_问答-苏宁易购">
              <a:extLst>
                <a:ext uri="{FF2B5EF4-FFF2-40B4-BE49-F238E27FC236}">
                  <a16:creationId xmlns:a16="http://schemas.microsoft.com/office/drawing/2014/main" id="{C7E8CE3B-EE36-0147-DDC3-6C70472D056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45" t="9275" r="3752" b="5379"/>
            <a:stretch/>
          </p:blipFill>
          <p:spPr bwMode="auto">
            <a:xfrm>
              <a:off x="4840431" y="321039"/>
              <a:ext cx="407315" cy="37661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Rectangle 3">
              <a:extLst>
                <a:ext uri="{FF2B5EF4-FFF2-40B4-BE49-F238E27FC236}">
                  <a16:creationId xmlns:a16="http://schemas.microsoft.com/office/drawing/2014/main" id="{FC705EB7-7564-79CD-B381-97387D26667F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5298546" y="207541"/>
              <a:ext cx="1003900" cy="471065"/>
            </a:xfrm>
            <a:prstGeom prst="rect">
              <a:avLst/>
            </a:prstGeom>
            <a:noFill/>
          </p:spPr>
          <p:txBody>
            <a:bodyPr lIns="90488" tIns="44450" rIns="90488" bIns="44450"/>
            <a:lstStyle>
              <a:lvl1pPr marL="171450" indent="-17145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1pPr>
              <a:lvl2pPr marL="5143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8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2pPr>
              <a:lvl3pPr marL="8572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3pPr>
              <a:lvl4pPr marL="12001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4pPr>
              <a:lvl5pPr marL="15430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fontAlgn="base">
                <a:lnSpc>
                  <a:spcPct val="100000"/>
                </a:lnSpc>
                <a:buNone/>
              </a:pPr>
              <a:r>
                <a:rPr lang="zh-CN" altLang="en-US" sz="3200" dirty="0">
                  <a:latin typeface="Times New Roman" panose="02020603050405020304" pitchFamily="18" charset="0"/>
                  <a:ea typeface="楷体" panose="02010609060101010101" pitchFamily="49" charset="-122"/>
                  <a:sym typeface="+mn-ea"/>
                </a:rPr>
                <a:t>目录</a:t>
              </a:r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5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Rectangle 4">
            <a:extLst>
              <a:ext uri="{FF2B5EF4-FFF2-40B4-BE49-F238E27FC236}">
                <a16:creationId xmlns:a16="http://schemas.microsoft.com/office/drawing/2014/main" id="{D979C8E3-CA61-9C6B-E4AA-D8FD02862DA9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>
          <a:xfrm>
            <a:off x="1945640" y="1671320"/>
            <a:ext cx="8229600" cy="3997960"/>
          </a:xfrm>
          <a:prstGeom prst="rect">
            <a:avLst/>
          </a:prstGeom>
        </p:spPr>
        <p:txBody>
          <a:bodyPr/>
          <a:lstStyle/>
          <a:p>
            <a:pPr eaLnBrk="1">
              <a:buSzTx/>
            </a:pPr>
            <a:r>
              <a:rPr lang="en-US" altLang="zh-CN" dirty="0"/>
              <a:t>“</a:t>
            </a:r>
            <a:r>
              <a:rPr lang="zh-CN" altLang="en-US" dirty="0"/>
              <a:t>布尔值的组合与比较操作</a:t>
            </a:r>
            <a:endParaRPr lang="en-US" altLang="zh-CN" dirty="0"/>
          </a:p>
          <a:p>
            <a:pPr marL="750888" lvl="1" indent="-254000">
              <a:spcBef>
                <a:spcPts val="1100"/>
              </a:spcBef>
              <a:buFontTx/>
              <a:buChar char="–"/>
            </a:pPr>
            <a:r>
              <a:rPr lang="en-US" altLang="zh-CN" sz="20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!	      </a:t>
            </a:r>
            <a:r>
              <a:rPr lang="zh-CN" altLang="en-US" sz="2000" dirty="0">
                <a:solidFill>
                  <a:srgbClr val="000000"/>
                </a:solidFill>
              </a:rPr>
              <a:t>逻辑非运算符</a:t>
            </a:r>
            <a:endParaRPr lang="en-US" altLang="zh-CN" sz="2000" dirty="0">
              <a:solidFill>
                <a:srgbClr val="000000"/>
              </a:solidFill>
            </a:endParaRPr>
          </a:p>
          <a:p>
            <a:pPr marL="750888" lvl="1" indent="-254000">
              <a:spcBef>
                <a:spcPts val="1100"/>
              </a:spcBef>
              <a:buFontTx/>
              <a:buChar char="–"/>
            </a:pPr>
            <a:r>
              <a:rPr lang="en-US" altLang="zh-CN" sz="20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&amp;&amp;	</a:t>
            </a:r>
            <a:r>
              <a:rPr lang="zh-CN" altLang="en-US" sz="2000" dirty="0">
                <a:solidFill>
                  <a:srgbClr val="000000"/>
                </a:solidFill>
              </a:rPr>
              <a:t>逻辑与运算符</a:t>
            </a:r>
            <a:endParaRPr lang="en-US" altLang="zh-CN" sz="2000" dirty="0">
              <a:solidFill>
                <a:srgbClr val="000000"/>
              </a:solidFill>
            </a:endParaRPr>
          </a:p>
          <a:p>
            <a:pPr marL="750888" lvl="1" indent="-254000">
              <a:spcBef>
                <a:spcPts val="1100"/>
              </a:spcBef>
              <a:buFontTx/>
              <a:buChar char="–"/>
            </a:pPr>
            <a:r>
              <a:rPr lang="en-US" altLang="zh-CN" sz="20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||	</a:t>
            </a:r>
            <a:r>
              <a:rPr lang="zh-CN" altLang="en-US" sz="2000" dirty="0">
                <a:solidFill>
                  <a:srgbClr val="000000"/>
                </a:solidFill>
              </a:rPr>
              <a:t>逻辑或运算符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C84315A6-7CE2-81E3-841D-AB82FE8B347D}"/>
              </a:ext>
            </a:extLst>
          </p:cNvPr>
          <p:cNvGrpSpPr/>
          <p:nvPr/>
        </p:nvGrpSpPr>
        <p:grpSpPr>
          <a:xfrm>
            <a:off x="4935476" y="251474"/>
            <a:ext cx="2321047" cy="490115"/>
            <a:chOff x="4840431" y="207541"/>
            <a:chExt cx="2321047" cy="490115"/>
          </a:xfrm>
        </p:grpSpPr>
        <p:pic>
          <p:nvPicPr>
            <p:cNvPr id="4" name="Picture 4" descr="黑爵(AJAZZ)手柄/方向盘AG180报价_参数_图片_视频_怎么样_问答-苏宁易购">
              <a:extLst>
                <a:ext uri="{FF2B5EF4-FFF2-40B4-BE49-F238E27FC236}">
                  <a16:creationId xmlns:a16="http://schemas.microsoft.com/office/drawing/2014/main" id="{15149D8B-64C6-58DA-1CD0-C26188E10E8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45" t="9275" r="3752" b="5379"/>
            <a:stretch/>
          </p:blipFill>
          <p:spPr bwMode="auto">
            <a:xfrm>
              <a:off x="4840431" y="321039"/>
              <a:ext cx="407315" cy="37661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" name="Rectangle 3">
              <a:extLst>
                <a:ext uri="{FF2B5EF4-FFF2-40B4-BE49-F238E27FC236}">
                  <a16:creationId xmlns:a16="http://schemas.microsoft.com/office/drawing/2014/main" id="{AD499710-A2D4-CCAB-2C72-09EBB4C60ED0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5298546" y="207541"/>
              <a:ext cx="1862932" cy="471065"/>
            </a:xfrm>
            <a:prstGeom prst="rect">
              <a:avLst/>
            </a:prstGeom>
            <a:noFill/>
          </p:spPr>
          <p:txBody>
            <a:bodyPr lIns="90488" tIns="44450" rIns="90488" bIns="44450"/>
            <a:lstStyle>
              <a:lvl1pPr marL="171450" indent="-17145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1pPr>
              <a:lvl2pPr marL="5143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8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2pPr>
              <a:lvl3pPr marL="8572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3pPr>
              <a:lvl4pPr marL="12001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4pPr>
              <a:lvl5pPr marL="15430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fontAlgn="base">
                <a:lnSpc>
                  <a:spcPct val="100000"/>
                </a:lnSpc>
                <a:buNone/>
              </a:pPr>
              <a:r>
                <a:rPr lang="zh-CN" altLang="en-US" sz="3200" dirty="0">
                  <a:latin typeface="Times New Roman" panose="02020603050405020304" pitchFamily="18" charset="0"/>
                  <a:ea typeface="楷体" panose="02010609060101010101" pitchFamily="49" charset="-122"/>
                  <a:sym typeface="+mn-ea"/>
                </a:rPr>
                <a:t>布尔运算</a:t>
              </a:r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8" grpId="0" build="p" bldLvl="5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2" name="Rectangle 4">
            <a:extLst>
              <a:ext uri="{FF2B5EF4-FFF2-40B4-BE49-F238E27FC236}">
                <a16:creationId xmlns:a16="http://schemas.microsoft.com/office/drawing/2014/main" id="{D963A43B-66A4-A85F-6D44-BF5F489F9B7E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>
          <a:xfrm>
            <a:off x="1981200" y="1524000"/>
            <a:ext cx="8229600" cy="3810000"/>
          </a:xfrm>
          <a:prstGeom prst="rect">
            <a:avLst/>
          </a:prstGeom>
        </p:spPr>
        <p:txBody>
          <a:bodyPr/>
          <a:lstStyle/>
          <a:p>
            <a:pPr eaLnBrk="1">
              <a:buSzTx/>
            </a:pPr>
            <a:r>
              <a:rPr lang="en-US" altLang="zh-CN" dirty="0">
                <a:latin typeface="Courier" pitchFamily="125" charset="0"/>
                <a:sym typeface="Courier" pitchFamily="125" charset="0"/>
              </a:rPr>
              <a:t>!	</a:t>
            </a:r>
            <a:r>
              <a:rPr lang="zh-CN" altLang="en-US" dirty="0"/>
              <a:t>逻辑非运算符</a:t>
            </a:r>
            <a:endParaRPr lang="en-US" altLang="zh-CN" dirty="0"/>
          </a:p>
          <a:p>
            <a:pPr marL="750888" lvl="1" indent="-254000">
              <a:spcBef>
                <a:spcPts val="1100"/>
              </a:spcBef>
              <a:buFontTx/>
              <a:buChar char="–"/>
            </a:pPr>
            <a:r>
              <a:rPr lang="zh-CN" altLang="en-US" sz="2000" dirty="0">
                <a:solidFill>
                  <a:srgbClr val="000000"/>
                </a:solidFill>
              </a:rPr>
              <a:t>读作</a:t>
            </a:r>
            <a:r>
              <a:rPr lang="en-US" altLang="zh-CN" sz="2000" dirty="0">
                <a:solidFill>
                  <a:srgbClr val="000000"/>
                </a:solidFill>
              </a:rPr>
              <a:t>"not" </a:t>
            </a:r>
            <a:r>
              <a:rPr lang="zh-CN" altLang="en-US" sz="2000" dirty="0">
                <a:solidFill>
                  <a:srgbClr val="000000"/>
                </a:solidFill>
              </a:rPr>
              <a:t>或</a:t>
            </a:r>
            <a:r>
              <a:rPr lang="en-US" altLang="zh-CN" sz="2000" dirty="0">
                <a:solidFill>
                  <a:srgbClr val="000000"/>
                </a:solidFill>
              </a:rPr>
              <a:t> "bang"</a:t>
            </a:r>
          </a:p>
          <a:p>
            <a:pPr marL="750888" lvl="1" indent="-254000">
              <a:spcBef>
                <a:spcPts val="1100"/>
              </a:spcBef>
              <a:buFontTx/>
              <a:buChar char="–"/>
            </a:pPr>
            <a:r>
              <a:rPr lang="zh-CN" altLang="en-US" sz="2000" dirty="0">
                <a:solidFill>
                  <a:srgbClr val="000000"/>
                </a:solidFill>
              </a:rPr>
              <a:t>反转布尔值</a:t>
            </a:r>
            <a:endParaRPr lang="en-US" altLang="zh-CN" sz="2000" dirty="0">
              <a:solidFill>
                <a:srgbClr val="000000"/>
              </a:solidFill>
            </a:endParaRPr>
          </a:p>
          <a:p>
            <a:pPr marL="552450" lvl="2" indent="-76200">
              <a:spcBef>
                <a:spcPts val="700"/>
              </a:spcBef>
              <a:buNone/>
            </a:pPr>
            <a:r>
              <a:rPr lang="en-US" altLang="zh-CN" sz="18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		print( !true );    </a:t>
            </a:r>
            <a:r>
              <a:rPr lang="en-US" altLang="zh-CN" sz="1800" dirty="0">
                <a:solidFill>
                  <a:srgbClr val="000000"/>
                </a:solidFill>
              </a:rPr>
              <a:t>// </a:t>
            </a:r>
            <a:r>
              <a:rPr lang="zh-CN" altLang="en-US" sz="1800" dirty="0">
                <a:solidFill>
                  <a:srgbClr val="000000"/>
                </a:solidFill>
              </a:rPr>
              <a:t>输出</a:t>
            </a:r>
            <a:r>
              <a:rPr lang="en-US" altLang="zh-CN" sz="1800" dirty="0">
                <a:solidFill>
                  <a:srgbClr val="000000"/>
                </a:solidFill>
              </a:rPr>
              <a:t>: false</a:t>
            </a:r>
            <a:br>
              <a:rPr lang="en-US" altLang="zh-CN" sz="1800" dirty="0">
                <a:solidFill>
                  <a:srgbClr val="000000"/>
                </a:solidFill>
              </a:rPr>
            </a:br>
            <a:r>
              <a:rPr lang="en-US" altLang="zh-CN" sz="1800" dirty="0">
                <a:solidFill>
                  <a:srgbClr val="000000"/>
                </a:solidFill>
              </a:rPr>
              <a:t>	</a:t>
            </a:r>
            <a:r>
              <a:rPr lang="en-US" altLang="zh-CN" sz="18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print( !false );   </a:t>
            </a:r>
            <a:r>
              <a:rPr lang="en-US" altLang="zh-CN" sz="1800" dirty="0">
                <a:solidFill>
                  <a:srgbClr val="000000"/>
                </a:solidFill>
              </a:rPr>
              <a:t>// </a:t>
            </a:r>
            <a:r>
              <a:rPr lang="zh-CN" altLang="en-US" sz="1800" dirty="0">
                <a:solidFill>
                  <a:srgbClr val="000000"/>
                </a:solidFill>
              </a:rPr>
              <a:t>输出</a:t>
            </a:r>
            <a:r>
              <a:rPr lang="en-US" altLang="zh-CN" sz="1800" dirty="0">
                <a:solidFill>
                  <a:srgbClr val="000000"/>
                </a:solidFill>
              </a:rPr>
              <a:t>: true</a:t>
            </a:r>
            <a:br>
              <a:rPr lang="en-US" altLang="zh-CN" sz="1800" dirty="0">
                <a:solidFill>
                  <a:srgbClr val="000000"/>
                </a:solidFill>
              </a:rPr>
            </a:br>
            <a:r>
              <a:rPr lang="en-US" altLang="zh-CN" sz="1800" dirty="0">
                <a:solidFill>
                  <a:srgbClr val="000000"/>
                </a:solidFill>
              </a:rPr>
              <a:t>	</a:t>
            </a:r>
            <a:r>
              <a:rPr lang="en-US" altLang="zh-CN" sz="18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print( !(!true) ); </a:t>
            </a:r>
            <a:r>
              <a:rPr lang="en-US" altLang="zh-CN" sz="1800" dirty="0">
                <a:solidFill>
                  <a:srgbClr val="000000"/>
                </a:solidFill>
              </a:rPr>
              <a:t>// </a:t>
            </a:r>
            <a:r>
              <a:rPr lang="zh-CN" altLang="en-US" sz="1800" dirty="0">
                <a:solidFill>
                  <a:srgbClr val="000000"/>
                </a:solidFill>
              </a:rPr>
              <a:t>输出</a:t>
            </a:r>
            <a:r>
              <a:rPr lang="en-US" altLang="zh-CN" sz="1800" dirty="0">
                <a:solidFill>
                  <a:srgbClr val="000000"/>
                </a:solidFill>
              </a:rPr>
              <a:t>: true </a:t>
            </a:r>
          </a:p>
          <a:p>
            <a:pPr marL="552450" lvl="2" indent="-76200">
              <a:spcBef>
                <a:spcPts val="700"/>
              </a:spcBef>
              <a:buNone/>
            </a:pPr>
            <a:r>
              <a:rPr lang="en-US" altLang="zh-CN" sz="1800" dirty="0">
                <a:solidFill>
                  <a:srgbClr val="000000"/>
                </a:solidFill>
              </a:rPr>
              <a:t>                                          //(true</a:t>
            </a:r>
            <a:r>
              <a:rPr lang="zh-CN" altLang="en-US" sz="1800" dirty="0">
                <a:solidFill>
                  <a:srgbClr val="000000"/>
                </a:solidFill>
              </a:rPr>
              <a:t>经过两次逻辑非运算之后的值仍是</a:t>
            </a:r>
            <a:r>
              <a:rPr lang="en-US" altLang="zh-CN" sz="1800" dirty="0">
                <a:solidFill>
                  <a:srgbClr val="000000"/>
                </a:solidFill>
              </a:rPr>
              <a:t>true)</a:t>
            </a:r>
            <a:endParaRPr lang="en-US" altLang="zh-CN" sz="1800" dirty="0">
              <a:solidFill>
                <a:srgbClr val="000000"/>
              </a:solidFill>
              <a:latin typeface="Courier" pitchFamily="125" charset="0"/>
              <a:sym typeface="Courier" pitchFamily="125" charset="0"/>
            </a:endParaRPr>
          </a:p>
          <a:p>
            <a:pPr marL="750888" lvl="1" indent="-254000">
              <a:spcBef>
                <a:spcPts val="1100"/>
              </a:spcBef>
              <a:buFontTx/>
              <a:buChar char="–"/>
            </a:pPr>
            <a:r>
              <a:rPr lang="zh-CN" altLang="en-US" sz="2000" dirty="0">
                <a:solidFill>
                  <a:srgbClr val="000000"/>
                </a:solidFill>
              </a:rPr>
              <a:t>有时也称为逻辑取反运算符</a:t>
            </a:r>
            <a:endParaRPr lang="en-US" altLang="zh-CN" sz="2000" dirty="0">
              <a:solidFill>
                <a:srgbClr val="000000"/>
              </a:solidFill>
            </a:endParaRPr>
          </a:p>
          <a:p>
            <a:pPr marL="552450" lvl="2" indent="-76200">
              <a:spcBef>
                <a:spcPts val="700"/>
              </a:spcBef>
              <a:buFontTx/>
              <a:buChar char="•"/>
            </a:pPr>
            <a:r>
              <a:rPr lang="zh-CN" altLang="en-US" sz="1800" dirty="0">
                <a:solidFill>
                  <a:srgbClr val="000000"/>
                </a:solidFill>
              </a:rPr>
              <a:t>有别于</a:t>
            </a:r>
            <a:r>
              <a:rPr lang="en-US" altLang="zh-CN" sz="1800" dirty="0">
                <a:solidFill>
                  <a:srgbClr val="000000"/>
                </a:solidFill>
              </a:rPr>
              <a:t> ~</a:t>
            </a:r>
            <a:r>
              <a:rPr lang="zh-CN" altLang="en-US" sz="1800" dirty="0">
                <a:solidFill>
                  <a:srgbClr val="000000"/>
                </a:solidFill>
                <a:ea typeface="楷体" panose="02010609060101010101" pitchFamily="49" charset="-122"/>
              </a:rPr>
              <a:t>（按位取反运算符）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C88227D1-645F-0944-B321-B4CE5101979A}"/>
              </a:ext>
            </a:extLst>
          </p:cNvPr>
          <p:cNvGrpSpPr/>
          <p:nvPr/>
        </p:nvGrpSpPr>
        <p:grpSpPr>
          <a:xfrm>
            <a:off x="4935476" y="251474"/>
            <a:ext cx="2321047" cy="490115"/>
            <a:chOff x="4840431" y="207541"/>
            <a:chExt cx="2321047" cy="490115"/>
          </a:xfrm>
        </p:grpSpPr>
        <p:pic>
          <p:nvPicPr>
            <p:cNvPr id="4" name="Picture 4" descr="黑爵(AJAZZ)手柄/方向盘AG180报价_参数_图片_视频_怎么样_问答-苏宁易购">
              <a:extLst>
                <a:ext uri="{FF2B5EF4-FFF2-40B4-BE49-F238E27FC236}">
                  <a16:creationId xmlns:a16="http://schemas.microsoft.com/office/drawing/2014/main" id="{E6BC26F8-1219-F92C-4483-92F6ABAA6BC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45" t="9275" r="3752" b="5379"/>
            <a:stretch/>
          </p:blipFill>
          <p:spPr bwMode="auto">
            <a:xfrm>
              <a:off x="4840431" y="321039"/>
              <a:ext cx="407315" cy="37661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" name="Rectangle 3">
              <a:extLst>
                <a:ext uri="{FF2B5EF4-FFF2-40B4-BE49-F238E27FC236}">
                  <a16:creationId xmlns:a16="http://schemas.microsoft.com/office/drawing/2014/main" id="{FB4D64DC-4D42-EC0C-0A0E-3A320C3A4087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5298546" y="207541"/>
              <a:ext cx="1862932" cy="471065"/>
            </a:xfrm>
            <a:prstGeom prst="rect">
              <a:avLst/>
            </a:prstGeom>
            <a:noFill/>
          </p:spPr>
          <p:txBody>
            <a:bodyPr lIns="90488" tIns="44450" rIns="90488" bIns="44450"/>
            <a:lstStyle>
              <a:lvl1pPr marL="171450" indent="-17145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1pPr>
              <a:lvl2pPr marL="5143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8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2pPr>
              <a:lvl3pPr marL="8572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3pPr>
              <a:lvl4pPr marL="12001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4pPr>
              <a:lvl5pPr marL="15430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fontAlgn="base">
                <a:lnSpc>
                  <a:spcPct val="100000"/>
                </a:lnSpc>
                <a:buNone/>
              </a:pPr>
              <a:r>
                <a:rPr lang="zh-CN" altLang="en-US" sz="3200" dirty="0">
                  <a:latin typeface="Times New Roman" panose="02020603050405020304" pitchFamily="18" charset="0"/>
                  <a:ea typeface="楷体" panose="02010609060101010101" pitchFamily="49" charset="-122"/>
                  <a:sym typeface="+mn-ea"/>
                </a:rPr>
                <a:t>布尔运算</a:t>
              </a:r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2" grpId="0" build="p" bldLvl="5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Rectangle 4">
            <a:extLst>
              <a:ext uri="{FF2B5EF4-FFF2-40B4-BE49-F238E27FC236}">
                <a16:creationId xmlns:a16="http://schemas.microsoft.com/office/drawing/2014/main" id="{89A74A9A-2EAE-BBED-0353-BD8C82032660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>
          <a:xfrm>
            <a:off x="1981200" y="1632055"/>
            <a:ext cx="8229600" cy="4323080"/>
          </a:xfrm>
          <a:prstGeom prst="rect">
            <a:avLst/>
          </a:prstGeom>
        </p:spPr>
        <p:txBody>
          <a:bodyPr/>
          <a:lstStyle/>
          <a:p>
            <a:pPr eaLnBrk="1"/>
            <a:r>
              <a:rPr lang="en-US" altLang="zh-CN" dirty="0">
                <a:latin typeface="Courier" pitchFamily="125" charset="0"/>
                <a:sym typeface="Courier" pitchFamily="125" charset="0"/>
              </a:rPr>
              <a:t>&amp;&amp;	</a:t>
            </a:r>
            <a:r>
              <a:rPr lang="zh-CN" altLang="en-US" dirty="0"/>
              <a:t>逻辑与运算符</a:t>
            </a:r>
            <a:endParaRPr lang="en-US" altLang="zh-CN" dirty="0"/>
          </a:p>
          <a:p>
            <a:pPr marL="750888" lvl="1" indent="-254000">
              <a:spcBef>
                <a:spcPts val="1100"/>
              </a:spcBef>
              <a:buFontTx/>
              <a:buChar char="–"/>
            </a:pPr>
            <a:r>
              <a:rPr lang="zh-CN" altLang="en-US" sz="2000" dirty="0">
                <a:solidFill>
                  <a:srgbClr val="000000"/>
                </a:solidFill>
              </a:rPr>
              <a:t>只有两个操作数均为</a:t>
            </a:r>
            <a:r>
              <a:rPr lang="en-US" altLang="zh-CN" sz="2000" dirty="0">
                <a:solidFill>
                  <a:srgbClr val="000000"/>
                </a:solidFill>
              </a:rPr>
              <a:t>true</a:t>
            </a:r>
            <a:r>
              <a:rPr lang="zh-CN" altLang="en-US" sz="2000" dirty="0">
                <a:solidFill>
                  <a:srgbClr val="000000"/>
                </a:solidFill>
              </a:rPr>
              <a:t>时，</a:t>
            </a:r>
            <a:r>
              <a:rPr lang="en-US" altLang="zh-CN" sz="2000" dirty="0">
                <a:solidFill>
                  <a:srgbClr val="000000"/>
                </a:solidFill>
              </a:rPr>
              <a:t>&amp;&amp;</a:t>
            </a:r>
            <a:r>
              <a:rPr lang="zh-CN" altLang="en-US" sz="2000" dirty="0">
                <a:solidFill>
                  <a:srgbClr val="000000"/>
                </a:solidFill>
              </a:rPr>
              <a:t>运算符才返回</a:t>
            </a:r>
            <a:r>
              <a:rPr lang="en-US" altLang="zh-CN" sz="2000" dirty="0">
                <a:solidFill>
                  <a:srgbClr val="000000"/>
                </a:solidFill>
              </a:rPr>
              <a:t>true</a:t>
            </a:r>
          </a:p>
          <a:p>
            <a:pPr marL="0" lvl="2" indent="0">
              <a:spcBef>
                <a:spcPts val="700"/>
              </a:spcBef>
              <a:buNone/>
            </a:pPr>
            <a:r>
              <a:rPr lang="en-US" altLang="zh-CN" sz="18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	print( false &amp;&amp; false );    // false</a:t>
            </a:r>
            <a:br>
              <a:rPr lang="en-US" altLang="zh-CN" sz="18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</a:br>
            <a:r>
              <a:rPr lang="en-US" altLang="zh-CN" sz="18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	print( false &amp;&amp; true  );    // false</a:t>
            </a:r>
            <a:br>
              <a:rPr lang="en-US" altLang="zh-CN" sz="18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</a:br>
            <a:r>
              <a:rPr lang="en-US" altLang="zh-CN" sz="18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	print( true  &amp;&amp; false );    // false</a:t>
            </a:r>
            <a:br>
              <a:rPr lang="en-US" altLang="zh-CN" sz="18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</a:br>
            <a:r>
              <a:rPr lang="en-US" altLang="zh-CN" sz="18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	print( true  &amp;&amp; true  );    // true </a:t>
            </a:r>
            <a:endParaRPr lang="en-US" altLang="zh-CN" sz="1800" dirty="0">
              <a:solidFill>
                <a:srgbClr val="000000"/>
              </a:solidFill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CD3DE6F2-2798-A435-5173-823AD6A4F178}"/>
              </a:ext>
            </a:extLst>
          </p:cNvPr>
          <p:cNvGrpSpPr/>
          <p:nvPr/>
        </p:nvGrpSpPr>
        <p:grpSpPr>
          <a:xfrm>
            <a:off x="4935476" y="251474"/>
            <a:ext cx="2321047" cy="490115"/>
            <a:chOff x="4840431" y="207541"/>
            <a:chExt cx="2321047" cy="490115"/>
          </a:xfrm>
        </p:grpSpPr>
        <p:pic>
          <p:nvPicPr>
            <p:cNvPr id="4" name="Picture 4" descr="黑爵(AJAZZ)手柄/方向盘AG180报价_参数_图片_视频_怎么样_问答-苏宁易购">
              <a:extLst>
                <a:ext uri="{FF2B5EF4-FFF2-40B4-BE49-F238E27FC236}">
                  <a16:creationId xmlns:a16="http://schemas.microsoft.com/office/drawing/2014/main" id="{E6B2BCD2-7B6C-78D6-3AB1-F757A903F06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45" t="9275" r="3752" b="5379"/>
            <a:stretch/>
          </p:blipFill>
          <p:spPr bwMode="auto">
            <a:xfrm>
              <a:off x="4840431" y="321039"/>
              <a:ext cx="407315" cy="37661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" name="Rectangle 3">
              <a:extLst>
                <a:ext uri="{FF2B5EF4-FFF2-40B4-BE49-F238E27FC236}">
                  <a16:creationId xmlns:a16="http://schemas.microsoft.com/office/drawing/2014/main" id="{32F4D8B2-7A83-EE63-6B70-0A1C6B14917D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5298546" y="207541"/>
              <a:ext cx="1862932" cy="471065"/>
            </a:xfrm>
            <a:prstGeom prst="rect">
              <a:avLst/>
            </a:prstGeom>
            <a:noFill/>
          </p:spPr>
          <p:txBody>
            <a:bodyPr lIns="90488" tIns="44450" rIns="90488" bIns="44450"/>
            <a:lstStyle>
              <a:lvl1pPr marL="171450" indent="-17145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1pPr>
              <a:lvl2pPr marL="5143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8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2pPr>
              <a:lvl3pPr marL="8572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3pPr>
              <a:lvl4pPr marL="12001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4pPr>
              <a:lvl5pPr marL="15430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fontAlgn="base">
                <a:lnSpc>
                  <a:spcPct val="100000"/>
                </a:lnSpc>
                <a:buNone/>
              </a:pPr>
              <a:r>
                <a:rPr lang="zh-CN" altLang="en-US" sz="3200" dirty="0">
                  <a:latin typeface="Times New Roman" panose="02020603050405020304" pitchFamily="18" charset="0"/>
                  <a:ea typeface="楷体" panose="02010609060101010101" pitchFamily="49" charset="-122"/>
                  <a:sym typeface="+mn-ea"/>
                </a:rPr>
                <a:t>布尔运算</a:t>
              </a:r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1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1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1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6" grpId="0" build="p" bldLvl="5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4">
            <a:extLst>
              <a:ext uri="{FF2B5EF4-FFF2-40B4-BE49-F238E27FC236}">
                <a16:creationId xmlns:a16="http://schemas.microsoft.com/office/drawing/2014/main" id="{E258A7EC-0167-567A-2D19-AAE6384623A7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>
          <a:xfrm>
            <a:off x="1981200" y="1417320"/>
            <a:ext cx="8229600" cy="5008880"/>
          </a:xfrm>
          <a:prstGeom prst="rect">
            <a:avLst/>
          </a:prstGeom>
        </p:spPr>
        <p:txBody>
          <a:bodyPr/>
          <a:lstStyle/>
          <a:p>
            <a:pPr eaLnBrk="1">
              <a:buSzTx/>
            </a:pPr>
            <a:r>
              <a:rPr lang="en-US" altLang="zh-CN" dirty="0">
                <a:latin typeface="Courier" pitchFamily="125" charset="0"/>
                <a:sym typeface="Courier" pitchFamily="125" charset="0"/>
              </a:rPr>
              <a:t>||	</a:t>
            </a:r>
            <a:r>
              <a:rPr lang="zh-CN" altLang="en-US" dirty="0"/>
              <a:t>逻辑或运算</a:t>
            </a:r>
            <a:endParaRPr lang="en-US" altLang="zh-CN" dirty="0"/>
          </a:p>
          <a:p>
            <a:pPr marL="750888" lvl="1" indent="-254000">
              <a:spcBef>
                <a:spcPts val="1100"/>
              </a:spcBef>
              <a:buFontTx/>
              <a:buChar char="–"/>
            </a:pPr>
            <a:r>
              <a:rPr lang="zh-CN" altLang="en-US" sz="2000" dirty="0">
                <a:solidFill>
                  <a:srgbClr val="000000"/>
                </a:solidFill>
              </a:rPr>
              <a:t>两个操作数有一个为</a:t>
            </a:r>
            <a:r>
              <a:rPr lang="en-US" altLang="zh-CN" sz="2000" dirty="0">
                <a:solidFill>
                  <a:srgbClr val="000000"/>
                </a:solidFill>
              </a:rPr>
              <a:t>true</a:t>
            </a:r>
            <a:r>
              <a:rPr lang="zh-CN" altLang="en-US" sz="2000" dirty="0">
                <a:solidFill>
                  <a:srgbClr val="000000"/>
                </a:solidFill>
              </a:rPr>
              <a:t>或均为</a:t>
            </a:r>
            <a:r>
              <a:rPr lang="en-US" altLang="zh-CN" sz="2000" dirty="0">
                <a:solidFill>
                  <a:srgbClr val="000000"/>
                </a:solidFill>
              </a:rPr>
              <a:t>true</a:t>
            </a:r>
            <a:r>
              <a:rPr lang="zh-CN" altLang="en-US" sz="2000" dirty="0">
                <a:solidFill>
                  <a:srgbClr val="000000"/>
                </a:solidFill>
              </a:rPr>
              <a:t>时，</a:t>
            </a:r>
            <a:r>
              <a:rPr lang="en-US" altLang="zh-CN" sz="2000" dirty="0">
                <a:solidFill>
                  <a:srgbClr val="000000"/>
                </a:solidFill>
              </a:rPr>
              <a:t>||</a:t>
            </a:r>
            <a:r>
              <a:rPr lang="zh-CN" altLang="en-US" sz="2000" dirty="0">
                <a:solidFill>
                  <a:srgbClr val="000000"/>
                </a:solidFill>
              </a:rPr>
              <a:t>运算符返回</a:t>
            </a:r>
            <a:r>
              <a:rPr lang="en-US" altLang="zh-CN" sz="2000" dirty="0">
                <a:solidFill>
                  <a:srgbClr val="000000"/>
                </a:solidFill>
              </a:rPr>
              <a:t>true</a:t>
            </a:r>
          </a:p>
          <a:p>
            <a:pPr marL="552450" lvl="2" indent="-76200">
              <a:spcBef>
                <a:spcPts val="700"/>
              </a:spcBef>
              <a:buNone/>
            </a:pPr>
            <a:r>
              <a:rPr lang="en-US" altLang="zh-CN" sz="18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		print( false &amp;&amp; false );    // false</a:t>
            </a:r>
            <a:br>
              <a:rPr lang="en-US" altLang="zh-CN" sz="18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</a:br>
            <a:r>
              <a:rPr lang="en-US" altLang="zh-CN" sz="18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	print( false &amp;&amp; true  );    // true</a:t>
            </a:r>
            <a:br>
              <a:rPr lang="en-US" altLang="zh-CN" sz="18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</a:br>
            <a:r>
              <a:rPr lang="en-US" altLang="zh-CN" sz="18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	print( true  &amp;&amp; false );    // true</a:t>
            </a:r>
            <a:br>
              <a:rPr lang="en-US" altLang="zh-CN" sz="18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</a:br>
            <a:r>
              <a:rPr lang="en-US" altLang="zh-CN" sz="18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	print( true  &amp;&amp; true  );    // true </a:t>
            </a:r>
          </a:p>
          <a:p>
            <a:pPr marL="750888" lvl="1" indent="-254000">
              <a:spcBef>
                <a:spcPts val="1100"/>
              </a:spcBef>
              <a:buFontTx/>
              <a:buChar char="–"/>
            </a:pPr>
            <a:r>
              <a:rPr lang="en-US" altLang="zh-CN" sz="2000" dirty="0">
                <a:solidFill>
                  <a:srgbClr val="000000"/>
                </a:solidFill>
              </a:rPr>
              <a:t>|</a:t>
            </a:r>
            <a:r>
              <a:rPr lang="zh-CN" altLang="en-US" sz="2000" dirty="0">
                <a:solidFill>
                  <a:srgbClr val="000000"/>
                </a:solidFill>
              </a:rPr>
              <a:t>（管道符）是</a:t>
            </a:r>
            <a:r>
              <a:rPr lang="en-US" altLang="zh-CN" sz="2000" dirty="0">
                <a:solidFill>
                  <a:srgbClr val="000000"/>
                </a:solidFill>
              </a:rPr>
              <a:t> Shift + </a:t>
            </a:r>
            <a:r>
              <a:rPr lang="zh-CN" altLang="en-US" sz="2000" dirty="0">
                <a:solidFill>
                  <a:srgbClr val="000000"/>
                </a:solidFill>
              </a:rPr>
              <a:t>反斜杠（</a:t>
            </a:r>
            <a:r>
              <a:rPr lang="en-US" altLang="zh-CN" sz="2000" dirty="0">
                <a:solidFill>
                  <a:srgbClr val="000000"/>
                </a:solidFill>
              </a:rPr>
              <a:t>\</a:t>
            </a:r>
            <a:r>
              <a:rPr lang="zh-CN" altLang="en-US" sz="2000" dirty="0">
                <a:solidFill>
                  <a:srgbClr val="000000"/>
                </a:solidFill>
              </a:rPr>
              <a:t>）</a:t>
            </a:r>
            <a:endParaRPr lang="en-US" altLang="zh-CN" sz="2000" dirty="0">
              <a:solidFill>
                <a:srgbClr val="000000"/>
              </a:solidFill>
            </a:endParaRPr>
          </a:p>
          <a:p>
            <a:pPr marL="552450" lvl="2" indent="-76200">
              <a:spcBef>
                <a:spcPts val="700"/>
              </a:spcBef>
              <a:buFontTx/>
              <a:buChar char="•"/>
            </a:pPr>
            <a:r>
              <a:rPr lang="zh-CN" altLang="en-US" sz="1800" dirty="0">
                <a:solidFill>
                  <a:srgbClr val="000000"/>
                </a:solidFill>
              </a:rPr>
              <a:t>在键盘上，位于回车键或</a:t>
            </a:r>
            <a:r>
              <a:rPr lang="en-US" altLang="zh-CN" sz="1800" dirty="0">
                <a:solidFill>
                  <a:srgbClr val="000000"/>
                </a:solidFill>
              </a:rPr>
              <a:t> Enter </a:t>
            </a:r>
            <a:r>
              <a:rPr lang="zh-CN" altLang="en-US" sz="1800" dirty="0">
                <a:solidFill>
                  <a:srgbClr val="000000"/>
                </a:solidFill>
              </a:rPr>
              <a:t>键上方</a:t>
            </a:r>
            <a:endParaRPr lang="en-US" altLang="zh-CN" sz="1800" dirty="0">
              <a:solidFill>
                <a:srgbClr val="000000"/>
              </a:solidFill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5403B617-080E-8E19-24EA-5153A89F52FD}"/>
              </a:ext>
            </a:extLst>
          </p:cNvPr>
          <p:cNvGrpSpPr/>
          <p:nvPr/>
        </p:nvGrpSpPr>
        <p:grpSpPr>
          <a:xfrm>
            <a:off x="4935476" y="251474"/>
            <a:ext cx="2321047" cy="490115"/>
            <a:chOff x="4840431" y="207541"/>
            <a:chExt cx="2321047" cy="490115"/>
          </a:xfrm>
        </p:grpSpPr>
        <p:pic>
          <p:nvPicPr>
            <p:cNvPr id="4" name="Picture 4" descr="黑爵(AJAZZ)手柄/方向盘AG180报价_参数_图片_视频_怎么样_问答-苏宁易购">
              <a:extLst>
                <a:ext uri="{FF2B5EF4-FFF2-40B4-BE49-F238E27FC236}">
                  <a16:creationId xmlns:a16="http://schemas.microsoft.com/office/drawing/2014/main" id="{AF1DE0A5-02C8-BA7F-1618-02A407907E5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45" t="9275" r="3752" b="5379"/>
            <a:stretch/>
          </p:blipFill>
          <p:spPr bwMode="auto">
            <a:xfrm>
              <a:off x="4840431" y="321039"/>
              <a:ext cx="407315" cy="37661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" name="Rectangle 3">
              <a:extLst>
                <a:ext uri="{FF2B5EF4-FFF2-40B4-BE49-F238E27FC236}">
                  <a16:creationId xmlns:a16="http://schemas.microsoft.com/office/drawing/2014/main" id="{3CDC0621-8203-E55D-90EA-4DE8262BF09E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5298546" y="207541"/>
              <a:ext cx="1862932" cy="471065"/>
            </a:xfrm>
            <a:prstGeom prst="rect">
              <a:avLst/>
            </a:prstGeom>
            <a:noFill/>
          </p:spPr>
          <p:txBody>
            <a:bodyPr lIns="90488" tIns="44450" rIns="90488" bIns="44450"/>
            <a:lstStyle>
              <a:lvl1pPr marL="171450" indent="-17145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1pPr>
              <a:lvl2pPr marL="5143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8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2pPr>
              <a:lvl3pPr marL="8572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3pPr>
              <a:lvl4pPr marL="12001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4pPr>
              <a:lvl5pPr marL="15430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fontAlgn="base">
                <a:lnSpc>
                  <a:spcPct val="100000"/>
                </a:lnSpc>
                <a:buNone/>
              </a:pPr>
              <a:r>
                <a:rPr lang="zh-CN" altLang="en-US" sz="3200" dirty="0">
                  <a:latin typeface="Times New Roman" panose="02020603050405020304" pitchFamily="18" charset="0"/>
                  <a:ea typeface="楷体" panose="02010609060101010101" pitchFamily="49" charset="-122"/>
                  <a:sym typeface="+mn-ea"/>
                </a:rPr>
                <a:t>布尔运算</a:t>
              </a:r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20" grpId="0" build="p" bldLvl="5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4" name="Rectangle 4">
            <a:extLst>
              <a:ext uri="{FF2B5EF4-FFF2-40B4-BE49-F238E27FC236}">
                <a16:creationId xmlns:a16="http://schemas.microsoft.com/office/drawing/2014/main" id="{4F88320D-63C2-71E9-C66C-1BDEEB71F4F9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>
          <a:xfrm>
            <a:off x="1981200" y="1996440"/>
            <a:ext cx="8229600" cy="4429760"/>
          </a:xfrm>
          <a:prstGeom prst="rect">
            <a:avLst/>
          </a:prstGeom>
        </p:spPr>
        <p:txBody>
          <a:bodyPr/>
          <a:lstStyle/>
          <a:p>
            <a:pPr eaLnBrk="1">
              <a:buSzTx/>
            </a:pPr>
            <a:r>
              <a:rPr lang="zh-CN" altLang="en-US" dirty="0"/>
              <a:t>短路与非短路布尔运算符</a:t>
            </a:r>
            <a:endParaRPr lang="en-US" altLang="zh-CN" dirty="0"/>
          </a:p>
          <a:p>
            <a:pPr marL="750888" lvl="1" indent="-254000">
              <a:spcBef>
                <a:spcPts val="1100"/>
              </a:spcBef>
              <a:buFontTx/>
              <a:buChar char="–"/>
            </a:pPr>
            <a:r>
              <a:rPr lang="en-US" altLang="zh-CN" sz="2000" dirty="0">
                <a:solidFill>
                  <a:srgbClr val="000000"/>
                </a:solidFill>
              </a:rPr>
              <a:t>&amp;&amp; </a:t>
            </a:r>
            <a:r>
              <a:rPr lang="zh-CN" altLang="en-US" sz="2000" dirty="0">
                <a:solidFill>
                  <a:srgbClr val="000000"/>
                </a:solidFill>
              </a:rPr>
              <a:t>和</a:t>
            </a:r>
            <a:r>
              <a:rPr lang="en-US" altLang="zh-CN" sz="2000" dirty="0">
                <a:solidFill>
                  <a:srgbClr val="000000"/>
                </a:solidFill>
              </a:rPr>
              <a:t> || </a:t>
            </a:r>
            <a:r>
              <a:rPr lang="zh-CN" altLang="en-US" sz="2000" dirty="0">
                <a:solidFill>
                  <a:srgbClr val="000000"/>
                </a:solidFill>
              </a:rPr>
              <a:t>是短路布尔运算符</a:t>
            </a:r>
            <a:endParaRPr lang="en-US" altLang="zh-CN" sz="2000" dirty="0">
              <a:solidFill>
                <a:srgbClr val="000000"/>
              </a:solidFill>
            </a:endParaRPr>
          </a:p>
          <a:p>
            <a:pPr marL="1106488" lvl="2" indent="-152400">
              <a:spcBef>
                <a:spcPts val="700"/>
              </a:spcBef>
              <a:buFontTx/>
              <a:buChar char="•"/>
            </a:pPr>
            <a:r>
              <a:rPr lang="zh-CN" altLang="en-US" sz="1800" dirty="0">
                <a:solidFill>
                  <a:srgbClr val="000000"/>
                </a:solidFill>
              </a:rPr>
              <a:t>如果</a:t>
            </a:r>
            <a:r>
              <a:rPr lang="en-US" altLang="zh-CN" sz="1800" dirty="0">
                <a:solidFill>
                  <a:srgbClr val="000000"/>
                </a:solidFill>
              </a:rPr>
              <a:t>&amp;&amp;</a:t>
            </a:r>
            <a:r>
              <a:rPr lang="zh-CN" altLang="en-US" sz="1800" dirty="0">
                <a:solidFill>
                  <a:srgbClr val="000000"/>
                </a:solidFill>
              </a:rPr>
              <a:t>的第一个操作数为</a:t>
            </a:r>
            <a:r>
              <a:rPr lang="en-US" altLang="zh-CN" sz="1800" dirty="0">
                <a:solidFill>
                  <a:srgbClr val="000000"/>
                </a:solidFill>
              </a:rPr>
              <a:t> false, </a:t>
            </a:r>
            <a:r>
              <a:rPr lang="zh-CN" altLang="en-US" sz="1800" dirty="0">
                <a:solidFill>
                  <a:srgbClr val="000000"/>
                </a:solidFill>
              </a:rPr>
              <a:t>则第二个操作数不会被计算</a:t>
            </a:r>
            <a:endParaRPr lang="en-US" altLang="zh-CN" sz="1800" dirty="0">
              <a:solidFill>
                <a:srgbClr val="000000"/>
              </a:solidFill>
            </a:endParaRPr>
          </a:p>
          <a:p>
            <a:pPr marL="1106488" lvl="2" indent="-152400">
              <a:spcBef>
                <a:spcPts val="700"/>
              </a:spcBef>
              <a:buFontTx/>
              <a:buChar char="•"/>
            </a:pPr>
            <a:r>
              <a:rPr lang="zh-CN" altLang="en-US" sz="1800" dirty="0">
                <a:solidFill>
                  <a:srgbClr val="000000"/>
                </a:solidFill>
              </a:rPr>
              <a:t>如果</a:t>
            </a:r>
            <a:r>
              <a:rPr lang="en-US" altLang="zh-CN" sz="1800" dirty="0">
                <a:solidFill>
                  <a:srgbClr val="000000"/>
                </a:solidFill>
              </a:rPr>
              <a:t> || </a:t>
            </a:r>
            <a:r>
              <a:rPr lang="zh-CN" altLang="en-US" sz="1800" dirty="0">
                <a:solidFill>
                  <a:srgbClr val="000000"/>
                </a:solidFill>
              </a:rPr>
              <a:t>的第一个操作数为</a:t>
            </a:r>
            <a:r>
              <a:rPr lang="en-US" altLang="zh-CN" sz="1800" dirty="0">
                <a:solidFill>
                  <a:srgbClr val="000000"/>
                </a:solidFill>
              </a:rPr>
              <a:t>true, </a:t>
            </a:r>
            <a:r>
              <a:rPr lang="zh-CN" altLang="en-US" sz="1800" dirty="0">
                <a:solidFill>
                  <a:srgbClr val="000000"/>
                </a:solidFill>
              </a:rPr>
              <a:t>则第二个操作数不会被计算</a:t>
            </a:r>
            <a:endParaRPr lang="en-US" altLang="zh-CN" sz="1800" dirty="0">
              <a:solidFill>
                <a:srgbClr val="000000"/>
              </a:solidFill>
            </a:endParaRPr>
          </a:p>
          <a:p>
            <a:pPr marL="750888" lvl="1" indent="-254000">
              <a:spcBef>
                <a:spcPts val="1100"/>
              </a:spcBef>
              <a:buFontTx/>
              <a:buChar char="–"/>
            </a:pPr>
            <a:r>
              <a:rPr lang="en-US" altLang="zh-CN" sz="2000" dirty="0">
                <a:solidFill>
                  <a:srgbClr val="000000"/>
                </a:solidFill>
              </a:rPr>
              <a:t>&amp; </a:t>
            </a:r>
            <a:r>
              <a:rPr lang="zh-CN" altLang="en-US" sz="2000" dirty="0">
                <a:solidFill>
                  <a:srgbClr val="000000"/>
                </a:solidFill>
              </a:rPr>
              <a:t>和</a:t>
            </a:r>
            <a:r>
              <a:rPr lang="en-US" altLang="zh-CN" sz="2000" dirty="0">
                <a:solidFill>
                  <a:srgbClr val="000000"/>
                </a:solidFill>
              </a:rPr>
              <a:t> | </a:t>
            </a:r>
            <a:r>
              <a:rPr lang="zh-CN" altLang="en-US" sz="2000" dirty="0">
                <a:solidFill>
                  <a:srgbClr val="000000"/>
                </a:solidFill>
              </a:rPr>
              <a:t>是短路布尔运算符</a:t>
            </a:r>
            <a:endParaRPr lang="en-US" altLang="zh-CN" sz="2000" i="1" dirty="0">
              <a:solidFill>
                <a:srgbClr val="000000"/>
              </a:solidFill>
            </a:endParaRPr>
          </a:p>
          <a:p>
            <a:pPr marL="1106488" lvl="2" indent="-152400">
              <a:spcBef>
                <a:spcPts val="700"/>
              </a:spcBef>
              <a:buFontTx/>
              <a:buChar char="•"/>
            </a:pPr>
            <a:r>
              <a:rPr lang="zh-CN" altLang="en-US" sz="1800" dirty="0">
                <a:solidFill>
                  <a:srgbClr val="000000"/>
                </a:solidFill>
              </a:rPr>
              <a:t>无论第一个操作数值如何，两个操作数都会被计算</a:t>
            </a:r>
          </a:p>
          <a:p>
            <a:pPr marL="750888" lvl="1" indent="-254000">
              <a:spcBef>
                <a:spcPts val="1100"/>
              </a:spcBef>
              <a:buFontTx/>
              <a:buChar char="–"/>
            </a:pPr>
            <a:r>
              <a:rPr lang="en-US" altLang="zh-CN" sz="2000" dirty="0">
                <a:solidFill>
                  <a:srgbClr val="000000"/>
                </a:solidFill>
              </a:rPr>
              <a:t>&amp; and | </a:t>
            </a:r>
            <a:r>
              <a:rPr lang="zh-CN" altLang="en-US" sz="2000" dirty="0">
                <a:solidFill>
                  <a:srgbClr val="000000"/>
                </a:solidFill>
              </a:rPr>
              <a:t>也是按位运算符</a:t>
            </a:r>
            <a:endParaRPr lang="en-US" altLang="zh-CN" sz="2000" dirty="0">
              <a:solidFill>
                <a:srgbClr val="000000"/>
              </a:solidFill>
            </a:endParaRPr>
          </a:p>
          <a:p>
            <a:pPr marL="1106488" lvl="2" indent="-152400">
              <a:spcBef>
                <a:spcPts val="700"/>
              </a:spcBef>
              <a:buFontTx/>
              <a:buChar char="•"/>
            </a:pPr>
            <a:r>
              <a:rPr lang="en-US" altLang="zh-CN" sz="1800" dirty="0">
                <a:solidFill>
                  <a:srgbClr val="000000"/>
                </a:solidFill>
              </a:rPr>
              <a:t>&amp; </a:t>
            </a:r>
            <a:r>
              <a:rPr lang="zh-CN" altLang="en-US" sz="1800" dirty="0">
                <a:solidFill>
                  <a:srgbClr val="000000"/>
                </a:solidFill>
              </a:rPr>
              <a:t>和</a:t>
            </a:r>
            <a:r>
              <a:rPr lang="en-US" altLang="zh-CN" sz="1800" dirty="0">
                <a:solidFill>
                  <a:srgbClr val="000000"/>
                </a:solidFill>
              </a:rPr>
              <a:t> | </a:t>
            </a:r>
            <a:r>
              <a:rPr lang="zh-CN" altLang="en-US" sz="1800" dirty="0">
                <a:solidFill>
                  <a:srgbClr val="000000"/>
                </a:solidFill>
              </a:rPr>
              <a:t>会逐位比较传入的值</a:t>
            </a:r>
          </a:p>
          <a:p>
            <a:pPr marL="1106488" lvl="2" indent="-152400">
              <a:spcBef>
                <a:spcPts val="700"/>
              </a:spcBef>
              <a:buFontTx/>
              <a:buChar char="•"/>
            </a:pPr>
            <a:r>
              <a:rPr lang="zh-CN" altLang="en-US" sz="1800" dirty="0">
                <a:solidFill>
                  <a:srgbClr val="000000"/>
                </a:solidFill>
              </a:rPr>
              <a:t>按位运算符将在稍后处理</a:t>
            </a:r>
            <a:r>
              <a:rPr lang="en-US" altLang="zh-CN" sz="1800" dirty="0">
                <a:solidFill>
                  <a:srgbClr val="000000"/>
                </a:solidFill>
              </a:rPr>
              <a:t>Unity</a:t>
            </a:r>
            <a:r>
              <a:rPr lang="zh-CN" altLang="en-US" sz="1800" dirty="0">
                <a:solidFill>
                  <a:srgbClr val="000000"/>
                </a:solidFill>
              </a:rPr>
              <a:t>层级和碰撞时使用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DB32965F-D455-24BA-8FA4-0B5370669F47}"/>
              </a:ext>
            </a:extLst>
          </p:cNvPr>
          <p:cNvGrpSpPr/>
          <p:nvPr/>
        </p:nvGrpSpPr>
        <p:grpSpPr>
          <a:xfrm>
            <a:off x="4935476" y="251474"/>
            <a:ext cx="2321047" cy="490115"/>
            <a:chOff x="4840431" y="207541"/>
            <a:chExt cx="2321047" cy="490115"/>
          </a:xfrm>
        </p:grpSpPr>
        <p:pic>
          <p:nvPicPr>
            <p:cNvPr id="4" name="Picture 4" descr="黑爵(AJAZZ)手柄/方向盘AG180报价_参数_图片_视频_怎么样_问答-苏宁易购">
              <a:extLst>
                <a:ext uri="{FF2B5EF4-FFF2-40B4-BE49-F238E27FC236}">
                  <a16:creationId xmlns:a16="http://schemas.microsoft.com/office/drawing/2014/main" id="{F2C4F896-7296-5475-A977-CB21FE8BFAB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45" t="9275" r="3752" b="5379"/>
            <a:stretch/>
          </p:blipFill>
          <p:spPr bwMode="auto">
            <a:xfrm>
              <a:off x="4840431" y="321039"/>
              <a:ext cx="407315" cy="37661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" name="Rectangle 3">
              <a:extLst>
                <a:ext uri="{FF2B5EF4-FFF2-40B4-BE49-F238E27FC236}">
                  <a16:creationId xmlns:a16="http://schemas.microsoft.com/office/drawing/2014/main" id="{51CE1CBF-BE94-6D7B-645A-E1C1BDB32939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5298546" y="207541"/>
              <a:ext cx="1862932" cy="471065"/>
            </a:xfrm>
            <a:prstGeom prst="rect">
              <a:avLst/>
            </a:prstGeom>
            <a:noFill/>
          </p:spPr>
          <p:txBody>
            <a:bodyPr lIns="90488" tIns="44450" rIns="90488" bIns="44450"/>
            <a:lstStyle>
              <a:lvl1pPr marL="171450" indent="-17145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1pPr>
              <a:lvl2pPr marL="5143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8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2pPr>
              <a:lvl3pPr marL="8572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3pPr>
              <a:lvl4pPr marL="12001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4pPr>
              <a:lvl5pPr marL="15430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fontAlgn="base">
                <a:lnSpc>
                  <a:spcPct val="100000"/>
                </a:lnSpc>
                <a:buNone/>
              </a:pPr>
              <a:r>
                <a:rPr lang="zh-CN" altLang="en-US" sz="3200" dirty="0">
                  <a:latin typeface="Times New Roman" panose="02020603050405020304" pitchFamily="18" charset="0"/>
                  <a:ea typeface="楷体" panose="02010609060101010101" pitchFamily="49" charset="-122"/>
                  <a:sym typeface="+mn-ea"/>
                </a:rPr>
                <a:t>布尔运算</a:t>
              </a:r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4" grpId="0" build="p" bldLvl="5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8" name="Rectangle 4">
            <a:extLst>
              <a:ext uri="{FF2B5EF4-FFF2-40B4-BE49-F238E27FC236}">
                <a16:creationId xmlns:a16="http://schemas.microsoft.com/office/drawing/2014/main" id="{0B50A86C-6F33-463B-B9AF-DCF0ACEC4CC8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>
          <a:xfrm>
            <a:off x="1981200" y="1315720"/>
            <a:ext cx="8229600" cy="4805680"/>
          </a:xfrm>
          <a:prstGeom prst="rect">
            <a:avLst/>
          </a:prstGeom>
        </p:spPr>
        <p:txBody>
          <a:bodyPr/>
          <a:lstStyle/>
          <a:p>
            <a:pPr eaLnBrk="1"/>
            <a:r>
              <a:rPr lang="zh-CN" altLang="en-US" dirty="0"/>
              <a:t>布尔运算符的组合</a:t>
            </a:r>
            <a:endParaRPr lang="en-US" altLang="zh-CN" dirty="0"/>
          </a:p>
          <a:p>
            <a:pPr marL="750888" lvl="1" indent="-254000">
              <a:spcBef>
                <a:spcPts val="1100"/>
              </a:spcBef>
              <a:buFontTx/>
              <a:buChar char="–"/>
            </a:pPr>
            <a:r>
              <a:rPr lang="zh-CN" altLang="en-US" sz="2000" dirty="0">
                <a:solidFill>
                  <a:srgbClr val="000000"/>
                </a:solidFill>
              </a:rPr>
              <a:t>可以在一行代码中进行多个布尔运算</a:t>
            </a:r>
            <a:endParaRPr lang="en-US" altLang="zh-CN" sz="2000" dirty="0">
              <a:solidFill>
                <a:srgbClr val="000000"/>
              </a:solidFill>
            </a:endParaRPr>
          </a:p>
          <a:p>
            <a:pPr marL="0" lvl="2" indent="0">
              <a:spcBef>
                <a:spcPts val="700"/>
              </a:spcBef>
              <a:buNone/>
            </a:pPr>
            <a:r>
              <a:rPr lang="en-US" altLang="zh-CN" sz="18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	bool </a:t>
            </a:r>
            <a:r>
              <a:rPr lang="en-US" altLang="zh-CN" sz="1800" dirty="0" err="1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tf</a:t>
            </a:r>
            <a:r>
              <a:rPr lang="en-US" altLang="zh-CN" sz="18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  = true || false &amp;&amp; true;</a:t>
            </a:r>
            <a:endParaRPr lang="en-US" altLang="zh-CN" dirty="0"/>
          </a:p>
          <a:p>
            <a:pPr marL="750888" lvl="1" indent="-254000">
              <a:spcBef>
                <a:spcPts val="1100"/>
              </a:spcBef>
              <a:buFontTx/>
              <a:buChar char="–"/>
            </a:pPr>
            <a:r>
              <a:rPr lang="zh-CN" altLang="en-US" sz="2000" dirty="0">
                <a:solidFill>
                  <a:srgbClr val="000000"/>
                </a:solidFill>
              </a:rPr>
              <a:t>必须遵循运算顺序</a:t>
            </a:r>
            <a:endParaRPr lang="en-US" altLang="zh-CN" sz="2000" dirty="0">
              <a:solidFill>
                <a:srgbClr val="000000"/>
              </a:solidFill>
            </a:endParaRPr>
          </a:p>
          <a:p>
            <a:pPr marL="0" lvl="2" indent="0">
              <a:spcBef>
                <a:spcPts val="700"/>
              </a:spcBef>
              <a:buNone/>
            </a:pPr>
            <a:r>
              <a:rPr lang="en-US" altLang="zh-CN" sz="18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	!	</a:t>
            </a:r>
            <a:r>
              <a:rPr lang="zh-CN" altLang="en-US" sz="18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逻辑非</a:t>
            </a:r>
            <a:br>
              <a:rPr lang="en-US" altLang="zh-CN" sz="18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</a:br>
            <a:r>
              <a:rPr lang="en-US" altLang="zh-CN" sz="18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	&amp;	</a:t>
            </a:r>
            <a:r>
              <a:rPr lang="zh-CN" altLang="en-US" sz="18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非短路逻辑与</a:t>
            </a:r>
            <a:r>
              <a:rPr lang="en-US" altLang="zh-CN" sz="18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 / </a:t>
            </a:r>
            <a:r>
              <a:rPr lang="zh-CN" altLang="en-US" sz="18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位与</a:t>
            </a:r>
            <a:br>
              <a:rPr lang="en-US" altLang="zh-CN" sz="18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</a:br>
            <a:r>
              <a:rPr lang="en-US" altLang="zh-CN" sz="18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	|	</a:t>
            </a:r>
            <a:r>
              <a:rPr lang="zh-CN" altLang="en-US" sz="18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非短路逻辑或</a:t>
            </a:r>
            <a:r>
              <a:rPr lang="en-US" altLang="zh-CN" sz="18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 / </a:t>
            </a:r>
            <a:r>
              <a:rPr lang="zh-CN" altLang="en-US" sz="18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位或</a:t>
            </a:r>
            <a:br>
              <a:rPr lang="en-US" altLang="zh-CN" sz="18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</a:br>
            <a:r>
              <a:rPr lang="en-US" altLang="zh-CN" sz="18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	&amp;&amp;	</a:t>
            </a:r>
            <a:r>
              <a:rPr lang="zh-CN" altLang="en-US" sz="18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逻辑与</a:t>
            </a:r>
            <a:br>
              <a:rPr lang="en-US" altLang="zh-CN" sz="18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</a:br>
            <a:r>
              <a:rPr lang="en-US" altLang="zh-CN" sz="18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	||	</a:t>
            </a:r>
            <a:r>
              <a:rPr lang="zh-CN" altLang="en-US" sz="18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逻辑或</a:t>
            </a:r>
            <a:endParaRPr lang="en-US" altLang="zh-CN" dirty="0"/>
          </a:p>
          <a:p>
            <a:pPr marL="750888" lvl="1" indent="-254000">
              <a:spcBef>
                <a:spcPts val="1100"/>
              </a:spcBef>
              <a:buFontTx/>
              <a:buChar char="–"/>
            </a:pPr>
            <a:r>
              <a:rPr lang="zh-CN" altLang="en-US" sz="2000" dirty="0">
                <a:solidFill>
                  <a:srgbClr val="000000"/>
                </a:solidFill>
              </a:rPr>
              <a:t>上面那行代码会被编译器解释为</a:t>
            </a:r>
            <a:r>
              <a:rPr lang="en-US" altLang="zh-CN" sz="2000" dirty="0">
                <a:solidFill>
                  <a:srgbClr val="000000"/>
                </a:solidFill>
              </a:rPr>
              <a:t>:</a:t>
            </a:r>
          </a:p>
          <a:p>
            <a:pPr marL="0" lvl="2" indent="0">
              <a:spcBef>
                <a:spcPts val="700"/>
              </a:spcBef>
              <a:buNone/>
            </a:pPr>
            <a:r>
              <a:rPr lang="en-US" altLang="zh-CN" sz="18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	bool </a:t>
            </a:r>
            <a:r>
              <a:rPr lang="en-US" altLang="zh-CN" sz="1800" dirty="0" err="1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tf</a:t>
            </a:r>
            <a:r>
              <a:rPr lang="en-US" altLang="zh-CN" sz="18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  = true || (false &amp;&amp; true);	// true</a:t>
            </a:r>
            <a:endParaRPr lang="en-US" altLang="zh-CN" dirty="0">
              <a:solidFill>
                <a:srgbClr val="000000"/>
              </a:solidFill>
            </a:endParaRPr>
          </a:p>
          <a:p>
            <a:pPr marL="750888" lvl="1" indent="-254000">
              <a:spcBef>
                <a:spcPts val="1100"/>
              </a:spcBef>
              <a:buFontTx/>
              <a:buChar char="–"/>
            </a:pPr>
            <a:r>
              <a:rPr lang="zh-CN" altLang="en-US" sz="2000" dirty="0">
                <a:solidFill>
                  <a:srgbClr val="000000"/>
                </a:solidFill>
              </a:rPr>
              <a:t>最好使用括号来强制指定你希望的运算顺序</a:t>
            </a:r>
            <a:r>
              <a:rPr lang="en-US" altLang="zh-CN" sz="2000" dirty="0">
                <a:solidFill>
                  <a:srgbClr val="000000"/>
                </a:solidFill>
              </a:rPr>
              <a:t>!</a:t>
            </a:r>
            <a:endParaRPr lang="en-US" altLang="zh-CN" sz="1800" dirty="0">
              <a:solidFill>
                <a:srgbClr val="000000"/>
              </a:solidFill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F709B164-EA4B-D14D-BBC9-C27021E9C996}"/>
              </a:ext>
            </a:extLst>
          </p:cNvPr>
          <p:cNvGrpSpPr/>
          <p:nvPr/>
        </p:nvGrpSpPr>
        <p:grpSpPr>
          <a:xfrm>
            <a:off x="4935476" y="251474"/>
            <a:ext cx="2321047" cy="490115"/>
            <a:chOff x="4840431" y="207541"/>
            <a:chExt cx="2321047" cy="490115"/>
          </a:xfrm>
        </p:grpSpPr>
        <p:pic>
          <p:nvPicPr>
            <p:cNvPr id="4" name="Picture 4" descr="黑爵(AJAZZ)手柄/方向盘AG180报价_参数_图片_视频_怎么样_问答-苏宁易购">
              <a:extLst>
                <a:ext uri="{FF2B5EF4-FFF2-40B4-BE49-F238E27FC236}">
                  <a16:creationId xmlns:a16="http://schemas.microsoft.com/office/drawing/2014/main" id="{3E193079-6E48-087E-D855-9BB3370F479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45" t="9275" r="3752" b="5379"/>
            <a:stretch/>
          </p:blipFill>
          <p:spPr bwMode="auto">
            <a:xfrm>
              <a:off x="4840431" y="321039"/>
              <a:ext cx="407315" cy="37661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" name="Rectangle 3">
              <a:extLst>
                <a:ext uri="{FF2B5EF4-FFF2-40B4-BE49-F238E27FC236}">
                  <a16:creationId xmlns:a16="http://schemas.microsoft.com/office/drawing/2014/main" id="{FFF5869B-7CD3-C5ED-D680-3876F6957565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5298546" y="207541"/>
              <a:ext cx="1862932" cy="471065"/>
            </a:xfrm>
            <a:prstGeom prst="rect">
              <a:avLst/>
            </a:prstGeom>
            <a:noFill/>
          </p:spPr>
          <p:txBody>
            <a:bodyPr lIns="90488" tIns="44450" rIns="90488" bIns="44450"/>
            <a:lstStyle>
              <a:lvl1pPr marL="171450" indent="-17145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1pPr>
              <a:lvl2pPr marL="5143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8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2pPr>
              <a:lvl3pPr marL="8572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3pPr>
              <a:lvl4pPr marL="12001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4pPr>
              <a:lvl5pPr marL="15430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fontAlgn="base">
                <a:lnSpc>
                  <a:spcPct val="100000"/>
                </a:lnSpc>
                <a:buNone/>
              </a:pPr>
              <a:r>
                <a:rPr lang="zh-CN" altLang="en-US" sz="3200" dirty="0">
                  <a:latin typeface="Times New Roman" panose="02020603050405020304" pitchFamily="18" charset="0"/>
                  <a:ea typeface="楷体" panose="02010609060101010101" pitchFamily="49" charset="-122"/>
                  <a:sym typeface="+mn-ea"/>
                </a:rPr>
                <a:t>布尔运算</a:t>
              </a:r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8" grpId="0" build="p" bldLvl="5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2" name="Rectangle 4">
            <a:extLst>
              <a:ext uri="{FF2B5EF4-FFF2-40B4-BE49-F238E27FC236}">
                <a16:creationId xmlns:a16="http://schemas.microsoft.com/office/drawing/2014/main" id="{3700D56A-BD87-A552-601E-C4465932E723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>
          <a:xfrm>
            <a:off x="1981200" y="1981200"/>
            <a:ext cx="8229600" cy="4445000"/>
          </a:xfrm>
          <a:prstGeom prst="rect">
            <a:avLst/>
          </a:prstGeom>
        </p:spPr>
        <p:txBody>
          <a:bodyPr/>
          <a:lstStyle/>
          <a:p>
            <a:pPr eaLnBrk="1"/>
            <a:r>
              <a:rPr lang="zh-CN" altLang="en-US" dirty="0"/>
              <a:t>可以将两个值进行比较</a:t>
            </a:r>
            <a:endParaRPr lang="en-US" altLang="zh-CN" dirty="0"/>
          </a:p>
          <a:p>
            <a:pPr eaLnBrk="1"/>
            <a:r>
              <a:rPr lang="zh-CN" altLang="en-US" dirty="0"/>
              <a:t>返回一个布尔值结果</a:t>
            </a:r>
            <a:r>
              <a:rPr lang="en-US" altLang="zh-CN" dirty="0"/>
              <a:t> (</a:t>
            </a:r>
            <a:r>
              <a:rPr lang="en-US" altLang="zh-CN" dirty="0">
                <a:latin typeface="Courier" pitchFamily="125" charset="0"/>
                <a:sym typeface="Courier" pitchFamily="125" charset="0"/>
              </a:rPr>
              <a:t>true</a:t>
            </a:r>
            <a:r>
              <a:rPr lang="en-US" altLang="zh-CN" dirty="0"/>
              <a:t> </a:t>
            </a:r>
            <a:r>
              <a:rPr lang="zh-CN" altLang="en-US" dirty="0"/>
              <a:t>或</a:t>
            </a:r>
            <a:r>
              <a:rPr lang="en-US" altLang="zh-CN" dirty="0"/>
              <a:t> </a:t>
            </a:r>
            <a:r>
              <a:rPr lang="en-US" altLang="zh-CN" dirty="0">
                <a:latin typeface="Courier" pitchFamily="125" charset="0"/>
                <a:sym typeface="Courier" pitchFamily="125" charset="0"/>
              </a:rPr>
              <a:t>false</a:t>
            </a:r>
            <a:r>
              <a:rPr lang="en-US" altLang="zh-CN" dirty="0"/>
              <a:t>)</a:t>
            </a:r>
          </a:p>
          <a:p>
            <a:pPr marL="0" lvl="1" indent="496888">
              <a:spcBef>
                <a:spcPts val="1100"/>
              </a:spcBef>
              <a:buNone/>
            </a:pPr>
            <a:r>
              <a:rPr lang="en-US" altLang="zh-CN" sz="20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==	</a:t>
            </a:r>
            <a:r>
              <a:rPr lang="en-US" altLang="zh-CN" sz="2000" dirty="0">
                <a:solidFill>
                  <a:srgbClr val="000000"/>
                </a:solidFill>
              </a:rPr>
              <a:t>Is </a:t>
            </a:r>
            <a:r>
              <a:rPr lang="zh-CN" altLang="en-US" sz="2000" dirty="0">
                <a:solidFill>
                  <a:srgbClr val="000000"/>
                </a:solidFill>
              </a:rPr>
              <a:t>等于</a:t>
            </a:r>
            <a:endParaRPr lang="en-US" altLang="zh-CN" sz="2000" dirty="0">
              <a:solidFill>
                <a:srgbClr val="000000"/>
              </a:solidFill>
              <a:latin typeface="Courier" pitchFamily="125" charset="0"/>
              <a:sym typeface="Courier" pitchFamily="125" charset="0"/>
            </a:endParaRPr>
          </a:p>
          <a:p>
            <a:pPr marL="0" lvl="1" indent="496888">
              <a:spcBef>
                <a:spcPts val="1100"/>
              </a:spcBef>
              <a:buNone/>
            </a:pPr>
            <a:r>
              <a:rPr lang="en-US" altLang="zh-CN" sz="20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!=	</a:t>
            </a:r>
            <a:r>
              <a:rPr lang="zh-CN" altLang="en-US" sz="2000" dirty="0">
                <a:solidFill>
                  <a:srgbClr val="000000"/>
                </a:solidFill>
              </a:rPr>
              <a:t>不等于</a:t>
            </a:r>
            <a:endParaRPr lang="en-US" altLang="zh-CN" sz="2000" dirty="0">
              <a:solidFill>
                <a:srgbClr val="000000"/>
              </a:solidFill>
              <a:latin typeface="Courier" pitchFamily="125" charset="0"/>
              <a:sym typeface="Courier" pitchFamily="125" charset="0"/>
            </a:endParaRPr>
          </a:p>
          <a:p>
            <a:pPr marL="0" lvl="1" indent="496888">
              <a:spcBef>
                <a:spcPts val="1100"/>
              </a:spcBef>
              <a:buNone/>
            </a:pPr>
            <a:r>
              <a:rPr lang="en-US" altLang="zh-CN" sz="20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&gt;	</a:t>
            </a:r>
            <a:r>
              <a:rPr lang="zh-CN" altLang="en-US" sz="2000" dirty="0">
                <a:solidFill>
                  <a:srgbClr val="000000"/>
                </a:solidFill>
              </a:rPr>
              <a:t>大于</a:t>
            </a:r>
            <a:endParaRPr lang="en-US" altLang="zh-CN" sz="2000" dirty="0">
              <a:solidFill>
                <a:srgbClr val="000000"/>
              </a:solidFill>
              <a:latin typeface="Courier" pitchFamily="125" charset="0"/>
              <a:sym typeface="Courier" pitchFamily="125" charset="0"/>
            </a:endParaRPr>
          </a:p>
          <a:p>
            <a:pPr marL="0" lvl="1" indent="496888">
              <a:spcBef>
                <a:spcPts val="1100"/>
              </a:spcBef>
              <a:buNone/>
            </a:pPr>
            <a:r>
              <a:rPr lang="en-US" altLang="zh-CN" sz="20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&lt;	</a:t>
            </a:r>
            <a:r>
              <a:rPr lang="zh-CN" altLang="en-US" sz="2000" dirty="0">
                <a:solidFill>
                  <a:srgbClr val="000000"/>
                </a:solidFill>
              </a:rPr>
              <a:t>小于</a:t>
            </a:r>
            <a:endParaRPr lang="en-US" altLang="zh-CN" sz="2000" dirty="0">
              <a:solidFill>
                <a:srgbClr val="000000"/>
              </a:solidFill>
              <a:latin typeface="Courier" pitchFamily="125" charset="0"/>
              <a:sym typeface="Courier" pitchFamily="125" charset="0"/>
            </a:endParaRPr>
          </a:p>
          <a:p>
            <a:pPr marL="0" lvl="1" indent="496888">
              <a:spcBef>
                <a:spcPts val="1100"/>
              </a:spcBef>
              <a:buNone/>
            </a:pPr>
            <a:r>
              <a:rPr lang="en-US" altLang="zh-CN" sz="20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&gt;=	</a:t>
            </a:r>
            <a:r>
              <a:rPr lang="zh-CN" altLang="en-US" sz="2000" dirty="0">
                <a:solidFill>
                  <a:srgbClr val="000000"/>
                </a:solidFill>
              </a:rPr>
              <a:t>大于或等于</a:t>
            </a:r>
            <a:endParaRPr lang="en-US" altLang="zh-CN" sz="2000" dirty="0">
              <a:solidFill>
                <a:srgbClr val="000000"/>
              </a:solidFill>
              <a:latin typeface="Courier" pitchFamily="125" charset="0"/>
              <a:sym typeface="Courier" pitchFamily="125" charset="0"/>
            </a:endParaRPr>
          </a:p>
          <a:p>
            <a:pPr marL="0" lvl="1" indent="496888">
              <a:spcBef>
                <a:spcPts val="1100"/>
              </a:spcBef>
              <a:buNone/>
            </a:pPr>
            <a:r>
              <a:rPr lang="en-US" altLang="zh-CN" sz="20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&lt;=	</a:t>
            </a:r>
            <a:r>
              <a:rPr lang="zh-CN" altLang="en-US" sz="2000" dirty="0">
                <a:solidFill>
                  <a:srgbClr val="000000"/>
                </a:solidFill>
              </a:rPr>
              <a:t>小于或等于</a:t>
            </a:r>
            <a:endParaRPr lang="en-US" altLang="zh-CN" sz="1800" dirty="0">
              <a:solidFill>
                <a:srgbClr val="000000"/>
              </a:solidFill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43692155-063D-A1B7-D4D8-07B56A70BF44}"/>
              </a:ext>
            </a:extLst>
          </p:cNvPr>
          <p:cNvGrpSpPr/>
          <p:nvPr/>
        </p:nvGrpSpPr>
        <p:grpSpPr>
          <a:xfrm>
            <a:off x="4746118" y="251474"/>
            <a:ext cx="2699763" cy="490115"/>
            <a:chOff x="4840431" y="207541"/>
            <a:chExt cx="2699763" cy="490115"/>
          </a:xfrm>
        </p:grpSpPr>
        <p:pic>
          <p:nvPicPr>
            <p:cNvPr id="4" name="Picture 4" descr="黑爵(AJAZZ)手柄/方向盘AG180报价_参数_图片_视频_怎么样_问答-苏宁易购">
              <a:extLst>
                <a:ext uri="{FF2B5EF4-FFF2-40B4-BE49-F238E27FC236}">
                  <a16:creationId xmlns:a16="http://schemas.microsoft.com/office/drawing/2014/main" id="{EB4B0DE6-A2B4-CE73-49C4-593B398E30D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45" t="9275" r="3752" b="5379"/>
            <a:stretch/>
          </p:blipFill>
          <p:spPr bwMode="auto">
            <a:xfrm>
              <a:off x="4840431" y="321039"/>
              <a:ext cx="407315" cy="37661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" name="Rectangle 3">
              <a:extLst>
                <a:ext uri="{FF2B5EF4-FFF2-40B4-BE49-F238E27FC236}">
                  <a16:creationId xmlns:a16="http://schemas.microsoft.com/office/drawing/2014/main" id="{6E256D72-C4B7-581C-965D-4A058F1EEAC9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5298545" y="207541"/>
              <a:ext cx="2241649" cy="471065"/>
            </a:xfrm>
            <a:prstGeom prst="rect">
              <a:avLst/>
            </a:prstGeom>
            <a:noFill/>
          </p:spPr>
          <p:txBody>
            <a:bodyPr lIns="90488" tIns="44450" rIns="90488" bIns="44450"/>
            <a:lstStyle>
              <a:lvl1pPr marL="171450" indent="-17145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1pPr>
              <a:lvl2pPr marL="5143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8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2pPr>
              <a:lvl3pPr marL="8572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3pPr>
              <a:lvl4pPr marL="12001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4pPr>
              <a:lvl5pPr marL="15430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fontAlgn="base">
                <a:lnSpc>
                  <a:spcPct val="100000"/>
                </a:lnSpc>
                <a:buNone/>
              </a:pPr>
              <a:r>
                <a:rPr lang="zh-CN" altLang="en-US" sz="3200" dirty="0">
                  <a:latin typeface="Times New Roman" panose="02020603050405020304" pitchFamily="18" charset="0"/>
                  <a:ea typeface="楷体" panose="02010609060101010101" pitchFamily="49" charset="-122"/>
                  <a:sym typeface="+mn-ea"/>
                </a:rPr>
                <a:t>比较运算符</a:t>
              </a:r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2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2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2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29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29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29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29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29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2" grpId="0" build="p" bldLvl="5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6">
            <a:extLst>
              <a:ext uri="{FF2B5EF4-FFF2-40B4-BE49-F238E27FC236}">
                <a16:creationId xmlns:a16="http://schemas.microsoft.com/office/drawing/2014/main" id="{2E71FE80-781B-B665-9661-B7F3871E6A29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>
          <a:xfrm>
            <a:off x="1917700" y="1523999"/>
            <a:ext cx="8229600" cy="4019233"/>
          </a:xfrm>
          <a:prstGeom prst="rect">
            <a:avLst/>
          </a:prstGeom>
        </p:spPr>
        <p:txBody>
          <a:bodyPr/>
          <a:lstStyle/>
          <a:p>
            <a:pPr eaLnBrk="1"/>
            <a:r>
              <a:rPr lang="zh-CN" altLang="en-US" dirty="0"/>
              <a:t>简单类型的变量通过值来对比</a:t>
            </a:r>
            <a:endParaRPr lang="en-US" altLang="zh-CN" dirty="0"/>
          </a:p>
          <a:p>
            <a:pPr marL="750888" lvl="1" indent="-254000">
              <a:spcBef>
                <a:spcPts val="700"/>
              </a:spcBef>
              <a:buFontTx/>
              <a:buChar char="–"/>
            </a:pPr>
            <a:r>
              <a:rPr lang="en-US" altLang="zh-CN" sz="2000" dirty="0">
                <a:solidFill>
                  <a:srgbClr val="000000"/>
                </a:solidFill>
              </a:rPr>
              <a:t>bool, int, float, char, string, Vector3, Color, Quaternion</a:t>
            </a:r>
          </a:p>
          <a:p>
            <a:pPr eaLnBrk="1"/>
            <a:r>
              <a:rPr lang="zh-CN" altLang="en-US" dirty="0"/>
              <a:t>更复杂的变量类型通过引用来对比</a:t>
            </a:r>
            <a:endParaRPr lang="en-US" altLang="zh-CN" dirty="0"/>
          </a:p>
          <a:p>
            <a:pPr marL="750888" lvl="1" indent="-254000">
              <a:spcBef>
                <a:spcPts val="700"/>
              </a:spcBef>
              <a:buFontTx/>
              <a:buChar char="–"/>
            </a:pPr>
            <a:r>
              <a:rPr lang="en-US" altLang="zh-CN" sz="2000" dirty="0" err="1">
                <a:solidFill>
                  <a:srgbClr val="000000"/>
                </a:solidFill>
              </a:rPr>
              <a:t>当变量按引用比较时，比较的不是它们的内部值，而是它们是否指向内存中的同一位置</a:t>
            </a:r>
            <a:endParaRPr lang="en-US" altLang="zh-CN" sz="2000" dirty="0">
              <a:solidFill>
                <a:srgbClr val="000000"/>
              </a:solidFill>
            </a:endParaRPr>
          </a:p>
          <a:p>
            <a:pPr marL="750888" lvl="1" indent="-254000">
              <a:spcBef>
                <a:spcPts val="700"/>
              </a:spcBef>
              <a:buFontTx/>
              <a:buChar char="–"/>
            </a:pPr>
            <a:r>
              <a:rPr lang="zh-CN" altLang="en-US" sz="2000" dirty="0">
                <a:solidFill>
                  <a:srgbClr val="000000"/>
                </a:solidFill>
              </a:rPr>
              <a:t>游戏对象，材质，渲染器，</a:t>
            </a:r>
            <a:r>
              <a:rPr lang="en-US" altLang="zh-CN" sz="2000" dirty="0">
                <a:solidFill>
                  <a:srgbClr val="000000"/>
                </a:solidFill>
              </a:rPr>
              <a:t> HelloWorld (</a:t>
            </a:r>
            <a:r>
              <a:rPr lang="zh-CN" altLang="en-US" sz="2000" dirty="0">
                <a:solidFill>
                  <a:srgbClr val="000000"/>
                </a:solidFill>
              </a:rPr>
              <a:t>与其他你自己写的</a:t>
            </a:r>
            <a:r>
              <a:rPr lang="en-US" altLang="zh-CN" sz="2000" dirty="0">
                <a:solidFill>
                  <a:srgbClr val="000000"/>
                </a:solidFill>
              </a:rPr>
              <a:t>C#</a:t>
            </a:r>
            <a:r>
              <a:rPr lang="zh-CN" altLang="en-US" sz="2000" dirty="0">
                <a:solidFill>
                  <a:srgbClr val="000000"/>
                </a:solidFill>
              </a:rPr>
              <a:t>类</a:t>
            </a:r>
            <a:r>
              <a:rPr lang="en-US" altLang="zh-CN" sz="2000" dirty="0">
                <a:solidFill>
                  <a:srgbClr val="000000"/>
                </a:solidFill>
              </a:rPr>
              <a:t>)</a:t>
            </a:r>
          </a:p>
          <a:p>
            <a:pPr marL="0" lvl="3" indent="0">
              <a:spcBef>
                <a:spcPts val="300"/>
              </a:spcBef>
              <a:buNone/>
            </a:pPr>
            <a:r>
              <a:rPr lang="en-US" altLang="zh-CN" sz="16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 	 1 GameObject go0 = Instantiate( </a:t>
            </a:r>
            <a:r>
              <a:rPr lang="en-US" altLang="zh-CN" sz="1600" dirty="0" err="1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boxPrefab</a:t>
            </a:r>
            <a:r>
              <a:rPr lang="en-US" altLang="zh-CN" sz="16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 ) as GameObject;</a:t>
            </a:r>
            <a:br>
              <a:rPr lang="en-US" altLang="zh-CN" sz="16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</a:br>
            <a:r>
              <a:rPr lang="en-US" altLang="zh-CN" sz="16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 	 2 GameObject go1 = Instantiate( </a:t>
            </a:r>
            <a:r>
              <a:rPr lang="en-US" altLang="zh-CN" sz="1600" dirty="0" err="1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boxPrefab</a:t>
            </a:r>
            <a:r>
              <a:rPr lang="en-US" altLang="zh-CN" sz="16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 ) as GameObject;</a:t>
            </a:r>
            <a:br>
              <a:rPr lang="en-US" altLang="zh-CN" sz="16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</a:br>
            <a:r>
              <a:rPr lang="en-US" altLang="zh-CN" sz="16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 	 3 GameObject go2 = go0;</a:t>
            </a:r>
            <a:br>
              <a:rPr lang="en-US" altLang="zh-CN" sz="16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</a:br>
            <a:r>
              <a:rPr lang="en-US" altLang="zh-CN" sz="16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 	 4 print( go0 == go1 ); // </a:t>
            </a:r>
            <a:r>
              <a:rPr lang="zh-CN" altLang="en-US" sz="16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输出</a:t>
            </a:r>
            <a:r>
              <a:rPr lang="en-US" altLang="zh-CN" sz="16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: false</a:t>
            </a:r>
            <a:br>
              <a:rPr lang="en-US" altLang="zh-CN" sz="16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</a:br>
            <a:r>
              <a:rPr lang="en-US" altLang="zh-CN" sz="16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 	 5 print( go0 == go2 ); // </a:t>
            </a:r>
            <a:r>
              <a:rPr lang="zh-CN" altLang="en-US" sz="16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输出</a:t>
            </a:r>
            <a:r>
              <a:rPr lang="en-US" altLang="zh-CN" sz="16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: true</a:t>
            </a:r>
            <a:endParaRPr lang="en-US" altLang="zh-CN" dirty="0">
              <a:solidFill>
                <a:srgbClr val="000000"/>
              </a:solidFill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CC7F14D1-D914-7979-C04D-B97A307413C0}"/>
              </a:ext>
            </a:extLst>
          </p:cNvPr>
          <p:cNvGrpSpPr/>
          <p:nvPr/>
        </p:nvGrpSpPr>
        <p:grpSpPr>
          <a:xfrm>
            <a:off x="3099499" y="251474"/>
            <a:ext cx="5993002" cy="490115"/>
            <a:chOff x="4840431" y="207541"/>
            <a:chExt cx="5993002" cy="490115"/>
          </a:xfrm>
        </p:grpSpPr>
        <p:pic>
          <p:nvPicPr>
            <p:cNvPr id="4" name="Picture 4" descr="黑爵(AJAZZ)手柄/方向盘AG180报价_参数_图片_视频_怎么样_问答-苏宁易购">
              <a:extLst>
                <a:ext uri="{FF2B5EF4-FFF2-40B4-BE49-F238E27FC236}">
                  <a16:creationId xmlns:a16="http://schemas.microsoft.com/office/drawing/2014/main" id="{9524AF7B-9F4B-6475-6BAA-A4A2B53D9CE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45" t="9275" r="3752" b="5379"/>
            <a:stretch/>
          </p:blipFill>
          <p:spPr bwMode="auto">
            <a:xfrm>
              <a:off x="4840431" y="321039"/>
              <a:ext cx="407315" cy="37661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Rectangle 3">
              <a:extLst>
                <a:ext uri="{FF2B5EF4-FFF2-40B4-BE49-F238E27FC236}">
                  <a16:creationId xmlns:a16="http://schemas.microsoft.com/office/drawing/2014/main" id="{DC992C82-2340-9C97-AF9D-FAD5D9A264A4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5298545" y="207541"/>
              <a:ext cx="5534888" cy="471065"/>
            </a:xfrm>
            <a:prstGeom prst="rect">
              <a:avLst/>
            </a:prstGeom>
            <a:noFill/>
          </p:spPr>
          <p:txBody>
            <a:bodyPr lIns="90488" tIns="44450" rIns="90488" bIns="44450"/>
            <a:lstStyle>
              <a:lvl1pPr marL="171450" indent="-17145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1pPr>
              <a:lvl2pPr marL="5143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8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2pPr>
              <a:lvl3pPr marL="8572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3pPr>
              <a:lvl4pPr marL="12001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4pPr>
              <a:lvl5pPr marL="15430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fontAlgn="base">
                <a:lnSpc>
                  <a:spcPct val="100000"/>
                </a:lnSpc>
                <a:buNone/>
              </a:pPr>
              <a:r>
                <a:rPr lang="zh-CN" altLang="en-US" sz="3200" dirty="0">
                  <a:latin typeface="Times New Roman" panose="02020603050405020304" pitchFamily="18" charset="0"/>
                  <a:ea typeface="楷体" panose="02010609060101010101" pitchFamily="49" charset="-122"/>
                  <a:sym typeface="+mn-ea"/>
                </a:rPr>
                <a:t>通过值或引用判断相等的测试</a:t>
              </a:r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bldLvl="5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0" name="Rectangle 4">
            <a:extLst>
              <a:ext uri="{FF2B5EF4-FFF2-40B4-BE49-F238E27FC236}">
                <a16:creationId xmlns:a16="http://schemas.microsoft.com/office/drawing/2014/main" id="{D1559B7F-391F-589F-5278-5AA91BC5F332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>
          <a:xfrm>
            <a:off x="1981200" y="2011680"/>
            <a:ext cx="8229600" cy="4414520"/>
          </a:xfrm>
          <a:prstGeom prst="rect">
            <a:avLst/>
          </a:prstGeom>
        </p:spPr>
        <p:txBody>
          <a:bodyPr/>
          <a:lstStyle/>
          <a:p>
            <a:pPr eaLnBrk="1"/>
            <a:r>
              <a:rPr lang="en-US" altLang="zh-CN" dirty="0">
                <a:latin typeface="Courier" pitchFamily="125" charset="0"/>
                <a:sym typeface="Courier" pitchFamily="125" charset="0"/>
              </a:rPr>
              <a:t>==	</a:t>
            </a:r>
            <a:r>
              <a:rPr lang="zh-CN" altLang="en-US" dirty="0"/>
              <a:t>等于</a:t>
            </a:r>
            <a:endParaRPr lang="en-US" altLang="zh-CN" dirty="0"/>
          </a:p>
          <a:p>
            <a:pPr marL="750888" lvl="1" indent="-254000">
              <a:spcBef>
                <a:spcPts val="1100"/>
              </a:spcBef>
              <a:buFontTx/>
              <a:buChar char="–"/>
            </a:pPr>
            <a:r>
              <a:rPr lang="zh-CN" altLang="en-US" sz="2000" dirty="0">
                <a:solidFill>
                  <a:srgbClr val="000000"/>
                </a:solidFill>
              </a:rPr>
              <a:t>如果比较的值或引用相等，则返回真</a:t>
            </a:r>
            <a:endParaRPr lang="en-US" altLang="zh-CN" sz="2000" dirty="0">
              <a:solidFill>
                <a:srgbClr val="000000"/>
              </a:solidFill>
            </a:endParaRPr>
          </a:p>
          <a:p>
            <a:pPr marL="736600" lvl="2" indent="-101600">
              <a:spcBef>
                <a:spcPts val="700"/>
              </a:spcBef>
              <a:buNone/>
            </a:pPr>
            <a:r>
              <a:rPr lang="en-US" altLang="zh-CN" sz="18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		print( 10 == 10 );          // </a:t>
            </a:r>
            <a:r>
              <a:rPr lang="zh-CN" altLang="en-US" sz="18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输出</a:t>
            </a:r>
            <a:r>
              <a:rPr lang="en-US" altLang="zh-CN" sz="18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: True</a:t>
            </a:r>
            <a:br>
              <a:rPr lang="en-US" altLang="zh-CN" sz="18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</a:br>
            <a:r>
              <a:rPr lang="en-US" altLang="zh-CN" sz="18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	print( 20 == 10 );          // </a:t>
            </a:r>
            <a:r>
              <a:rPr lang="zh-CN" altLang="en-US" sz="18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输出</a:t>
            </a:r>
            <a:r>
              <a:rPr lang="en-US" altLang="zh-CN" sz="18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: False</a:t>
            </a:r>
            <a:br>
              <a:rPr lang="en-US" altLang="zh-CN" sz="18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</a:br>
            <a:r>
              <a:rPr lang="en-US" altLang="zh-CN" sz="18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	print( 1.23f == 3.14f );    // </a:t>
            </a:r>
            <a:r>
              <a:rPr lang="zh-CN" altLang="en-US" sz="18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输出</a:t>
            </a:r>
            <a:r>
              <a:rPr lang="en-US" altLang="zh-CN" sz="18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: False</a:t>
            </a:r>
            <a:br>
              <a:rPr lang="en-US" altLang="zh-CN" sz="18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</a:br>
            <a:r>
              <a:rPr lang="en-US" altLang="zh-CN" sz="18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	print( 1.23f == 1.23f );    // </a:t>
            </a:r>
            <a:r>
              <a:rPr lang="zh-CN" altLang="en-US" sz="18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输出</a:t>
            </a:r>
            <a:r>
              <a:rPr lang="en-US" altLang="zh-CN" sz="18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: True</a:t>
            </a:r>
            <a:br>
              <a:rPr lang="en-US" altLang="zh-CN" sz="18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</a:br>
            <a:r>
              <a:rPr lang="en-US" altLang="zh-CN" sz="18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	print( 3.14f == </a:t>
            </a:r>
            <a:r>
              <a:rPr lang="en-US" altLang="zh-CN" sz="1800" dirty="0" err="1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Mathf.PI</a:t>
            </a:r>
            <a:r>
              <a:rPr lang="en-US" altLang="zh-CN" sz="18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 ); // </a:t>
            </a:r>
            <a:r>
              <a:rPr lang="zh-CN" altLang="en-US" sz="18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输出</a:t>
            </a:r>
            <a:r>
              <a:rPr lang="en-US" altLang="zh-CN" sz="18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: False</a:t>
            </a:r>
            <a:br>
              <a:rPr lang="en-US" altLang="zh-CN" sz="18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</a:br>
            <a:r>
              <a:rPr lang="en-US" altLang="zh-CN" sz="18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	// </a:t>
            </a:r>
            <a:r>
              <a:rPr lang="en-US" altLang="zh-CN" sz="1800" dirty="0" err="1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Mathf.PI</a:t>
            </a:r>
            <a:r>
              <a:rPr lang="zh-CN" altLang="en-US" sz="18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的小数位数比</a:t>
            </a:r>
            <a:r>
              <a:rPr lang="en-US" altLang="zh-CN" sz="18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3.14f</a:t>
            </a:r>
            <a:r>
              <a:rPr lang="zh-CN" altLang="en-US" sz="18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更精确</a:t>
            </a:r>
            <a:endParaRPr lang="en-US" altLang="zh-CN" dirty="0"/>
          </a:p>
          <a:p>
            <a:pPr marL="750888" lvl="1" indent="-254000">
              <a:spcBef>
                <a:spcPts val="1100"/>
              </a:spcBef>
              <a:buFontTx/>
              <a:buChar char="–"/>
            </a:pPr>
            <a:r>
              <a:rPr lang="zh-CN" altLang="en-US" sz="2000" dirty="0">
                <a:solidFill>
                  <a:srgbClr val="000000"/>
                </a:solidFill>
              </a:rPr>
              <a:t>不要把</a:t>
            </a:r>
            <a:r>
              <a:rPr lang="en-US" altLang="zh-CN" sz="2000" dirty="0">
                <a:solidFill>
                  <a:srgbClr val="000000"/>
                </a:solidFill>
              </a:rPr>
              <a:t> == </a:t>
            </a:r>
            <a:r>
              <a:rPr lang="zh-CN" altLang="en-US" sz="2000" dirty="0">
                <a:solidFill>
                  <a:srgbClr val="000000"/>
                </a:solidFill>
              </a:rPr>
              <a:t>和</a:t>
            </a:r>
            <a:r>
              <a:rPr lang="en-US" altLang="zh-CN" sz="2000" dirty="0">
                <a:solidFill>
                  <a:srgbClr val="000000"/>
                </a:solidFill>
              </a:rPr>
              <a:t> = </a:t>
            </a:r>
            <a:r>
              <a:rPr lang="zh-CN" altLang="en-US" sz="2000" dirty="0">
                <a:solidFill>
                  <a:srgbClr val="000000"/>
                </a:solidFill>
              </a:rPr>
              <a:t>混淆</a:t>
            </a:r>
            <a:endParaRPr lang="en-US" altLang="zh-CN" sz="2000" dirty="0">
              <a:solidFill>
                <a:srgbClr val="000000"/>
              </a:solidFill>
            </a:endParaRPr>
          </a:p>
          <a:p>
            <a:pPr marL="736600" lvl="2" indent="-101600">
              <a:spcBef>
                <a:spcPts val="700"/>
              </a:spcBef>
              <a:buFontTx/>
              <a:buChar char=" "/>
            </a:pPr>
            <a:r>
              <a:rPr lang="en-US" altLang="zh-CN" sz="1800" dirty="0">
                <a:solidFill>
                  <a:srgbClr val="000000"/>
                </a:solidFill>
              </a:rPr>
              <a:t>   ==	</a:t>
            </a:r>
            <a:r>
              <a:rPr lang="zh-CN" altLang="en-US" sz="1800" dirty="0">
                <a:solidFill>
                  <a:srgbClr val="000000"/>
                </a:solidFill>
              </a:rPr>
              <a:t>等于运算符</a:t>
            </a:r>
            <a:endParaRPr lang="en-US" altLang="zh-CN" sz="1800" dirty="0">
              <a:solidFill>
                <a:srgbClr val="000000"/>
              </a:solidFill>
            </a:endParaRPr>
          </a:p>
          <a:p>
            <a:pPr marL="736600" lvl="2" indent="-101600">
              <a:spcBef>
                <a:spcPts val="700"/>
              </a:spcBef>
              <a:buFontTx/>
              <a:buChar char=" "/>
            </a:pPr>
            <a:r>
              <a:rPr lang="en-US" altLang="zh-CN" sz="1800" dirty="0">
                <a:solidFill>
                  <a:srgbClr val="000000"/>
                </a:solidFill>
              </a:rPr>
              <a:t>    =	</a:t>
            </a:r>
            <a:r>
              <a:rPr lang="zh-CN" altLang="en-US" sz="1800" dirty="0">
                <a:solidFill>
                  <a:srgbClr val="000000"/>
                </a:solidFill>
              </a:rPr>
              <a:t>赋值运算符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8006E9EC-0521-3DCA-EC0C-F423FE9F083F}"/>
              </a:ext>
            </a:extLst>
          </p:cNvPr>
          <p:cNvGrpSpPr/>
          <p:nvPr/>
        </p:nvGrpSpPr>
        <p:grpSpPr>
          <a:xfrm>
            <a:off x="4746118" y="251474"/>
            <a:ext cx="2699763" cy="490115"/>
            <a:chOff x="4840431" y="207541"/>
            <a:chExt cx="2699763" cy="490115"/>
          </a:xfrm>
        </p:grpSpPr>
        <p:pic>
          <p:nvPicPr>
            <p:cNvPr id="4" name="Picture 4" descr="黑爵(AJAZZ)手柄/方向盘AG180报价_参数_图片_视频_怎么样_问答-苏宁易购">
              <a:extLst>
                <a:ext uri="{FF2B5EF4-FFF2-40B4-BE49-F238E27FC236}">
                  <a16:creationId xmlns:a16="http://schemas.microsoft.com/office/drawing/2014/main" id="{B9E69EFC-7311-C015-D660-F6868069FD8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45" t="9275" r="3752" b="5379"/>
            <a:stretch/>
          </p:blipFill>
          <p:spPr bwMode="auto">
            <a:xfrm>
              <a:off x="4840431" y="321039"/>
              <a:ext cx="407315" cy="37661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" name="Rectangle 3">
              <a:extLst>
                <a:ext uri="{FF2B5EF4-FFF2-40B4-BE49-F238E27FC236}">
                  <a16:creationId xmlns:a16="http://schemas.microsoft.com/office/drawing/2014/main" id="{9F5DD79B-96C3-2C82-4750-31A16571908F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5298545" y="207541"/>
              <a:ext cx="2241649" cy="471065"/>
            </a:xfrm>
            <a:prstGeom prst="rect">
              <a:avLst/>
            </a:prstGeom>
            <a:noFill/>
          </p:spPr>
          <p:txBody>
            <a:bodyPr lIns="90488" tIns="44450" rIns="90488" bIns="44450"/>
            <a:lstStyle>
              <a:lvl1pPr marL="171450" indent="-17145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1pPr>
              <a:lvl2pPr marL="5143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8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2pPr>
              <a:lvl3pPr marL="8572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3pPr>
              <a:lvl4pPr marL="12001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4pPr>
              <a:lvl5pPr marL="15430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fontAlgn="base">
                <a:lnSpc>
                  <a:spcPct val="100000"/>
                </a:lnSpc>
                <a:buNone/>
              </a:pPr>
              <a:r>
                <a:rPr lang="zh-CN" altLang="en-US" sz="3200" dirty="0">
                  <a:latin typeface="Times New Roman" panose="02020603050405020304" pitchFamily="18" charset="0"/>
                  <a:ea typeface="楷体" panose="02010609060101010101" pitchFamily="49" charset="-122"/>
                  <a:sym typeface="+mn-ea"/>
                </a:rPr>
                <a:t>比较运算符</a:t>
              </a:r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3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3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3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3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3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34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40" grpId="0" build="p" bldLvl="5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4" name="Rectangle 4">
            <a:extLst>
              <a:ext uri="{FF2B5EF4-FFF2-40B4-BE49-F238E27FC236}">
                <a16:creationId xmlns:a16="http://schemas.microsoft.com/office/drawing/2014/main" id="{F009B90B-D481-5FEA-202A-83CB870535AB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>
          <a:xfrm>
            <a:off x="1981200" y="1104900"/>
            <a:ext cx="8229600" cy="5321300"/>
          </a:xfrm>
          <a:prstGeom prst="rect">
            <a:avLst/>
          </a:prstGeom>
        </p:spPr>
        <p:txBody>
          <a:bodyPr/>
          <a:lstStyle/>
          <a:p>
            <a:pPr eaLnBrk="1"/>
            <a:r>
              <a:rPr lang="en-US" altLang="zh-CN" dirty="0">
                <a:latin typeface="Courier" pitchFamily="125" charset="0"/>
                <a:sym typeface="Courier" pitchFamily="125" charset="0"/>
              </a:rPr>
              <a:t>!=	</a:t>
            </a:r>
            <a:r>
              <a:rPr lang="zh-CN" altLang="en-US" dirty="0">
                <a:latin typeface="Courier" pitchFamily="125" charset="0"/>
                <a:sym typeface="Courier" pitchFamily="125" charset="0"/>
              </a:rPr>
              <a:t>不等于</a:t>
            </a:r>
            <a:endParaRPr lang="en-US" altLang="zh-CN" dirty="0"/>
          </a:p>
          <a:p>
            <a:pPr marL="750888" lvl="1" indent="-254000">
              <a:spcBef>
                <a:spcPts val="1100"/>
              </a:spcBef>
              <a:buFontTx/>
              <a:buChar char="–"/>
            </a:pPr>
            <a:r>
              <a:rPr lang="zh-CN" altLang="en-US" sz="2000" dirty="0">
                <a:solidFill>
                  <a:srgbClr val="000000"/>
                </a:solidFill>
              </a:rPr>
              <a:t>如果比较的值不相等，则返回真</a:t>
            </a:r>
            <a:endParaRPr lang="en-US" altLang="zh-CN" sz="2000" dirty="0">
              <a:solidFill>
                <a:srgbClr val="000000"/>
              </a:solidFill>
            </a:endParaRPr>
          </a:p>
          <a:p>
            <a:pPr marL="0" lvl="2" indent="0">
              <a:spcBef>
                <a:spcPts val="700"/>
              </a:spcBef>
              <a:buNone/>
            </a:pPr>
            <a:r>
              <a:rPr lang="en-US" altLang="zh-CN" sz="18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	print( 10 != 10 );          // </a:t>
            </a:r>
            <a:r>
              <a:rPr lang="zh-CN" altLang="en-US" sz="18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输出</a:t>
            </a:r>
            <a:r>
              <a:rPr lang="en-US" altLang="zh-CN" sz="18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: False</a:t>
            </a:r>
            <a:br>
              <a:rPr lang="en-US" altLang="zh-CN" sz="18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</a:br>
            <a:r>
              <a:rPr lang="en-US" altLang="zh-CN" sz="18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	print( 20 != 10 );          // </a:t>
            </a:r>
            <a:r>
              <a:rPr lang="zh-CN" altLang="en-US" sz="18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输出</a:t>
            </a:r>
            <a:r>
              <a:rPr lang="en-US" altLang="zh-CN" sz="18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: True</a:t>
            </a:r>
            <a:br>
              <a:rPr lang="en-US" altLang="zh-CN" sz="18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</a:br>
            <a:r>
              <a:rPr lang="en-US" altLang="zh-CN" sz="18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	print( 1.23f != 3.14f );    // </a:t>
            </a:r>
            <a:r>
              <a:rPr lang="zh-CN" altLang="en-US" sz="18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输出</a:t>
            </a:r>
            <a:r>
              <a:rPr lang="en-US" altLang="zh-CN" sz="18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: True</a:t>
            </a:r>
            <a:br>
              <a:rPr lang="en-US" altLang="zh-CN" sz="18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</a:br>
            <a:r>
              <a:rPr lang="en-US" altLang="zh-CN" sz="18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	print( 1.23f != 1.23f );    // </a:t>
            </a:r>
            <a:r>
              <a:rPr lang="zh-CN" altLang="en-US" sz="18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输出</a:t>
            </a:r>
            <a:r>
              <a:rPr lang="en-US" altLang="zh-CN" sz="18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: False</a:t>
            </a:r>
            <a:br>
              <a:rPr lang="en-US" altLang="zh-CN" sz="18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</a:br>
            <a:r>
              <a:rPr lang="en-US" altLang="zh-CN" sz="18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	print( 3.14f != </a:t>
            </a:r>
            <a:r>
              <a:rPr lang="en-US" altLang="zh-CN" sz="1800" dirty="0" err="1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Mathf.PI</a:t>
            </a:r>
            <a:r>
              <a:rPr lang="en-US" altLang="zh-CN" sz="18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 ); // </a:t>
            </a:r>
            <a:r>
              <a:rPr lang="zh-CN" altLang="en-US" sz="18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输出</a:t>
            </a:r>
            <a:r>
              <a:rPr lang="en-US" altLang="zh-CN" sz="18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: True</a:t>
            </a:r>
            <a:endParaRPr lang="en-US" altLang="zh-CN" sz="1800" dirty="0">
              <a:solidFill>
                <a:srgbClr val="000000"/>
              </a:solidFill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E2BBBA9B-038D-E5D3-5CF6-80353811AB74}"/>
              </a:ext>
            </a:extLst>
          </p:cNvPr>
          <p:cNvGrpSpPr/>
          <p:nvPr/>
        </p:nvGrpSpPr>
        <p:grpSpPr>
          <a:xfrm>
            <a:off x="4746118" y="251474"/>
            <a:ext cx="2699763" cy="490115"/>
            <a:chOff x="4840431" y="207541"/>
            <a:chExt cx="2699763" cy="490115"/>
          </a:xfrm>
        </p:grpSpPr>
        <p:pic>
          <p:nvPicPr>
            <p:cNvPr id="4" name="Picture 4" descr="黑爵(AJAZZ)手柄/方向盘AG180报价_参数_图片_视频_怎么样_问答-苏宁易购">
              <a:extLst>
                <a:ext uri="{FF2B5EF4-FFF2-40B4-BE49-F238E27FC236}">
                  <a16:creationId xmlns:a16="http://schemas.microsoft.com/office/drawing/2014/main" id="{FFAE92CA-6FBC-D42E-3A68-B5BAC1DBA2C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45" t="9275" r="3752" b="5379"/>
            <a:stretch/>
          </p:blipFill>
          <p:spPr bwMode="auto">
            <a:xfrm>
              <a:off x="4840431" y="321039"/>
              <a:ext cx="407315" cy="37661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" name="Rectangle 3">
              <a:extLst>
                <a:ext uri="{FF2B5EF4-FFF2-40B4-BE49-F238E27FC236}">
                  <a16:creationId xmlns:a16="http://schemas.microsoft.com/office/drawing/2014/main" id="{E549ED0F-A52F-BC4D-C289-EF5D00577282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5298545" y="207541"/>
              <a:ext cx="2241649" cy="471065"/>
            </a:xfrm>
            <a:prstGeom prst="rect">
              <a:avLst/>
            </a:prstGeom>
            <a:noFill/>
          </p:spPr>
          <p:txBody>
            <a:bodyPr lIns="90488" tIns="44450" rIns="90488" bIns="44450"/>
            <a:lstStyle>
              <a:lvl1pPr marL="171450" indent="-17145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1pPr>
              <a:lvl2pPr marL="5143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8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2pPr>
              <a:lvl3pPr marL="8572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3pPr>
              <a:lvl4pPr marL="12001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4pPr>
              <a:lvl5pPr marL="15430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fontAlgn="base">
                <a:lnSpc>
                  <a:spcPct val="100000"/>
                </a:lnSpc>
                <a:buNone/>
              </a:pPr>
              <a:r>
                <a:rPr lang="zh-CN" altLang="en-US" sz="3200" dirty="0">
                  <a:latin typeface="Times New Roman" panose="02020603050405020304" pitchFamily="18" charset="0"/>
                  <a:ea typeface="楷体" panose="02010609060101010101" pitchFamily="49" charset="-122"/>
                  <a:sym typeface="+mn-ea"/>
                </a:rPr>
                <a:t>比较运算符</a:t>
              </a:r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3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3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3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4" grpId="0" build="p" bldLvl="5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8" name="Rectangle 4">
            <a:extLst>
              <a:ext uri="{FF2B5EF4-FFF2-40B4-BE49-F238E27FC236}">
                <a16:creationId xmlns:a16="http://schemas.microsoft.com/office/drawing/2014/main" id="{49E052DB-A718-5D0E-53AE-69FD9EFE8B04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>
          <a:xfrm>
            <a:off x="1981200" y="1104900"/>
            <a:ext cx="8229600" cy="5321300"/>
          </a:xfrm>
          <a:prstGeom prst="rect">
            <a:avLst/>
          </a:prstGeom>
        </p:spPr>
        <p:txBody>
          <a:bodyPr/>
          <a:lstStyle/>
          <a:p>
            <a:pPr eaLnBrk="1"/>
            <a:r>
              <a:rPr lang="en-US" altLang="zh-CN">
                <a:latin typeface="Courier" pitchFamily="125" charset="0"/>
                <a:sym typeface="Courier" pitchFamily="125" charset="0"/>
              </a:rPr>
              <a:t>&gt;	</a:t>
            </a:r>
            <a:r>
              <a:rPr lang="zh-CN" altLang="en-US"/>
              <a:t>大于</a:t>
            </a:r>
            <a:endParaRPr lang="en-US" altLang="zh-CN"/>
          </a:p>
          <a:p>
            <a:pPr marL="750888" lvl="1" indent="-254000">
              <a:spcBef>
                <a:spcPts val="1100"/>
              </a:spcBef>
              <a:buFontTx/>
              <a:buChar char="–"/>
            </a:pPr>
            <a:r>
              <a:rPr lang="zh-CN" altLang="en-US" sz="2000">
                <a:solidFill>
                  <a:srgbClr val="000000"/>
                </a:solidFill>
              </a:rPr>
              <a:t>如果运算符左侧值大于右侧值，则返回</a:t>
            </a:r>
            <a:r>
              <a:rPr lang="en-US" altLang="zh-CN" sz="2000">
                <a:solidFill>
                  <a:srgbClr val="000000"/>
                </a:solidFill>
              </a:rPr>
              <a:t>ture</a:t>
            </a:r>
          </a:p>
          <a:p>
            <a:pPr marL="0" lvl="2" indent="0">
              <a:spcBef>
                <a:spcPts val="700"/>
              </a:spcBef>
              <a:buNone/>
            </a:pPr>
            <a:r>
              <a:rPr lang="en-US" altLang="zh-CN" sz="180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	print( 10 &gt; 10 );          // </a:t>
            </a:r>
            <a:r>
              <a:rPr lang="zh-CN" altLang="en-US" sz="180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输出</a:t>
            </a:r>
            <a:r>
              <a:rPr lang="en-US" altLang="zh-CN" sz="180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: False</a:t>
            </a:r>
            <a:br>
              <a:rPr lang="en-US" altLang="zh-CN" sz="180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</a:br>
            <a:r>
              <a:rPr lang="en-US" altLang="zh-CN" sz="180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	print( 20 &gt; 10 );          // </a:t>
            </a:r>
            <a:r>
              <a:rPr lang="zh-CN" altLang="en-US" sz="180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输出</a:t>
            </a:r>
            <a:r>
              <a:rPr lang="en-US" altLang="zh-CN" sz="180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: True</a:t>
            </a:r>
            <a:br>
              <a:rPr lang="en-US" altLang="zh-CN" sz="180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</a:br>
            <a:r>
              <a:rPr lang="en-US" altLang="zh-CN" sz="180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	print( 1.23f &gt; 3.14f );    // </a:t>
            </a:r>
            <a:r>
              <a:rPr lang="zh-CN" altLang="en-US" sz="180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输出</a:t>
            </a:r>
            <a:r>
              <a:rPr lang="en-US" altLang="zh-CN" sz="180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: False</a:t>
            </a:r>
            <a:br>
              <a:rPr lang="en-US" altLang="zh-CN" sz="180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</a:br>
            <a:r>
              <a:rPr lang="en-US" altLang="zh-CN" sz="180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	print( 1.23f &gt; 1.23f );    // </a:t>
            </a:r>
            <a:r>
              <a:rPr lang="zh-CN" altLang="en-US" sz="180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输出</a:t>
            </a:r>
            <a:r>
              <a:rPr lang="en-US" altLang="zh-CN" sz="180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: False</a:t>
            </a:r>
            <a:br>
              <a:rPr lang="en-US" altLang="zh-CN" sz="180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</a:br>
            <a:r>
              <a:rPr lang="en-US" altLang="zh-CN" sz="180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	print( 3.14f &gt; 1.23f );    // </a:t>
            </a:r>
            <a:r>
              <a:rPr lang="zh-CN" altLang="en-US" sz="180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输出</a:t>
            </a:r>
            <a:r>
              <a:rPr lang="en-US" altLang="zh-CN" sz="180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: True</a:t>
            </a:r>
          </a:p>
          <a:p>
            <a:pPr eaLnBrk="1"/>
            <a:r>
              <a:rPr lang="en-US" altLang="zh-CN">
                <a:latin typeface="Courier" pitchFamily="125" charset="0"/>
                <a:sym typeface="Courier" pitchFamily="125" charset="0"/>
              </a:rPr>
              <a:t>&lt;	</a:t>
            </a:r>
            <a:r>
              <a:rPr lang="zh-CN" altLang="en-US"/>
              <a:t>小于</a:t>
            </a:r>
            <a:endParaRPr lang="en-US" altLang="zh-CN"/>
          </a:p>
          <a:p>
            <a:pPr marL="750888" lvl="1" indent="-254000">
              <a:spcBef>
                <a:spcPts val="1100"/>
              </a:spcBef>
              <a:buFontTx/>
              <a:buChar char="–"/>
            </a:pPr>
            <a:r>
              <a:rPr lang="zh-CN" altLang="en-US" sz="2000">
                <a:solidFill>
                  <a:srgbClr val="000000"/>
                </a:solidFill>
              </a:rPr>
              <a:t>如果运算符左侧值小于右侧值，则返回</a:t>
            </a:r>
            <a:r>
              <a:rPr lang="en-US" altLang="zh-CN" sz="2000">
                <a:solidFill>
                  <a:srgbClr val="000000"/>
                </a:solidFill>
              </a:rPr>
              <a:t>ture</a:t>
            </a:r>
          </a:p>
          <a:p>
            <a:pPr marL="0" lvl="2" indent="0">
              <a:spcBef>
                <a:spcPts val="700"/>
              </a:spcBef>
              <a:buNone/>
            </a:pPr>
            <a:r>
              <a:rPr lang="en-US" altLang="zh-CN" sz="180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	print( 10 &lt; 10 );          // </a:t>
            </a:r>
            <a:r>
              <a:rPr lang="zh-CN" altLang="en-US" sz="180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输出</a:t>
            </a:r>
            <a:r>
              <a:rPr lang="en-US" altLang="zh-CN" sz="180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: True</a:t>
            </a:r>
            <a:br>
              <a:rPr lang="en-US" altLang="zh-CN" sz="180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</a:br>
            <a:r>
              <a:rPr lang="en-US" altLang="zh-CN" sz="180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	print( 20 &lt; 10 );          // </a:t>
            </a:r>
            <a:r>
              <a:rPr lang="zh-CN" altLang="en-US" sz="180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输出</a:t>
            </a:r>
            <a:r>
              <a:rPr lang="en-US" altLang="zh-CN" sz="180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: False</a:t>
            </a:r>
            <a:br>
              <a:rPr lang="en-US" altLang="zh-CN" sz="180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</a:br>
            <a:r>
              <a:rPr lang="en-US" altLang="zh-CN" sz="180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	print( 1.23f &lt; 3.14f );    // </a:t>
            </a:r>
            <a:r>
              <a:rPr lang="zh-CN" altLang="en-US" sz="180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输出</a:t>
            </a:r>
            <a:r>
              <a:rPr lang="en-US" altLang="zh-CN" sz="180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: True</a:t>
            </a:r>
            <a:br>
              <a:rPr lang="en-US" altLang="zh-CN" sz="180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</a:br>
            <a:r>
              <a:rPr lang="en-US" altLang="zh-CN" sz="180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	print( 1.23f &lt; 1.23f );    // </a:t>
            </a:r>
            <a:r>
              <a:rPr lang="zh-CN" altLang="en-US" sz="180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输出</a:t>
            </a:r>
            <a:r>
              <a:rPr lang="en-US" altLang="zh-CN" sz="180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: True</a:t>
            </a:r>
            <a:br>
              <a:rPr lang="en-US" altLang="zh-CN" sz="180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</a:br>
            <a:r>
              <a:rPr lang="en-US" altLang="zh-CN" sz="180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	print( 3.14f &lt; 1.23f );    // </a:t>
            </a:r>
            <a:r>
              <a:rPr lang="zh-CN" altLang="en-US" sz="180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输出</a:t>
            </a:r>
            <a:r>
              <a:rPr lang="en-US" altLang="zh-CN" sz="180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: False</a:t>
            </a:r>
            <a:endParaRPr lang="en-US" altLang="zh-CN" sz="1800">
              <a:solidFill>
                <a:srgbClr val="000000"/>
              </a:solidFill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D7A4040A-EB4F-B321-9C5F-C30E4C1D5C97}"/>
              </a:ext>
            </a:extLst>
          </p:cNvPr>
          <p:cNvGrpSpPr/>
          <p:nvPr/>
        </p:nvGrpSpPr>
        <p:grpSpPr>
          <a:xfrm>
            <a:off x="4746118" y="251474"/>
            <a:ext cx="2699763" cy="490115"/>
            <a:chOff x="4840431" y="207541"/>
            <a:chExt cx="2699763" cy="490115"/>
          </a:xfrm>
        </p:grpSpPr>
        <p:pic>
          <p:nvPicPr>
            <p:cNvPr id="4" name="Picture 4" descr="黑爵(AJAZZ)手柄/方向盘AG180报价_参数_图片_视频_怎么样_问答-苏宁易购">
              <a:extLst>
                <a:ext uri="{FF2B5EF4-FFF2-40B4-BE49-F238E27FC236}">
                  <a16:creationId xmlns:a16="http://schemas.microsoft.com/office/drawing/2014/main" id="{CC0E4E21-CD7C-9BAD-60C8-3F5AD648122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45" t="9275" r="3752" b="5379"/>
            <a:stretch/>
          </p:blipFill>
          <p:spPr bwMode="auto">
            <a:xfrm>
              <a:off x="4840431" y="321039"/>
              <a:ext cx="407315" cy="37661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" name="Rectangle 3">
              <a:extLst>
                <a:ext uri="{FF2B5EF4-FFF2-40B4-BE49-F238E27FC236}">
                  <a16:creationId xmlns:a16="http://schemas.microsoft.com/office/drawing/2014/main" id="{2FACEAF1-2E1A-A9A5-D246-F4CC194A03B8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5298545" y="207541"/>
              <a:ext cx="2241649" cy="471065"/>
            </a:xfrm>
            <a:prstGeom prst="rect">
              <a:avLst/>
            </a:prstGeom>
            <a:noFill/>
          </p:spPr>
          <p:txBody>
            <a:bodyPr lIns="90488" tIns="44450" rIns="90488" bIns="44450"/>
            <a:lstStyle>
              <a:lvl1pPr marL="171450" indent="-17145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1pPr>
              <a:lvl2pPr marL="5143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8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2pPr>
              <a:lvl3pPr marL="8572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3pPr>
              <a:lvl4pPr marL="12001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4pPr>
              <a:lvl5pPr marL="15430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fontAlgn="base">
                <a:lnSpc>
                  <a:spcPct val="100000"/>
                </a:lnSpc>
                <a:buNone/>
              </a:pPr>
              <a:r>
                <a:rPr lang="zh-CN" altLang="en-US" sz="3200" dirty="0">
                  <a:latin typeface="Times New Roman" panose="02020603050405020304" pitchFamily="18" charset="0"/>
                  <a:ea typeface="楷体" panose="02010609060101010101" pitchFamily="49" charset="-122"/>
                  <a:sym typeface="+mn-ea"/>
                </a:rPr>
                <a:t>比较运算符</a:t>
              </a:r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3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3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3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3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38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38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8" grpId="0" build="p" bldLvl="5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2" name="Rectangle 4">
            <a:extLst>
              <a:ext uri="{FF2B5EF4-FFF2-40B4-BE49-F238E27FC236}">
                <a16:creationId xmlns:a16="http://schemas.microsoft.com/office/drawing/2014/main" id="{D23CF552-B1AE-53F7-3202-B6C23377FAF8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>
          <a:xfrm>
            <a:off x="1981200" y="1104900"/>
            <a:ext cx="8229600" cy="5321300"/>
          </a:xfrm>
          <a:prstGeom prst="rect">
            <a:avLst/>
          </a:prstGeom>
        </p:spPr>
        <p:txBody>
          <a:bodyPr/>
          <a:lstStyle/>
          <a:p>
            <a:pPr eaLnBrk="1"/>
            <a:r>
              <a:rPr lang="en-US" altLang="zh-CN">
                <a:latin typeface="Courier" pitchFamily="125" charset="0"/>
                <a:sym typeface="Courier" pitchFamily="125" charset="0"/>
              </a:rPr>
              <a:t>&gt;=	</a:t>
            </a:r>
            <a:r>
              <a:rPr lang="zh-CN" altLang="en-US"/>
              <a:t>大于或等于</a:t>
            </a:r>
            <a:endParaRPr lang="en-US" altLang="zh-CN"/>
          </a:p>
          <a:p>
            <a:pPr marL="750888" lvl="1" indent="-254000">
              <a:spcBef>
                <a:spcPts val="1100"/>
              </a:spcBef>
              <a:buFontTx/>
              <a:buChar char="–"/>
            </a:pPr>
            <a:r>
              <a:rPr lang="zh-CN" altLang="en-US" sz="2000">
                <a:solidFill>
                  <a:srgbClr val="000000"/>
                </a:solidFill>
              </a:rPr>
              <a:t>如果运算符左侧值大于或等于右侧值，则返回</a:t>
            </a:r>
            <a:r>
              <a:rPr lang="en-US" altLang="zh-CN" sz="2000">
                <a:solidFill>
                  <a:srgbClr val="000000"/>
                </a:solidFill>
              </a:rPr>
              <a:t>true </a:t>
            </a:r>
          </a:p>
          <a:p>
            <a:pPr marL="0" lvl="2" indent="0">
              <a:spcBef>
                <a:spcPts val="700"/>
              </a:spcBef>
              <a:buNone/>
            </a:pPr>
            <a:r>
              <a:rPr lang="en-US" altLang="zh-CN" sz="180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	print( 10 &gt;= 10 );          // </a:t>
            </a:r>
            <a:r>
              <a:rPr lang="zh-CN" altLang="en-US" sz="180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输出</a:t>
            </a:r>
            <a:r>
              <a:rPr lang="en-US" altLang="zh-CN" sz="180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: True</a:t>
            </a:r>
            <a:br>
              <a:rPr lang="en-US" altLang="zh-CN" sz="180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</a:br>
            <a:r>
              <a:rPr lang="en-US" altLang="zh-CN" sz="180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	print( 20 &gt;= 10 );          // </a:t>
            </a:r>
            <a:r>
              <a:rPr lang="zh-CN" altLang="en-US" sz="180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输出</a:t>
            </a:r>
            <a:r>
              <a:rPr lang="en-US" altLang="zh-CN" sz="180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: True</a:t>
            </a:r>
            <a:br>
              <a:rPr lang="en-US" altLang="zh-CN" sz="180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</a:br>
            <a:r>
              <a:rPr lang="en-US" altLang="zh-CN" sz="180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	print( 1.23f &gt;= 3.14f );    // </a:t>
            </a:r>
            <a:r>
              <a:rPr lang="zh-CN" altLang="en-US" sz="180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输出</a:t>
            </a:r>
            <a:r>
              <a:rPr lang="en-US" altLang="zh-CN" sz="180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: False</a:t>
            </a:r>
            <a:br>
              <a:rPr lang="en-US" altLang="zh-CN" sz="180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</a:br>
            <a:r>
              <a:rPr lang="en-US" altLang="zh-CN" sz="180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	print( 1.23f &gt;= 1.23f );    // </a:t>
            </a:r>
            <a:r>
              <a:rPr lang="zh-CN" altLang="en-US" sz="180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输出</a:t>
            </a:r>
            <a:r>
              <a:rPr lang="en-US" altLang="zh-CN" sz="180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: True</a:t>
            </a:r>
            <a:br>
              <a:rPr lang="en-US" altLang="zh-CN" sz="180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</a:br>
            <a:r>
              <a:rPr lang="en-US" altLang="zh-CN" sz="180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	print( 3.14f &gt;= 1.23f );    // </a:t>
            </a:r>
            <a:r>
              <a:rPr lang="zh-CN" altLang="en-US" sz="180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输出</a:t>
            </a:r>
            <a:r>
              <a:rPr lang="en-US" altLang="zh-CN" sz="180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: True</a:t>
            </a:r>
          </a:p>
          <a:p>
            <a:pPr eaLnBrk="1"/>
            <a:r>
              <a:rPr lang="en-US" altLang="zh-CN">
                <a:latin typeface="Courier" pitchFamily="125" charset="0"/>
                <a:sym typeface="Courier" pitchFamily="125" charset="0"/>
              </a:rPr>
              <a:t>&lt;=	</a:t>
            </a:r>
            <a:r>
              <a:rPr lang="en-US" altLang="zh-CN"/>
              <a:t>Less Than or Equal To</a:t>
            </a:r>
          </a:p>
          <a:p>
            <a:pPr marL="750888" lvl="1" indent="-254000">
              <a:spcBef>
                <a:spcPts val="1100"/>
              </a:spcBef>
              <a:buFontTx/>
              <a:buChar char="–"/>
            </a:pPr>
            <a:r>
              <a:rPr lang="zh-CN" altLang="en-US" sz="2000">
                <a:solidFill>
                  <a:srgbClr val="000000"/>
                </a:solidFill>
              </a:rPr>
              <a:t>如果运算符左侧值小于或等于右侧值，则返回</a:t>
            </a:r>
            <a:r>
              <a:rPr lang="en-US" altLang="zh-CN" sz="2000">
                <a:solidFill>
                  <a:srgbClr val="000000"/>
                </a:solidFill>
              </a:rPr>
              <a:t>true</a:t>
            </a:r>
          </a:p>
          <a:p>
            <a:pPr marL="0" lvl="2" indent="0">
              <a:spcBef>
                <a:spcPts val="700"/>
              </a:spcBef>
              <a:buNone/>
            </a:pPr>
            <a:r>
              <a:rPr lang="en-US" altLang="zh-CN" sz="180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	print( 10 &lt;= 10 );          // </a:t>
            </a:r>
            <a:r>
              <a:rPr lang="zh-CN" altLang="en-US" sz="180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输出</a:t>
            </a:r>
            <a:r>
              <a:rPr lang="en-US" altLang="zh-CN" sz="180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: True</a:t>
            </a:r>
            <a:br>
              <a:rPr lang="en-US" altLang="zh-CN" sz="180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</a:br>
            <a:r>
              <a:rPr lang="en-US" altLang="zh-CN" sz="180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	print( 20 &lt;= 10 );          // </a:t>
            </a:r>
            <a:r>
              <a:rPr lang="zh-CN" altLang="en-US" sz="180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输出</a:t>
            </a:r>
            <a:r>
              <a:rPr lang="en-US" altLang="zh-CN" sz="180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: False</a:t>
            </a:r>
            <a:br>
              <a:rPr lang="en-US" altLang="zh-CN" sz="180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</a:br>
            <a:r>
              <a:rPr lang="en-US" altLang="zh-CN" sz="180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	print( 1.23f &lt;= 3.14f );    // </a:t>
            </a:r>
            <a:r>
              <a:rPr lang="zh-CN" altLang="en-US" sz="180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输出</a:t>
            </a:r>
            <a:r>
              <a:rPr lang="en-US" altLang="zh-CN" sz="180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: True</a:t>
            </a:r>
            <a:br>
              <a:rPr lang="en-US" altLang="zh-CN" sz="180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</a:br>
            <a:r>
              <a:rPr lang="en-US" altLang="zh-CN" sz="180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	print( 1.23f &lt;= 1.23f );    // </a:t>
            </a:r>
            <a:r>
              <a:rPr lang="zh-CN" altLang="en-US" sz="180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输出</a:t>
            </a:r>
            <a:r>
              <a:rPr lang="en-US" altLang="zh-CN" sz="180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: True</a:t>
            </a:r>
            <a:br>
              <a:rPr lang="en-US" altLang="zh-CN" sz="180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</a:br>
            <a:r>
              <a:rPr lang="en-US" altLang="zh-CN" sz="180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	print( 3.14f &lt;= 1.23f );    // </a:t>
            </a:r>
            <a:r>
              <a:rPr lang="zh-CN" altLang="en-US" sz="180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输出</a:t>
            </a:r>
            <a:r>
              <a:rPr lang="en-US" altLang="zh-CN" sz="180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: False</a:t>
            </a:r>
            <a:endParaRPr lang="en-US" altLang="zh-CN" sz="1800">
              <a:solidFill>
                <a:srgbClr val="000000"/>
              </a:solidFill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7722D2C8-6083-7865-402C-F3C0AEF20BED}"/>
              </a:ext>
            </a:extLst>
          </p:cNvPr>
          <p:cNvGrpSpPr/>
          <p:nvPr/>
        </p:nvGrpSpPr>
        <p:grpSpPr>
          <a:xfrm>
            <a:off x="4746118" y="251474"/>
            <a:ext cx="2699763" cy="490115"/>
            <a:chOff x="4840431" y="207541"/>
            <a:chExt cx="2699763" cy="490115"/>
          </a:xfrm>
        </p:grpSpPr>
        <p:pic>
          <p:nvPicPr>
            <p:cNvPr id="4" name="Picture 4" descr="黑爵(AJAZZ)手柄/方向盘AG180报价_参数_图片_视频_怎么样_问答-苏宁易购">
              <a:extLst>
                <a:ext uri="{FF2B5EF4-FFF2-40B4-BE49-F238E27FC236}">
                  <a16:creationId xmlns:a16="http://schemas.microsoft.com/office/drawing/2014/main" id="{59206950-4309-13F6-CEEF-724C576A132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45" t="9275" r="3752" b="5379"/>
            <a:stretch/>
          </p:blipFill>
          <p:spPr bwMode="auto">
            <a:xfrm>
              <a:off x="4840431" y="321039"/>
              <a:ext cx="407315" cy="37661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" name="Rectangle 3">
              <a:extLst>
                <a:ext uri="{FF2B5EF4-FFF2-40B4-BE49-F238E27FC236}">
                  <a16:creationId xmlns:a16="http://schemas.microsoft.com/office/drawing/2014/main" id="{58127123-E6C4-EE35-83DF-EC85655D7634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5298545" y="207541"/>
              <a:ext cx="2241649" cy="471065"/>
            </a:xfrm>
            <a:prstGeom prst="rect">
              <a:avLst/>
            </a:prstGeom>
            <a:noFill/>
          </p:spPr>
          <p:txBody>
            <a:bodyPr lIns="90488" tIns="44450" rIns="90488" bIns="44450"/>
            <a:lstStyle>
              <a:lvl1pPr marL="171450" indent="-17145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1pPr>
              <a:lvl2pPr marL="5143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8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2pPr>
              <a:lvl3pPr marL="8572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3pPr>
              <a:lvl4pPr marL="12001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4pPr>
              <a:lvl5pPr marL="15430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fontAlgn="base">
                <a:lnSpc>
                  <a:spcPct val="100000"/>
                </a:lnSpc>
                <a:buNone/>
              </a:pPr>
              <a:r>
                <a:rPr lang="zh-CN" altLang="en-US" sz="3200" dirty="0">
                  <a:latin typeface="Times New Roman" panose="02020603050405020304" pitchFamily="18" charset="0"/>
                  <a:ea typeface="楷体" panose="02010609060101010101" pitchFamily="49" charset="-122"/>
                  <a:sym typeface="+mn-ea"/>
                </a:rPr>
                <a:t>比较运算符</a:t>
              </a:r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4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4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4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4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4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4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2" grpId="0" build="p" bldLvl="5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54B02C4A-207F-A315-1803-3DE0495EB6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2" name="Rectangle 4">
            <a:extLst>
              <a:ext uri="{FF2B5EF4-FFF2-40B4-BE49-F238E27FC236}">
                <a16:creationId xmlns:a16="http://schemas.microsoft.com/office/drawing/2014/main" id="{F0F86577-473F-4779-48FC-40415DB07DFA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>
          <a:xfrm>
            <a:off x="1981200" y="1104900"/>
            <a:ext cx="8229600" cy="2324100"/>
          </a:xfrm>
          <a:prstGeom prst="rect">
            <a:avLst/>
          </a:prstGeom>
        </p:spPr>
        <p:txBody>
          <a:bodyPr/>
          <a:lstStyle/>
          <a:p>
            <a:pPr eaLnBrk="1"/>
            <a:r>
              <a:rPr lang="zh-CN" altLang="en-US" dirty="0"/>
              <a:t>布尔运算符</a:t>
            </a:r>
            <a:r>
              <a:rPr lang="en-US" altLang="zh-CN" dirty="0"/>
              <a:t>:      </a:t>
            </a:r>
            <a:r>
              <a:rPr lang="en-US" altLang="zh-CN" dirty="0">
                <a:solidFill>
                  <a:schemeClr val="tx1"/>
                </a:solidFill>
                <a:latin typeface="Courier" pitchFamily="125" charset="0"/>
                <a:sym typeface="Courier" pitchFamily="125" charset="0"/>
              </a:rPr>
              <a:t>!    &amp;&amp;    ||    &amp;    |</a:t>
            </a:r>
            <a:endParaRPr lang="en-US" altLang="zh-CN" dirty="0">
              <a:solidFill>
                <a:schemeClr val="tx1"/>
              </a:solidFill>
            </a:endParaRPr>
          </a:p>
          <a:p>
            <a:pPr eaLnBrk="1"/>
            <a:r>
              <a:rPr lang="zh-CN" altLang="en-US" dirty="0"/>
              <a:t>学习了</a:t>
            </a:r>
            <a:r>
              <a:rPr lang="en-US" altLang="zh-CN" dirty="0"/>
              <a:t> "</a:t>
            </a:r>
            <a:r>
              <a:rPr lang="zh-CN" altLang="en-US" dirty="0"/>
              <a:t>短路运算</a:t>
            </a:r>
            <a:r>
              <a:rPr lang="en-US" altLang="zh-CN" dirty="0"/>
              <a:t>"</a:t>
            </a:r>
          </a:p>
          <a:p>
            <a:pPr eaLnBrk="1"/>
            <a:r>
              <a:rPr lang="zh-CN" altLang="en-US" dirty="0"/>
              <a:t>布尔运算可以组合使用</a:t>
            </a:r>
            <a:r>
              <a:rPr lang="en-US" altLang="zh-CN" dirty="0"/>
              <a:t>d</a:t>
            </a:r>
          </a:p>
          <a:p>
            <a:pPr eaLnBrk="1"/>
            <a:r>
              <a:rPr lang="zh-CN" altLang="en-US" dirty="0"/>
              <a:t>比较运算符</a:t>
            </a:r>
            <a:r>
              <a:rPr lang="en-US" altLang="zh-CN" dirty="0"/>
              <a:t>:</a:t>
            </a:r>
            <a:r>
              <a:rPr lang="en-US" altLang="zh-CN" dirty="0">
                <a:latin typeface="Courier" pitchFamily="125" charset="0"/>
                <a:sym typeface="Courier" pitchFamily="125" charset="0"/>
              </a:rPr>
              <a:t>   </a:t>
            </a:r>
            <a:r>
              <a:rPr lang="en-US" altLang="zh-CN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==  !=  &gt;  &lt;  &gt;=  &lt;=</a:t>
            </a:r>
            <a:endParaRPr lang="en-US" altLang="zh-CN" dirty="0">
              <a:solidFill>
                <a:srgbClr val="000000"/>
              </a:solidFill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5B355939-F3D1-36DB-99EE-B1B3818295FB}"/>
              </a:ext>
            </a:extLst>
          </p:cNvPr>
          <p:cNvGrpSpPr/>
          <p:nvPr/>
        </p:nvGrpSpPr>
        <p:grpSpPr>
          <a:xfrm>
            <a:off x="4991799" y="251474"/>
            <a:ext cx="2208402" cy="490115"/>
            <a:chOff x="4840431" y="207541"/>
            <a:chExt cx="2699763" cy="490115"/>
          </a:xfrm>
        </p:grpSpPr>
        <p:pic>
          <p:nvPicPr>
            <p:cNvPr id="4" name="Picture 4" descr="黑爵(AJAZZ)手柄/方向盘AG180报价_参数_图片_视频_怎么样_问答-苏宁易购">
              <a:extLst>
                <a:ext uri="{FF2B5EF4-FFF2-40B4-BE49-F238E27FC236}">
                  <a16:creationId xmlns:a16="http://schemas.microsoft.com/office/drawing/2014/main" id="{65B979AF-20E2-A330-BF53-5FDF1BA4639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45" t="9275" r="3752" b="5379"/>
            <a:stretch/>
          </p:blipFill>
          <p:spPr bwMode="auto">
            <a:xfrm>
              <a:off x="4840431" y="321039"/>
              <a:ext cx="407315" cy="37661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" name="Rectangle 3">
              <a:extLst>
                <a:ext uri="{FF2B5EF4-FFF2-40B4-BE49-F238E27FC236}">
                  <a16:creationId xmlns:a16="http://schemas.microsoft.com/office/drawing/2014/main" id="{2E5334AF-9C12-C216-F891-EE7854B967F4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5298545" y="207541"/>
              <a:ext cx="2241649" cy="471065"/>
            </a:xfrm>
            <a:prstGeom prst="rect">
              <a:avLst/>
            </a:prstGeom>
            <a:noFill/>
          </p:spPr>
          <p:txBody>
            <a:bodyPr lIns="90488" tIns="44450" rIns="90488" bIns="44450"/>
            <a:lstStyle>
              <a:lvl1pPr marL="171450" indent="-17145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1pPr>
              <a:lvl2pPr marL="5143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8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2pPr>
              <a:lvl3pPr marL="8572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3pPr>
              <a:lvl4pPr marL="12001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4pPr>
              <a:lvl5pPr marL="15430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fontAlgn="base">
                <a:lnSpc>
                  <a:spcPct val="100000"/>
                </a:lnSpc>
                <a:buNone/>
              </a:pPr>
              <a:r>
                <a:rPr lang="zh-CN" altLang="en-US" sz="3200" dirty="0">
                  <a:latin typeface="Times New Roman" panose="02020603050405020304" pitchFamily="18" charset="0"/>
                  <a:ea typeface="楷体" panose="02010609060101010101" pitchFamily="49" charset="-122"/>
                  <a:sym typeface="+mn-ea"/>
                </a:rPr>
                <a:t>内容小结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6286928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6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6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6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65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2" grpId="0" build="p" bldLvl="5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B7F9C3-E74B-7984-C35D-F37FD60CD0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">
            <a:extLst>
              <a:ext uri="{FF2B5EF4-FFF2-40B4-BE49-F238E27FC236}">
                <a16:creationId xmlns:a16="http://schemas.microsoft.com/office/drawing/2014/main" id="{B322848E-9ED3-40AA-F261-3AADA546AF19}"/>
              </a:ext>
            </a:extLst>
          </p:cNvPr>
          <p:cNvSpPr txBox="1">
            <a:spLocks noChangeArrowheads="1"/>
          </p:cNvSpPr>
          <p:nvPr/>
        </p:nvSpPr>
        <p:spPr>
          <a:xfrm>
            <a:off x="2754481" y="2081781"/>
            <a:ext cx="6683037" cy="2694437"/>
          </a:xfrm>
          <a:prstGeom prst="rect">
            <a:avLst/>
          </a:prstGeom>
          <a:noFill/>
        </p:spPr>
        <p:txBody>
          <a:bodyPr lIns="0" tIns="0" rIns="0" bIns="0"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b="1" kern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b="1" kern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b="1" kern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b="1" kern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fontAlgn="auto">
              <a:spcAft>
                <a:spcPts val="0"/>
              </a:spcAft>
              <a:buNone/>
            </a:pPr>
            <a:r>
              <a:rPr lang="zh-CN" altLang="en-US" sz="10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条件语句和循环语句</a:t>
            </a:r>
            <a:endParaRPr kumimoji="0" lang="en-US" altLang="zh-CN" sz="100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4" name="Picture 4" descr="黑爵(AJAZZ)手柄/方向盘AG180报价_参数_图片_视频_怎么样_问答-苏宁易购">
            <a:extLst>
              <a:ext uri="{FF2B5EF4-FFF2-40B4-BE49-F238E27FC236}">
                <a16:creationId xmlns:a16="http://schemas.microsoft.com/office/drawing/2014/main" id="{00B26C19-D917-D0D1-80D0-EE4603B33EE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45" t="9275" r="3752" b="5379"/>
          <a:stretch/>
        </p:blipFill>
        <p:spPr bwMode="auto">
          <a:xfrm>
            <a:off x="6630660" y="1616743"/>
            <a:ext cx="7054860" cy="65231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84166457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Rectangle 4">
            <a:extLst>
              <a:ext uri="{FF2B5EF4-FFF2-40B4-BE49-F238E27FC236}">
                <a16:creationId xmlns:a16="http://schemas.microsoft.com/office/drawing/2014/main" id="{F77DD06F-E462-F41A-A77A-62747A8EC5CD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>
          <a:xfrm>
            <a:off x="1987550" y="1010920"/>
            <a:ext cx="8229600" cy="5321300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条件语句</a:t>
            </a:r>
            <a:endParaRPr lang="en-US" altLang="zh-CN" dirty="0"/>
          </a:p>
          <a:p>
            <a:pPr marL="750888" lvl="1" indent="-254000">
              <a:spcBef>
                <a:spcPts val="1100"/>
              </a:spcBef>
              <a:buFontTx/>
              <a:buChar char="–"/>
            </a:pPr>
            <a:r>
              <a:rPr lang="en-US" altLang="zh-CN" sz="2000" dirty="0">
                <a:solidFill>
                  <a:srgbClr val="000000"/>
                </a:solidFill>
              </a:rPr>
              <a:t>if</a:t>
            </a:r>
          </a:p>
          <a:p>
            <a:pPr marL="750888" lvl="1" indent="-254000">
              <a:spcBef>
                <a:spcPts val="1100"/>
              </a:spcBef>
              <a:buFontTx/>
              <a:buChar char="–"/>
            </a:pPr>
            <a:r>
              <a:rPr lang="en-US" altLang="zh-CN" sz="2000" dirty="0">
                <a:solidFill>
                  <a:srgbClr val="000000"/>
                </a:solidFill>
              </a:rPr>
              <a:t>if…else if…else</a:t>
            </a:r>
          </a:p>
          <a:p>
            <a:pPr marL="750888" lvl="1" indent="-254000">
              <a:spcBef>
                <a:spcPts val="1100"/>
              </a:spcBef>
              <a:buFontTx/>
              <a:buChar char="–"/>
            </a:pPr>
            <a:r>
              <a:rPr lang="en-US" altLang="zh-CN" sz="2000" dirty="0">
                <a:solidFill>
                  <a:srgbClr val="000000"/>
                </a:solidFill>
              </a:rPr>
              <a:t>switch</a:t>
            </a:r>
            <a:endParaRPr lang="en-US" altLang="zh-CN" dirty="0"/>
          </a:p>
          <a:p>
            <a:pPr eaLnBrk="1"/>
            <a:r>
              <a:rPr lang="zh-CN" altLang="en-US" dirty="0"/>
              <a:t>四种循环语句</a:t>
            </a:r>
          </a:p>
          <a:p>
            <a:pPr marL="750888" lvl="1" indent="-254000">
              <a:spcBef>
                <a:spcPts val="1100"/>
              </a:spcBef>
              <a:buFontTx/>
              <a:buChar char="–"/>
            </a:pPr>
            <a:r>
              <a:rPr lang="en-US" altLang="zh-CN" sz="20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while</a:t>
            </a:r>
          </a:p>
          <a:p>
            <a:pPr marL="750888" lvl="1" indent="-254000">
              <a:spcBef>
                <a:spcPts val="1100"/>
              </a:spcBef>
              <a:buFontTx/>
              <a:buChar char="–"/>
            </a:pPr>
            <a:r>
              <a:rPr lang="en-US" altLang="zh-CN" sz="20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do…while</a:t>
            </a:r>
          </a:p>
          <a:p>
            <a:pPr marL="750888" lvl="1" indent="-254000">
              <a:spcBef>
                <a:spcPts val="1100"/>
              </a:spcBef>
              <a:buFontTx/>
              <a:buChar char="–"/>
            </a:pPr>
            <a:r>
              <a:rPr lang="en-US" altLang="zh-CN" sz="20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for</a:t>
            </a:r>
          </a:p>
          <a:p>
            <a:pPr marL="750888" lvl="1" indent="-254000">
              <a:spcBef>
                <a:spcPts val="1100"/>
              </a:spcBef>
              <a:buFontTx/>
              <a:buChar char="–"/>
            </a:pPr>
            <a:r>
              <a:rPr lang="en-US" altLang="zh-CN" sz="20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foreach</a:t>
            </a:r>
          </a:p>
          <a:p>
            <a:pPr eaLnBrk="1"/>
            <a:r>
              <a:rPr lang="zh-CN" altLang="en-US" dirty="0"/>
              <a:t>循环中的跳转语句</a:t>
            </a:r>
            <a:endParaRPr lang="en-US" altLang="zh-CN" dirty="0"/>
          </a:p>
          <a:p>
            <a:pPr marL="750888" lvl="1" indent="-254000">
              <a:spcBef>
                <a:spcPts val="1100"/>
              </a:spcBef>
              <a:buFontTx/>
              <a:buChar char="–"/>
            </a:pPr>
            <a:r>
              <a:rPr lang="en-US" altLang="zh-CN" sz="20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break</a:t>
            </a:r>
          </a:p>
          <a:p>
            <a:pPr marL="750888" lvl="1" indent="-254000">
              <a:spcBef>
                <a:spcPts val="1100"/>
              </a:spcBef>
              <a:buFontTx/>
              <a:buChar char="–"/>
            </a:pPr>
            <a:r>
              <a:rPr lang="en-US" altLang="zh-CN" sz="20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continue</a:t>
            </a:r>
            <a:endParaRPr lang="en-US" altLang="zh-CN" sz="1800" dirty="0">
              <a:solidFill>
                <a:srgbClr val="000000"/>
              </a:solidFill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E0319DA1-876E-4AEC-E58C-1638B400A3EC}"/>
              </a:ext>
            </a:extLst>
          </p:cNvPr>
          <p:cNvGrpSpPr/>
          <p:nvPr/>
        </p:nvGrpSpPr>
        <p:grpSpPr>
          <a:xfrm>
            <a:off x="5386419" y="251474"/>
            <a:ext cx="1419162" cy="490115"/>
            <a:chOff x="4840431" y="207541"/>
            <a:chExt cx="1734920" cy="490115"/>
          </a:xfrm>
        </p:grpSpPr>
        <p:pic>
          <p:nvPicPr>
            <p:cNvPr id="5" name="Picture 4" descr="黑爵(AJAZZ)手柄/方向盘AG180报价_参数_图片_视频_怎么样_问答-苏宁易购">
              <a:extLst>
                <a:ext uri="{FF2B5EF4-FFF2-40B4-BE49-F238E27FC236}">
                  <a16:creationId xmlns:a16="http://schemas.microsoft.com/office/drawing/2014/main" id="{7357ADC7-3C4B-B907-0C52-A2C5ACBEB20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45" t="9275" r="3752" b="5379"/>
            <a:stretch/>
          </p:blipFill>
          <p:spPr bwMode="auto">
            <a:xfrm>
              <a:off x="4840431" y="321039"/>
              <a:ext cx="407315" cy="37661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Rectangle 3">
              <a:extLst>
                <a:ext uri="{FF2B5EF4-FFF2-40B4-BE49-F238E27FC236}">
                  <a16:creationId xmlns:a16="http://schemas.microsoft.com/office/drawing/2014/main" id="{07280AF9-C0A3-63AB-6F72-607CB01A3E1E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5298547" y="207541"/>
              <a:ext cx="1276804" cy="471065"/>
            </a:xfrm>
            <a:prstGeom prst="rect">
              <a:avLst/>
            </a:prstGeom>
            <a:noFill/>
          </p:spPr>
          <p:txBody>
            <a:bodyPr lIns="90488" tIns="44450" rIns="90488" bIns="44450"/>
            <a:lstStyle>
              <a:lvl1pPr marL="171450" indent="-17145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1pPr>
              <a:lvl2pPr marL="5143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8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2pPr>
              <a:lvl3pPr marL="8572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3pPr>
              <a:lvl4pPr marL="12001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4pPr>
              <a:lvl5pPr marL="15430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fontAlgn="base">
                <a:lnSpc>
                  <a:spcPct val="100000"/>
                </a:lnSpc>
                <a:buNone/>
              </a:pPr>
              <a:r>
                <a:rPr lang="zh-CN" altLang="en-US" sz="3200" dirty="0">
                  <a:latin typeface="Times New Roman" panose="02020603050405020304" pitchFamily="18" charset="0"/>
                  <a:ea typeface="楷体" panose="02010609060101010101" pitchFamily="49" charset="-122"/>
                  <a:sym typeface="+mn-ea"/>
                </a:rPr>
                <a:t>目录</a:t>
              </a:r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0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0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0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0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0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0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0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0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0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00" grpId="0" build="p" bldLvl="5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6" name="Rectangle 4">
            <a:extLst>
              <a:ext uri="{FF2B5EF4-FFF2-40B4-BE49-F238E27FC236}">
                <a16:creationId xmlns:a16="http://schemas.microsoft.com/office/drawing/2014/main" id="{1178F994-76F0-BD48-499A-394D5917241C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>
          <a:xfrm>
            <a:off x="1981200" y="1104900"/>
            <a:ext cx="8229600" cy="5321300"/>
          </a:xfrm>
          <a:prstGeom prst="rect">
            <a:avLst/>
          </a:prstGeom>
        </p:spPr>
        <p:txBody>
          <a:bodyPr/>
          <a:lstStyle/>
          <a:p>
            <a:pPr eaLnBrk="1">
              <a:buSzTx/>
            </a:pPr>
            <a:r>
              <a:rPr lang="zh-CN" altLang="en-US"/>
              <a:t>控制程序的流程</a:t>
            </a:r>
          </a:p>
          <a:p>
            <a:pPr marL="0" lvl="1" indent="496888">
              <a:spcBef>
                <a:spcPts val="1100"/>
              </a:spcBef>
              <a:buNone/>
            </a:pPr>
            <a:r>
              <a:rPr lang="en-US" altLang="zh-CN" sz="200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if	</a:t>
            </a:r>
          </a:p>
          <a:p>
            <a:pPr marL="0" lvl="1" indent="496888">
              <a:spcBef>
                <a:spcPts val="1100"/>
              </a:spcBef>
              <a:buNone/>
            </a:pPr>
            <a:r>
              <a:rPr lang="en-US" altLang="zh-CN" sz="200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if / else	</a:t>
            </a:r>
          </a:p>
          <a:p>
            <a:pPr marL="0" lvl="1" indent="496888">
              <a:spcBef>
                <a:spcPts val="1100"/>
              </a:spcBef>
              <a:buNone/>
            </a:pPr>
            <a:r>
              <a:rPr lang="en-US" altLang="zh-CN" sz="200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if / else if / else</a:t>
            </a:r>
          </a:p>
          <a:p>
            <a:pPr marL="0" lvl="1" indent="496888">
              <a:spcBef>
                <a:spcPts val="1100"/>
              </a:spcBef>
              <a:buNone/>
            </a:pPr>
            <a:r>
              <a:rPr lang="en-US" altLang="zh-CN" sz="200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switch</a:t>
            </a:r>
          </a:p>
          <a:p>
            <a:pPr eaLnBrk="1">
              <a:buSzTx/>
            </a:pPr>
            <a:r>
              <a:rPr lang="zh-CN" altLang="en-US"/>
              <a:t>可以结合布尔值和比较运算符使用</a:t>
            </a:r>
          </a:p>
          <a:p>
            <a:pPr eaLnBrk="1">
              <a:buSzTx/>
            </a:pPr>
            <a:r>
              <a:rPr lang="zh-CN" altLang="en-US"/>
              <a:t>使用花括号 </a:t>
            </a:r>
            <a:r>
              <a:rPr lang="en-US" altLang="zh-CN"/>
              <a:t>{ }</a:t>
            </a:r>
            <a:endParaRPr lang="en-US" altLang="zh-CN" sz="1800">
              <a:solidFill>
                <a:srgbClr val="000000"/>
              </a:solidFill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685D6B91-66BC-77F7-6B5D-6989CC79EC15}"/>
              </a:ext>
            </a:extLst>
          </p:cNvPr>
          <p:cNvGrpSpPr/>
          <p:nvPr/>
        </p:nvGrpSpPr>
        <p:grpSpPr>
          <a:xfrm>
            <a:off x="4949775" y="251474"/>
            <a:ext cx="2292451" cy="490115"/>
            <a:chOff x="4840431" y="207541"/>
            <a:chExt cx="2292451" cy="490115"/>
          </a:xfrm>
        </p:grpSpPr>
        <p:pic>
          <p:nvPicPr>
            <p:cNvPr id="4" name="Picture 4" descr="黑爵(AJAZZ)手柄/方向盘AG180报价_参数_图片_视频_怎么样_问答-苏宁易购">
              <a:extLst>
                <a:ext uri="{FF2B5EF4-FFF2-40B4-BE49-F238E27FC236}">
                  <a16:creationId xmlns:a16="http://schemas.microsoft.com/office/drawing/2014/main" id="{50787A3B-5E4E-5246-E32C-046DE1C312F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45" t="9275" r="3752" b="5379"/>
            <a:stretch/>
          </p:blipFill>
          <p:spPr bwMode="auto">
            <a:xfrm>
              <a:off x="4840431" y="321039"/>
              <a:ext cx="407315" cy="37661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" name="Rectangle 3">
              <a:extLst>
                <a:ext uri="{FF2B5EF4-FFF2-40B4-BE49-F238E27FC236}">
                  <a16:creationId xmlns:a16="http://schemas.microsoft.com/office/drawing/2014/main" id="{5DBC04E2-2DEE-6D8A-3E88-5E09D0AFB323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5298545" y="207541"/>
              <a:ext cx="1834337" cy="471065"/>
            </a:xfrm>
            <a:prstGeom prst="rect">
              <a:avLst/>
            </a:prstGeom>
            <a:noFill/>
          </p:spPr>
          <p:txBody>
            <a:bodyPr lIns="90488" tIns="44450" rIns="90488" bIns="44450"/>
            <a:lstStyle>
              <a:lvl1pPr marL="171450" indent="-17145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1pPr>
              <a:lvl2pPr marL="5143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8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2pPr>
              <a:lvl3pPr marL="8572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3pPr>
              <a:lvl4pPr marL="12001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4pPr>
              <a:lvl5pPr marL="15430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fontAlgn="base">
                <a:lnSpc>
                  <a:spcPct val="100000"/>
                </a:lnSpc>
                <a:buNone/>
              </a:pPr>
              <a:r>
                <a:rPr lang="zh-CN" altLang="en-US" sz="3200" dirty="0">
                  <a:latin typeface="Times New Roman" panose="02020603050405020304" pitchFamily="18" charset="0"/>
                  <a:ea typeface="楷体" panose="02010609060101010101" pitchFamily="49" charset="-122"/>
                  <a:sym typeface="+mn-ea"/>
                </a:rPr>
                <a:t>条件语句</a:t>
              </a:r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3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3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6" grpId="0" build="p" bldLvl="5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0" name="Rectangle 4">
            <a:extLst>
              <a:ext uri="{FF2B5EF4-FFF2-40B4-BE49-F238E27FC236}">
                <a16:creationId xmlns:a16="http://schemas.microsoft.com/office/drawing/2014/main" id="{06BAF548-AABD-06EC-8540-827743F5B3EA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>
          <a:xfrm>
            <a:off x="1981200" y="1104900"/>
            <a:ext cx="8229600" cy="5321300"/>
          </a:xfrm>
          <a:prstGeom prst="rect">
            <a:avLst/>
          </a:prstGeom>
        </p:spPr>
        <p:txBody>
          <a:bodyPr/>
          <a:lstStyle/>
          <a:p>
            <a:pPr eaLnBrk="1">
              <a:buSzTx/>
            </a:pPr>
            <a:r>
              <a:rPr lang="zh-CN" altLang="en-US">
                <a:latin typeface="Courier" pitchFamily="125" charset="0"/>
                <a:sym typeface="Courier" pitchFamily="125" charset="0"/>
              </a:rPr>
              <a:t>只有圆括号</a:t>
            </a:r>
            <a:r>
              <a:rPr lang="en-US" altLang="zh-CN">
                <a:latin typeface="Courier" pitchFamily="125" charset="0"/>
                <a:sym typeface="Courier" pitchFamily="125" charset="0"/>
              </a:rPr>
              <a:t>()</a:t>
            </a:r>
            <a:r>
              <a:rPr lang="zh-CN" altLang="en-US">
                <a:latin typeface="Courier" pitchFamily="125" charset="0"/>
                <a:sym typeface="Courier" pitchFamily="125" charset="0"/>
              </a:rPr>
              <a:t>中的值为</a:t>
            </a:r>
            <a:r>
              <a:rPr lang="en-US" altLang="zh-CN">
                <a:latin typeface="Courier" pitchFamily="125" charset="0"/>
                <a:sym typeface="Courier" pitchFamily="125" charset="0"/>
              </a:rPr>
              <a:t>true</a:t>
            </a:r>
            <a:r>
              <a:rPr lang="zh-CN" altLang="en-US">
                <a:latin typeface="Courier" pitchFamily="125" charset="0"/>
                <a:sym typeface="Courier" pitchFamily="125" charset="0"/>
              </a:rPr>
              <a:t>时，</a:t>
            </a:r>
            <a:r>
              <a:rPr lang="en-US" altLang="zh-CN">
                <a:latin typeface="Courier" pitchFamily="125" charset="0"/>
                <a:sym typeface="Courier" pitchFamily="125" charset="0"/>
              </a:rPr>
              <a:t>if</a:t>
            </a:r>
            <a:r>
              <a:rPr lang="zh-CN" altLang="en-US">
                <a:latin typeface="Courier" pitchFamily="125" charset="0"/>
                <a:sym typeface="Courier" pitchFamily="125" charset="0"/>
              </a:rPr>
              <a:t>语句才会执行花括号</a:t>
            </a:r>
            <a:r>
              <a:rPr lang="en-US" altLang="zh-CN">
                <a:latin typeface="Courier" pitchFamily="125" charset="0"/>
                <a:sym typeface="Courier" pitchFamily="125" charset="0"/>
              </a:rPr>
              <a:t>{}</a:t>
            </a:r>
            <a:r>
              <a:rPr lang="zh-CN" altLang="en-US">
                <a:latin typeface="Courier" pitchFamily="125" charset="0"/>
                <a:sym typeface="Courier" pitchFamily="125" charset="0"/>
              </a:rPr>
              <a:t>之间的代码</a:t>
            </a:r>
            <a:r>
              <a:rPr lang="en-US" altLang="zh-CN"/>
              <a:t> </a:t>
            </a:r>
          </a:p>
          <a:p>
            <a:pPr marL="0" lvl="2" indent="0">
              <a:spcBef>
                <a:spcPts val="700"/>
              </a:spcBef>
              <a:buNone/>
            </a:pPr>
            <a:r>
              <a:rPr lang="en-US" altLang="zh-CN" sz="180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	if (true) {</a:t>
            </a:r>
            <a:br>
              <a:rPr lang="en-US" altLang="zh-CN" sz="180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</a:br>
            <a:r>
              <a:rPr lang="en-US" altLang="zh-CN" sz="180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	    print( "This line will print." );</a:t>
            </a:r>
            <a:br>
              <a:rPr lang="en-US" altLang="zh-CN" sz="180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</a:br>
            <a:r>
              <a:rPr lang="en-US" altLang="zh-CN" sz="180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	}</a:t>
            </a:r>
            <a:br>
              <a:rPr lang="en-US" altLang="zh-CN" sz="180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</a:br>
            <a:br>
              <a:rPr lang="en-US" altLang="zh-CN" sz="180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</a:br>
            <a:r>
              <a:rPr lang="en-US" altLang="zh-CN" sz="180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	if (false) {</a:t>
            </a:r>
            <a:br>
              <a:rPr lang="en-US" altLang="zh-CN" sz="180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</a:br>
            <a:r>
              <a:rPr lang="en-US" altLang="zh-CN" sz="180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	    print( "This line will NOT print." );</a:t>
            </a:r>
            <a:br>
              <a:rPr lang="en-US" altLang="zh-CN" sz="180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</a:br>
            <a:r>
              <a:rPr lang="en-US" altLang="zh-CN" sz="180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	}</a:t>
            </a:r>
            <a:br>
              <a:rPr lang="en-US" altLang="zh-CN" sz="180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</a:br>
            <a:br>
              <a:rPr lang="en-US" altLang="zh-CN" sz="180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</a:br>
            <a:r>
              <a:rPr lang="en-US" altLang="zh-CN" sz="180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	// </a:t>
            </a:r>
            <a:r>
              <a:rPr lang="zh-CN" altLang="en-US" sz="180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上述代码执行输入的内容将是</a:t>
            </a:r>
            <a:r>
              <a:rPr lang="en-US" altLang="zh-CN" sz="180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:</a:t>
            </a:r>
          </a:p>
          <a:p>
            <a:pPr marL="0" lvl="2" indent="0">
              <a:spcBef>
                <a:spcPts val="700"/>
              </a:spcBef>
              <a:buNone/>
            </a:pPr>
            <a:r>
              <a:rPr lang="en-US" altLang="zh-CN" sz="180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	//    This line will print.</a:t>
            </a:r>
          </a:p>
          <a:p>
            <a:pPr eaLnBrk="1">
              <a:buSzTx/>
            </a:pPr>
            <a:r>
              <a:rPr lang="en-US" altLang="zh-CN"/>
              <a:t>if</a:t>
            </a:r>
            <a:r>
              <a:rPr lang="zh-CN" altLang="en-US"/>
              <a:t>语句中大括号内的所有代码都会执行</a:t>
            </a:r>
            <a:endParaRPr lang="en-US" altLang="zh-CN" sz="1800">
              <a:solidFill>
                <a:srgbClr val="000000"/>
              </a:solidFill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EB2751A3-9D8E-FA53-7600-C0F6EB8AA996}"/>
              </a:ext>
            </a:extLst>
          </p:cNvPr>
          <p:cNvGrpSpPr/>
          <p:nvPr/>
        </p:nvGrpSpPr>
        <p:grpSpPr>
          <a:xfrm>
            <a:off x="4949775" y="251474"/>
            <a:ext cx="2292451" cy="490115"/>
            <a:chOff x="4840431" y="207541"/>
            <a:chExt cx="2292451" cy="490115"/>
          </a:xfrm>
        </p:grpSpPr>
        <p:pic>
          <p:nvPicPr>
            <p:cNvPr id="4" name="Picture 4" descr="黑爵(AJAZZ)手柄/方向盘AG180报价_参数_图片_视频_怎么样_问答-苏宁易购">
              <a:extLst>
                <a:ext uri="{FF2B5EF4-FFF2-40B4-BE49-F238E27FC236}">
                  <a16:creationId xmlns:a16="http://schemas.microsoft.com/office/drawing/2014/main" id="{E854A075-E6B9-3F08-B470-06BE23E47D4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45" t="9275" r="3752" b="5379"/>
            <a:stretch/>
          </p:blipFill>
          <p:spPr bwMode="auto">
            <a:xfrm>
              <a:off x="4840431" y="321039"/>
              <a:ext cx="407315" cy="37661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" name="Rectangle 3">
              <a:extLst>
                <a:ext uri="{FF2B5EF4-FFF2-40B4-BE49-F238E27FC236}">
                  <a16:creationId xmlns:a16="http://schemas.microsoft.com/office/drawing/2014/main" id="{39C4961F-8504-224C-371B-8CB1D612A703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5298545" y="207541"/>
              <a:ext cx="1834337" cy="471065"/>
            </a:xfrm>
            <a:prstGeom prst="rect">
              <a:avLst/>
            </a:prstGeom>
            <a:noFill/>
          </p:spPr>
          <p:txBody>
            <a:bodyPr lIns="90488" tIns="44450" rIns="90488" bIns="44450"/>
            <a:lstStyle>
              <a:lvl1pPr marL="171450" indent="-17145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1pPr>
              <a:lvl2pPr marL="5143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8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2pPr>
              <a:lvl3pPr marL="8572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3pPr>
              <a:lvl4pPr marL="12001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4pPr>
              <a:lvl5pPr marL="15430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fontAlgn="base">
                <a:lnSpc>
                  <a:spcPct val="100000"/>
                </a:lnSpc>
                <a:buNone/>
              </a:pPr>
              <a:r>
                <a:rPr lang="zh-CN" altLang="en-US" sz="3200" dirty="0">
                  <a:latin typeface="Times New Roman" panose="02020603050405020304" pitchFamily="18" charset="0"/>
                  <a:ea typeface="楷体" panose="02010609060101010101" pitchFamily="49" charset="-122"/>
                  <a:sym typeface="+mn-ea"/>
                </a:rPr>
                <a:t>条件语句</a:t>
              </a:r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4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4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4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46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60" grpId="0" build="p" bldLvl="5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4" name="Rectangle 4">
            <a:extLst>
              <a:ext uri="{FF2B5EF4-FFF2-40B4-BE49-F238E27FC236}">
                <a16:creationId xmlns:a16="http://schemas.microsoft.com/office/drawing/2014/main" id="{026FBF43-12DE-71E5-A673-3E0C1937C978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>
          <a:xfrm>
            <a:off x="1981200" y="1104900"/>
            <a:ext cx="8229600" cy="5321300"/>
          </a:xfrm>
          <a:prstGeom prst="rect">
            <a:avLst/>
          </a:prstGeom>
        </p:spPr>
        <p:txBody>
          <a:bodyPr/>
          <a:lstStyle/>
          <a:p>
            <a:pPr eaLnBrk="1"/>
            <a:r>
              <a:rPr lang="zh-CN" altLang="en-US"/>
              <a:t>结合布尔运算符使用</a:t>
            </a:r>
            <a:r>
              <a:rPr lang="en-US" altLang="zh-CN"/>
              <a:t>if</a:t>
            </a:r>
            <a:r>
              <a:rPr lang="zh-CN" altLang="en-US"/>
              <a:t>语句</a:t>
            </a:r>
            <a:endParaRPr lang="en-US" altLang="zh-CN"/>
          </a:p>
          <a:p>
            <a:pPr marL="0" lvl="2" indent="0">
              <a:spcBef>
                <a:spcPct val="0"/>
              </a:spcBef>
              <a:buNone/>
            </a:pPr>
            <a:r>
              <a:rPr lang="en-US" altLang="zh-CN" sz="150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	bool night = true;</a:t>
            </a:r>
            <a:br>
              <a:rPr lang="en-US" altLang="zh-CN" sz="150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</a:br>
            <a:r>
              <a:rPr lang="en-US" altLang="zh-CN" sz="150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	bool fullMoon = false;</a:t>
            </a:r>
            <a:br>
              <a:rPr lang="en-US" altLang="zh-CN" sz="150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</a:br>
            <a:br>
              <a:rPr lang="en-US" altLang="zh-CN" sz="150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</a:br>
            <a:r>
              <a:rPr lang="en-US" altLang="zh-CN" sz="150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	if (night) {</a:t>
            </a:r>
            <a:br>
              <a:rPr lang="en-US" altLang="zh-CN" sz="150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</a:br>
            <a:r>
              <a:rPr lang="en-US" altLang="zh-CN" sz="150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	    print( "It's night." );</a:t>
            </a:r>
            <a:br>
              <a:rPr lang="en-US" altLang="zh-CN" sz="150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</a:br>
            <a:r>
              <a:rPr lang="en-US" altLang="zh-CN" sz="150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	}</a:t>
            </a:r>
            <a:br>
              <a:rPr lang="en-US" altLang="zh-CN" sz="150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</a:br>
            <a:r>
              <a:rPr lang="en-US" altLang="zh-CN" sz="150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	if (!fullMoon) {</a:t>
            </a:r>
            <a:br>
              <a:rPr lang="en-US" altLang="zh-CN" sz="150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</a:br>
            <a:r>
              <a:rPr lang="en-US" altLang="zh-CN" sz="150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	    print( "The moon is not full." );</a:t>
            </a:r>
            <a:br>
              <a:rPr lang="en-US" altLang="zh-CN" sz="150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</a:br>
            <a:r>
              <a:rPr lang="en-US" altLang="zh-CN" sz="150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	}</a:t>
            </a:r>
            <a:br>
              <a:rPr lang="en-US" altLang="zh-CN" sz="150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</a:br>
            <a:r>
              <a:rPr lang="en-US" altLang="zh-CN" sz="150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	if (night &amp;&amp; fullMoon) {</a:t>
            </a:r>
            <a:br>
              <a:rPr lang="en-US" altLang="zh-CN" sz="150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</a:br>
            <a:r>
              <a:rPr lang="en-US" altLang="zh-CN" sz="150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	    print( "Beware werewolves!!!" );</a:t>
            </a:r>
            <a:br>
              <a:rPr lang="en-US" altLang="zh-CN" sz="150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</a:br>
            <a:r>
              <a:rPr lang="en-US" altLang="zh-CN" sz="150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	}</a:t>
            </a:r>
            <a:br>
              <a:rPr lang="en-US" altLang="zh-CN" sz="150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</a:br>
            <a:r>
              <a:rPr lang="en-US" altLang="zh-CN" sz="150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	if (night &amp;&amp; !fullMoon) {</a:t>
            </a:r>
            <a:br>
              <a:rPr lang="en-US" altLang="zh-CN" sz="150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</a:br>
            <a:r>
              <a:rPr lang="en-US" altLang="zh-CN" sz="150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	    print( "No werewolves tonight. (Whew!)" );</a:t>
            </a:r>
            <a:br>
              <a:rPr lang="en-US" altLang="zh-CN" sz="150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</a:br>
            <a:r>
              <a:rPr lang="en-US" altLang="zh-CN" sz="150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	}</a:t>
            </a:r>
            <a:br>
              <a:rPr lang="en-US" altLang="zh-CN" sz="150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</a:br>
            <a:br>
              <a:rPr lang="en-US" altLang="zh-CN" sz="150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</a:br>
            <a:r>
              <a:rPr lang="en-US" altLang="zh-CN" sz="150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	// </a:t>
            </a:r>
            <a:r>
              <a:rPr lang="zh-CN" altLang="en-US" sz="150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上述代码将输出以下内容</a:t>
            </a:r>
            <a:r>
              <a:rPr lang="en-US" altLang="zh-CN" sz="150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:</a:t>
            </a:r>
          </a:p>
          <a:p>
            <a:pPr marL="0" lvl="2" indent="0">
              <a:spcBef>
                <a:spcPct val="0"/>
              </a:spcBef>
              <a:buNone/>
            </a:pPr>
            <a:r>
              <a:rPr lang="en-US" altLang="zh-CN" sz="150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	//     It's night.</a:t>
            </a:r>
            <a:br>
              <a:rPr lang="en-US" altLang="zh-CN" sz="150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</a:br>
            <a:r>
              <a:rPr lang="en-US" altLang="zh-CN" sz="150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	//     The moon is not full.</a:t>
            </a:r>
            <a:br>
              <a:rPr lang="en-US" altLang="zh-CN" sz="150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</a:br>
            <a:r>
              <a:rPr lang="en-US" altLang="zh-CN" sz="150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	//     No werewolves tonight. (Whew!)</a:t>
            </a:r>
            <a:endParaRPr lang="en-US" altLang="zh-CN" sz="1800">
              <a:solidFill>
                <a:srgbClr val="000000"/>
              </a:solidFill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0753E2FD-BA7F-17CE-78C4-A7E7AA6DF06E}"/>
              </a:ext>
            </a:extLst>
          </p:cNvPr>
          <p:cNvGrpSpPr/>
          <p:nvPr/>
        </p:nvGrpSpPr>
        <p:grpSpPr>
          <a:xfrm>
            <a:off x="4949775" y="251474"/>
            <a:ext cx="2292451" cy="490115"/>
            <a:chOff x="4840431" y="207541"/>
            <a:chExt cx="2292451" cy="490115"/>
          </a:xfrm>
        </p:grpSpPr>
        <p:pic>
          <p:nvPicPr>
            <p:cNvPr id="4" name="Picture 4" descr="黑爵(AJAZZ)手柄/方向盘AG180报价_参数_图片_视频_怎么样_问答-苏宁易购">
              <a:extLst>
                <a:ext uri="{FF2B5EF4-FFF2-40B4-BE49-F238E27FC236}">
                  <a16:creationId xmlns:a16="http://schemas.microsoft.com/office/drawing/2014/main" id="{24433BB5-162C-64FF-12AC-933AF09F2DE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45" t="9275" r="3752" b="5379"/>
            <a:stretch/>
          </p:blipFill>
          <p:spPr bwMode="auto">
            <a:xfrm>
              <a:off x="4840431" y="321039"/>
              <a:ext cx="407315" cy="37661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" name="Rectangle 3">
              <a:extLst>
                <a:ext uri="{FF2B5EF4-FFF2-40B4-BE49-F238E27FC236}">
                  <a16:creationId xmlns:a16="http://schemas.microsoft.com/office/drawing/2014/main" id="{D89CBAF1-97F1-F7CF-D405-5B3CF7073B31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5298545" y="207541"/>
              <a:ext cx="1834337" cy="471065"/>
            </a:xfrm>
            <a:prstGeom prst="rect">
              <a:avLst/>
            </a:prstGeom>
            <a:noFill/>
          </p:spPr>
          <p:txBody>
            <a:bodyPr lIns="90488" tIns="44450" rIns="90488" bIns="44450"/>
            <a:lstStyle>
              <a:lvl1pPr marL="171450" indent="-17145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1pPr>
              <a:lvl2pPr marL="5143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8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2pPr>
              <a:lvl3pPr marL="8572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3pPr>
              <a:lvl4pPr marL="12001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4pPr>
              <a:lvl5pPr marL="15430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fontAlgn="base">
                <a:lnSpc>
                  <a:spcPct val="100000"/>
                </a:lnSpc>
                <a:buNone/>
              </a:pPr>
              <a:r>
                <a:rPr lang="zh-CN" altLang="en-US" sz="3200" dirty="0">
                  <a:latin typeface="Times New Roman" panose="02020603050405020304" pitchFamily="18" charset="0"/>
                  <a:ea typeface="楷体" panose="02010609060101010101" pitchFamily="49" charset="-122"/>
                  <a:sym typeface="+mn-ea"/>
                </a:rPr>
                <a:t>条件语句</a:t>
              </a:r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4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4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4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4" grpId="0" build="p" bldLvl="5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8" name="Rectangle 4">
            <a:extLst>
              <a:ext uri="{FF2B5EF4-FFF2-40B4-BE49-F238E27FC236}">
                <a16:creationId xmlns:a16="http://schemas.microsoft.com/office/drawing/2014/main" id="{29B6BD75-7924-56B4-DE48-6E0B130E1E85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>
          <a:xfrm>
            <a:off x="1981200" y="1104900"/>
            <a:ext cx="8229600" cy="5321300"/>
          </a:xfrm>
          <a:prstGeom prst="rect">
            <a:avLst/>
          </a:prstGeom>
        </p:spPr>
        <p:txBody>
          <a:bodyPr/>
          <a:lstStyle/>
          <a:p>
            <a:pPr eaLnBrk="1"/>
            <a:r>
              <a:rPr lang="zh-CN" altLang="en-US" dirty="0"/>
              <a:t>结合比较运算符使用</a:t>
            </a:r>
            <a:r>
              <a:rPr lang="en-US" altLang="zh-CN" dirty="0"/>
              <a:t>if</a:t>
            </a:r>
            <a:r>
              <a:rPr lang="zh-CN" altLang="en-US" dirty="0"/>
              <a:t>语句</a:t>
            </a:r>
            <a:endParaRPr lang="en-US" altLang="zh-CN" dirty="0"/>
          </a:p>
          <a:p>
            <a:pPr marL="569913" lvl="2" indent="0">
              <a:spcBef>
                <a:spcPct val="0"/>
              </a:spcBef>
              <a:buNone/>
            </a:pPr>
            <a:r>
              <a:rPr lang="en-US" altLang="zh-CN" sz="15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if (10 == 10 ) {</a:t>
            </a:r>
            <a:br>
              <a:rPr lang="en-US" altLang="zh-CN" sz="15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</a:br>
            <a:r>
              <a:rPr lang="en-US" altLang="zh-CN" sz="15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    print( "10 is equal to 10." );</a:t>
            </a:r>
            <a:br>
              <a:rPr lang="en-US" altLang="zh-CN" sz="15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</a:br>
            <a:r>
              <a:rPr lang="en-US" altLang="zh-CN" sz="15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}</a:t>
            </a:r>
            <a:br>
              <a:rPr lang="en-US" altLang="zh-CN" sz="15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</a:br>
            <a:r>
              <a:rPr lang="en-US" altLang="zh-CN" sz="15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if ( 10 &gt; 20 ) {</a:t>
            </a:r>
            <a:br>
              <a:rPr lang="en-US" altLang="zh-CN" sz="15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</a:br>
            <a:r>
              <a:rPr lang="en-US" altLang="zh-CN" sz="15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    print( "10 is greater than 20." );</a:t>
            </a:r>
            <a:br>
              <a:rPr lang="en-US" altLang="zh-CN" sz="15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</a:br>
            <a:r>
              <a:rPr lang="en-US" altLang="zh-CN" sz="15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}</a:t>
            </a:r>
            <a:br>
              <a:rPr lang="en-US" altLang="zh-CN" sz="15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</a:br>
            <a:r>
              <a:rPr lang="en-US" altLang="zh-CN" sz="15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if ( 1.23f &lt;= 3.14f ) {</a:t>
            </a:r>
            <a:br>
              <a:rPr lang="en-US" altLang="zh-CN" sz="15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</a:br>
            <a:r>
              <a:rPr lang="en-US" altLang="zh-CN" sz="15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    print( "1.23 is less than or equal to 3.14." );</a:t>
            </a:r>
            <a:br>
              <a:rPr lang="en-US" altLang="zh-CN" sz="15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</a:br>
            <a:r>
              <a:rPr lang="en-US" altLang="zh-CN" sz="15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}</a:t>
            </a:r>
            <a:br>
              <a:rPr lang="en-US" altLang="zh-CN" sz="15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</a:br>
            <a:r>
              <a:rPr lang="en-US" altLang="zh-CN" sz="15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if ( 1.23f &gt;= 1.23f ) {</a:t>
            </a:r>
            <a:br>
              <a:rPr lang="en-US" altLang="zh-CN" sz="15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</a:br>
            <a:r>
              <a:rPr lang="en-US" altLang="zh-CN" sz="15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    print( "1.23 is greater than or equal to 1.23." );</a:t>
            </a:r>
            <a:br>
              <a:rPr lang="en-US" altLang="zh-CN" sz="15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</a:br>
            <a:r>
              <a:rPr lang="en-US" altLang="zh-CN" sz="15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}</a:t>
            </a:r>
            <a:br>
              <a:rPr lang="en-US" altLang="zh-CN" sz="15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</a:br>
            <a:r>
              <a:rPr lang="en-US" altLang="zh-CN" sz="15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if ( 3.14f != </a:t>
            </a:r>
            <a:r>
              <a:rPr lang="en-US" altLang="zh-CN" sz="1500" dirty="0" err="1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Mathf.PI</a:t>
            </a:r>
            <a:r>
              <a:rPr lang="en-US" altLang="zh-CN" sz="15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 ) {</a:t>
            </a:r>
            <a:br>
              <a:rPr lang="en-US" altLang="zh-CN" sz="15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</a:br>
            <a:r>
              <a:rPr lang="en-US" altLang="zh-CN" sz="15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    print( "3.14 is not equal to "+</a:t>
            </a:r>
            <a:r>
              <a:rPr lang="en-US" altLang="zh-CN" sz="1500" dirty="0" err="1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Mathf.PI</a:t>
            </a:r>
            <a:r>
              <a:rPr lang="en-US" altLang="zh-CN" sz="15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+"." );</a:t>
            </a:r>
            <a:br>
              <a:rPr lang="en-US" altLang="zh-CN" sz="15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</a:br>
            <a:r>
              <a:rPr lang="en-US" altLang="zh-CN" sz="15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    // +</a:t>
            </a:r>
            <a:r>
              <a:rPr lang="zh-CN" altLang="en-US" sz="15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号可将字符串与其他数据类型相连接</a:t>
            </a:r>
            <a:br>
              <a:rPr lang="en-US" altLang="zh-CN" sz="15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</a:br>
            <a:r>
              <a:rPr lang="en-US" altLang="zh-CN" sz="15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    // </a:t>
            </a:r>
            <a:r>
              <a:rPr lang="zh-CN" altLang="en-US" sz="15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在这种情况下，其他数据会被转换为字符串</a:t>
            </a:r>
            <a:br>
              <a:rPr lang="en-US" altLang="zh-CN" sz="15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</a:br>
            <a:r>
              <a:rPr lang="en-US" altLang="zh-CN" sz="15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}</a:t>
            </a:r>
          </a:p>
          <a:p>
            <a:pPr eaLnBrk="1"/>
            <a:r>
              <a:rPr lang="zh-CN" altLang="en-US" dirty="0"/>
              <a:t>避免在任何</a:t>
            </a:r>
            <a:r>
              <a:rPr lang="en-US" altLang="zh-CN" dirty="0"/>
              <a:t>if</a:t>
            </a:r>
            <a:r>
              <a:rPr lang="zh-CN" altLang="en-US" dirty="0"/>
              <a:t>语句中使用赋值运算符</a:t>
            </a:r>
            <a:r>
              <a:rPr lang="en-US" altLang="zh-CN" dirty="0"/>
              <a:t> = !!!</a:t>
            </a:r>
            <a:endParaRPr lang="zh-CN" altLang="en-US" sz="1800" dirty="0">
              <a:solidFill>
                <a:srgbClr val="000000"/>
              </a:solidFill>
              <a:ea typeface="楷体" panose="02010609060101010101" pitchFamily="49" charset="-122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4F809D01-67A9-BA04-DAD7-2615D728BF41}"/>
              </a:ext>
            </a:extLst>
          </p:cNvPr>
          <p:cNvGrpSpPr/>
          <p:nvPr/>
        </p:nvGrpSpPr>
        <p:grpSpPr>
          <a:xfrm>
            <a:off x="4949775" y="251474"/>
            <a:ext cx="2292451" cy="490115"/>
            <a:chOff x="4840431" y="207541"/>
            <a:chExt cx="2292451" cy="490115"/>
          </a:xfrm>
        </p:grpSpPr>
        <p:pic>
          <p:nvPicPr>
            <p:cNvPr id="4" name="Picture 4" descr="黑爵(AJAZZ)手柄/方向盘AG180报价_参数_图片_视频_怎么样_问答-苏宁易购">
              <a:extLst>
                <a:ext uri="{FF2B5EF4-FFF2-40B4-BE49-F238E27FC236}">
                  <a16:creationId xmlns:a16="http://schemas.microsoft.com/office/drawing/2014/main" id="{EC5F65CD-6B0B-F4B0-8191-BF4A4ABB2AE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45" t="9275" r="3752" b="5379"/>
            <a:stretch/>
          </p:blipFill>
          <p:spPr bwMode="auto">
            <a:xfrm>
              <a:off x="4840431" y="321039"/>
              <a:ext cx="407315" cy="37661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" name="Rectangle 3">
              <a:extLst>
                <a:ext uri="{FF2B5EF4-FFF2-40B4-BE49-F238E27FC236}">
                  <a16:creationId xmlns:a16="http://schemas.microsoft.com/office/drawing/2014/main" id="{5513B591-8A2E-0F4F-CEF8-D8F33B2821DF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5298545" y="207541"/>
              <a:ext cx="1834337" cy="471065"/>
            </a:xfrm>
            <a:prstGeom prst="rect">
              <a:avLst/>
            </a:prstGeom>
            <a:noFill/>
          </p:spPr>
          <p:txBody>
            <a:bodyPr lIns="90488" tIns="44450" rIns="90488" bIns="44450"/>
            <a:lstStyle>
              <a:lvl1pPr marL="171450" indent="-17145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1pPr>
              <a:lvl2pPr marL="5143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8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2pPr>
              <a:lvl3pPr marL="8572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3pPr>
              <a:lvl4pPr marL="12001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4pPr>
              <a:lvl5pPr marL="15430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fontAlgn="base">
                <a:lnSpc>
                  <a:spcPct val="100000"/>
                </a:lnSpc>
                <a:buNone/>
              </a:pPr>
              <a:r>
                <a:rPr lang="zh-CN" altLang="en-US" sz="3200" dirty="0">
                  <a:latin typeface="Times New Roman" panose="02020603050405020304" pitchFamily="18" charset="0"/>
                  <a:ea typeface="楷体" panose="02010609060101010101" pitchFamily="49" charset="-122"/>
                  <a:sym typeface="+mn-ea"/>
                </a:rPr>
                <a:t>条件语句</a:t>
              </a:r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5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50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50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8" grpId="0" build="p" bldLvl="5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2" name="Rectangle 4">
            <a:extLst>
              <a:ext uri="{FF2B5EF4-FFF2-40B4-BE49-F238E27FC236}">
                <a16:creationId xmlns:a16="http://schemas.microsoft.com/office/drawing/2014/main" id="{61EA83D1-3949-4667-B5F8-0661A62A8505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>
          <a:xfrm>
            <a:off x="1981200" y="1104900"/>
            <a:ext cx="8229600" cy="5321300"/>
          </a:xfrm>
          <a:prstGeom prst="rect">
            <a:avLst/>
          </a:prstGeom>
        </p:spPr>
        <p:txBody>
          <a:bodyPr/>
          <a:lstStyle/>
          <a:p>
            <a:pPr eaLnBrk="1"/>
            <a:r>
              <a:rPr lang="en-US" altLang="zh-CN">
                <a:latin typeface="Courier" pitchFamily="125" charset="0"/>
                <a:sym typeface="Courier" pitchFamily="125" charset="0"/>
              </a:rPr>
              <a:t>if / else</a:t>
            </a:r>
          </a:p>
          <a:p>
            <a:pPr marL="750888" lvl="1" indent="-254000">
              <a:spcBef>
                <a:spcPts val="1200"/>
              </a:spcBef>
              <a:buFontTx/>
              <a:buChar char="–"/>
            </a:pPr>
            <a:r>
              <a:rPr lang="zh-CN" altLang="en-US" sz="2000">
                <a:solidFill>
                  <a:srgbClr val="000000"/>
                </a:solidFill>
              </a:rPr>
              <a:t>如果为</a:t>
            </a:r>
            <a:r>
              <a:rPr lang="en-US" altLang="zh-CN" sz="2000">
                <a:solidFill>
                  <a:srgbClr val="000000"/>
                </a:solidFill>
              </a:rPr>
              <a:t> true </a:t>
            </a:r>
            <a:r>
              <a:rPr lang="zh-CN" altLang="en-US" sz="2000">
                <a:solidFill>
                  <a:srgbClr val="000000"/>
                </a:solidFill>
              </a:rPr>
              <a:t>执行一个操作，若为</a:t>
            </a:r>
            <a:r>
              <a:rPr lang="en-US" altLang="zh-CN" sz="2000">
                <a:solidFill>
                  <a:srgbClr val="000000"/>
                </a:solidFill>
              </a:rPr>
              <a:t> false </a:t>
            </a:r>
            <a:r>
              <a:rPr lang="zh-CN" altLang="en-US" sz="2000">
                <a:solidFill>
                  <a:srgbClr val="000000"/>
                </a:solidFill>
              </a:rPr>
              <a:t>执行另一个操作</a:t>
            </a:r>
            <a:endParaRPr lang="en-US" altLang="zh-CN" sz="2000">
              <a:solidFill>
                <a:srgbClr val="000000"/>
              </a:solidFill>
            </a:endParaRPr>
          </a:p>
          <a:p>
            <a:pPr marL="0" lvl="2" indent="0">
              <a:spcBef>
                <a:spcPct val="0"/>
              </a:spcBef>
              <a:buNone/>
            </a:pPr>
            <a:r>
              <a:rPr lang="en-US" altLang="zh-CN" sz="190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	bool night = false;</a:t>
            </a:r>
            <a:br>
              <a:rPr lang="en-US" altLang="zh-CN" sz="190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</a:br>
            <a:br>
              <a:rPr lang="en-US" altLang="zh-CN" sz="190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</a:br>
            <a:r>
              <a:rPr lang="en-US" altLang="zh-CN" sz="190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	if (night) {</a:t>
            </a:r>
            <a:br>
              <a:rPr lang="en-US" altLang="zh-CN" sz="190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</a:br>
            <a:r>
              <a:rPr lang="en-US" altLang="zh-CN" sz="190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	    print( "It's night." );</a:t>
            </a:r>
            <a:br>
              <a:rPr lang="en-US" altLang="zh-CN" sz="190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</a:br>
            <a:r>
              <a:rPr lang="en-US" altLang="zh-CN" sz="190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	} else {</a:t>
            </a:r>
            <a:br>
              <a:rPr lang="en-US" altLang="zh-CN" sz="190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</a:br>
            <a:r>
              <a:rPr lang="en-US" altLang="zh-CN" sz="190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	    print( "What are you worried about?" );</a:t>
            </a:r>
            <a:br>
              <a:rPr lang="en-US" altLang="zh-CN" sz="190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</a:br>
            <a:r>
              <a:rPr lang="en-US" altLang="zh-CN" sz="190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	}</a:t>
            </a:r>
            <a:br>
              <a:rPr lang="en-US" altLang="zh-CN" sz="190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</a:br>
            <a:br>
              <a:rPr lang="en-US" altLang="zh-CN" sz="190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</a:br>
            <a:r>
              <a:rPr lang="en-US" altLang="zh-CN" sz="190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	// </a:t>
            </a:r>
            <a:r>
              <a:rPr lang="zh-CN" altLang="en-US" sz="190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上述代码将输出以下内容</a:t>
            </a:r>
            <a:r>
              <a:rPr lang="en-US" altLang="zh-CN" sz="190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:</a:t>
            </a:r>
          </a:p>
          <a:p>
            <a:pPr marL="0" lvl="2" indent="0">
              <a:spcBef>
                <a:spcPct val="0"/>
              </a:spcBef>
              <a:buNone/>
            </a:pPr>
            <a:r>
              <a:rPr lang="en-US" altLang="zh-CN" sz="190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	//     What are you worried about?</a:t>
            </a:r>
            <a:endParaRPr lang="en-US" altLang="zh-CN" sz="1800">
              <a:solidFill>
                <a:srgbClr val="000000"/>
              </a:solidFill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73C49ACC-FD78-F1F7-0AD5-87353D98AC64}"/>
              </a:ext>
            </a:extLst>
          </p:cNvPr>
          <p:cNvGrpSpPr/>
          <p:nvPr/>
        </p:nvGrpSpPr>
        <p:grpSpPr>
          <a:xfrm>
            <a:off x="4949775" y="251474"/>
            <a:ext cx="2292451" cy="490115"/>
            <a:chOff x="4840431" y="207541"/>
            <a:chExt cx="2292451" cy="490115"/>
          </a:xfrm>
        </p:grpSpPr>
        <p:pic>
          <p:nvPicPr>
            <p:cNvPr id="4" name="Picture 4" descr="黑爵(AJAZZ)手柄/方向盘AG180报价_参数_图片_视频_怎么样_问答-苏宁易购">
              <a:extLst>
                <a:ext uri="{FF2B5EF4-FFF2-40B4-BE49-F238E27FC236}">
                  <a16:creationId xmlns:a16="http://schemas.microsoft.com/office/drawing/2014/main" id="{24E2C6B3-086E-683E-4E9F-2ABEA77199F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45" t="9275" r="3752" b="5379"/>
            <a:stretch/>
          </p:blipFill>
          <p:spPr bwMode="auto">
            <a:xfrm>
              <a:off x="4840431" y="321039"/>
              <a:ext cx="407315" cy="37661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" name="Rectangle 3">
              <a:extLst>
                <a:ext uri="{FF2B5EF4-FFF2-40B4-BE49-F238E27FC236}">
                  <a16:creationId xmlns:a16="http://schemas.microsoft.com/office/drawing/2014/main" id="{4D5C2FE0-16AD-6CD1-6720-4D4BCDB481B6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5298545" y="207541"/>
              <a:ext cx="1834337" cy="471065"/>
            </a:xfrm>
            <a:prstGeom prst="rect">
              <a:avLst/>
            </a:prstGeom>
            <a:noFill/>
          </p:spPr>
          <p:txBody>
            <a:bodyPr lIns="90488" tIns="44450" rIns="90488" bIns="44450"/>
            <a:lstStyle>
              <a:lvl1pPr marL="171450" indent="-17145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1pPr>
              <a:lvl2pPr marL="5143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8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2pPr>
              <a:lvl3pPr marL="8572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3pPr>
              <a:lvl4pPr marL="12001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4pPr>
              <a:lvl5pPr marL="15430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fontAlgn="base">
                <a:lnSpc>
                  <a:spcPct val="100000"/>
                </a:lnSpc>
                <a:buNone/>
              </a:pPr>
              <a:r>
                <a:rPr lang="zh-CN" altLang="en-US" sz="3200" dirty="0">
                  <a:latin typeface="Times New Roman" panose="02020603050405020304" pitchFamily="18" charset="0"/>
                  <a:ea typeface="楷体" panose="02010609060101010101" pitchFamily="49" charset="-122"/>
                  <a:sym typeface="+mn-ea"/>
                </a:rPr>
                <a:t>条件语句</a:t>
              </a:r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5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5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5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5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2" grpId="0" build="p" bldLvl="5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6" name="Rectangle 4">
            <a:extLst>
              <a:ext uri="{FF2B5EF4-FFF2-40B4-BE49-F238E27FC236}">
                <a16:creationId xmlns:a16="http://schemas.microsoft.com/office/drawing/2014/main" id="{A4DB2AFF-18CA-6118-DF0C-76E531FB8D0C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>
          <a:xfrm>
            <a:off x="1981200" y="1104900"/>
            <a:ext cx="8229600" cy="5321300"/>
          </a:xfrm>
          <a:prstGeom prst="rect">
            <a:avLst/>
          </a:prstGeom>
        </p:spPr>
        <p:txBody>
          <a:bodyPr/>
          <a:lstStyle/>
          <a:p>
            <a:pPr eaLnBrk="1"/>
            <a:r>
              <a:rPr lang="en-US" altLang="zh-CN">
                <a:latin typeface="Courier" pitchFamily="125" charset="0"/>
                <a:sym typeface="Courier" pitchFamily="125" charset="0"/>
              </a:rPr>
              <a:t>if / else if / else</a:t>
            </a:r>
          </a:p>
          <a:p>
            <a:pPr marL="750888" lvl="1" indent="-254000">
              <a:spcBef>
                <a:spcPts val="1200"/>
              </a:spcBef>
              <a:buFontTx/>
              <a:buChar char="–"/>
            </a:pPr>
            <a:r>
              <a:rPr lang="zh-CN" altLang="en-US" sz="2000">
                <a:solidFill>
                  <a:srgbClr val="000000"/>
                </a:solidFill>
              </a:rPr>
              <a:t>可以使用</a:t>
            </a:r>
            <a:r>
              <a:rPr lang="en-US" altLang="zh-CN" sz="200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else</a:t>
            </a:r>
            <a:r>
              <a:rPr lang="zh-CN" altLang="en-US" sz="200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语句链</a:t>
            </a:r>
            <a:endParaRPr lang="en-US" altLang="zh-CN" sz="2000">
              <a:solidFill>
                <a:srgbClr val="000000"/>
              </a:solidFill>
            </a:endParaRPr>
          </a:p>
          <a:p>
            <a:pPr marL="682625" lvl="2" indent="0">
              <a:spcBef>
                <a:spcPct val="0"/>
              </a:spcBef>
              <a:buNone/>
            </a:pPr>
            <a:r>
              <a:rPr lang="en-US" altLang="zh-CN" sz="180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bool night = true;</a:t>
            </a:r>
            <a:br>
              <a:rPr lang="en-US" altLang="zh-CN" sz="180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</a:br>
            <a:r>
              <a:rPr lang="en-US" altLang="zh-CN" sz="180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bool fullMoon = true;</a:t>
            </a:r>
            <a:br>
              <a:rPr lang="en-US" altLang="zh-CN" sz="180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</a:br>
            <a:br>
              <a:rPr lang="en-US" altLang="zh-CN" sz="180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</a:br>
            <a:r>
              <a:rPr lang="en-US" altLang="zh-CN" sz="180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if (!night) {              // </a:t>
            </a:r>
            <a:r>
              <a:rPr lang="zh-CN" altLang="en-US" sz="180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条件</a:t>
            </a:r>
            <a:r>
              <a:rPr lang="en-US" altLang="zh-CN" sz="180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1 (false)</a:t>
            </a:r>
            <a:br>
              <a:rPr lang="en-US" altLang="zh-CN" sz="180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</a:br>
            <a:r>
              <a:rPr lang="en-US" altLang="zh-CN" sz="180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    print("It</a:t>
            </a:r>
            <a:r>
              <a:rPr lang="ja-JP" altLang="en-US" sz="1800">
                <a:solidFill>
                  <a:srgbClr val="000000"/>
                </a:solidFill>
                <a:latin typeface="Arial" panose="020B0604020202020204" pitchFamily="34" charset="0"/>
                <a:sym typeface="Courier" pitchFamily="125" charset="0"/>
              </a:rPr>
              <a:t>’</a:t>
            </a:r>
            <a:r>
              <a:rPr lang="en-US" altLang="ja-JP" sz="180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s daytime. What are you worried about?");</a:t>
            </a:r>
            <a:br>
              <a:rPr lang="en-US" altLang="ja-JP" sz="180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</a:br>
            <a:r>
              <a:rPr lang="en-US" altLang="ja-JP" sz="180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} else if (fullMoon) {     // </a:t>
            </a:r>
            <a:r>
              <a:rPr lang="zh-CN" altLang="en-US" sz="180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条件</a:t>
            </a:r>
            <a:r>
              <a:rPr lang="en-US" altLang="ja-JP" sz="180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2 (true)</a:t>
            </a:r>
            <a:br>
              <a:rPr lang="en-US" altLang="ja-JP" sz="180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</a:br>
            <a:r>
              <a:rPr lang="en-US" altLang="ja-JP" sz="180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    print( "Beware werewolves!!!" );</a:t>
            </a:r>
            <a:br>
              <a:rPr lang="en-US" altLang="ja-JP" sz="180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</a:br>
            <a:r>
              <a:rPr lang="en-US" altLang="ja-JP" sz="180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} else {                   // </a:t>
            </a:r>
            <a:r>
              <a:rPr lang="zh-CN" altLang="en-US" sz="180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条件</a:t>
            </a:r>
            <a:r>
              <a:rPr lang="en-US" altLang="ja-JP" sz="180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3 (</a:t>
            </a:r>
            <a:r>
              <a:rPr lang="zh-CN" altLang="en-US" sz="180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不检查</a:t>
            </a:r>
            <a:r>
              <a:rPr lang="en-US" altLang="ja-JP" sz="180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)</a:t>
            </a:r>
            <a:br>
              <a:rPr lang="en-US" altLang="ja-JP" sz="180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</a:br>
            <a:r>
              <a:rPr lang="en-US" altLang="ja-JP" sz="180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    print( "It's night, but the moon is not full." );</a:t>
            </a:r>
            <a:br>
              <a:rPr lang="en-US" altLang="ja-JP" sz="180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</a:br>
            <a:r>
              <a:rPr lang="en-US" altLang="ja-JP" sz="180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}</a:t>
            </a:r>
            <a:br>
              <a:rPr lang="en-US" altLang="ja-JP" sz="180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</a:br>
            <a:br>
              <a:rPr lang="en-US" altLang="ja-JP" sz="180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</a:br>
            <a:r>
              <a:rPr lang="en-US" altLang="ja-JP" sz="180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// </a:t>
            </a:r>
            <a:r>
              <a:rPr lang="zh-CN" altLang="en-US" sz="180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上述代码将输出以下内容</a:t>
            </a:r>
            <a:r>
              <a:rPr lang="en-US" altLang="ja-JP" sz="180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:</a:t>
            </a:r>
          </a:p>
          <a:p>
            <a:pPr marL="682625" lvl="2" indent="0">
              <a:spcBef>
                <a:spcPct val="0"/>
              </a:spcBef>
              <a:buNone/>
            </a:pPr>
            <a:r>
              <a:rPr lang="en-US" altLang="zh-CN" sz="180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//     Beware werewolves!!!</a:t>
            </a:r>
            <a:endParaRPr lang="en-US" altLang="zh-CN" sz="1800">
              <a:solidFill>
                <a:srgbClr val="000000"/>
              </a:solidFill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28C714AF-68B4-3205-2DD6-DF884E29750B}"/>
              </a:ext>
            </a:extLst>
          </p:cNvPr>
          <p:cNvGrpSpPr/>
          <p:nvPr/>
        </p:nvGrpSpPr>
        <p:grpSpPr>
          <a:xfrm>
            <a:off x="4949775" y="251474"/>
            <a:ext cx="2292451" cy="490115"/>
            <a:chOff x="4840431" y="207541"/>
            <a:chExt cx="2292451" cy="490115"/>
          </a:xfrm>
        </p:grpSpPr>
        <p:pic>
          <p:nvPicPr>
            <p:cNvPr id="4" name="Picture 4" descr="黑爵(AJAZZ)手柄/方向盘AG180报价_参数_图片_视频_怎么样_问答-苏宁易购">
              <a:extLst>
                <a:ext uri="{FF2B5EF4-FFF2-40B4-BE49-F238E27FC236}">
                  <a16:creationId xmlns:a16="http://schemas.microsoft.com/office/drawing/2014/main" id="{07F6CD9D-9753-2067-DC61-18F6513817B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45" t="9275" r="3752" b="5379"/>
            <a:stretch/>
          </p:blipFill>
          <p:spPr bwMode="auto">
            <a:xfrm>
              <a:off x="4840431" y="321039"/>
              <a:ext cx="407315" cy="37661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" name="Rectangle 3">
              <a:extLst>
                <a:ext uri="{FF2B5EF4-FFF2-40B4-BE49-F238E27FC236}">
                  <a16:creationId xmlns:a16="http://schemas.microsoft.com/office/drawing/2014/main" id="{9BBA3D4C-7195-EFAC-F4EA-D2175504323C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5298545" y="207541"/>
              <a:ext cx="1834337" cy="471065"/>
            </a:xfrm>
            <a:prstGeom prst="rect">
              <a:avLst/>
            </a:prstGeom>
            <a:noFill/>
          </p:spPr>
          <p:txBody>
            <a:bodyPr lIns="90488" tIns="44450" rIns="90488" bIns="44450"/>
            <a:lstStyle>
              <a:lvl1pPr marL="171450" indent="-17145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1pPr>
              <a:lvl2pPr marL="5143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8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2pPr>
              <a:lvl3pPr marL="8572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3pPr>
              <a:lvl4pPr marL="12001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4pPr>
              <a:lvl5pPr marL="15430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fontAlgn="base">
                <a:lnSpc>
                  <a:spcPct val="100000"/>
                </a:lnSpc>
                <a:buNone/>
              </a:pPr>
              <a:r>
                <a:rPr lang="zh-CN" altLang="en-US" sz="3200" dirty="0">
                  <a:latin typeface="Times New Roman" panose="02020603050405020304" pitchFamily="18" charset="0"/>
                  <a:ea typeface="楷体" panose="02010609060101010101" pitchFamily="49" charset="-122"/>
                  <a:sym typeface="+mn-ea"/>
                </a:rPr>
                <a:t>条件语句</a:t>
              </a:r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5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5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5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5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6" grpId="0" build="p" bldLvl="5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80" name="Rectangle 4">
            <a:extLst>
              <a:ext uri="{FF2B5EF4-FFF2-40B4-BE49-F238E27FC236}">
                <a16:creationId xmlns:a16="http://schemas.microsoft.com/office/drawing/2014/main" id="{A2F581F1-4C28-159E-F87F-DCE403D057F3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>
          <a:xfrm>
            <a:off x="1981200" y="1104900"/>
            <a:ext cx="8229600" cy="5321300"/>
          </a:xfrm>
          <a:prstGeom prst="rect">
            <a:avLst/>
          </a:prstGeom>
        </p:spPr>
        <p:txBody>
          <a:bodyPr/>
          <a:lstStyle/>
          <a:p>
            <a:pPr eaLnBrk="1"/>
            <a:r>
              <a:rPr lang="en-US" altLang="zh-CN" dirty="0"/>
              <a:t>if</a:t>
            </a:r>
            <a:r>
              <a:rPr lang="zh-CN" altLang="en-US" dirty="0"/>
              <a:t>语句的嵌套</a:t>
            </a:r>
            <a:endParaRPr lang="en-US" altLang="zh-CN" dirty="0"/>
          </a:p>
          <a:p>
            <a:pPr marL="569913" lvl="2" indent="0">
              <a:spcBef>
                <a:spcPct val="0"/>
              </a:spcBef>
              <a:buNone/>
            </a:pPr>
            <a:r>
              <a:rPr lang="en-US" altLang="zh-CN" sz="1500" b="1" dirty="0">
                <a:solidFill>
                  <a:srgbClr val="000000"/>
                </a:solidFill>
                <a:latin typeface="Courier" pitchFamily="125" charset="0"/>
                <a:ea typeface="Geneva" pitchFamily="125" charset="-128"/>
                <a:sym typeface="Courier" pitchFamily="125" charset="0"/>
              </a:rPr>
              <a:t>bool night = true;</a:t>
            </a:r>
            <a:br>
              <a:rPr lang="en-US" altLang="zh-CN" sz="1500" b="1" dirty="0">
                <a:solidFill>
                  <a:srgbClr val="000000"/>
                </a:solidFill>
                <a:latin typeface="Courier" pitchFamily="125" charset="0"/>
                <a:ea typeface="Geneva" pitchFamily="125" charset="-128"/>
                <a:sym typeface="Courier" pitchFamily="125" charset="0"/>
              </a:rPr>
            </a:br>
            <a:r>
              <a:rPr lang="en-US" altLang="zh-CN" sz="1500" b="1" dirty="0">
                <a:solidFill>
                  <a:srgbClr val="000000"/>
                </a:solidFill>
                <a:latin typeface="Courier" pitchFamily="125" charset="0"/>
                <a:ea typeface="Geneva" pitchFamily="125" charset="-128"/>
                <a:sym typeface="Courier" pitchFamily="125" charset="0"/>
              </a:rPr>
              <a:t>bool </a:t>
            </a:r>
            <a:r>
              <a:rPr lang="en-US" altLang="zh-CN" sz="1500" b="1" dirty="0" err="1">
                <a:solidFill>
                  <a:srgbClr val="000000"/>
                </a:solidFill>
                <a:latin typeface="Courier" pitchFamily="125" charset="0"/>
                <a:ea typeface="Geneva" pitchFamily="125" charset="-128"/>
                <a:sym typeface="Courier" pitchFamily="125" charset="0"/>
              </a:rPr>
              <a:t>fullMoon</a:t>
            </a:r>
            <a:r>
              <a:rPr lang="en-US" altLang="zh-CN" sz="1500" b="1" dirty="0">
                <a:solidFill>
                  <a:srgbClr val="000000"/>
                </a:solidFill>
                <a:latin typeface="Courier" pitchFamily="125" charset="0"/>
                <a:ea typeface="Geneva" pitchFamily="125" charset="-128"/>
                <a:sym typeface="Courier" pitchFamily="125" charset="0"/>
              </a:rPr>
              <a:t> = false;</a:t>
            </a:r>
            <a:br>
              <a:rPr lang="en-US" altLang="zh-CN" sz="1500" b="1" dirty="0">
                <a:solidFill>
                  <a:srgbClr val="000000"/>
                </a:solidFill>
                <a:latin typeface="Courier" pitchFamily="125" charset="0"/>
                <a:ea typeface="Geneva" pitchFamily="125" charset="-128"/>
                <a:sym typeface="Courier" pitchFamily="125" charset="0"/>
              </a:rPr>
            </a:br>
            <a:br>
              <a:rPr lang="en-US" altLang="zh-CN" sz="1500" b="1" dirty="0">
                <a:solidFill>
                  <a:srgbClr val="000000"/>
                </a:solidFill>
                <a:latin typeface="Courier" pitchFamily="125" charset="0"/>
                <a:ea typeface="Geneva" pitchFamily="125" charset="-128"/>
                <a:sym typeface="Courier" pitchFamily="125" charset="0"/>
              </a:rPr>
            </a:br>
            <a:r>
              <a:rPr lang="en-US" altLang="zh-CN" sz="1500" b="1" dirty="0">
                <a:solidFill>
                  <a:srgbClr val="000000"/>
                </a:solidFill>
                <a:latin typeface="Courier" pitchFamily="125" charset="0"/>
                <a:ea typeface="Geneva" pitchFamily="125" charset="-128"/>
                <a:sym typeface="Courier" pitchFamily="125" charset="0"/>
              </a:rPr>
              <a:t>if (!night) { </a:t>
            </a:r>
            <a:br>
              <a:rPr lang="en-US" altLang="zh-CN" sz="1500" b="1" dirty="0">
                <a:solidFill>
                  <a:srgbClr val="000000"/>
                </a:solidFill>
                <a:latin typeface="Courier" pitchFamily="125" charset="0"/>
                <a:ea typeface="Geneva" pitchFamily="125" charset="-128"/>
                <a:sym typeface="Courier" pitchFamily="125" charset="0"/>
              </a:rPr>
            </a:br>
            <a:r>
              <a:rPr lang="en-US" altLang="zh-CN" sz="1500" b="1" dirty="0">
                <a:solidFill>
                  <a:srgbClr val="000000"/>
                </a:solidFill>
                <a:latin typeface="Courier" pitchFamily="125" charset="0"/>
                <a:ea typeface="Geneva" pitchFamily="125" charset="-128"/>
                <a:sym typeface="Courier" pitchFamily="125" charset="0"/>
              </a:rPr>
              <a:t>    print( "It</a:t>
            </a:r>
            <a:r>
              <a:rPr lang="ja-JP" altLang="en-US" sz="1500" b="1" dirty="0">
                <a:solidFill>
                  <a:srgbClr val="000000"/>
                </a:solidFill>
                <a:latin typeface="Courier" pitchFamily="125" charset="0"/>
                <a:ea typeface="Geneva" pitchFamily="125" charset="-128"/>
                <a:sym typeface="Courier" pitchFamily="125" charset="0"/>
              </a:rPr>
              <a:t>’</a:t>
            </a:r>
            <a:r>
              <a:rPr lang="en-US" altLang="ja-JP" sz="1500" b="1" dirty="0">
                <a:solidFill>
                  <a:srgbClr val="000000"/>
                </a:solidFill>
                <a:latin typeface="Courier" pitchFamily="125" charset="0"/>
                <a:ea typeface="Geneva" pitchFamily="125" charset="-128"/>
                <a:sym typeface="Courier" pitchFamily="125" charset="0"/>
              </a:rPr>
              <a:t>s daytime. Why are you worried about?" );</a:t>
            </a:r>
            <a:br>
              <a:rPr lang="en-US" altLang="ja-JP" sz="1500" b="1" dirty="0">
                <a:solidFill>
                  <a:srgbClr val="000000"/>
                </a:solidFill>
                <a:latin typeface="Courier" pitchFamily="125" charset="0"/>
                <a:ea typeface="Geneva" pitchFamily="125" charset="-128"/>
                <a:sym typeface="Courier" pitchFamily="125" charset="0"/>
              </a:rPr>
            </a:br>
            <a:r>
              <a:rPr lang="en-US" altLang="ja-JP" sz="1500" b="1" dirty="0">
                <a:solidFill>
                  <a:srgbClr val="000000"/>
                </a:solidFill>
                <a:latin typeface="Courier" pitchFamily="125" charset="0"/>
                <a:ea typeface="Geneva" pitchFamily="125" charset="-128"/>
                <a:sym typeface="Courier" pitchFamily="125" charset="0"/>
              </a:rPr>
              <a:t>} else {</a:t>
            </a:r>
            <a:br>
              <a:rPr lang="en-US" altLang="ja-JP" sz="1500" b="1" dirty="0">
                <a:solidFill>
                  <a:srgbClr val="000000"/>
                </a:solidFill>
                <a:latin typeface="Courier" pitchFamily="125" charset="0"/>
                <a:ea typeface="Geneva" pitchFamily="125" charset="-128"/>
                <a:sym typeface="Courier" pitchFamily="125" charset="0"/>
              </a:rPr>
            </a:br>
            <a:r>
              <a:rPr lang="en-US" altLang="ja-JP" sz="1500" b="1" dirty="0">
                <a:solidFill>
                  <a:srgbClr val="000000"/>
                </a:solidFill>
                <a:latin typeface="Courier" pitchFamily="125" charset="0"/>
                <a:ea typeface="Geneva" pitchFamily="125" charset="-128"/>
                <a:sym typeface="Courier" pitchFamily="125" charset="0"/>
              </a:rPr>
              <a:t>    if (</a:t>
            </a:r>
            <a:r>
              <a:rPr lang="en-US" altLang="ja-JP" sz="1500" b="1" dirty="0" err="1">
                <a:solidFill>
                  <a:srgbClr val="000000"/>
                </a:solidFill>
                <a:latin typeface="Courier" pitchFamily="125" charset="0"/>
                <a:ea typeface="Geneva" pitchFamily="125" charset="-128"/>
                <a:sym typeface="Courier" pitchFamily="125" charset="0"/>
              </a:rPr>
              <a:t>fullMoon</a:t>
            </a:r>
            <a:r>
              <a:rPr lang="en-US" altLang="ja-JP" sz="1500" b="1" dirty="0">
                <a:solidFill>
                  <a:srgbClr val="000000"/>
                </a:solidFill>
                <a:latin typeface="Courier" pitchFamily="125" charset="0"/>
                <a:ea typeface="Geneva" pitchFamily="125" charset="-128"/>
                <a:sym typeface="Courier" pitchFamily="125" charset="0"/>
              </a:rPr>
              <a:t>) { </a:t>
            </a:r>
            <a:br>
              <a:rPr lang="en-US" altLang="ja-JP" sz="1500" b="1" dirty="0">
                <a:solidFill>
                  <a:srgbClr val="000000"/>
                </a:solidFill>
                <a:latin typeface="Courier" pitchFamily="125" charset="0"/>
                <a:ea typeface="Geneva" pitchFamily="125" charset="-128"/>
                <a:sym typeface="Courier" pitchFamily="125" charset="0"/>
              </a:rPr>
            </a:br>
            <a:r>
              <a:rPr lang="en-US" altLang="ja-JP" sz="1500" b="1" dirty="0">
                <a:solidFill>
                  <a:srgbClr val="000000"/>
                </a:solidFill>
                <a:latin typeface="Courier" pitchFamily="125" charset="0"/>
                <a:ea typeface="Geneva" pitchFamily="125" charset="-128"/>
                <a:sym typeface="Courier" pitchFamily="125" charset="0"/>
              </a:rPr>
              <a:t>        print( "Beware werewolves!!!" );</a:t>
            </a:r>
            <a:br>
              <a:rPr lang="en-US" altLang="ja-JP" sz="1500" b="1" dirty="0">
                <a:solidFill>
                  <a:srgbClr val="000000"/>
                </a:solidFill>
                <a:latin typeface="Courier" pitchFamily="125" charset="0"/>
                <a:ea typeface="Geneva" pitchFamily="125" charset="-128"/>
                <a:sym typeface="Courier" pitchFamily="125" charset="0"/>
              </a:rPr>
            </a:br>
            <a:r>
              <a:rPr lang="en-US" altLang="ja-JP" sz="1500" b="1" dirty="0">
                <a:solidFill>
                  <a:srgbClr val="000000"/>
                </a:solidFill>
                <a:latin typeface="Courier" pitchFamily="125" charset="0"/>
                <a:ea typeface="Geneva" pitchFamily="125" charset="-128"/>
                <a:sym typeface="Courier" pitchFamily="125" charset="0"/>
              </a:rPr>
              <a:t>    } else {</a:t>
            </a:r>
            <a:br>
              <a:rPr lang="en-US" altLang="ja-JP" sz="1500" b="1" dirty="0">
                <a:solidFill>
                  <a:srgbClr val="000000"/>
                </a:solidFill>
                <a:latin typeface="Courier" pitchFamily="125" charset="0"/>
                <a:ea typeface="Geneva" pitchFamily="125" charset="-128"/>
                <a:sym typeface="Courier" pitchFamily="125" charset="0"/>
              </a:rPr>
            </a:br>
            <a:r>
              <a:rPr lang="en-US" altLang="ja-JP" sz="1500" b="1" dirty="0">
                <a:solidFill>
                  <a:srgbClr val="000000"/>
                </a:solidFill>
                <a:latin typeface="Courier" pitchFamily="125" charset="0"/>
                <a:ea typeface="Geneva" pitchFamily="125" charset="-128"/>
                <a:sym typeface="Courier" pitchFamily="125" charset="0"/>
              </a:rPr>
              <a:t>        print( "It's night, but the moon isn't full." );</a:t>
            </a:r>
            <a:br>
              <a:rPr lang="en-US" altLang="ja-JP" sz="1500" b="1" dirty="0">
                <a:solidFill>
                  <a:srgbClr val="000000"/>
                </a:solidFill>
                <a:latin typeface="Courier" pitchFamily="125" charset="0"/>
                <a:ea typeface="Geneva" pitchFamily="125" charset="-128"/>
                <a:sym typeface="Courier" pitchFamily="125" charset="0"/>
              </a:rPr>
            </a:br>
            <a:r>
              <a:rPr lang="en-US" altLang="ja-JP" sz="1500" b="1" dirty="0">
                <a:solidFill>
                  <a:srgbClr val="000000"/>
                </a:solidFill>
                <a:latin typeface="Courier" pitchFamily="125" charset="0"/>
                <a:ea typeface="Geneva" pitchFamily="125" charset="-128"/>
                <a:sym typeface="Courier" pitchFamily="125" charset="0"/>
              </a:rPr>
              <a:t>    }</a:t>
            </a:r>
            <a:br>
              <a:rPr lang="en-US" altLang="ja-JP" sz="1500" b="1" dirty="0">
                <a:solidFill>
                  <a:srgbClr val="000000"/>
                </a:solidFill>
                <a:latin typeface="Courier" pitchFamily="125" charset="0"/>
                <a:ea typeface="Geneva" pitchFamily="125" charset="-128"/>
                <a:sym typeface="Courier" pitchFamily="125" charset="0"/>
              </a:rPr>
            </a:br>
            <a:r>
              <a:rPr lang="en-US" altLang="ja-JP" sz="1500" b="1" dirty="0">
                <a:solidFill>
                  <a:srgbClr val="000000"/>
                </a:solidFill>
                <a:latin typeface="Courier" pitchFamily="125" charset="0"/>
                <a:ea typeface="Geneva" pitchFamily="125" charset="-128"/>
                <a:sym typeface="Courier" pitchFamily="125" charset="0"/>
              </a:rPr>
              <a:t>}</a:t>
            </a:r>
            <a:br>
              <a:rPr lang="en-US" altLang="ja-JP" sz="17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</a:br>
            <a:br>
              <a:rPr lang="en-US" altLang="ja-JP" sz="17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</a:br>
            <a:r>
              <a:rPr lang="en-US" altLang="ja-JP" sz="17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// </a:t>
            </a:r>
            <a:r>
              <a:rPr lang="zh-CN" altLang="en-US" sz="17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上述代码将输出以下内容</a:t>
            </a:r>
            <a:r>
              <a:rPr lang="en-US" altLang="ja-JP" sz="17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:</a:t>
            </a:r>
          </a:p>
          <a:p>
            <a:pPr marL="569913" lvl="2" indent="0">
              <a:spcBef>
                <a:spcPct val="0"/>
              </a:spcBef>
              <a:buNone/>
            </a:pPr>
            <a:r>
              <a:rPr lang="en-US" altLang="zh-CN" sz="17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//     It's night, but the moon isn't full.</a:t>
            </a:r>
            <a:endParaRPr lang="en-US" altLang="zh-CN" sz="1800" dirty="0">
              <a:solidFill>
                <a:srgbClr val="000000"/>
              </a:solidFill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DBEC4CE0-F7DC-829E-C81C-A8F9C0112077}"/>
              </a:ext>
            </a:extLst>
          </p:cNvPr>
          <p:cNvGrpSpPr/>
          <p:nvPr/>
        </p:nvGrpSpPr>
        <p:grpSpPr>
          <a:xfrm>
            <a:off x="4949775" y="251474"/>
            <a:ext cx="2292451" cy="490115"/>
            <a:chOff x="4840431" y="207541"/>
            <a:chExt cx="2292451" cy="490115"/>
          </a:xfrm>
        </p:grpSpPr>
        <p:pic>
          <p:nvPicPr>
            <p:cNvPr id="4" name="Picture 4" descr="黑爵(AJAZZ)手柄/方向盘AG180报价_参数_图片_视频_怎么样_问答-苏宁易购">
              <a:extLst>
                <a:ext uri="{FF2B5EF4-FFF2-40B4-BE49-F238E27FC236}">
                  <a16:creationId xmlns:a16="http://schemas.microsoft.com/office/drawing/2014/main" id="{C25336D7-BF85-0950-B456-4E0E691491F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45" t="9275" r="3752" b="5379"/>
            <a:stretch/>
          </p:blipFill>
          <p:spPr bwMode="auto">
            <a:xfrm>
              <a:off x="4840431" y="321039"/>
              <a:ext cx="407315" cy="37661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" name="Rectangle 3">
              <a:extLst>
                <a:ext uri="{FF2B5EF4-FFF2-40B4-BE49-F238E27FC236}">
                  <a16:creationId xmlns:a16="http://schemas.microsoft.com/office/drawing/2014/main" id="{56EE4F5E-D420-5877-5FFA-F291A8A45115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5298545" y="207541"/>
              <a:ext cx="1834337" cy="471065"/>
            </a:xfrm>
            <a:prstGeom prst="rect">
              <a:avLst/>
            </a:prstGeom>
            <a:noFill/>
          </p:spPr>
          <p:txBody>
            <a:bodyPr lIns="90488" tIns="44450" rIns="90488" bIns="44450"/>
            <a:lstStyle>
              <a:lvl1pPr marL="171450" indent="-17145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1pPr>
              <a:lvl2pPr marL="5143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8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2pPr>
              <a:lvl3pPr marL="8572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3pPr>
              <a:lvl4pPr marL="12001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4pPr>
              <a:lvl5pPr marL="15430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fontAlgn="base">
                <a:lnSpc>
                  <a:spcPct val="100000"/>
                </a:lnSpc>
                <a:buNone/>
              </a:pPr>
              <a:r>
                <a:rPr lang="zh-CN" altLang="en-US" sz="3200" dirty="0">
                  <a:latin typeface="Times New Roman" panose="02020603050405020304" pitchFamily="18" charset="0"/>
                  <a:ea typeface="楷体" panose="02010609060101010101" pitchFamily="49" charset="-122"/>
                  <a:sym typeface="+mn-ea"/>
                </a:rPr>
                <a:t>条件语句</a:t>
              </a:r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5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5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58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80" grpId="0" build="p" bldLvl="5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4" name="Rectangle 4">
            <a:extLst>
              <a:ext uri="{FF2B5EF4-FFF2-40B4-BE49-F238E27FC236}">
                <a16:creationId xmlns:a16="http://schemas.microsoft.com/office/drawing/2014/main" id="{8DAD3CAB-1D9A-5695-4E5D-AE3E7977C165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>
          <a:xfrm>
            <a:off x="1981200" y="1104900"/>
            <a:ext cx="8229600" cy="5321300"/>
          </a:xfrm>
          <a:prstGeom prst="rect">
            <a:avLst/>
          </a:prstGeom>
        </p:spPr>
        <p:txBody>
          <a:bodyPr/>
          <a:lstStyle/>
          <a:p>
            <a:pPr eaLnBrk="1"/>
            <a:r>
              <a:rPr lang="en-US" altLang="zh-CN" dirty="0">
                <a:latin typeface="Courier" pitchFamily="125" charset="0"/>
                <a:sym typeface="Courier" pitchFamily="125" charset="0"/>
              </a:rPr>
              <a:t>switch	</a:t>
            </a:r>
            <a:r>
              <a:rPr lang="zh-CN" altLang="en-US" dirty="0"/>
              <a:t>可替代多个</a:t>
            </a:r>
            <a:r>
              <a:rPr lang="en-US" altLang="zh-CN" dirty="0"/>
              <a:t>if</a:t>
            </a:r>
            <a:r>
              <a:rPr lang="zh-CN" altLang="en-US" dirty="0"/>
              <a:t>语句</a:t>
            </a:r>
            <a:endParaRPr lang="en-US" altLang="zh-CN" dirty="0"/>
          </a:p>
          <a:p>
            <a:pPr marL="750888" lvl="1" indent="-254000">
              <a:spcBef>
                <a:spcPts val="1100"/>
              </a:spcBef>
              <a:buFontTx/>
              <a:buChar char="–"/>
            </a:pPr>
            <a:r>
              <a:rPr lang="zh-CN" altLang="en-US" sz="2000" dirty="0">
                <a:solidFill>
                  <a:srgbClr val="000000"/>
                </a:solidFill>
              </a:rPr>
              <a:t>只能比较是否相同</a:t>
            </a:r>
            <a:endParaRPr lang="en-US" altLang="zh-CN" sz="2000" dirty="0">
              <a:solidFill>
                <a:srgbClr val="000000"/>
              </a:solidFill>
            </a:endParaRPr>
          </a:p>
          <a:p>
            <a:pPr marL="750888" lvl="1" indent="-254000">
              <a:spcBef>
                <a:spcPts val="1200"/>
              </a:spcBef>
              <a:buFontTx/>
              <a:buChar char="–"/>
            </a:pPr>
            <a:r>
              <a:rPr lang="zh-CN" altLang="en-US" sz="2000" dirty="0">
                <a:solidFill>
                  <a:srgbClr val="000000"/>
                </a:solidFill>
              </a:rPr>
              <a:t>只能将变量和字面值相比较（而不能与其他变量比较）</a:t>
            </a:r>
            <a:r>
              <a:rPr lang="en-US" altLang="zh-CN" sz="2000" dirty="0">
                <a:solidFill>
                  <a:srgbClr val="000000"/>
                </a:solidFill>
              </a:rPr>
              <a:t> </a:t>
            </a:r>
          </a:p>
          <a:p>
            <a:pPr marL="569913" lvl="2" indent="0">
              <a:spcBef>
                <a:spcPts val="800"/>
              </a:spcBef>
              <a:buNone/>
            </a:pPr>
            <a:r>
              <a:rPr lang="en-US" altLang="zh-CN" sz="14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int num = 3;</a:t>
            </a:r>
            <a:br>
              <a:rPr lang="en-US" altLang="zh-CN" sz="14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</a:br>
            <a:r>
              <a:rPr lang="en-US" altLang="zh-CN" sz="14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switch (num) {  // </a:t>
            </a:r>
            <a:r>
              <a:rPr lang="zh-CN" altLang="en-US" sz="14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圆括号中的</a:t>
            </a:r>
            <a:r>
              <a:rPr lang="en-US" altLang="zh-CN" sz="14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num</a:t>
            </a:r>
            <a:r>
              <a:rPr lang="zh-CN" altLang="en-US" sz="14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变量是用于比较的变量</a:t>
            </a:r>
            <a:br>
              <a:rPr lang="en-US" altLang="zh-CN" sz="14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</a:br>
            <a:r>
              <a:rPr lang="en-US" altLang="zh-CN" sz="14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case (0):  // </a:t>
            </a:r>
            <a:r>
              <a:rPr lang="zh-CN" altLang="en-US" sz="14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每个分支都是一个与</a:t>
            </a:r>
            <a:r>
              <a:rPr lang="en-US" altLang="zh-CN" sz="14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num</a:t>
            </a:r>
            <a:r>
              <a:rPr lang="zh-CN" altLang="en-US" sz="14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变量进行比较的字面值</a:t>
            </a:r>
            <a:br>
              <a:rPr lang="en-US" altLang="zh-CN" sz="14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</a:br>
            <a:r>
              <a:rPr lang="en-US" altLang="zh-CN" sz="14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    print( "The number is zero." );</a:t>
            </a:r>
            <a:br>
              <a:rPr lang="en-US" altLang="zh-CN" sz="14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</a:br>
            <a:r>
              <a:rPr lang="en-US" altLang="zh-CN" sz="14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    break;  // </a:t>
            </a:r>
            <a:r>
              <a:rPr lang="zh-CN" altLang="en-US" sz="14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每个分支的末尾都必须加上</a:t>
            </a:r>
            <a:r>
              <a:rPr lang="en-US" altLang="zh-CN" sz="14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break</a:t>
            </a:r>
            <a:r>
              <a:rPr lang="zh-CN" altLang="en-US" sz="14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语句</a:t>
            </a:r>
            <a:br>
              <a:rPr lang="en-US" altLang="zh-CN" sz="14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</a:br>
            <a:r>
              <a:rPr lang="en-US" altLang="zh-CN" sz="14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case (1):</a:t>
            </a:r>
            <a:br>
              <a:rPr lang="en-US" altLang="zh-CN" sz="14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</a:br>
            <a:r>
              <a:rPr lang="en-US" altLang="zh-CN" sz="14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    print( "The number is one." );</a:t>
            </a:r>
            <a:br>
              <a:rPr lang="en-US" altLang="zh-CN" sz="14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</a:br>
            <a:r>
              <a:rPr lang="en-US" altLang="zh-CN" sz="14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    break; </a:t>
            </a:r>
            <a:br>
              <a:rPr lang="en-US" altLang="zh-CN" sz="14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</a:br>
            <a:r>
              <a:rPr lang="en-US" altLang="zh-CN" sz="14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case (2):</a:t>
            </a:r>
            <a:br>
              <a:rPr lang="en-US" altLang="zh-CN" sz="14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</a:br>
            <a:r>
              <a:rPr lang="en-US" altLang="zh-CN" sz="14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    print( "The number is two." );</a:t>
            </a:r>
            <a:br>
              <a:rPr lang="en-US" altLang="zh-CN" sz="14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</a:br>
            <a:r>
              <a:rPr lang="en-US" altLang="zh-CN" sz="14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    break; </a:t>
            </a:r>
            <a:br>
              <a:rPr lang="en-US" altLang="zh-CN" sz="14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</a:br>
            <a:r>
              <a:rPr lang="en-US" altLang="zh-CN" sz="14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default:  // </a:t>
            </a:r>
            <a:r>
              <a:rPr lang="zh-CN" altLang="en-US" sz="14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如果上述分支均不为</a:t>
            </a:r>
            <a:r>
              <a:rPr lang="en-US" altLang="zh-CN" sz="14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true</a:t>
            </a:r>
            <a:r>
              <a:rPr lang="zh-CN" altLang="en-US" sz="1400" dirty="0">
                <a:solidFill>
                  <a:srgbClr val="000000"/>
                </a:solidFill>
                <a:latin typeface="Courier" pitchFamily="125" charset="0"/>
                <a:ea typeface="楷体" panose="02010609060101010101" pitchFamily="49" charset="-122"/>
                <a:sym typeface="Courier" pitchFamily="125" charset="0"/>
              </a:rPr>
              <a:t>，则执行</a:t>
            </a:r>
            <a:r>
              <a:rPr lang="en-US" altLang="zh-CN" sz="1400" dirty="0">
                <a:solidFill>
                  <a:srgbClr val="000000"/>
                </a:solidFill>
                <a:latin typeface="Courier" pitchFamily="125" charset="0"/>
                <a:ea typeface="楷体" panose="02010609060101010101" pitchFamily="49" charset="-122"/>
                <a:sym typeface="Courier" pitchFamily="125" charset="0"/>
              </a:rPr>
              <a:t>default</a:t>
            </a:r>
            <a:r>
              <a:rPr lang="zh-CN" altLang="en-US" sz="1400" dirty="0">
                <a:solidFill>
                  <a:srgbClr val="000000"/>
                </a:solidFill>
                <a:latin typeface="Courier" pitchFamily="125" charset="0"/>
                <a:ea typeface="楷体" panose="02010609060101010101" pitchFamily="49" charset="-122"/>
                <a:sym typeface="Courier" pitchFamily="125" charset="0"/>
              </a:rPr>
              <a:t>后的语句</a:t>
            </a:r>
            <a:br>
              <a:rPr lang="en-US" altLang="zh-CN" sz="14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</a:br>
            <a:r>
              <a:rPr lang="en-US" altLang="zh-CN" sz="14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    print( "The number is more than a couple." );</a:t>
            </a:r>
            <a:br>
              <a:rPr lang="en-US" altLang="zh-CN" sz="14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</a:br>
            <a:r>
              <a:rPr lang="en-US" altLang="zh-CN" sz="14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    break;</a:t>
            </a:r>
            <a:br>
              <a:rPr lang="en-US" altLang="zh-CN" sz="14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</a:br>
            <a:r>
              <a:rPr lang="en-US" altLang="zh-CN" sz="14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}  // switch</a:t>
            </a:r>
            <a:r>
              <a:rPr lang="zh-CN" altLang="en-US" sz="14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语句结束于花括号处</a:t>
            </a:r>
            <a:endParaRPr lang="en-US" altLang="zh-CN" sz="1400" dirty="0">
              <a:solidFill>
                <a:srgbClr val="000000"/>
              </a:solidFill>
              <a:latin typeface="Courier" pitchFamily="125" charset="0"/>
              <a:sym typeface="Courier" pitchFamily="125" charset="0"/>
            </a:endParaRPr>
          </a:p>
          <a:p>
            <a:pPr marL="569913" lvl="2" indent="0">
              <a:spcBef>
                <a:spcPts val="800"/>
              </a:spcBef>
              <a:buNone/>
            </a:pPr>
            <a:r>
              <a:rPr lang="en-US" altLang="zh-CN" sz="14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// </a:t>
            </a:r>
            <a:r>
              <a:rPr lang="zh-CN" altLang="en-US" sz="14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上述代码输出以下内容</a:t>
            </a:r>
            <a:r>
              <a:rPr lang="en-US" altLang="zh-CN" sz="14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: </a:t>
            </a:r>
          </a:p>
          <a:p>
            <a:pPr marL="569913" lvl="2" indent="0">
              <a:spcBef>
                <a:spcPts val="800"/>
              </a:spcBef>
              <a:buNone/>
            </a:pPr>
            <a:r>
              <a:rPr lang="en-US" altLang="zh-CN" sz="14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//      The number is more than a couple.</a:t>
            </a:r>
            <a:endParaRPr lang="en-US" altLang="zh-CN" sz="1800" dirty="0">
              <a:solidFill>
                <a:srgbClr val="000000"/>
              </a:solidFill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6CF18FEC-019D-019C-145B-EEEC92E9C970}"/>
              </a:ext>
            </a:extLst>
          </p:cNvPr>
          <p:cNvGrpSpPr/>
          <p:nvPr/>
        </p:nvGrpSpPr>
        <p:grpSpPr>
          <a:xfrm>
            <a:off x="4949775" y="251474"/>
            <a:ext cx="2292451" cy="490115"/>
            <a:chOff x="4840431" y="207541"/>
            <a:chExt cx="2292451" cy="490115"/>
          </a:xfrm>
        </p:grpSpPr>
        <p:pic>
          <p:nvPicPr>
            <p:cNvPr id="4" name="Picture 4" descr="黑爵(AJAZZ)手柄/方向盘AG180报价_参数_图片_视频_怎么样_问答-苏宁易购">
              <a:extLst>
                <a:ext uri="{FF2B5EF4-FFF2-40B4-BE49-F238E27FC236}">
                  <a16:creationId xmlns:a16="http://schemas.microsoft.com/office/drawing/2014/main" id="{9CB85A93-44C1-421D-71DE-81F42AA9EB4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45" t="9275" r="3752" b="5379"/>
            <a:stretch/>
          </p:blipFill>
          <p:spPr bwMode="auto">
            <a:xfrm>
              <a:off x="4840431" y="321039"/>
              <a:ext cx="407315" cy="37661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" name="Rectangle 3">
              <a:extLst>
                <a:ext uri="{FF2B5EF4-FFF2-40B4-BE49-F238E27FC236}">
                  <a16:creationId xmlns:a16="http://schemas.microsoft.com/office/drawing/2014/main" id="{A32C37F0-31A8-B7D5-DC98-002B1ADBC485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5298545" y="207541"/>
              <a:ext cx="1834337" cy="471065"/>
            </a:xfrm>
            <a:prstGeom prst="rect">
              <a:avLst/>
            </a:prstGeom>
            <a:noFill/>
          </p:spPr>
          <p:txBody>
            <a:bodyPr lIns="90488" tIns="44450" rIns="90488" bIns="44450"/>
            <a:lstStyle>
              <a:lvl1pPr marL="171450" indent="-17145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1pPr>
              <a:lvl2pPr marL="5143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8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2pPr>
              <a:lvl3pPr marL="8572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3pPr>
              <a:lvl4pPr marL="12001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4pPr>
              <a:lvl5pPr marL="15430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fontAlgn="base">
                <a:lnSpc>
                  <a:spcPct val="100000"/>
                </a:lnSpc>
                <a:buNone/>
              </a:pPr>
              <a:r>
                <a:rPr lang="zh-CN" altLang="en-US" sz="3200" dirty="0">
                  <a:latin typeface="Times New Roman" panose="02020603050405020304" pitchFamily="18" charset="0"/>
                  <a:ea typeface="楷体" panose="02010609060101010101" pitchFamily="49" charset="-122"/>
                  <a:sym typeface="+mn-ea"/>
                </a:rPr>
                <a:t>条件语句</a:t>
              </a:r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6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6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60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60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60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60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4" grpId="0" build="p" bldLvl="5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8" name="Rectangle 4">
            <a:extLst>
              <a:ext uri="{FF2B5EF4-FFF2-40B4-BE49-F238E27FC236}">
                <a16:creationId xmlns:a16="http://schemas.microsoft.com/office/drawing/2014/main" id="{180008D6-2A3D-1AD8-63A4-71A6483C0A6C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>
          <a:xfrm>
            <a:off x="1981200" y="1104900"/>
            <a:ext cx="8229600" cy="5321300"/>
          </a:xfrm>
          <a:prstGeom prst="rect">
            <a:avLst/>
          </a:prstGeom>
        </p:spPr>
        <p:txBody>
          <a:bodyPr/>
          <a:lstStyle/>
          <a:p>
            <a:pPr eaLnBrk="1"/>
            <a:r>
              <a:rPr lang="en-US" altLang="zh-CN" dirty="0"/>
              <a:t>Switch</a:t>
            </a:r>
            <a:r>
              <a:rPr lang="zh-CN" altLang="en-US" dirty="0"/>
              <a:t>语句可以</a:t>
            </a:r>
            <a:r>
              <a:rPr lang="en-US" altLang="zh-CN" dirty="0"/>
              <a:t>"</a:t>
            </a:r>
            <a:r>
              <a:rPr lang="zh-CN" altLang="en-US" dirty="0"/>
              <a:t>穿透</a:t>
            </a:r>
            <a:r>
              <a:rPr lang="en-US" altLang="zh-CN" dirty="0"/>
              <a:t>" </a:t>
            </a:r>
            <a:r>
              <a:rPr lang="zh-CN" altLang="en-US" dirty="0"/>
              <a:t>到其他</a:t>
            </a:r>
            <a:r>
              <a:rPr lang="en-US" altLang="zh-CN" dirty="0"/>
              <a:t>case</a:t>
            </a:r>
          </a:p>
          <a:p>
            <a:pPr marL="569913" lvl="2" indent="0">
              <a:spcBef>
                <a:spcPts val="800"/>
              </a:spcBef>
              <a:buNone/>
            </a:pPr>
            <a:r>
              <a:rPr lang="en-US" altLang="zh-CN" sz="14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int num = 3;</a:t>
            </a:r>
            <a:br>
              <a:rPr lang="en-US" altLang="zh-CN" sz="14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</a:br>
            <a:r>
              <a:rPr lang="en-US" altLang="zh-CN" sz="14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switch (num) {</a:t>
            </a:r>
            <a:br>
              <a:rPr lang="en-US" altLang="zh-CN" sz="14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</a:br>
            <a:r>
              <a:rPr lang="en-US" altLang="zh-CN" sz="14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case (0):</a:t>
            </a:r>
            <a:br>
              <a:rPr lang="en-US" altLang="zh-CN" sz="14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</a:br>
            <a:r>
              <a:rPr lang="en-US" altLang="zh-CN" sz="14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    print( "The number is zero." );</a:t>
            </a:r>
            <a:br>
              <a:rPr lang="en-US" altLang="zh-CN" sz="14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</a:br>
            <a:r>
              <a:rPr lang="en-US" altLang="zh-CN" sz="14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    break;</a:t>
            </a:r>
            <a:br>
              <a:rPr lang="en-US" altLang="zh-CN" sz="14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</a:br>
            <a:r>
              <a:rPr lang="en-US" altLang="zh-CN" sz="14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case (1):</a:t>
            </a:r>
            <a:br>
              <a:rPr lang="en-US" altLang="zh-CN" sz="14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</a:br>
            <a:r>
              <a:rPr lang="en-US" altLang="zh-CN" sz="14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    print( "The number is one." );</a:t>
            </a:r>
            <a:br>
              <a:rPr lang="en-US" altLang="zh-CN" sz="14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</a:br>
            <a:r>
              <a:rPr lang="en-US" altLang="zh-CN" sz="14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    break; </a:t>
            </a:r>
            <a:br>
              <a:rPr lang="en-US" altLang="zh-CN" sz="14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</a:br>
            <a:r>
              <a:rPr lang="en-US" altLang="zh-CN" sz="14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case (2):</a:t>
            </a:r>
            <a:br>
              <a:rPr lang="en-US" altLang="zh-CN" sz="14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</a:br>
            <a:r>
              <a:rPr lang="en-US" altLang="zh-CN" sz="14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    print( "The number is a couple." );</a:t>
            </a:r>
            <a:br>
              <a:rPr lang="en-US" altLang="zh-CN" sz="14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</a:br>
            <a:r>
              <a:rPr lang="en-US" altLang="zh-CN" sz="14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    break;</a:t>
            </a:r>
            <a:br>
              <a:rPr lang="en-US" altLang="zh-CN" sz="14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</a:br>
            <a:r>
              <a:rPr lang="en-US" altLang="zh-CN" sz="14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case (3):                         // case (3)</a:t>
            </a:r>
            <a:r>
              <a:rPr lang="zh-CN" altLang="en-US" sz="14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穿透到</a:t>
            </a:r>
            <a:r>
              <a:rPr lang="en-US" altLang="zh-CN" sz="14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case (4)</a:t>
            </a:r>
            <a:br>
              <a:rPr lang="en-US" altLang="zh-CN" sz="14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</a:br>
            <a:r>
              <a:rPr lang="en-US" altLang="zh-CN" sz="14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case (4):                         // case (4)</a:t>
            </a:r>
            <a:r>
              <a:rPr lang="zh-CN" altLang="en-US" sz="14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穿透到</a:t>
            </a:r>
            <a:r>
              <a:rPr lang="en-US" altLang="zh-CN" sz="14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case (5)</a:t>
            </a:r>
            <a:br>
              <a:rPr lang="en-US" altLang="zh-CN" sz="14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</a:br>
            <a:r>
              <a:rPr lang="en-US" altLang="zh-CN" sz="14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case (5):</a:t>
            </a:r>
            <a:br>
              <a:rPr lang="en-US" altLang="zh-CN" sz="14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</a:br>
            <a:r>
              <a:rPr lang="en-US" altLang="zh-CN" sz="14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    print( "The number is a few." );</a:t>
            </a:r>
            <a:br>
              <a:rPr lang="en-US" altLang="zh-CN" sz="14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</a:br>
            <a:r>
              <a:rPr lang="en-US" altLang="zh-CN" sz="14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    break;</a:t>
            </a:r>
            <a:br>
              <a:rPr lang="en-US" altLang="zh-CN" sz="14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</a:br>
            <a:r>
              <a:rPr lang="en-US" altLang="zh-CN" sz="14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default:</a:t>
            </a:r>
            <a:br>
              <a:rPr lang="en-US" altLang="zh-CN" sz="14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</a:br>
            <a:r>
              <a:rPr lang="en-US" altLang="zh-CN" sz="14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    print( "The number is more than a few." );</a:t>
            </a:r>
            <a:br>
              <a:rPr lang="en-US" altLang="zh-CN" sz="14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</a:br>
            <a:r>
              <a:rPr lang="en-US" altLang="zh-CN" sz="14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    break;</a:t>
            </a:r>
            <a:br>
              <a:rPr lang="en-US" altLang="zh-CN" sz="14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</a:br>
            <a:r>
              <a:rPr lang="en-US" altLang="zh-CN" sz="14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}</a:t>
            </a:r>
            <a:br>
              <a:rPr lang="en-US" altLang="zh-CN" sz="14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</a:br>
            <a:r>
              <a:rPr lang="en-US" altLang="zh-CN" sz="14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// </a:t>
            </a:r>
            <a:r>
              <a:rPr lang="zh-CN" altLang="en-US" sz="14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上述代码输出以下内容</a:t>
            </a:r>
            <a:r>
              <a:rPr lang="zh-CN" altLang="en-US" sz="1400" dirty="0">
                <a:solidFill>
                  <a:srgbClr val="000000"/>
                </a:solidFill>
                <a:latin typeface="Courier" pitchFamily="125" charset="0"/>
                <a:ea typeface="楷体" panose="02010609060101010101" pitchFamily="49" charset="-122"/>
                <a:sym typeface="Courier" pitchFamily="125" charset="0"/>
              </a:rPr>
              <a:t>：</a:t>
            </a:r>
            <a:endParaRPr lang="en-US" altLang="zh-CN" sz="1400" dirty="0">
              <a:solidFill>
                <a:srgbClr val="000000"/>
              </a:solidFill>
              <a:latin typeface="Courier" pitchFamily="125" charset="0"/>
              <a:sym typeface="Courier" pitchFamily="125" charset="0"/>
            </a:endParaRPr>
          </a:p>
          <a:p>
            <a:pPr marL="569913" lvl="2" indent="0">
              <a:spcBef>
                <a:spcPts val="800"/>
              </a:spcBef>
              <a:buNone/>
            </a:pPr>
            <a:r>
              <a:rPr lang="en-US" altLang="zh-CN" sz="14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//          The number is a few.</a:t>
            </a:r>
            <a:endParaRPr lang="en-US" altLang="zh-CN" sz="1800" dirty="0">
              <a:solidFill>
                <a:srgbClr val="000000"/>
              </a:solidFill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4A7B830D-E7A7-32C0-BBC2-A22983328020}"/>
              </a:ext>
            </a:extLst>
          </p:cNvPr>
          <p:cNvGrpSpPr/>
          <p:nvPr/>
        </p:nvGrpSpPr>
        <p:grpSpPr>
          <a:xfrm>
            <a:off x="4949775" y="251474"/>
            <a:ext cx="2292451" cy="490115"/>
            <a:chOff x="4840431" y="207541"/>
            <a:chExt cx="2292451" cy="490115"/>
          </a:xfrm>
        </p:grpSpPr>
        <p:pic>
          <p:nvPicPr>
            <p:cNvPr id="4" name="Picture 4" descr="黑爵(AJAZZ)手柄/方向盘AG180报价_参数_图片_视频_怎么样_问答-苏宁易购">
              <a:extLst>
                <a:ext uri="{FF2B5EF4-FFF2-40B4-BE49-F238E27FC236}">
                  <a16:creationId xmlns:a16="http://schemas.microsoft.com/office/drawing/2014/main" id="{CA5E2A9E-3DF7-57BC-FA6B-1DC43AB777C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45" t="9275" r="3752" b="5379"/>
            <a:stretch/>
          </p:blipFill>
          <p:spPr bwMode="auto">
            <a:xfrm>
              <a:off x="4840431" y="321039"/>
              <a:ext cx="407315" cy="37661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" name="Rectangle 3">
              <a:extLst>
                <a:ext uri="{FF2B5EF4-FFF2-40B4-BE49-F238E27FC236}">
                  <a16:creationId xmlns:a16="http://schemas.microsoft.com/office/drawing/2014/main" id="{B5B9ACAD-C4B0-2AFF-3D40-771F5C6F8D86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5298545" y="207541"/>
              <a:ext cx="1834337" cy="471065"/>
            </a:xfrm>
            <a:prstGeom prst="rect">
              <a:avLst/>
            </a:prstGeom>
            <a:noFill/>
          </p:spPr>
          <p:txBody>
            <a:bodyPr lIns="90488" tIns="44450" rIns="90488" bIns="44450"/>
            <a:lstStyle>
              <a:lvl1pPr marL="171450" indent="-17145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1pPr>
              <a:lvl2pPr marL="5143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8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2pPr>
              <a:lvl3pPr marL="8572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3pPr>
              <a:lvl4pPr marL="12001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4pPr>
              <a:lvl5pPr marL="15430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fontAlgn="base">
                <a:lnSpc>
                  <a:spcPct val="100000"/>
                </a:lnSpc>
                <a:buNone/>
              </a:pPr>
              <a:r>
                <a:rPr lang="zh-CN" altLang="en-US" sz="3200" dirty="0">
                  <a:latin typeface="Times New Roman" panose="02020603050405020304" pitchFamily="18" charset="0"/>
                  <a:ea typeface="楷体" panose="02010609060101010101" pitchFamily="49" charset="-122"/>
                  <a:sym typeface="+mn-ea"/>
                </a:rPr>
                <a:t>条件语句</a:t>
              </a:r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6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6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6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8" grpId="0" build="p" bldLvl="5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Rectangle 4">
            <a:extLst>
              <a:ext uri="{FF2B5EF4-FFF2-40B4-BE49-F238E27FC236}">
                <a16:creationId xmlns:a16="http://schemas.microsoft.com/office/drawing/2014/main" id="{95A5005A-A6F7-8676-94DA-2FDB0D90E5AA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>
          <a:xfrm>
            <a:off x="1987550" y="1173163"/>
            <a:ext cx="8229600" cy="5321300"/>
          </a:xfrm>
          <a:prstGeom prst="rect">
            <a:avLst/>
          </a:prstGeom>
        </p:spPr>
        <p:txBody>
          <a:bodyPr/>
          <a:lstStyle/>
          <a:p>
            <a:pPr eaLnBrk="1"/>
            <a:r>
              <a:rPr lang="en-US" altLang="zh-CN">
                <a:latin typeface="Courier" pitchFamily="125" charset="0"/>
                <a:sym typeface="Courier" pitchFamily="125" charset="0"/>
              </a:rPr>
              <a:t>while</a:t>
            </a:r>
          </a:p>
          <a:p>
            <a:pPr marL="750888" lvl="1" indent="-254000">
              <a:spcBef>
                <a:spcPts val="1100"/>
              </a:spcBef>
              <a:buFontTx/>
              <a:buChar char="–"/>
            </a:pPr>
            <a:r>
              <a:rPr lang="zh-CN" altLang="en-US" sz="2000">
                <a:solidFill>
                  <a:srgbClr val="000000"/>
                </a:solidFill>
              </a:rPr>
              <a:t>最基本的循环类型</a:t>
            </a:r>
            <a:endParaRPr lang="en-US" altLang="zh-CN" sz="2000">
              <a:solidFill>
                <a:srgbClr val="000000"/>
              </a:solidFill>
            </a:endParaRPr>
          </a:p>
          <a:p>
            <a:pPr marL="750888" lvl="1" indent="-254000">
              <a:spcBef>
                <a:spcPts val="1100"/>
              </a:spcBef>
              <a:buFontTx/>
              <a:buChar char="–"/>
            </a:pPr>
            <a:r>
              <a:rPr lang="zh-CN" altLang="en-US" sz="2000">
                <a:solidFill>
                  <a:srgbClr val="000000"/>
                </a:solidFill>
              </a:rPr>
              <a:t>在每次循环开始时检查是否符合某个条件，决定是否继续循环</a:t>
            </a:r>
            <a:endParaRPr lang="en-US" altLang="zh-CN" sz="2000">
              <a:solidFill>
                <a:srgbClr val="000000"/>
              </a:solidFill>
            </a:endParaRPr>
          </a:p>
          <a:p>
            <a:pPr eaLnBrk="1"/>
            <a:r>
              <a:rPr lang="en-US" altLang="zh-CN">
                <a:latin typeface="Courier" pitchFamily="125" charset="0"/>
                <a:sym typeface="Courier" pitchFamily="125" charset="0"/>
              </a:rPr>
              <a:t>do…while</a:t>
            </a:r>
          </a:p>
          <a:p>
            <a:pPr marL="750888" lvl="1" indent="-254000">
              <a:spcBef>
                <a:spcPts val="1100"/>
              </a:spcBef>
              <a:buFontTx/>
              <a:buChar char="–"/>
            </a:pPr>
            <a:r>
              <a:rPr lang="zh-CN" altLang="en-US" sz="2000">
                <a:solidFill>
                  <a:srgbClr val="000000"/>
                </a:solidFill>
              </a:rPr>
              <a:t>在每次循环结束时检查是否符合某个条件，决定是否继续循环</a:t>
            </a:r>
            <a:endParaRPr lang="en-US" altLang="zh-CN" sz="2000">
              <a:solidFill>
                <a:srgbClr val="000000"/>
              </a:solidFill>
            </a:endParaRPr>
          </a:p>
          <a:p>
            <a:pPr eaLnBrk="1"/>
            <a:r>
              <a:rPr lang="en-US" altLang="zh-CN">
                <a:latin typeface="Courier" pitchFamily="125" charset="0"/>
                <a:sym typeface="Courier" pitchFamily="125" charset="0"/>
              </a:rPr>
              <a:t>for</a:t>
            </a:r>
          </a:p>
          <a:p>
            <a:pPr marL="750888" lvl="1" indent="-254000">
              <a:spcBef>
                <a:spcPts val="1100"/>
              </a:spcBef>
              <a:buFontTx/>
              <a:buChar char="–"/>
            </a:pPr>
            <a:r>
              <a:rPr lang="zh-CN" altLang="en-US" sz="2000">
                <a:solidFill>
                  <a:srgbClr val="000000"/>
                </a:solidFill>
              </a:rPr>
              <a:t>最为常用的循环结构</a:t>
            </a:r>
            <a:endParaRPr lang="en-US" altLang="zh-CN" sz="2000">
              <a:solidFill>
                <a:srgbClr val="000000"/>
              </a:solidFill>
            </a:endParaRPr>
          </a:p>
          <a:p>
            <a:pPr marL="750888" lvl="1" indent="-254000">
              <a:spcBef>
                <a:spcPts val="1100"/>
              </a:spcBef>
              <a:buFontTx/>
              <a:buChar char="–"/>
            </a:pPr>
            <a:r>
              <a:rPr lang="zh-CN" altLang="en-US" sz="2000">
                <a:solidFill>
                  <a:srgbClr val="000000"/>
                </a:solidFill>
              </a:rPr>
              <a:t>包含三个单独语句的循环结构</a:t>
            </a:r>
            <a:endParaRPr lang="en-US" altLang="zh-CN" sz="2000">
              <a:solidFill>
                <a:srgbClr val="000000"/>
              </a:solidFill>
            </a:endParaRPr>
          </a:p>
          <a:p>
            <a:pPr eaLnBrk="1"/>
            <a:r>
              <a:rPr lang="en-US" altLang="zh-CN">
                <a:latin typeface="Courier" pitchFamily="125" charset="0"/>
                <a:sym typeface="Courier" pitchFamily="125" charset="0"/>
              </a:rPr>
              <a:t>foreach</a:t>
            </a:r>
          </a:p>
          <a:p>
            <a:pPr marL="750888" lvl="1" indent="-254000">
              <a:spcBef>
                <a:spcPts val="1100"/>
              </a:spcBef>
              <a:buFontTx/>
              <a:buChar char="–"/>
            </a:pPr>
            <a:r>
              <a:rPr lang="zh-CN" altLang="en-US" sz="2000">
                <a:solidFill>
                  <a:srgbClr val="000000"/>
                </a:solidFill>
              </a:rPr>
              <a:t>自动遍历一个可枚举对象或集合中的所有元素</a:t>
            </a:r>
            <a:endParaRPr lang="en-US" altLang="zh-CN" sz="1800">
              <a:solidFill>
                <a:srgbClr val="000000"/>
              </a:solidFill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F71A2895-201D-47F0-3EB6-33627B268900}"/>
              </a:ext>
            </a:extLst>
          </p:cNvPr>
          <p:cNvGrpSpPr/>
          <p:nvPr/>
        </p:nvGrpSpPr>
        <p:grpSpPr>
          <a:xfrm>
            <a:off x="4534827" y="251474"/>
            <a:ext cx="3122345" cy="490115"/>
            <a:chOff x="4840431" y="207541"/>
            <a:chExt cx="3122345" cy="490115"/>
          </a:xfrm>
        </p:grpSpPr>
        <p:pic>
          <p:nvPicPr>
            <p:cNvPr id="4" name="Picture 4" descr="黑爵(AJAZZ)手柄/方向盘AG180报价_参数_图片_视频_怎么样_问答-苏宁易购">
              <a:extLst>
                <a:ext uri="{FF2B5EF4-FFF2-40B4-BE49-F238E27FC236}">
                  <a16:creationId xmlns:a16="http://schemas.microsoft.com/office/drawing/2014/main" id="{5D4F9A03-DB18-875B-B71F-71A4116AA4B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45" t="9275" r="3752" b="5379"/>
            <a:stretch/>
          </p:blipFill>
          <p:spPr bwMode="auto">
            <a:xfrm>
              <a:off x="4840431" y="321039"/>
              <a:ext cx="407315" cy="37661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Rectangle 3">
              <a:extLst>
                <a:ext uri="{FF2B5EF4-FFF2-40B4-BE49-F238E27FC236}">
                  <a16:creationId xmlns:a16="http://schemas.microsoft.com/office/drawing/2014/main" id="{FDD5F5FF-3942-0F47-A566-7932AC62EA73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5298545" y="207541"/>
              <a:ext cx="2664231" cy="471065"/>
            </a:xfrm>
            <a:prstGeom prst="rect">
              <a:avLst/>
            </a:prstGeom>
            <a:noFill/>
          </p:spPr>
          <p:txBody>
            <a:bodyPr lIns="90488" tIns="44450" rIns="90488" bIns="44450"/>
            <a:lstStyle>
              <a:lvl1pPr marL="171450" indent="-17145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1pPr>
              <a:lvl2pPr marL="5143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8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2pPr>
              <a:lvl3pPr marL="8572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3pPr>
              <a:lvl4pPr marL="12001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4pPr>
              <a:lvl5pPr marL="15430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fontAlgn="base">
                <a:lnSpc>
                  <a:spcPct val="100000"/>
                </a:lnSpc>
                <a:buNone/>
              </a:pPr>
              <a:r>
                <a:rPr lang="zh-CN" altLang="en-US" sz="3200" dirty="0">
                  <a:latin typeface="Times New Roman" panose="02020603050405020304" pitchFamily="18" charset="0"/>
                  <a:ea typeface="楷体" panose="02010609060101010101" pitchFamily="49" charset="-122"/>
                  <a:sym typeface="+mn-ea"/>
                </a:rPr>
                <a:t>四种循环语句</a:t>
              </a:r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2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2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2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2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2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4" grpId="0" build="p" bldLvl="5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Rectangle 4">
            <a:extLst>
              <a:ext uri="{FF2B5EF4-FFF2-40B4-BE49-F238E27FC236}">
                <a16:creationId xmlns:a16="http://schemas.microsoft.com/office/drawing/2014/main" id="{8F8DAB23-CCED-681E-7197-714E35E71075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>
          <a:xfrm>
            <a:off x="1981200" y="1104900"/>
            <a:ext cx="8229600" cy="5321300"/>
          </a:xfrm>
          <a:prstGeom prst="rect">
            <a:avLst/>
          </a:prstGeom>
        </p:spPr>
        <p:txBody>
          <a:bodyPr/>
          <a:lstStyle/>
          <a:p>
            <a:pPr eaLnBrk="1"/>
            <a:r>
              <a:rPr lang="en-US" altLang="zh-CN">
                <a:latin typeface="Courier" pitchFamily="125" charset="0"/>
                <a:sym typeface="Courier" pitchFamily="125" charset="0"/>
              </a:rPr>
              <a:t>while</a:t>
            </a:r>
          </a:p>
          <a:p>
            <a:pPr marL="750888" lvl="1" indent="-254000">
              <a:spcBef>
                <a:spcPts val="1100"/>
              </a:spcBef>
              <a:buFontTx/>
              <a:buChar char="–"/>
            </a:pPr>
            <a:r>
              <a:rPr lang="zh-CN" altLang="en-US" sz="2000">
                <a:solidFill>
                  <a:srgbClr val="000000"/>
                </a:solidFill>
              </a:rPr>
              <a:t>最基本的循环类型</a:t>
            </a:r>
            <a:endParaRPr lang="en-US" altLang="zh-CN" sz="2000">
              <a:solidFill>
                <a:srgbClr val="000000"/>
              </a:solidFill>
            </a:endParaRPr>
          </a:p>
          <a:p>
            <a:pPr marL="750888" lvl="1" indent="-254000">
              <a:spcBef>
                <a:spcPts val="1100"/>
              </a:spcBef>
              <a:buFontTx/>
              <a:buChar char="–"/>
            </a:pPr>
            <a:r>
              <a:rPr lang="zh-CN" altLang="en-US" sz="2000">
                <a:solidFill>
                  <a:srgbClr val="000000"/>
                </a:solidFill>
              </a:rPr>
              <a:t>在每次循环开始时检查是否符合某个条件，决定是否继续循环</a:t>
            </a:r>
            <a:endParaRPr lang="en-US" altLang="zh-CN" sz="2000">
              <a:solidFill>
                <a:srgbClr val="000000"/>
              </a:solidFill>
            </a:endParaRPr>
          </a:p>
          <a:p>
            <a:pPr marL="0" lvl="2" indent="0">
              <a:spcBef>
                <a:spcPts val="700"/>
              </a:spcBef>
              <a:buNone/>
            </a:pPr>
            <a:r>
              <a:rPr lang="en-US" altLang="zh-CN" sz="180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	while (true) {         </a:t>
            </a:r>
            <a:br>
              <a:rPr lang="en-US" altLang="zh-CN" sz="180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</a:br>
            <a:r>
              <a:rPr lang="en-US" altLang="zh-CN" sz="180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	    print( "Loop" );   </a:t>
            </a:r>
            <a:br>
              <a:rPr lang="en-US" altLang="zh-CN" sz="180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</a:br>
            <a:r>
              <a:rPr lang="en-US" altLang="zh-CN" sz="180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	}                      </a:t>
            </a:r>
            <a:endParaRPr lang="en-US" altLang="zh-CN">
              <a:solidFill>
                <a:srgbClr val="000000"/>
              </a:solidFill>
            </a:endParaRPr>
          </a:p>
          <a:p>
            <a:pPr marL="750888" lvl="1" indent="-254000">
              <a:spcBef>
                <a:spcPts val="1100"/>
              </a:spcBef>
              <a:buFontTx/>
              <a:buChar char="–"/>
            </a:pPr>
            <a:r>
              <a:rPr lang="zh-CN" altLang="en-US" sz="2000">
                <a:solidFill>
                  <a:srgbClr val="000000"/>
                </a:solidFill>
              </a:rPr>
              <a:t>它有发生</a:t>
            </a:r>
            <a:r>
              <a:rPr lang="en-US" altLang="zh-CN" sz="2000">
                <a:solidFill>
                  <a:srgbClr val="000000"/>
                </a:solidFill>
              </a:rPr>
              <a:t>“</a:t>
            </a:r>
            <a:r>
              <a:rPr lang="zh-CN" altLang="en-US" sz="2000">
                <a:solidFill>
                  <a:srgbClr val="000000"/>
                </a:solidFill>
              </a:rPr>
              <a:t>死循环</a:t>
            </a:r>
            <a:r>
              <a:rPr lang="en-US" altLang="zh-CN" sz="2000">
                <a:solidFill>
                  <a:srgbClr val="000000"/>
                </a:solidFill>
              </a:rPr>
              <a:t>”</a:t>
            </a:r>
            <a:r>
              <a:rPr lang="zh-CN" altLang="en-US" sz="2000">
                <a:solidFill>
                  <a:srgbClr val="000000"/>
                </a:solidFill>
              </a:rPr>
              <a:t>的风险</a:t>
            </a:r>
            <a:r>
              <a:rPr lang="en-US" altLang="zh-CN" sz="2000">
                <a:solidFill>
                  <a:srgbClr val="000000"/>
                </a:solidFill>
              </a:rPr>
              <a:t>!!!</a:t>
            </a:r>
          </a:p>
          <a:p>
            <a:pPr marL="750888" lvl="1" indent="-254000">
              <a:spcBef>
                <a:spcPts val="1100"/>
              </a:spcBef>
              <a:buFontTx/>
              <a:buChar char="–"/>
            </a:pPr>
            <a:r>
              <a:rPr lang="en-US" altLang="zh-CN" sz="2000">
                <a:solidFill>
                  <a:srgbClr val="000000"/>
                </a:solidFill>
              </a:rPr>
              <a:t>"Loop" </a:t>
            </a:r>
            <a:r>
              <a:rPr lang="zh-CN" altLang="en-US" sz="2000">
                <a:solidFill>
                  <a:srgbClr val="000000"/>
                </a:solidFill>
              </a:rPr>
              <a:t>永远不会出现在控制台窗口中，因为整个</a:t>
            </a:r>
            <a:r>
              <a:rPr lang="en-US" altLang="zh-CN" sz="2000">
                <a:solidFill>
                  <a:srgbClr val="000000"/>
                </a:solidFill>
              </a:rPr>
              <a:t> Unity </a:t>
            </a:r>
            <a:r>
              <a:rPr lang="zh-CN" altLang="en-US" sz="2000">
                <a:solidFill>
                  <a:srgbClr val="000000"/>
                </a:solidFill>
              </a:rPr>
              <a:t>进程会被冻结</a:t>
            </a:r>
            <a:endParaRPr lang="en-US" altLang="zh-CN" sz="2000">
              <a:solidFill>
                <a:srgbClr val="000000"/>
              </a:solidFill>
            </a:endParaRPr>
          </a:p>
          <a:p>
            <a:pPr marL="750888" lvl="1" indent="-254000">
              <a:spcBef>
                <a:spcPts val="1100"/>
              </a:spcBef>
              <a:buFontTx/>
              <a:buChar char="–"/>
            </a:pPr>
            <a:r>
              <a:rPr lang="zh-CN" altLang="en-US" sz="2000">
                <a:solidFill>
                  <a:srgbClr val="000000"/>
                </a:solidFill>
              </a:rPr>
              <a:t>这将导致必须强制退出</a:t>
            </a:r>
            <a:r>
              <a:rPr lang="en-US" altLang="zh-CN" sz="2000">
                <a:solidFill>
                  <a:srgbClr val="000000"/>
                </a:solidFill>
              </a:rPr>
              <a:t>Unity</a:t>
            </a:r>
          </a:p>
          <a:p>
            <a:pPr marL="750888" lvl="1" indent="-254000">
              <a:spcBef>
                <a:spcPts val="1100"/>
              </a:spcBef>
              <a:buFontTx/>
              <a:buChar char="–"/>
            </a:pPr>
            <a:r>
              <a:rPr lang="zh-CN" altLang="en-US" sz="2000">
                <a:solidFill>
                  <a:srgbClr val="000000"/>
                </a:solidFill>
              </a:rPr>
              <a:t>旧式的单线程操作系统陷入</a:t>
            </a:r>
            <a:r>
              <a:rPr lang="en-US" altLang="zh-CN" sz="2000">
                <a:solidFill>
                  <a:srgbClr val="000000"/>
                </a:solidFill>
              </a:rPr>
              <a:t>“</a:t>
            </a:r>
            <a:r>
              <a:rPr lang="zh-CN" altLang="en-US" sz="2000">
                <a:solidFill>
                  <a:srgbClr val="000000"/>
                </a:solidFill>
              </a:rPr>
              <a:t>死循环</a:t>
            </a:r>
            <a:r>
              <a:rPr lang="en-US" altLang="zh-CN" sz="2000">
                <a:solidFill>
                  <a:srgbClr val="000000"/>
                </a:solidFill>
              </a:rPr>
              <a:t>”</a:t>
            </a:r>
            <a:r>
              <a:rPr lang="zh-CN" altLang="en-US" sz="2000">
                <a:solidFill>
                  <a:srgbClr val="000000"/>
                </a:solidFill>
              </a:rPr>
              <a:t>需要重启才能恢复</a:t>
            </a:r>
            <a:r>
              <a:rPr lang="en-US" altLang="zh-CN" sz="2000">
                <a:solidFill>
                  <a:srgbClr val="000000"/>
                </a:solidFill>
              </a:rPr>
              <a:t>!</a:t>
            </a:r>
            <a:endParaRPr lang="en-US" altLang="zh-CN" sz="1800">
              <a:solidFill>
                <a:srgbClr val="000000"/>
              </a:solidFill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09C45ED0-C966-A38E-C7CE-46EBAEBB7814}"/>
              </a:ext>
            </a:extLst>
          </p:cNvPr>
          <p:cNvGrpSpPr/>
          <p:nvPr/>
        </p:nvGrpSpPr>
        <p:grpSpPr>
          <a:xfrm>
            <a:off x="4534827" y="251474"/>
            <a:ext cx="3122345" cy="490115"/>
            <a:chOff x="4840431" y="207541"/>
            <a:chExt cx="3122345" cy="490115"/>
          </a:xfrm>
        </p:grpSpPr>
        <p:pic>
          <p:nvPicPr>
            <p:cNvPr id="5" name="Picture 4" descr="黑爵(AJAZZ)手柄/方向盘AG180报价_参数_图片_视频_怎么样_问答-苏宁易购">
              <a:extLst>
                <a:ext uri="{FF2B5EF4-FFF2-40B4-BE49-F238E27FC236}">
                  <a16:creationId xmlns:a16="http://schemas.microsoft.com/office/drawing/2014/main" id="{B3982F2A-87F8-7BB7-61E9-23B48B6E214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45" t="9275" r="3752" b="5379"/>
            <a:stretch/>
          </p:blipFill>
          <p:spPr bwMode="auto">
            <a:xfrm>
              <a:off x="4840431" y="321039"/>
              <a:ext cx="407315" cy="37661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Rectangle 3">
              <a:extLst>
                <a:ext uri="{FF2B5EF4-FFF2-40B4-BE49-F238E27FC236}">
                  <a16:creationId xmlns:a16="http://schemas.microsoft.com/office/drawing/2014/main" id="{8588C9D9-C929-6A06-5EAA-6136F8DDCF46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5298545" y="207541"/>
              <a:ext cx="2664231" cy="471065"/>
            </a:xfrm>
            <a:prstGeom prst="rect">
              <a:avLst/>
            </a:prstGeom>
            <a:noFill/>
          </p:spPr>
          <p:txBody>
            <a:bodyPr lIns="90488" tIns="44450" rIns="90488" bIns="44450"/>
            <a:lstStyle>
              <a:lvl1pPr marL="171450" indent="-17145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1pPr>
              <a:lvl2pPr marL="5143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8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2pPr>
              <a:lvl3pPr marL="8572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3pPr>
              <a:lvl4pPr marL="12001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4pPr>
              <a:lvl5pPr marL="15430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fontAlgn="base">
                <a:lnSpc>
                  <a:spcPct val="100000"/>
                </a:lnSpc>
                <a:buNone/>
              </a:pPr>
              <a:r>
                <a:rPr lang="zh-CN" altLang="en-US" sz="3200" dirty="0">
                  <a:latin typeface="Times New Roman" panose="02020603050405020304" pitchFamily="18" charset="0"/>
                  <a:ea typeface="楷体" panose="02010609060101010101" pitchFamily="49" charset="-122"/>
                  <a:sym typeface="+mn-ea"/>
                </a:rPr>
                <a:t>四种循环语句</a:t>
              </a:r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8" grpId="0" build="p" bldLvl="5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2" name="Rectangle 4">
            <a:extLst>
              <a:ext uri="{FF2B5EF4-FFF2-40B4-BE49-F238E27FC236}">
                <a16:creationId xmlns:a16="http://schemas.microsoft.com/office/drawing/2014/main" id="{99522804-0C5C-2095-308A-AF0F98A18C28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>
          <a:xfrm>
            <a:off x="1981200" y="1104900"/>
            <a:ext cx="8229600" cy="5321300"/>
          </a:xfrm>
          <a:prstGeom prst="rect">
            <a:avLst/>
          </a:prstGeom>
        </p:spPr>
        <p:txBody>
          <a:bodyPr/>
          <a:lstStyle/>
          <a:p>
            <a:pPr eaLnBrk="1"/>
            <a:r>
              <a:rPr lang="en-US" altLang="zh-CN">
                <a:latin typeface="Courier" pitchFamily="125" charset="0"/>
                <a:sym typeface="Courier" pitchFamily="125" charset="0"/>
              </a:rPr>
              <a:t>while</a:t>
            </a:r>
            <a:r>
              <a:rPr lang="en-US" altLang="zh-CN"/>
              <a:t> –</a:t>
            </a:r>
            <a:r>
              <a:rPr lang="zh-CN" altLang="en-US"/>
              <a:t>更实用的</a:t>
            </a:r>
            <a:r>
              <a:rPr lang="en-US" altLang="zh-CN">
                <a:latin typeface="Courier" pitchFamily="125" charset="0"/>
                <a:sym typeface="Courier" pitchFamily="125" charset="0"/>
              </a:rPr>
              <a:t>while</a:t>
            </a:r>
            <a:r>
              <a:rPr lang="zh-CN" altLang="en-US">
                <a:latin typeface="Courier" pitchFamily="125" charset="0"/>
                <a:sym typeface="Courier" pitchFamily="125" charset="0"/>
              </a:rPr>
              <a:t>循环</a:t>
            </a:r>
            <a:endParaRPr lang="en-US" altLang="zh-CN">
              <a:latin typeface="Courier" pitchFamily="125" charset="0"/>
              <a:sym typeface="Courier" pitchFamily="125" charset="0"/>
            </a:endParaRPr>
          </a:p>
          <a:p>
            <a:pPr marL="744538" lvl="1" indent="-247650">
              <a:spcBef>
                <a:spcPts val="1100"/>
              </a:spcBef>
              <a:buFontTx/>
              <a:buChar char="–"/>
            </a:pPr>
            <a:r>
              <a:rPr lang="en-US" altLang="zh-CN" sz="200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while</a:t>
            </a:r>
            <a:r>
              <a:rPr lang="en-US" altLang="zh-CN" sz="2000">
                <a:solidFill>
                  <a:srgbClr val="000000"/>
                </a:solidFill>
              </a:rPr>
              <a:t> </a:t>
            </a:r>
            <a:r>
              <a:rPr lang="zh-CN" altLang="en-US" sz="2000">
                <a:solidFill>
                  <a:srgbClr val="000000"/>
                </a:solidFill>
              </a:rPr>
              <a:t>循环需要一个退出条件</a:t>
            </a:r>
            <a:endParaRPr lang="en-US" altLang="zh-CN" sz="2000">
              <a:solidFill>
                <a:srgbClr val="000000"/>
              </a:solidFill>
            </a:endParaRPr>
          </a:p>
          <a:p>
            <a:pPr marL="1106488" lvl="2" indent="-152400">
              <a:spcBef>
                <a:spcPts val="700"/>
              </a:spcBef>
              <a:buFontTx/>
              <a:buChar char="•"/>
            </a:pPr>
            <a:r>
              <a:rPr lang="zh-CN" altLang="en-US" sz="1800">
                <a:solidFill>
                  <a:srgbClr val="000000"/>
                </a:solidFill>
              </a:rPr>
              <a:t>一个会使条件子句判定为</a:t>
            </a:r>
            <a:r>
              <a:rPr lang="en-US" altLang="zh-CN" sz="1800">
                <a:solidFill>
                  <a:srgbClr val="000000"/>
                </a:solidFill>
              </a:rPr>
              <a:t>false</a:t>
            </a:r>
            <a:r>
              <a:rPr lang="zh-CN" altLang="en-US" sz="1800">
                <a:solidFill>
                  <a:srgbClr val="000000"/>
                </a:solidFill>
              </a:rPr>
              <a:t>的条件</a:t>
            </a:r>
          </a:p>
          <a:p>
            <a:pPr marL="744538" lvl="1" indent="-247650">
              <a:spcBef>
                <a:spcPts val="1100"/>
              </a:spcBef>
              <a:buFontTx/>
              <a:buChar char="–"/>
            </a:pPr>
            <a:r>
              <a:rPr lang="en-US" altLang="zh-CN" sz="2000">
                <a:solidFill>
                  <a:srgbClr val="000000"/>
                </a:solidFill>
              </a:rPr>
              <a:t>在每次循环开始时检查是否符合某个条件，决定是否继续循环</a:t>
            </a:r>
          </a:p>
          <a:p>
            <a:pPr marL="1106488" lvl="2" indent="-152400">
              <a:spcBef>
                <a:spcPts val="700"/>
              </a:spcBef>
              <a:buNone/>
            </a:pPr>
            <a:r>
              <a:rPr lang="en-US" altLang="zh-CN" sz="180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		int i=0;</a:t>
            </a:r>
            <a:br>
              <a:rPr lang="en-US" altLang="zh-CN" sz="180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</a:br>
            <a:r>
              <a:rPr lang="en-US" altLang="zh-CN" sz="180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	while ( i&lt;3 ) {</a:t>
            </a:r>
            <a:br>
              <a:rPr lang="en-US" altLang="zh-CN" sz="180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</a:br>
            <a:r>
              <a:rPr lang="en-US" altLang="zh-CN" sz="180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	    print( "Loop: "+i );</a:t>
            </a:r>
            <a:br>
              <a:rPr lang="en-US" altLang="zh-CN" sz="180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</a:br>
            <a:r>
              <a:rPr lang="en-US" altLang="zh-CN" sz="180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	    i++;      // </a:t>
            </a:r>
            <a:r>
              <a:rPr lang="zh-CN" altLang="en-US" sz="180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自增运算符</a:t>
            </a:r>
            <a:br>
              <a:rPr lang="en-US" altLang="zh-CN" sz="180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</a:br>
            <a:r>
              <a:rPr lang="en-US" altLang="zh-CN" sz="180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	}                     </a:t>
            </a:r>
            <a:endParaRPr lang="en-US" altLang="zh-CN">
              <a:solidFill>
                <a:srgbClr val="000000"/>
              </a:solidFill>
            </a:endParaRPr>
          </a:p>
          <a:p>
            <a:pPr marL="744538" lvl="1" indent="-247650">
              <a:spcBef>
                <a:spcPts val="1100"/>
              </a:spcBef>
              <a:buFontTx/>
              <a:buChar char="–"/>
            </a:pPr>
            <a:r>
              <a:rPr lang="en-US" altLang="zh-CN" sz="180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i++</a:t>
            </a:r>
            <a:r>
              <a:rPr lang="zh-CN" altLang="en-US" sz="200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会在每次循环中增加</a:t>
            </a:r>
            <a:r>
              <a:rPr lang="en-US" altLang="zh-CN" sz="200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i</a:t>
            </a:r>
            <a:r>
              <a:rPr lang="zh-CN" altLang="en-US" sz="2000">
                <a:solidFill>
                  <a:srgbClr val="000000"/>
                </a:solidFill>
              </a:rPr>
              <a:t>的值</a:t>
            </a:r>
            <a:endParaRPr lang="en-US" altLang="zh-CN" sz="2000">
              <a:solidFill>
                <a:srgbClr val="000000"/>
              </a:solidFill>
            </a:endParaRPr>
          </a:p>
          <a:p>
            <a:pPr marL="744538" lvl="1" indent="-247650">
              <a:spcBef>
                <a:spcPts val="1100"/>
              </a:spcBef>
              <a:buFontTx/>
              <a:buChar char="–"/>
            </a:pPr>
            <a:r>
              <a:rPr lang="zh-CN" altLang="en-US" sz="2000">
                <a:solidFill>
                  <a:srgbClr val="000000"/>
                </a:solidFill>
              </a:rPr>
              <a:t>当</a:t>
            </a:r>
            <a:r>
              <a:rPr lang="en-US" altLang="zh-CN" sz="200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i</a:t>
            </a:r>
            <a:r>
              <a:rPr lang="zh-CN" altLang="en-US" sz="2000">
                <a:solidFill>
                  <a:srgbClr val="000000"/>
                </a:solidFill>
              </a:rPr>
              <a:t>增加到</a:t>
            </a:r>
            <a:r>
              <a:rPr lang="en-US" altLang="zh-CN" sz="2000">
                <a:solidFill>
                  <a:srgbClr val="000000"/>
                </a:solidFill>
              </a:rPr>
              <a:t>3</a:t>
            </a:r>
            <a:r>
              <a:rPr lang="zh-CN" altLang="en-US" sz="2000">
                <a:solidFill>
                  <a:srgbClr val="000000"/>
                </a:solidFill>
              </a:rPr>
              <a:t>时</a:t>
            </a:r>
            <a:r>
              <a:rPr lang="en-US" altLang="zh-CN" sz="2000">
                <a:solidFill>
                  <a:srgbClr val="000000"/>
                </a:solidFill>
              </a:rPr>
              <a:t>,</a:t>
            </a:r>
            <a:r>
              <a:rPr lang="zh-CN" altLang="en-US" sz="2000">
                <a:solidFill>
                  <a:srgbClr val="000000"/>
                </a:solidFill>
              </a:rPr>
              <a:t>条件子句将判定为</a:t>
            </a:r>
            <a:r>
              <a:rPr lang="en-US" altLang="zh-CN" sz="2000">
                <a:solidFill>
                  <a:srgbClr val="000000"/>
                </a:solidFill>
              </a:rPr>
              <a:t>false, </a:t>
            </a:r>
            <a:r>
              <a:rPr lang="zh-CN" altLang="en-US" sz="2000">
                <a:solidFill>
                  <a:srgbClr val="000000"/>
                </a:solidFill>
              </a:rPr>
              <a:t>循环将退出</a:t>
            </a:r>
            <a:endParaRPr lang="en-US" altLang="zh-CN" sz="1800">
              <a:solidFill>
                <a:srgbClr val="000000"/>
              </a:solidFill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C0C33CB-6FE6-8E9A-3697-BDA02CDFC7E6}"/>
              </a:ext>
            </a:extLst>
          </p:cNvPr>
          <p:cNvGrpSpPr/>
          <p:nvPr/>
        </p:nvGrpSpPr>
        <p:grpSpPr>
          <a:xfrm>
            <a:off x="4534827" y="251474"/>
            <a:ext cx="3122345" cy="490115"/>
            <a:chOff x="4840431" y="207541"/>
            <a:chExt cx="3122345" cy="490115"/>
          </a:xfrm>
        </p:grpSpPr>
        <p:pic>
          <p:nvPicPr>
            <p:cNvPr id="5" name="Picture 4" descr="黑爵(AJAZZ)手柄/方向盘AG180报价_参数_图片_视频_怎么样_问答-苏宁易购">
              <a:extLst>
                <a:ext uri="{FF2B5EF4-FFF2-40B4-BE49-F238E27FC236}">
                  <a16:creationId xmlns:a16="http://schemas.microsoft.com/office/drawing/2014/main" id="{6E683A42-6569-D21A-E6B9-117BAC4C48B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45" t="9275" r="3752" b="5379"/>
            <a:stretch/>
          </p:blipFill>
          <p:spPr bwMode="auto">
            <a:xfrm>
              <a:off x="4840431" y="321039"/>
              <a:ext cx="407315" cy="37661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Rectangle 3">
              <a:extLst>
                <a:ext uri="{FF2B5EF4-FFF2-40B4-BE49-F238E27FC236}">
                  <a16:creationId xmlns:a16="http://schemas.microsoft.com/office/drawing/2014/main" id="{2F647AC7-0304-2608-EA9D-D4158B4D0F9E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5298545" y="207541"/>
              <a:ext cx="2664231" cy="471065"/>
            </a:xfrm>
            <a:prstGeom prst="rect">
              <a:avLst/>
            </a:prstGeom>
            <a:noFill/>
          </p:spPr>
          <p:txBody>
            <a:bodyPr lIns="90488" tIns="44450" rIns="90488" bIns="44450"/>
            <a:lstStyle>
              <a:lvl1pPr marL="171450" indent="-17145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1pPr>
              <a:lvl2pPr marL="5143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8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2pPr>
              <a:lvl3pPr marL="8572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3pPr>
              <a:lvl4pPr marL="12001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4pPr>
              <a:lvl5pPr marL="15430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fontAlgn="base">
                <a:lnSpc>
                  <a:spcPct val="100000"/>
                </a:lnSpc>
                <a:buNone/>
              </a:pPr>
              <a:r>
                <a:rPr lang="zh-CN" altLang="en-US" sz="3200" dirty="0">
                  <a:latin typeface="Times New Roman" panose="02020603050405020304" pitchFamily="18" charset="0"/>
                  <a:ea typeface="楷体" panose="02010609060101010101" pitchFamily="49" charset="-122"/>
                  <a:sym typeface="+mn-ea"/>
                </a:rPr>
                <a:t>四种循环语句</a:t>
              </a:r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2" grpId="0" build="p" bldLvl="5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Rectangle 4">
            <a:extLst>
              <a:ext uri="{FF2B5EF4-FFF2-40B4-BE49-F238E27FC236}">
                <a16:creationId xmlns:a16="http://schemas.microsoft.com/office/drawing/2014/main" id="{71ACCDEE-4ED9-5ADF-FBEB-31C376C74F52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>
          <a:xfrm>
            <a:off x="1981200" y="1104900"/>
            <a:ext cx="8229600" cy="5321300"/>
          </a:xfrm>
          <a:prstGeom prst="rect">
            <a:avLst/>
          </a:prstGeom>
        </p:spPr>
        <p:txBody>
          <a:bodyPr/>
          <a:lstStyle/>
          <a:p>
            <a:pPr eaLnBrk="1"/>
            <a:r>
              <a:rPr lang="en-US" altLang="zh-CN">
                <a:latin typeface="Courier" pitchFamily="125" charset="0"/>
                <a:sym typeface="Courier" pitchFamily="125" charset="0"/>
              </a:rPr>
              <a:t>do…while</a:t>
            </a:r>
          </a:p>
          <a:p>
            <a:pPr marL="750888" lvl="1" indent="-254000">
              <a:spcBef>
                <a:spcPts val="1100"/>
              </a:spcBef>
              <a:buFontTx/>
              <a:buChar char="–"/>
            </a:pPr>
            <a:r>
              <a:rPr lang="en-US" altLang="zh-CN" sz="2000">
                <a:solidFill>
                  <a:srgbClr val="000000"/>
                </a:solidFill>
                <a:sym typeface="Courier" pitchFamily="125" charset="0"/>
              </a:rPr>
              <a:t>类似于while循环</a:t>
            </a:r>
            <a:r>
              <a:rPr lang="en-US" altLang="zh-CN" sz="2000">
                <a:solidFill>
                  <a:srgbClr val="000000"/>
                </a:solidFill>
              </a:rPr>
              <a:t>, 但是是在每次循环结束之后才对条件子句进行判断</a:t>
            </a:r>
          </a:p>
          <a:p>
            <a:pPr marL="1106488" lvl="2" indent="-152400">
              <a:spcBef>
                <a:spcPts val="700"/>
              </a:spcBef>
              <a:buFontTx/>
              <a:buChar char="•"/>
            </a:pPr>
            <a:r>
              <a:rPr lang="zh-CN" altLang="en-US" sz="1800">
                <a:solidFill>
                  <a:srgbClr val="000000"/>
                </a:solidFill>
              </a:rPr>
              <a:t>这会保证循环至少会运行一次</a:t>
            </a:r>
            <a:endParaRPr lang="en-US" altLang="zh-CN" sz="1800">
              <a:solidFill>
                <a:srgbClr val="000000"/>
              </a:solidFill>
            </a:endParaRPr>
          </a:p>
          <a:p>
            <a:pPr marL="750888" lvl="1" indent="-254000">
              <a:spcBef>
                <a:spcPts val="1100"/>
              </a:spcBef>
              <a:buFontTx/>
              <a:buChar char="–"/>
            </a:pPr>
            <a:r>
              <a:rPr lang="en-US" altLang="zh-CN" sz="2000">
                <a:solidFill>
                  <a:srgbClr val="000000"/>
                </a:solidFill>
                <a:sym typeface="Geneva" pitchFamily="125" charset="-128"/>
              </a:rPr>
              <a:t>在每次循环结束时检查是否符合某个条件，决定是否继续循环</a:t>
            </a:r>
            <a:endParaRPr lang="en-US" altLang="zh-CN" sz="2000">
              <a:solidFill>
                <a:srgbClr val="000000"/>
              </a:solidFill>
            </a:endParaRPr>
          </a:p>
          <a:p>
            <a:pPr marL="1106488" lvl="2" indent="-152400">
              <a:spcBef>
                <a:spcPts val="700"/>
              </a:spcBef>
              <a:buNone/>
            </a:pPr>
            <a:r>
              <a:rPr lang="en-US" altLang="zh-CN" sz="180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		int i=5;</a:t>
            </a:r>
            <a:br>
              <a:rPr lang="en-US" altLang="zh-CN" sz="180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</a:br>
            <a:r>
              <a:rPr lang="en-US" altLang="zh-CN" sz="180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	do {</a:t>
            </a:r>
            <a:br>
              <a:rPr lang="en-US" altLang="zh-CN" sz="180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</a:br>
            <a:r>
              <a:rPr lang="en-US" altLang="zh-CN" sz="180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	    print( "Loop: "+i );</a:t>
            </a:r>
            <a:br>
              <a:rPr lang="en-US" altLang="zh-CN" sz="180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</a:br>
            <a:r>
              <a:rPr lang="en-US" altLang="zh-CN" sz="180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	    i++;      // </a:t>
            </a:r>
            <a:r>
              <a:rPr lang="zh-CN" altLang="en-US" sz="180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自增运算符</a:t>
            </a:r>
            <a:br>
              <a:rPr lang="en-US" altLang="zh-CN" sz="180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</a:br>
            <a:r>
              <a:rPr lang="en-US" altLang="zh-CN" sz="180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	} while (i&lt;3);                    </a:t>
            </a:r>
          </a:p>
          <a:p>
            <a:pPr marL="750888" lvl="1" indent="-254000">
              <a:spcBef>
                <a:spcPts val="1100"/>
              </a:spcBef>
              <a:buFontTx/>
              <a:buChar char="–"/>
            </a:pPr>
            <a:r>
              <a:rPr lang="zh-CN" altLang="en-US" sz="2000">
                <a:solidFill>
                  <a:srgbClr val="000000"/>
                </a:solidFill>
              </a:rPr>
              <a:t>在判断条件子句之前，先执行一次循环，然后退出</a:t>
            </a:r>
            <a:endParaRPr lang="en-US" altLang="zh-CN" sz="2000">
              <a:solidFill>
                <a:srgbClr val="000000"/>
              </a:solidFill>
            </a:endParaRPr>
          </a:p>
          <a:p>
            <a:pPr marL="750888" lvl="1" indent="-254000">
              <a:spcBef>
                <a:spcPts val="1100"/>
              </a:spcBef>
              <a:buFontTx/>
              <a:buChar char="–"/>
            </a:pPr>
            <a:r>
              <a:rPr lang="en-US" altLang="zh-CN" sz="2000">
                <a:solidFill>
                  <a:srgbClr val="000000"/>
                </a:solidFill>
              </a:rPr>
              <a:t>注意 while 子句后的分号</a:t>
            </a:r>
            <a:endParaRPr lang="zh-CN" altLang="en-US" sz="1800">
              <a:solidFill>
                <a:srgbClr val="000000"/>
              </a:solidFill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2E220865-E605-A5AE-0028-0EDFA1341721}"/>
              </a:ext>
            </a:extLst>
          </p:cNvPr>
          <p:cNvGrpSpPr/>
          <p:nvPr/>
        </p:nvGrpSpPr>
        <p:grpSpPr>
          <a:xfrm>
            <a:off x="4534827" y="251474"/>
            <a:ext cx="3122345" cy="490115"/>
            <a:chOff x="4840431" y="207541"/>
            <a:chExt cx="3122345" cy="490115"/>
          </a:xfrm>
        </p:grpSpPr>
        <p:pic>
          <p:nvPicPr>
            <p:cNvPr id="5" name="Picture 4" descr="黑爵(AJAZZ)手柄/方向盘AG180报价_参数_图片_视频_怎么样_问答-苏宁易购">
              <a:extLst>
                <a:ext uri="{FF2B5EF4-FFF2-40B4-BE49-F238E27FC236}">
                  <a16:creationId xmlns:a16="http://schemas.microsoft.com/office/drawing/2014/main" id="{0095B5C1-C0C6-1F1F-F2E5-8143EA4F88F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45" t="9275" r="3752" b="5379"/>
            <a:stretch/>
          </p:blipFill>
          <p:spPr bwMode="auto">
            <a:xfrm>
              <a:off x="4840431" y="321039"/>
              <a:ext cx="407315" cy="37661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Rectangle 3">
              <a:extLst>
                <a:ext uri="{FF2B5EF4-FFF2-40B4-BE49-F238E27FC236}">
                  <a16:creationId xmlns:a16="http://schemas.microsoft.com/office/drawing/2014/main" id="{6FC1C542-719A-B112-0CC5-C765EF3CC48C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5298545" y="207541"/>
              <a:ext cx="2664231" cy="471065"/>
            </a:xfrm>
            <a:prstGeom prst="rect">
              <a:avLst/>
            </a:prstGeom>
            <a:noFill/>
          </p:spPr>
          <p:txBody>
            <a:bodyPr lIns="90488" tIns="44450" rIns="90488" bIns="44450"/>
            <a:lstStyle>
              <a:lvl1pPr marL="171450" indent="-17145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1pPr>
              <a:lvl2pPr marL="5143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8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2pPr>
              <a:lvl3pPr marL="8572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3pPr>
              <a:lvl4pPr marL="12001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4pPr>
              <a:lvl5pPr marL="15430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fontAlgn="base">
                <a:lnSpc>
                  <a:spcPct val="100000"/>
                </a:lnSpc>
                <a:buNone/>
              </a:pPr>
              <a:r>
                <a:rPr lang="zh-CN" altLang="en-US" sz="3200" dirty="0">
                  <a:latin typeface="Times New Roman" panose="02020603050405020304" pitchFamily="18" charset="0"/>
                  <a:ea typeface="楷体" panose="02010609060101010101" pitchFamily="49" charset="-122"/>
                  <a:sym typeface="+mn-ea"/>
                </a:rPr>
                <a:t>四种循环语句</a:t>
              </a:r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1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1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1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19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19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19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19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6" grpId="0" build="p" bldLvl="5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4">
            <a:extLst>
              <a:ext uri="{FF2B5EF4-FFF2-40B4-BE49-F238E27FC236}">
                <a16:creationId xmlns:a16="http://schemas.microsoft.com/office/drawing/2014/main" id="{6D9CCE99-11E2-4461-0ACA-DBED7F954B09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>
          <a:xfrm>
            <a:off x="1981200" y="1104900"/>
            <a:ext cx="8229600" cy="5321300"/>
          </a:xfrm>
          <a:prstGeom prst="rect">
            <a:avLst/>
          </a:prstGeom>
        </p:spPr>
        <p:txBody>
          <a:bodyPr/>
          <a:lstStyle/>
          <a:p>
            <a:pPr eaLnBrk="1"/>
            <a:r>
              <a:rPr lang="en-US" altLang="zh-CN" dirty="0">
                <a:latin typeface="Courier" pitchFamily="125" charset="0"/>
                <a:sym typeface="Courier" pitchFamily="125" charset="0"/>
              </a:rPr>
              <a:t>for</a:t>
            </a:r>
          </a:p>
          <a:p>
            <a:pPr marL="750888" lvl="1" indent="-254000">
              <a:spcBef>
                <a:spcPts val="1100"/>
              </a:spcBef>
              <a:buFontTx/>
              <a:buChar char="–"/>
            </a:pPr>
            <a:r>
              <a:rPr lang="en-US" altLang="zh-CN" sz="2000" dirty="0" err="1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for</a:t>
            </a:r>
            <a:r>
              <a:rPr lang="en-US" altLang="zh-CN" sz="2000" dirty="0" err="1">
                <a:solidFill>
                  <a:srgbClr val="000000"/>
                </a:solidFill>
                <a:sym typeface="Courier" pitchFamily="125" charset="0"/>
              </a:rPr>
              <a:t>循环</a:t>
            </a:r>
            <a:r>
              <a:rPr lang="en-US" altLang="zh-CN" sz="2000" dirty="0" err="1">
                <a:solidFill>
                  <a:srgbClr val="000000"/>
                </a:solidFill>
              </a:rPr>
              <a:t>包含三个独立的子句</a:t>
            </a:r>
            <a:endParaRPr lang="en-US" altLang="zh-CN" sz="2000" dirty="0">
              <a:solidFill>
                <a:srgbClr val="000000"/>
              </a:solidFill>
            </a:endParaRPr>
          </a:p>
          <a:p>
            <a:pPr marL="736600" lvl="2" indent="-101600">
              <a:spcBef>
                <a:spcPts val="700"/>
              </a:spcBef>
              <a:buNone/>
            </a:pPr>
            <a:r>
              <a:rPr lang="en-US" altLang="zh-CN" sz="18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		for (int </a:t>
            </a:r>
            <a:r>
              <a:rPr lang="en-US" altLang="zh-CN" sz="1800" dirty="0" err="1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i</a:t>
            </a:r>
            <a:r>
              <a:rPr lang="en-US" altLang="zh-CN" sz="18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=0; </a:t>
            </a:r>
            <a:r>
              <a:rPr lang="en-US" altLang="zh-CN" sz="1800" dirty="0" err="1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i</a:t>
            </a:r>
            <a:r>
              <a:rPr lang="en-US" altLang="zh-CN" sz="18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&lt;3; </a:t>
            </a:r>
            <a:r>
              <a:rPr lang="en-US" altLang="zh-CN" sz="1800" dirty="0" err="1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i</a:t>
            </a:r>
            <a:r>
              <a:rPr lang="en-US" altLang="zh-CN" sz="18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++) {</a:t>
            </a:r>
            <a:br>
              <a:rPr lang="en-US" altLang="zh-CN" sz="18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</a:br>
            <a:r>
              <a:rPr lang="en-US" altLang="zh-CN" sz="18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	    print( "Loop: "+</a:t>
            </a:r>
            <a:r>
              <a:rPr lang="en-US" altLang="zh-CN" sz="1800" dirty="0" err="1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i</a:t>
            </a:r>
            <a:r>
              <a:rPr lang="en-US" altLang="zh-CN" sz="18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 );</a:t>
            </a:r>
            <a:br>
              <a:rPr lang="en-US" altLang="zh-CN" sz="18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</a:br>
            <a:r>
              <a:rPr lang="en-US" altLang="zh-CN" sz="18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	}</a:t>
            </a:r>
          </a:p>
          <a:p>
            <a:pPr marL="750888" lvl="1" indent="-254000">
              <a:spcBef>
                <a:spcPts val="1100"/>
              </a:spcBef>
              <a:buFontTx/>
              <a:buChar char="–"/>
            </a:pPr>
            <a:r>
              <a:rPr lang="zh-CN" altLang="en-US" sz="2000" dirty="0">
                <a:solidFill>
                  <a:srgbClr val="000000"/>
                </a:solidFill>
              </a:rPr>
              <a:t>初始化子句</a:t>
            </a:r>
            <a:r>
              <a:rPr lang="en-US" altLang="zh-CN" sz="2000" dirty="0">
                <a:solidFill>
                  <a:srgbClr val="000000"/>
                </a:solidFill>
              </a:rPr>
              <a:t>:	</a:t>
            </a:r>
            <a:r>
              <a:rPr lang="en-US" altLang="zh-CN" sz="18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int </a:t>
            </a:r>
            <a:r>
              <a:rPr lang="en-US" altLang="zh-CN" sz="1800" dirty="0" err="1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i</a:t>
            </a:r>
            <a:r>
              <a:rPr lang="en-US" altLang="zh-CN" sz="18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=0;</a:t>
            </a:r>
          </a:p>
          <a:p>
            <a:pPr marL="750888" lvl="1" indent="-254000">
              <a:spcBef>
                <a:spcPts val="1100"/>
              </a:spcBef>
              <a:buFontTx/>
              <a:buChar char="–"/>
            </a:pPr>
            <a:r>
              <a:rPr lang="zh-CN" altLang="en-US" sz="2000" dirty="0">
                <a:solidFill>
                  <a:srgbClr val="000000"/>
                </a:solidFill>
              </a:rPr>
              <a:t>条件子句</a:t>
            </a:r>
            <a:r>
              <a:rPr lang="en-US" altLang="zh-CN" sz="2000" dirty="0">
                <a:solidFill>
                  <a:srgbClr val="000000"/>
                </a:solidFill>
              </a:rPr>
              <a:t>:	</a:t>
            </a:r>
            <a:r>
              <a:rPr lang="en-US" altLang="zh-CN" sz="1800" dirty="0" err="1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i</a:t>
            </a:r>
            <a:r>
              <a:rPr lang="en-US" altLang="zh-CN" sz="18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&lt;3;</a:t>
            </a:r>
          </a:p>
          <a:p>
            <a:pPr marL="750888" lvl="1" indent="-254000">
              <a:spcBef>
                <a:spcPts val="1100"/>
              </a:spcBef>
              <a:buFontTx/>
              <a:buChar char="–"/>
            </a:pPr>
            <a:r>
              <a:rPr lang="zh-CN" altLang="en-US" sz="2000" dirty="0">
                <a:solidFill>
                  <a:srgbClr val="000000"/>
                </a:solidFill>
              </a:rPr>
              <a:t>循环子句</a:t>
            </a:r>
            <a:r>
              <a:rPr lang="en-US" altLang="zh-CN" sz="2000" dirty="0">
                <a:solidFill>
                  <a:srgbClr val="000000"/>
                </a:solidFill>
              </a:rPr>
              <a:t>:	</a:t>
            </a:r>
            <a:r>
              <a:rPr lang="en-US" altLang="zh-CN" sz="1800" dirty="0" err="1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i</a:t>
            </a:r>
            <a:r>
              <a:rPr lang="en-US" altLang="zh-CN" sz="18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++;</a:t>
            </a:r>
          </a:p>
          <a:p>
            <a:pPr marL="750888" lvl="1" indent="-254000">
              <a:spcBef>
                <a:spcPts val="1100"/>
              </a:spcBef>
              <a:buFontTx/>
              <a:buChar char="–"/>
            </a:pPr>
            <a:r>
              <a:rPr lang="en-US" altLang="zh-CN" sz="1800" dirty="0" err="1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i</a:t>
            </a:r>
            <a:r>
              <a:rPr lang="zh-CN" altLang="en-US" sz="20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变量仅在</a:t>
            </a:r>
            <a:r>
              <a:rPr lang="en-US" altLang="zh-CN" sz="20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for</a:t>
            </a:r>
            <a:r>
              <a:rPr lang="zh-CN" altLang="en-US" sz="2000" dirty="0">
                <a:solidFill>
                  <a:srgbClr val="000000"/>
                </a:solidFill>
              </a:rPr>
              <a:t>循环内存在</a:t>
            </a:r>
          </a:p>
          <a:p>
            <a:pPr marL="736600" lvl="2" indent="-101600">
              <a:spcBef>
                <a:spcPts val="700"/>
              </a:spcBef>
              <a:buFontTx/>
              <a:buChar char="•"/>
            </a:pPr>
            <a:r>
              <a:rPr lang="zh-CN" altLang="en-US" sz="18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它的作用域限制在</a:t>
            </a:r>
            <a:r>
              <a:rPr lang="en-US" altLang="zh-CN" sz="18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for</a:t>
            </a:r>
            <a:r>
              <a:rPr lang="zh-CN" altLang="en-US" sz="1800" dirty="0">
                <a:solidFill>
                  <a:srgbClr val="000000"/>
                </a:solidFill>
              </a:rPr>
              <a:t>循环内</a:t>
            </a:r>
            <a:endParaRPr lang="en-US" altLang="zh-CN" sz="1800" dirty="0">
              <a:solidFill>
                <a:srgbClr val="000000"/>
              </a:solidFill>
            </a:endParaRPr>
          </a:p>
          <a:p>
            <a:pPr marL="750888" lvl="1" indent="-254000">
              <a:spcBef>
                <a:spcPts val="1100"/>
              </a:spcBef>
              <a:buFontTx/>
              <a:buChar char="–"/>
            </a:pPr>
            <a:r>
              <a:rPr lang="zh-CN" altLang="en-US" sz="2000" dirty="0">
                <a:solidFill>
                  <a:srgbClr val="000000"/>
                </a:solidFill>
              </a:rPr>
              <a:t>循环子句不一定必须自增（</a:t>
            </a:r>
            <a:r>
              <a:rPr lang="en-US" altLang="zh-CN" sz="20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++</a:t>
            </a:r>
            <a:r>
              <a:rPr lang="zh-CN" altLang="en-US" sz="2000" dirty="0">
                <a:solidFill>
                  <a:srgbClr val="000000"/>
                </a:solidFill>
                <a:latin typeface="Courier" pitchFamily="125" charset="0"/>
                <a:ea typeface="楷体" panose="02010609060101010101" pitchFamily="49" charset="-122"/>
                <a:sym typeface="Courier" pitchFamily="125" charset="0"/>
              </a:rPr>
              <a:t>）</a:t>
            </a:r>
            <a:endParaRPr lang="en-US" altLang="zh-CN" sz="2000" dirty="0">
              <a:solidFill>
                <a:srgbClr val="000000"/>
              </a:solidFill>
            </a:endParaRPr>
          </a:p>
          <a:p>
            <a:pPr marL="736600" lvl="2" indent="-101600">
              <a:spcBef>
                <a:spcPts val="700"/>
              </a:spcBef>
              <a:buFontTx/>
              <a:buChar char="•"/>
            </a:pPr>
            <a:r>
              <a:rPr lang="en-US" altLang="zh-CN" sz="1800" dirty="0">
                <a:solidFill>
                  <a:srgbClr val="000000"/>
                </a:solidFill>
                <a:sym typeface="Courier" pitchFamily="125" charset="0"/>
              </a:rPr>
              <a:t> </a:t>
            </a:r>
            <a:r>
              <a:rPr lang="en-US" altLang="zh-CN" sz="1800" dirty="0" err="1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i</a:t>
            </a:r>
            <a:r>
              <a:rPr lang="en-US" altLang="zh-CN" sz="18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--</a:t>
            </a:r>
            <a:r>
              <a:rPr lang="en-US" altLang="zh-CN" sz="1800" dirty="0">
                <a:solidFill>
                  <a:srgbClr val="000000"/>
                </a:solidFill>
              </a:rPr>
              <a:t> </a:t>
            </a:r>
            <a:r>
              <a:rPr lang="zh-CN" altLang="en-US" sz="1800" dirty="0">
                <a:solidFill>
                  <a:srgbClr val="000000"/>
                </a:solidFill>
              </a:rPr>
              <a:t>另一种常见的选择是用于倒计数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07FED649-B6B3-12C8-BE5F-C934A0F782C0}"/>
              </a:ext>
            </a:extLst>
          </p:cNvPr>
          <p:cNvGrpSpPr/>
          <p:nvPr/>
        </p:nvGrpSpPr>
        <p:grpSpPr>
          <a:xfrm>
            <a:off x="4534827" y="251474"/>
            <a:ext cx="3122345" cy="490115"/>
            <a:chOff x="4840431" y="207541"/>
            <a:chExt cx="3122345" cy="490115"/>
          </a:xfrm>
        </p:grpSpPr>
        <p:pic>
          <p:nvPicPr>
            <p:cNvPr id="4" name="Picture 4" descr="黑爵(AJAZZ)手柄/方向盘AG180报价_参数_图片_视频_怎么样_问答-苏宁易购">
              <a:extLst>
                <a:ext uri="{FF2B5EF4-FFF2-40B4-BE49-F238E27FC236}">
                  <a16:creationId xmlns:a16="http://schemas.microsoft.com/office/drawing/2014/main" id="{9428090D-D067-F900-A987-3836B554D18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45" t="9275" r="3752" b="5379"/>
            <a:stretch/>
          </p:blipFill>
          <p:spPr bwMode="auto">
            <a:xfrm>
              <a:off x="4840431" y="321039"/>
              <a:ext cx="407315" cy="37661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" name="Rectangle 3">
              <a:extLst>
                <a:ext uri="{FF2B5EF4-FFF2-40B4-BE49-F238E27FC236}">
                  <a16:creationId xmlns:a16="http://schemas.microsoft.com/office/drawing/2014/main" id="{280AF4D1-BFBF-3A68-149E-0BC9F71E2AAD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5298545" y="207541"/>
              <a:ext cx="2664231" cy="471065"/>
            </a:xfrm>
            <a:prstGeom prst="rect">
              <a:avLst/>
            </a:prstGeom>
            <a:noFill/>
          </p:spPr>
          <p:txBody>
            <a:bodyPr lIns="90488" tIns="44450" rIns="90488" bIns="44450"/>
            <a:lstStyle>
              <a:lvl1pPr marL="171450" indent="-17145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1pPr>
              <a:lvl2pPr marL="5143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8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2pPr>
              <a:lvl3pPr marL="8572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3pPr>
              <a:lvl4pPr marL="12001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4pPr>
              <a:lvl5pPr marL="15430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fontAlgn="base">
                <a:lnSpc>
                  <a:spcPct val="100000"/>
                </a:lnSpc>
                <a:buNone/>
              </a:pPr>
              <a:r>
                <a:rPr lang="zh-CN" altLang="en-US" sz="3200" dirty="0">
                  <a:latin typeface="Times New Roman" panose="02020603050405020304" pitchFamily="18" charset="0"/>
                  <a:ea typeface="楷体" panose="02010609060101010101" pitchFamily="49" charset="-122"/>
                  <a:sym typeface="+mn-ea"/>
                </a:rPr>
                <a:t>四种循环语句</a:t>
              </a:r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2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2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2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2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20" grpId="0" build="p" bldLvl="5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4" name="Rectangle 4">
            <a:extLst>
              <a:ext uri="{FF2B5EF4-FFF2-40B4-BE49-F238E27FC236}">
                <a16:creationId xmlns:a16="http://schemas.microsoft.com/office/drawing/2014/main" id="{F249CE0F-A0FD-49A0-25CC-A863273C11A7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>
          <a:xfrm>
            <a:off x="1981200" y="1104900"/>
            <a:ext cx="8229600" cy="5321300"/>
          </a:xfrm>
          <a:prstGeom prst="rect">
            <a:avLst/>
          </a:prstGeom>
        </p:spPr>
        <p:txBody>
          <a:bodyPr/>
          <a:lstStyle/>
          <a:p>
            <a:pPr eaLnBrk="1"/>
            <a:r>
              <a:rPr lang="en-US" altLang="zh-CN">
                <a:latin typeface="Courier" pitchFamily="125" charset="0"/>
                <a:sym typeface="Courier" pitchFamily="125" charset="0"/>
              </a:rPr>
              <a:t>foreach</a:t>
            </a:r>
          </a:p>
          <a:p>
            <a:pPr marL="750888" lvl="1" indent="-254000">
              <a:spcBef>
                <a:spcPts val="1100"/>
              </a:spcBef>
              <a:buFontTx/>
              <a:buChar char="–"/>
            </a:pPr>
            <a:r>
              <a:rPr lang="zh-CN" altLang="en-US" sz="2000">
                <a:solidFill>
                  <a:srgbClr val="000000"/>
                </a:solidFill>
              </a:rPr>
              <a:t>自动遍历一个可枚举对象或集合中的所有元素</a:t>
            </a:r>
            <a:endParaRPr lang="en-US" altLang="zh-CN" sz="2000">
              <a:solidFill>
                <a:srgbClr val="000000"/>
              </a:solidFill>
            </a:endParaRPr>
          </a:p>
          <a:p>
            <a:pPr marL="0" lvl="2" indent="0">
              <a:spcBef>
                <a:spcPts val="700"/>
              </a:spcBef>
              <a:buNone/>
            </a:pPr>
            <a:r>
              <a:rPr lang="en-US" altLang="zh-CN" sz="180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	string str = "Hello";</a:t>
            </a:r>
            <a:br>
              <a:rPr lang="en-US" altLang="zh-CN" sz="180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</a:br>
            <a:r>
              <a:rPr lang="en-US" altLang="zh-CN" sz="180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	foreach (char chr in str) {</a:t>
            </a:r>
            <a:br>
              <a:rPr lang="en-US" altLang="zh-CN" sz="180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</a:br>
            <a:r>
              <a:rPr lang="en-US" altLang="zh-CN" sz="180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	    print( chr );</a:t>
            </a:r>
            <a:br>
              <a:rPr lang="en-US" altLang="zh-CN" sz="180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</a:br>
            <a:r>
              <a:rPr lang="en-US" altLang="zh-CN" sz="180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	}</a:t>
            </a:r>
          </a:p>
          <a:p>
            <a:pPr marL="750888" lvl="1" indent="-254000">
              <a:spcBef>
                <a:spcPts val="1100"/>
              </a:spcBef>
              <a:buFontTx/>
              <a:buChar char="–"/>
            </a:pPr>
            <a:r>
              <a:rPr lang="zh-CN" altLang="en-US" sz="2000">
                <a:solidFill>
                  <a:srgbClr val="000000"/>
                </a:solidFill>
              </a:rPr>
              <a:t>这将逐个打印出</a:t>
            </a:r>
            <a:r>
              <a:rPr lang="en-US" altLang="zh-CN" sz="200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Hello</a:t>
            </a:r>
            <a:r>
              <a:rPr lang="zh-CN" altLang="en-US" sz="2000">
                <a:solidFill>
                  <a:srgbClr val="000000"/>
                </a:solidFill>
              </a:rPr>
              <a:t>中的每个字符</a:t>
            </a:r>
            <a:endParaRPr lang="en-US" altLang="zh-CN" sz="2000">
              <a:solidFill>
                <a:srgbClr val="000000"/>
              </a:solidFill>
            </a:endParaRPr>
          </a:p>
          <a:p>
            <a:pPr marL="750888" lvl="1" indent="-254000">
              <a:spcBef>
                <a:spcPts val="1100"/>
              </a:spcBef>
              <a:buFontTx/>
              <a:buChar char="–"/>
            </a:pPr>
            <a:r>
              <a:rPr lang="en-US" altLang="zh-CN" sz="200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foreach</a:t>
            </a:r>
            <a:r>
              <a:rPr lang="zh-CN" altLang="en-US" sz="2000">
                <a:solidFill>
                  <a:srgbClr val="000000"/>
                </a:solidFill>
              </a:rPr>
              <a:t>将在接下来的章节中被广泛使用</a:t>
            </a:r>
            <a:endParaRPr lang="en-US" altLang="zh-CN" sz="1800">
              <a:solidFill>
                <a:srgbClr val="000000"/>
              </a:solidFill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56DB1E00-F45B-299F-D0D0-DD119586BEFF}"/>
              </a:ext>
            </a:extLst>
          </p:cNvPr>
          <p:cNvGrpSpPr/>
          <p:nvPr/>
        </p:nvGrpSpPr>
        <p:grpSpPr>
          <a:xfrm>
            <a:off x="4534827" y="251474"/>
            <a:ext cx="3122345" cy="490115"/>
            <a:chOff x="4840431" y="207541"/>
            <a:chExt cx="3122345" cy="490115"/>
          </a:xfrm>
        </p:grpSpPr>
        <p:pic>
          <p:nvPicPr>
            <p:cNvPr id="5" name="Picture 4" descr="黑爵(AJAZZ)手柄/方向盘AG180报价_参数_图片_视频_怎么样_问答-苏宁易购">
              <a:extLst>
                <a:ext uri="{FF2B5EF4-FFF2-40B4-BE49-F238E27FC236}">
                  <a16:creationId xmlns:a16="http://schemas.microsoft.com/office/drawing/2014/main" id="{1C8485BF-C9F9-B3B4-1376-0DD80940C1E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45" t="9275" r="3752" b="5379"/>
            <a:stretch/>
          </p:blipFill>
          <p:spPr bwMode="auto">
            <a:xfrm>
              <a:off x="4840431" y="321039"/>
              <a:ext cx="407315" cy="37661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Rectangle 3">
              <a:extLst>
                <a:ext uri="{FF2B5EF4-FFF2-40B4-BE49-F238E27FC236}">
                  <a16:creationId xmlns:a16="http://schemas.microsoft.com/office/drawing/2014/main" id="{9DCCE6F4-3174-781C-68DB-90BFF02C1689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5298545" y="207541"/>
              <a:ext cx="2664231" cy="471065"/>
            </a:xfrm>
            <a:prstGeom prst="rect">
              <a:avLst/>
            </a:prstGeom>
            <a:noFill/>
          </p:spPr>
          <p:txBody>
            <a:bodyPr lIns="90488" tIns="44450" rIns="90488" bIns="44450"/>
            <a:lstStyle>
              <a:lvl1pPr marL="171450" indent="-17145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1pPr>
              <a:lvl2pPr marL="5143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8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2pPr>
              <a:lvl3pPr marL="8572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3pPr>
              <a:lvl4pPr marL="12001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4pPr>
              <a:lvl5pPr marL="15430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fontAlgn="base">
                <a:lnSpc>
                  <a:spcPct val="100000"/>
                </a:lnSpc>
                <a:buNone/>
              </a:pPr>
              <a:r>
                <a:rPr lang="zh-CN" altLang="en-US" sz="3200" dirty="0">
                  <a:latin typeface="Times New Roman" panose="02020603050405020304" pitchFamily="18" charset="0"/>
                  <a:ea typeface="楷体" panose="02010609060101010101" pitchFamily="49" charset="-122"/>
                  <a:sym typeface="+mn-ea"/>
                </a:rPr>
                <a:t>四种循环语句</a:t>
              </a:r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4" grpId="0" build="p" bldLvl="5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8" name="Rectangle 4">
            <a:extLst>
              <a:ext uri="{FF2B5EF4-FFF2-40B4-BE49-F238E27FC236}">
                <a16:creationId xmlns:a16="http://schemas.microsoft.com/office/drawing/2014/main" id="{BCE9C510-A8F2-21B8-41C5-ECBF86FD5591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>
          <a:xfrm>
            <a:off x="1981200" y="1104900"/>
            <a:ext cx="8229600" cy="5321300"/>
          </a:xfrm>
          <a:prstGeom prst="rect">
            <a:avLst/>
          </a:prstGeom>
        </p:spPr>
        <p:txBody>
          <a:bodyPr/>
          <a:lstStyle/>
          <a:p>
            <a:pPr eaLnBrk="1"/>
            <a:r>
              <a:rPr lang="zh-CN" altLang="en-US" dirty="0"/>
              <a:t>跳转语句会改变循环的执行流程</a:t>
            </a:r>
            <a:endParaRPr lang="en-US" altLang="zh-CN" dirty="0"/>
          </a:p>
          <a:p>
            <a:pPr marL="750888" lvl="1" indent="-254000">
              <a:spcBef>
                <a:spcPts val="1100"/>
              </a:spcBef>
              <a:buFontTx/>
              <a:buChar char="–"/>
            </a:pPr>
            <a:r>
              <a:rPr lang="en-US" altLang="zh-CN" sz="20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break</a:t>
            </a:r>
            <a:endParaRPr lang="en-US" altLang="zh-CN" sz="2000" dirty="0">
              <a:solidFill>
                <a:srgbClr val="000000"/>
              </a:solidFill>
            </a:endParaRPr>
          </a:p>
          <a:p>
            <a:pPr marL="1106488" lvl="2" indent="-152400">
              <a:spcBef>
                <a:spcPts val="700"/>
              </a:spcBef>
              <a:buFontTx/>
              <a:buChar char="•"/>
            </a:pPr>
            <a:r>
              <a:rPr lang="zh-CN" altLang="en-US" sz="1800" dirty="0">
                <a:solidFill>
                  <a:srgbClr val="000000"/>
                </a:solidFill>
              </a:rPr>
              <a:t>完全跳出循环</a:t>
            </a:r>
            <a:endParaRPr lang="en-US" altLang="zh-CN" sz="1800" dirty="0">
              <a:solidFill>
                <a:srgbClr val="000000"/>
              </a:solidFill>
            </a:endParaRPr>
          </a:p>
          <a:p>
            <a:pPr marL="750888" lvl="1" indent="-254000">
              <a:spcBef>
                <a:spcPts val="1100"/>
              </a:spcBef>
              <a:buFontTx/>
              <a:buChar char="–"/>
            </a:pPr>
            <a:r>
              <a:rPr lang="en-US" altLang="zh-CN" sz="20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continue</a:t>
            </a:r>
            <a:endParaRPr lang="en-US" altLang="zh-CN" sz="2000" dirty="0">
              <a:solidFill>
                <a:srgbClr val="000000"/>
              </a:solidFill>
            </a:endParaRPr>
          </a:p>
          <a:p>
            <a:pPr marL="1106488" lvl="2" indent="-152400">
              <a:spcBef>
                <a:spcPts val="700"/>
              </a:spcBef>
              <a:buFontTx/>
              <a:buChar char="•"/>
            </a:pPr>
            <a:r>
              <a:rPr lang="zh-CN" altLang="en-US" sz="1800" dirty="0">
                <a:solidFill>
                  <a:srgbClr val="000000"/>
                </a:solidFill>
              </a:rPr>
              <a:t>使程序跳过本次循环的剩余部分，并继续执行下次循环</a:t>
            </a:r>
            <a:endParaRPr lang="en-US" altLang="zh-CN" sz="1800" dirty="0">
              <a:solidFill>
                <a:srgbClr val="000000"/>
              </a:solidFill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BC816788-B17C-322F-AB24-F30F27B7E24A}"/>
              </a:ext>
            </a:extLst>
          </p:cNvPr>
          <p:cNvGrpSpPr/>
          <p:nvPr/>
        </p:nvGrpSpPr>
        <p:grpSpPr>
          <a:xfrm>
            <a:off x="4131773" y="251474"/>
            <a:ext cx="3928453" cy="490115"/>
            <a:chOff x="4840431" y="207541"/>
            <a:chExt cx="3928453" cy="490115"/>
          </a:xfrm>
        </p:grpSpPr>
        <p:pic>
          <p:nvPicPr>
            <p:cNvPr id="4" name="Picture 4" descr="黑爵(AJAZZ)手柄/方向盘AG180报价_参数_图片_视频_怎么样_问答-苏宁易购">
              <a:extLst>
                <a:ext uri="{FF2B5EF4-FFF2-40B4-BE49-F238E27FC236}">
                  <a16:creationId xmlns:a16="http://schemas.microsoft.com/office/drawing/2014/main" id="{0BCF0C18-CD3B-200D-7577-A0A4C4D1D11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45" t="9275" r="3752" b="5379"/>
            <a:stretch/>
          </p:blipFill>
          <p:spPr bwMode="auto">
            <a:xfrm>
              <a:off x="4840431" y="321039"/>
              <a:ext cx="407315" cy="37661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" name="Rectangle 3">
              <a:extLst>
                <a:ext uri="{FF2B5EF4-FFF2-40B4-BE49-F238E27FC236}">
                  <a16:creationId xmlns:a16="http://schemas.microsoft.com/office/drawing/2014/main" id="{19DD4B02-097D-FD14-D66F-8CEE30B95E5B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5298545" y="207541"/>
              <a:ext cx="3470339" cy="471065"/>
            </a:xfrm>
            <a:prstGeom prst="rect">
              <a:avLst/>
            </a:prstGeom>
            <a:noFill/>
          </p:spPr>
          <p:txBody>
            <a:bodyPr lIns="90488" tIns="44450" rIns="90488" bIns="44450"/>
            <a:lstStyle>
              <a:lvl1pPr marL="171450" indent="-17145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1pPr>
              <a:lvl2pPr marL="5143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8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2pPr>
              <a:lvl3pPr marL="8572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3pPr>
              <a:lvl4pPr marL="12001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4pPr>
              <a:lvl5pPr marL="15430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fontAlgn="base">
                <a:lnSpc>
                  <a:spcPct val="100000"/>
                </a:lnSpc>
                <a:buNone/>
              </a:pPr>
              <a:r>
                <a:rPr lang="zh-CN" altLang="en-US" sz="3200" dirty="0">
                  <a:latin typeface="Times New Roman" panose="02020603050405020304" pitchFamily="18" charset="0"/>
                  <a:ea typeface="楷体" panose="02010609060101010101" pitchFamily="49" charset="-122"/>
                  <a:sym typeface="+mn-ea"/>
                </a:rPr>
                <a:t>循环中的跳转语句</a:t>
              </a:r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8" grpId="0" build="p" bldLvl="5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2" name="Rectangle 4">
            <a:extLst>
              <a:ext uri="{FF2B5EF4-FFF2-40B4-BE49-F238E27FC236}">
                <a16:creationId xmlns:a16="http://schemas.microsoft.com/office/drawing/2014/main" id="{524D7893-57E6-3FDA-589C-9EF3307B3FFA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>
          <a:xfrm>
            <a:off x="1981200" y="1104900"/>
            <a:ext cx="8229600" cy="5321300"/>
          </a:xfrm>
          <a:prstGeom prst="rect">
            <a:avLst/>
          </a:prstGeom>
        </p:spPr>
        <p:txBody>
          <a:bodyPr/>
          <a:lstStyle/>
          <a:p>
            <a:pPr eaLnBrk="1"/>
            <a:r>
              <a:rPr lang="en-US" altLang="zh-CN">
                <a:latin typeface="Courier" pitchFamily="125" charset="0"/>
                <a:sym typeface="Courier" pitchFamily="125" charset="0"/>
              </a:rPr>
              <a:t>break</a:t>
            </a:r>
            <a:endParaRPr lang="en-US" altLang="zh-CN"/>
          </a:p>
          <a:p>
            <a:pPr marL="750888" lvl="1" indent="-254000">
              <a:spcBef>
                <a:spcPts val="1100"/>
              </a:spcBef>
              <a:buFontTx/>
              <a:buChar char="–"/>
            </a:pPr>
            <a:r>
              <a:rPr lang="en-US" altLang="zh-CN" sz="2000">
                <a:solidFill>
                  <a:srgbClr val="000000"/>
                </a:solidFill>
              </a:rPr>
              <a:t>完全跳出循环</a:t>
            </a:r>
          </a:p>
          <a:p>
            <a:pPr marL="0" lvl="2" indent="0">
              <a:spcBef>
                <a:spcPts val="700"/>
              </a:spcBef>
              <a:buNone/>
            </a:pPr>
            <a:r>
              <a:rPr lang="en-US" altLang="zh-CN" sz="180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	string str = "Hello";</a:t>
            </a:r>
            <a:br>
              <a:rPr lang="en-US" altLang="zh-CN" sz="180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</a:br>
            <a:r>
              <a:rPr lang="en-US" altLang="zh-CN" sz="180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	foreach (char chr in str) {</a:t>
            </a:r>
            <a:br>
              <a:rPr lang="en-US" altLang="zh-CN" sz="180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</a:br>
            <a:r>
              <a:rPr lang="en-US" altLang="zh-CN" sz="180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	    if (chr == 'l') {</a:t>
            </a:r>
          </a:p>
          <a:p>
            <a:pPr marL="0" lvl="2" indent="0">
              <a:spcBef>
                <a:spcPts val="700"/>
              </a:spcBef>
              <a:buNone/>
            </a:pPr>
            <a:r>
              <a:rPr lang="en-US" altLang="zh-CN" sz="180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	        break;</a:t>
            </a:r>
          </a:p>
          <a:p>
            <a:pPr marL="0" lvl="2" indent="0">
              <a:spcBef>
                <a:spcPts val="700"/>
              </a:spcBef>
              <a:buNone/>
            </a:pPr>
            <a:r>
              <a:rPr lang="en-US" altLang="zh-CN" sz="180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	    }</a:t>
            </a:r>
            <a:br>
              <a:rPr lang="en-US" altLang="zh-CN" sz="180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</a:br>
            <a:r>
              <a:rPr lang="en-US" altLang="zh-CN" sz="180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	    print( chr );</a:t>
            </a:r>
            <a:br>
              <a:rPr lang="en-US" altLang="zh-CN" sz="180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</a:br>
            <a:r>
              <a:rPr lang="en-US" altLang="zh-CN" sz="180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	}</a:t>
            </a:r>
          </a:p>
          <a:p>
            <a:pPr marL="750888" lvl="1" indent="-254000">
              <a:spcBef>
                <a:spcPts val="1100"/>
              </a:spcBef>
              <a:buFontTx/>
              <a:buChar char="–"/>
            </a:pPr>
            <a:r>
              <a:rPr lang="zh-CN" altLang="en-US" sz="2000">
                <a:solidFill>
                  <a:srgbClr val="000000"/>
                </a:solidFill>
              </a:rPr>
              <a:t>打印结果为</a:t>
            </a:r>
            <a:r>
              <a:rPr lang="en-US" altLang="zh-CN" sz="2000">
                <a:solidFill>
                  <a:srgbClr val="000000"/>
                </a:solidFill>
              </a:rPr>
              <a:t>:</a:t>
            </a:r>
          </a:p>
          <a:p>
            <a:pPr marL="0" lvl="2" indent="0">
              <a:spcBef>
                <a:spcPts val="700"/>
              </a:spcBef>
              <a:buNone/>
            </a:pPr>
            <a:r>
              <a:rPr lang="en-US" altLang="zh-CN" sz="180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	H</a:t>
            </a:r>
            <a:br>
              <a:rPr lang="en-US" altLang="zh-CN" sz="180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</a:br>
            <a:r>
              <a:rPr lang="en-US" altLang="zh-CN" sz="180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	e</a:t>
            </a:r>
            <a:endParaRPr lang="en-US" altLang="zh-CN">
              <a:solidFill>
                <a:srgbClr val="000000"/>
              </a:solidFill>
            </a:endParaRPr>
          </a:p>
          <a:p>
            <a:pPr marL="750888" lvl="1" indent="-254000">
              <a:spcBef>
                <a:spcPts val="1100"/>
              </a:spcBef>
              <a:buFontTx/>
              <a:buChar char="–"/>
            </a:pPr>
            <a:r>
              <a:rPr lang="zh-CN" altLang="en-US" sz="2000">
                <a:solidFill>
                  <a:srgbClr val="000000"/>
                </a:solidFill>
              </a:rPr>
              <a:t>一旦</a:t>
            </a:r>
            <a:r>
              <a:rPr lang="en-US" altLang="zh-CN" sz="200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chr</a:t>
            </a:r>
            <a:r>
              <a:rPr lang="zh-CN" altLang="en-US" sz="2000">
                <a:solidFill>
                  <a:srgbClr val="000000"/>
                </a:solidFill>
              </a:rPr>
              <a:t>的值变为</a:t>
            </a:r>
            <a:r>
              <a:rPr lang="en-US" altLang="zh-CN" sz="200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'l'</a:t>
            </a:r>
            <a:r>
              <a:rPr lang="en-US" altLang="zh-CN" sz="2000">
                <a:solidFill>
                  <a:srgbClr val="000000"/>
                </a:solidFill>
              </a:rPr>
              <a:t>, </a:t>
            </a:r>
            <a:r>
              <a:rPr lang="zh-CN" altLang="en-US" sz="2000">
                <a:solidFill>
                  <a:srgbClr val="000000"/>
                </a:solidFill>
              </a:rPr>
              <a:t>循环将会中断</a:t>
            </a:r>
            <a:endParaRPr lang="en-US" altLang="zh-CN" sz="2000">
              <a:solidFill>
                <a:srgbClr val="000000"/>
              </a:solidFill>
            </a:endParaRPr>
          </a:p>
          <a:p>
            <a:pPr marL="750888" lvl="1" indent="-254000">
              <a:spcBef>
                <a:spcPts val="1100"/>
              </a:spcBef>
              <a:buFontTx/>
              <a:buChar char="–"/>
            </a:pPr>
            <a:r>
              <a:rPr lang="zh-CN" altLang="en-US" sz="2000">
                <a:solidFill>
                  <a:srgbClr val="000000"/>
                </a:solidFill>
              </a:rPr>
              <a:t>可以用于任何类型的循环结构</a:t>
            </a:r>
            <a:endParaRPr lang="en-US" altLang="zh-CN" sz="1800">
              <a:solidFill>
                <a:srgbClr val="000000"/>
              </a:solidFill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376F4AE3-4C16-4FDF-F894-52D5C5C4D0DC}"/>
              </a:ext>
            </a:extLst>
          </p:cNvPr>
          <p:cNvGrpSpPr/>
          <p:nvPr/>
        </p:nvGrpSpPr>
        <p:grpSpPr>
          <a:xfrm>
            <a:off x="4131773" y="251474"/>
            <a:ext cx="3928453" cy="490115"/>
            <a:chOff x="4840431" y="207541"/>
            <a:chExt cx="3928453" cy="490115"/>
          </a:xfrm>
        </p:grpSpPr>
        <p:pic>
          <p:nvPicPr>
            <p:cNvPr id="5" name="Picture 4" descr="黑爵(AJAZZ)手柄/方向盘AG180报价_参数_图片_视频_怎么样_问答-苏宁易购">
              <a:extLst>
                <a:ext uri="{FF2B5EF4-FFF2-40B4-BE49-F238E27FC236}">
                  <a16:creationId xmlns:a16="http://schemas.microsoft.com/office/drawing/2014/main" id="{F6E67430-29C8-7FB5-6232-810A5C3951B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45" t="9275" r="3752" b="5379"/>
            <a:stretch/>
          </p:blipFill>
          <p:spPr bwMode="auto">
            <a:xfrm>
              <a:off x="4840431" y="321039"/>
              <a:ext cx="407315" cy="37661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Rectangle 3">
              <a:extLst>
                <a:ext uri="{FF2B5EF4-FFF2-40B4-BE49-F238E27FC236}">
                  <a16:creationId xmlns:a16="http://schemas.microsoft.com/office/drawing/2014/main" id="{21F645DE-CEE1-FA59-AC6F-943BBE9D545F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5298545" y="207541"/>
              <a:ext cx="3470339" cy="471065"/>
            </a:xfrm>
            <a:prstGeom prst="rect">
              <a:avLst/>
            </a:prstGeom>
            <a:noFill/>
          </p:spPr>
          <p:txBody>
            <a:bodyPr lIns="90488" tIns="44450" rIns="90488" bIns="44450"/>
            <a:lstStyle>
              <a:lvl1pPr marL="171450" indent="-17145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1pPr>
              <a:lvl2pPr marL="5143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8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2pPr>
              <a:lvl3pPr marL="8572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3pPr>
              <a:lvl4pPr marL="12001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4pPr>
              <a:lvl5pPr marL="15430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fontAlgn="base">
                <a:lnSpc>
                  <a:spcPct val="100000"/>
                </a:lnSpc>
                <a:buNone/>
              </a:pPr>
              <a:r>
                <a:rPr lang="zh-CN" altLang="en-US" sz="3200" dirty="0">
                  <a:latin typeface="Times New Roman" panose="02020603050405020304" pitchFamily="18" charset="0"/>
                  <a:ea typeface="楷体" panose="02010609060101010101" pitchFamily="49" charset="-122"/>
                  <a:sym typeface="+mn-ea"/>
                </a:rPr>
                <a:t>循环中的跳转语句</a:t>
              </a:r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2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2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2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29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29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29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29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29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29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2" grpId="0" build="p" bldLvl="5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6" name="Rectangle 4">
            <a:extLst>
              <a:ext uri="{FF2B5EF4-FFF2-40B4-BE49-F238E27FC236}">
                <a16:creationId xmlns:a16="http://schemas.microsoft.com/office/drawing/2014/main" id="{EC444F7B-44D5-9798-4E6E-D0B1EDEAFD29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>
          <a:xfrm>
            <a:off x="1981200" y="1104900"/>
            <a:ext cx="8229600" cy="5321300"/>
          </a:xfrm>
          <a:prstGeom prst="rect">
            <a:avLst/>
          </a:prstGeom>
        </p:spPr>
        <p:txBody>
          <a:bodyPr/>
          <a:lstStyle/>
          <a:p>
            <a:pPr eaLnBrk="1"/>
            <a:r>
              <a:rPr lang="en-US" altLang="zh-CN">
                <a:latin typeface="Courier" pitchFamily="125" charset="0"/>
                <a:sym typeface="Courier" pitchFamily="125" charset="0"/>
              </a:rPr>
              <a:t>continue</a:t>
            </a:r>
            <a:endParaRPr lang="en-US" altLang="zh-CN"/>
          </a:p>
          <a:p>
            <a:pPr marL="750888" lvl="1" indent="-254000">
              <a:spcBef>
                <a:spcPts val="1100"/>
              </a:spcBef>
              <a:buFontTx/>
              <a:buChar char="–"/>
            </a:pPr>
            <a:r>
              <a:rPr lang="en-US" altLang="zh-CN" sz="2000">
                <a:solidFill>
                  <a:srgbClr val="000000"/>
                </a:solidFill>
              </a:rPr>
              <a:t>使程序跳过本次循环的剩余部分，并继续执行下次循环</a:t>
            </a:r>
          </a:p>
          <a:p>
            <a:pPr marL="0" lvl="2" indent="0">
              <a:spcBef>
                <a:spcPts val="700"/>
              </a:spcBef>
              <a:buNone/>
            </a:pPr>
            <a:r>
              <a:rPr lang="en-US" altLang="zh-CN" sz="180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	string str = "Hello";</a:t>
            </a:r>
            <a:br>
              <a:rPr lang="en-US" altLang="zh-CN" sz="180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</a:br>
            <a:r>
              <a:rPr lang="en-US" altLang="zh-CN" sz="180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	foreach (char chr in str) {</a:t>
            </a:r>
            <a:br>
              <a:rPr lang="en-US" altLang="zh-CN" sz="180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</a:br>
            <a:r>
              <a:rPr lang="en-US" altLang="zh-CN" sz="180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	    if (chr == 'l') {</a:t>
            </a:r>
          </a:p>
          <a:p>
            <a:pPr marL="0" lvl="2" indent="0">
              <a:spcBef>
                <a:spcPts val="700"/>
              </a:spcBef>
              <a:buNone/>
            </a:pPr>
            <a:r>
              <a:rPr lang="en-US" altLang="zh-CN" sz="180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	        continue;</a:t>
            </a:r>
          </a:p>
          <a:p>
            <a:pPr marL="0" lvl="2" indent="0">
              <a:spcBef>
                <a:spcPts val="700"/>
              </a:spcBef>
              <a:buNone/>
            </a:pPr>
            <a:r>
              <a:rPr lang="en-US" altLang="zh-CN" sz="180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	    }</a:t>
            </a:r>
            <a:br>
              <a:rPr lang="en-US" altLang="zh-CN" sz="180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</a:br>
            <a:r>
              <a:rPr lang="en-US" altLang="zh-CN" sz="180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	    print( chr );</a:t>
            </a:r>
            <a:br>
              <a:rPr lang="en-US" altLang="zh-CN" sz="180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</a:br>
            <a:r>
              <a:rPr lang="en-US" altLang="zh-CN" sz="180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	}</a:t>
            </a:r>
          </a:p>
          <a:p>
            <a:pPr marL="750888" lvl="1" indent="-254000">
              <a:spcBef>
                <a:spcPts val="1100"/>
              </a:spcBef>
              <a:buFontTx/>
              <a:buChar char="–"/>
            </a:pPr>
            <a:r>
              <a:rPr lang="en-US" altLang="zh-CN" sz="2000">
                <a:solidFill>
                  <a:srgbClr val="000000"/>
                </a:solidFill>
              </a:rPr>
              <a:t>打印结果为:</a:t>
            </a:r>
          </a:p>
          <a:p>
            <a:pPr marL="0" lvl="2" indent="0">
              <a:spcBef>
                <a:spcPts val="700"/>
              </a:spcBef>
              <a:buNone/>
            </a:pPr>
            <a:r>
              <a:rPr lang="en-US" altLang="zh-CN" sz="180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	H</a:t>
            </a:r>
            <a:br>
              <a:rPr lang="en-US" altLang="zh-CN" sz="180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</a:br>
            <a:r>
              <a:rPr lang="en-US" altLang="zh-CN" sz="180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	e</a:t>
            </a:r>
            <a:br>
              <a:rPr lang="en-US" altLang="zh-CN" sz="180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</a:br>
            <a:r>
              <a:rPr lang="en-US" altLang="zh-CN" sz="180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	o</a:t>
            </a:r>
            <a:endParaRPr lang="en-US" altLang="zh-CN">
              <a:solidFill>
                <a:srgbClr val="000000"/>
              </a:solidFill>
            </a:endParaRPr>
          </a:p>
          <a:p>
            <a:pPr marL="750888" lvl="1" indent="-254000">
              <a:spcBef>
                <a:spcPts val="1100"/>
              </a:spcBef>
              <a:buFontTx/>
              <a:buChar char="–"/>
            </a:pPr>
            <a:r>
              <a:rPr lang="zh-CN" altLang="en-US" sz="200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当</a:t>
            </a:r>
            <a:r>
              <a:rPr lang="en-US" altLang="zh-CN" sz="200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chr</a:t>
            </a:r>
            <a:r>
              <a:rPr lang="zh-CN" altLang="en-US" sz="200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的值为</a:t>
            </a:r>
            <a:r>
              <a:rPr lang="en-US" altLang="zh-CN" sz="200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'l'</a:t>
            </a:r>
            <a:r>
              <a:rPr lang="zh-CN" altLang="en-US" sz="2000">
                <a:solidFill>
                  <a:srgbClr val="000000"/>
                </a:solidFill>
              </a:rPr>
              <a:t>时，循环将继续但不会打印</a:t>
            </a:r>
            <a:endParaRPr lang="en-US" altLang="zh-CN" sz="1800">
              <a:solidFill>
                <a:srgbClr val="000000"/>
              </a:solidFill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6DF1CD58-B919-269F-A80A-70D5ADC76A31}"/>
              </a:ext>
            </a:extLst>
          </p:cNvPr>
          <p:cNvGrpSpPr/>
          <p:nvPr/>
        </p:nvGrpSpPr>
        <p:grpSpPr>
          <a:xfrm>
            <a:off x="4131773" y="251474"/>
            <a:ext cx="3928453" cy="490115"/>
            <a:chOff x="4840431" y="207541"/>
            <a:chExt cx="3928453" cy="490115"/>
          </a:xfrm>
        </p:grpSpPr>
        <p:pic>
          <p:nvPicPr>
            <p:cNvPr id="5" name="Picture 4" descr="黑爵(AJAZZ)手柄/方向盘AG180报价_参数_图片_视频_怎么样_问答-苏宁易购">
              <a:extLst>
                <a:ext uri="{FF2B5EF4-FFF2-40B4-BE49-F238E27FC236}">
                  <a16:creationId xmlns:a16="http://schemas.microsoft.com/office/drawing/2014/main" id="{62D35F73-3058-D40F-E06A-EA0E8F8326D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45" t="9275" r="3752" b="5379"/>
            <a:stretch/>
          </p:blipFill>
          <p:spPr bwMode="auto">
            <a:xfrm>
              <a:off x="4840431" y="321039"/>
              <a:ext cx="407315" cy="37661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Rectangle 3">
              <a:extLst>
                <a:ext uri="{FF2B5EF4-FFF2-40B4-BE49-F238E27FC236}">
                  <a16:creationId xmlns:a16="http://schemas.microsoft.com/office/drawing/2014/main" id="{74E6ED63-8AB4-1632-2030-1AF4E0199ADB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5298545" y="207541"/>
              <a:ext cx="3470339" cy="471065"/>
            </a:xfrm>
            <a:prstGeom prst="rect">
              <a:avLst/>
            </a:prstGeom>
            <a:noFill/>
          </p:spPr>
          <p:txBody>
            <a:bodyPr lIns="90488" tIns="44450" rIns="90488" bIns="44450"/>
            <a:lstStyle>
              <a:lvl1pPr marL="171450" indent="-17145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1pPr>
              <a:lvl2pPr marL="5143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8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2pPr>
              <a:lvl3pPr marL="8572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3pPr>
              <a:lvl4pPr marL="12001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4pPr>
              <a:lvl5pPr marL="15430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fontAlgn="base">
                <a:lnSpc>
                  <a:spcPct val="100000"/>
                </a:lnSpc>
                <a:buNone/>
              </a:pPr>
              <a:r>
                <a:rPr lang="zh-CN" altLang="en-US" sz="3200" dirty="0">
                  <a:latin typeface="Times New Roman" panose="02020603050405020304" pitchFamily="18" charset="0"/>
                  <a:ea typeface="楷体" panose="02010609060101010101" pitchFamily="49" charset="-122"/>
                  <a:sym typeface="+mn-ea"/>
                </a:rPr>
                <a:t>循环中的跳转语句</a:t>
              </a:r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1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6" grpId="0" build="p" bldLvl="5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0" name="Rectangle 4">
            <a:extLst>
              <a:ext uri="{FF2B5EF4-FFF2-40B4-BE49-F238E27FC236}">
                <a16:creationId xmlns:a16="http://schemas.microsoft.com/office/drawing/2014/main" id="{FD14AD1C-BF22-FF53-5445-D8B0D83A2A67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>
          <a:xfrm>
            <a:off x="1981200" y="1104900"/>
            <a:ext cx="8229600" cy="4086860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条件语句</a:t>
            </a:r>
            <a:r>
              <a:rPr lang="en-US" altLang="zh-CN" dirty="0"/>
              <a:t>:</a:t>
            </a:r>
            <a:r>
              <a:rPr lang="en-US" altLang="zh-CN" dirty="0">
                <a:latin typeface="Courier" pitchFamily="125" charset="0"/>
                <a:sym typeface="Courier" pitchFamily="125" charset="0"/>
              </a:rPr>
              <a:t>   </a:t>
            </a:r>
            <a:r>
              <a:rPr lang="en-US" altLang="zh-CN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if  if…else  switch</a:t>
            </a:r>
            <a:endParaRPr lang="en-US" altLang="zh-CN" dirty="0">
              <a:solidFill>
                <a:srgbClr val="000000"/>
              </a:solidFill>
            </a:endParaRPr>
          </a:p>
          <a:p>
            <a:pPr marL="750888" lvl="1" indent="-254000">
              <a:spcBef>
                <a:spcPts val="1100"/>
              </a:spcBef>
              <a:buFontTx/>
              <a:buChar char="–"/>
            </a:pPr>
            <a:r>
              <a:rPr lang="en-US" altLang="zh-CN" sz="2000" dirty="0">
                <a:solidFill>
                  <a:srgbClr val="000000"/>
                </a:solidFill>
              </a:rPr>
              <a:t>If </a:t>
            </a:r>
            <a:r>
              <a:rPr lang="zh-CN" altLang="en-US" sz="2000" dirty="0">
                <a:solidFill>
                  <a:srgbClr val="000000"/>
                </a:solidFill>
              </a:rPr>
              <a:t>和 </a:t>
            </a:r>
            <a:r>
              <a:rPr lang="en-US" altLang="zh-CN" sz="2000" dirty="0">
                <a:solidFill>
                  <a:srgbClr val="000000"/>
                </a:solidFill>
              </a:rPr>
              <a:t>switch </a:t>
            </a:r>
            <a:r>
              <a:rPr lang="zh-CN" altLang="en-US" sz="2000" dirty="0">
                <a:solidFill>
                  <a:srgbClr val="000000"/>
                </a:solidFill>
              </a:rPr>
              <a:t>语句可以复杂的结合使用</a:t>
            </a:r>
            <a:endParaRPr lang="en-US" altLang="zh-CN" dirty="0"/>
          </a:p>
          <a:p>
            <a:pPr eaLnBrk="1"/>
            <a:r>
              <a:rPr lang="zh-CN" altLang="en-US" dirty="0"/>
              <a:t>四种循环语句</a:t>
            </a:r>
            <a:r>
              <a:rPr lang="en-US" altLang="zh-CN" dirty="0"/>
              <a:t>:</a:t>
            </a:r>
          </a:p>
          <a:p>
            <a:pPr marL="750888" lvl="1" indent="-254000">
              <a:spcBef>
                <a:spcPts val="1100"/>
              </a:spcBef>
              <a:buFontTx/>
              <a:buChar char="–"/>
            </a:pPr>
            <a:r>
              <a:rPr lang="zh-CN" altLang="en-US" sz="20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while</a:t>
            </a:r>
            <a:r>
              <a:rPr lang="zh-CN" altLang="en-US" sz="2000" dirty="0">
                <a:solidFill>
                  <a:srgbClr val="000000"/>
                </a:solidFill>
                <a:latin typeface="Courier" pitchFamily="125" charset="0"/>
              </a:rPr>
              <a:t>和</a:t>
            </a:r>
            <a:r>
              <a:rPr lang="zh-CN" altLang="en-US" sz="20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do…while</a:t>
            </a:r>
            <a:r>
              <a:rPr lang="zh-CN" altLang="en-US" sz="2000" dirty="0">
                <a:solidFill>
                  <a:srgbClr val="000000"/>
                </a:solidFill>
                <a:latin typeface="Courier" pitchFamily="125" charset="0"/>
              </a:rPr>
              <a:t>循环有一定的危险性</a:t>
            </a:r>
            <a:endParaRPr lang="en-US" altLang="zh-CN" sz="2000" dirty="0">
              <a:solidFill>
                <a:srgbClr val="000000"/>
              </a:solidFill>
              <a:latin typeface="Courier" pitchFamily="125" charset="0"/>
              <a:sym typeface="Courier" pitchFamily="125" charset="0"/>
            </a:endParaRPr>
          </a:p>
          <a:p>
            <a:pPr marL="750888" lvl="1" indent="-254000">
              <a:spcBef>
                <a:spcPts val="1100"/>
              </a:spcBef>
              <a:buFontTx/>
              <a:buChar char="–"/>
            </a:pPr>
            <a:r>
              <a:rPr lang="en-US" altLang="zh-CN" sz="20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for</a:t>
            </a:r>
            <a:r>
              <a:rPr lang="zh-CN" altLang="en-US" sz="20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循环是最常用且非常灵活的</a:t>
            </a:r>
          </a:p>
          <a:p>
            <a:pPr marL="750888" lvl="1" indent="-254000">
              <a:spcBef>
                <a:spcPts val="1100"/>
              </a:spcBef>
              <a:buFontTx/>
              <a:buChar char="–"/>
            </a:pPr>
            <a:r>
              <a:rPr lang="zh-CN" altLang="en-US" sz="20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foreach循环</a:t>
            </a:r>
            <a:r>
              <a:rPr lang="zh-CN" altLang="en-US" sz="2000" dirty="0">
                <a:solidFill>
                  <a:srgbClr val="000000"/>
                </a:solidFill>
                <a:latin typeface="Courier" pitchFamily="125" charset="0"/>
              </a:rPr>
              <a:t>对于字符串、数组和列表非常有用</a:t>
            </a:r>
          </a:p>
          <a:p>
            <a:pPr marL="1106488" lvl="2" indent="-152400">
              <a:spcBef>
                <a:spcPts val="700"/>
              </a:spcBef>
              <a:buFontTx/>
              <a:buChar char="•"/>
            </a:pPr>
            <a:r>
              <a:rPr lang="zh-CN" altLang="en-US" sz="1800" dirty="0">
                <a:solidFill>
                  <a:srgbClr val="000000"/>
                </a:solidFill>
              </a:rPr>
              <a:t>我们将在第</a:t>
            </a:r>
            <a:r>
              <a:rPr lang="en-US" altLang="zh-CN" sz="1800" dirty="0">
                <a:solidFill>
                  <a:srgbClr val="000000"/>
                </a:solidFill>
              </a:rPr>
              <a:t>23</a:t>
            </a:r>
            <a:r>
              <a:rPr lang="zh-CN" altLang="en-US" sz="1800" dirty="0">
                <a:solidFill>
                  <a:srgbClr val="000000"/>
                </a:solidFill>
              </a:rPr>
              <a:t>章详细讨论这一点</a:t>
            </a:r>
            <a:endParaRPr lang="en-US" altLang="zh-CN" sz="1800" dirty="0">
              <a:solidFill>
                <a:srgbClr val="000000"/>
              </a:solidFill>
              <a:latin typeface="Courier" pitchFamily="125" charset="0"/>
              <a:sym typeface="Courier" pitchFamily="125" charset="0"/>
            </a:endParaRPr>
          </a:p>
          <a:p>
            <a:pPr eaLnBrk="1"/>
            <a:r>
              <a:rPr lang="zh-CN" altLang="en-US" dirty="0"/>
              <a:t>跳转语句可用于更灵活地控制循环</a:t>
            </a:r>
            <a:endParaRPr lang="en-US" altLang="zh-CN" dirty="0"/>
          </a:p>
          <a:p>
            <a:pPr marL="750888" lvl="1" indent="-254000">
              <a:spcBef>
                <a:spcPts val="1100"/>
              </a:spcBef>
              <a:buFontTx/>
              <a:buChar char="–"/>
            </a:pPr>
            <a:r>
              <a:rPr lang="en-US" altLang="zh-CN" sz="20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break</a:t>
            </a:r>
            <a:r>
              <a:rPr lang="zh-CN" altLang="en-US" sz="2000" dirty="0">
                <a:solidFill>
                  <a:srgbClr val="000000"/>
                </a:solidFill>
              </a:rPr>
              <a:t>也可以用于跳出无限循环</a:t>
            </a:r>
            <a:endParaRPr lang="en-US" altLang="zh-CN" sz="2000" dirty="0">
              <a:solidFill>
                <a:srgbClr val="000000"/>
              </a:solidFill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2E9C5ADA-2876-770D-7E6C-AE62816209A2}"/>
              </a:ext>
            </a:extLst>
          </p:cNvPr>
          <p:cNvGrpSpPr/>
          <p:nvPr/>
        </p:nvGrpSpPr>
        <p:grpSpPr>
          <a:xfrm>
            <a:off x="4946247" y="251474"/>
            <a:ext cx="2299507" cy="490115"/>
            <a:chOff x="4840431" y="207541"/>
            <a:chExt cx="2299507" cy="490115"/>
          </a:xfrm>
        </p:grpSpPr>
        <p:pic>
          <p:nvPicPr>
            <p:cNvPr id="5" name="Picture 4" descr="黑爵(AJAZZ)手柄/方向盘AG180报价_参数_图片_视频_怎么样_问答-苏宁易购">
              <a:extLst>
                <a:ext uri="{FF2B5EF4-FFF2-40B4-BE49-F238E27FC236}">
                  <a16:creationId xmlns:a16="http://schemas.microsoft.com/office/drawing/2014/main" id="{E02C1131-6BFC-B31C-72B4-0111F91FF72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45" t="9275" r="3752" b="5379"/>
            <a:stretch/>
          </p:blipFill>
          <p:spPr bwMode="auto">
            <a:xfrm>
              <a:off x="4840431" y="321039"/>
              <a:ext cx="407315" cy="37661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Rectangle 3">
              <a:extLst>
                <a:ext uri="{FF2B5EF4-FFF2-40B4-BE49-F238E27FC236}">
                  <a16:creationId xmlns:a16="http://schemas.microsoft.com/office/drawing/2014/main" id="{B710120D-C42B-2C53-91FA-13A4EFB6A411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5298545" y="207541"/>
              <a:ext cx="1841393" cy="471065"/>
            </a:xfrm>
            <a:prstGeom prst="rect">
              <a:avLst/>
            </a:prstGeom>
            <a:noFill/>
          </p:spPr>
          <p:txBody>
            <a:bodyPr lIns="90488" tIns="44450" rIns="90488" bIns="44450"/>
            <a:lstStyle>
              <a:lvl1pPr marL="171450" indent="-17145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1pPr>
              <a:lvl2pPr marL="5143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8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2pPr>
              <a:lvl3pPr marL="8572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3pPr>
              <a:lvl4pPr marL="12001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4pPr>
              <a:lvl5pPr marL="15430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fontAlgn="base">
                <a:lnSpc>
                  <a:spcPct val="100000"/>
                </a:lnSpc>
                <a:buNone/>
              </a:pPr>
              <a:r>
                <a:rPr lang="zh-CN" altLang="en-US" sz="3200" dirty="0">
                  <a:latin typeface="Times New Roman" panose="02020603050405020304" pitchFamily="18" charset="0"/>
                  <a:ea typeface="楷体" panose="02010609060101010101" pitchFamily="49" charset="-122"/>
                  <a:sym typeface="+mn-ea"/>
                </a:rPr>
                <a:t>内容小结</a:t>
              </a:r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3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3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3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3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3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34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34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34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34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40" grpId="0" build="p" bldLvl="5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45E3D9-BBC5-AA6A-EFF2-26BAE71C78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">
            <a:extLst>
              <a:ext uri="{FF2B5EF4-FFF2-40B4-BE49-F238E27FC236}">
                <a16:creationId xmlns:a16="http://schemas.microsoft.com/office/drawing/2014/main" id="{B32FD87D-520C-7DEC-04D1-40C3C3376B34}"/>
              </a:ext>
            </a:extLst>
          </p:cNvPr>
          <p:cNvSpPr txBox="1">
            <a:spLocks noChangeArrowheads="1"/>
          </p:cNvSpPr>
          <p:nvPr/>
        </p:nvSpPr>
        <p:spPr>
          <a:xfrm>
            <a:off x="3100556" y="2853427"/>
            <a:ext cx="5990888" cy="1151146"/>
          </a:xfrm>
          <a:prstGeom prst="rect">
            <a:avLst/>
          </a:prstGeom>
          <a:noFill/>
        </p:spPr>
        <p:txBody>
          <a:bodyPr lIns="0" tIns="0" rIns="0" bIns="0"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b="1" kern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b="1" kern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b="1" kern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b="1" kern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None/>
            </a:pPr>
            <a:r>
              <a:rPr lang="en-US" altLang="zh-CN" sz="10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List</a:t>
            </a:r>
            <a:r>
              <a:rPr lang="zh-CN" altLang="en-US" sz="10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和数组</a:t>
            </a:r>
            <a:endParaRPr kumimoji="0" lang="en-US" altLang="zh-CN" sz="100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4" name="Picture 4" descr="黑爵(AJAZZ)手柄/方向盘AG180报价_参数_图片_视频_怎么样_问答-苏宁易购">
            <a:extLst>
              <a:ext uri="{FF2B5EF4-FFF2-40B4-BE49-F238E27FC236}">
                <a16:creationId xmlns:a16="http://schemas.microsoft.com/office/drawing/2014/main" id="{0C7C2E5E-7238-3A4F-4276-DCE59CE8B2C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45" t="9275" r="3752" b="5379"/>
          <a:stretch/>
        </p:blipFill>
        <p:spPr bwMode="auto">
          <a:xfrm>
            <a:off x="6630660" y="1616743"/>
            <a:ext cx="7054860" cy="65231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55399659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Rectangle 4">
            <a:extLst>
              <a:ext uri="{FF2B5EF4-FFF2-40B4-BE49-F238E27FC236}">
                <a16:creationId xmlns:a16="http://schemas.microsoft.com/office/drawing/2014/main" id="{D2D82284-CDAE-6C9E-A055-9BAFE8F3B6B7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>
          <a:xfrm>
            <a:off x="1981200" y="1405466"/>
            <a:ext cx="8229600" cy="4229099"/>
          </a:xfrm>
          <a:prstGeom prst="rect">
            <a:avLst/>
          </a:prstGeom>
        </p:spPr>
        <p:txBody>
          <a:bodyPr/>
          <a:lstStyle/>
          <a:p>
            <a:pPr eaLnBrk="1">
              <a:buFont typeface="Wingdings" panose="05000000000000000000" pitchFamily="2" charset="2"/>
              <a:buChar char="l"/>
            </a:pPr>
            <a:r>
              <a:rPr lang="en-US" altLang="zh-CN" sz="2000" b="1" dirty="0">
                <a:solidFill>
                  <a:srgbClr val="A7357F"/>
                </a:solidFill>
              </a:rPr>
              <a:t>C#</a:t>
            </a:r>
            <a:r>
              <a:rPr lang="zh-CN" altLang="en-US" sz="2000" b="1" dirty="0">
                <a:solidFill>
                  <a:srgbClr val="A7357F"/>
                </a:solidFill>
              </a:rPr>
              <a:t>中的集合</a:t>
            </a:r>
            <a:endParaRPr lang="en-US" altLang="zh-CN" sz="2000" b="1" dirty="0">
              <a:solidFill>
                <a:srgbClr val="A7357F"/>
              </a:solidFill>
            </a:endParaRPr>
          </a:p>
          <a:p>
            <a:pPr>
              <a:buFont typeface="Wingdings" panose="05000000000000000000" pitchFamily="2" charset="2"/>
              <a:buChar char="l"/>
            </a:pPr>
            <a:r>
              <a:rPr lang="en-US" altLang="zh-CN" sz="2000" b="1" dirty="0">
                <a:solidFill>
                  <a:srgbClr val="A7357F"/>
                </a:solidFill>
              </a:rPr>
              <a:t>List</a:t>
            </a:r>
          </a:p>
          <a:p>
            <a:pPr marL="685794" lvl="2">
              <a:spcBef>
                <a:spcPts val="1000"/>
              </a:spcBef>
              <a:buFont typeface="Wingdings" panose="05000000000000000000" pitchFamily="2" charset="2"/>
              <a:buChar char="l"/>
            </a:pPr>
            <a:r>
              <a:rPr lang="zh-CN" altLang="en-US" b="1" dirty="0"/>
              <a:t>灵活可变长度的集合</a:t>
            </a:r>
            <a:endParaRPr lang="en-US" altLang="zh-CN" b="1" dirty="0"/>
          </a:p>
          <a:p>
            <a:pPr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A7357F"/>
                </a:solidFill>
              </a:rPr>
              <a:t>数组</a:t>
            </a:r>
            <a:endParaRPr lang="en-US" altLang="zh-CN" sz="2000" b="1" dirty="0">
              <a:solidFill>
                <a:srgbClr val="A7357F"/>
              </a:solidFill>
            </a:endParaRPr>
          </a:p>
          <a:p>
            <a:pPr marL="685794" lvl="2">
              <a:spcBef>
                <a:spcPts val="1000"/>
              </a:spcBef>
              <a:buFont typeface="Wingdings" panose="05000000000000000000" pitchFamily="2" charset="2"/>
              <a:buChar char="l"/>
            </a:pPr>
            <a:r>
              <a:rPr lang="zh-CN" altLang="en-US" b="1" dirty="0"/>
              <a:t>标准数组</a:t>
            </a:r>
            <a:endParaRPr lang="en-US" altLang="zh-CN" b="1" dirty="0"/>
          </a:p>
          <a:p>
            <a:pPr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A7357F"/>
                </a:solidFill>
              </a:rPr>
              <a:t>多维数组</a:t>
            </a:r>
            <a:endParaRPr lang="en-US" altLang="zh-CN" sz="2000" b="1" dirty="0">
              <a:solidFill>
                <a:srgbClr val="A7357F"/>
              </a:solidFill>
            </a:endParaRPr>
          </a:p>
          <a:p>
            <a:pPr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A7357F"/>
                </a:solidFill>
              </a:rPr>
              <a:t>交错数组和</a:t>
            </a:r>
            <a:r>
              <a:rPr lang="en-US" altLang="zh-CN" sz="2000" b="1" dirty="0">
                <a:solidFill>
                  <a:srgbClr val="A7357F"/>
                </a:solidFill>
              </a:rPr>
              <a:t>List</a:t>
            </a:r>
          </a:p>
          <a:p>
            <a:pPr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A7357F"/>
                </a:solidFill>
                <a:sym typeface="Courier" pitchFamily="125" charset="0"/>
              </a:rPr>
              <a:t>foreach</a:t>
            </a:r>
            <a:r>
              <a:rPr lang="zh-CN" altLang="en-US" sz="2000" b="1" dirty="0">
                <a:solidFill>
                  <a:srgbClr val="A7357F"/>
                </a:solidFill>
              </a:rPr>
              <a:t>循环和集合</a:t>
            </a:r>
          </a:p>
          <a:p>
            <a:pPr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A7357F"/>
                </a:solidFill>
              </a:rPr>
              <a:t>应该使用数组还是List</a:t>
            </a:r>
          </a:p>
          <a:p>
            <a:pPr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A7357F"/>
                </a:solidFill>
              </a:rPr>
              <a:t>其他集合类型</a:t>
            </a:r>
            <a:endParaRPr lang="en-US" altLang="zh-CN" sz="2000" b="1" dirty="0">
              <a:solidFill>
                <a:srgbClr val="A7357F"/>
              </a:solidFill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8344FF48-990D-67B5-71DF-AF8D62DD47EB}"/>
              </a:ext>
            </a:extLst>
          </p:cNvPr>
          <p:cNvGrpSpPr/>
          <p:nvPr/>
        </p:nvGrpSpPr>
        <p:grpSpPr>
          <a:xfrm>
            <a:off x="5362807" y="251474"/>
            <a:ext cx="1466387" cy="490115"/>
            <a:chOff x="4840431" y="207541"/>
            <a:chExt cx="1466387" cy="490115"/>
          </a:xfrm>
        </p:grpSpPr>
        <p:pic>
          <p:nvPicPr>
            <p:cNvPr id="5" name="Picture 4" descr="黑爵(AJAZZ)手柄/方向盘AG180报价_参数_图片_视频_怎么样_问答-苏宁易购">
              <a:extLst>
                <a:ext uri="{FF2B5EF4-FFF2-40B4-BE49-F238E27FC236}">
                  <a16:creationId xmlns:a16="http://schemas.microsoft.com/office/drawing/2014/main" id="{D1D3B5EA-E42B-7600-545E-B9E1422CA32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45" t="9275" r="3752" b="5379"/>
            <a:stretch/>
          </p:blipFill>
          <p:spPr bwMode="auto">
            <a:xfrm>
              <a:off x="4840431" y="321039"/>
              <a:ext cx="407315" cy="37661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Rectangle 3">
              <a:extLst>
                <a:ext uri="{FF2B5EF4-FFF2-40B4-BE49-F238E27FC236}">
                  <a16:creationId xmlns:a16="http://schemas.microsoft.com/office/drawing/2014/main" id="{37FB8E49-9E6B-8A5F-B7D0-F92C52C72A9E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5298545" y="207541"/>
              <a:ext cx="1008273" cy="471065"/>
            </a:xfrm>
            <a:prstGeom prst="rect">
              <a:avLst/>
            </a:prstGeom>
            <a:noFill/>
          </p:spPr>
          <p:txBody>
            <a:bodyPr lIns="90488" tIns="44450" rIns="90488" bIns="44450"/>
            <a:lstStyle>
              <a:lvl1pPr marL="171450" indent="-17145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1pPr>
              <a:lvl2pPr marL="5143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8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2pPr>
              <a:lvl3pPr marL="8572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3pPr>
              <a:lvl4pPr marL="12001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4pPr>
              <a:lvl5pPr marL="15430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fontAlgn="base">
                <a:lnSpc>
                  <a:spcPct val="100000"/>
                </a:lnSpc>
                <a:buNone/>
              </a:pPr>
              <a:r>
                <a:rPr lang="zh-CN" altLang="en-US" sz="3200" dirty="0">
                  <a:latin typeface="Times New Roman" panose="02020603050405020304" pitchFamily="18" charset="0"/>
                  <a:ea typeface="楷体" panose="02010609060101010101" pitchFamily="49" charset="-122"/>
                  <a:sym typeface="+mn-ea"/>
                </a:rPr>
                <a:t>目录</a:t>
              </a:r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0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0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0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0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0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0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0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00" grpId="0" build="p" bldLvl="5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Rectangle 4">
            <a:extLst>
              <a:ext uri="{FF2B5EF4-FFF2-40B4-BE49-F238E27FC236}">
                <a16:creationId xmlns:a16="http://schemas.microsoft.com/office/drawing/2014/main" id="{18AE1BAE-EB58-67EC-C70B-7884A1FB41AF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>
          <a:xfrm>
            <a:off x="1193798" y="1774587"/>
            <a:ext cx="10600267" cy="3705873"/>
          </a:xfrm>
          <a:prstGeom prst="rect">
            <a:avLst/>
          </a:prstGeom>
        </p:spPr>
        <p:txBody>
          <a:bodyPr/>
          <a:lstStyle/>
          <a:p>
            <a:pPr eaLnBrk="1"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A7357F"/>
                </a:solidFill>
              </a:rPr>
              <a:t>在</a:t>
            </a:r>
            <a:r>
              <a:rPr lang="en-US" altLang="zh-CN" sz="2000" b="1" dirty="0">
                <a:solidFill>
                  <a:srgbClr val="A7357F"/>
                </a:solidFill>
              </a:rPr>
              <a:t>C#</a:t>
            </a:r>
            <a:r>
              <a:rPr lang="zh-CN" altLang="en-US" sz="2000" b="1" dirty="0">
                <a:solidFill>
                  <a:srgbClr val="A7357F"/>
                </a:solidFill>
              </a:rPr>
              <a:t>中集合是可通过一个变量引用的一组对象</a:t>
            </a:r>
            <a:endParaRPr lang="en-US" altLang="zh-CN" sz="2000" b="1" dirty="0">
              <a:solidFill>
                <a:srgbClr val="A7357F"/>
              </a:solidFill>
            </a:endParaRPr>
          </a:p>
          <a:p>
            <a:pPr eaLnBrk="1"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A7357F"/>
                </a:solidFill>
              </a:rPr>
              <a:t>类似于一个人群、狮群，或者鸟群</a:t>
            </a:r>
            <a:endParaRPr lang="en-US" altLang="zh-CN" sz="2000" b="1" dirty="0">
              <a:solidFill>
                <a:srgbClr val="A7357F"/>
              </a:solidFill>
            </a:endParaRPr>
          </a:p>
          <a:p>
            <a:pPr eaLnBrk="1">
              <a:buFont typeface="Wingdings" panose="05000000000000000000" pitchFamily="2" charset="2"/>
              <a:buChar char="l"/>
            </a:pPr>
            <a:r>
              <a:rPr lang="en-US" altLang="zh-CN" sz="2000" b="1" dirty="0">
                <a:solidFill>
                  <a:srgbClr val="A7357F"/>
                </a:solidFill>
              </a:rPr>
              <a:t>C#</a:t>
            </a:r>
            <a:r>
              <a:rPr lang="zh-CN" altLang="en-US" sz="2000" b="1" dirty="0">
                <a:solidFill>
                  <a:srgbClr val="A7357F"/>
                </a:solidFill>
              </a:rPr>
              <a:t>中两种必须理解的重要集合类型</a:t>
            </a:r>
            <a:endParaRPr lang="en-US" altLang="zh-CN" sz="2000" b="1" dirty="0">
              <a:solidFill>
                <a:srgbClr val="A7357F"/>
              </a:solidFill>
            </a:endParaRPr>
          </a:p>
          <a:p>
            <a:pPr marL="839788" lvl="1" indent="-342900">
              <a:spcBef>
                <a:spcPts val="300"/>
              </a:spcBef>
              <a:buFont typeface="Wingdings" panose="05000000000000000000" pitchFamily="2" charset="2"/>
              <a:buChar char="l"/>
            </a:pPr>
            <a:r>
              <a:rPr lang="en-US" altLang="zh-CN" sz="2000" b="1" dirty="0">
                <a:solidFill>
                  <a:srgbClr val="000000"/>
                </a:solidFill>
              </a:rPr>
              <a:t>List</a:t>
            </a:r>
          </a:p>
          <a:p>
            <a:pPr marL="839788" lvl="1" indent="-342900">
              <a:spcBef>
                <a:spcPts val="300"/>
              </a:spcBef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</a:rPr>
              <a:t>数组</a:t>
            </a:r>
            <a:endParaRPr lang="en-US" altLang="zh-CN" sz="2000" b="1" dirty="0">
              <a:solidFill>
                <a:srgbClr val="000000"/>
              </a:solidFill>
            </a:endParaRPr>
          </a:p>
          <a:p>
            <a:pPr>
              <a:buFont typeface="Wingdings" panose="05000000000000000000" pitchFamily="2" charset="2"/>
              <a:buChar char="l"/>
            </a:pPr>
            <a:r>
              <a:rPr lang="en-US" altLang="zh-CN" sz="2000" b="1" dirty="0">
                <a:solidFill>
                  <a:srgbClr val="A7357F"/>
                </a:solidFill>
              </a:rPr>
              <a:t>List</a:t>
            </a:r>
            <a:r>
              <a:rPr lang="zh-CN" altLang="en-US" sz="2000" b="1" dirty="0">
                <a:solidFill>
                  <a:srgbClr val="A7357F"/>
                </a:solidFill>
              </a:rPr>
              <a:t>和数组都会显示在</a:t>
            </a:r>
            <a:r>
              <a:rPr lang="en-US" altLang="zh-CN" sz="2000" b="1" dirty="0">
                <a:solidFill>
                  <a:srgbClr val="A7357F"/>
                </a:solidFill>
              </a:rPr>
              <a:t>Inspector</a:t>
            </a:r>
            <a:r>
              <a:rPr lang="zh-CN" altLang="en-US" sz="2000" b="1" dirty="0">
                <a:solidFill>
                  <a:srgbClr val="A7357F"/>
                </a:solidFill>
              </a:rPr>
              <a:t>中</a:t>
            </a:r>
            <a:endParaRPr lang="en-US" altLang="zh-CN" sz="2000" b="1" dirty="0">
              <a:solidFill>
                <a:srgbClr val="A7357F"/>
              </a:solidFill>
            </a:endParaRPr>
          </a:p>
          <a:p>
            <a:pPr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A7357F"/>
                </a:solidFill>
              </a:rPr>
              <a:t>List 是最灵活且最易于使用的集合类型，因此我们将从List开始学习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87F82D2E-E9D2-8A74-FBAC-DFE0FA198DCD}"/>
              </a:ext>
            </a:extLst>
          </p:cNvPr>
          <p:cNvGrpSpPr/>
          <p:nvPr/>
        </p:nvGrpSpPr>
        <p:grpSpPr>
          <a:xfrm>
            <a:off x="4698322" y="251474"/>
            <a:ext cx="2795356" cy="490115"/>
            <a:chOff x="4840431" y="207541"/>
            <a:chExt cx="2795356" cy="490115"/>
          </a:xfrm>
        </p:grpSpPr>
        <p:pic>
          <p:nvPicPr>
            <p:cNvPr id="5" name="Picture 4" descr="黑爵(AJAZZ)手柄/方向盘AG180报价_参数_图片_视频_怎么样_问答-苏宁易购">
              <a:extLst>
                <a:ext uri="{FF2B5EF4-FFF2-40B4-BE49-F238E27FC236}">
                  <a16:creationId xmlns:a16="http://schemas.microsoft.com/office/drawing/2014/main" id="{C8EDF680-07B4-9B36-1A46-8E6A098E754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45" t="9275" r="3752" b="5379"/>
            <a:stretch/>
          </p:blipFill>
          <p:spPr bwMode="auto">
            <a:xfrm>
              <a:off x="4840431" y="321039"/>
              <a:ext cx="407315" cy="37661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Rectangle 3">
              <a:extLst>
                <a:ext uri="{FF2B5EF4-FFF2-40B4-BE49-F238E27FC236}">
                  <a16:creationId xmlns:a16="http://schemas.microsoft.com/office/drawing/2014/main" id="{866967E6-D494-5211-0254-8319B7969A3B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5298545" y="207541"/>
              <a:ext cx="2337242" cy="471065"/>
            </a:xfrm>
            <a:prstGeom prst="rect">
              <a:avLst/>
            </a:prstGeom>
            <a:noFill/>
          </p:spPr>
          <p:txBody>
            <a:bodyPr lIns="90488" tIns="44450" rIns="90488" bIns="44450"/>
            <a:lstStyle>
              <a:lvl1pPr marL="171450" indent="-17145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1pPr>
              <a:lvl2pPr marL="5143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8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2pPr>
              <a:lvl3pPr marL="8572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3pPr>
              <a:lvl4pPr marL="12001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4pPr>
              <a:lvl5pPr marL="15430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fontAlgn="base">
                <a:lnSpc>
                  <a:spcPct val="100000"/>
                </a:lnSpc>
                <a:buNone/>
              </a:pPr>
              <a:r>
                <a:rPr lang="en-US" altLang="zh-CN" sz="3200" dirty="0">
                  <a:latin typeface="Times New Roman" panose="02020603050405020304" pitchFamily="18" charset="0"/>
                  <a:ea typeface="楷体" panose="02010609060101010101" pitchFamily="49" charset="-122"/>
                  <a:sym typeface="+mn-ea"/>
                </a:rPr>
                <a:t>C#</a:t>
              </a:r>
              <a:r>
                <a:rPr lang="zh-CN" altLang="en-US" sz="3200" dirty="0">
                  <a:latin typeface="Times New Roman" panose="02020603050405020304" pitchFamily="18" charset="0"/>
                  <a:ea typeface="楷体" panose="02010609060101010101" pitchFamily="49" charset="-122"/>
                  <a:sym typeface="+mn-ea"/>
                </a:rPr>
                <a:t>中的集合</a:t>
              </a:r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8" grpId="0" build="p" bldLvl="5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2" name="Rectangle 4">
            <a:extLst>
              <a:ext uri="{FF2B5EF4-FFF2-40B4-BE49-F238E27FC236}">
                <a16:creationId xmlns:a16="http://schemas.microsoft.com/office/drawing/2014/main" id="{614BE000-3516-21D0-8065-CBBDB211DF61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>
          <a:xfrm>
            <a:off x="1617134" y="997902"/>
            <a:ext cx="9897534" cy="5024061"/>
          </a:xfrm>
          <a:prstGeom prst="rect">
            <a:avLst/>
          </a:prstGeom>
        </p:spPr>
        <p:txBody>
          <a:bodyPr/>
          <a:lstStyle/>
          <a:p>
            <a:pPr eaLnBrk="1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A7357F"/>
                </a:solidFill>
              </a:rPr>
              <a:t>需要在脚本顶部添加一行</a:t>
            </a:r>
            <a:r>
              <a:rPr lang="en-US" altLang="zh-CN" sz="2000" b="1" dirty="0">
                <a:solidFill>
                  <a:srgbClr val="A7357F"/>
                </a:solidFill>
              </a:rPr>
              <a:t>using</a:t>
            </a:r>
            <a:r>
              <a:rPr lang="zh-CN" altLang="en-US" sz="2000" b="1" dirty="0">
                <a:solidFill>
                  <a:srgbClr val="A7357F"/>
                </a:solidFill>
              </a:rPr>
              <a:t>语句</a:t>
            </a:r>
            <a:endParaRPr lang="en-US" altLang="zh-CN" sz="2000" b="1" dirty="0">
              <a:solidFill>
                <a:srgbClr val="A7357F"/>
              </a:solidFill>
            </a:endParaRPr>
          </a:p>
          <a:p>
            <a:pPr marL="0" lvl="2" indent="0">
              <a:lnSpc>
                <a:spcPct val="120000"/>
              </a:lnSpc>
              <a:spcBef>
                <a:spcPts val="100"/>
              </a:spcBef>
              <a:buNone/>
            </a:pPr>
            <a:r>
              <a:rPr lang="en-US" altLang="zh-CN" sz="18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	</a:t>
            </a:r>
            <a:r>
              <a:rPr lang="en-US" altLang="zh-CN" b="1" dirty="0">
                <a:solidFill>
                  <a:srgbClr val="000000"/>
                </a:solidFill>
                <a:latin typeface="+mj-lt"/>
                <a:sym typeface="Courier" pitchFamily="125" charset="0"/>
              </a:rPr>
              <a:t>using </a:t>
            </a:r>
            <a:r>
              <a:rPr lang="en-US" altLang="zh-CN" b="1" dirty="0" err="1">
                <a:solidFill>
                  <a:srgbClr val="000000"/>
                </a:solidFill>
                <a:latin typeface="+mj-lt"/>
                <a:sym typeface="Courier" pitchFamily="125" charset="0"/>
              </a:rPr>
              <a:t>System.Collections.Generic</a:t>
            </a:r>
            <a:r>
              <a:rPr lang="en-US" altLang="zh-CN" b="1" dirty="0">
                <a:solidFill>
                  <a:srgbClr val="000000"/>
                </a:solidFill>
                <a:latin typeface="+mj-lt"/>
                <a:sym typeface="Courier" pitchFamily="125" charset="0"/>
              </a:rPr>
              <a:t>;</a:t>
            </a:r>
            <a:endParaRPr lang="en-US" altLang="zh-CN" b="1" dirty="0">
              <a:latin typeface="+mj-lt"/>
            </a:endParaRPr>
          </a:p>
          <a:p>
            <a:pPr eaLnBrk="1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en-US" altLang="zh-CN" sz="2000" b="1" dirty="0">
                <a:solidFill>
                  <a:srgbClr val="A7357F"/>
                </a:solidFill>
              </a:rPr>
              <a:t>List</a:t>
            </a:r>
            <a:r>
              <a:rPr lang="zh-CN" altLang="en-US" sz="2000" b="1" dirty="0">
                <a:solidFill>
                  <a:srgbClr val="A7357F"/>
                </a:solidFill>
              </a:rPr>
              <a:t>是一种泛型集合</a:t>
            </a:r>
            <a:endParaRPr lang="en-US" altLang="zh-CN" sz="2000" b="1" dirty="0">
              <a:solidFill>
                <a:srgbClr val="A7357F"/>
              </a:solidFill>
            </a:endParaRPr>
          </a:p>
          <a:p>
            <a:pPr marL="0" lvl="2" indent="0">
              <a:lnSpc>
                <a:spcPct val="120000"/>
              </a:lnSpc>
              <a:spcBef>
                <a:spcPts val="100"/>
              </a:spcBef>
              <a:buNone/>
            </a:pPr>
            <a:r>
              <a:rPr lang="en-US" altLang="zh-CN" b="1" dirty="0">
                <a:solidFill>
                  <a:srgbClr val="000000"/>
                </a:solidFill>
                <a:latin typeface="+mj-lt"/>
              </a:rPr>
              <a:t>	</a:t>
            </a:r>
            <a:r>
              <a:rPr lang="zh-CN" altLang="en-US" b="1" dirty="0">
                <a:solidFill>
                  <a:srgbClr val="000000"/>
                </a:solidFill>
                <a:latin typeface="+mj-lt"/>
              </a:rPr>
              <a:t>泛型集合是一种强类型集合，可存放尖括号中定义的单一数据类型的集合</a:t>
            </a:r>
            <a:endParaRPr lang="en-US" altLang="zh-CN" b="1" dirty="0">
              <a:solidFill>
                <a:srgbClr val="000000"/>
              </a:solidFill>
              <a:latin typeface="+mj-lt"/>
            </a:endParaRPr>
          </a:p>
          <a:p>
            <a:pPr marL="0" lvl="2" indent="0">
              <a:lnSpc>
                <a:spcPct val="120000"/>
              </a:lnSpc>
              <a:spcBef>
                <a:spcPts val="100"/>
              </a:spcBef>
              <a:buNone/>
            </a:pPr>
            <a:r>
              <a:rPr lang="en-US" altLang="zh-CN" b="1" dirty="0">
                <a:solidFill>
                  <a:srgbClr val="000000"/>
                </a:solidFill>
                <a:latin typeface="+mj-lt"/>
                <a:sym typeface="Courier" pitchFamily="125" charset="0"/>
              </a:rPr>
              <a:t>	List&lt;string&gt; </a:t>
            </a:r>
            <a:r>
              <a:rPr lang="en-US" altLang="zh-CN" b="1" dirty="0" err="1">
                <a:solidFill>
                  <a:srgbClr val="000000"/>
                </a:solidFill>
                <a:latin typeface="+mj-lt"/>
                <a:sym typeface="Courier" pitchFamily="125" charset="0"/>
              </a:rPr>
              <a:t>sList</a:t>
            </a:r>
            <a:r>
              <a:rPr lang="en-US" altLang="zh-CN" b="1" dirty="0">
                <a:solidFill>
                  <a:srgbClr val="000000"/>
                </a:solidFill>
                <a:latin typeface="+mj-lt"/>
                <a:sym typeface="Courier" pitchFamily="125" charset="0"/>
              </a:rPr>
              <a:t>;		</a:t>
            </a:r>
            <a:r>
              <a:rPr lang="en-US" altLang="zh-CN" b="1" dirty="0">
                <a:solidFill>
                  <a:srgbClr val="000000"/>
                </a:solidFill>
                <a:latin typeface="+mj-lt"/>
              </a:rPr>
              <a:t>// </a:t>
            </a:r>
            <a:r>
              <a:rPr lang="zh-CN" altLang="en-US" b="1" dirty="0">
                <a:solidFill>
                  <a:srgbClr val="000000"/>
                </a:solidFill>
                <a:latin typeface="+mj-lt"/>
              </a:rPr>
              <a:t>本句声明一个字符串的</a:t>
            </a:r>
            <a:r>
              <a:rPr lang="en-US" altLang="zh-CN" b="1" dirty="0">
                <a:solidFill>
                  <a:srgbClr val="000000"/>
                </a:solidFill>
                <a:latin typeface="+mj-lt"/>
              </a:rPr>
              <a:t>List</a:t>
            </a:r>
            <a:br>
              <a:rPr lang="en-US" altLang="zh-CN" b="1" dirty="0">
                <a:solidFill>
                  <a:srgbClr val="000000"/>
                </a:solidFill>
                <a:latin typeface="+mj-lt"/>
              </a:rPr>
            </a:br>
            <a:r>
              <a:rPr lang="en-US" altLang="zh-CN" b="1" dirty="0">
                <a:solidFill>
                  <a:srgbClr val="000000"/>
                </a:solidFill>
                <a:latin typeface="+mj-lt"/>
              </a:rPr>
              <a:t>	</a:t>
            </a:r>
            <a:r>
              <a:rPr lang="en-US" altLang="zh-CN" b="1" dirty="0">
                <a:solidFill>
                  <a:srgbClr val="000000"/>
                </a:solidFill>
                <a:latin typeface="+mj-lt"/>
                <a:sym typeface="Courier" pitchFamily="125" charset="0"/>
              </a:rPr>
              <a:t>List&lt;GameObject&gt; </a:t>
            </a:r>
            <a:r>
              <a:rPr lang="en-US" altLang="zh-CN" b="1" dirty="0" err="1">
                <a:solidFill>
                  <a:srgbClr val="000000"/>
                </a:solidFill>
                <a:latin typeface="+mj-lt"/>
                <a:sym typeface="Courier" pitchFamily="125" charset="0"/>
              </a:rPr>
              <a:t>goList</a:t>
            </a:r>
            <a:r>
              <a:rPr lang="en-US" altLang="zh-CN" b="1" dirty="0">
                <a:solidFill>
                  <a:srgbClr val="000000"/>
                </a:solidFill>
                <a:latin typeface="+mj-lt"/>
                <a:sym typeface="Courier" pitchFamily="125" charset="0"/>
              </a:rPr>
              <a:t>;	</a:t>
            </a:r>
            <a:r>
              <a:rPr lang="en-US" altLang="zh-CN" b="1" dirty="0">
                <a:solidFill>
                  <a:srgbClr val="000000"/>
                </a:solidFill>
                <a:latin typeface="+mj-lt"/>
              </a:rPr>
              <a:t>// </a:t>
            </a:r>
            <a:r>
              <a:rPr lang="zh-CN" altLang="en-US" b="1" dirty="0">
                <a:solidFill>
                  <a:srgbClr val="000000"/>
                </a:solidFill>
                <a:latin typeface="+mj-lt"/>
              </a:rPr>
              <a:t>本句声明一个游戏对象的</a:t>
            </a:r>
            <a:r>
              <a:rPr lang="en-US" altLang="zh-CN" b="1" dirty="0">
                <a:solidFill>
                  <a:srgbClr val="000000"/>
                </a:solidFill>
                <a:latin typeface="+mj-lt"/>
              </a:rPr>
              <a:t>List</a:t>
            </a:r>
            <a:endParaRPr lang="en-US" altLang="zh-CN" b="1" dirty="0">
              <a:solidFill>
                <a:srgbClr val="000000"/>
              </a:solidFill>
              <a:latin typeface="+mj-lt"/>
              <a:sym typeface="Courier" pitchFamily="125" charset="0"/>
            </a:endParaRPr>
          </a:p>
          <a:p>
            <a:pPr eaLnBrk="1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en-US" altLang="zh-CN" sz="2000" b="1" dirty="0" err="1">
                <a:solidFill>
                  <a:srgbClr val="A7357F"/>
                </a:solidFill>
              </a:rPr>
              <a:t>在使用List</a:t>
            </a:r>
            <a:r>
              <a:rPr lang="en-US" altLang="zh-CN" sz="2000" b="1" dirty="0" err="1">
                <a:solidFill>
                  <a:srgbClr val="A7357F"/>
                </a:solidFill>
                <a:sym typeface="Courier" pitchFamily="125" charset="0"/>
              </a:rPr>
              <a:t>之前，必须先定义它</a:t>
            </a:r>
            <a:r>
              <a:rPr lang="en-US" altLang="zh-CN" sz="2000" b="1" dirty="0">
                <a:solidFill>
                  <a:srgbClr val="A7357F"/>
                </a:solidFill>
                <a:sym typeface="Courier" pitchFamily="125" charset="0"/>
              </a:rPr>
              <a:t>(</a:t>
            </a:r>
            <a:r>
              <a:rPr lang="zh-CN" altLang="en-US" sz="2000" b="1" dirty="0">
                <a:solidFill>
                  <a:srgbClr val="A7357F"/>
                </a:solidFill>
              </a:rPr>
              <a:t>因为</a:t>
            </a:r>
            <a:r>
              <a:rPr lang="en-US" altLang="zh-CN" sz="2000" b="1" dirty="0">
                <a:solidFill>
                  <a:srgbClr val="A7357F"/>
                </a:solidFill>
              </a:rPr>
              <a:t>List</a:t>
            </a:r>
            <a:r>
              <a:rPr lang="zh-CN" altLang="en-US" sz="2000" b="1" dirty="0">
                <a:solidFill>
                  <a:srgbClr val="A7357F"/>
                </a:solidFill>
                <a:latin typeface="Courier" pitchFamily="125" charset="0"/>
                <a:sym typeface="Courier" pitchFamily="125" charset="0"/>
              </a:rPr>
              <a:t>默认值为</a:t>
            </a:r>
            <a:r>
              <a:rPr lang="en-US" altLang="zh-CN" sz="2000" b="1" dirty="0">
                <a:solidFill>
                  <a:srgbClr val="A7357F"/>
                </a:solidFill>
                <a:latin typeface="Courier" pitchFamily="125" charset="0"/>
                <a:sym typeface="Courier" pitchFamily="125" charset="0"/>
              </a:rPr>
              <a:t>null</a:t>
            </a:r>
            <a:r>
              <a:rPr lang="en-US" altLang="zh-CN" sz="2000" b="1" dirty="0">
                <a:solidFill>
                  <a:srgbClr val="A7357F"/>
                </a:solidFill>
              </a:rPr>
              <a:t>)</a:t>
            </a:r>
          </a:p>
          <a:p>
            <a:pPr marL="0" lvl="2" indent="0">
              <a:lnSpc>
                <a:spcPct val="120000"/>
              </a:lnSpc>
              <a:spcBef>
                <a:spcPts val="100"/>
              </a:spcBef>
              <a:buNone/>
            </a:pPr>
            <a:r>
              <a:rPr lang="en-US" altLang="zh-CN" sz="18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	</a:t>
            </a:r>
            <a:r>
              <a:rPr lang="en-US" altLang="zh-CN" b="1" dirty="0" err="1">
                <a:solidFill>
                  <a:srgbClr val="000000"/>
                </a:solidFill>
                <a:latin typeface="+mj-lt"/>
                <a:sym typeface="Courier" pitchFamily="125" charset="0"/>
              </a:rPr>
              <a:t>sList</a:t>
            </a:r>
            <a:r>
              <a:rPr lang="en-US" altLang="zh-CN" b="1" dirty="0">
                <a:solidFill>
                  <a:srgbClr val="000000"/>
                </a:solidFill>
                <a:latin typeface="+mj-lt"/>
                <a:sym typeface="Courier" pitchFamily="125" charset="0"/>
              </a:rPr>
              <a:t> = new List&lt;string&gt;();</a:t>
            </a:r>
            <a:r>
              <a:rPr lang="en-US" altLang="zh-CN" sz="1800" dirty="0">
                <a:solidFill>
                  <a:srgbClr val="000000"/>
                </a:solidFill>
                <a:latin typeface="Courier" pitchFamily="125" charset="0"/>
                <a:sym typeface="Courier" pitchFamily="125" charset="0"/>
              </a:rPr>
              <a:t>	</a:t>
            </a:r>
          </a:p>
          <a:p>
            <a:pPr eaLnBrk="1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A7357F"/>
                </a:solidFill>
              </a:rPr>
              <a:t>元素可以通过</a:t>
            </a:r>
            <a:r>
              <a:rPr lang="en-US" altLang="zh-CN" sz="2000" b="1" dirty="0">
                <a:solidFill>
                  <a:srgbClr val="A7357F"/>
                </a:solidFill>
              </a:rPr>
              <a:t>Add()</a:t>
            </a:r>
            <a:r>
              <a:rPr lang="zh-CN" altLang="en-US" sz="2000" b="1" dirty="0">
                <a:solidFill>
                  <a:srgbClr val="A7357F"/>
                </a:solidFill>
              </a:rPr>
              <a:t>方法添加到</a:t>
            </a:r>
            <a:r>
              <a:rPr lang="en-US" altLang="zh-CN" sz="2000" b="1" dirty="0">
                <a:solidFill>
                  <a:srgbClr val="A7357F"/>
                </a:solidFill>
              </a:rPr>
              <a:t>List</a:t>
            </a:r>
            <a:r>
              <a:rPr lang="zh-CN" altLang="en-US" sz="2000" b="1" dirty="0">
                <a:solidFill>
                  <a:srgbClr val="A7357F"/>
                </a:solidFill>
              </a:rPr>
              <a:t>中</a:t>
            </a:r>
          </a:p>
          <a:p>
            <a:pPr marL="0" lvl="2" indent="0">
              <a:lnSpc>
                <a:spcPct val="120000"/>
              </a:lnSpc>
              <a:spcBef>
                <a:spcPts val="100"/>
              </a:spcBef>
              <a:buNone/>
            </a:pPr>
            <a:r>
              <a:rPr lang="en-US" altLang="zh-CN" b="1" dirty="0">
                <a:solidFill>
                  <a:srgbClr val="000000"/>
                </a:solidFill>
                <a:latin typeface="+mj-lt"/>
                <a:sym typeface="Courier" pitchFamily="125" charset="0"/>
              </a:rPr>
              <a:t>	</a:t>
            </a:r>
            <a:r>
              <a:rPr lang="en-US" altLang="zh-CN" b="1" dirty="0" err="1">
                <a:solidFill>
                  <a:srgbClr val="000000"/>
                </a:solidFill>
                <a:latin typeface="+mj-lt"/>
                <a:sym typeface="Courier" pitchFamily="125" charset="0"/>
              </a:rPr>
              <a:t>sList.Add</a:t>
            </a:r>
            <a:r>
              <a:rPr lang="en-US" altLang="zh-CN" b="1" dirty="0">
                <a:solidFill>
                  <a:srgbClr val="000000"/>
                </a:solidFill>
                <a:latin typeface="+mj-lt"/>
                <a:sym typeface="Courier" pitchFamily="125" charset="0"/>
              </a:rPr>
              <a:t>("Hello");</a:t>
            </a:r>
            <a:br>
              <a:rPr lang="en-US" altLang="zh-CN" b="1" dirty="0">
                <a:solidFill>
                  <a:srgbClr val="000000"/>
                </a:solidFill>
                <a:latin typeface="+mj-lt"/>
                <a:sym typeface="Courier" pitchFamily="125" charset="0"/>
              </a:rPr>
            </a:br>
            <a:r>
              <a:rPr lang="en-US" altLang="zh-CN" b="1" dirty="0">
                <a:solidFill>
                  <a:srgbClr val="000000"/>
                </a:solidFill>
                <a:latin typeface="+mj-lt"/>
                <a:sym typeface="Courier" pitchFamily="125" charset="0"/>
              </a:rPr>
              <a:t>	</a:t>
            </a:r>
            <a:r>
              <a:rPr lang="en-US" altLang="zh-CN" b="1" dirty="0" err="1">
                <a:solidFill>
                  <a:srgbClr val="000000"/>
                </a:solidFill>
                <a:latin typeface="+mj-lt"/>
                <a:sym typeface="Courier" pitchFamily="125" charset="0"/>
              </a:rPr>
              <a:t>sList.Add</a:t>
            </a:r>
            <a:r>
              <a:rPr lang="en-US" altLang="zh-CN" b="1" dirty="0">
                <a:solidFill>
                  <a:srgbClr val="000000"/>
                </a:solidFill>
                <a:latin typeface="+mj-lt"/>
                <a:sym typeface="Courier" pitchFamily="125" charset="0"/>
              </a:rPr>
              <a:t>("World");</a:t>
            </a:r>
            <a:endParaRPr lang="en-US" altLang="zh-CN" b="1" dirty="0">
              <a:solidFill>
                <a:srgbClr val="000000"/>
              </a:solidFill>
              <a:latin typeface="+mj-lt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D13244F4-242B-C47F-DB57-2521A5F41BEC}"/>
              </a:ext>
            </a:extLst>
          </p:cNvPr>
          <p:cNvGrpSpPr/>
          <p:nvPr/>
        </p:nvGrpSpPr>
        <p:grpSpPr>
          <a:xfrm>
            <a:off x="5397161" y="251474"/>
            <a:ext cx="1397678" cy="490115"/>
            <a:chOff x="4840431" y="207541"/>
            <a:chExt cx="1397678" cy="490115"/>
          </a:xfrm>
        </p:grpSpPr>
        <p:pic>
          <p:nvPicPr>
            <p:cNvPr id="5" name="Picture 4" descr="黑爵(AJAZZ)手柄/方向盘AG180报价_参数_图片_视频_怎么样_问答-苏宁易购">
              <a:extLst>
                <a:ext uri="{FF2B5EF4-FFF2-40B4-BE49-F238E27FC236}">
                  <a16:creationId xmlns:a16="http://schemas.microsoft.com/office/drawing/2014/main" id="{F488E8C9-EE9E-9EAF-8506-5EB22BE311B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45" t="9275" r="3752" b="5379"/>
            <a:stretch/>
          </p:blipFill>
          <p:spPr bwMode="auto">
            <a:xfrm>
              <a:off x="4840431" y="321039"/>
              <a:ext cx="407315" cy="37661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Rectangle 3">
              <a:extLst>
                <a:ext uri="{FF2B5EF4-FFF2-40B4-BE49-F238E27FC236}">
                  <a16:creationId xmlns:a16="http://schemas.microsoft.com/office/drawing/2014/main" id="{8900361D-33AF-4FFC-E472-93CBDDF6A689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5298545" y="207541"/>
              <a:ext cx="939564" cy="471065"/>
            </a:xfrm>
            <a:prstGeom prst="rect">
              <a:avLst/>
            </a:prstGeom>
            <a:noFill/>
          </p:spPr>
          <p:txBody>
            <a:bodyPr lIns="90488" tIns="44450" rIns="90488" bIns="44450"/>
            <a:lstStyle>
              <a:lvl1pPr marL="171450" indent="-17145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1pPr>
              <a:lvl2pPr marL="5143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8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2pPr>
              <a:lvl3pPr marL="8572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3pPr>
              <a:lvl4pPr marL="12001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4pPr>
              <a:lvl5pPr marL="15430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fontAlgn="base">
                <a:lnSpc>
                  <a:spcPct val="100000"/>
                </a:lnSpc>
                <a:buNone/>
              </a:pPr>
              <a:r>
                <a:rPr lang="en-US" altLang="zh-CN" sz="3200" dirty="0">
                  <a:latin typeface="Times New Roman" panose="02020603050405020304" pitchFamily="18" charset="0"/>
                  <a:ea typeface="楷体" panose="02010609060101010101" pitchFamily="49" charset="-122"/>
                  <a:sym typeface="+mn-ea"/>
                </a:rPr>
                <a:t>List</a:t>
              </a:r>
              <a:endParaRPr lang="zh-CN" altLang="en-US" sz="3200" dirty="0">
                <a:latin typeface="Times New Roman" panose="02020603050405020304" pitchFamily="18" charset="0"/>
                <a:ea typeface="楷体" panose="02010609060101010101" pitchFamily="49" charset="-122"/>
                <a:sym typeface="+mn-ea"/>
              </a:endParaRPr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2" grpId="0" build="p" bldLvl="5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Rectangle 4">
            <a:extLst>
              <a:ext uri="{FF2B5EF4-FFF2-40B4-BE49-F238E27FC236}">
                <a16:creationId xmlns:a16="http://schemas.microsoft.com/office/drawing/2014/main" id="{C4AC4145-CE44-01AC-B0CB-A3F86312BBA5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>
          <a:xfrm>
            <a:off x="1786467" y="1468967"/>
            <a:ext cx="8932334" cy="3687233"/>
          </a:xfrm>
          <a:prstGeom prst="rect">
            <a:avLst/>
          </a:prstGeom>
        </p:spPr>
        <p:txBody>
          <a:bodyPr/>
          <a:lstStyle/>
          <a:p>
            <a:pPr eaLnBrk="1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en-US" altLang="zh-CN" sz="2000" b="1" dirty="0">
                <a:solidFill>
                  <a:srgbClr val="A7357F"/>
                </a:solidFill>
              </a:rPr>
              <a:t>List元素可通过索引访问</a:t>
            </a:r>
          </a:p>
          <a:p>
            <a:pPr marL="750888" lvl="1" indent="-254000">
              <a:lnSpc>
                <a:spcPct val="120000"/>
              </a:lnSpc>
              <a:spcBef>
                <a:spcPts val="300"/>
              </a:spcBef>
              <a:buFontTx/>
              <a:buChar char="–"/>
            </a:pPr>
            <a:r>
              <a:rPr lang="zh-CN" altLang="en-US" sz="2000" b="1" dirty="0">
                <a:solidFill>
                  <a:srgbClr val="000000"/>
                </a:solidFill>
                <a:latin typeface="+mj-lt"/>
              </a:rPr>
              <a:t>索引从零开始</a:t>
            </a:r>
            <a:r>
              <a:rPr lang="en-US" altLang="zh-CN" sz="2000" b="1" dirty="0">
                <a:solidFill>
                  <a:srgbClr val="000000"/>
                </a:solidFill>
                <a:latin typeface="+mj-lt"/>
              </a:rPr>
              <a:t> (</a:t>
            </a:r>
            <a:r>
              <a:rPr lang="zh-CN" altLang="en-US" sz="2000" b="1" dirty="0">
                <a:solidFill>
                  <a:srgbClr val="000000"/>
                </a:solidFill>
                <a:latin typeface="+mj-lt"/>
              </a:rPr>
              <a:t>即从</a:t>
            </a:r>
            <a:r>
              <a:rPr lang="en-US" altLang="zh-CN" sz="2000" b="1" dirty="0">
                <a:solidFill>
                  <a:srgbClr val="000000"/>
                </a:solidFill>
                <a:latin typeface="+mj-lt"/>
                <a:sym typeface="Courier" pitchFamily="125" charset="0"/>
              </a:rPr>
              <a:t>[0]</a:t>
            </a:r>
            <a:r>
              <a:rPr lang="zh-CN" altLang="en-US" sz="2000" b="1" dirty="0">
                <a:solidFill>
                  <a:srgbClr val="000000"/>
                </a:solidFill>
                <a:latin typeface="+mj-lt"/>
                <a:sym typeface="Courier" pitchFamily="125" charset="0"/>
              </a:rPr>
              <a:t>开始</a:t>
            </a:r>
            <a:r>
              <a:rPr lang="en-US" altLang="zh-CN" sz="2000" b="1" dirty="0">
                <a:solidFill>
                  <a:srgbClr val="000000"/>
                </a:solidFill>
                <a:latin typeface="+mj-lt"/>
              </a:rPr>
              <a:t>)</a:t>
            </a:r>
          </a:p>
          <a:p>
            <a:pPr marL="0" lvl="2" indent="0">
              <a:lnSpc>
                <a:spcPct val="120000"/>
              </a:lnSpc>
              <a:spcBef>
                <a:spcPts val="100"/>
              </a:spcBef>
              <a:buNone/>
            </a:pPr>
            <a:r>
              <a:rPr lang="en-US" altLang="zh-CN" sz="1800" b="1" dirty="0">
                <a:solidFill>
                  <a:srgbClr val="000000"/>
                </a:solidFill>
                <a:latin typeface="+mj-lt"/>
                <a:sym typeface="Courier" pitchFamily="125" charset="0"/>
              </a:rPr>
              <a:t>	print( </a:t>
            </a:r>
            <a:r>
              <a:rPr lang="en-US" altLang="zh-CN" sz="1800" b="1" dirty="0" err="1">
                <a:solidFill>
                  <a:srgbClr val="000000"/>
                </a:solidFill>
                <a:latin typeface="+mj-lt"/>
                <a:sym typeface="Courier" pitchFamily="125" charset="0"/>
              </a:rPr>
              <a:t>sList</a:t>
            </a:r>
            <a:r>
              <a:rPr lang="en-US" altLang="zh-CN" sz="1800" b="1" dirty="0">
                <a:solidFill>
                  <a:srgbClr val="000000"/>
                </a:solidFill>
                <a:latin typeface="+mj-lt"/>
                <a:sym typeface="Courier" pitchFamily="125" charset="0"/>
              </a:rPr>
              <a:t>[0] );		</a:t>
            </a:r>
            <a:r>
              <a:rPr lang="en-US" altLang="zh-CN" sz="1800" b="1" dirty="0">
                <a:solidFill>
                  <a:srgbClr val="000000"/>
                </a:solidFill>
                <a:latin typeface="+mj-lt"/>
              </a:rPr>
              <a:t>// </a:t>
            </a:r>
            <a:r>
              <a:rPr lang="zh-CN" altLang="en-US" sz="1800" b="1" dirty="0">
                <a:solidFill>
                  <a:srgbClr val="000000"/>
                </a:solidFill>
                <a:latin typeface="+mj-lt"/>
              </a:rPr>
              <a:t>输出</a:t>
            </a:r>
            <a:r>
              <a:rPr lang="en-US" altLang="zh-CN" sz="1800" b="1" dirty="0">
                <a:solidFill>
                  <a:srgbClr val="000000"/>
                </a:solidFill>
                <a:latin typeface="+mj-lt"/>
              </a:rPr>
              <a:t>: "Hello"</a:t>
            </a:r>
            <a:br>
              <a:rPr lang="en-US" altLang="zh-CN" b="1" dirty="0">
                <a:solidFill>
                  <a:srgbClr val="000000"/>
                </a:solidFill>
                <a:latin typeface="+mj-lt"/>
              </a:rPr>
            </a:br>
            <a:r>
              <a:rPr lang="en-US" altLang="zh-CN" b="1" dirty="0">
                <a:solidFill>
                  <a:srgbClr val="000000"/>
                </a:solidFill>
                <a:latin typeface="+mj-lt"/>
              </a:rPr>
              <a:t>	</a:t>
            </a:r>
            <a:r>
              <a:rPr lang="en-US" altLang="zh-CN" sz="1800" b="1" dirty="0">
                <a:solidFill>
                  <a:srgbClr val="000000"/>
                </a:solidFill>
                <a:latin typeface="+mj-lt"/>
                <a:sym typeface="Courier" pitchFamily="125" charset="0"/>
              </a:rPr>
              <a:t>print( </a:t>
            </a:r>
            <a:r>
              <a:rPr lang="en-US" altLang="zh-CN" sz="1800" b="1" dirty="0" err="1">
                <a:solidFill>
                  <a:srgbClr val="000000"/>
                </a:solidFill>
                <a:latin typeface="+mj-lt"/>
                <a:sym typeface="Courier" pitchFamily="125" charset="0"/>
              </a:rPr>
              <a:t>sList</a:t>
            </a:r>
            <a:r>
              <a:rPr lang="en-US" altLang="zh-CN" sz="1800" b="1" dirty="0">
                <a:solidFill>
                  <a:srgbClr val="000000"/>
                </a:solidFill>
                <a:latin typeface="+mj-lt"/>
                <a:sym typeface="Courier" pitchFamily="125" charset="0"/>
              </a:rPr>
              <a:t>[1] );		</a:t>
            </a:r>
            <a:r>
              <a:rPr lang="en-US" altLang="zh-CN" sz="1800" b="1" dirty="0">
                <a:solidFill>
                  <a:srgbClr val="000000"/>
                </a:solidFill>
                <a:latin typeface="+mj-lt"/>
              </a:rPr>
              <a:t>// </a:t>
            </a:r>
            <a:r>
              <a:rPr lang="zh-CN" altLang="en-US" sz="1800" b="1" dirty="0">
                <a:solidFill>
                  <a:srgbClr val="000000"/>
                </a:solidFill>
                <a:latin typeface="+mj-lt"/>
              </a:rPr>
              <a:t>输出</a:t>
            </a:r>
            <a:r>
              <a:rPr lang="en-US" altLang="zh-CN" sz="1800" b="1" dirty="0">
                <a:solidFill>
                  <a:srgbClr val="000000"/>
                </a:solidFill>
                <a:latin typeface="+mj-lt"/>
              </a:rPr>
              <a:t>: "World"</a:t>
            </a:r>
            <a:endParaRPr lang="en-US" altLang="zh-CN" b="1" dirty="0">
              <a:latin typeface="+mj-lt"/>
            </a:endParaRP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en-US" altLang="zh-CN" sz="2000" b="1" dirty="0">
                <a:solidFill>
                  <a:srgbClr val="A7357F"/>
                </a:solidFill>
              </a:rPr>
              <a:t>List</a:t>
            </a:r>
            <a:r>
              <a:rPr lang="zh-CN" altLang="en-US" sz="2000" b="1" dirty="0">
                <a:solidFill>
                  <a:srgbClr val="A7357F"/>
                </a:solidFill>
              </a:rPr>
              <a:t>的</a:t>
            </a:r>
            <a:r>
              <a:rPr lang="en-US" altLang="zh-CN" sz="2000" b="1" dirty="0">
                <a:solidFill>
                  <a:srgbClr val="A7357F"/>
                </a:solidFill>
              </a:rPr>
              <a:t>Count</a:t>
            </a:r>
            <a:r>
              <a:rPr lang="zh-CN" altLang="en-US" sz="2000" b="1" dirty="0">
                <a:solidFill>
                  <a:srgbClr val="A7357F"/>
                </a:solidFill>
              </a:rPr>
              <a:t>属性返回一个</a:t>
            </a:r>
            <a:r>
              <a:rPr lang="en-US" altLang="zh-CN" sz="2000" b="1" dirty="0">
                <a:solidFill>
                  <a:srgbClr val="A7357F"/>
                </a:solidFill>
              </a:rPr>
              <a:t>int</a:t>
            </a:r>
            <a:r>
              <a:rPr lang="zh-CN" altLang="en-US" sz="2000" b="1" dirty="0">
                <a:solidFill>
                  <a:srgbClr val="A7357F"/>
                </a:solidFill>
              </a:rPr>
              <a:t>型数值，表示</a:t>
            </a:r>
            <a:r>
              <a:rPr lang="en-US" altLang="zh-CN" sz="2000" b="1" dirty="0">
                <a:solidFill>
                  <a:srgbClr val="A7357F"/>
                </a:solidFill>
              </a:rPr>
              <a:t>List</a:t>
            </a:r>
            <a:r>
              <a:rPr lang="zh-CN" altLang="en-US" sz="2000" b="1" dirty="0">
                <a:solidFill>
                  <a:srgbClr val="A7357F"/>
                </a:solidFill>
              </a:rPr>
              <a:t>中元素的数量</a:t>
            </a:r>
            <a:endParaRPr lang="en-US" altLang="zh-CN" sz="2000" b="1" dirty="0">
              <a:solidFill>
                <a:srgbClr val="A7357F"/>
              </a:solidFill>
            </a:endParaRPr>
          </a:p>
          <a:p>
            <a:pPr marL="0" lvl="2" indent="0">
              <a:lnSpc>
                <a:spcPct val="120000"/>
              </a:lnSpc>
              <a:spcBef>
                <a:spcPts val="100"/>
              </a:spcBef>
              <a:buNone/>
            </a:pPr>
            <a:r>
              <a:rPr lang="en-US" altLang="zh-CN" b="1" dirty="0">
                <a:solidFill>
                  <a:srgbClr val="000000"/>
                </a:solidFill>
                <a:latin typeface="+mj-lt"/>
                <a:sym typeface="Courier" pitchFamily="125" charset="0"/>
              </a:rPr>
              <a:t>	print( </a:t>
            </a:r>
            <a:r>
              <a:rPr lang="en-US" altLang="zh-CN" b="1" dirty="0" err="1">
                <a:solidFill>
                  <a:srgbClr val="000000"/>
                </a:solidFill>
                <a:latin typeface="+mj-lt"/>
                <a:sym typeface="Courier" pitchFamily="125" charset="0"/>
              </a:rPr>
              <a:t>sList.Count</a:t>
            </a:r>
            <a:r>
              <a:rPr lang="en-US" altLang="zh-CN" b="1" dirty="0">
                <a:solidFill>
                  <a:srgbClr val="000000"/>
                </a:solidFill>
                <a:latin typeface="+mj-lt"/>
                <a:sym typeface="Courier" pitchFamily="125" charset="0"/>
              </a:rPr>
              <a:t> );	</a:t>
            </a:r>
            <a:r>
              <a:rPr lang="en-US" altLang="zh-CN" b="1" dirty="0">
                <a:solidFill>
                  <a:srgbClr val="000000"/>
                </a:solidFill>
                <a:latin typeface="+mj-lt"/>
              </a:rPr>
              <a:t>// </a:t>
            </a:r>
            <a:r>
              <a:rPr lang="zh-CN" altLang="en-US" b="1" dirty="0">
                <a:solidFill>
                  <a:srgbClr val="000000"/>
                </a:solidFill>
                <a:latin typeface="+mj-lt"/>
              </a:rPr>
              <a:t>输出</a:t>
            </a:r>
            <a:r>
              <a:rPr lang="en-US" altLang="zh-CN" b="1" dirty="0">
                <a:solidFill>
                  <a:srgbClr val="000000"/>
                </a:solidFill>
                <a:latin typeface="+mj-lt"/>
              </a:rPr>
              <a:t>: "2"</a:t>
            </a:r>
            <a:endParaRPr lang="en-US" altLang="zh-CN" b="1" dirty="0">
              <a:solidFill>
                <a:srgbClr val="000000"/>
              </a:solidFill>
              <a:latin typeface="+mj-lt"/>
              <a:sym typeface="Courier" pitchFamily="125" charset="0"/>
            </a:endParaRP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en-US" altLang="zh-CN" sz="2000" b="1" dirty="0">
                <a:solidFill>
                  <a:srgbClr val="A7357F"/>
                </a:solidFill>
              </a:rPr>
              <a:t>List</a:t>
            </a:r>
            <a:r>
              <a:rPr lang="zh-CN" altLang="en-US" sz="2000" b="1" dirty="0">
                <a:solidFill>
                  <a:srgbClr val="A7357F"/>
                </a:solidFill>
              </a:rPr>
              <a:t>可以清除所有的元素</a:t>
            </a:r>
            <a:endParaRPr lang="en-US" altLang="zh-CN" sz="2000" b="1" dirty="0">
              <a:solidFill>
                <a:srgbClr val="A7357F"/>
              </a:solidFill>
            </a:endParaRPr>
          </a:p>
          <a:p>
            <a:pPr marL="0" lvl="2" indent="0">
              <a:lnSpc>
                <a:spcPct val="120000"/>
              </a:lnSpc>
              <a:spcBef>
                <a:spcPts val="100"/>
              </a:spcBef>
              <a:buNone/>
            </a:pPr>
            <a:r>
              <a:rPr lang="en-US" altLang="zh-CN" b="1" dirty="0">
                <a:solidFill>
                  <a:srgbClr val="000000"/>
                </a:solidFill>
                <a:latin typeface="+mj-lt"/>
                <a:sym typeface="Courier" pitchFamily="125" charset="0"/>
              </a:rPr>
              <a:t>	</a:t>
            </a:r>
            <a:r>
              <a:rPr lang="en-US" altLang="zh-CN" b="1" dirty="0" err="1">
                <a:solidFill>
                  <a:srgbClr val="000000"/>
                </a:solidFill>
                <a:latin typeface="+mj-lt"/>
                <a:sym typeface="Courier" pitchFamily="125" charset="0"/>
              </a:rPr>
              <a:t>sList.Clear</a:t>
            </a:r>
            <a:r>
              <a:rPr lang="en-US" altLang="zh-CN" b="1" dirty="0">
                <a:solidFill>
                  <a:srgbClr val="000000"/>
                </a:solidFill>
                <a:latin typeface="+mj-lt"/>
                <a:sym typeface="Courier" pitchFamily="125" charset="0"/>
              </a:rPr>
              <a:t>();		</a:t>
            </a:r>
            <a:r>
              <a:rPr lang="en-US" altLang="zh-CN" b="1" dirty="0">
                <a:solidFill>
                  <a:srgbClr val="000000"/>
                </a:solidFill>
                <a:latin typeface="+mj-lt"/>
              </a:rPr>
              <a:t>// </a:t>
            </a:r>
            <a:r>
              <a:rPr lang="zh-CN" altLang="en-US" b="1" dirty="0">
                <a:solidFill>
                  <a:srgbClr val="000000"/>
                </a:solidFill>
                <a:latin typeface="+mj-lt"/>
              </a:rPr>
              <a:t>清空</a:t>
            </a:r>
            <a:r>
              <a:rPr lang="en-US" altLang="zh-CN" b="1" dirty="0">
                <a:solidFill>
                  <a:srgbClr val="000000"/>
                </a:solidFill>
                <a:latin typeface="+mj-lt"/>
              </a:rPr>
              <a:t>List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D06B2E0F-56A6-E7BE-4633-F5BFD7A513F2}"/>
              </a:ext>
            </a:extLst>
          </p:cNvPr>
          <p:cNvGrpSpPr/>
          <p:nvPr/>
        </p:nvGrpSpPr>
        <p:grpSpPr>
          <a:xfrm>
            <a:off x="5397161" y="251474"/>
            <a:ext cx="1397678" cy="490115"/>
            <a:chOff x="4840431" y="207541"/>
            <a:chExt cx="1397678" cy="490115"/>
          </a:xfrm>
        </p:grpSpPr>
        <p:pic>
          <p:nvPicPr>
            <p:cNvPr id="5" name="Picture 4" descr="黑爵(AJAZZ)手柄/方向盘AG180报价_参数_图片_视频_怎么样_问答-苏宁易购">
              <a:extLst>
                <a:ext uri="{FF2B5EF4-FFF2-40B4-BE49-F238E27FC236}">
                  <a16:creationId xmlns:a16="http://schemas.microsoft.com/office/drawing/2014/main" id="{A1783EE3-409C-1126-26ED-4A459AE1FF1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45" t="9275" r="3752" b="5379"/>
            <a:stretch/>
          </p:blipFill>
          <p:spPr bwMode="auto">
            <a:xfrm>
              <a:off x="4840431" y="321039"/>
              <a:ext cx="407315" cy="37661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Rectangle 3">
              <a:extLst>
                <a:ext uri="{FF2B5EF4-FFF2-40B4-BE49-F238E27FC236}">
                  <a16:creationId xmlns:a16="http://schemas.microsoft.com/office/drawing/2014/main" id="{1FA6AF11-CD15-675F-D214-DBC7BBB5977B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5298545" y="207541"/>
              <a:ext cx="939564" cy="471065"/>
            </a:xfrm>
            <a:prstGeom prst="rect">
              <a:avLst/>
            </a:prstGeom>
            <a:noFill/>
          </p:spPr>
          <p:txBody>
            <a:bodyPr lIns="90488" tIns="44450" rIns="90488" bIns="44450"/>
            <a:lstStyle>
              <a:lvl1pPr marL="171450" indent="-17145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1pPr>
              <a:lvl2pPr marL="5143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8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2pPr>
              <a:lvl3pPr marL="8572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3pPr>
              <a:lvl4pPr marL="12001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4pPr>
              <a:lvl5pPr marL="15430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fontAlgn="base">
                <a:lnSpc>
                  <a:spcPct val="100000"/>
                </a:lnSpc>
                <a:buNone/>
              </a:pPr>
              <a:r>
                <a:rPr lang="en-US" altLang="zh-CN" sz="3200" dirty="0">
                  <a:latin typeface="Times New Roman" panose="02020603050405020304" pitchFamily="18" charset="0"/>
                  <a:ea typeface="楷体" panose="02010609060101010101" pitchFamily="49" charset="-122"/>
                  <a:sym typeface="+mn-ea"/>
                </a:rPr>
                <a:t>List</a:t>
              </a:r>
              <a:endParaRPr lang="zh-CN" altLang="en-US" sz="3200" dirty="0">
                <a:latin typeface="Times New Roman" panose="02020603050405020304" pitchFamily="18" charset="0"/>
                <a:ea typeface="楷体" panose="02010609060101010101" pitchFamily="49" charset="-122"/>
                <a:sym typeface="+mn-ea"/>
              </a:endParaRPr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1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1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1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19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19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19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19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6" grpId="0" build="p" bldLvl="5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4">
            <a:extLst>
              <a:ext uri="{FF2B5EF4-FFF2-40B4-BE49-F238E27FC236}">
                <a16:creationId xmlns:a16="http://schemas.microsoft.com/office/drawing/2014/main" id="{7C658E01-A2F4-BC6F-D76B-1C7A17E74C2F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>
          <a:xfrm>
            <a:off x="1219656" y="914400"/>
            <a:ext cx="10210802" cy="5321300"/>
          </a:xfrm>
          <a:prstGeom prst="rect">
            <a:avLst/>
          </a:prstGeom>
        </p:spPr>
        <p:txBody>
          <a:bodyPr/>
          <a:lstStyle/>
          <a:p>
            <a:pPr eaLnBrk="1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A7357F"/>
                </a:solidFill>
              </a:rPr>
              <a:t>所有这些方法作用于</a:t>
            </a:r>
            <a:r>
              <a:rPr lang="en-US" altLang="zh-CN" sz="2000" b="1" dirty="0">
                <a:solidFill>
                  <a:srgbClr val="A7357F"/>
                </a:solidFill>
              </a:rPr>
              <a:t>List["A","B","C","D"]</a:t>
            </a:r>
          </a:p>
          <a:p>
            <a:pPr marL="0" lvl="2" indent="569913">
              <a:lnSpc>
                <a:spcPct val="120000"/>
              </a:lnSpc>
              <a:spcBef>
                <a:spcPts val="100"/>
              </a:spcBef>
              <a:buNone/>
            </a:pPr>
            <a:r>
              <a:rPr lang="en-US" altLang="zh-CN" sz="2200" b="1" dirty="0">
                <a:solidFill>
                  <a:srgbClr val="000000"/>
                </a:solidFill>
                <a:latin typeface="+mj-lt"/>
                <a:sym typeface="Courier" pitchFamily="125" charset="0"/>
              </a:rPr>
              <a:t>print( </a:t>
            </a:r>
            <a:r>
              <a:rPr lang="en-US" altLang="zh-CN" sz="2200" b="1" dirty="0" err="1">
                <a:solidFill>
                  <a:srgbClr val="000000"/>
                </a:solidFill>
                <a:latin typeface="+mj-lt"/>
                <a:sym typeface="Courier" pitchFamily="125" charset="0"/>
              </a:rPr>
              <a:t>sList</a:t>
            </a:r>
            <a:r>
              <a:rPr lang="en-US" altLang="zh-CN" sz="2200" b="1" dirty="0">
                <a:solidFill>
                  <a:srgbClr val="000000"/>
                </a:solidFill>
                <a:latin typeface="+mj-lt"/>
                <a:sym typeface="Courier" pitchFamily="125" charset="0"/>
              </a:rPr>
              <a:t>[0] );		</a:t>
            </a:r>
            <a:r>
              <a:rPr lang="en-US" altLang="zh-CN" sz="2200" b="1" dirty="0">
                <a:solidFill>
                  <a:srgbClr val="000000"/>
                </a:solidFill>
                <a:latin typeface="+mj-lt"/>
              </a:rPr>
              <a:t>// </a:t>
            </a:r>
            <a:r>
              <a:rPr lang="zh-CN" altLang="en-US" sz="2200" b="1" dirty="0">
                <a:solidFill>
                  <a:srgbClr val="000000"/>
                </a:solidFill>
                <a:latin typeface="+mj-lt"/>
              </a:rPr>
              <a:t>输出</a:t>
            </a:r>
            <a:r>
              <a:rPr lang="en-US" altLang="zh-CN" sz="2200" b="1" dirty="0">
                <a:solidFill>
                  <a:srgbClr val="000000"/>
                </a:solidFill>
                <a:latin typeface="+mj-lt"/>
              </a:rPr>
              <a:t>: "A"</a:t>
            </a:r>
            <a:endParaRPr lang="en-US" altLang="zh-CN" sz="2200" b="1" dirty="0">
              <a:solidFill>
                <a:srgbClr val="000000"/>
              </a:solidFill>
              <a:latin typeface="+mj-lt"/>
              <a:sym typeface="Courier" pitchFamily="125" charset="0"/>
            </a:endParaRPr>
          </a:p>
          <a:p>
            <a:pPr marL="0" lvl="2" indent="569913">
              <a:lnSpc>
                <a:spcPct val="120000"/>
              </a:lnSpc>
              <a:spcBef>
                <a:spcPts val="100"/>
              </a:spcBef>
              <a:buNone/>
            </a:pPr>
            <a:r>
              <a:rPr lang="en-US" altLang="zh-CN" sz="2200" b="1" dirty="0" err="1">
                <a:solidFill>
                  <a:srgbClr val="000000"/>
                </a:solidFill>
                <a:latin typeface="+mj-lt"/>
                <a:sym typeface="Courier" pitchFamily="125" charset="0"/>
              </a:rPr>
              <a:t>sList.Add</a:t>
            </a:r>
            <a:r>
              <a:rPr lang="en-US" altLang="zh-CN" sz="2200" b="1" dirty="0">
                <a:solidFill>
                  <a:srgbClr val="000000"/>
                </a:solidFill>
                <a:latin typeface="+mj-lt"/>
                <a:sym typeface="Courier" pitchFamily="125" charset="0"/>
              </a:rPr>
              <a:t>("Apple");	</a:t>
            </a:r>
            <a:r>
              <a:rPr lang="en-US" altLang="zh-CN" sz="2200" b="1" dirty="0">
                <a:solidFill>
                  <a:srgbClr val="000000"/>
                </a:solidFill>
                <a:latin typeface="+mj-lt"/>
              </a:rPr>
              <a:t>// ["</a:t>
            </a:r>
            <a:r>
              <a:rPr lang="en-US" altLang="zh-CN" sz="2200" b="1" dirty="0" err="1">
                <a:solidFill>
                  <a:srgbClr val="000000"/>
                </a:solidFill>
                <a:latin typeface="+mj-lt"/>
              </a:rPr>
              <a:t>A","B","C","D","Apple</a:t>
            </a:r>
            <a:r>
              <a:rPr lang="en-US" altLang="zh-CN" sz="2200" b="1" dirty="0">
                <a:solidFill>
                  <a:srgbClr val="000000"/>
                </a:solidFill>
                <a:latin typeface="+mj-lt"/>
              </a:rPr>
              <a:t>"]</a:t>
            </a:r>
          </a:p>
          <a:p>
            <a:pPr marL="0" lvl="2" indent="569913">
              <a:lnSpc>
                <a:spcPct val="120000"/>
              </a:lnSpc>
              <a:spcBef>
                <a:spcPts val="100"/>
              </a:spcBef>
              <a:buNone/>
            </a:pPr>
            <a:r>
              <a:rPr lang="en-US" altLang="zh-CN" sz="2200" b="1" dirty="0" err="1">
                <a:solidFill>
                  <a:srgbClr val="000000"/>
                </a:solidFill>
                <a:latin typeface="+mj-lt"/>
                <a:sym typeface="Courier" pitchFamily="125" charset="0"/>
              </a:rPr>
              <a:t>sList.Clear</a:t>
            </a:r>
            <a:r>
              <a:rPr lang="en-US" altLang="zh-CN" sz="2200" b="1" dirty="0">
                <a:solidFill>
                  <a:srgbClr val="000000"/>
                </a:solidFill>
                <a:latin typeface="+mj-lt"/>
                <a:sym typeface="Courier" pitchFamily="125" charset="0"/>
              </a:rPr>
              <a:t>();		</a:t>
            </a:r>
            <a:r>
              <a:rPr lang="en-US" altLang="zh-CN" sz="2200" b="1" dirty="0">
                <a:solidFill>
                  <a:srgbClr val="000000"/>
                </a:solidFill>
                <a:latin typeface="+mj-lt"/>
              </a:rPr>
              <a:t>// []</a:t>
            </a:r>
          </a:p>
          <a:p>
            <a:pPr marL="0" lvl="2" indent="569913">
              <a:lnSpc>
                <a:spcPct val="120000"/>
              </a:lnSpc>
              <a:spcBef>
                <a:spcPts val="100"/>
              </a:spcBef>
              <a:buNone/>
            </a:pPr>
            <a:r>
              <a:rPr lang="en-US" altLang="zh-CN" sz="2200" b="1" dirty="0" err="1">
                <a:solidFill>
                  <a:srgbClr val="000000"/>
                </a:solidFill>
                <a:latin typeface="+mj-lt"/>
                <a:sym typeface="Courier" pitchFamily="125" charset="0"/>
              </a:rPr>
              <a:t>sList.IndexOf</a:t>
            </a:r>
            <a:r>
              <a:rPr lang="en-US" altLang="zh-CN" sz="2200" b="1" dirty="0">
                <a:solidFill>
                  <a:srgbClr val="000000"/>
                </a:solidFill>
                <a:latin typeface="+mj-lt"/>
                <a:sym typeface="Courier" pitchFamily="125" charset="0"/>
              </a:rPr>
              <a:t>("B");	</a:t>
            </a:r>
            <a:r>
              <a:rPr lang="en-US" altLang="zh-CN" sz="2200" b="1" dirty="0">
                <a:solidFill>
                  <a:srgbClr val="000000"/>
                </a:solidFill>
                <a:latin typeface="+mj-lt"/>
              </a:rPr>
              <a:t>// 1   ("B"</a:t>
            </a:r>
            <a:r>
              <a:rPr lang="zh-CN" altLang="en-US" sz="2200" b="1" dirty="0">
                <a:solidFill>
                  <a:srgbClr val="000000"/>
                </a:solidFill>
                <a:latin typeface="+mj-lt"/>
              </a:rPr>
              <a:t>是</a:t>
            </a:r>
            <a:r>
              <a:rPr lang="en-US" altLang="zh-CN" sz="2200" b="1" dirty="0">
                <a:solidFill>
                  <a:srgbClr val="000000"/>
                </a:solidFill>
                <a:latin typeface="+mj-lt"/>
              </a:rPr>
              <a:t>List</a:t>
            </a:r>
            <a:r>
              <a:rPr lang="zh-CN" altLang="en-US" sz="2200" b="1" dirty="0">
                <a:solidFill>
                  <a:srgbClr val="000000"/>
                </a:solidFill>
                <a:latin typeface="+mj-lt"/>
              </a:rPr>
              <a:t>中索引为</a:t>
            </a:r>
            <a:r>
              <a:rPr lang="en-US" altLang="zh-CN" sz="2200" b="1" dirty="0">
                <a:solidFill>
                  <a:srgbClr val="000000"/>
                </a:solidFill>
                <a:latin typeface="+mj-lt"/>
              </a:rPr>
              <a:t>1</a:t>
            </a:r>
            <a:r>
              <a:rPr lang="zh-CN" altLang="en-US" sz="2200" b="1" dirty="0">
                <a:solidFill>
                  <a:srgbClr val="000000"/>
                </a:solidFill>
                <a:latin typeface="+mj-lt"/>
              </a:rPr>
              <a:t>的元素</a:t>
            </a:r>
            <a:r>
              <a:rPr lang="en-US" altLang="zh-CN" sz="2200" b="1" dirty="0">
                <a:solidFill>
                  <a:srgbClr val="000000"/>
                </a:solidFill>
                <a:latin typeface="+mj-lt"/>
              </a:rPr>
              <a:t>)</a:t>
            </a:r>
          </a:p>
          <a:p>
            <a:pPr marL="0" lvl="2" indent="569913">
              <a:lnSpc>
                <a:spcPct val="120000"/>
              </a:lnSpc>
              <a:spcBef>
                <a:spcPts val="100"/>
              </a:spcBef>
              <a:buNone/>
            </a:pPr>
            <a:r>
              <a:rPr lang="en-US" altLang="zh-CN" sz="2200" b="1" dirty="0" err="1">
                <a:solidFill>
                  <a:srgbClr val="000000"/>
                </a:solidFill>
                <a:latin typeface="+mj-lt"/>
                <a:sym typeface="Courier" pitchFamily="125" charset="0"/>
              </a:rPr>
              <a:t>sList.IndexOf</a:t>
            </a:r>
            <a:r>
              <a:rPr lang="en-US" altLang="zh-CN" sz="2200" b="1" dirty="0">
                <a:solidFill>
                  <a:srgbClr val="000000"/>
                </a:solidFill>
                <a:latin typeface="+mj-lt"/>
                <a:sym typeface="Courier" pitchFamily="125" charset="0"/>
              </a:rPr>
              <a:t>("Bob");	</a:t>
            </a:r>
            <a:r>
              <a:rPr lang="en-US" altLang="zh-CN" sz="2200" b="1" dirty="0">
                <a:solidFill>
                  <a:srgbClr val="000000"/>
                </a:solidFill>
                <a:latin typeface="+mj-lt"/>
              </a:rPr>
              <a:t>// -1   ("Bob"</a:t>
            </a:r>
            <a:r>
              <a:rPr lang="zh-CN" altLang="en-US" sz="2200" b="1" dirty="0">
                <a:solidFill>
                  <a:srgbClr val="000000"/>
                </a:solidFill>
                <a:latin typeface="+mj-lt"/>
              </a:rPr>
              <a:t>不在</a:t>
            </a:r>
            <a:r>
              <a:rPr lang="en-US" altLang="zh-CN" sz="2200" b="1" dirty="0">
                <a:solidFill>
                  <a:srgbClr val="000000"/>
                </a:solidFill>
                <a:latin typeface="+mj-lt"/>
              </a:rPr>
              <a:t>List</a:t>
            </a:r>
            <a:r>
              <a:rPr lang="zh-CN" altLang="en-US" sz="2200" b="1" dirty="0">
                <a:solidFill>
                  <a:srgbClr val="000000"/>
                </a:solidFill>
                <a:latin typeface="+mj-lt"/>
              </a:rPr>
              <a:t>中</a:t>
            </a:r>
            <a:r>
              <a:rPr lang="en-US" altLang="zh-CN" sz="2200" b="1" dirty="0">
                <a:solidFill>
                  <a:srgbClr val="000000"/>
                </a:solidFill>
                <a:latin typeface="+mj-lt"/>
              </a:rPr>
              <a:t>)</a:t>
            </a:r>
          </a:p>
          <a:p>
            <a:pPr marL="0" lvl="2" indent="569913">
              <a:lnSpc>
                <a:spcPct val="120000"/>
              </a:lnSpc>
              <a:spcBef>
                <a:spcPts val="100"/>
              </a:spcBef>
              <a:buNone/>
            </a:pPr>
            <a:r>
              <a:rPr lang="en-US" altLang="zh-CN" sz="2200" b="1" dirty="0" err="1">
                <a:solidFill>
                  <a:srgbClr val="000000"/>
                </a:solidFill>
                <a:latin typeface="+mj-lt"/>
                <a:sym typeface="Courier" pitchFamily="125" charset="0"/>
              </a:rPr>
              <a:t>sList.Insert</a:t>
            </a:r>
            <a:r>
              <a:rPr lang="en-US" altLang="zh-CN" sz="2200" b="1" dirty="0">
                <a:solidFill>
                  <a:srgbClr val="000000"/>
                </a:solidFill>
                <a:latin typeface="+mj-lt"/>
                <a:sym typeface="Courier" pitchFamily="125" charset="0"/>
              </a:rPr>
              <a:t>(2,"X");	</a:t>
            </a:r>
            <a:r>
              <a:rPr lang="en-US" altLang="zh-CN" sz="2200" b="1" dirty="0">
                <a:solidFill>
                  <a:srgbClr val="000000"/>
                </a:solidFill>
                <a:latin typeface="+mj-lt"/>
              </a:rPr>
              <a:t>// ["A","B","X","C","D"]</a:t>
            </a:r>
          </a:p>
          <a:p>
            <a:pPr marL="0" lvl="2" indent="569913">
              <a:lnSpc>
                <a:spcPct val="120000"/>
              </a:lnSpc>
              <a:spcBef>
                <a:spcPts val="100"/>
              </a:spcBef>
              <a:buNone/>
            </a:pPr>
            <a:r>
              <a:rPr lang="en-US" altLang="zh-CN" sz="2200" b="1" dirty="0" err="1">
                <a:solidFill>
                  <a:srgbClr val="000000"/>
                </a:solidFill>
                <a:latin typeface="+mj-lt"/>
                <a:sym typeface="Courier" pitchFamily="125" charset="0"/>
              </a:rPr>
              <a:t>sList.Insert</a:t>
            </a:r>
            <a:r>
              <a:rPr lang="en-US" altLang="zh-CN" sz="2200" b="1" dirty="0">
                <a:solidFill>
                  <a:srgbClr val="000000"/>
                </a:solidFill>
                <a:latin typeface="+mj-lt"/>
                <a:sym typeface="Courier" pitchFamily="125" charset="0"/>
              </a:rPr>
              <a:t>(4,"X");	</a:t>
            </a:r>
            <a:r>
              <a:rPr lang="en-US" altLang="zh-CN" sz="2200" b="1" dirty="0">
                <a:solidFill>
                  <a:srgbClr val="000000"/>
                </a:solidFill>
                <a:latin typeface="+mj-lt"/>
              </a:rPr>
              <a:t>// ["A","B","C","D","X"]</a:t>
            </a:r>
          </a:p>
          <a:p>
            <a:pPr marL="0" lvl="2" indent="569913">
              <a:lnSpc>
                <a:spcPct val="120000"/>
              </a:lnSpc>
              <a:spcBef>
                <a:spcPts val="100"/>
              </a:spcBef>
              <a:buNone/>
            </a:pPr>
            <a:r>
              <a:rPr lang="en-US" altLang="zh-CN" sz="2200" b="1" dirty="0" err="1">
                <a:solidFill>
                  <a:srgbClr val="000000"/>
                </a:solidFill>
                <a:latin typeface="+mj-lt"/>
                <a:sym typeface="Courier" pitchFamily="125" charset="0"/>
              </a:rPr>
              <a:t>sList.Insert</a:t>
            </a:r>
            <a:r>
              <a:rPr lang="en-US" altLang="zh-CN" sz="2200" b="1" dirty="0">
                <a:solidFill>
                  <a:srgbClr val="000000"/>
                </a:solidFill>
                <a:latin typeface="+mj-lt"/>
                <a:sym typeface="Courier" pitchFamily="125" charset="0"/>
              </a:rPr>
              <a:t>(5,"X");	</a:t>
            </a:r>
            <a:r>
              <a:rPr lang="en-US" altLang="zh-CN" sz="2200" b="1" dirty="0">
                <a:solidFill>
                  <a:srgbClr val="000000"/>
                </a:solidFill>
                <a:latin typeface="+mj-lt"/>
              </a:rPr>
              <a:t>// </a:t>
            </a:r>
            <a:r>
              <a:rPr lang="zh-CN" altLang="en-US" sz="2200" b="1" dirty="0">
                <a:solidFill>
                  <a:srgbClr val="000000"/>
                </a:solidFill>
                <a:latin typeface="+mj-lt"/>
              </a:rPr>
              <a:t>错误</a:t>
            </a:r>
            <a:r>
              <a:rPr lang="en-US" altLang="zh-CN" sz="2200" b="1" dirty="0">
                <a:solidFill>
                  <a:srgbClr val="000000"/>
                </a:solidFill>
                <a:latin typeface="+mj-lt"/>
              </a:rPr>
              <a:t>!!!   </a:t>
            </a:r>
            <a:r>
              <a:rPr lang="zh-CN" altLang="en-US" sz="2200" b="1" dirty="0">
                <a:solidFill>
                  <a:srgbClr val="000000"/>
                </a:solidFill>
                <a:latin typeface="+mj-lt"/>
              </a:rPr>
              <a:t>超出</a:t>
            </a:r>
            <a:r>
              <a:rPr lang="en-US" altLang="zh-CN" sz="2200" b="1" dirty="0">
                <a:solidFill>
                  <a:srgbClr val="000000"/>
                </a:solidFill>
                <a:latin typeface="+mj-lt"/>
              </a:rPr>
              <a:t>List</a:t>
            </a:r>
            <a:r>
              <a:rPr lang="zh-CN" altLang="en-US" sz="2200" b="1" dirty="0">
                <a:solidFill>
                  <a:srgbClr val="000000"/>
                </a:solidFill>
                <a:latin typeface="+mj-lt"/>
              </a:rPr>
              <a:t>长度范围</a:t>
            </a:r>
            <a:endParaRPr lang="en-US" altLang="zh-CN" sz="2200" b="1" dirty="0">
              <a:solidFill>
                <a:srgbClr val="000000"/>
              </a:solidFill>
              <a:latin typeface="+mj-lt"/>
            </a:endParaRPr>
          </a:p>
          <a:p>
            <a:pPr marL="0" lvl="2" indent="569913">
              <a:lnSpc>
                <a:spcPct val="120000"/>
              </a:lnSpc>
              <a:spcBef>
                <a:spcPts val="100"/>
              </a:spcBef>
              <a:buNone/>
            </a:pPr>
            <a:r>
              <a:rPr lang="en-US" altLang="zh-CN" sz="2200" b="1" dirty="0" err="1">
                <a:solidFill>
                  <a:srgbClr val="000000"/>
                </a:solidFill>
                <a:latin typeface="+mj-lt"/>
                <a:sym typeface="Courier" pitchFamily="125" charset="0"/>
              </a:rPr>
              <a:t>sList.Remove</a:t>
            </a:r>
            <a:r>
              <a:rPr lang="en-US" altLang="zh-CN" sz="2200" b="1" dirty="0">
                <a:solidFill>
                  <a:srgbClr val="000000"/>
                </a:solidFill>
                <a:latin typeface="+mj-lt"/>
                <a:sym typeface="Courier" pitchFamily="125" charset="0"/>
              </a:rPr>
              <a:t>("C");		</a:t>
            </a:r>
            <a:r>
              <a:rPr lang="en-US" altLang="zh-CN" sz="2200" b="1" dirty="0">
                <a:solidFill>
                  <a:srgbClr val="000000"/>
                </a:solidFill>
                <a:latin typeface="+mj-lt"/>
              </a:rPr>
              <a:t>// ["A","B","D"]</a:t>
            </a:r>
          </a:p>
          <a:p>
            <a:pPr marL="0" lvl="2" indent="569913">
              <a:lnSpc>
                <a:spcPct val="120000"/>
              </a:lnSpc>
              <a:spcBef>
                <a:spcPts val="100"/>
              </a:spcBef>
              <a:buNone/>
            </a:pPr>
            <a:r>
              <a:rPr lang="en-US" altLang="zh-CN" sz="2200" b="1" dirty="0" err="1">
                <a:solidFill>
                  <a:srgbClr val="000000"/>
                </a:solidFill>
                <a:latin typeface="+mj-lt"/>
                <a:sym typeface="Courier" pitchFamily="125" charset="0"/>
              </a:rPr>
              <a:t>sList.RemoveAt</a:t>
            </a:r>
            <a:r>
              <a:rPr lang="en-US" altLang="zh-CN" sz="2200" b="1" dirty="0">
                <a:solidFill>
                  <a:srgbClr val="000000"/>
                </a:solidFill>
                <a:latin typeface="+mj-lt"/>
                <a:sym typeface="Courier" pitchFamily="125" charset="0"/>
              </a:rPr>
              <a:t>(1);		</a:t>
            </a:r>
            <a:r>
              <a:rPr lang="en-US" altLang="zh-CN" sz="2200" b="1" dirty="0">
                <a:solidFill>
                  <a:srgbClr val="000000"/>
                </a:solidFill>
                <a:latin typeface="+mj-lt"/>
              </a:rPr>
              <a:t>// ["A","C","D"]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en-US" altLang="zh-CN" sz="2000" b="1" dirty="0">
                <a:solidFill>
                  <a:srgbClr val="A7357F"/>
                </a:solidFill>
              </a:rPr>
              <a:t>List</a:t>
            </a:r>
            <a:r>
              <a:rPr lang="zh-CN" altLang="en-US" sz="2000" b="1" dirty="0">
                <a:solidFill>
                  <a:srgbClr val="A7357F"/>
                </a:solidFill>
              </a:rPr>
              <a:t>可以转换为数组</a:t>
            </a:r>
            <a:endParaRPr lang="en-US" altLang="zh-CN" sz="2000" b="1" dirty="0">
              <a:solidFill>
                <a:srgbClr val="A7357F"/>
              </a:solidFill>
            </a:endParaRPr>
          </a:p>
          <a:p>
            <a:pPr marL="0" lvl="2" indent="569913">
              <a:lnSpc>
                <a:spcPct val="120000"/>
              </a:lnSpc>
              <a:spcBef>
                <a:spcPts val="100"/>
              </a:spcBef>
              <a:buNone/>
            </a:pPr>
            <a:r>
              <a:rPr lang="en-US" altLang="zh-CN" sz="2200" b="1" dirty="0">
                <a:solidFill>
                  <a:srgbClr val="000000"/>
                </a:solidFill>
                <a:latin typeface="+mj-lt"/>
                <a:sym typeface="Courier" pitchFamily="125" charset="0"/>
              </a:rPr>
              <a:t>string[] </a:t>
            </a:r>
            <a:r>
              <a:rPr lang="en-US" altLang="zh-CN" sz="2200" b="1" dirty="0" err="1">
                <a:solidFill>
                  <a:srgbClr val="000000"/>
                </a:solidFill>
                <a:latin typeface="+mj-lt"/>
                <a:sym typeface="Courier" pitchFamily="125" charset="0"/>
              </a:rPr>
              <a:t>sArray</a:t>
            </a:r>
            <a:r>
              <a:rPr lang="en-US" altLang="zh-CN" sz="2200" b="1" dirty="0">
                <a:solidFill>
                  <a:srgbClr val="000000"/>
                </a:solidFill>
                <a:latin typeface="+mj-lt"/>
                <a:sym typeface="Courier" pitchFamily="125" charset="0"/>
              </a:rPr>
              <a:t> = </a:t>
            </a:r>
            <a:r>
              <a:rPr lang="en-US" altLang="zh-CN" sz="2200" b="1" dirty="0" err="1">
                <a:solidFill>
                  <a:srgbClr val="000000"/>
                </a:solidFill>
                <a:latin typeface="+mj-lt"/>
                <a:sym typeface="Courier" pitchFamily="125" charset="0"/>
              </a:rPr>
              <a:t>sList.ToArray</a:t>
            </a:r>
            <a:r>
              <a:rPr lang="en-US" altLang="zh-CN" sz="2200" b="1" dirty="0">
                <a:solidFill>
                  <a:srgbClr val="000000"/>
                </a:solidFill>
                <a:latin typeface="+mj-lt"/>
                <a:sym typeface="Courier" pitchFamily="125" charset="0"/>
              </a:rPr>
              <a:t>();</a:t>
            </a:r>
            <a:endParaRPr lang="en-US" altLang="zh-CN" sz="2200" b="1" dirty="0">
              <a:solidFill>
                <a:srgbClr val="000000"/>
              </a:solidFill>
              <a:latin typeface="+mj-lt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B987F25A-FEE7-9DCE-C964-F3461ED15DB0}"/>
              </a:ext>
            </a:extLst>
          </p:cNvPr>
          <p:cNvGrpSpPr/>
          <p:nvPr/>
        </p:nvGrpSpPr>
        <p:grpSpPr>
          <a:xfrm>
            <a:off x="5397161" y="251474"/>
            <a:ext cx="1397678" cy="490115"/>
            <a:chOff x="4840431" y="207541"/>
            <a:chExt cx="1397678" cy="490115"/>
          </a:xfrm>
        </p:grpSpPr>
        <p:pic>
          <p:nvPicPr>
            <p:cNvPr id="5" name="Picture 4" descr="黑爵(AJAZZ)手柄/方向盘AG180报价_参数_图片_视频_怎么样_问答-苏宁易购">
              <a:extLst>
                <a:ext uri="{FF2B5EF4-FFF2-40B4-BE49-F238E27FC236}">
                  <a16:creationId xmlns:a16="http://schemas.microsoft.com/office/drawing/2014/main" id="{B3077BCD-CABB-8E74-F74E-7DB4BF84BB0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45" t="9275" r="3752" b="5379"/>
            <a:stretch/>
          </p:blipFill>
          <p:spPr bwMode="auto">
            <a:xfrm>
              <a:off x="4840431" y="321039"/>
              <a:ext cx="407315" cy="37661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Rectangle 3">
              <a:extLst>
                <a:ext uri="{FF2B5EF4-FFF2-40B4-BE49-F238E27FC236}">
                  <a16:creationId xmlns:a16="http://schemas.microsoft.com/office/drawing/2014/main" id="{5DF1A676-6B2C-70C7-F076-A95B09310D48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5298545" y="207541"/>
              <a:ext cx="939564" cy="471065"/>
            </a:xfrm>
            <a:prstGeom prst="rect">
              <a:avLst/>
            </a:prstGeom>
            <a:noFill/>
          </p:spPr>
          <p:txBody>
            <a:bodyPr lIns="90488" tIns="44450" rIns="90488" bIns="44450"/>
            <a:lstStyle>
              <a:lvl1pPr marL="171450" indent="-17145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1pPr>
              <a:lvl2pPr marL="5143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8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2pPr>
              <a:lvl3pPr marL="8572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3pPr>
              <a:lvl4pPr marL="12001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4pPr>
              <a:lvl5pPr marL="15430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fontAlgn="base">
                <a:lnSpc>
                  <a:spcPct val="100000"/>
                </a:lnSpc>
                <a:buNone/>
              </a:pPr>
              <a:r>
                <a:rPr lang="en-US" altLang="zh-CN" sz="3200" dirty="0">
                  <a:latin typeface="Times New Roman" panose="02020603050405020304" pitchFamily="18" charset="0"/>
                  <a:ea typeface="楷体" panose="02010609060101010101" pitchFamily="49" charset="-122"/>
                  <a:sym typeface="+mn-ea"/>
                </a:rPr>
                <a:t>List</a:t>
              </a:r>
              <a:endParaRPr lang="zh-CN" altLang="en-US" sz="3200" dirty="0">
                <a:latin typeface="Times New Roman" panose="02020603050405020304" pitchFamily="18" charset="0"/>
                <a:ea typeface="楷体" panose="02010609060101010101" pitchFamily="49" charset="-122"/>
                <a:sym typeface="+mn-ea"/>
              </a:endParaRPr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2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2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2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2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2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2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2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20" grpId="0" build="p" bldLvl="5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4" name="Rectangle 4">
            <a:extLst>
              <a:ext uri="{FF2B5EF4-FFF2-40B4-BE49-F238E27FC236}">
                <a16:creationId xmlns:a16="http://schemas.microsoft.com/office/drawing/2014/main" id="{763BC723-9B5C-FCEC-6A42-6DEB7B84CF04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>
          <a:xfrm>
            <a:off x="1577371" y="1210734"/>
            <a:ext cx="9154127" cy="4195233"/>
          </a:xfrm>
          <a:prstGeom prst="rect">
            <a:avLst/>
          </a:prstGeom>
        </p:spPr>
        <p:txBody>
          <a:bodyPr/>
          <a:lstStyle/>
          <a:p>
            <a:pPr eaLnBrk="1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A7357F"/>
                </a:solidFill>
                <a:latin typeface="+mj-ea"/>
                <a:ea typeface="+mj-ea"/>
              </a:rPr>
              <a:t>数组是一种比</a:t>
            </a:r>
            <a:r>
              <a:rPr lang="en-US" altLang="zh-CN" sz="2000" b="1" dirty="0">
                <a:solidFill>
                  <a:srgbClr val="A7357F"/>
                </a:solidFill>
                <a:latin typeface="+mj-ea"/>
                <a:ea typeface="+mj-ea"/>
              </a:rPr>
              <a:t>List</a:t>
            </a:r>
            <a:r>
              <a:rPr lang="zh-CN" altLang="en-US" sz="2000" b="1" dirty="0">
                <a:solidFill>
                  <a:srgbClr val="A7357F"/>
                </a:solidFill>
                <a:latin typeface="+mj-ea"/>
                <a:ea typeface="+mj-ea"/>
              </a:rPr>
              <a:t>更简单的集合</a:t>
            </a:r>
            <a:endParaRPr lang="en-US" altLang="zh-CN" sz="2000" b="1" dirty="0">
              <a:solidFill>
                <a:srgbClr val="A7357F"/>
              </a:solidFill>
              <a:latin typeface="+mj-ea"/>
              <a:ea typeface="+mj-ea"/>
            </a:endParaRPr>
          </a:p>
          <a:p>
            <a:pPr marL="839788" lvl="1" indent="-342900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latin typeface="+mj-lt"/>
              </a:rPr>
              <a:t>使用数组不要求导入任何库（即使用</a:t>
            </a:r>
            <a:r>
              <a:rPr lang="en-US" altLang="zh-CN" sz="2000" b="1" dirty="0">
                <a:solidFill>
                  <a:srgbClr val="000000"/>
                </a:solidFill>
                <a:latin typeface="+mj-lt"/>
              </a:rPr>
              <a:t>using</a:t>
            </a:r>
            <a:r>
              <a:rPr lang="zh-CN" altLang="en-US" sz="2000" b="1" dirty="0">
                <a:solidFill>
                  <a:srgbClr val="000000"/>
                </a:solidFill>
                <a:latin typeface="+mj-lt"/>
              </a:rPr>
              <a:t>命令）</a:t>
            </a:r>
            <a:endParaRPr lang="en-US" altLang="zh-CN" b="1" dirty="0">
              <a:latin typeface="+mj-lt"/>
            </a:endParaRP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A7357F"/>
                </a:solidFill>
                <a:latin typeface="+mj-ea"/>
                <a:ea typeface="+mj-ea"/>
              </a:rPr>
              <a:t>数组实际上并不是一种独立的数据类型，而是可以包含任何数据类型的集合</a:t>
            </a:r>
            <a:endParaRPr lang="en-US" altLang="zh-CN" sz="2000" b="1" dirty="0">
              <a:solidFill>
                <a:srgbClr val="A7357F"/>
              </a:solidFill>
              <a:latin typeface="+mj-ea"/>
              <a:ea typeface="+mj-ea"/>
            </a:endParaRPr>
          </a:p>
          <a:p>
            <a:pPr marL="915988" lvl="2" indent="0">
              <a:lnSpc>
                <a:spcPct val="120000"/>
              </a:lnSpc>
              <a:spcBef>
                <a:spcPts val="100"/>
              </a:spcBef>
              <a:buNone/>
            </a:pPr>
            <a:r>
              <a:rPr lang="en-US" altLang="zh-CN" sz="1800" b="1" dirty="0">
                <a:solidFill>
                  <a:srgbClr val="000000"/>
                </a:solidFill>
                <a:latin typeface="+mj-lt"/>
                <a:sym typeface="Courier" pitchFamily="125" charset="0"/>
              </a:rPr>
              <a:t>string[] </a:t>
            </a:r>
            <a:r>
              <a:rPr lang="en-US" altLang="zh-CN" sz="1800" b="1" dirty="0" err="1">
                <a:solidFill>
                  <a:srgbClr val="000000"/>
                </a:solidFill>
                <a:latin typeface="+mj-lt"/>
                <a:sym typeface="Courier" pitchFamily="125" charset="0"/>
              </a:rPr>
              <a:t>sArray</a:t>
            </a:r>
            <a:r>
              <a:rPr lang="en-US" altLang="zh-CN" sz="1800" b="1" dirty="0">
                <a:solidFill>
                  <a:srgbClr val="000000"/>
                </a:solidFill>
                <a:latin typeface="+mj-lt"/>
                <a:sym typeface="Courier" pitchFamily="125" charset="0"/>
              </a:rPr>
              <a:t>;		</a:t>
            </a:r>
            <a:r>
              <a:rPr lang="en-US" altLang="zh-CN" sz="1800" b="1" dirty="0">
                <a:solidFill>
                  <a:srgbClr val="000000"/>
                </a:solidFill>
                <a:latin typeface="+mj-lt"/>
              </a:rPr>
              <a:t>// </a:t>
            </a:r>
            <a:r>
              <a:rPr lang="zh-CN" altLang="en-US" sz="1800" b="1" dirty="0">
                <a:solidFill>
                  <a:srgbClr val="000000"/>
                </a:solidFill>
                <a:latin typeface="+mj-lt"/>
              </a:rPr>
              <a:t>字符串数组</a:t>
            </a:r>
            <a:br>
              <a:rPr lang="en-US" altLang="zh-CN" b="1" dirty="0">
                <a:solidFill>
                  <a:srgbClr val="000000"/>
                </a:solidFill>
                <a:latin typeface="+mj-lt"/>
              </a:rPr>
            </a:br>
            <a:r>
              <a:rPr lang="en-US" altLang="zh-CN" sz="1800" b="1" dirty="0">
                <a:solidFill>
                  <a:srgbClr val="000000"/>
                </a:solidFill>
                <a:latin typeface="+mj-lt"/>
                <a:sym typeface="Courier" pitchFamily="125" charset="0"/>
              </a:rPr>
              <a:t>GameObject[] </a:t>
            </a:r>
            <a:r>
              <a:rPr lang="en-US" altLang="zh-CN" sz="1800" b="1" dirty="0" err="1">
                <a:solidFill>
                  <a:srgbClr val="000000"/>
                </a:solidFill>
                <a:latin typeface="+mj-lt"/>
                <a:sym typeface="Courier" pitchFamily="125" charset="0"/>
              </a:rPr>
              <a:t>goArray</a:t>
            </a:r>
            <a:r>
              <a:rPr lang="en-US" altLang="zh-CN" sz="1800" b="1" dirty="0">
                <a:solidFill>
                  <a:srgbClr val="000000"/>
                </a:solidFill>
                <a:latin typeface="+mj-lt"/>
                <a:sym typeface="Courier" pitchFamily="125" charset="0"/>
              </a:rPr>
              <a:t>;	</a:t>
            </a:r>
            <a:r>
              <a:rPr lang="en-US" altLang="zh-CN" sz="1800" b="1" dirty="0">
                <a:solidFill>
                  <a:srgbClr val="000000"/>
                </a:solidFill>
                <a:latin typeface="+mj-lt"/>
              </a:rPr>
              <a:t>// GameObject</a:t>
            </a:r>
            <a:r>
              <a:rPr lang="zh-CN" altLang="en-US" sz="1800" b="1" dirty="0">
                <a:solidFill>
                  <a:srgbClr val="000000"/>
                </a:solidFill>
                <a:latin typeface="+mj-lt"/>
              </a:rPr>
              <a:t>数组</a:t>
            </a:r>
            <a:endParaRPr lang="en-US" altLang="zh-CN" sz="1800" b="1" dirty="0">
              <a:solidFill>
                <a:srgbClr val="000000"/>
              </a:solidFill>
              <a:latin typeface="+mj-lt"/>
              <a:sym typeface="Courier" pitchFamily="125" charset="0"/>
            </a:endParaRP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A7357F"/>
                </a:solidFill>
                <a:latin typeface="+mj-ea"/>
                <a:ea typeface="+mj-ea"/>
              </a:rPr>
              <a:t>数组长度是固定的，在定义数组时必须确定下来</a:t>
            </a:r>
          </a:p>
          <a:p>
            <a:pPr marL="839788" lvl="1" indent="-342900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</a:rPr>
              <a:t>数组不能像</a:t>
            </a:r>
            <a:r>
              <a:rPr lang="en-US" altLang="zh-CN" sz="2000" b="1" dirty="0">
                <a:solidFill>
                  <a:srgbClr val="000000"/>
                </a:solidFill>
              </a:rPr>
              <a:t>List</a:t>
            </a:r>
            <a:r>
              <a:rPr lang="zh-CN" altLang="en-US" sz="2000" b="1" dirty="0">
                <a:solidFill>
                  <a:srgbClr val="000000"/>
                </a:solidFill>
              </a:rPr>
              <a:t>一样扩展来添加更多元素</a:t>
            </a:r>
            <a:endParaRPr lang="en-US" altLang="zh-CN" b="1" dirty="0"/>
          </a:p>
          <a:p>
            <a:pPr marL="915988" lvl="2" indent="0">
              <a:lnSpc>
                <a:spcPct val="120000"/>
              </a:lnSpc>
              <a:spcBef>
                <a:spcPts val="100"/>
              </a:spcBef>
              <a:buNone/>
            </a:pPr>
            <a:r>
              <a:rPr lang="en-US" altLang="zh-CN" sz="1800" b="1" dirty="0" err="1">
                <a:solidFill>
                  <a:srgbClr val="000000"/>
                </a:solidFill>
                <a:latin typeface="+mj-lt"/>
                <a:sym typeface="Courier" pitchFamily="125" charset="0"/>
              </a:rPr>
              <a:t>sArray</a:t>
            </a:r>
            <a:r>
              <a:rPr lang="en-US" altLang="zh-CN" sz="1800" b="1" dirty="0">
                <a:solidFill>
                  <a:srgbClr val="000000"/>
                </a:solidFill>
                <a:latin typeface="+mj-lt"/>
                <a:sym typeface="Courier" pitchFamily="125" charset="0"/>
              </a:rPr>
              <a:t> = new string[4];	</a:t>
            </a:r>
            <a:r>
              <a:rPr lang="en-US" altLang="zh-CN" sz="1800" b="1" dirty="0">
                <a:solidFill>
                  <a:srgbClr val="000000"/>
                </a:solidFill>
                <a:latin typeface="+mj-lt"/>
              </a:rPr>
              <a:t>// </a:t>
            </a:r>
            <a:r>
              <a:rPr lang="zh-CN" altLang="en-US" sz="1800" b="1" dirty="0">
                <a:solidFill>
                  <a:srgbClr val="000000"/>
                </a:solidFill>
                <a:latin typeface="+mj-lt"/>
              </a:rPr>
              <a:t>包含四个字符串的字符串数组</a:t>
            </a:r>
            <a:endParaRPr lang="en-US" altLang="zh-CN" sz="1800" b="1" dirty="0">
              <a:solidFill>
                <a:srgbClr val="000000"/>
              </a:solidFill>
              <a:latin typeface="+mj-lt"/>
            </a:endParaRPr>
          </a:p>
          <a:p>
            <a:pPr marL="915988" lvl="2" indent="0">
              <a:lnSpc>
                <a:spcPct val="120000"/>
              </a:lnSpc>
              <a:spcBef>
                <a:spcPts val="100"/>
              </a:spcBef>
              <a:buNone/>
            </a:pPr>
            <a:r>
              <a:rPr lang="en-US" altLang="zh-CN" sz="1800" b="1" dirty="0" err="1">
                <a:solidFill>
                  <a:srgbClr val="000000"/>
                </a:solidFill>
                <a:latin typeface="+mj-lt"/>
                <a:sym typeface="Courier" pitchFamily="125" charset="0"/>
              </a:rPr>
              <a:t>sArray</a:t>
            </a:r>
            <a:r>
              <a:rPr lang="en-US" altLang="zh-CN" sz="1800" b="1" dirty="0">
                <a:solidFill>
                  <a:srgbClr val="000000"/>
                </a:solidFill>
                <a:latin typeface="+mj-lt"/>
                <a:sym typeface="Courier" pitchFamily="125" charset="0"/>
              </a:rPr>
              <a:t> = new string[]{"A","B","C","D"};</a:t>
            </a:r>
            <a:endParaRPr lang="en-US" altLang="zh-CN" b="1" dirty="0">
              <a:latin typeface="+mj-lt"/>
            </a:endParaRPr>
          </a:p>
          <a:p>
            <a:pPr marL="839788" lvl="1" indent="-342900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</a:rPr>
              <a:t>这两个数组的长度始终为4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F69883AF-725D-6EED-CCBC-D2F7DADD752C}"/>
              </a:ext>
            </a:extLst>
          </p:cNvPr>
          <p:cNvGrpSpPr/>
          <p:nvPr/>
        </p:nvGrpSpPr>
        <p:grpSpPr>
          <a:xfrm>
            <a:off x="5350341" y="251474"/>
            <a:ext cx="1491318" cy="490115"/>
            <a:chOff x="4840431" y="207541"/>
            <a:chExt cx="1491318" cy="490115"/>
          </a:xfrm>
        </p:grpSpPr>
        <p:pic>
          <p:nvPicPr>
            <p:cNvPr id="5" name="Picture 4" descr="黑爵(AJAZZ)手柄/方向盘AG180报价_参数_图片_视频_怎么样_问答-苏宁易购">
              <a:extLst>
                <a:ext uri="{FF2B5EF4-FFF2-40B4-BE49-F238E27FC236}">
                  <a16:creationId xmlns:a16="http://schemas.microsoft.com/office/drawing/2014/main" id="{9D79DF63-6A93-61FC-C73F-5A4631B70C8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45" t="9275" r="3752" b="5379"/>
            <a:stretch/>
          </p:blipFill>
          <p:spPr bwMode="auto">
            <a:xfrm>
              <a:off x="4840431" y="321039"/>
              <a:ext cx="407315" cy="37661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Rectangle 3">
              <a:extLst>
                <a:ext uri="{FF2B5EF4-FFF2-40B4-BE49-F238E27FC236}">
                  <a16:creationId xmlns:a16="http://schemas.microsoft.com/office/drawing/2014/main" id="{3B137380-3B8A-F554-FCA9-F112EF7E6B2A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5298544" y="207541"/>
              <a:ext cx="1033205" cy="471065"/>
            </a:xfrm>
            <a:prstGeom prst="rect">
              <a:avLst/>
            </a:prstGeom>
            <a:noFill/>
          </p:spPr>
          <p:txBody>
            <a:bodyPr lIns="90488" tIns="44450" rIns="90488" bIns="44450"/>
            <a:lstStyle>
              <a:lvl1pPr marL="171450" indent="-17145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1pPr>
              <a:lvl2pPr marL="5143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8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2pPr>
              <a:lvl3pPr marL="8572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3pPr>
              <a:lvl4pPr marL="12001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4pPr>
              <a:lvl5pPr marL="15430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fontAlgn="base">
                <a:lnSpc>
                  <a:spcPct val="100000"/>
                </a:lnSpc>
                <a:buNone/>
              </a:pPr>
              <a:r>
                <a:rPr lang="zh-CN" altLang="en-US" sz="3200" dirty="0">
                  <a:latin typeface="Times New Roman" panose="02020603050405020304" pitchFamily="18" charset="0"/>
                  <a:ea typeface="楷体" panose="02010609060101010101" pitchFamily="49" charset="-122"/>
                  <a:sym typeface="+mn-ea"/>
                </a:rPr>
                <a:t>数组</a:t>
              </a:r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4" grpId="0" build="p" bldLvl="5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8" name="Rectangle 4">
            <a:extLst>
              <a:ext uri="{FF2B5EF4-FFF2-40B4-BE49-F238E27FC236}">
                <a16:creationId xmlns:a16="http://schemas.microsoft.com/office/drawing/2014/main" id="{748EE0FE-CF6D-DD6E-B0D6-389B48273648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>
          <a:xfrm>
            <a:off x="1667932" y="1193800"/>
            <a:ext cx="9152467" cy="4262967"/>
          </a:xfrm>
          <a:prstGeom prst="rect">
            <a:avLst/>
          </a:prstGeom>
        </p:spPr>
        <p:txBody>
          <a:bodyPr/>
          <a:lstStyle/>
          <a:p>
            <a:pPr eaLnBrk="1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A7357F"/>
                </a:solidFill>
                <a:latin typeface="+mj-ea"/>
                <a:ea typeface="+mj-ea"/>
              </a:rPr>
              <a:t>数</a:t>
            </a:r>
            <a:r>
              <a:rPr lang="en-US" altLang="zh-CN" sz="2000" b="1" dirty="0" err="1">
                <a:solidFill>
                  <a:srgbClr val="A7357F"/>
                </a:solidFill>
                <a:latin typeface="+mj-ea"/>
                <a:ea typeface="+mj-ea"/>
              </a:rPr>
              <a:t>组元素的访问和赋值都通过索引完成</a:t>
            </a:r>
            <a:endParaRPr lang="en-US" altLang="zh-CN" sz="2000" b="1" dirty="0">
              <a:solidFill>
                <a:srgbClr val="A7357F"/>
              </a:solidFill>
              <a:latin typeface="+mj-ea"/>
              <a:ea typeface="+mj-ea"/>
            </a:endParaRPr>
          </a:p>
          <a:p>
            <a:pPr marL="915988" lvl="2" indent="0">
              <a:lnSpc>
                <a:spcPct val="120000"/>
              </a:lnSpc>
              <a:spcBef>
                <a:spcPts val="100"/>
              </a:spcBef>
              <a:buNone/>
            </a:pPr>
            <a:r>
              <a:rPr lang="en-US" altLang="zh-CN" sz="1800" b="1" dirty="0" err="1">
                <a:solidFill>
                  <a:srgbClr val="000000"/>
                </a:solidFill>
                <a:latin typeface="+mj-lt"/>
                <a:sym typeface="Courier" pitchFamily="125" charset="0"/>
              </a:rPr>
              <a:t>sArray</a:t>
            </a:r>
            <a:r>
              <a:rPr lang="en-US" altLang="zh-CN" sz="1800" b="1" dirty="0">
                <a:solidFill>
                  <a:srgbClr val="000000"/>
                </a:solidFill>
                <a:latin typeface="+mj-lt"/>
                <a:sym typeface="Courier" pitchFamily="125" charset="0"/>
              </a:rPr>
              <a:t>[1] = "Bob";	</a:t>
            </a:r>
            <a:r>
              <a:rPr lang="en-US" altLang="zh-CN" sz="1800" b="1" dirty="0">
                <a:solidFill>
                  <a:srgbClr val="000000"/>
                </a:solidFill>
                <a:latin typeface="+mj-lt"/>
              </a:rPr>
              <a:t>//  </a:t>
            </a:r>
            <a:r>
              <a:rPr lang="zh-CN" altLang="en-US" sz="1800" b="1" dirty="0">
                <a:solidFill>
                  <a:srgbClr val="000000"/>
                </a:solidFill>
                <a:latin typeface="+mj-lt"/>
              </a:rPr>
              <a:t>将</a:t>
            </a:r>
            <a:r>
              <a:rPr lang="en-US" altLang="zh-CN" sz="1800" b="1" dirty="0">
                <a:solidFill>
                  <a:srgbClr val="000000"/>
                </a:solidFill>
                <a:latin typeface="+mj-lt"/>
              </a:rPr>
              <a:t>"Bob"</a:t>
            </a:r>
            <a:r>
              <a:rPr lang="zh-CN" altLang="en-US" sz="1800" b="1" dirty="0">
                <a:solidFill>
                  <a:srgbClr val="000000"/>
                </a:solidFill>
                <a:latin typeface="+mj-lt"/>
              </a:rPr>
              <a:t>赋值给索引为</a:t>
            </a:r>
            <a:r>
              <a:rPr lang="en-US" altLang="zh-CN" sz="1800" b="1" dirty="0">
                <a:solidFill>
                  <a:srgbClr val="000000"/>
                </a:solidFill>
                <a:latin typeface="+mj-lt"/>
              </a:rPr>
              <a:t>1</a:t>
            </a:r>
            <a:r>
              <a:rPr lang="zh-CN" altLang="en-US" sz="1800" b="1" dirty="0">
                <a:solidFill>
                  <a:srgbClr val="000000"/>
                </a:solidFill>
                <a:latin typeface="+mj-lt"/>
              </a:rPr>
              <a:t>的数组元素</a:t>
            </a:r>
            <a:endParaRPr lang="en-US" altLang="zh-CN" sz="1800" b="1" dirty="0">
              <a:solidFill>
                <a:srgbClr val="000000"/>
              </a:solidFill>
              <a:latin typeface="+mj-lt"/>
              <a:sym typeface="Courier" pitchFamily="125" charset="0"/>
            </a:endParaRPr>
          </a:p>
          <a:p>
            <a:pPr marL="915988" lvl="2" indent="0">
              <a:lnSpc>
                <a:spcPct val="120000"/>
              </a:lnSpc>
              <a:spcBef>
                <a:spcPts val="100"/>
              </a:spcBef>
              <a:buNone/>
            </a:pPr>
            <a:r>
              <a:rPr lang="en-US" altLang="zh-CN" sz="1800" b="1" dirty="0">
                <a:solidFill>
                  <a:srgbClr val="000000"/>
                </a:solidFill>
                <a:latin typeface="+mj-lt"/>
                <a:sym typeface="Courier" pitchFamily="125" charset="0"/>
              </a:rPr>
              <a:t>print(</a:t>
            </a:r>
            <a:r>
              <a:rPr lang="en-US" altLang="zh-CN" sz="1800" b="1" dirty="0" err="1">
                <a:solidFill>
                  <a:srgbClr val="000000"/>
                </a:solidFill>
                <a:latin typeface="+mj-lt"/>
                <a:sym typeface="Courier" pitchFamily="125" charset="0"/>
              </a:rPr>
              <a:t>sArray</a:t>
            </a:r>
            <a:r>
              <a:rPr lang="en-US" altLang="zh-CN" sz="1800" b="1" dirty="0">
                <a:solidFill>
                  <a:srgbClr val="000000"/>
                </a:solidFill>
                <a:latin typeface="+mj-lt"/>
                <a:sym typeface="Courier" pitchFamily="125" charset="0"/>
              </a:rPr>
              <a:t>[1]);	</a:t>
            </a:r>
            <a:r>
              <a:rPr lang="en-US" altLang="zh-CN" sz="1800" b="1" dirty="0">
                <a:solidFill>
                  <a:srgbClr val="000000"/>
                </a:solidFill>
                <a:latin typeface="+mj-lt"/>
              </a:rPr>
              <a:t>//  </a:t>
            </a:r>
            <a:r>
              <a:rPr lang="zh-CN" altLang="en-US" sz="1800" b="1" dirty="0">
                <a:solidFill>
                  <a:srgbClr val="000000"/>
                </a:solidFill>
                <a:latin typeface="+mj-lt"/>
              </a:rPr>
              <a:t>输出</a:t>
            </a:r>
            <a:r>
              <a:rPr lang="en-US" altLang="zh-CN" sz="1800" b="1" dirty="0">
                <a:solidFill>
                  <a:srgbClr val="000000"/>
                </a:solidFill>
                <a:latin typeface="+mj-lt"/>
              </a:rPr>
              <a:t>: "Bob"</a:t>
            </a:r>
            <a:endParaRPr lang="en-US" altLang="zh-CN" b="1" dirty="0">
              <a:latin typeface="+mj-lt"/>
            </a:endParaRP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A7357F"/>
                </a:solidFill>
                <a:latin typeface="+mj-ea"/>
                <a:ea typeface="+mj-ea"/>
              </a:rPr>
              <a:t>在数组中可以跳过元素</a:t>
            </a:r>
            <a:endParaRPr lang="en-US" altLang="zh-CN" sz="2000" b="1" dirty="0">
              <a:solidFill>
                <a:srgbClr val="A7357F"/>
              </a:solidFill>
              <a:latin typeface="+mj-ea"/>
              <a:ea typeface="+mj-ea"/>
            </a:endParaRPr>
          </a:p>
          <a:p>
            <a:pPr marL="914391" lvl="2" indent="0">
              <a:lnSpc>
                <a:spcPct val="120000"/>
              </a:lnSpc>
              <a:buNone/>
            </a:pPr>
            <a:r>
              <a:rPr lang="en-US" altLang="zh-CN" sz="1800" b="1" dirty="0" err="1">
                <a:solidFill>
                  <a:srgbClr val="000000"/>
                </a:solidFill>
                <a:latin typeface="+mj-lt"/>
              </a:rPr>
              <a:t>被跳过的元素将是该类型的默认值</a:t>
            </a:r>
            <a:endParaRPr lang="en-US" altLang="zh-CN" sz="1800" b="1" dirty="0">
              <a:solidFill>
                <a:srgbClr val="000000"/>
              </a:solidFill>
              <a:latin typeface="+mj-lt"/>
            </a:endParaRPr>
          </a:p>
          <a:p>
            <a:pPr marL="915988" lvl="2" indent="0">
              <a:lnSpc>
                <a:spcPct val="120000"/>
              </a:lnSpc>
              <a:spcBef>
                <a:spcPts val="100"/>
              </a:spcBef>
              <a:buNone/>
            </a:pPr>
            <a:r>
              <a:rPr lang="en-US" altLang="zh-CN" sz="1800" b="1" dirty="0">
                <a:solidFill>
                  <a:srgbClr val="000000"/>
                </a:solidFill>
                <a:latin typeface="+mj-lt"/>
                <a:sym typeface="Courier" pitchFamily="125" charset="0"/>
              </a:rPr>
              <a:t>string[] </a:t>
            </a:r>
            <a:r>
              <a:rPr lang="en-US" altLang="zh-CN" sz="1800" b="1" dirty="0" err="1">
                <a:solidFill>
                  <a:srgbClr val="000000"/>
                </a:solidFill>
                <a:latin typeface="+mj-lt"/>
                <a:sym typeface="Courier" pitchFamily="125" charset="0"/>
              </a:rPr>
              <a:t>sArray</a:t>
            </a:r>
            <a:r>
              <a:rPr lang="en-US" altLang="zh-CN" sz="1800" b="1" dirty="0">
                <a:solidFill>
                  <a:srgbClr val="000000"/>
                </a:solidFill>
                <a:latin typeface="+mj-lt"/>
                <a:sym typeface="Courier" pitchFamily="125" charset="0"/>
              </a:rPr>
              <a:t> = new string[4];	</a:t>
            </a:r>
            <a:r>
              <a:rPr lang="en-US" altLang="zh-CN" sz="1800" b="1" dirty="0">
                <a:solidFill>
                  <a:srgbClr val="000000"/>
                </a:solidFill>
                <a:latin typeface="+mj-lt"/>
              </a:rPr>
              <a:t>// 4个元素的字符串数组</a:t>
            </a:r>
            <a:endParaRPr lang="en-US" altLang="zh-CN" sz="1800" b="1" dirty="0">
              <a:solidFill>
                <a:srgbClr val="000000"/>
              </a:solidFill>
              <a:latin typeface="+mj-lt"/>
              <a:sym typeface="Courier" pitchFamily="125" charset="0"/>
            </a:endParaRPr>
          </a:p>
          <a:p>
            <a:pPr marL="915988" lvl="2" indent="0">
              <a:lnSpc>
                <a:spcPct val="120000"/>
              </a:lnSpc>
              <a:spcBef>
                <a:spcPts val="100"/>
              </a:spcBef>
              <a:buNone/>
            </a:pPr>
            <a:r>
              <a:rPr lang="en-US" altLang="zh-CN" sz="1800" b="1" dirty="0" err="1">
                <a:solidFill>
                  <a:srgbClr val="000000"/>
                </a:solidFill>
                <a:latin typeface="+mj-lt"/>
                <a:sym typeface="Courier" pitchFamily="125" charset="0"/>
              </a:rPr>
              <a:t>sArray</a:t>
            </a:r>
            <a:r>
              <a:rPr lang="en-US" altLang="zh-CN" sz="1800" b="1" dirty="0">
                <a:solidFill>
                  <a:srgbClr val="000000"/>
                </a:solidFill>
                <a:latin typeface="+mj-lt"/>
                <a:sym typeface="Courier" pitchFamily="125" charset="0"/>
              </a:rPr>
              <a:t>[0] = "A";			</a:t>
            </a:r>
            <a:r>
              <a:rPr lang="en-US" altLang="zh-CN" sz="1800" b="1" dirty="0">
                <a:solidFill>
                  <a:srgbClr val="000000"/>
                </a:solidFill>
                <a:latin typeface="+mj-lt"/>
              </a:rPr>
              <a:t>// ["A",</a:t>
            </a:r>
            <a:r>
              <a:rPr lang="en-US" altLang="zh-CN" sz="1800" b="1" dirty="0" err="1">
                <a:solidFill>
                  <a:srgbClr val="000000"/>
                </a:solidFill>
                <a:latin typeface="+mj-lt"/>
              </a:rPr>
              <a:t>null,null,null</a:t>
            </a:r>
            <a:r>
              <a:rPr lang="en-US" altLang="zh-CN" sz="1800" b="1" dirty="0">
                <a:solidFill>
                  <a:srgbClr val="000000"/>
                </a:solidFill>
                <a:latin typeface="+mj-lt"/>
              </a:rPr>
              <a:t>]</a:t>
            </a:r>
            <a:endParaRPr lang="en-US" altLang="zh-CN" sz="1800" b="1" dirty="0">
              <a:solidFill>
                <a:srgbClr val="000000"/>
              </a:solidFill>
              <a:latin typeface="+mj-lt"/>
              <a:sym typeface="Courier" pitchFamily="125" charset="0"/>
            </a:endParaRPr>
          </a:p>
          <a:p>
            <a:pPr marL="915988" lvl="2" indent="0">
              <a:lnSpc>
                <a:spcPct val="120000"/>
              </a:lnSpc>
              <a:spcBef>
                <a:spcPts val="100"/>
              </a:spcBef>
              <a:buNone/>
            </a:pPr>
            <a:r>
              <a:rPr lang="en-US" altLang="zh-CN" sz="1800" b="1" dirty="0" err="1">
                <a:solidFill>
                  <a:srgbClr val="000000"/>
                </a:solidFill>
                <a:latin typeface="+mj-lt"/>
                <a:sym typeface="Courier" pitchFamily="125" charset="0"/>
              </a:rPr>
              <a:t>sArray</a:t>
            </a:r>
            <a:r>
              <a:rPr lang="en-US" altLang="zh-CN" sz="1800" b="1" dirty="0">
                <a:solidFill>
                  <a:srgbClr val="000000"/>
                </a:solidFill>
                <a:latin typeface="+mj-lt"/>
                <a:sym typeface="Courier" pitchFamily="125" charset="0"/>
              </a:rPr>
              <a:t>[2] = "C";			</a:t>
            </a:r>
            <a:r>
              <a:rPr lang="en-US" altLang="zh-CN" sz="1800" b="1" dirty="0">
                <a:solidFill>
                  <a:srgbClr val="000000"/>
                </a:solidFill>
                <a:latin typeface="+mj-lt"/>
              </a:rPr>
              <a:t>// ["</a:t>
            </a:r>
            <a:r>
              <a:rPr lang="en-US" altLang="zh-CN" sz="1800" b="1" dirty="0" err="1">
                <a:solidFill>
                  <a:srgbClr val="000000"/>
                </a:solidFill>
                <a:latin typeface="+mj-lt"/>
              </a:rPr>
              <a:t>A",null,"C",null</a:t>
            </a:r>
            <a:r>
              <a:rPr lang="en-US" altLang="zh-CN" sz="1800" b="1" dirty="0">
                <a:solidFill>
                  <a:srgbClr val="000000"/>
                </a:solidFill>
                <a:latin typeface="+mj-lt"/>
              </a:rPr>
              <a:t>]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A7357F"/>
                </a:solidFill>
                <a:latin typeface="+mj-ea"/>
                <a:ea typeface="+mj-ea"/>
              </a:rPr>
              <a:t>数组不使用</a:t>
            </a:r>
            <a:r>
              <a:rPr lang="en-US" altLang="zh-CN" sz="2000" b="1" dirty="0">
                <a:solidFill>
                  <a:srgbClr val="A7357F"/>
                </a:solidFill>
                <a:latin typeface="+mj-ea"/>
                <a:ea typeface="+mj-ea"/>
              </a:rPr>
              <a:t>Count</a:t>
            </a:r>
            <a:r>
              <a:rPr lang="zh-CN" altLang="en-US" sz="2000" b="1" dirty="0">
                <a:solidFill>
                  <a:srgbClr val="A7357F"/>
                </a:solidFill>
                <a:latin typeface="+mj-ea"/>
                <a:ea typeface="+mj-ea"/>
              </a:rPr>
              <a:t>属性，而使用</a:t>
            </a:r>
            <a:r>
              <a:rPr lang="en-US" altLang="zh-CN" sz="2000" b="1" dirty="0">
                <a:solidFill>
                  <a:srgbClr val="A7357F"/>
                </a:solidFill>
                <a:latin typeface="+mj-ea"/>
                <a:ea typeface="+mj-ea"/>
              </a:rPr>
              <a:t>Length</a:t>
            </a:r>
            <a:r>
              <a:rPr lang="zh-CN" altLang="en-US" sz="2000" b="1" dirty="0">
                <a:solidFill>
                  <a:srgbClr val="A7357F"/>
                </a:solidFill>
                <a:latin typeface="+mj-ea"/>
                <a:ea typeface="+mj-ea"/>
              </a:rPr>
              <a:t>属性</a:t>
            </a:r>
            <a:r>
              <a:rPr lang="en-US" altLang="zh-CN" sz="2000" b="1" dirty="0">
                <a:solidFill>
                  <a:srgbClr val="A7357F"/>
                </a:solidFill>
                <a:latin typeface="+mj-ea"/>
                <a:ea typeface="+mj-ea"/>
              </a:rPr>
              <a:t> </a:t>
            </a:r>
          </a:p>
          <a:p>
            <a:pPr marL="915988" lvl="2" indent="0">
              <a:lnSpc>
                <a:spcPct val="120000"/>
              </a:lnSpc>
              <a:spcBef>
                <a:spcPts val="100"/>
              </a:spcBef>
              <a:buNone/>
            </a:pPr>
            <a:r>
              <a:rPr lang="en-US" altLang="zh-CN" sz="1800" b="1" dirty="0">
                <a:solidFill>
                  <a:srgbClr val="000000"/>
                </a:solidFill>
                <a:latin typeface="+mj-lt"/>
                <a:sym typeface="Courier" pitchFamily="125" charset="0"/>
              </a:rPr>
              <a:t>print( </a:t>
            </a:r>
            <a:r>
              <a:rPr lang="en-US" altLang="zh-CN" sz="1800" b="1" dirty="0" err="1">
                <a:solidFill>
                  <a:srgbClr val="000000"/>
                </a:solidFill>
                <a:latin typeface="+mj-lt"/>
                <a:sym typeface="Courier" pitchFamily="125" charset="0"/>
              </a:rPr>
              <a:t>sArray.Length</a:t>
            </a:r>
            <a:r>
              <a:rPr lang="en-US" altLang="zh-CN" sz="1800" b="1" dirty="0">
                <a:solidFill>
                  <a:srgbClr val="000000"/>
                </a:solidFill>
                <a:latin typeface="+mj-lt"/>
                <a:sym typeface="Courier" pitchFamily="125" charset="0"/>
              </a:rPr>
              <a:t> );		</a:t>
            </a:r>
            <a:r>
              <a:rPr lang="en-US" altLang="zh-CN" sz="1800" b="1" dirty="0">
                <a:solidFill>
                  <a:srgbClr val="000000"/>
                </a:solidFill>
                <a:latin typeface="+mj-lt"/>
              </a:rPr>
              <a:t>// </a:t>
            </a:r>
            <a:r>
              <a:rPr lang="zh-CN" altLang="en-US" sz="1800" b="1" dirty="0">
                <a:solidFill>
                  <a:srgbClr val="000000"/>
                </a:solidFill>
                <a:latin typeface="+mj-lt"/>
              </a:rPr>
              <a:t>输出</a:t>
            </a:r>
            <a:r>
              <a:rPr lang="en-US" altLang="zh-CN" sz="1800" b="1" dirty="0">
                <a:solidFill>
                  <a:srgbClr val="000000"/>
                </a:solidFill>
                <a:latin typeface="+mj-lt"/>
              </a:rPr>
              <a:t>: 4</a:t>
            </a:r>
          </a:p>
          <a:p>
            <a:pPr marL="915988" lvl="2" indent="0">
              <a:lnSpc>
                <a:spcPct val="120000"/>
              </a:lnSpc>
              <a:spcBef>
                <a:spcPts val="100"/>
              </a:spcBef>
              <a:buNone/>
            </a:pPr>
            <a:r>
              <a:rPr lang="en-US" altLang="zh-CN" sz="1800" b="1" dirty="0" err="1">
                <a:solidFill>
                  <a:srgbClr val="000000"/>
                </a:solidFill>
                <a:latin typeface="+mj-lt"/>
              </a:rPr>
              <a:t>这类似于字符串（字符串是字符的集合</a:t>
            </a:r>
            <a:r>
              <a:rPr lang="en-US" altLang="zh-CN" sz="1800" b="1" dirty="0">
                <a:solidFill>
                  <a:srgbClr val="000000"/>
                </a:solidFill>
                <a:latin typeface="+mj-lt"/>
              </a:rPr>
              <a:t>）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1946AC56-25A7-BB75-D5D5-3BE68AF70F5F}"/>
              </a:ext>
            </a:extLst>
          </p:cNvPr>
          <p:cNvGrpSpPr/>
          <p:nvPr/>
        </p:nvGrpSpPr>
        <p:grpSpPr>
          <a:xfrm>
            <a:off x="5350341" y="251474"/>
            <a:ext cx="1491318" cy="490115"/>
            <a:chOff x="4840431" y="207541"/>
            <a:chExt cx="1491318" cy="490115"/>
          </a:xfrm>
        </p:grpSpPr>
        <p:pic>
          <p:nvPicPr>
            <p:cNvPr id="5" name="Picture 4" descr="黑爵(AJAZZ)手柄/方向盘AG180报价_参数_图片_视频_怎么样_问答-苏宁易购">
              <a:extLst>
                <a:ext uri="{FF2B5EF4-FFF2-40B4-BE49-F238E27FC236}">
                  <a16:creationId xmlns:a16="http://schemas.microsoft.com/office/drawing/2014/main" id="{ED85760F-F2FC-7DC5-09AD-ADCB49B08E1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45" t="9275" r="3752" b="5379"/>
            <a:stretch/>
          </p:blipFill>
          <p:spPr bwMode="auto">
            <a:xfrm>
              <a:off x="4840431" y="321039"/>
              <a:ext cx="407315" cy="37661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Rectangle 3">
              <a:extLst>
                <a:ext uri="{FF2B5EF4-FFF2-40B4-BE49-F238E27FC236}">
                  <a16:creationId xmlns:a16="http://schemas.microsoft.com/office/drawing/2014/main" id="{BFA7F336-CEFC-50CB-E680-13DEA4DC42F3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5298544" y="207541"/>
              <a:ext cx="1033205" cy="471065"/>
            </a:xfrm>
            <a:prstGeom prst="rect">
              <a:avLst/>
            </a:prstGeom>
            <a:noFill/>
          </p:spPr>
          <p:txBody>
            <a:bodyPr lIns="90488" tIns="44450" rIns="90488" bIns="44450"/>
            <a:lstStyle>
              <a:lvl1pPr marL="171450" indent="-17145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1pPr>
              <a:lvl2pPr marL="5143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8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2pPr>
              <a:lvl3pPr marL="8572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3pPr>
              <a:lvl4pPr marL="12001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4pPr>
              <a:lvl5pPr marL="15430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fontAlgn="base">
                <a:lnSpc>
                  <a:spcPct val="100000"/>
                </a:lnSpc>
                <a:buNone/>
              </a:pPr>
              <a:r>
                <a:rPr lang="zh-CN" altLang="en-US" sz="3200" dirty="0">
                  <a:latin typeface="Times New Roman" panose="02020603050405020304" pitchFamily="18" charset="0"/>
                  <a:ea typeface="楷体" panose="02010609060101010101" pitchFamily="49" charset="-122"/>
                  <a:sym typeface="+mn-ea"/>
                </a:rPr>
                <a:t>数组</a:t>
              </a:r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8" grpId="0" build="p" bldLvl="5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2" name="Rectangle 4">
            <a:extLst>
              <a:ext uri="{FF2B5EF4-FFF2-40B4-BE49-F238E27FC236}">
                <a16:creationId xmlns:a16="http://schemas.microsoft.com/office/drawing/2014/main" id="{CBB98FF2-8437-011C-D1E3-EF93647FC621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>
          <a:xfrm>
            <a:off x="1727200" y="1344083"/>
            <a:ext cx="9118600" cy="4169833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A7357F"/>
                </a:solidFill>
                <a:latin typeface="+mj-ea"/>
                <a:ea typeface="+mj-ea"/>
              </a:rPr>
              <a:t>所有这些方法作用于数组</a:t>
            </a:r>
            <a:r>
              <a:rPr lang="en-US" altLang="zh-CN" sz="2000" b="1" dirty="0">
                <a:solidFill>
                  <a:srgbClr val="A7357F"/>
                </a:solidFill>
                <a:latin typeface="+mj-ea"/>
                <a:ea typeface="+mj-ea"/>
              </a:rPr>
              <a:t> ["A","B","C","D"]</a:t>
            </a:r>
          </a:p>
          <a:p>
            <a:pPr marL="915988" lvl="2" indent="-569913">
              <a:lnSpc>
                <a:spcPct val="120000"/>
              </a:lnSpc>
              <a:spcBef>
                <a:spcPts val="100"/>
              </a:spcBef>
              <a:buNone/>
            </a:pPr>
            <a:r>
              <a:rPr lang="en-US" altLang="zh-CN" sz="1800" b="1" dirty="0">
                <a:solidFill>
                  <a:srgbClr val="000000"/>
                </a:solidFill>
                <a:latin typeface="+mj-lt"/>
                <a:sym typeface="Courier" pitchFamily="125" charset="0"/>
              </a:rPr>
              <a:t>print(</a:t>
            </a:r>
            <a:r>
              <a:rPr lang="en-US" altLang="zh-CN" sz="1800" b="1" dirty="0" err="1">
                <a:solidFill>
                  <a:srgbClr val="000000"/>
                </a:solidFill>
                <a:latin typeface="+mj-lt"/>
                <a:sym typeface="Courier" pitchFamily="125" charset="0"/>
              </a:rPr>
              <a:t>sArray</a:t>
            </a:r>
            <a:r>
              <a:rPr lang="en-US" altLang="zh-CN" sz="1800" b="1" dirty="0">
                <a:solidFill>
                  <a:srgbClr val="000000"/>
                </a:solidFill>
                <a:latin typeface="+mj-lt"/>
                <a:sym typeface="Courier" pitchFamily="125" charset="0"/>
              </a:rPr>
              <a:t>[0]);			</a:t>
            </a:r>
            <a:r>
              <a:rPr lang="en-US" altLang="zh-CN" sz="1800" b="1" dirty="0">
                <a:solidFill>
                  <a:srgbClr val="000000"/>
                </a:solidFill>
                <a:latin typeface="+mj-lt"/>
              </a:rPr>
              <a:t>// </a:t>
            </a:r>
            <a:r>
              <a:rPr lang="zh-CN" altLang="en-US" sz="1800" b="1" dirty="0">
                <a:solidFill>
                  <a:srgbClr val="000000"/>
                </a:solidFill>
                <a:latin typeface="+mj-lt"/>
              </a:rPr>
              <a:t>输出</a:t>
            </a:r>
            <a:r>
              <a:rPr lang="en-US" altLang="zh-CN" sz="1800" b="1" dirty="0">
                <a:solidFill>
                  <a:srgbClr val="000000"/>
                </a:solidFill>
                <a:latin typeface="+mj-lt"/>
              </a:rPr>
              <a:t>: "A"</a:t>
            </a:r>
            <a:endParaRPr lang="en-US" altLang="zh-CN" sz="1800" b="1" dirty="0">
              <a:solidFill>
                <a:srgbClr val="000000"/>
              </a:solidFill>
              <a:latin typeface="+mj-lt"/>
              <a:sym typeface="Courier" pitchFamily="125" charset="0"/>
            </a:endParaRPr>
          </a:p>
          <a:p>
            <a:pPr marL="915988" lvl="2" indent="-569913">
              <a:lnSpc>
                <a:spcPct val="120000"/>
              </a:lnSpc>
              <a:spcBef>
                <a:spcPts val="100"/>
              </a:spcBef>
              <a:buNone/>
            </a:pPr>
            <a:r>
              <a:rPr lang="en-US" altLang="zh-CN" sz="1800" b="1" dirty="0" err="1">
                <a:solidFill>
                  <a:srgbClr val="000000"/>
                </a:solidFill>
                <a:latin typeface="+mj-lt"/>
                <a:sym typeface="Courier" pitchFamily="125" charset="0"/>
              </a:rPr>
              <a:t>sArray</a:t>
            </a:r>
            <a:r>
              <a:rPr lang="en-US" altLang="zh-CN" sz="1800" b="1" dirty="0">
                <a:solidFill>
                  <a:srgbClr val="000000"/>
                </a:solidFill>
                <a:latin typeface="+mj-lt"/>
                <a:sym typeface="Courier" pitchFamily="125" charset="0"/>
              </a:rPr>
              <a:t>[2]  = "Cow";		</a:t>
            </a:r>
            <a:r>
              <a:rPr lang="en-US" altLang="zh-CN" sz="1800" b="1" dirty="0">
                <a:solidFill>
                  <a:srgbClr val="000000"/>
                </a:solidFill>
                <a:latin typeface="+mj-lt"/>
              </a:rPr>
              <a:t>// ["</a:t>
            </a:r>
            <a:r>
              <a:rPr lang="en-US" altLang="zh-CN" sz="1800" b="1" dirty="0" err="1">
                <a:solidFill>
                  <a:srgbClr val="000000"/>
                </a:solidFill>
                <a:latin typeface="+mj-lt"/>
              </a:rPr>
              <a:t>A","B","Cow","D</a:t>
            </a:r>
            <a:r>
              <a:rPr lang="en-US" altLang="zh-CN" sz="1800" b="1" dirty="0">
                <a:solidFill>
                  <a:srgbClr val="000000"/>
                </a:solidFill>
                <a:latin typeface="+mj-lt"/>
              </a:rPr>
              <a:t>"]</a:t>
            </a:r>
          </a:p>
          <a:p>
            <a:pPr marL="915988" lvl="2" indent="-569913">
              <a:lnSpc>
                <a:spcPct val="120000"/>
              </a:lnSpc>
              <a:spcBef>
                <a:spcPts val="100"/>
              </a:spcBef>
              <a:buNone/>
            </a:pPr>
            <a:r>
              <a:rPr lang="en-US" altLang="zh-CN" sz="1800" b="1" dirty="0" err="1">
                <a:solidFill>
                  <a:srgbClr val="000000"/>
                </a:solidFill>
                <a:latin typeface="+mj-lt"/>
                <a:sym typeface="Courier" pitchFamily="125" charset="0"/>
              </a:rPr>
              <a:t>sArray</a:t>
            </a:r>
            <a:r>
              <a:rPr lang="en-US" altLang="zh-CN" sz="1800" b="1" dirty="0">
                <a:solidFill>
                  <a:srgbClr val="000000"/>
                </a:solidFill>
                <a:latin typeface="+mj-lt"/>
                <a:sym typeface="Courier" pitchFamily="125" charset="0"/>
              </a:rPr>
              <a:t>[10] = "Test";		</a:t>
            </a:r>
            <a:r>
              <a:rPr lang="en-US" altLang="zh-CN" sz="1800" b="1" dirty="0">
                <a:solidFill>
                  <a:srgbClr val="000000"/>
                </a:solidFill>
                <a:latin typeface="+mj-lt"/>
              </a:rPr>
              <a:t>// </a:t>
            </a:r>
            <a:r>
              <a:rPr lang="zh-CN" altLang="en-US" sz="1800" b="1" dirty="0">
                <a:solidFill>
                  <a:srgbClr val="000000"/>
                </a:solidFill>
                <a:latin typeface="+mj-lt"/>
              </a:rPr>
              <a:t>错误</a:t>
            </a:r>
            <a:r>
              <a:rPr lang="en-US" altLang="zh-CN" sz="1800" b="1" dirty="0">
                <a:solidFill>
                  <a:srgbClr val="000000"/>
                </a:solidFill>
                <a:latin typeface="+mj-lt"/>
              </a:rPr>
              <a:t>!!!   </a:t>
            </a:r>
            <a:r>
              <a:rPr lang="zh-CN" altLang="en-US" sz="1800" b="1" dirty="0">
                <a:solidFill>
                  <a:srgbClr val="000000"/>
                </a:solidFill>
                <a:latin typeface="+mj-lt"/>
              </a:rPr>
              <a:t>超出数组长度范围</a:t>
            </a:r>
            <a:endParaRPr lang="en-US" altLang="zh-CN" sz="1800" b="1" dirty="0">
              <a:solidFill>
                <a:srgbClr val="000000"/>
              </a:solidFill>
              <a:latin typeface="+mj-lt"/>
            </a:endParaRPr>
          </a:p>
          <a:p>
            <a:pPr marL="915988" lvl="2" indent="-569913">
              <a:lnSpc>
                <a:spcPct val="120000"/>
              </a:lnSpc>
              <a:spcBef>
                <a:spcPts val="100"/>
              </a:spcBef>
              <a:buNone/>
            </a:pPr>
            <a:r>
              <a:rPr lang="en-US" altLang="zh-CN" sz="1800" b="1" dirty="0" err="1">
                <a:solidFill>
                  <a:srgbClr val="000000"/>
                </a:solidFill>
                <a:latin typeface="+mj-lt"/>
                <a:sym typeface="Courier" pitchFamily="125" charset="0"/>
              </a:rPr>
              <a:t>sList.Remove</a:t>
            </a:r>
            <a:r>
              <a:rPr lang="en-US" altLang="zh-CN" sz="1800" b="1" dirty="0">
                <a:solidFill>
                  <a:srgbClr val="000000"/>
                </a:solidFill>
                <a:latin typeface="+mj-lt"/>
                <a:sym typeface="Courier" pitchFamily="125" charset="0"/>
              </a:rPr>
              <a:t>("C");		</a:t>
            </a:r>
            <a:r>
              <a:rPr lang="en-US" altLang="zh-CN" sz="1800" b="1" dirty="0">
                <a:solidFill>
                  <a:srgbClr val="000000"/>
                </a:solidFill>
                <a:latin typeface="+mj-lt"/>
              </a:rPr>
              <a:t>// ["A","B","D"]</a:t>
            </a:r>
          </a:p>
          <a:p>
            <a:pPr marL="915988" lvl="2" indent="-569913">
              <a:lnSpc>
                <a:spcPct val="120000"/>
              </a:lnSpc>
              <a:spcBef>
                <a:spcPts val="100"/>
              </a:spcBef>
              <a:buNone/>
            </a:pPr>
            <a:r>
              <a:rPr lang="en-US" altLang="zh-CN" sz="1800" b="1" dirty="0" err="1">
                <a:solidFill>
                  <a:srgbClr val="000000"/>
                </a:solidFill>
                <a:latin typeface="+mj-lt"/>
                <a:sym typeface="Courier" pitchFamily="125" charset="0"/>
              </a:rPr>
              <a:t>sList.RemoveAt</a:t>
            </a:r>
            <a:r>
              <a:rPr lang="en-US" altLang="zh-CN" sz="1800" b="1" dirty="0">
                <a:solidFill>
                  <a:srgbClr val="000000"/>
                </a:solidFill>
                <a:latin typeface="+mj-lt"/>
                <a:sym typeface="Courier" pitchFamily="125" charset="0"/>
              </a:rPr>
              <a:t>(1);		</a:t>
            </a:r>
            <a:r>
              <a:rPr lang="en-US" altLang="zh-CN" sz="1800" b="1" dirty="0">
                <a:solidFill>
                  <a:srgbClr val="000000"/>
                </a:solidFill>
                <a:latin typeface="+mj-lt"/>
              </a:rPr>
              <a:t>// ["A","C","D"]</a:t>
            </a:r>
            <a:endParaRPr lang="en-US" altLang="zh-CN" b="1" dirty="0">
              <a:latin typeface="+mj-lt"/>
            </a:endParaRP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A7357F"/>
                </a:solidFill>
                <a:latin typeface="+mj-ea"/>
                <a:ea typeface="+mj-ea"/>
              </a:rPr>
              <a:t>System.Array类的静态方法</a:t>
            </a:r>
          </a:p>
          <a:p>
            <a:pPr marL="915988" lvl="2" indent="-569913">
              <a:lnSpc>
                <a:spcPct val="120000"/>
              </a:lnSpc>
              <a:spcBef>
                <a:spcPts val="100"/>
              </a:spcBef>
              <a:buNone/>
            </a:pPr>
            <a:r>
              <a:rPr lang="en-US" altLang="zh-CN" sz="1800" b="1" dirty="0">
                <a:solidFill>
                  <a:srgbClr val="000000"/>
                </a:solidFill>
                <a:latin typeface="+mj-lt"/>
                <a:sym typeface="Courier" pitchFamily="125" charset="0"/>
              </a:rPr>
              <a:t>print(</a:t>
            </a:r>
            <a:r>
              <a:rPr lang="en-US" altLang="zh-CN" sz="1800" b="1" dirty="0" err="1">
                <a:solidFill>
                  <a:srgbClr val="000000"/>
                </a:solidFill>
                <a:latin typeface="+mj-lt"/>
                <a:sym typeface="Courier" pitchFamily="125" charset="0"/>
              </a:rPr>
              <a:t>System.Array.IndexOf</a:t>
            </a:r>
            <a:r>
              <a:rPr lang="en-US" altLang="zh-CN" sz="1800" b="1" dirty="0">
                <a:solidFill>
                  <a:srgbClr val="000000"/>
                </a:solidFill>
                <a:latin typeface="+mj-lt"/>
                <a:sym typeface="Courier" pitchFamily="125" charset="0"/>
              </a:rPr>
              <a:t>(</a:t>
            </a:r>
            <a:r>
              <a:rPr lang="en-US" altLang="zh-CN" sz="1800" b="1" dirty="0" err="1">
                <a:solidFill>
                  <a:srgbClr val="000000"/>
                </a:solidFill>
                <a:latin typeface="+mj-lt"/>
                <a:sym typeface="Courier" pitchFamily="125" charset="0"/>
              </a:rPr>
              <a:t>sArray</a:t>
            </a:r>
            <a:r>
              <a:rPr lang="en-US" altLang="zh-CN" sz="1800" b="1" dirty="0">
                <a:solidFill>
                  <a:srgbClr val="000000"/>
                </a:solidFill>
                <a:latin typeface="+mj-lt"/>
                <a:sym typeface="Courier" pitchFamily="125" charset="0"/>
              </a:rPr>
              <a:t>,"B")); 	</a:t>
            </a:r>
            <a:r>
              <a:rPr lang="en-US" altLang="zh-CN" sz="1800" b="1" dirty="0">
                <a:solidFill>
                  <a:srgbClr val="000000"/>
                </a:solidFill>
                <a:latin typeface="+mj-lt"/>
              </a:rPr>
              <a:t>// 1</a:t>
            </a:r>
          </a:p>
          <a:p>
            <a:pPr marL="915988" lvl="2" indent="-569913">
              <a:lnSpc>
                <a:spcPct val="120000"/>
              </a:lnSpc>
              <a:spcBef>
                <a:spcPts val="100"/>
              </a:spcBef>
              <a:buNone/>
            </a:pPr>
            <a:r>
              <a:rPr lang="en-US" altLang="zh-CN" sz="1800" b="1" dirty="0" err="1">
                <a:solidFill>
                  <a:srgbClr val="000000"/>
                </a:solidFill>
                <a:latin typeface="+mj-lt"/>
                <a:sym typeface="Courier" pitchFamily="125" charset="0"/>
              </a:rPr>
              <a:t>System.Array.Resize</a:t>
            </a:r>
            <a:r>
              <a:rPr lang="en-US" altLang="zh-CN" sz="1800" b="1" dirty="0">
                <a:solidFill>
                  <a:srgbClr val="000000"/>
                </a:solidFill>
                <a:latin typeface="+mj-lt"/>
                <a:sym typeface="Courier" pitchFamily="125" charset="0"/>
              </a:rPr>
              <a:t>(ref </a:t>
            </a:r>
            <a:r>
              <a:rPr lang="en-US" altLang="zh-CN" sz="1800" b="1" dirty="0" err="1">
                <a:solidFill>
                  <a:srgbClr val="000000"/>
                </a:solidFill>
                <a:latin typeface="+mj-lt"/>
                <a:sym typeface="Courier" pitchFamily="125" charset="0"/>
              </a:rPr>
              <a:t>sArray</a:t>
            </a:r>
            <a:r>
              <a:rPr lang="en-US" altLang="zh-CN" sz="1800" b="1" dirty="0">
                <a:solidFill>
                  <a:srgbClr val="000000"/>
                </a:solidFill>
                <a:latin typeface="+mj-lt"/>
                <a:sym typeface="Courier" pitchFamily="125" charset="0"/>
              </a:rPr>
              <a:t>, 6);    	</a:t>
            </a:r>
            <a:r>
              <a:rPr lang="en-US" altLang="zh-CN" sz="1800" b="1" dirty="0">
                <a:solidFill>
                  <a:srgbClr val="000000"/>
                </a:solidFill>
                <a:latin typeface="+mj-lt"/>
              </a:rPr>
              <a:t>// </a:t>
            </a:r>
            <a:r>
              <a:rPr lang="zh-CN" altLang="en-US" sz="1800" b="1" dirty="0">
                <a:solidFill>
                  <a:srgbClr val="000000"/>
                </a:solidFill>
                <a:latin typeface="+mj-lt"/>
              </a:rPr>
              <a:t>调整数组的长度为</a:t>
            </a:r>
            <a:r>
              <a:rPr lang="en-US" altLang="zh-CN" sz="1800" b="1" dirty="0">
                <a:solidFill>
                  <a:srgbClr val="000000"/>
                </a:solidFill>
                <a:latin typeface="+mj-lt"/>
              </a:rPr>
              <a:t>6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A7357F"/>
                </a:solidFill>
                <a:latin typeface="+mj-ea"/>
                <a:ea typeface="+mj-ea"/>
              </a:rPr>
              <a:t>数组可以转换为List</a:t>
            </a:r>
          </a:p>
          <a:p>
            <a:pPr marL="915988" lvl="2" indent="-569913">
              <a:lnSpc>
                <a:spcPct val="120000"/>
              </a:lnSpc>
              <a:spcBef>
                <a:spcPts val="100"/>
              </a:spcBef>
              <a:buNone/>
            </a:pPr>
            <a:r>
              <a:rPr lang="en-US" altLang="zh-CN" sz="1800" b="1" dirty="0">
                <a:solidFill>
                  <a:srgbClr val="000000"/>
                </a:solidFill>
                <a:latin typeface="+mj-lt"/>
                <a:sym typeface="Courier" pitchFamily="125" charset="0"/>
              </a:rPr>
              <a:t>List&lt;string&gt; </a:t>
            </a:r>
            <a:r>
              <a:rPr lang="en-US" altLang="zh-CN" sz="1800" b="1" dirty="0" err="1">
                <a:solidFill>
                  <a:srgbClr val="000000"/>
                </a:solidFill>
                <a:latin typeface="+mj-lt"/>
                <a:sym typeface="Courier" pitchFamily="125" charset="0"/>
              </a:rPr>
              <a:t>sList</a:t>
            </a:r>
            <a:r>
              <a:rPr lang="en-US" altLang="zh-CN" sz="1800" b="1" dirty="0">
                <a:solidFill>
                  <a:srgbClr val="000000"/>
                </a:solidFill>
                <a:latin typeface="+mj-lt"/>
                <a:sym typeface="Courier" pitchFamily="125" charset="0"/>
              </a:rPr>
              <a:t> = new List&lt;string&gt;(</a:t>
            </a:r>
            <a:r>
              <a:rPr lang="en-US" altLang="zh-CN" sz="1800" b="1" dirty="0" err="1">
                <a:solidFill>
                  <a:srgbClr val="000000"/>
                </a:solidFill>
                <a:latin typeface="+mj-lt"/>
                <a:sym typeface="Courier" pitchFamily="125" charset="0"/>
              </a:rPr>
              <a:t>sArray</a:t>
            </a:r>
            <a:r>
              <a:rPr lang="en-US" altLang="zh-CN" sz="1800" b="1" dirty="0">
                <a:solidFill>
                  <a:srgbClr val="000000"/>
                </a:solidFill>
                <a:latin typeface="+mj-lt"/>
                <a:sym typeface="Courier" pitchFamily="125" charset="0"/>
              </a:rPr>
              <a:t>);</a:t>
            </a:r>
            <a:endParaRPr lang="en-US" altLang="zh-CN" sz="1800" b="1" dirty="0">
              <a:solidFill>
                <a:srgbClr val="000000"/>
              </a:solidFill>
              <a:latin typeface="+mj-lt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CB7AABAA-4AEE-3BD5-DF72-F0B229FBF226}"/>
              </a:ext>
            </a:extLst>
          </p:cNvPr>
          <p:cNvGrpSpPr/>
          <p:nvPr/>
        </p:nvGrpSpPr>
        <p:grpSpPr>
          <a:xfrm>
            <a:off x="5350341" y="251474"/>
            <a:ext cx="1491318" cy="490115"/>
            <a:chOff x="4840431" y="207541"/>
            <a:chExt cx="1491318" cy="490115"/>
          </a:xfrm>
        </p:grpSpPr>
        <p:pic>
          <p:nvPicPr>
            <p:cNvPr id="5" name="Picture 4" descr="黑爵(AJAZZ)手柄/方向盘AG180报价_参数_图片_视频_怎么样_问答-苏宁易购">
              <a:extLst>
                <a:ext uri="{FF2B5EF4-FFF2-40B4-BE49-F238E27FC236}">
                  <a16:creationId xmlns:a16="http://schemas.microsoft.com/office/drawing/2014/main" id="{F0C790D4-F46C-881E-A281-FA7658849FB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45" t="9275" r="3752" b="5379"/>
            <a:stretch/>
          </p:blipFill>
          <p:spPr bwMode="auto">
            <a:xfrm>
              <a:off x="4840431" y="321039"/>
              <a:ext cx="407315" cy="37661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Rectangle 3">
              <a:extLst>
                <a:ext uri="{FF2B5EF4-FFF2-40B4-BE49-F238E27FC236}">
                  <a16:creationId xmlns:a16="http://schemas.microsoft.com/office/drawing/2014/main" id="{65972CCB-2873-F709-9327-F9C714121031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5298544" y="207541"/>
              <a:ext cx="1033205" cy="471065"/>
            </a:xfrm>
            <a:prstGeom prst="rect">
              <a:avLst/>
            </a:prstGeom>
            <a:noFill/>
          </p:spPr>
          <p:txBody>
            <a:bodyPr lIns="90488" tIns="44450" rIns="90488" bIns="44450"/>
            <a:lstStyle>
              <a:lvl1pPr marL="171450" indent="-17145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1pPr>
              <a:lvl2pPr marL="5143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8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2pPr>
              <a:lvl3pPr marL="8572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3pPr>
              <a:lvl4pPr marL="12001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4pPr>
              <a:lvl5pPr marL="15430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fontAlgn="base">
                <a:lnSpc>
                  <a:spcPct val="100000"/>
                </a:lnSpc>
                <a:buNone/>
              </a:pPr>
              <a:r>
                <a:rPr lang="zh-CN" altLang="en-US" sz="3200" dirty="0">
                  <a:latin typeface="Times New Roman" panose="02020603050405020304" pitchFamily="18" charset="0"/>
                  <a:ea typeface="楷体" panose="02010609060101010101" pitchFamily="49" charset="-122"/>
                  <a:sym typeface="+mn-ea"/>
                </a:rPr>
                <a:t>数组</a:t>
              </a:r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2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2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2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29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29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29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29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29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29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29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29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2" grpId="0" build="p" bldLvl="5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6" name="Rectangle 4">
            <a:extLst>
              <a:ext uri="{FF2B5EF4-FFF2-40B4-BE49-F238E27FC236}">
                <a16:creationId xmlns:a16="http://schemas.microsoft.com/office/drawing/2014/main" id="{2AF2F45C-4036-5265-BFEA-34EC3959A93B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>
          <a:xfrm>
            <a:off x="2180167" y="1295401"/>
            <a:ext cx="8229600" cy="4047067"/>
          </a:xfrm>
          <a:prstGeom prst="rect">
            <a:avLst/>
          </a:prstGeom>
        </p:spPr>
        <p:txBody>
          <a:bodyPr/>
          <a:lstStyle/>
          <a:p>
            <a:pPr eaLnBrk="1"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A7357F"/>
                </a:solidFill>
                <a:latin typeface="+mj-ea"/>
                <a:ea typeface="+mj-ea"/>
              </a:rPr>
              <a:t>数组可以具有多个维度</a:t>
            </a:r>
            <a:endParaRPr lang="en-US" altLang="zh-CN" sz="2000" b="1" dirty="0">
              <a:solidFill>
                <a:srgbClr val="A7357F"/>
              </a:solidFill>
              <a:latin typeface="+mj-ea"/>
              <a:ea typeface="+mj-ea"/>
            </a:endParaRPr>
          </a:p>
          <a:p>
            <a:pPr marL="458788" lvl="2" indent="0">
              <a:spcBef>
                <a:spcPts val="100"/>
              </a:spcBef>
              <a:buNone/>
            </a:pPr>
            <a:r>
              <a:rPr lang="en-US" altLang="zh-CN" sz="1800" b="1" dirty="0">
                <a:solidFill>
                  <a:srgbClr val="000000"/>
                </a:solidFill>
                <a:latin typeface="+mj-lt"/>
                <a:sym typeface="Courier" pitchFamily="125" charset="0"/>
              </a:rPr>
              <a:t>string[,] s2D = new string[4,4];	</a:t>
            </a:r>
            <a:r>
              <a:rPr lang="en-US" altLang="zh-CN" sz="1800" b="1" dirty="0">
                <a:solidFill>
                  <a:srgbClr val="000000"/>
                </a:solidFill>
                <a:latin typeface="+mj-lt"/>
              </a:rPr>
              <a:t>// 创建一个4x4的数组</a:t>
            </a:r>
            <a:br>
              <a:rPr lang="en-US" altLang="zh-CN" sz="1800" b="1" dirty="0">
                <a:solidFill>
                  <a:srgbClr val="000000"/>
                </a:solidFill>
                <a:latin typeface="+mj-lt"/>
              </a:rPr>
            </a:br>
            <a:r>
              <a:rPr lang="en-US" altLang="zh-CN" sz="1800" b="1" dirty="0">
                <a:solidFill>
                  <a:srgbClr val="000000"/>
                </a:solidFill>
                <a:latin typeface="+mj-lt"/>
                <a:sym typeface="Courier" pitchFamily="125" charset="0"/>
              </a:rPr>
              <a:t>s2D[0,0] = "A";</a:t>
            </a:r>
            <a:br>
              <a:rPr lang="en-US" altLang="zh-CN" sz="1800" b="1" dirty="0">
                <a:solidFill>
                  <a:srgbClr val="000000"/>
                </a:solidFill>
                <a:latin typeface="+mj-lt"/>
                <a:sym typeface="Courier" pitchFamily="125" charset="0"/>
              </a:rPr>
            </a:br>
            <a:r>
              <a:rPr lang="en-US" altLang="zh-CN" sz="1800" b="1" dirty="0">
                <a:solidFill>
                  <a:srgbClr val="000000"/>
                </a:solidFill>
                <a:latin typeface="+mj-lt"/>
                <a:sym typeface="Courier" pitchFamily="125" charset="0"/>
              </a:rPr>
              <a:t>s2D[0,3] = "B";</a:t>
            </a:r>
            <a:br>
              <a:rPr lang="en-US" altLang="zh-CN" sz="1800" b="1" dirty="0">
                <a:solidFill>
                  <a:srgbClr val="000000"/>
                </a:solidFill>
                <a:latin typeface="+mj-lt"/>
                <a:sym typeface="Courier" pitchFamily="125" charset="0"/>
              </a:rPr>
            </a:br>
            <a:r>
              <a:rPr lang="en-US" altLang="zh-CN" sz="1800" b="1" dirty="0">
                <a:solidFill>
                  <a:srgbClr val="000000"/>
                </a:solidFill>
                <a:latin typeface="+mj-lt"/>
                <a:sym typeface="Courier" pitchFamily="125" charset="0"/>
              </a:rPr>
              <a:t>s2D[1,2] = "C";</a:t>
            </a:r>
            <a:br>
              <a:rPr lang="en-US" altLang="zh-CN" sz="1800" b="1" dirty="0">
                <a:solidFill>
                  <a:srgbClr val="000000"/>
                </a:solidFill>
                <a:latin typeface="+mj-lt"/>
                <a:sym typeface="Courier" pitchFamily="125" charset="0"/>
              </a:rPr>
            </a:br>
            <a:r>
              <a:rPr lang="en-US" altLang="zh-CN" sz="1800" b="1" dirty="0">
                <a:solidFill>
                  <a:srgbClr val="000000"/>
                </a:solidFill>
                <a:latin typeface="+mj-lt"/>
                <a:sym typeface="Courier" pitchFamily="125" charset="0"/>
              </a:rPr>
              <a:t>s2D[3,1] = "D";</a:t>
            </a:r>
            <a:endParaRPr lang="en-US" altLang="zh-CN" b="1" dirty="0">
              <a:latin typeface="+mj-lt"/>
            </a:endParaRPr>
          </a:p>
          <a:p>
            <a:pPr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A7357F"/>
                </a:solidFill>
                <a:latin typeface="+mj-ea"/>
                <a:ea typeface="+mj-ea"/>
              </a:rPr>
              <a:t>这将创建一个二维数组</a:t>
            </a:r>
            <a:endParaRPr lang="en-US" altLang="zh-CN" sz="2000" b="1" dirty="0">
              <a:solidFill>
                <a:srgbClr val="A7357F"/>
              </a:solidFill>
              <a:latin typeface="+mj-ea"/>
              <a:ea typeface="+mj-ea"/>
              <a:sym typeface="Courier" pitchFamily="125" charset="0"/>
            </a:endParaRPr>
          </a:p>
          <a:p>
            <a:pPr marL="458788" lvl="2" indent="0">
              <a:spcBef>
                <a:spcPts val="100"/>
              </a:spcBef>
              <a:buNone/>
            </a:pPr>
            <a:r>
              <a:rPr lang="en-US" altLang="zh-CN" sz="1800" b="1" dirty="0">
                <a:solidFill>
                  <a:srgbClr val="000000"/>
                </a:solidFill>
                <a:latin typeface="+mj-lt"/>
                <a:sym typeface="Courier" pitchFamily="125" charset="0"/>
              </a:rPr>
              <a:t>| A |   |   | B |</a:t>
            </a:r>
            <a:br>
              <a:rPr lang="en-US" altLang="zh-CN" sz="1800" b="1" dirty="0">
                <a:solidFill>
                  <a:srgbClr val="000000"/>
                </a:solidFill>
                <a:latin typeface="+mj-lt"/>
                <a:sym typeface="Courier" pitchFamily="125" charset="0"/>
              </a:rPr>
            </a:br>
            <a:r>
              <a:rPr lang="en-US" altLang="zh-CN" sz="1800" b="1" dirty="0">
                <a:solidFill>
                  <a:srgbClr val="000000"/>
                </a:solidFill>
                <a:latin typeface="+mj-lt"/>
                <a:sym typeface="Courier" pitchFamily="125" charset="0"/>
              </a:rPr>
              <a:t>|   |   | C |   |</a:t>
            </a:r>
            <a:br>
              <a:rPr lang="en-US" altLang="zh-CN" sz="1800" b="1" dirty="0">
                <a:solidFill>
                  <a:srgbClr val="000000"/>
                </a:solidFill>
                <a:latin typeface="+mj-lt"/>
                <a:sym typeface="Courier" pitchFamily="125" charset="0"/>
              </a:rPr>
            </a:br>
            <a:r>
              <a:rPr lang="en-US" altLang="zh-CN" sz="1800" b="1" dirty="0">
                <a:solidFill>
                  <a:srgbClr val="000000"/>
                </a:solidFill>
                <a:latin typeface="+mj-lt"/>
                <a:sym typeface="Courier" pitchFamily="125" charset="0"/>
              </a:rPr>
              <a:t>|   |   |   |   |</a:t>
            </a:r>
            <a:br>
              <a:rPr lang="en-US" altLang="zh-CN" sz="1800" b="1" dirty="0">
                <a:solidFill>
                  <a:srgbClr val="000000"/>
                </a:solidFill>
                <a:latin typeface="+mj-lt"/>
                <a:sym typeface="Courier" pitchFamily="125" charset="0"/>
              </a:rPr>
            </a:br>
            <a:r>
              <a:rPr lang="en-US" altLang="zh-CN" sz="1800" b="1" dirty="0">
                <a:solidFill>
                  <a:srgbClr val="000000"/>
                </a:solidFill>
                <a:latin typeface="+mj-lt"/>
                <a:sym typeface="Courier" pitchFamily="125" charset="0"/>
              </a:rPr>
              <a:t>| D |   |   |   |</a:t>
            </a:r>
            <a:endParaRPr lang="en-US" altLang="zh-CN" sz="1800" b="1" dirty="0">
              <a:solidFill>
                <a:srgbClr val="000000"/>
              </a:solidFill>
              <a:latin typeface="+mj-lt"/>
            </a:endParaRPr>
          </a:p>
          <a:p>
            <a:pPr>
              <a:buFont typeface="Wingdings" panose="05000000000000000000" pitchFamily="2" charset="2"/>
              <a:buChar char="l"/>
            </a:pPr>
            <a:r>
              <a:rPr lang="en-US" altLang="zh-CN" sz="2000" b="1" dirty="0">
                <a:solidFill>
                  <a:srgbClr val="A7357F"/>
                </a:solidFill>
                <a:latin typeface="+mj-ea"/>
                <a:ea typeface="+mj-ea"/>
              </a:rPr>
              <a:t>Length</a:t>
            </a:r>
            <a:r>
              <a:rPr lang="zh-CN" altLang="en-US" sz="2000" b="1" dirty="0">
                <a:solidFill>
                  <a:srgbClr val="A7357F"/>
                </a:solidFill>
                <a:latin typeface="+mj-ea"/>
                <a:ea typeface="+mj-ea"/>
              </a:rPr>
              <a:t>属性仍然表示数组的总长度</a:t>
            </a:r>
            <a:endParaRPr lang="en-US" altLang="zh-CN" sz="2000" b="1" dirty="0">
              <a:solidFill>
                <a:srgbClr val="A7357F"/>
              </a:solidFill>
              <a:latin typeface="+mj-ea"/>
              <a:ea typeface="+mj-ea"/>
              <a:sym typeface="Courier" pitchFamily="125" charset="0"/>
            </a:endParaRPr>
          </a:p>
          <a:p>
            <a:pPr marL="458788" lvl="2" indent="0">
              <a:spcBef>
                <a:spcPts val="100"/>
              </a:spcBef>
              <a:buNone/>
            </a:pPr>
            <a:r>
              <a:rPr lang="en-US" altLang="zh-CN" sz="1800" b="1" dirty="0">
                <a:solidFill>
                  <a:srgbClr val="000000"/>
                </a:solidFill>
                <a:latin typeface="+mj-lt"/>
                <a:sym typeface="Courier" pitchFamily="125" charset="0"/>
              </a:rPr>
              <a:t>print( s2D.Length );			</a:t>
            </a:r>
            <a:r>
              <a:rPr lang="en-US" altLang="zh-CN" sz="1800" b="1" dirty="0">
                <a:solidFill>
                  <a:srgbClr val="000000"/>
                </a:solidFill>
                <a:latin typeface="+mj-lt"/>
              </a:rPr>
              <a:t>// </a:t>
            </a:r>
            <a:r>
              <a:rPr lang="zh-CN" altLang="en-US" sz="1800" b="1" dirty="0">
                <a:solidFill>
                  <a:srgbClr val="000000"/>
                </a:solidFill>
                <a:latin typeface="+mj-lt"/>
              </a:rPr>
              <a:t>输出</a:t>
            </a:r>
            <a:r>
              <a:rPr lang="en-US" altLang="zh-CN" sz="1800" b="1" dirty="0">
                <a:solidFill>
                  <a:srgbClr val="000000"/>
                </a:solidFill>
                <a:latin typeface="+mj-lt"/>
              </a:rPr>
              <a:t>: 16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39653019-AE9B-D06C-9B63-F5AE7E56350F}"/>
              </a:ext>
            </a:extLst>
          </p:cNvPr>
          <p:cNvGrpSpPr/>
          <p:nvPr/>
        </p:nvGrpSpPr>
        <p:grpSpPr>
          <a:xfrm>
            <a:off x="5350341" y="251474"/>
            <a:ext cx="2289979" cy="490115"/>
            <a:chOff x="4840431" y="207541"/>
            <a:chExt cx="2289979" cy="490115"/>
          </a:xfrm>
        </p:grpSpPr>
        <p:pic>
          <p:nvPicPr>
            <p:cNvPr id="5" name="Picture 4" descr="黑爵(AJAZZ)手柄/方向盘AG180报价_参数_图片_视频_怎么样_问答-苏宁易购">
              <a:extLst>
                <a:ext uri="{FF2B5EF4-FFF2-40B4-BE49-F238E27FC236}">
                  <a16:creationId xmlns:a16="http://schemas.microsoft.com/office/drawing/2014/main" id="{79741C18-2B76-AAA6-0271-FF3F921692B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45" t="9275" r="3752" b="5379"/>
            <a:stretch/>
          </p:blipFill>
          <p:spPr bwMode="auto">
            <a:xfrm>
              <a:off x="4840431" y="321039"/>
              <a:ext cx="407315" cy="37661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Rectangle 3">
              <a:extLst>
                <a:ext uri="{FF2B5EF4-FFF2-40B4-BE49-F238E27FC236}">
                  <a16:creationId xmlns:a16="http://schemas.microsoft.com/office/drawing/2014/main" id="{8D4A402C-8183-70D4-D7CE-C5171FC61A06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5298544" y="207541"/>
              <a:ext cx="1831866" cy="471065"/>
            </a:xfrm>
            <a:prstGeom prst="rect">
              <a:avLst/>
            </a:prstGeom>
            <a:noFill/>
          </p:spPr>
          <p:txBody>
            <a:bodyPr lIns="90488" tIns="44450" rIns="90488" bIns="44450"/>
            <a:lstStyle>
              <a:lvl1pPr marL="171450" indent="-17145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1pPr>
              <a:lvl2pPr marL="5143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8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2pPr>
              <a:lvl3pPr marL="8572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3pPr>
              <a:lvl4pPr marL="12001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4pPr>
              <a:lvl5pPr marL="15430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fontAlgn="base">
                <a:lnSpc>
                  <a:spcPct val="100000"/>
                </a:lnSpc>
                <a:buNone/>
              </a:pPr>
              <a:r>
                <a:rPr lang="zh-CN" altLang="en-US" sz="3200" dirty="0">
                  <a:latin typeface="Times New Roman" panose="02020603050405020304" pitchFamily="18" charset="0"/>
                  <a:ea typeface="楷体" panose="02010609060101010101" pitchFamily="49" charset="-122"/>
                  <a:sym typeface="+mn-ea"/>
                </a:rPr>
                <a:t>多维数组</a:t>
              </a:r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6" grpId="0" build="p" bldLvl="5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0" name="Rectangle 4">
            <a:extLst>
              <a:ext uri="{FF2B5EF4-FFF2-40B4-BE49-F238E27FC236}">
                <a16:creationId xmlns:a16="http://schemas.microsoft.com/office/drawing/2014/main" id="{268EE196-C340-2A2D-4D64-CAE3F1C644F4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>
          <a:xfrm>
            <a:off x="1981200" y="1104900"/>
            <a:ext cx="8229600" cy="5321300"/>
          </a:xfrm>
          <a:prstGeom prst="rect">
            <a:avLst/>
          </a:prstGeom>
        </p:spPr>
        <p:txBody>
          <a:bodyPr/>
          <a:lstStyle/>
          <a:p>
            <a:pPr marL="744542" lvl="1" indent="-285750">
              <a:spcBef>
                <a:spcPts val="100"/>
              </a:spcBef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A7357F"/>
                </a:solidFill>
                <a:sym typeface="Courier" pitchFamily="125" charset="0"/>
              </a:rPr>
              <a:t>代码</a:t>
            </a:r>
            <a:endParaRPr lang="en-US" altLang="zh-CN" sz="2000" b="1" dirty="0">
              <a:solidFill>
                <a:srgbClr val="000000"/>
              </a:solidFill>
              <a:latin typeface="+mj-lt"/>
              <a:sym typeface="Courier" pitchFamily="125" charset="0"/>
            </a:endParaRPr>
          </a:p>
          <a:p>
            <a:pPr marL="915988" lvl="2" indent="0">
              <a:spcBef>
                <a:spcPts val="100"/>
              </a:spcBef>
              <a:buNone/>
            </a:pPr>
            <a:r>
              <a:rPr lang="en-US" altLang="zh-CN" sz="1800" b="1" dirty="0">
                <a:solidFill>
                  <a:srgbClr val="000000"/>
                </a:solidFill>
                <a:latin typeface="+mj-lt"/>
                <a:sym typeface="Courier" pitchFamily="125" charset="0"/>
              </a:rPr>
              <a:t>string str = "";</a:t>
            </a:r>
            <a:br>
              <a:rPr lang="en-US" altLang="zh-CN" sz="1800" b="1" dirty="0">
                <a:solidFill>
                  <a:srgbClr val="000000"/>
                </a:solidFill>
                <a:latin typeface="+mj-lt"/>
                <a:sym typeface="Courier" pitchFamily="125" charset="0"/>
              </a:rPr>
            </a:br>
            <a:r>
              <a:rPr lang="en-US" altLang="zh-CN" sz="1800" b="1" dirty="0">
                <a:solidFill>
                  <a:srgbClr val="000000"/>
                </a:solidFill>
                <a:latin typeface="+mj-lt"/>
                <a:sym typeface="Courier" pitchFamily="125" charset="0"/>
              </a:rPr>
              <a:t>for (int </a:t>
            </a:r>
            <a:r>
              <a:rPr lang="en-US" altLang="zh-CN" sz="1800" b="1" dirty="0" err="1">
                <a:solidFill>
                  <a:srgbClr val="000000"/>
                </a:solidFill>
                <a:latin typeface="+mj-lt"/>
                <a:sym typeface="Courier" pitchFamily="125" charset="0"/>
              </a:rPr>
              <a:t>i</a:t>
            </a:r>
            <a:r>
              <a:rPr lang="en-US" altLang="zh-CN" sz="1800" b="1" dirty="0">
                <a:solidFill>
                  <a:srgbClr val="000000"/>
                </a:solidFill>
                <a:latin typeface="+mj-lt"/>
                <a:sym typeface="Courier" pitchFamily="125" charset="0"/>
              </a:rPr>
              <a:t>=0; </a:t>
            </a:r>
            <a:r>
              <a:rPr lang="en-US" altLang="zh-CN" sz="1800" b="1" dirty="0" err="1">
                <a:solidFill>
                  <a:srgbClr val="000000"/>
                </a:solidFill>
                <a:latin typeface="+mj-lt"/>
                <a:sym typeface="Courier" pitchFamily="125" charset="0"/>
              </a:rPr>
              <a:t>i</a:t>
            </a:r>
            <a:r>
              <a:rPr lang="en-US" altLang="zh-CN" sz="1800" b="1" dirty="0">
                <a:solidFill>
                  <a:srgbClr val="000000"/>
                </a:solidFill>
                <a:latin typeface="+mj-lt"/>
                <a:sym typeface="Courier" pitchFamily="125" charset="0"/>
              </a:rPr>
              <a:t>&lt;4; </a:t>
            </a:r>
            <a:r>
              <a:rPr lang="en-US" altLang="zh-CN" sz="1800" b="1" dirty="0" err="1">
                <a:solidFill>
                  <a:srgbClr val="000000"/>
                </a:solidFill>
                <a:latin typeface="+mj-lt"/>
                <a:sym typeface="Courier" pitchFamily="125" charset="0"/>
              </a:rPr>
              <a:t>i</a:t>
            </a:r>
            <a:r>
              <a:rPr lang="en-US" altLang="zh-CN" sz="1800" b="1" dirty="0">
                <a:solidFill>
                  <a:srgbClr val="000000"/>
                </a:solidFill>
                <a:latin typeface="+mj-lt"/>
                <a:sym typeface="Courier" pitchFamily="125" charset="0"/>
              </a:rPr>
              <a:t>++) {</a:t>
            </a:r>
            <a:br>
              <a:rPr lang="en-US" altLang="zh-CN" sz="1800" b="1" dirty="0">
                <a:solidFill>
                  <a:srgbClr val="000000"/>
                </a:solidFill>
                <a:latin typeface="+mj-lt"/>
                <a:sym typeface="Courier" pitchFamily="125" charset="0"/>
              </a:rPr>
            </a:br>
            <a:r>
              <a:rPr lang="en-US" altLang="zh-CN" sz="1800" b="1" dirty="0">
                <a:solidFill>
                  <a:srgbClr val="000000"/>
                </a:solidFill>
                <a:latin typeface="+mj-lt"/>
                <a:sym typeface="Courier" pitchFamily="125" charset="0"/>
              </a:rPr>
              <a:t>    for (int j=0; j&lt;4; </a:t>
            </a:r>
            <a:r>
              <a:rPr lang="en-US" altLang="zh-CN" sz="1800" b="1" dirty="0" err="1">
                <a:solidFill>
                  <a:srgbClr val="000000"/>
                </a:solidFill>
                <a:latin typeface="+mj-lt"/>
                <a:sym typeface="Courier" pitchFamily="125" charset="0"/>
              </a:rPr>
              <a:t>j++</a:t>
            </a:r>
            <a:r>
              <a:rPr lang="en-US" altLang="zh-CN" sz="1800" b="1" dirty="0">
                <a:solidFill>
                  <a:srgbClr val="000000"/>
                </a:solidFill>
                <a:latin typeface="+mj-lt"/>
                <a:sym typeface="Courier" pitchFamily="125" charset="0"/>
              </a:rPr>
              <a:t>) {</a:t>
            </a:r>
            <a:br>
              <a:rPr lang="en-US" altLang="zh-CN" sz="1800" b="1" dirty="0">
                <a:solidFill>
                  <a:srgbClr val="000000"/>
                </a:solidFill>
                <a:latin typeface="+mj-lt"/>
                <a:sym typeface="Courier" pitchFamily="125" charset="0"/>
              </a:rPr>
            </a:br>
            <a:r>
              <a:rPr lang="en-US" altLang="zh-CN" sz="1800" b="1" dirty="0">
                <a:solidFill>
                  <a:srgbClr val="000000"/>
                </a:solidFill>
                <a:latin typeface="+mj-lt"/>
                <a:sym typeface="Courier" pitchFamily="125" charset="0"/>
              </a:rPr>
              <a:t>        if(s2D[</a:t>
            </a:r>
            <a:r>
              <a:rPr lang="en-US" altLang="zh-CN" sz="1800" b="1" dirty="0" err="1">
                <a:solidFill>
                  <a:srgbClr val="000000"/>
                </a:solidFill>
                <a:latin typeface="+mj-lt"/>
                <a:sym typeface="Courier" pitchFamily="125" charset="0"/>
              </a:rPr>
              <a:t>i,j</a:t>
            </a:r>
            <a:r>
              <a:rPr lang="en-US" altLang="zh-CN" sz="1800" b="1" dirty="0">
                <a:solidFill>
                  <a:srgbClr val="000000"/>
                </a:solidFill>
                <a:latin typeface="+mj-lt"/>
                <a:sym typeface="Courier" pitchFamily="125" charset="0"/>
              </a:rPr>
              <a:t>] != null) {</a:t>
            </a:r>
            <a:br>
              <a:rPr lang="en-US" altLang="zh-CN" sz="1800" b="1" dirty="0">
                <a:solidFill>
                  <a:srgbClr val="000000"/>
                </a:solidFill>
                <a:latin typeface="+mj-lt"/>
                <a:sym typeface="Courier" pitchFamily="125" charset="0"/>
              </a:rPr>
            </a:br>
            <a:r>
              <a:rPr lang="en-US" altLang="zh-CN" sz="1800" b="1" dirty="0">
                <a:solidFill>
                  <a:srgbClr val="000000"/>
                </a:solidFill>
                <a:latin typeface="+mj-lt"/>
                <a:sym typeface="Courier" pitchFamily="125" charset="0"/>
              </a:rPr>
              <a:t>            str += "|" + s2D[</a:t>
            </a:r>
            <a:r>
              <a:rPr lang="en-US" altLang="zh-CN" sz="1800" b="1" dirty="0" err="1">
                <a:solidFill>
                  <a:srgbClr val="000000"/>
                </a:solidFill>
                <a:latin typeface="+mj-lt"/>
                <a:sym typeface="Courier" pitchFamily="125" charset="0"/>
              </a:rPr>
              <a:t>i,j</a:t>
            </a:r>
            <a:r>
              <a:rPr lang="en-US" altLang="zh-CN" sz="1800" b="1" dirty="0">
                <a:solidFill>
                  <a:srgbClr val="000000"/>
                </a:solidFill>
                <a:latin typeface="+mj-lt"/>
                <a:sym typeface="Courier" pitchFamily="125" charset="0"/>
              </a:rPr>
              <a:t>];</a:t>
            </a:r>
            <a:br>
              <a:rPr lang="en-US" altLang="zh-CN" sz="1800" b="1" dirty="0">
                <a:solidFill>
                  <a:srgbClr val="000000"/>
                </a:solidFill>
                <a:latin typeface="+mj-lt"/>
                <a:sym typeface="Courier" pitchFamily="125" charset="0"/>
              </a:rPr>
            </a:br>
            <a:r>
              <a:rPr lang="en-US" altLang="zh-CN" sz="1800" b="1" dirty="0">
                <a:solidFill>
                  <a:srgbClr val="000000"/>
                </a:solidFill>
                <a:latin typeface="+mj-lt"/>
                <a:sym typeface="Courier" pitchFamily="125" charset="0"/>
              </a:rPr>
              <a:t>        } else{                     </a:t>
            </a:r>
            <a:br>
              <a:rPr lang="en-US" altLang="zh-CN" sz="1800" b="1" dirty="0">
                <a:solidFill>
                  <a:srgbClr val="000000"/>
                </a:solidFill>
                <a:latin typeface="+mj-lt"/>
                <a:sym typeface="Courier" pitchFamily="125" charset="0"/>
              </a:rPr>
            </a:br>
            <a:r>
              <a:rPr lang="en-US" altLang="zh-CN" sz="1800" b="1" dirty="0">
                <a:solidFill>
                  <a:srgbClr val="000000"/>
                </a:solidFill>
                <a:latin typeface="+mj-lt"/>
                <a:sym typeface="Courier" pitchFamily="125" charset="0"/>
              </a:rPr>
              <a:t>            str += "|_";             </a:t>
            </a:r>
            <a:br>
              <a:rPr lang="en-US" altLang="zh-CN" sz="1800" b="1" dirty="0">
                <a:solidFill>
                  <a:srgbClr val="000000"/>
                </a:solidFill>
                <a:latin typeface="+mj-lt"/>
                <a:sym typeface="Courier" pitchFamily="125" charset="0"/>
              </a:rPr>
            </a:br>
            <a:r>
              <a:rPr lang="en-US" altLang="zh-CN" sz="1800" b="1" dirty="0">
                <a:solidFill>
                  <a:srgbClr val="000000"/>
                </a:solidFill>
                <a:latin typeface="+mj-lt"/>
                <a:sym typeface="Courier" pitchFamily="125" charset="0"/>
              </a:rPr>
              <a:t>        }                            </a:t>
            </a:r>
            <a:br>
              <a:rPr lang="en-US" altLang="zh-CN" sz="1800" b="1" dirty="0">
                <a:solidFill>
                  <a:srgbClr val="000000"/>
                </a:solidFill>
                <a:latin typeface="+mj-lt"/>
                <a:sym typeface="Courier" pitchFamily="125" charset="0"/>
              </a:rPr>
            </a:br>
            <a:r>
              <a:rPr lang="en-US" altLang="zh-CN" sz="1800" b="1" dirty="0">
                <a:solidFill>
                  <a:srgbClr val="000000"/>
                </a:solidFill>
                <a:latin typeface="+mj-lt"/>
                <a:sym typeface="Courier" pitchFamily="125" charset="0"/>
              </a:rPr>
              <a:t>    }</a:t>
            </a:r>
            <a:br>
              <a:rPr lang="en-US" altLang="zh-CN" sz="1800" b="1" dirty="0">
                <a:solidFill>
                  <a:srgbClr val="000000"/>
                </a:solidFill>
                <a:latin typeface="+mj-lt"/>
                <a:sym typeface="Courier" pitchFamily="125" charset="0"/>
              </a:rPr>
            </a:br>
            <a:r>
              <a:rPr lang="en-US" altLang="zh-CN" sz="1800" b="1" dirty="0">
                <a:solidFill>
                  <a:srgbClr val="000000"/>
                </a:solidFill>
                <a:latin typeface="+mj-lt"/>
                <a:sym typeface="Courier" pitchFamily="125" charset="0"/>
              </a:rPr>
              <a:t>    str += "|"+"\n";</a:t>
            </a:r>
            <a:br>
              <a:rPr lang="en-US" altLang="zh-CN" sz="1800" b="1" dirty="0">
                <a:solidFill>
                  <a:srgbClr val="000000"/>
                </a:solidFill>
                <a:latin typeface="+mj-lt"/>
                <a:sym typeface="Courier" pitchFamily="125" charset="0"/>
              </a:rPr>
            </a:br>
            <a:r>
              <a:rPr lang="en-US" altLang="zh-CN" sz="1800" b="1" dirty="0">
                <a:solidFill>
                  <a:srgbClr val="000000"/>
                </a:solidFill>
                <a:latin typeface="+mj-lt"/>
                <a:sym typeface="Courier" pitchFamily="125" charset="0"/>
              </a:rPr>
              <a:t>}</a:t>
            </a:r>
            <a:br>
              <a:rPr lang="en-US" altLang="zh-CN" sz="1800" b="1" dirty="0">
                <a:solidFill>
                  <a:srgbClr val="000000"/>
                </a:solidFill>
                <a:latin typeface="+mj-lt"/>
                <a:sym typeface="Courier" pitchFamily="125" charset="0"/>
              </a:rPr>
            </a:br>
            <a:r>
              <a:rPr lang="en-US" altLang="zh-CN" sz="1800" b="1" dirty="0">
                <a:solidFill>
                  <a:srgbClr val="000000"/>
                </a:solidFill>
                <a:latin typeface="+mj-lt"/>
                <a:sym typeface="Courier" pitchFamily="125" charset="0"/>
              </a:rPr>
              <a:t>print(str);</a:t>
            </a:r>
            <a:endParaRPr lang="en-US" altLang="zh-CN" b="1" dirty="0">
              <a:latin typeface="+mj-lt"/>
            </a:endParaRPr>
          </a:p>
          <a:p>
            <a:pPr marL="496888" lvl="1" indent="0">
              <a:spcBef>
                <a:spcPts val="300"/>
              </a:spcBef>
              <a:buNone/>
            </a:pPr>
            <a:endParaRPr lang="en-US" altLang="zh-CN" sz="2000" b="1" dirty="0">
              <a:solidFill>
                <a:srgbClr val="A7357F"/>
              </a:solidFill>
              <a:latin typeface="+mj-lt"/>
            </a:endParaRPr>
          </a:p>
          <a:p>
            <a:pPr marL="839788" lvl="1" indent="-342900">
              <a:spcBef>
                <a:spcPts val="300"/>
              </a:spcBef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A7357F"/>
                </a:solidFill>
                <a:latin typeface="+mj-lt"/>
              </a:rPr>
              <a:t>输出</a:t>
            </a:r>
            <a:endParaRPr lang="en-US" altLang="zh-CN" sz="1800" b="1" dirty="0">
              <a:solidFill>
                <a:srgbClr val="A7357F"/>
              </a:solidFill>
              <a:latin typeface="+mj-lt"/>
              <a:sym typeface="Courier" pitchFamily="125" charset="0"/>
            </a:endParaRPr>
          </a:p>
          <a:p>
            <a:pPr marL="915988" lvl="2" indent="0">
              <a:spcBef>
                <a:spcPts val="100"/>
              </a:spcBef>
              <a:buNone/>
            </a:pPr>
            <a:r>
              <a:rPr lang="en-US" altLang="zh-CN" b="1" dirty="0">
                <a:solidFill>
                  <a:srgbClr val="000000"/>
                </a:solidFill>
                <a:latin typeface="+mj-lt"/>
                <a:sym typeface="Courier" pitchFamily="125" charset="0"/>
              </a:rPr>
              <a:t>|A|_|_|B|</a:t>
            </a:r>
            <a:br>
              <a:rPr lang="en-US" altLang="zh-CN" b="1" dirty="0">
                <a:solidFill>
                  <a:srgbClr val="000000"/>
                </a:solidFill>
                <a:latin typeface="+mj-lt"/>
                <a:sym typeface="Courier" pitchFamily="125" charset="0"/>
              </a:rPr>
            </a:br>
            <a:r>
              <a:rPr lang="en-US" altLang="zh-CN" b="1" dirty="0">
                <a:solidFill>
                  <a:srgbClr val="000000"/>
                </a:solidFill>
                <a:latin typeface="+mj-lt"/>
                <a:sym typeface="Courier" pitchFamily="125" charset="0"/>
              </a:rPr>
              <a:t>|_|_|C|_|</a:t>
            </a:r>
            <a:br>
              <a:rPr lang="en-US" altLang="zh-CN" b="1" dirty="0">
                <a:solidFill>
                  <a:srgbClr val="000000"/>
                </a:solidFill>
                <a:latin typeface="+mj-lt"/>
                <a:sym typeface="Courier" pitchFamily="125" charset="0"/>
              </a:rPr>
            </a:br>
            <a:r>
              <a:rPr lang="en-US" altLang="zh-CN" b="1" dirty="0">
                <a:solidFill>
                  <a:srgbClr val="000000"/>
                </a:solidFill>
                <a:latin typeface="+mj-lt"/>
                <a:sym typeface="Courier" pitchFamily="125" charset="0"/>
              </a:rPr>
              <a:t>|_|_|_|_|</a:t>
            </a:r>
            <a:br>
              <a:rPr lang="en-US" altLang="zh-CN" b="1" dirty="0">
                <a:solidFill>
                  <a:srgbClr val="000000"/>
                </a:solidFill>
                <a:latin typeface="+mj-lt"/>
                <a:sym typeface="Courier" pitchFamily="125" charset="0"/>
              </a:rPr>
            </a:br>
            <a:r>
              <a:rPr lang="en-US" altLang="zh-CN" b="1" dirty="0">
                <a:solidFill>
                  <a:srgbClr val="000000"/>
                </a:solidFill>
                <a:latin typeface="+mj-lt"/>
                <a:sym typeface="Courier" pitchFamily="125" charset="0"/>
              </a:rPr>
              <a:t>|D|_|_|_|</a:t>
            </a:r>
            <a:endParaRPr lang="en-US" altLang="zh-CN" b="1" dirty="0">
              <a:solidFill>
                <a:srgbClr val="000000"/>
              </a:solidFill>
              <a:latin typeface="+mj-lt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D49482B6-4675-C3E0-D308-44EC969D001E}"/>
              </a:ext>
            </a:extLst>
          </p:cNvPr>
          <p:cNvGrpSpPr/>
          <p:nvPr/>
        </p:nvGrpSpPr>
        <p:grpSpPr>
          <a:xfrm>
            <a:off x="5350341" y="251474"/>
            <a:ext cx="2289979" cy="490115"/>
            <a:chOff x="4840431" y="207541"/>
            <a:chExt cx="2289979" cy="490115"/>
          </a:xfrm>
        </p:grpSpPr>
        <p:pic>
          <p:nvPicPr>
            <p:cNvPr id="5" name="Picture 4" descr="黑爵(AJAZZ)手柄/方向盘AG180报价_参数_图片_视频_怎么样_问答-苏宁易购">
              <a:extLst>
                <a:ext uri="{FF2B5EF4-FFF2-40B4-BE49-F238E27FC236}">
                  <a16:creationId xmlns:a16="http://schemas.microsoft.com/office/drawing/2014/main" id="{C76216E3-C14B-CB45-90A9-283731CE089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45" t="9275" r="3752" b="5379"/>
            <a:stretch/>
          </p:blipFill>
          <p:spPr bwMode="auto">
            <a:xfrm>
              <a:off x="4840431" y="321039"/>
              <a:ext cx="407315" cy="37661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Rectangle 3">
              <a:extLst>
                <a:ext uri="{FF2B5EF4-FFF2-40B4-BE49-F238E27FC236}">
                  <a16:creationId xmlns:a16="http://schemas.microsoft.com/office/drawing/2014/main" id="{3DB7E56C-2F8C-E48A-5A06-5C8D7EB5B09B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5298544" y="207541"/>
              <a:ext cx="1831866" cy="471065"/>
            </a:xfrm>
            <a:prstGeom prst="rect">
              <a:avLst/>
            </a:prstGeom>
            <a:noFill/>
          </p:spPr>
          <p:txBody>
            <a:bodyPr lIns="90488" tIns="44450" rIns="90488" bIns="44450"/>
            <a:lstStyle>
              <a:lvl1pPr marL="171450" indent="-17145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1pPr>
              <a:lvl2pPr marL="5143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8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2pPr>
              <a:lvl3pPr marL="8572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3pPr>
              <a:lvl4pPr marL="12001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4pPr>
              <a:lvl5pPr marL="15430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fontAlgn="base">
                <a:lnSpc>
                  <a:spcPct val="100000"/>
                </a:lnSpc>
                <a:buNone/>
              </a:pPr>
              <a:r>
                <a:rPr lang="zh-CN" altLang="en-US" sz="3200" dirty="0">
                  <a:latin typeface="Times New Roman" panose="02020603050405020304" pitchFamily="18" charset="0"/>
                  <a:ea typeface="楷体" panose="02010609060101010101" pitchFamily="49" charset="-122"/>
                  <a:sym typeface="+mn-ea"/>
                </a:rPr>
                <a:t>多维数组</a:t>
              </a:r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3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3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3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3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40" grpId="0" build="p" bldLvl="5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4" name="Rectangle 4">
            <a:extLst>
              <a:ext uri="{FF2B5EF4-FFF2-40B4-BE49-F238E27FC236}">
                <a16:creationId xmlns:a16="http://schemas.microsoft.com/office/drawing/2014/main" id="{15C11505-6AD9-A514-1887-157E63211EEE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>
          <a:xfrm>
            <a:off x="2078567" y="1278466"/>
            <a:ext cx="8229600" cy="4487334"/>
          </a:xfrm>
          <a:prstGeom prst="rect">
            <a:avLst/>
          </a:prstGeom>
        </p:spPr>
        <p:txBody>
          <a:bodyPr/>
          <a:lstStyle/>
          <a:p>
            <a:pPr eaLnBrk="1">
              <a:lnSpc>
                <a:spcPct val="100000"/>
              </a:lnSpc>
              <a:buFont typeface="Wingdings" panose="05000000000000000000" pitchFamily="2" charset="2"/>
              <a:buChar char="l"/>
            </a:pPr>
            <a:r>
              <a:rPr lang="en-US" altLang="zh-CN" sz="2000" b="1" dirty="0">
                <a:solidFill>
                  <a:srgbClr val="A7357F"/>
                </a:solidFill>
              </a:rPr>
              <a:t>List</a:t>
            </a:r>
            <a:r>
              <a:rPr lang="zh-CN" altLang="en-US" sz="2000" b="1" dirty="0">
                <a:solidFill>
                  <a:srgbClr val="A7357F"/>
                </a:solidFill>
              </a:rPr>
              <a:t>和数组都可以由其他</a:t>
            </a:r>
            <a:r>
              <a:rPr lang="en-US" altLang="zh-CN" sz="2000" b="1" dirty="0">
                <a:solidFill>
                  <a:srgbClr val="A7357F"/>
                </a:solidFill>
              </a:rPr>
              <a:t>List</a:t>
            </a:r>
            <a:r>
              <a:rPr lang="zh-CN" altLang="en-US" sz="2000" b="1" dirty="0">
                <a:solidFill>
                  <a:srgbClr val="A7357F"/>
                </a:solidFill>
              </a:rPr>
              <a:t>或数组组成</a:t>
            </a:r>
            <a:endParaRPr lang="en-US" altLang="zh-CN" sz="2000" b="1" dirty="0">
              <a:solidFill>
                <a:srgbClr val="A7357F"/>
              </a:solidFill>
            </a:endParaRPr>
          </a:p>
          <a:p>
            <a:pPr marL="569913" lvl="2" indent="0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altLang="zh-CN" sz="1800" b="1" dirty="0">
                <a:solidFill>
                  <a:srgbClr val="000000"/>
                </a:solidFill>
                <a:latin typeface="+mj-lt"/>
                <a:sym typeface="Courier" pitchFamily="125" charset="0"/>
              </a:rPr>
              <a:t>string[][] </a:t>
            </a:r>
            <a:r>
              <a:rPr lang="en-US" altLang="zh-CN" sz="1800" b="1" dirty="0" err="1">
                <a:solidFill>
                  <a:srgbClr val="000000"/>
                </a:solidFill>
                <a:latin typeface="+mj-lt"/>
                <a:sym typeface="Courier" pitchFamily="125" charset="0"/>
              </a:rPr>
              <a:t>jArray</a:t>
            </a:r>
            <a:r>
              <a:rPr lang="en-US" altLang="zh-CN" sz="1800" b="1" dirty="0">
                <a:solidFill>
                  <a:srgbClr val="000000"/>
                </a:solidFill>
                <a:latin typeface="+mj-lt"/>
                <a:sym typeface="Courier" pitchFamily="125" charset="0"/>
              </a:rPr>
              <a:t> = new string[3][];   </a:t>
            </a:r>
          </a:p>
          <a:p>
            <a:pPr marL="569913" lvl="2" indent="0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altLang="zh-CN" sz="1800" b="1" dirty="0" err="1">
                <a:solidFill>
                  <a:srgbClr val="000000"/>
                </a:solidFill>
                <a:latin typeface="+mj-lt"/>
                <a:sym typeface="Courier" pitchFamily="125" charset="0"/>
              </a:rPr>
              <a:t>jArray</a:t>
            </a:r>
            <a:r>
              <a:rPr lang="en-US" altLang="zh-CN" sz="1800" b="1" dirty="0">
                <a:solidFill>
                  <a:srgbClr val="000000"/>
                </a:solidFill>
                <a:latin typeface="+mj-lt"/>
                <a:sym typeface="Courier" pitchFamily="125" charset="0"/>
              </a:rPr>
              <a:t>[0]      	  = new string[4];</a:t>
            </a:r>
            <a:br>
              <a:rPr lang="en-US" altLang="zh-CN" sz="1800" b="1" dirty="0">
                <a:solidFill>
                  <a:srgbClr val="000000"/>
                </a:solidFill>
                <a:latin typeface="+mj-lt"/>
                <a:sym typeface="Courier" pitchFamily="125" charset="0"/>
              </a:rPr>
            </a:br>
            <a:r>
              <a:rPr lang="en-US" altLang="zh-CN" sz="1800" b="1" dirty="0" err="1">
                <a:solidFill>
                  <a:srgbClr val="000000"/>
                </a:solidFill>
                <a:latin typeface="+mj-lt"/>
                <a:sym typeface="Courier" pitchFamily="125" charset="0"/>
              </a:rPr>
              <a:t>jArray</a:t>
            </a:r>
            <a:r>
              <a:rPr lang="en-US" altLang="zh-CN" sz="1800" b="1" dirty="0">
                <a:solidFill>
                  <a:srgbClr val="000000"/>
                </a:solidFill>
                <a:latin typeface="+mj-lt"/>
                <a:sym typeface="Courier" pitchFamily="125" charset="0"/>
              </a:rPr>
              <a:t>[0][0] 	  = "A";</a:t>
            </a:r>
            <a:br>
              <a:rPr lang="en-US" altLang="zh-CN" sz="1800" b="1" dirty="0">
                <a:solidFill>
                  <a:srgbClr val="000000"/>
                </a:solidFill>
                <a:latin typeface="+mj-lt"/>
                <a:sym typeface="Courier" pitchFamily="125" charset="0"/>
              </a:rPr>
            </a:br>
            <a:r>
              <a:rPr lang="en-US" altLang="zh-CN" sz="1800" b="1" dirty="0" err="1">
                <a:solidFill>
                  <a:srgbClr val="000000"/>
                </a:solidFill>
                <a:latin typeface="+mj-lt"/>
                <a:sym typeface="Courier" pitchFamily="125" charset="0"/>
              </a:rPr>
              <a:t>jArray</a:t>
            </a:r>
            <a:r>
              <a:rPr lang="en-US" altLang="zh-CN" sz="1800" b="1" dirty="0">
                <a:solidFill>
                  <a:srgbClr val="000000"/>
                </a:solidFill>
                <a:latin typeface="+mj-lt"/>
                <a:sym typeface="Courier" pitchFamily="125" charset="0"/>
              </a:rPr>
              <a:t>[0][3] 	  = "B";</a:t>
            </a:r>
          </a:p>
          <a:p>
            <a:pPr marL="569913" lvl="2" indent="0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altLang="zh-CN" sz="1800" b="1" dirty="0" err="1">
                <a:solidFill>
                  <a:srgbClr val="000000"/>
                </a:solidFill>
                <a:latin typeface="+mj-lt"/>
                <a:sym typeface="Courier" pitchFamily="125" charset="0"/>
              </a:rPr>
              <a:t>jArray</a:t>
            </a:r>
            <a:r>
              <a:rPr lang="en-US" altLang="zh-CN" sz="1800" b="1" dirty="0">
                <a:solidFill>
                  <a:srgbClr val="000000"/>
                </a:solidFill>
                <a:latin typeface="+mj-lt"/>
                <a:sym typeface="Courier" pitchFamily="125" charset="0"/>
              </a:rPr>
              <a:t>[1] 	  = new string[] {"C","D","E"};</a:t>
            </a:r>
            <a:br>
              <a:rPr lang="en-US" altLang="zh-CN" sz="1800" b="1" dirty="0">
                <a:solidFill>
                  <a:srgbClr val="000000"/>
                </a:solidFill>
                <a:latin typeface="+mj-lt"/>
                <a:sym typeface="Courier" pitchFamily="125" charset="0"/>
              </a:rPr>
            </a:br>
            <a:r>
              <a:rPr lang="en-US" altLang="zh-CN" sz="1800" b="1" dirty="0" err="1">
                <a:solidFill>
                  <a:srgbClr val="000000"/>
                </a:solidFill>
                <a:latin typeface="+mj-lt"/>
                <a:sym typeface="Courier" pitchFamily="125" charset="0"/>
              </a:rPr>
              <a:t>jArray</a:t>
            </a:r>
            <a:r>
              <a:rPr lang="en-US" altLang="zh-CN" sz="1800" b="1" dirty="0">
                <a:solidFill>
                  <a:srgbClr val="000000"/>
                </a:solidFill>
                <a:latin typeface="+mj-lt"/>
                <a:sym typeface="Courier" pitchFamily="125" charset="0"/>
              </a:rPr>
              <a:t>[2] 	  = new string[] {"F","G"};</a:t>
            </a:r>
            <a:endParaRPr lang="en-US" altLang="zh-CN" b="1" dirty="0">
              <a:latin typeface="+mj-lt"/>
            </a:endParaRPr>
          </a:p>
          <a:p>
            <a:pPr marL="228598" lvl="1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A7357F"/>
                </a:solidFill>
              </a:rPr>
              <a:t>这将创建一个交错数组</a:t>
            </a:r>
            <a:endParaRPr lang="en-US" altLang="zh-CN" sz="2000" b="1" dirty="0">
              <a:solidFill>
                <a:srgbClr val="A7357F"/>
              </a:solidFill>
              <a:sym typeface="Courier" pitchFamily="125" charset="0"/>
            </a:endParaRPr>
          </a:p>
          <a:p>
            <a:pPr marL="569913" lvl="2" indent="0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altLang="zh-CN" sz="1800" b="1" dirty="0">
                <a:solidFill>
                  <a:srgbClr val="000000"/>
                </a:solidFill>
                <a:latin typeface="+mj-lt"/>
                <a:sym typeface="Courier" pitchFamily="125" charset="0"/>
              </a:rPr>
              <a:t>| A |   |   | B |</a:t>
            </a:r>
            <a:br>
              <a:rPr lang="en-US" altLang="zh-CN" sz="1800" b="1" dirty="0">
                <a:solidFill>
                  <a:srgbClr val="000000"/>
                </a:solidFill>
                <a:latin typeface="+mj-lt"/>
                <a:sym typeface="Courier" pitchFamily="125" charset="0"/>
              </a:rPr>
            </a:br>
            <a:r>
              <a:rPr lang="en-US" altLang="zh-CN" sz="1800" b="1" dirty="0">
                <a:solidFill>
                  <a:srgbClr val="000000"/>
                </a:solidFill>
                <a:latin typeface="+mj-lt"/>
                <a:sym typeface="Courier" pitchFamily="125" charset="0"/>
              </a:rPr>
              <a:t>| C | D | E |</a:t>
            </a:r>
            <a:br>
              <a:rPr lang="en-US" altLang="zh-CN" sz="1800" b="1" dirty="0">
                <a:solidFill>
                  <a:srgbClr val="000000"/>
                </a:solidFill>
                <a:latin typeface="+mj-lt"/>
                <a:sym typeface="Courier" pitchFamily="125" charset="0"/>
              </a:rPr>
            </a:br>
            <a:r>
              <a:rPr lang="en-US" altLang="zh-CN" sz="1800" b="1" dirty="0">
                <a:solidFill>
                  <a:srgbClr val="000000"/>
                </a:solidFill>
                <a:latin typeface="+mj-lt"/>
                <a:sym typeface="Courier" pitchFamily="125" charset="0"/>
              </a:rPr>
              <a:t>| F | G |</a:t>
            </a:r>
            <a:endParaRPr lang="en-US" altLang="zh-CN" sz="1800" b="1" dirty="0">
              <a:solidFill>
                <a:srgbClr val="000000"/>
              </a:solidFill>
              <a:latin typeface="+mj-lt"/>
            </a:endParaRPr>
          </a:p>
          <a:p>
            <a:pPr marL="228598" lvl="1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A7357F"/>
                </a:solidFill>
              </a:rPr>
              <a:t>交错数组的每个部分的长度现在都是准确的</a:t>
            </a:r>
            <a:endParaRPr lang="en-US" altLang="zh-CN" sz="2000" b="1" dirty="0">
              <a:solidFill>
                <a:srgbClr val="A7357F"/>
              </a:solidFill>
              <a:sym typeface="Courier" pitchFamily="125" charset="0"/>
            </a:endParaRPr>
          </a:p>
          <a:p>
            <a:pPr marL="569913" lvl="2" indent="0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altLang="zh-CN" sz="1800" b="1" dirty="0">
                <a:solidFill>
                  <a:srgbClr val="000000"/>
                </a:solidFill>
                <a:latin typeface="+mj-lt"/>
                <a:sym typeface="Courier" pitchFamily="125" charset="0"/>
              </a:rPr>
              <a:t>print( </a:t>
            </a:r>
            <a:r>
              <a:rPr lang="en-US" altLang="zh-CN" sz="1800" b="1" dirty="0" err="1">
                <a:solidFill>
                  <a:srgbClr val="000000"/>
                </a:solidFill>
                <a:latin typeface="+mj-lt"/>
                <a:sym typeface="Courier" pitchFamily="125" charset="0"/>
              </a:rPr>
              <a:t>jArray.Length</a:t>
            </a:r>
            <a:r>
              <a:rPr lang="en-US" altLang="zh-CN" sz="1800" b="1" dirty="0">
                <a:solidFill>
                  <a:srgbClr val="000000"/>
                </a:solidFill>
                <a:latin typeface="+mj-lt"/>
                <a:sym typeface="Courier" pitchFamily="125" charset="0"/>
              </a:rPr>
              <a:t> );		</a:t>
            </a:r>
            <a:r>
              <a:rPr lang="en-US" altLang="zh-CN" sz="1800" b="1" dirty="0">
                <a:solidFill>
                  <a:srgbClr val="000000"/>
                </a:solidFill>
                <a:latin typeface="+mj-lt"/>
              </a:rPr>
              <a:t>// </a:t>
            </a:r>
            <a:r>
              <a:rPr lang="zh-CN" altLang="en-US" sz="1800" b="1" dirty="0">
                <a:solidFill>
                  <a:srgbClr val="000000"/>
                </a:solidFill>
                <a:latin typeface="+mj-lt"/>
              </a:rPr>
              <a:t>输出</a:t>
            </a:r>
            <a:r>
              <a:rPr lang="en-US" altLang="zh-CN" sz="1800" b="1" dirty="0">
                <a:solidFill>
                  <a:srgbClr val="000000"/>
                </a:solidFill>
                <a:latin typeface="+mj-lt"/>
              </a:rPr>
              <a:t>: 4</a:t>
            </a:r>
            <a:br>
              <a:rPr lang="en-US" altLang="zh-CN" sz="1800" b="1" dirty="0">
                <a:solidFill>
                  <a:srgbClr val="000000"/>
                </a:solidFill>
                <a:latin typeface="+mj-lt"/>
              </a:rPr>
            </a:br>
            <a:r>
              <a:rPr lang="en-US" altLang="zh-CN" sz="1800" b="1" dirty="0">
                <a:solidFill>
                  <a:srgbClr val="000000"/>
                </a:solidFill>
                <a:latin typeface="+mj-lt"/>
                <a:sym typeface="Courier" pitchFamily="125" charset="0"/>
              </a:rPr>
              <a:t>print( </a:t>
            </a:r>
            <a:r>
              <a:rPr lang="en-US" altLang="zh-CN" sz="1800" b="1" dirty="0" err="1">
                <a:solidFill>
                  <a:srgbClr val="000000"/>
                </a:solidFill>
                <a:latin typeface="+mj-lt"/>
                <a:sym typeface="Courier" pitchFamily="125" charset="0"/>
              </a:rPr>
              <a:t>jArray</a:t>
            </a:r>
            <a:r>
              <a:rPr lang="en-US" altLang="zh-CN" sz="1800" b="1" dirty="0">
                <a:solidFill>
                  <a:srgbClr val="000000"/>
                </a:solidFill>
                <a:latin typeface="+mj-lt"/>
                <a:sym typeface="Courier" pitchFamily="125" charset="0"/>
              </a:rPr>
              <a:t>[1].Length );		</a:t>
            </a:r>
            <a:r>
              <a:rPr lang="en-US" altLang="zh-CN" sz="1800" b="1" dirty="0">
                <a:solidFill>
                  <a:srgbClr val="000000"/>
                </a:solidFill>
                <a:latin typeface="+mj-lt"/>
              </a:rPr>
              <a:t>// </a:t>
            </a:r>
            <a:r>
              <a:rPr lang="zh-CN" altLang="en-US" sz="1800" b="1" dirty="0">
                <a:solidFill>
                  <a:srgbClr val="000000"/>
                </a:solidFill>
                <a:latin typeface="+mj-lt"/>
              </a:rPr>
              <a:t>输出</a:t>
            </a:r>
            <a:r>
              <a:rPr lang="en-US" altLang="zh-CN" sz="1800" b="1" dirty="0">
                <a:solidFill>
                  <a:srgbClr val="000000"/>
                </a:solidFill>
                <a:latin typeface="+mj-lt"/>
              </a:rPr>
              <a:t>: 3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46070F08-954E-3540-D561-32D2E40275B4}"/>
              </a:ext>
            </a:extLst>
          </p:cNvPr>
          <p:cNvGrpSpPr/>
          <p:nvPr/>
        </p:nvGrpSpPr>
        <p:grpSpPr>
          <a:xfrm>
            <a:off x="4402370" y="251474"/>
            <a:ext cx="3387259" cy="490115"/>
            <a:chOff x="4840431" y="207541"/>
            <a:chExt cx="3387259" cy="490115"/>
          </a:xfrm>
        </p:grpSpPr>
        <p:pic>
          <p:nvPicPr>
            <p:cNvPr id="5" name="Picture 4" descr="黑爵(AJAZZ)手柄/方向盘AG180报价_参数_图片_视频_怎么样_问答-苏宁易购">
              <a:extLst>
                <a:ext uri="{FF2B5EF4-FFF2-40B4-BE49-F238E27FC236}">
                  <a16:creationId xmlns:a16="http://schemas.microsoft.com/office/drawing/2014/main" id="{9E80F878-87A5-B9B7-C73C-4F6B22D4DEB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45" t="9275" r="3752" b="5379"/>
            <a:stretch/>
          </p:blipFill>
          <p:spPr bwMode="auto">
            <a:xfrm>
              <a:off x="4840431" y="321039"/>
              <a:ext cx="407315" cy="37661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Rectangle 3">
              <a:extLst>
                <a:ext uri="{FF2B5EF4-FFF2-40B4-BE49-F238E27FC236}">
                  <a16:creationId xmlns:a16="http://schemas.microsoft.com/office/drawing/2014/main" id="{E9969832-348E-AE72-8137-BEC55142C0CF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5298544" y="207541"/>
              <a:ext cx="2929146" cy="471065"/>
            </a:xfrm>
            <a:prstGeom prst="rect">
              <a:avLst/>
            </a:prstGeom>
            <a:noFill/>
          </p:spPr>
          <p:txBody>
            <a:bodyPr lIns="90488" tIns="44450" rIns="90488" bIns="44450"/>
            <a:lstStyle>
              <a:lvl1pPr marL="171450" indent="-17145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1pPr>
              <a:lvl2pPr marL="5143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8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2pPr>
              <a:lvl3pPr marL="8572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3pPr>
              <a:lvl4pPr marL="12001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4pPr>
              <a:lvl5pPr marL="15430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fontAlgn="base">
                <a:lnSpc>
                  <a:spcPct val="100000"/>
                </a:lnSpc>
                <a:buNone/>
              </a:pPr>
              <a:r>
                <a:rPr lang="zh-CN" altLang="en-US" sz="3200" dirty="0">
                  <a:latin typeface="Times New Roman" panose="02020603050405020304" pitchFamily="18" charset="0"/>
                  <a:ea typeface="楷体" panose="02010609060101010101" pitchFamily="49" charset="-122"/>
                  <a:sym typeface="+mn-ea"/>
                </a:rPr>
                <a:t>交错数组和</a:t>
              </a:r>
              <a:r>
                <a:rPr lang="en-US" altLang="zh-CN" sz="3200" dirty="0">
                  <a:latin typeface="Times New Roman" panose="02020603050405020304" pitchFamily="18" charset="0"/>
                  <a:ea typeface="楷体" panose="02010609060101010101" pitchFamily="49" charset="-122"/>
                  <a:sym typeface="+mn-ea"/>
                </a:rPr>
                <a:t>List</a:t>
              </a:r>
              <a:endParaRPr lang="zh-CN" altLang="en-US" sz="3200" dirty="0">
                <a:latin typeface="Times New Roman" panose="02020603050405020304" pitchFamily="18" charset="0"/>
                <a:ea typeface="楷体" panose="02010609060101010101" pitchFamily="49" charset="-122"/>
                <a:sym typeface="+mn-ea"/>
              </a:endParaRPr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3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3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3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3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36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36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36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36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4" grpId="0" build="p" bldLvl="5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8" name="Rectangle 4">
            <a:extLst>
              <a:ext uri="{FF2B5EF4-FFF2-40B4-BE49-F238E27FC236}">
                <a16:creationId xmlns:a16="http://schemas.microsoft.com/office/drawing/2014/main" id="{206776ED-8513-2217-6ED3-C57437BD0BB6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>
          <a:xfrm>
            <a:off x="1981199" y="1104900"/>
            <a:ext cx="8644467" cy="5321300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10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A7357F"/>
                </a:solidFill>
                <a:sym typeface="Courier" pitchFamily="125" charset="0"/>
              </a:rPr>
              <a:t>可以使用</a:t>
            </a:r>
            <a:r>
              <a:rPr lang="en-US" altLang="zh-CN" sz="2000" b="1" dirty="0">
                <a:solidFill>
                  <a:srgbClr val="A7357F"/>
                </a:solidFill>
                <a:sym typeface="Courier" pitchFamily="125" charset="0"/>
              </a:rPr>
              <a:t>foreach</a:t>
            </a:r>
            <a:r>
              <a:rPr lang="zh-CN" altLang="en-US" sz="2000" b="1" dirty="0">
                <a:solidFill>
                  <a:srgbClr val="A7357F"/>
                </a:solidFill>
                <a:sym typeface="Courier" pitchFamily="125" charset="0"/>
              </a:rPr>
              <a:t>循环遍历</a:t>
            </a:r>
            <a:r>
              <a:rPr lang="en-US" altLang="zh-CN" sz="2000" b="1" dirty="0">
                <a:solidFill>
                  <a:srgbClr val="A7357F"/>
                </a:solidFill>
                <a:sym typeface="Courier" pitchFamily="125" charset="0"/>
              </a:rPr>
              <a:t>List</a:t>
            </a:r>
            <a:r>
              <a:rPr lang="zh-CN" altLang="en-US" sz="2000" b="1" dirty="0">
                <a:solidFill>
                  <a:srgbClr val="A7357F"/>
                </a:solidFill>
                <a:sym typeface="Courier" pitchFamily="125" charset="0"/>
              </a:rPr>
              <a:t>和数组</a:t>
            </a:r>
            <a:endParaRPr lang="en-US" altLang="zh-CN" sz="2000" b="1" dirty="0">
              <a:solidFill>
                <a:srgbClr val="A7357F"/>
              </a:solidFill>
            </a:endParaRPr>
          </a:p>
          <a:p>
            <a:pPr marL="569913" lvl="2" indent="0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altLang="zh-CN" sz="1800" b="1" dirty="0">
                <a:solidFill>
                  <a:srgbClr val="000000"/>
                </a:solidFill>
                <a:latin typeface="+mj-lt"/>
                <a:sym typeface="Courier" pitchFamily="125" charset="0"/>
              </a:rPr>
              <a:t>string[] </a:t>
            </a:r>
            <a:r>
              <a:rPr lang="en-US" altLang="zh-CN" sz="1800" b="1" dirty="0" err="1">
                <a:solidFill>
                  <a:srgbClr val="000000"/>
                </a:solidFill>
                <a:latin typeface="+mj-lt"/>
                <a:sym typeface="Courier" pitchFamily="125" charset="0"/>
              </a:rPr>
              <a:t>sArray</a:t>
            </a:r>
            <a:r>
              <a:rPr lang="en-US" altLang="zh-CN" sz="1800" b="1" dirty="0">
                <a:solidFill>
                  <a:srgbClr val="000000"/>
                </a:solidFill>
                <a:latin typeface="+mj-lt"/>
                <a:sym typeface="Courier" pitchFamily="125" charset="0"/>
              </a:rPr>
              <a:t> = new string[]{"A","B","C","D"};</a:t>
            </a:r>
          </a:p>
          <a:p>
            <a:pPr marL="569913" lvl="2" indent="0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altLang="zh-CN" sz="1800" b="1" dirty="0">
                <a:solidFill>
                  <a:srgbClr val="000000"/>
                </a:solidFill>
                <a:latin typeface="+mj-lt"/>
                <a:sym typeface="Courier" pitchFamily="125" charset="0"/>
              </a:rPr>
              <a:t>string str = "";</a:t>
            </a:r>
            <a:br>
              <a:rPr lang="en-US" altLang="zh-CN" sz="1800" b="1" dirty="0">
                <a:solidFill>
                  <a:srgbClr val="000000"/>
                </a:solidFill>
                <a:latin typeface="+mj-lt"/>
                <a:sym typeface="Courier" pitchFamily="125" charset="0"/>
              </a:rPr>
            </a:br>
            <a:r>
              <a:rPr lang="en-US" altLang="zh-CN" sz="1800" b="1" dirty="0">
                <a:solidFill>
                  <a:srgbClr val="000000"/>
                </a:solidFill>
                <a:latin typeface="+mj-lt"/>
                <a:sym typeface="Courier" pitchFamily="125" charset="0"/>
              </a:rPr>
              <a:t>foreach(string s in </a:t>
            </a:r>
            <a:r>
              <a:rPr lang="en-US" altLang="zh-CN" sz="1800" b="1" dirty="0" err="1">
                <a:solidFill>
                  <a:srgbClr val="000000"/>
                </a:solidFill>
                <a:latin typeface="+mj-lt"/>
                <a:sym typeface="Courier" pitchFamily="125" charset="0"/>
              </a:rPr>
              <a:t>sArray</a:t>
            </a:r>
            <a:r>
              <a:rPr lang="en-US" altLang="zh-CN" sz="1800" b="1" dirty="0">
                <a:solidFill>
                  <a:srgbClr val="000000"/>
                </a:solidFill>
                <a:latin typeface="+mj-lt"/>
                <a:sym typeface="Courier" pitchFamily="125" charset="0"/>
              </a:rPr>
              <a:t>) {</a:t>
            </a:r>
            <a:br>
              <a:rPr lang="en-US" altLang="zh-CN" sz="1800" b="1" dirty="0">
                <a:solidFill>
                  <a:srgbClr val="000000"/>
                </a:solidFill>
                <a:latin typeface="+mj-lt"/>
                <a:sym typeface="Courier" pitchFamily="125" charset="0"/>
              </a:rPr>
            </a:br>
            <a:r>
              <a:rPr lang="en-US" altLang="zh-CN" sz="1800" b="1" dirty="0">
                <a:solidFill>
                  <a:srgbClr val="000000"/>
                </a:solidFill>
                <a:latin typeface="+mj-lt"/>
                <a:sym typeface="Courier" pitchFamily="125" charset="0"/>
              </a:rPr>
              <a:t>    str += s;</a:t>
            </a:r>
            <a:br>
              <a:rPr lang="en-US" altLang="zh-CN" sz="1800" b="1" dirty="0">
                <a:solidFill>
                  <a:srgbClr val="000000"/>
                </a:solidFill>
                <a:latin typeface="+mj-lt"/>
                <a:sym typeface="Courier" pitchFamily="125" charset="0"/>
              </a:rPr>
            </a:br>
            <a:r>
              <a:rPr lang="en-US" altLang="zh-CN" sz="1800" b="1" dirty="0">
                <a:solidFill>
                  <a:srgbClr val="000000"/>
                </a:solidFill>
                <a:latin typeface="+mj-lt"/>
                <a:sym typeface="Courier" pitchFamily="125" charset="0"/>
              </a:rPr>
              <a:t>}</a:t>
            </a:r>
            <a:br>
              <a:rPr lang="en-US" altLang="zh-CN" sz="1800" b="1" dirty="0">
                <a:solidFill>
                  <a:srgbClr val="000000"/>
                </a:solidFill>
                <a:latin typeface="+mj-lt"/>
                <a:sym typeface="Courier" pitchFamily="125" charset="0"/>
              </a:rPr>
            </a:br>
            <a:r>
              <a:rPr lang="en-US" altLang="zh-CN" sz="1800" b="1" dirty="0">
                <a:solidFill>
                  <a:srgbClr val="000000"/>
                </a:solidFill>
                <a:latin typeface="+mj-lt"/>
                <a:sym typeface="Courier" pitchFamily="125" charset="0"/>
              </a:rPr>
              <a:t>print(str);				   </a:t>
            </a:r>
            <a:r>
              <a:rPr lang="en-US" altLang="zh-CN" sz="1800" b="1" dirty="0">
                <a:solidFill>
                  <a:srgbClr val="000000"/>
                </a:solidFill>
                <a:latin typeface="+mj-lt"/>
              </a:rPr>
              <a:t>// </a:t>
            </a:r>
            <a:r>
              <a:rPr lang="zh-CN" altLang="en-US" sz="1800" b="1" dirty="0">
                <a:solidFill>
                  <a:srgbClr val="000000"/>
                </a:solidFill>
                <a:latin typeface="+mj-lt"/>
              </a:rPr>
              <a:t>输出</a:t>
            </a:r>
            <a:r>
              <a:rPr lang="en-US" altLang="zh-CN" sz="1800" b="1" dirty="0">
                <a:solidFill>
                  <a:srgbClr val="000000"/>
                </a:solidFill>
                <a:latin typeface="+mj-lt"/>
              </a:rPr>
              <a:t>: "ABCD"</a:t>
            </a:r>
          </a:p>
          <a:p>
            <a:pPr marL="569913" lvl="2" indent="0">
              <a:lnSpc>
                <a:spcPct val="100000"/>
              </a:lnSpc>
              <a:spcBef>
                <a:spcPts val="100"/>
              </a:spcBef>
              <a:buNone/>
            </a:pPr>
            <a:br>
              <a:rPr lang="en-US" altLang="zh-CN" sz="1800" b="1" dirty="0">
                <a:solidFill>
                  <a:srgbClr val="000000"/>
                </a:solidFill>
                <a:latin typeface="+mj-lt"/>
              </a:rPr>
            </a:br>
            <a:r>
              <a:rPr lang="en-US" altLang="zh-CN" sz="1800" b="1" dirty="0">
                <a:solidFill>
                  <a:srgbClr val="000000"/>
                </a:solidFill>
                <a:latin typeface="+mj-lt"/>
                <a:sym typeface="Courier" pitchFamily="125" charset="0"/>
              </a:rPr>
              <a:t>List&lt;string&gt; </a:t>
            </a:r>
            <a:r>
              <a:rPr lang="en-US" altLang="zh-CN" sz="1800" b="1" dirty="0" err="1">
                <a:solidFill>
                  <a:srgbClr val="000000"/>
                </a:solidFill>
                <a:latin typeface="+mj-lt"/>
                <a:sym typeface="Courier" pitchFamily="125" charset="0"/>
              </a:rPr>
              <a:t>sList</a:t>
            </a:r>
            <a:r>
              <a:rPr lang="en-US" altLang="zh-CN" sz="1800" b="1" dirty="0">
                <a:solidFill>
                  <a:srgbClr val="000000"/>
                </a:solidFill>
                <a:latin typeface="+mj-lt"/>
                <a:sym typeface="Courier" pitchFamily="125" charset="0"/>
              </a:rPr>
              <a:t> = new List&lt;string&gt;(</a:t>
            </a:r>
            <a:r>
              <a:rPr lang="en-US" altLang="zh-CN" sz="1800" b="1" dirty="0" err="1">
                <a:solidFill>
                  <a:srgbClr val="000000"/>
                </a:solidFill>
                <a:latin typeface="+mj-lt"/>
                <a:sym typeface="Courier" pitchFamily="125" charset="0"/>
              </a:rPr>
              <a:t>sArray</a:t>
            </a:r>
            <a:r>
              <a:rPr lang="en-US" altLang="zh-CN" sz="1800" b="1" dirty="0">
                <a:solidFill>
                  <a:srgbClr val="000000"/>
                </a:solidFill>
                <a:latin typeface="+mj-lt"/>
                <a:sym typeface="Courier" pitchFamily="125" charset="0"/>
              </a:rPr>
              <a:t>);</a:t>
            </a:r>
          </a:p>
          <a:p>
            <a:pPr marL="569913" lvl="2" indent="0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altLang="zh-CN" sz="1800" b="1" dirty="0">
                <a:solidFill>
                  <a:srgbClr val="000000"/>
                </a:solidFill>
                <a:latin typeface="+mj-lt"/>
                <a:sym typeface="Courier" pitchFamily="125" charset="0"/>
              </a:rPr>
              <a:t>string str2 = "";</a:t>
            </a:r>
            <a:br>
              <a:rPr lang="en-US" altLang="zh-CN" sz="1800" b="1" dirty="0">
                <a:solidFill>
                  <a:srgbClr val="000000"/>
                </a:solidFill>
                <a:latin typeface="+mj-lt"/>
                <a:sym typeface="Courier" pitchFamily="125" charset="0"/>
              </a:rPr>
            </a:br>
            <a:r>
              <a:rPr lang="en-US" altLang="zh-CN" sz="1800" b="1" dirty="0">
                <a:solidFill>
                  <a:srgbClr val="000000"/>
                </a:solidFill>
                <a:latin typeface="+mj-lt"/>
                <a:sym typeface="Courier" pitchFamily="125" charset="0"/>
              </a:rPr>
              <a:t>foreach (string s in </a:t>
            </a:r>
            <a:r>
              <a:rPr lang="en-US" altLang="zh-CN" sz="1800" b="1" dirty="0" err="1">
                <a:solidFill>
                  <a:srgbClr val="000000"/>
                </a:solidFill>
                <a:latin typeface="+mj-lt"/>
                <a:sym typeface="Courier" pitchFamily="125" charset="0"/>
              </a:rPr>
              <a:t>sList</a:t>
            </a:r>
            <a:r>
              <a:rPr lang="en-US" altLang="zh-CN" sz="1800" b="1" dirty="0">
                <a:solidFill>
                  <a:srgbClr val="000000"/>
                </a:solidFill>
                <a:latin typeface="+mj-lt"/>
                <a:sym typeface="Courier" pitchFamily="125" charset="0"/>
              </a:rPr>
              <a:t>) {</a:t>
            </a:r>
            <a:br>
              <a:rPr lang="en-US" altLang="zh-CN" sz="1800" b="1" dirty="0">
                <a:solidFill>
                  <a:srgbClr val="000000"/>
                </a:solidFill>
                <a:latin typeface="+mj-lt"/>
                <a:sym typeface="Courier" pitchFamily="125" charset="0"/>
              </a:rPr>
            </a:br>
            <a:r>
              <a:rPr lang="en-US" altLang="zh-CN" sz="1800" b="1" dirty="0">
                <a:solidFill>
                  <a:srgbClr val="000000"/>
                </a:solidFill>
                <a:latin typeface="+mj-lt"/>
                <a:sym typeface="Courier" pitchFamily="125" charset="0"/>
              </a:rPr>
              <a:t>    str2 += s;</a:t>
            </a:r>
            <a:br>
              <a:rPr lang="en-US" altLang="zh-CN" sz="1800" b="1" dirty="0">
                <a:solidFill>
                  <a:srgbClr val="000000"/>
                </a:solidFill>
                <a:latin typeface="+mj-lt"/>
                <a:sym typeface="Courier" pitchFamily="125" charset="0"/>
              </a:rPr>
            </a:br>
            <a:r>
              <a:rPr lang="en-US" altLang="zh-CN" sz="1800" b="1" dirty="0">
                <a:solidFill>
                  <a:srgbClr val="000000"/>
                </a:solidFill>
                <a:latin typeface="+mj-lt"/>
                <a:sym typeface="Courier" pitchFamily="125" charset="0"/>
              </a:rPr>
              <a:t>}</a:t>
            </a:r>
            <a:br>
              <a:rPr lang="en-US" altLang="zh-CN" sz="1800" b="1" dirty="0">
                <a:solidFill>
                  <a:srgbClr val="000000"/>
                </a:solidFill>
                <a:latin typeface="+mj-lt"/>
                <a:sym typeface="Courier" pitchFamily="125" charset="0"/>
              </a:rPr>
            </a:br>
            <a:r>
              <a:rPr lang="en-US" altLang="zh-CN" sz="1800" b="1" dirty="0">
                <a:solidFill>
                  <a:srgbClr val="000000"/>
                </a:solidFill>
                <a:latin typeface="+mj-lt"/>
                <a:sym typeface="Courier" pitchFamily="125" charset="0"/>
              </a:rPr>
              <a:t>print(str2);				   </a:t>
            </a:r>
            <a:r>
              <a:rPr lang="en-US" altLang="zh-CN" sz="1800" b="1" dirty="0">
                <a:solidFill>
                  <a:srgbClr val="000000"/>
                </a:solidFill>
                <a:latin typeface="+mj-lt"/>
              </a:rPr>
              <a:t>// </a:t>
            </a:r>
            <a:r>
              <a:rPr lang="zh-CN" altLang="en-US" sz="1800" b="1" dirty="0">
                <a:solidFill>
                  <a:srgbClr val="000000"/>
                </a:solidFill>
                <a:latin typeface="+mj-lt"/>
              </a:rPr>
              <a:t>输出</a:t>
            </a:r>
            <a:r>
              <a:rPr lang="en-US" altLang="zh-CN" sz="1800" b="1" dirty="0">
                <a:solidFill>
                  <a:srgbClr val="000000"/>
                </a:solidFill>
                <a:latin typeface="+mj-lt"/>
              </a:rPr>
              <a:t>: "ABCD"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A7357F"/>
                </a:solidFill>
                <a:sym typeface="Courier" pitchFamily="125" charset="0"/>
              </a:rPr>
              <a:t>什么可以声明两次</a:t>
            </a:r>
            <a:r>
              <a:rPr lang="zh-CN" altLang="en-US" sz="2000" b="1" dirty="0">
                <a:solidFill>
                  <a:srgbClr val="A7357F"/>
                </a:solidFill>
              </a:rPr>
              <a:t>string s?</a:t>
            </a:r>
          </a:p>
          <a:p>
            <a:pPr marL="569913" lvl="2" indent="0">
              <a:lnSpc>
                <a:spcPct val="100000"/>
              </a:lnSpc>
              <a:spcBef>
                <a:spcPts val="100"/>
              </a:spcBef>
              <a:buNone/>
            </a:pPr>
            <a:r>
              <a:rPr lang="zh-CN" altLang="en-US" sz="1800" b="1" dirty="0">
                <a:solidFill>
                  <a:srgbClr val="000000"/>
                </a:solidFill>
                <a:latin typeface="+mj-lt"/>
              </a:rPr>
              <a:t>因为</a:t>
            </a:r>
            <a:r>
              <a:rPr lang="en-US" altLang="zh-CN" sz="1800" b="1" dirty="0">
                <a:solidFill>
                  <a:srgbClr val="000000"/>
                </a:solidFill>
                <a:latin typeface="+mj-lt"/>
              </a:rPr>
              <a:t>string s</a:t>
            </a:r>
            <a:r>
              <a:rPr lang="zh-CN" altLang="en-US" sz="1800" b="1" dirty="0">
                <a:solidFill>
                  <a:srgbClr val="000000"/>
                </a:solidFill>
                <a:latin typeface="+mj-lt"/>
              </a:rPr>
              <a:t>是</a:t>
            </a:r>
            <a:r>
              <a:rPr lang="en-US" altLang="zh-CN" sz="1800" b="1" dirty="0">
                <a:solidFill>
                  <a:srgbClr val="000000"/>
                </a:solidFill>
                <a:latin typeface="+mj-lt"/>
              </a:rPr>
              <a:t>foreach</a:t>
            </a:r>
            <a:r>
              <a:rPr lang="zh-CN" altLang="en-US" sz="1800" b="1" dirty="0">
                <a:solidFill>
                  <a:srgbClr val="000000"/>
                </a:solidFill>
                <a:latin typeface="+mj-lt"/>
              </a:rPr>
              <a:t>循环的局部变量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6BA1658B-FE92-E468-0CB7-C74397110C79}"/>
              </a:ext>
            </a:extLst>
          </p:cNvPr>
          <p:cNvGrpSpPr/>
          <p:nvPr/>
        </p:nvGrpSpPr>
        <p:grpSpPr>
          <a:xfrm>
            <a:off x="4087410" y="251474"/>
            <a:ext cx="4017179" cy="490115"/>
            <a:chOff x="4840431" y="207541"/>
            <a:chExt cx="4017179" cy="490115"/>
          </a:xfrm>
        </p:grpSpPr>
        <p:pic>
          <p:nvPicPr>
            <p:cNvPr id="5" name="Picture 4" descr="黑爵(AJAZZ)手柄/方向盘AG180报价_参数_图片_视频_怎么样_问答-苏宁易购">
              <a:extLst>
                <a:ext uri="{FF2B5EF4-FFF2-40B4-BE49-F238E27FC236}">
                  <a16:creationId xmlns:a16="http://schemas.microsoft.com/office/drawing/2014/main" id="{CC892978-198E-EF46-6C34-EBE87F90774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45" t="9275" r="3752" b="5379"/>
            <a:stretch/>
          </p:blipFill>
          <p:spPr bwMode="auto">
            <a:xfrm>
              <a:off x="4840431" y="321039"/>
              <a:ext cx="407315" cy="37661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Rectangle 3">
              <a:extLst>
                <a:ext uri="{FF2B5EF4-FFF2-40B4-BE49-F238E27FC236}">
                  <a16:creationId xmlns:a16="http://schemas.microsoft.com/office/drawing/2014/main" id="{1042FBA1-7B6A-7942-95A0-43376879EA39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5298544" y="207541"/>
              <a:ext cx="3559066" cy="471065"/>
            </a:xfrm>
            <a:prstGeom prst="rect">
              <a:avLst/>
            </a:prstGeom>
            <a:noFill/>
          </p:spPr>
          <p:txBody>
            <a:bodyPr lIns="90488" tIns="44450" rIns="90488" bIns="44450"/>
            <a:lstStyle>
              <a:lvl1pPr marL="171450" indent="-17145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1pPr>
              <a:lvl2pPr marL="5143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8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2pPr>
              <a:lvl3pPr marL="8572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3pPr>
              <a:lvl4pPr marL="12001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4pPr>
              <a:lvl5pPr marL="15430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fontAlgn="base">
                <a:lnSpc>
                  <a:spcPct val="100000"/>
                </a:lnSpc>
                <a:buNone/>
              </a:pPr>
              <a:r>
                <a:rPr lang="en-US" altLang="zh-CN" sz="3200" dirty="0">
                  <a:latin typeface="Times New Roman" panose="02020603050405020304" pitchFamily="18" charset="0"/>
                  <a:ea typeface="楷体" panose="02010609060101010101" pitchFamily="49" charset="-122"/>
                  <a:sym typeface="+mn-ea"/>
                </a:rPr>
                <a:t>foreach</a:t>
              </a:r>
              <a:r>
                <a:rPr lang="zh-CN" altLang="en-US" sz="3200" dirty="0">
                  <a:latin typeface="Times New Roman" panose="02020603050405020304" pitchFamily="18" charset="0"/>
                  <a:ea typeface="楷体" panose="02010609060101010101" pitchFamily="49" charset="-122"/>
                  <a:sym typeface="+mn-ea"/>
                </a:rPr>
                <a:t>循环和集合</a:t>
              </a:r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3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3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3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3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38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38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38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8" grpId="0" build="p" bldLvl="5"/>
    </p:bld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2" name="Rectangle 4">
            <a:extLst>
              <a:ext uri="{FF2B5EF4-FFF2-40B4-BE49-F238E27FC236}">
                <a16:creationId xmlns:a16="http://schemas.microsoft.com/office/drawing/2014/main" id="{597B6D3C-4289-C50A-7771-F3F949F7DA3A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>
          <a:xfrm>
            <a:off x="1532466" y="1350433"/>
            <a:ext cx="9821333" cy="4394200"/>
          </a:xfrm>
          <a:prstGeom prst="rect">
            <a:avLst/>
          </a:prstGeom>
        </p:spPr>
        <p:txBody>
          <a:bodyPr/>
          <a:lstStyle/>
          <a:p>
            <a:pPr eaLnBrk="1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A7357F"/>
                </a:solidFill>
              </a:rPr>
              <a:t>每种方式都有优缺点</a:t>
            </a:r>
            <a:endParaRPr lang="en-US" altLang="zh-CN" sz="2000" b="1" dirty="0">
              <a:solidFill>
                <a:srgbClr val="A7357F"/>
              </a:solidFill>
            </a:endParaRPr>
          </a:p>
          <a:p>
            <a:pPr marL="839788" lvl="1" indent="-342900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l"/>
            </a:pPr>
            <a:r>
              <a:rPr lang="en-US" altLang="zh-CN" sz="2000" b="1" dirty="0" err="1">
                <a:solidFill>
                  <a:srgbClr val="000000"/>
                </a:solidFill>
                <a:latin typeface="+mj-lt"/>
                <a:ea typeface="+mj-ea"/>
              </a:rPr>
              <a:t>List具有可变的长度，而数组的长度不太容易改变</a:t>
            </a:r>
            <a:endParaRPr lang="en-US" altLang="zh-CN" sz="2000" b="1" dirty="0">
              <a:solidFill>
                <a:srgbClr val="000000"/>
              </a:solidFill>
              <a:latin typeface="+mj-lt"/>
              <a:ea typeface="+mj-ea"/>
            </a:endParaRPr>
          </a:p>
          <a:p>
            <a:pPr marL="839788" lvl="1" indent="-342900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l"/>
            </a:pPr>
            <a:r>
              <a:rPr lang="en-US" altLang="zh-CN" sz="2000" b="1" dirty="0" err="1">
                <a:solidFill>
                  <a:srgbClr val="000000"/>
                </a:solidFill>
                <a:latin typeface="+mj-lt"/>
                <a:ea typeface="+mj-ea"/>
              </a:rPr>
              <a:t>数组速度稍快，但多数情况下感觉不出来</a:t>
            </a:r>
            <a:endParaRPr lang="en-US" altLang="zh-CN" sz="2000" b="1" dirty="0">
              <a:solidFill>
                <a:srgbClr val="000000"/>
              </a:solidFill>
              <a:latin typeface="+mj-lt"/>
              <a:ea typeface="+mj-ea"/>
            </a:endParaRPr>
          </a:p>
          <a:p>
            <a:pPr marL="839788" lvl="1" indent="-342900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latin typeface="+mj-lt"/>
                <a:ea typeface="+mj-ea"/>
              </a:rPr>
              <a:t>数组允许有多维下标</a:t>
            </a:r>
            <a:endParaRPr lang="en-US" altLang="zh-CN" sz="2000" b="1" dirty="0">
              <a:solidFill>
                <a:srgbClr val="000000"/>
              </a:solidFill>
              <a:latin typeface="+mj-lt"/>
              <a:ea typeface="+mj-ea"/>
            </a:endParaRPr>
          </a:p>
          <a:p>
            <a:pPr marL="839788" lvl="1" indent="-342900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latin typeface="+mj-lt"/>
                <a:ea typeface="+mj-ea"/>
              </a:rPr>
              <a:t>数组允许在集合中存在空元素</a:t>
            </a:r>
            <a:endParaRPr lang="en-US" altLang="zh-CN" sz="2000" b="1" dirty="0">
              <a:solidFill>
                <a:srgbClr val="000000"/>
              </a:solidFill>
              <a:latin typeface="+mj-lt"/>
              <a:ea typeface="+mj-ea"/>
            </a:endParaRP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A7357F"/>
                </a:solidFill>
              </a:rPr>
              <a:t>因为List更容易使用，不需要事先筹划太多（因为它们的长度可以改变），建议使用List，而不是数组</a:t>
            </a:r>
            <a:endParaRPr lang="en-US" altLang="zh-CN" sz="2000" b="1" dirty="0">
              <a:solidFill>
                <a:srgbClr val="A7357F"/>
              </a:solidFill>
            </a:endParaRPr>
          </a:p>
          <a:p>
            <a:pPr marL="839788" lvl="1" indent="-342900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latin typeface="+mj-lt"/>
                <a:ea typeface="+mj-ea"/>
              </a:rPr>
              <a:t>在制作游戏原型时，这种倾向更为明显，因为原型需要很大的灵活性</a:t>
            </a:r>
            <a:endParaRPr lang="en-US" altLang="zh-CN" sz="2000" b="1" dirty="0">
              <a:solidFill>
                <a:srgbClr val="000000"/>
              </a:solidFill>
              <a:latin typeface="+mj-lt"/>
              <a:ea typeface="+mj-ea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7B825C4C-6160-D42C-CAF7-89DA712464D0}"/>
              </a:ext>
            </a:extLst>
          </p:cNvPr>
          <p:cNvGrpSpPr/>
          <p:nvPr/>
        </p:nvGrpSpPr>
        <p:grpSpPr>
          <a:xfrm>
            <a:off x="4087410" y="251474"/>
            <a:ext cx="4614629" cy="490115"/>
            <a:chOff x="4840431" y="207541"/>
            <a:chExt cx="4614629" cy="490115"/>
          </a:xfrm>
        </p:grpSpPr>
        <p:pic>
          <p:nvPicPr>
            <p:cNvPr id="5" name="Picture 4" descr="黑爵(AJAZZ)手柄/方向盘AG180报价_参数_图片_视频_怎么样_问答-苏宁易购">
              <a:extLst>
                <a:ext uri="{FF2B5EF4-FFF2-40B4-BE49-F238E27FC236}">
                  <a16:creationId xmlns:a16="http://schemas.microsoft.com/office/drawing/2014/main" id="{68980214-C47B-0708-92B7-617AC4FC514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45" t="9275" r="3752" b="5379"/>
            <a:stretch/>
          </p:blipFill>
          <p:spPr bwMode="auto">
            <a:xfrm>
              <a:off x="4840431" y="321039"/>
              <a:ext cx="407315" cy="37661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Rectangle 3">
              <a:extLst>
                <a:ext uri="{FF2B5EF4-FFF2-40B4-BE49-F238E27FC236}">
                  <a16:creationId xmlns:a16="http://schemas.microsoft.com/office/drawing/2014/main" id="{56DCE971-E37D-4973-2755-9BEC3CD9D3C6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5298543" y="207541"/>
              <a:ext cx="4156517" cy="471065"/>
            </a:xfrm>
            <a:prstGeom prst="rect">
              <a:avLst/>
            </a:prstGeom>
            <a:noFill/>
          </p:spPr>
          <p:txBody>
            <a:bodyPr lIns="90488" tIns="44450" rIns="90488" bIns="44450"/>
            <a:lstStyle>
              <a:lvl1pPr marL="171450" indent="-17145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1pPr>
              <a:lvl2pPr marL="5143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8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2pPr>
              <a:lvl3pPr marL="8572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3pPr>
              <a:lvl4pPr marL="12001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4pPr>
              <a:lvl5pPr marL="15430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fontAlgn="base">
                <a:lnSpc>
                  <a:spcPct val="100000"/>
                </a:lnSpc>
                <a:buNone/>
              </a:pPr>
              <a:r>
                <a:rPr lang="zh-CN" altLang="en-US" sz="3200" dirty="0">
                  <a:latin typeface="Times New Roman" panose="02020603050405020304" pitchFamily="18" charset="0"/>
                  <a:ea typeface="楷体" panose="02010609060101010101" pitchFamily="49" charset="-122"/>
                  <a:sym typeface="+mn-ea"/>
                </a:rPr>
                <a:t>应该使用数组还是</a:t>
              </a:r>
              <a:r>
                <a:rPr lang="en-US" altLang="zh-CN" sz="3200" dirty="0">
                  <a:latin typeface="Times New Roman" panose="02020603050405020304" pitchFamily="18" charset="0"/>
                  <a:ea typeface="楷体" panose="02010609060101010101" pitchFamily="49" charset="-122"/>
                  <a:sym typeface="+mn-ea"/>
                </a:rPr>
                <a:t>List?</a:t>
              </a:r>
              <a:endParaRPr lang="zh-CN" altLang="en-US" sz="3200" dirty="0">
                <a:latin typeface="Times New Roman" panose="02020603050405020304" pitchFamily="18" charset="0"/>
                <a:ea typeface="楷体" panose="02010609060101010101" pitchFamily="49" charset="-122"/>
                <a:sym typeface="+mn-ea"/>
              </a:endParaRPr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4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4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4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4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4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4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4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2" grpId="0" build="p" bldLvl="5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6" name="Rectangle 4">
            <a:extLst>
              <a:ext uri="{FF2B5EF4-FFF2-40B4-BE49-F238E27FC236}">
                <a16:creationId xmlns:a16="http://schemas.microsoft.com/office/drawing/2014/main" id="{F9030E77-950B-83DE-206F-DC0CA348B92A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>
          <a:xfrm>
            <a:off x="1939483" y="1248833"/>
            <a:ext cx="8229600" cy="4495800"/>
          </a:xfrm>
          <a:prstGeom prst="rect">
            <a:avLst/>
          </a:prstGeom>
        </p:spPr>
        <p:txBody>
          <a:bodyPr/>
          <a:lstStyle/>
          <a:p>
            <a:pPr eaLnBrk="1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A7357F"/>
                </a:solidFill>
              </a:rPr>
              <a:t>数组列表</a:t>
            </a:r>
            <a:endParaRPr lang="en-US" altLang="zh-CN" sz="2000" b="1" dirty="0">
              <a:solidFill>
                <a:srgbClr val="A7357F"/>
              </a:solidFill>
            </a:endParaRPr>
          </a:p>
          <a:p>
            <a:pPr marL="839788" lvl="1" indent="-342900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latin typeface="+mj-lt"/>
              </a:rPr>
              <a:t>数组列表类似于</a:t>
            </a:r>
            <a:r>
              <a:rPr lang="en-US" altLang="zh-CN" sz="2000" b="1" dirty="0">
                <a:solidFill>
                  <a:srgbClr val="000000"/>
                </a:solidFill>
                <a:latin typeface="+mj-lt"/>
              </a:rPr>
              <a:t>List</a:t>
            </a:r>
            <a:r>
              <a:rPr lang="zh-CN" altLang="en-US" sz="2000" b="1" dirty="0">
                <a:solidFill>
                  <a:srgbClr val="000000"/>
                </a:solidFill>
                <a:latin typeface="+mj-lt"/>
              </a:rPr>
              <a:t>，但没有固定的数据类型</a:t>
            </a:r>
          </a:p>
          <a:p>
            <a:pPr marL="839788" lvl="1" indent="-342900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latin typeface="+mj-lt"/>
              </a:rPr>
              <a:t>使用非常灵活，但作者觉得它们的实用性较低且速度较慢</a:t>
            </a:r>
            <a:endParaRPr lang="en-US" altLang="zh-CN" sz="2000" b="1" dirty="0">
              <a:solidFill>
                <a:srgbClr val="000000"/>
              </a:solidFill>
              <a:latin typeface="+mj-lt"/>
            </a:endParaRP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A7357F"/>
                </a:solidFill>
              </a:rPr>
              <a:t>字典</a:t>
            </a:r>
            <a:r>
              <a:rPr lang="en-US" altLang="zh-CN" sz="2000" b="1" dirty="0">
                <a:solidFill>
                  <a:srgbClr val="A7357F"/>
                </a:solidFill>
              </a:rPr>
              <a:t>&lt;</a:t>
            </a:r>
            <a:r>
              <a:rPr lang="zh-CN" altLang="en-US" sz="2000" b="1" dirty="0">
                <a:solidFill>
                  <a:srgbClr val="A7357F"/>
                </a:solidFill>
              </a:rPr>
              <a:t>键</a:t>
            </a:r>
            <a:r>
              <a:rPr lang="en-US" altLang="zh-CN" sz="2000" b="1" dirty="0">
                <a:solidFill>
                  <a:srgbClr val="A7357F"/>
                </a:solidFill>
              </a:rPr>
              <a:t>,</a:t>
            </a:r>
            <a:r>
              <a:rPr lang="zh-CN" altLang="en-US" sz="2000" b="1" dirty="0">
                <a:solidFill>
                  <a:srgbClr val="A7357F"/>
                </a:solidFill>
              </a:rPr>
              <a:t>值</a:t>
            </a:r>
            <a:r>
              <a:rPr lang="en-US" altLang="zh-CN" sz="2000" b="1" dirty="0">
                <a:solidFill>
                  <a:srgbClr val="A7357F"/>
                </a:solidFill>
              </a:rPr>
              <a:t>&gt;</a:t>
            </a:r>
          </a:p>
          <a:p>
            <a:pPr marL="839788" lvl="1" indent="-342900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latin typeface="+mj-lt"/>
              </a:rPr>
              <a:t>键值对</a:t>
            </a:r>
            <a:endParaRPr lang="en-US" altLang="zh-CN" sz="2000" b="1" dirty="0">
              <a:solidFill>
                <a:srgbClr val="000000"/>
              </a:solidFill>
              <a:latin typeface="+mj-lt"/>
            </a:endParaRPr>
          </a:p>
          <a:p>
            <a:pPr marL="1296984" lvl="2" indent="-342900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l"/>
            </a:pPr>
            <a:r>
              <a:rPr lang="en-US" altLang="zh-CN" sz="1600" b="1" dirty="0" err="1">
                <a:solidFill>
                  <a:srgbClr val="000000"/>
                </a:solidFill>
                <a:latin typeface="+mj-lt"/>
              </a:rPr>
              <a:t>键可以是一个字符串，比如用户名</a:t>
            </a:r>
            <a:endParaRPr lang="en-US" altLang="zh-CN" sz="1600" b="1" dirty="0">
              <a:solidFill>
                <a:srgbClr val="000000"/>
              </a:solidFill>
              <a:latin typeface="+mj-lt"/>
            </a:endParaRPr>
          </a:p>
          <a:p>
            <a:pPr marL="1296984" lvl="2" indent="-342900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l"/>
            </a:pPr>
            <a:r>
              <a:rPr lang="en-US" altLang="zh-CN" sz="1600" b="1" dirty="0" err="1">
                <a:solidFill>
                  <a:srgbClr val="000000"/>
                </a:solidFill>
                <a:latin typeface="+mj-lt"/>
              </a:rPr>
              <a:t>值则是用户数据</a:t>
            </a:r>
            <a:endParaRPr lang="en-US" altLang="zh-CN" sz="1600" b="1" dirty="0">
              <a:solidFill>
                <a:srgbClr val="000000"/>
              </a:solidFill>
              <a:latin typeface="+mj-lt"/>
            </a:endParaRPr>
          </a:p>
          <a:p>
            <a:pPr marL="839788" lvl="1" indent="-342900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l"/>
            </a:pPr>
            <a:r>
              <a:rPr lang="en-US" altLang="zh-CN" sz="2000" b="1" dirty="0" err="1">
                <a:solidFill>
                  <a:srgbClr val="000000"/>
                </a:solidFill>
                <a:latin typeface="+mj-lt"/>
              </a:rPr>
              <a:t>在书中的后续教程中会使用到</a:t>
            </a:r>
            <a:endParaRPr lang="en-US" altLang="zh-CN" sz="2000" b="1" dirty="0">
              <a:solidFill>
                <a:srgbClr val="000000"/>
              </a:solidFill>
              <a:latin typeface="+mj-lt"/>
            </a:endParaRPr>
          </a:p>
          <a:p>
            <a:pPr marL="839788" lvl="1" indent="-342900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l"/>
            </a:pPr>
            <a:r>
              <a:rPr lang="en-US" altLang="zh-CN" sz="2000" b="1" dirty="0" err="1">
                <a:solidFill>
                  <a:srgbClr val="000000"/>
                </a:solidFill>
                <a:latin typeface="+mj-lt"/>
              </a:rPr>
              <a:t>需要</a:t>
            </a:r>
            <a:r>
              <a:rPr lang="en-US" altLang="zh-CN" sz="2000" b="1" dirty="0" err="1">
                <a:solidFill>
                  <a:srgbClr val="000000"/>
                </a:solidFill>
                <a:latin typeface="+mj-lt"/>
                <a:sym typeface="Courier" pitchFamily="125" charset="0"/>
              </a:rPr>
              <a:t>using</a:t>
            </a:r>
            <a:r>
              <a:rPr lang="en-US" altLang="zh-CN" sz="2000" b="1" dirty="0">
                <a:solidFill>
                  <a:srgbClr val="000000"/>
                </a:solidFill>
                <a:latin typeface="+mj-lt"/>
                <a:sym typeface="Courier" pitchFamily="125" charset="0"/>
              </a:rPr>
              <a:t> </a:t>
            </a:r>
            <a:r>
              <a:rPr lang="en-US" altLang="zh-CN" sz="2000" b="1" dirty="0" err="1">
                <a:solidFill>
                  <a:srgbClr val="000000"/>
                </a:solidFill>
                <a:latin typeface="+mj-lt"/>
                <a:sym typeface="Courier" pitchFamily="125" charset="0"/>
              </a:rPr>
              <a:t>System.Collections.Generic</a:t>
            </a:r>
            <a:r>
              <a:rPr lang="zh-CN" altLang="en-US" sz="2000" b="1" dirty="0">
                <a:solidFill>
                  <a:srgbClr val="000000"/>
                </a:solidFill>
                <a:latin typeface="+mj-lt"/>
                <a:sym typeface="Courier" pitchFamily="125" charset="0"/>
              </a:rPr>
              <a:t>命名空间</a:t>
            </a:r>
            <a:endParaRPr lang="en-US" altLang="zh-CN" sz="2000" b="1" dirty="0">
              <a:solidFill>
                <a:srgbClr val="000000"/>
              </a:solidFill>
              <a:latin typeface="+mj-lt"/>
            </a:endParaRPr>
          </a:p>
          <a:p>
            <a:pPr marL="839788" lvl="1" indent="-342900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l"/>
            </a:pPr>
            <a:r>
              <a:rPr lang="en-US" altLang="zh-CN" sz="2000" b="1" dirty="0" err="1">
                <a:solidFill>
                  <a:srgbClr val="000000"/>
                </a:solidFill>
                <a:latin typeface="+mj-lt"/>
              </a:rPr>
              <a:t>非常有用</a:t>
            </a:r>
            <a:endParaRPr lang="en-US" altLang="zh-CN" sz="2000" b="1" dirty="0">
              <a:solidFill>
                <a:srgbClr val="000000"/>
              </a:solidFill>
              <a:latin typeface="+mj-lt"/>
            </a:endParaRPr>
          </a:p>
          <a:p>
            <a:pPr marL="839788" lvl="1" indent="-342900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l"/>
            </a:pPr>
            <a:r>
              <a:rPr lang="en-US" altLang="zh-CN" sz="2000" b="1" dirty="0" err="1">
                <a:solidFill>
                  <a:srgbClr val="000000"/>
                </a:solidFill>
                <a:latin typeface="+mj-lt"/>
              </a:rPr>
              <a:t>但在Unity的Inspector中无法正确显示</a:t>
            </a:r>
            <a:endParaRPr lang="en-US" altLang="zh-CN" sz="2000" b="1" dirty="0">
              <a:solidFill>
                <a:srgbClr val="000000"/>
              </a:solidFill>
              <a:latin typeface="+mj-lt"/>
            </a:endParaRP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C28C5BEE-5DDC-63F1-B272-54F5CAF77708}"/>
              </a:ext>
            </a:extLst>
          </p:cNvPr>
          <p:cNvGrpSpPr/>
          <p:nvPr/>
        </p:nvGrpSpPr>
        <p:grpSpPr>
          <a:xfrm>
            <a:off x="4087410" y="251474"/>
            <a:ext cx="4614629" cy="490115"/>
            <a:chOff x="4840431" y="207541"/>
            <a:chExt cx="4614629" cy="490115"/>
          </a:xfrm>
        </p:grpSpPr>
        <p:pic>
          <p:nvPicPr>
            <p:cNvPr id="8" name="Picture 4" descr="黑爵(AJAZZ)手柄/方向盘AG180报价_参数_图片_视频_怎么样_问答-苏宁易购">
              <a:extLst>
                <a:ext uri="{FF2B5EF4-FFF2-40B4-BE49-F238E27FC236}">
                  <a16:creationId xmlns:a16="http://schemas.microsoft.com/office/drawing/2014/main" id="{CCCFD4F7-8837-DD08-F7EC-2D19EB42EC2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45" t="9275" r="3752" b="5379"/>
            <a:stretch/>
          </p:blipFill>
          <p:spPr bwMode="auto">
            <a:xfrm>
              <a:off x="4840431" y="321039"/>
              <a:ext cx="407315" cy="37661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" name="Rectangle 3">
              <a:extLst>
                <a:ext uri="{FF2B5EF4-FFF2-40B4-BE49-F238E27FC236}">
                  <a16:creationId xmlns:a16="http://schemas.microsoft.com/office/drawing/2014/main" id="{CBFE2DDD-C592-289D-E8D9-F33349E1D805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5298543" y="207541"/>
              <a:ext cx="4156517" cy="471065"/>
            </a:xfrm>
            <a:prstGeom prst="rect">
              <a:avLst/>
            </a:prstGeom>
            <a:noFill/>
          </p:spPr>
          <p:txBody>
            <a:bodyPr lIns="90488" tIns="44450" rIns="90488" bIns="44450"/>
            <a:lstStyle>
              <a:lvl1pPr marL="171450" indent="-17145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1pPr>
              <a:lvl2pPr marL="5143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8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2pPr>
              <a:lvl3pPr marL="8572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3pPr>
              <a:lvl4pPr marL="12001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4pPr>
              <a:lvl5pPr marL="15430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fontAlgn="base">
                <a:lnSpc>
                  <a:spcPct val="100000"/>
                </a:lnSpc>
                <a:buNone/>
              </a:pPr>
              <a:r>
                <a:rPr lang="zh-CN" altLang="en-US" sz="3200" dirty="0">
                  <a:latin typeface="Times New Roman" panose="02020603050405020304" pitchFamily="18" charset="0"/>
                  <a:ea typeface="楷体" panose="02010609060101010101" pitchFamily="49" charset="-122"/>
                  <a:sym typeface="+mn-ea"/>
                </a:rPr>
                <a:t>应该使用数组还是</a:t>
              </a:r>
              <a:r>
                <a:rPr lang="en-US" altLang="zh-CN" sz="3200" dirty="0">
                  <a:latin typeface="Times New Roman" panose="02020603050405020304" pitchFamily="18" charset="0"/>
                  <a:ea typeface="楷体" panose="02010609060101010101" pitchFamily="49" charset="-122"/>
                  <a:sym typeface="+mn-ea"/>
                </a:rPr>
                <a:t>List?</a:t>
              </a:r>
              <a:endParaRPr lang="zh-CN" altLang="en-US" sz="3200" dirty="0">
                <a:latin typeface="Times New Roman" panose="02020603050405020304" pitchFamily="18" charset="0"/>
                <a:ea typeface="楷体" panose="02010609060101010101" pitchFamily="49" charset="-122"/>
                <a:sym typeface="+mn-ea"/>
              </a:endParaRPr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3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3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3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3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3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3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6" grpId="0" build="p" bldLvl="5"/>
    </p:bld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D85A51-D38C-F717-58FF-3DD038F8EA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">
            <a:extLst>
              <a:ext uri="{FF2B5EF4-FFF2-40B4-BE49-F238E27FC236}">
                <a16:creationId xmlns:a16="http://schemas.microsoft.com/office/drawing/2014/main" id="{396C9ACD-72A8-A849-D9E1-9C0E651BFE0B}"/>
              </a:ext>
            </a:extLst>
          </p:cNvPr>
          <p:cNvSpPr txBox="1">
            <a:spLocks noChangeArrowheads="1"/>
          </p:cNvSpPr>
          <p:nvPr/>
        </p:nvSpPr>
        <p:spPr>
          <a:xfrm>
            <a:off x="2890763" y="2804663"/>
            <a:ext cx="6410474" cy="1248673"/>
          </a:xfrm>
          <a:prstGeom prst="rect">
            <a:avLst/>
          </a:prstGeom>
          <a:noFill/>
        </p:spPr>
        <p:txBody>
          <a:bodyPr lIns="0" tIns="0" rIns="0" bIns="0"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b="1" kern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b="1" kern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b="1" kern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b="1" kern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None/>
            </a:pPr>
            <a:r>
              <a:rPr lang="zh-CN" altLang="en-US" sz="10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函数与参数</a:t>
            </a:r>
            <a:endParaRPr kumimoji="0" lang="en-US" altLang="zh-CN" sz="100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4" name="Picture 4" descr="黑爵(AJAZZ)手柄/方向盘AG180报价_参数_图片_视频_怎么样_问答-苏宁易购">
            <a:extLst>
              <a:ext uri="{FF2B5EF4-FFF2-40B4-BE49-F238E27FC236}">
                <a16:creationId xmlns:a16="http://schemas.microsoft.com/office/drawing/2014/main" id="{A630E929-F533-655B-185B-81AD0E80C55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45" t="9275" r="3752" b="5379"/>
          <a:stretch/>
        </p:blipFill>
        <p:spPr bwMode="auto">
          <a:xfrm>
            <a:off x="6630660" y="1616743"/>
            <a:ext cx="7054860" cy="65231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42342154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794E1E-3205-CCEB-E5FA-100B87E19D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">
            <a:extLst>
              <a:ext uri="{FF2B5EF4-FFF2-40B4-BE49-F238E27FC236}">
                <a16:creationId xmlns:a16="http://schemas.microsoft.com/office/drawing/2014/main" id="{CCBAE7B3-D1F6-0368-9AB1-AE08C0A03790}"/>
              </a:ext>
            </a:extLst>
          </p:cNvPr>
          <p:cNvSpPr txBox="1">
            <a:spLocks noChangeArrowheads="1"/>
          </p:cNvSpPr>
          <p:nvPr/>
        </p:nvSpPr>
        <p:spPr>
          <a:xfrm>
            <a:off x="3523419" y="2791963"/>
            <a:ext cx="5145162" cy="1274073"/>
          </a:xfrm>
          <a:prstGeom prst="rect">
            <a:avLst/>
          </a:prstGeom>
          <a:noFill/>
        </p:spPr>
        <p:txBody>
          <a:bodyPr lIns="0" tIns="0" rIns="0" bIns="0"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b="1" kern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b="1" kern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b="1" kern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b="1" kern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None/>
            </a:pPr>
            <a:r>
              <a:rPr lang="zh-CN" altLang="en-US" sz="10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代码调试</a:t>
            </a:r>
            <a:endParaRPr kumimoji="0" lang="en-US" altLang="zh-CN" sz="100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4" name="Picture 4" descr="黑爵(AJAZZ)手柄/方向盘AG180报价_参数_图片_视频_怎么样_问答-苏宁易购">
            <a:extLst>
              <a:ext uri="{FF2B5EF4-FFF2-40B4-BE49-F238E27FC236}">
                <a16:creationId xmlns:a16="http://schemas.microsoft.com/office/drawing/2014/main" id="{8CA675CE-11E5-8B32-EDEB-3ABE2890F66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45" t="9275" r="3752" b="5379"/>
          <a:stretch/>
        </p:blipFill>
        <p:spPr bwMode="auto">
          <a:xfrm>
            <a:off x="6630660" y="1616743"/>
            <a:ext cx="7054860" cy="65231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63400615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A3947A-28C2-8F27-9E64-E7BDD2F341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">
            <a:extLst>
              <a:ext uri="{FF2B5EF4-FFF2-40B4-BE49-F238E27FC236}">
                <a16:creationId xmlns:a16="http://schemas.microsoft.com/office/drawing/2014/main" id="{308378DC-A954-1A33-310C-6EA78711512D}"/>
              </a:ext>
            </a:extLst>
          </p:cNvPr>
          <p:cNvSpPr txBox="1">
            <a:spLocks noChangeArrowheads="1"/>
          </p:cNvSpPr>
          <p:nvPr/>
        </p:nvSpPr>
        <p:spPr>
          <a:xfrm>
            <a:off x="5438995" y="2788788"/>
            <a:ext cx="1314011" cy="1280423"/>
          </a:xfrm>
          <a:prstGeom prst="rect">
            <a:avLst/>
          </a:prstGeom>
          <a:noFill/>
        </p:spPr>
        <p:txBody>
          <a:bodyPr lIns="0" tIns="0" rIns="0" bIns="0"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b="1" kern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b="1" kern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b="1" kern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b="1" kern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None/>
            </a:pPr>
            <a:r>
              <a:rPr lang="zh-CN" altLang="en-US" sz="10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类</a:t>
            </a:r>
            <a:endParaRPr kumimoji="0" lang="en-US" altLang="zh-CN" sz="100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4" name="Picture 4" descr="黑爵(AJAZZ)手柄/方向盘AG180报价_参数_图片_视频_怎么样_问答-苏宁易购">
            <a:extLst>
              <a:ext uri="{FF2B5EF4-FFF2-40B4-BE49-F238E27FC236}">
                <a16:creationId xmlns:a16="http://schemas.microsoft.com/office/drawing/2014/main" id="{3D290271-FC55-F5AF-519B-B3C7C22536E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45" t="9275" r="3752" b="5379"/>
          <a:stretch/>
        </p:blipFill>
        <p:spPr bwMode="auto">
          <a:xfrm>
            <a:off x="6630660" y="1616743"/>
            <a:ext cx="7054860" cy="65231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50089362"/>
      </p:ext>
    </p:extLst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653C9D-8DE2-0165-AB6C-FA76E63D7C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">
            <a:extLst>
              <a:ext uri="{FF2B5EF4-FFF2-40B4-BE49-F238E27FC236}">
                <a16:creationId xmlns:a16="http://schemas.microsoft.com/office/drawing/2014/main" id="{0DDE79F3-B31F-F640-E134-DFCD4C5D8E3B}"/>
              </a:ext>
            </a:extLst>
          </p:cNvPr>
          <p:cNvSpPr txBox="1">
            <a:spLocks noChangeArrowheads="1"/>
          </p:cNvSpPr>
          <p:nvPr/>
        </p:nvSpPr>
        <p:spPr>
          <a:xfrm>
            <a:off x="2225040" y="2804663"/>
            <a:ext cx="7674610" cy="1360937"/>
          </a:xfrm>
          <a:prstGeom prst="rect">
            <a:avLst/>
          </a:prstGeom>
          <a:noFill/>
        </p:spPr>
        <p:txBody>
          <a:bodyPr lIns="0" tIns="0" rIns="0" bIns="0"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b="1" kern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b="1" kern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b="1" kern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b="1" kern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None/>
            </a:pPr>
            <a:r>
              <a:rPr lang="zh-CN" altLang="en-US" sz="10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面向对象思维</a:t>
            </a:r>
            <a:endParaRPr kumimoji="0" lang="en-US" altLang="zh-CN" sz="100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4" name="Picture 4" descr="黑爵(AJAZZ)手柄/方向盘AG180报价_参数_图片_视频_怎么样_问答-苏宁易购">
            <a:extLst>
              <a:ext uri="{FF2B5EF4-FFF2-40B4-BE49-F238E27FC236}">
                <a16:creationId xmlns:a16="http://schemas.microsoft.com/office/drawing/2014/main" id="{CC064FA8-A22C-F172-5DA5-3BD9C21AD9E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45" t="9275" r="3752" b="5379"/>
          <a:stretch/>
        </p:blipFill>
        <p:spPr bwMode="auto">
          <a:xfrm>
            <a:off x="6630660" y="1616743"/>
            <a:ext cx="7054860" cy="65231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962954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Dyslexia 4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D24726"/>
      </a:accent2>
      <a:accent3>
        <a:srgbClr val="9B5AC8"/>
      </a:accent3>
      <a:accent4>
        <a:srgbClr val="F0A11F"/>
      </a:accent4>
      <a:accent5>
        <a:srgbClr val="CB5BA3"/>
      </a:accent5>
      <a:accent6>
        <a:srgbClr val="70AD47"/>
      </a:accent6>
      <a:hlink>
        <a:srgbClr val="0563C1"/>
      </a:hlink>
      <a:folHlink>
        <a:srgbClr val="954F72"/>
      </a:folHlink>
    </a:clrScheme>
    <a:fontScheme name="课件字体">
      <a:majorFont>
        <a:latin typeface="Courier"/>
        <a:ea typeface="楷体"/>
        <a:cs typeface="Microsoft YaHei UI"/>
      </a:majorFont>
      <a:minorFont>
        <a:latin typeface="Courier"/>
        <a:ea typeface="楷体"/>
        <a:cs typeface="Microsoft YaHei U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>
          <a:gsLst>
            <a:gs pos="0">
              <a:srgbClr val="7030A0">
                <a:alpha val="5000"/>
              </a:srgbClr>
            </a:gs>
            <a:gs pos="100000">
              <a:srgbClr val="00B0F0">
                <a:alpha val="5000"/>
              </a:srgbClr>
            </a:gs>
          </a:gsLst>
          <a:lin ang="13500000" scaled="1"/>
        </a:gradFill>
        <a:ln w="25400">
          <a:gradFill>
            <a:gsLst>
              <a:gs pos="0">
                <a:srgbClr val="0070C0"/>
              </a:gs>
              <a:gs pos="100000">
                <a:srgbClr val="7030A0"/>
              </a:gs>
            </a:gsLst>
            <a:lin ang="5400000" scaled="1"/>
          </a:gradFill>
        </a:ln>
      </a:spPr>
      <a:bodyPr rtlCol="0" anchor="ctr"/>
      <a:lstStyle>
        <a:defPPr algn="l">
          <a:lnSpc>
            <a:spcPct val="150000"/>
          </a:lnSpc>
          <a:defRPr dirty="0">
            <a:solidFill>
              <a:schemeClr val="tx1"/>
            </a:solidFill>
            <a:latin typeface="楷体" panose="02010609060101010101" pitchFamily="49" charset="-122"/>
            <a:ea typeface="楷体" panose="02010609060101010101" pitchFamily="49" charset="-122"/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_55215165_TF22841449_Win32.potx" id="{BF39765D-C9E9-4AF1-9256-387BCDBC5A99}" vid="{9B6E473A-F89F-4E45-B3EF-F818F5A2C81B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 UI Light" panose="020F0302020204030204"/>
        <a:ea typeface=""/>
        <a:cs typeface="Microsoft YaHei UI Light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 UI" panose="020F0502020204030204"/>
        <a:ea typeface=""/>
        <a:cs typeface="Microsoft YaHei UI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0" ma:contentTypeDescription="Create a new document." ma:contentTypeScope="" ma:versionID="1267097ee5f5874adfcc408041ae252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95891a93df65b14727750f2c06c306c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4:TaxCatchAll" minOccurs="0"/>
                <xsd:element ref="ns2:ImageTagsTaxHTFiel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B2A44EB6-3BD3-4FF9-B8D1-D973C54C3ED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7DD0DBF-30B2-4FC6-A5E7-8374DC71803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C44B501-5DE1-46D9-B449-400C46FE1425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思维导图</Template>
  <TotalTime>4063</TotalTime>
  <Words>8536</Words>
  <Application>Microsoft Office PowerPoint</Application>
  <PresentationFormat>宽屏</PresentationFormat>
  <Paragraphs>853</Paragraphs>
  <Slides>101</Slides>
  <Notes>19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101</vt:i4>
      </vt:variant>
    </vt:vector>
  </HeadingPairs>
  <TitlesOfParts>
    <vt:vector size="111" baseType="lpstr">
      <vt:lpstr>Courier</vt:lpstr>
      <vt:lpstr>Geneva</vt:lpstr>
      <vt:lpstr>Microsoft YaHei UI</vt:lpstr>
      <vt:lpstr>楷体</vt:lpstr>
      <vt:lpstr>楷体</vt:lpstr>
      <vt:lpstr>Arial</vt:lpstr>
      <vt:lpstr>Helvetica</vt:lpstr>
      <vt:lpstr>Times New Roman</vt:lpstr>
      <vt:lpstr>Wingdings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思维图</dc:title>
  <dc:creator>chuying</dc:creator>
  <cp:lastModifiedBy>军 魏</cp:lastModifiedBy>
  <cp:revision>551</cp:revision>
  <dcterms:created xsi:type="dcterms:W3CDTF">2024-10-23T20:19:38Z</dcterms:created>
  <dcterms:modified xsi:type="dcterms:W3CDTF">2025-03-11T08:15:29Z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