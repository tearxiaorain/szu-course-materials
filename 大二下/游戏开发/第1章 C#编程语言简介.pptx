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1622" r:id="rId5"/>
    <p:sldId id="1617" r:id="rId6"/>
    <p:sldId id="1621" r:id="rId7"/>
    <p:sldId id="1623" r:id="rId8"/>
    <p:sldId id="267" r:id="rId9"/>
    <p:sldId id="362" r:id="rId10"/>
    <p:sldId id="363" r:id="rId11"/>
    <p:sldId id="364" r:id="rId12"/>
    <p:sldId id="318" r:id="rId13"/>
    <p:sldId id="365" r:id="rId14"/>
    <p:sldId id="366" r:id="rId15"/>
    <p:sldId id="367" r:id="rId16"/>
    <p:sldId id="368" r:id="rId17"/>
    <p:sldId id="369" r:id="rId18"/>
    <p:sldId id="341" r:id="rId19"/>
    <p:sldId id="370" r:id="rId20"/>
    <p:sldId id="371" r:id="rId21"/>
    <p:sldId id="372" r:id="rId22"/>
    <p:sldId id="373" r:id="rId23"/>
    <p:sldId id="291" r:id="rId24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889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66" autoAdjust="0"/>
    <p:restoredTop sz="94692"/>
  </p:normalViewPr>
  <p:slideViewPr>
    <p:cSldViewPr snapToGrid="0" snapToObjects="1">
      <p:cViewPr>
        <p:scale>
          <a:sx n="125" d="100"/>
          <a:sy n="125" d="100"/>
        </p:scale>
        <p:origin x="1152" y="11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439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E4C8119-7147-4950-9814-12741F9017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F89A8E-167D-43AB-ACDD-34ABE11B93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93EC49-901E-4826-90AC-E9E2A45765F8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2025/2/25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4D35728-0997-4463-8B68-BD99A4EFE2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A9B281-491E-4E63-BE29-A938564DAB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E204D6-AD52-47D1-9462-B2EE6B70CA08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82796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C3A31FB-38D1-4009-8D95-96E678075A76}" type="datetime1">
              <a:rPr lang="zh-CN" altLang="en-US" smtClean="0"/>
              <a:t>2025/2/25</a:t>
            </a:fld>
            <a:endParaRPr 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zh-CN"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BC0C2C40-CB1C-4820-9151-EC51EC2E7E0F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1058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cs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0762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1675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9550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250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541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53160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5870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6918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4702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507091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9884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4826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8053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61649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9568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0191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0C2C40-CB1C-4820-9151-EC51EC2E7E0F}" type="slidenum">
              <a:rPr lang="en-US" altLang="zh-CN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75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0974584-F7C5-6440-926F-F6A9781D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310" y="2484470"/>
            <a:ext cx="7552916" cy="2130561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zh-CN" sz="66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89720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72A72F24-C2F4-A848-9526-6DDE303230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460500"/>
            <a:ext cx="5327904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 lang="zh-CN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defRPr lang="zh-CN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defRPr lang="zh-CN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00000"/>
              </a:lnSpc>
              <a:defRPr lang="zh-CN" sz="14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00000"/>
              </a:lnSpc>
              <a:defRPr lang="zh-CN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五级</a:t>
            </a:r>
            <a:endParaRPr lang="zh-CN"/>
          </a:p>
        </p:txBody>
      </p:sp>
      <p:sp>
        <p:nvSpPr>
          <p:cNvPr id="9" name="日期占位符 3">
            <a:extLst>
              <a:ext uri="{FF2B5EF4-FFF2-40B4-BE49-F238E27FC236}">
                <a16:creationId xmlns:a16="http://schemas.microsoft.com/office/drawing/2014/main" id="{0B5A9DDA-5C61-C94F-9C1E-F412423AF3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AB9CE1BE-CD51-BD42-A659-2F084EB57D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幻灯片编号占位符 5">
            <a:extLst>
              <a:ext uri="{FF2B5EF4-FFF2-40B4-BE49-F238E27FC236}">
                <a16:creationId xmlns:a16="http://schemas.microsoft.com/office/drawing/2014/main" id="{F2707C4E-5419-8141-80B3-E4B112655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zh-CN" smtClean="0"/>
              <a:pPr/>
              <a:t>‹#›</a:t>
            </a:fld>
            <a:endParaRPr lang="zh-CN" dirty="0"/>
          </a:p>
        </p:txBody>
      </p:sp>
      <p:cxnSp>
        <p:nvCxnSpPr>
          <p:cNvPr id="12" name="直接连接符​​(S) 11">
            <a:extLst>
              <a:ext uri="{FF2B5EF4-FFF2-40B4-BE49-F238E27FC236}">
                <a16:creationId xmlns:a16="http://schemas.microsoft.com/office/drawing/2014/main" id="{06D362EF-E079-514F-814C-6085176CA7AD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标题 1">
            <a:extLst>
              <a:ext uri="{FF2B5EF4-FFF2-40B4-BE49-F238E27FC236}">
                <a16:creationId xmlns:a16="http://schemas.microsoft.com/office/drawing/2014/main" id="{2AC75DAD-32BC-CC41-8DF4-9E68DB31C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zh-CN"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362173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0EAB2A1-27FC-7D46-BBF1-72410CED554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596" y="2560320"/>
            <a:ext cx="94457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zh-CN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cs"/>
                <a:cs typeface="+mn-cs"/>
              </a:defRPr>
            </a:lvl1pPr>
            <a:lvl2pPr>
              <a:defRPr 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cs"/>
                <a:cs typeface="+mn-cs"/>
              </a:defRPr>
            </a:lvl2pPr>
            <a:lvl3pPr>
              <a:defRPr 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cs"/>
                <a:cs typeface="+mn-cs"/>
              </a:defRPr>
            </a:lvl3pPr>
            <a:lvl4pPr>
              <a:defRPr 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cs"/>
                <a:cs typeface="+mn-cs"/>
              </a:defRPr>
            </a:lvl4pPr>
            <a:lvl5pPr>
              <a:defRPr 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cs"/>
                <a:cs typeface="+mn-cs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单击此处编辑母版文本样式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二级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三级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四级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CN" altLang="en-US"/>
              <a:t>五级</a:t>
            </a:r>
            <a:endParaRPr lang="zh-CN"/>
          </a:p>
        </p:txBody>
      </p:sp>
      <p:cxnSp>
        <p:nvCxnSpPr>
          <p:cNvPr id="8" name="直接连接符​​(S) 7">
            <a:extLst>
              <a:ext uri="{FF2B5EF4-FFF2-40B4-BE49-F238E27FC236}">
                <a16:creationId xmlns:a16="http://schemas.microsoft.com/office/drawing/2014/main" id="{1170A3AA-4210-FB4E-9790-9D6891AFF655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标题 1">
            <a:extLst>
              <a:ext uri="{FF2B5EF4-FFF2-40B4-BE49-F238E27FC236}">
                <a16:creationId xmlns:a16="http://schemas.microsoft.com/office/drawing/2014/main" id="{28B6F196-1924-E341-B33B-77AEF4A8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9146972" cy="64008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lang="zh-CN" sz="28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736486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7BE2BF-67D0-421C-B0EA-C2FDA38E9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ED459D-4DBB-4B08-B28E-38CB29459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19D5826-9D5D-45F7-9039-C95938735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1" cy="4351338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3C35230-6E6B-4AE2-A238-476A2293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EC195B-3566-4F5A-8A17-C0D96E0D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A64FFA-F5D7-4974-90D5-37C1E4F5D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28401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93013-51BB-4A17-B3BD-969427C6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965D238-163E-4CA0-8D72-013A528AF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zh-CN" sz="2400" b="1"/>
            </a:lvl1pPr>
            <a:lvl2pPr marL="457196" indent="0">
              <a:buNone/>
              <a:defRPr lang="zh-CN" sz="2000" b="1"/>
            </a:lvl2pPr>
            <a:lvl3pPr marL="914391" indent="0">
              <a:buNone/>
              <a:defRPr lang="zh-CN" sz="1800" b="1"/>
            </a:lvl3pPr>
            <a:lvl4pPr marL="1371587" indent="0">
              <a:buNone/>
              <a:defRPr lang="zh-CN" sz="1600" b="1"/>
            </a:lvl4pPr>
            <a:lvl5pPr marL="1828783" indent="0">
              <a:buNone/>
              <a:defRPr lang="zh-CN" sz="1600" b="1"/>
            </a:lvl5pPr>
            <a:lvl6pPr marL="2285978" indent="0">
              <a:buNone/>
              <a:defRPr lang="zh-CN" sz="1600" b="1"/>
            </a:lvl6pPr>
            <a:lvl7pPr marL="2743174" indent="0">
              <a:buNone/>
              <a:defRPr lang="zh-CN" sz="1600" b="1"/>
            </a:lvl7pPr>
            <a:lvl8pPr marL="3200370" indent="0">
              <a:buNone/>
              <a:defRPr lang="zh-CN" sz="1600" b="1"/>
            </a:lvl8pPr>
            <a:lvl9pPr marL="3657565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74BFD3-F57E-442B-B0D6-44B28B98AB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6C678E-A9F6-402F-AB68-0001BA3C23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4"/>
            <a:ext cx="5183188" cy="823912"/>
          </a:xfrm>
          <a:prstGeom prst="rect">
            <a:avLst/>
          </a:prstGeom>
        </p:spPr>
        <p:txBody>
          <a:bodyPr rtlCol="0" anchor="b"/>
          <a:lstStyle>
            <a:lvl1pPr marL="0" indent="0">
              <a:buNone/>
              <a:defRPr lang="zh-CN" sz="2400" b="1"/>
            </a:lvl1pPr>
            <a:lvl2pPr marL="457196" indent="0">
              <a:buNone/>
              <a:defRPr lang="zh-CN" sz="2000" b="1"/>
            </a:lvl2pPr>
            <a:lvl3pPr marL="914391" indent="0">
              <a:buNone/>
              <a:defRPr lang="zh-CN" sz="1800" b="1"/>
            </a:lvl3pPr>
            <a:lvl4pPr marL="1371587" indent="0">
              <a:buNone/>
              <a:defRPr lang="zh-CN" sz="1600" b="1"/>
            </a:lvl4pPr>
            <a:lvl5pPr marL="1828783" indent="0">
              <a:buNone/>
              <a:defRPr lang="zh-CN" sz="1600" b="1"/>
            </a:lvl5pPr>
            <a:lvl6pPr marL="2285978" indent="0">
              <a:buNone/>
              <a:defRPr lang="zh-CN" sz="1600" b="1"/>
            </a:lvl6pPr>
            <a:lvl7pPr marL="2743174" indent="0">
              <a:buNone/>
              <a:defRPr lang="zh-CN" sz="1600" b="1"/>
            </a:lvl7pPr>
            <a:lvl8pPr marL="3200370" indent="0">
              <a:buNone/>
              <a:defRPr lang="zh-CN" sz="1600" b="1"/>
            </a:lvl8pPr>
            <a:lvl9pPr marL="3657565" indent="0">
              <a:buNone/>
              <a:defRPr lang="zh-CN"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C1CE1F-0133-4A8E-9510-3927C275A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A812791-1A66-47A2-B8AB-CF2C8494C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433D370-BE25-4CF9-8D18-A8B0D6286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FF9EFB-2082-4B18-8532-2E058DF98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793323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A482C-C319-43FD-93FF-980D21E2E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03A496-9194-4AF3-A700-304E648B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03CEB3-10DB-4C6B-B786-6EA61FEA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6A844B-2D32-4E86-8B10-61DBDBE5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983742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121782B-EB6A-4988-856E-D6637A15B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1005B5-4499-443A-AEC7-4504692A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E9E49-7000-42FC-9389-8FC847AA8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18306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EFE04-76D2-4EE9-82B4-6CF8BDAEF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zh-CN"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0215A4-C64A-4FDE-8E67-809F9ECFC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>
              <a:defRPr lang="zh-CN" sz="3200"/>
            </a:lvl1pPr>
            <a:lvl2pPr>
              <a:defRPr lang="zh-CN" sz="2800"/>
            </a:lvl2pPr>
            <a:lvl3pPr>
              <a:defRPr lang="zh-CN" sz="2400"/>
            </a:lvl3pPr>
            <a:lvl4pPr>
              <a:defRPr lang="zh-CN" sz="2000"/>
            </a:lvl4pPr>
            <a:lvl5pPr>
              <a:defRPr lang="zh-CN" sz="2000"/>
            </a:lvl5pPr>
            <a:lvl6pPr>
              <a:defRPr lang="zh-CN" sz="2000"/>
            </a:lvl6pPr>
            <a:lvl7pPr>
              <a:defRPr lang="zh-CN" sz="2000"/>
            </a:lvl7pPr>
            <a:lvl8pPr>
              <a:defRPr lang="zh-CN" sz="2000"/>
            </a:lvl8pPr>
            <a:lvl9pPr>
              <a:defRPr lang="zh-CN" sz="2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899654-FEE0-4F7C-9F7E-E613641915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zh-CN" sz="1600"/>
            </a:lvl1pPr>
            <a:lvl2pPr marL="457196" indent="0">
              <a:buNone/>
              <a:defRPr lang="zh-CN" sz="1400"/>
            </a:lvl2pPr>
            <a:lvl3pPr marL="914391" indent="0">
              <a:buNone/>
              <a:defRPr lang="zh-CN" sz="1200"/>
            </a:lvl3pPr>
            <a:lvl4pPr marL="1371587" indent="0">
              <a:buNone/>
              <a:defRPr lang="zh-CN" sz="1000"/>
            </a:lvl4pPr>
            <a:lvl5pPr marL="1828783" indent="0">
              <a:buNone/>
              <a:defRPr lang="zh-CN" sz="1000"/>
            </a:lvl5pPr>
            <a:lvl6pPr marL="2285978" indent="0">
              <a:buNone/>
              <a:defRPr lang="zh-CN" sz="1000"/>
            </a:lvl6pPr>
            <a:lvl7pPr marL="2743174" indent="0">
              <a:buNone/>
              <a:defRPr lang="zh-CN" sz="1000"/>
            </a:lvl7pPr>
            <a:lvl8pPr marL="3200370" indent="0">
              <a:buNone/>
              <a:defRPr lang="zh-CN" sz="1000"/>
            </a:lvl8pPr>
            <a:lvl9pPr marL="3657565" indent="0">
              <a:buNone/>
              <a:defRPr lang="zh-CN"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0672D7-560C-46F5-B38A-5864AF61B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333971-AB39-461C-BCDD-6F82E9DF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7E7803C-62B5-41B0-9BE1-73F066620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630835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7523E-938F-438E-ACC4-357650D6A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  <a:prstGeom prst="rect">
            <a:avLst/>
          </a:prstGeom>
        </p:spPr>
        <p:txBody>
          <a:bodyPr rtlCol="0" anchor="b"/>
          <a:lstStyle>
            <a:lvl1pPr>
              <a:defRPr lang="zh-CN" sz="3200"/>
            </a:lvl1pPr>
          </a:lstStyle>
          <a:p>
            <a:pPr rtl="0"/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72DA9-4F67-4E76-B94A-2A066F0CC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9" y="987426"/>
            <a:ext cx="6172200" cy="4873625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zh-CN" sz="3200"/>
            </a:lvl1pPr>
            <a:lvl2pPr marL="457196" indent="0">
              <a:buNone/>
              <a:defRPr lang="zh-CN" sz="2800"/>
            </a:lvl2pPr>
            <a:lvl3pPr marL="914391" indent="0">
              <a:buNone/>
              <a:defRPr lang="zh-CN" sz="2400"/>
            </a:lvl3pPr>
            <a:lvl4pPr marL="1371587" indent="0">
              <a:buNone/>
              <a:defRPr lang="zh-CN" sz="2000"/>
            </a:lvl4pPr>
            <a:lvl5pPr marL="1828783" indent="0">
              <a:buNone/>
              <a:defRPr lang="zh-CN" sz="2000"/>
            </a:lvl5pPr>
            <a:lvl6pPr marL="2285978" indent="0">
              <a:buNone/>
              <a:defRPr lang="zh-CN" sz="2000"/>
            </a:lvl6pPr>
            <a:lvl7pPr marL="2743174" indent="0">
              <a:buNone/>
              <a:defRPr lang="zh-CN" sz="2000"/>
            </a:lvl7pPr>
            <a:lvl8pPr marL="3200370" indent="0">
              <a:buNone/>
              <a:defRPr lang="zh-CN" sz="2000"/>
            </a:lvl8pPr>
            <a:lvl9pPr marL="3657565" indent="0">
              <a:buNone/>
              <a:defRPr lang="zh-CN" sz="2000"/>
            </a:lvl9pPr>
          </a:lstStyle>
          <a:p>
            <a:pPr rtl="0"/>
            <a:r>
              <a:rPr lang="zh-CN" altLang="en-US"/>
              <a:t>单击图标添加图片</a:t>
            </a:r>
            <a:endParaRPr lang="zh-CN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E2FDD4-868B-425C-9784-E80DB7C01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zh-CN" sz="1600"/>
            </a:lvl1pPr>
            <a:lvl2pPr marL="457196" indent="0">
              <a:buNone/>
              <a:defRPr lang="zh-CN" sz="1400"/>
            </a:lvl2pPr>
            <a:lvl3pPr marL="914391" indent="0">
              <a:buNone/>
              <a:defRPr lang="zh-CN" sz="1200"/>
            </a:lvl3pPr>
            <a:lvl4pPr marL="1371587" indent="0">
              <a:buNone/>
              <a:defRPr lang="zh-CN" sz="1000"/>
            </a:lvl4pPr>
            <a:lvl5pPr marL="1828783" indent="0">
              <a:buNone/>
              <a:defRPr lang="zh-CN" sz="1000"/>
            </a:lvl5pPr>
            <a:lvl6pPr marL="2285978" indent="0">
              <a:buNone/>
              <a:defRPr lang="zh-CN" sz="1000"/>
            </a:lvl6pPr>
            <a:lvl7pPr marL="2743174" indent="0">
              <a:buNone/>
              <a:defRPr lang="zh-CN" sz="1000"/>
            </a:lvl7pPr>
            <a:lvl8pPr marL="3200370" indent="0">
              <a:buNone/>
              <a:defRPr lang="zh-CN" sz="1000"/>
            </a:lvl8pPr>
            <a:lvl9pPr marL="3657565" indent="0">
              <a:buNone/>
              <a:defRPr lang="zh-CN" sz="10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853192-BC34-458B-84D8-10413109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4140DD-DF78-4ACA-994A-2C80E820B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255A00-460B-4060-8FC4-6AE015CD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14278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89423-CD2E-4FE4-A0A5-BF1DF9A8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垂直文本占位符 2">
            <a:extLst>
              <a:ext uri="{FF2B5EF4-FFF2-40B4-BE49-F238E27FC236}">
                <a16:creationId xmlns:a16="http://schemas.microsoft.com/office/drawing/2014/main" id="{FD721021-E600-4985-9CB7-C91662580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BF65E1-9312-40C9-B537-2EF2373A3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27D5D2-711E-4128-B02F-A2F5F3B7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8A264A-3B0E-4789-8D33-E3B8BB42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67066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>
            <a:extLst>
              <a:ext uri="{FF2B5EF4-FFF2-40B4-BE49-F238E27FC236}">
                <a16:creationId xmlns:a16="http://schemas.microsoft.com/office/drawing/2014/main" id="{475CD398-88C4-4D5A-B800-669821089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zh-CN"/>
            </a:defPPr>
          </a:lstStyle>
          <a:p>
            <a:pPr rtl="0"/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垂直文本占位符 2">
            <a:extLst>
              <a:ext uri="{FF2B5EF4-FFF2-40B4-BE49-F238E27FC236}">
                <a16:creationId xmlns:a16="http://schemas.microsoft.com/office/drawing/2014/main" id="{CA0AE657-6D14-4EC6-AF23-3733CA7EC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 rtlCol="0"/>
          <a:lstStyle>
            <a:defPPr>
              <a:defRPr lang="zh-CN"/>
            </a:def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zh-CN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013624-5ED1-471D-B870-97A86379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endParaRPr 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A089F5-C44A-423E-A411-0170507E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A2F323-E5A0-4612-B41A-6BBC2FFF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zh-CN"/>
            </a:def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156236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42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030A0">
                <a:alpha val="5000"/>
              </a:srgbClr>
            </a:gs>
            <a:gs pos="100000">
              <a:srgbClr val="00B0F0">
                <a:alpha val="30000"/>
              </a:srgb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738DD69-FB8A-4188-BFE4-CBF509E5E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815C50-137C-4155-8543-556E7E213F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zh-CN"/>
            </a:defPPr>
          </a:lstStyle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C6A1DE-66DD-40F1-896C-01B693106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zh-CN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7912B1-2F8B-49C2-9253-FDAAEF5D94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43CF23-BB91-472C-8560-11C5F5282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5F44216D-285E-4743-ADC0-F517FFC76697}" type="slidenum">
              <a:rPr lang="zh-CN" smtClean="0"/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82915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391" rtl="0" eaLnBrk="1" latinLnBrk="0" hangingPunct="1">
        <a:lnSpc>
          <a:spcPct val="90000"/>
        </a:lnSpc>
        <a:spcBef>
          <a:spcPct val="0"/>
        </a:spcBef>
        <a:buNone/>
        <a:defRPr lang="zh-CN" sz="4400" b="1" kern="1200">
          <a:solidFill>
            <a:schemeClr val="tx1"/>
          </a:solidFill>
          <a:latin typeface="+mj-cs"/>
          <a:ea typeface="+mj-ea"/>
          <a:cs typeface="+mj-cs"/>
        </a:defRPr>
      </a:lvl1pPr>
    </p:titleStyle>
    <p:bodyStyle>
      <a:lvl1pPr marL="228598" indent="-228598" algn="l" defTabSz="91439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sz="2800" kern="1200">
          <a:solidFill>
            <a:schemeClr val="tx1"/>
          </a:solidFill>
          <a:latin typeface="+mn-cs"/>
          <a:ea typeface="+mn-ea"/>
          <a:cs typeface="+mn-cs"/>
        </a:defRPr>
      </a:lvl1pPr>
      <a:lvl2pPr marL="68579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400" kern="1200">
          <a:solidFill>
            <a:schemeClr val="tx1"/>
          </a:solidFill>
          <a:latin typeface="+mn-cs"/>
          <a:ea typeface="+mn-ea"/>
          <a:cs typeface="+mn-cs"/>
        </a:defRPr>
      </a:lvl2pPr>
      <a:lvl3pPr marL="1142989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2000" kern="1200">
          <a:solidFill>
            <a:schemeClr val="tx1"/>
          </a:solidFill>
          <a:latin typeface="+mn-cs"/>
          <a:ea typeface="+mn-ea"/>
          <a:cs typeface="+mn-cs"/>
        </a:defRPr>
      </a:lvl3pPr>
      <a:lvl4pPr marL="1600185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2057380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514576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772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8967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163" indent="-228598" algn="l" defTabSz="91439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zh-CN"/>
      </a:defPPr>
      <a:lvl1pPr marL="0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196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391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587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783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5978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174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370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565" algn="l" defTabSz="914391" rtl="0" eaLnBrk="1" latinLnBrk="0" hangingPunct="1">
        <a:defRPr lang="zh-CN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黑爵(AJAZZ)手柄/方向盘AG180报价_参数_图片_视频_怎么样_问答-苏宁易购">
            <a:extLst>
              <a:ext uri="{FF2B5EF4-FFF2-40B4-BE49-F238E27FC236}">
                <a16:creationId xmlns:a16="http://schemas.microsoft.com/office/drawing/2014/main" id="{8BC5C896-95E9-37C9-5D87-93A6AC1D4E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5" t="9275" r="3752" b="5379"/>
          <a:stretch/>
        </p:blipFill>
        <p:spPr bwMode="auto">
          <a:xfrm>
            <a:off x="6630660" y="1616743"/>
            <a:ext cx="7054860" cy="6523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7A3C5A0-8747-F286-F73D-6238675BE2D3}"/>
              </a:ext>
            </a:extLst>
          </p:cNvPr>
          <p:cNvSpPr txBox="1"/>
          <p:nvPr/>
        </p:nvSpPr>
        <p:spPr>
          <a:xfrm>
            <a:off x="1485603" y="2192313"/>
            <a:ext cx="9220794" cy="26161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9400" b="1" dirty="0">
                <a:gradFill>
                  <a:gsLst>
                    <a:gs pos="100000">
                      <a:srgbClr val="7030A0"/>
                    </a:gs>
                    <a:gs pos="0">
                      <a:srgbClr val="00B0F0"/>
                    </a:gs>
                  </a:gsLst>
                  <a:lin ang="13500000" scaled="1"/>
                </a:gra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C# </a:t>
            </a:r>
            <a:r>
              <a:rPr lang="zh-CN" altLang="en-US" sz="9400" b="1" dirty="0">
                <a:gradFill>
                  <a:gsLst>
                    <a:gs pos="100000">
                      <a:srgbClr val="7030A0"/>
                    </a:gs>
                    <a:gs pos="0">
                      <a:srgbClr val="00B0F0"/>
                    </a:gs>
                  </a:gsLst>
                  <a:lin ang="13500000" scaled="1"/>
                </a:gradFill>
                <a:latin typeface="楷体" panose="02010609060101010101" pitchFamily="49" charset="-122"/>
                <a:ea typeface="楷体" panose="02010609060101010101" pitchFamily="49" charset="-122"/>
              </a:rPr>
              <a:t>编程语言简介</a:t>
            </a:r>
            <a:endParaRPr lang="en-US" altLang="zh-CN" sz="9400" b="1" dirty="0">
              <a:gradFill>
                <a:gsLst>
                  <a:gs pos="100000">
                    <a:srgbClr val="7030A0"/>
                  </a:gs>
                  <a:gs pos="0">
                    <a:srgbClr val="00B0F0"/>
                  </a:gs>
                </a:gsLst>
                <a:lin ang="13500000" scaled="1"/>
              </a:gra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endParaRPr lang="en-US" altLang="zh-CN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3000" dirty="0"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r>
            <a:r>
              <a:rPr lang="zh-CN" altLang="en-US" sz="3000" dirty="0">
                <a:latin typeface="楷体" panose="02010609060101010101" pitchFamily="49" charset="-122"/>
                <a:ea typeface="楷体" panose="02010609060101010101" pitchFamily="49" charset="-122"/>
              </a:rPr>
              <a:t>章</a:t>
            </a:r>
            <a:endParaRPr lang="en-US" altLang="zh-CN" sz="3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CD6A4EF-DDEE-E408-C834-6049481DD9E2}"/>
              </a:ext>
            </a:extLst>
          </p:cNvPr>
          <p:cNvGrpSpPr/>
          <p:nvPr/>
        </p:nvGrpSpPr>
        <p:grpSpPr>
          <a:xfrm>
            <a:off x="4525725" y="261577"/>
            <a:ext cx="3140549" cy="471065"/>
            <a:chOff x="4840431" y="207541"/>
            <a:chExt cx="3140549" cy="471065"/>
          </a:xfrm>
        </p:grpSpPr>
        <p:pic>
          <p:nvPicPr>
            <p:cNvPr id="3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EBEDB329-A9A2-BA22-C8A6-C40AD1A4A6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291886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578CF8-9849-9DF8-34C1-DEA673A1CC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5" y="207541"/>
              <a:ext cx="2682435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zh-CN" altLang="en-US" sz="3200" dirty="0">
                  <a:latin typeface="楷体" panose="02010609060101010101" pitchFamily="49" charset="-122"/>
                  <a:ea typeface="楷体" panose="02010609060101010101" pitchFamily="49" charset="-122"/>
                </a:rPr>
                <a:t>本节课程内容</a:t>
              </a:r>
              <a:endParaRPr kumimoji="0"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5161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649D-159E-053F-86AF-4BE50911F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E9D34B5B-E0BF-9357-6C85-778BF6A775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10"/>
          <a:stretch/>
        </p:blipFill>
        <p:spPr bwMode="auto">
          <a:xfrm>
            <a:off x="478824" y="1629021"/>
            <a:ext cx="1584176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AB41B94B-05D5-4BA3-6141-523CFA77D0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00"/>
          <a:stretch/>
        </p:blipFill>
        <p:spPr bwMode="auto">
          <a:xfrm>
            <a:off x="4151232" y="1628800"/>
            <a:ext cx="1512168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C4402F0-FAC9-B5BE-190C-FECED3FFAF2F}"/>
              </a:ext>
            </a:extLst>
          </p:cNvPr>
          <p:cNvSpPr/>
          <p:nvPr/>
        </p:nvSpPr>
        <p:spPr>
          <a:xfrm>
            <a:off x="2387036" y="2888829"/>
            <a:ext cx="1332148" cy="5042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自然语言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A90137-22A6-E27A-E671-D88EEB20C5B0}"/>
              </a:ext>
            </a:extLst>
          </p:cNvPr>
          <p:cNvCxnSpPr>
            <a:stCxn id="2050" idx="3"/>
            <a:endCxn id="13" idx="1"/>
          </p:cNvCxnSpPr>
          <p:nvPr/>
        </p:nvCxnSpPr>
        <p:spPr>
          <a:xfrm flipV="1">
            <a:off x="2063000" y="3140968"/>
            <a:ext cx="324036" cy="2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6693096B-06D0-3320-4A27-40EBD38A2903}"/>
              </a:ext>
            </a:extLst>
          </p:cNvPr>
          <p:cNvCxnSpPr>
            <a:cxnSpLocks/>
            <a:stCxn id="13" idx="3"/>
            <a:endCxn id="12" idx="1"/>
          </p:cNvCxnSpPr>
          <p:nvPr/>
        </p:nvCxnSpPr>
        <p:spPr>
          <a:xfrm>
            <a:off x="3719184" y="3140968"/>
            <a:ext cx="432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4" name="Picture 6">
            <a:extLst>
              <a:ext uri="{FF2B5EF4-FFF2-40B4-BE49-F238E27FC236}">
                <a16:creationId xmlns:a16="http://schemas.microsoft.com/office/drawing/2014/main" id="{2AD51D36-15A6-ECA5-294F-F14557196F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t="16800" r="4451" b="14952"/>
          <a:stretch/>
        </p:blipFill>
        <p:spPr bwMode="auto">
          <a:xfrm>
            <a:off x="9503089" y="2438751"/>
            <a:ext cx="2396385" cy="1854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41EF7E58-BE51-4E99-6C2F-EB11E34C4E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810"/>
          <a:stretch/>
        </p:blipFill>
        <p:spPr bwMode="auto">
          <a:xfrm>
            <a:off x="6484797" y="1628799"/>
            <a:ext cx="1584176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C2B0D03-00CE-E383-D18D-F4072D095C7A}"/>
              </a:ext>
            </a:extLst>
          </p:cNvPr>
          <p:cNvSpPr/>
          <p:nvPr/>
        </p:nvSpPr>
        <p:spPr>
          <a:xfrm>
            <a:off x="8381874" y="2851599"/>
            <a:ext cx="1332148" cy="50427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编程语言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74AEAEB-510F-C939-B353-5AD80AB74737}"/>
              </a:ext>
            </a:extLst>
          </p:cNvPr>
          <p:cNvCxnSpPr>
            <a:endCxn id="22" idx="1"/>
          </p:cNvCxnSpPr>
          <p:nvPr/>
        </p:nvCxnSpPr>
        <p:spPr>
          <a:xfrm flipV="1">
            <a:off x="8057838" y="3103738"/>
            <a:ext cx="324036" cy="2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C76855E0-5C09-3C1E-6C8B-48ECD863203F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9714022" y="3103738"/>
            <a:ext cx="43204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3">
            <a:extLst>
              <a:ext uri="{FF2B5EF4-FFF2-40B4-BE49-F238E27FC236}">
                <a16:creationId xmlns:a16="http://schemas.microsoft.com/office/drawing/2014/main" id="{A8293789-D11C-F312-74D4-65D49329791F}"/>
              </a:ext>
            </a:extLst>
          </p:cNvPr>
          <p:cNvSpPr txBox="1">
            <a:spLocks/>
          </p:cNvSpPr>
          <p:nvPr/>
        </p:nvSpPr>
        <p:spPr>
          <a:xfrm>
            <a:off x="880435" y="5045480"/>
            <a:ext cx="4345349" cy="727478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人与人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沟通使用自然语言</a:t>
            </a:r>
          </a:p>
        </p:txBody>
      </p:sp>
      <p:sp>
        <p:nvSpPr>
          <p:cNvPr id="28" name="Rectangle 3">
            <a:extLst>
              <a:ext uri="{FF2B5EF4-FFF2-40B4-BE49-F238E27FC236}">
                <a16:creationId xmlns:a16="http://schemas.microsoft.com/office/drawing/2014/main" id="{8E693F40-26DA-3C22-F8EC-50B4E784E031}"/>
              </a:ext>
            </a:extLst>
          </p:cNvPr>
          <p:cNvSpPr txBox="1">
            <a:spLocks/>
          </p:cNvSpPr>
          <p:nvPr/>
        </p:nvSpPr>
        <p:spPr>
          <a:xfrm>
            <a:off x="6948010" y="5050316"/>
            <a:ext cx="4507454" cy="727478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0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人与机器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sym typeface="+mn-ea"/>
              </a:rPr>
              <a:t>沟通使用编程语言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799994-DBB7-E3D6-0F9D-2E1341794A66}"/>
              </a:ext>
            </a:extLst>
          </p:cNvPr>
          <p:cNvGrpSpPr/>
          <p:nvPr/>
        </p:nvGrpSpPr>
        <p:grpSpPr>
          <a:xfrm>
            <a:off x="4692942" y="251474"/>
            <a:ext cx="2806116" cy="471065"/>
            <a:chOff x="4840431" y="207541"/>
            <a:chExt cx="2806116" cy="471065"/>
          </a:xfrm>
        </p:grpSpPr>
        <p:pic>
          <p:nvPicPr>
            <p:cNvPr id="3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1BD704A8-CB46-000B-191B-16555081F24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291886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C8ACEF-1C3A-6BCF-DC55-E45629CE89D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34800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什么是编程语言</a:t>
              </a:r>
            </a:p>
          </p:txBody>
        </p:sp>
      </p:grp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AE7D2ED-2C87-21CE-2847-B0545D99FF00}"/>
              </a:ext>
            </a:extLst>
          </p:cNvPr>
          <p:cNvSpPr/>
          <p:nvPr/>
        </p:nvSpPr>
        <p:spPr>
          <a:xfrm>
            <a:off x="248743" y="1417320"/>
            <a:ext cx="5623643" cy="3535680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34C252E-C001-C282-248F-CD3DA60677DE}"/>
              </a:ext>
            </a:extLst>
          </p:cNvPr>
          <p:cNvSpPr/>
          <p:nvPr/>
        </p:nvSpPr>
        <p:spPr>
          <a:xfrm>
            <a:off x="6196423" y="1417320"/>
            <a:ext cx="5746834" cy="3535680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5116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B017852-D734-D683-8B6E-02DC8A6F4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00"/>
          <a:stretch/>
        </p:blipFill>
        <p:spPr>
          <a:xfrm>
            <a:off x="3428823" y="932941"/>
            <a:ext cx="5141893" cy="558924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28433C93-FE12-E744-12D3-825F1585C8DD}"/>
              </a:ext>
            </a:extLst>
          </p:cNvPr>
          <p:cNvGrpSpPr/>
          <p:nvPr/>
        </p:nvGrpSpPr>
        <p:grpSpPr>
          <a:xfrm>
            <a:off x="4692942" y="251474"/>
            <a:ext cx="2806116" cy="471065"/>
            <a:chOff x="4840431" y="207541"/>
            <a:chExt cx="2806116" cy="47106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22B192E5-C7C5-A123-CA81-515BF9EF793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291886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153CDB5-2C31-1468-A3A5-2BC5C522F5B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34800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常见的编程语言</a:t>
              </a:r>
            </a:p>
          </p:txBody>
        </p:sp>
      </p:grp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118E73D-0AEE-F9D1-7E4C-47BE65F89689}"/>
              </a:ext>
            </a:extLst>
          </p:cNvPr>
          <p:cNvSpPr/>
          <p:nvPr/>
        </p:nvSpPr>
        <p:spPr>
          <a:xfrm>
            <a:off x="3428823" y="4198094"/>
            <a:ext cx="1264119" cy="1621401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 w="25400"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0343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74FBE-5BB7-F11E-7464-2823A917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6FAD446-78D4-4922-479D-68E2D869E270}"/>
              </a:ext>
            </a:extLst>
          </p:cNvPr>
          <p:cNvGrpSpPr/>
          <p:nvPr/>
        </p:nvGrpSpPr>
        <p:grpSpPr>
          <a:xfrm>
            <a:off x="4692942" y="251474"/>
            <a:ext cx="2806116" cy="471065"/>
            <a:chOff x="4840431" y="207541"/>
            <a:chExt cx="2806116" cy="471065"/>
          </a:xfrm>
        </p:grpSpPr>
        <p:pic>
          <p:nvPicPr>
            <p:cNvPr id="5" name="Picture 4" descr="黑爵(AJAZZ)手柄/方向盘AG180报价_参数_图片_视频_怎么样_问答-苏宁易购">
              <a:extLst>
                <a:ext uri="{FF2B5EF4-FFF2-40B4-BE49-F238E27FC236}">
                  <a16:creationId xmlns:a16="http://schemas.microsoft.com/office/drawing/2014/main" id="{72B68EDA-FD69-CF6F-FEFA-070B2683DE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5" t="9275" r="3752" b="5379"/>
            <a:stretch/>
          </p:blipFill>
          <p:spPr bwMode="auto">
            <a:xfrm>
              <a:off x="4840431" y="291886"/>
              <a:ext cx="407315" cy="3766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38CD432A-DD46-6EFC-4346-69577DD5C3A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5298546" y="207541"/>
              <a:ext cx="2348001" cy="471065"/>
            </a:xfrm>
            <a:prstGeom prst="rect">
              <a:avLst/>
            </a:prstGeom>
            <a:noFill/>
          </p:spPr>
          <p:txBody>
            <a:bodyPr lIns="90488" tIns="44450" rIns="90488" bIns="44450"/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b="1" kern="120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base">
                <a:lnSpc>
                  <a:spcPct val="100000"/>
                </a:lnSpc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楷体" panose="02010609060101010101" pitchFamily="49" charset="-122"/>
                  <a:sym typeface="+mn-ea"/>
                </a:rPr>
                <a:t>常见的编程语言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E862670E-1F45-EF00-D66E-17121B4138B4}"/>
              </a:ext>
            </a:extLst>
          </p:cNvPr>
          <p:cNvSpPr txBox="1"/>
          <p:nvPr/>
        </p:nvSpPr>
        <p:spPr>
          <a:xfrm>
            <a:off x="1860561" y="5775529"/>
            <a:ext cx="8928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全球知名TIOBE编程语言社区发布</a:t>
            </a:r>
            <a:r>
              <a:rPr 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的</a:t>
            </a:r>
            <a:r>
              <a:rPr lang="en-US" altLang="zh-CN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2024</a:t>
            </a:r>
            <a:r>
              <a:rPr lang="zh-CN" altLang="en-US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年</a:t>
            </a:r>
            <a:r>
              <a:rPr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1</a:t>
            </a:r>
            <a:r>
              <a:rPr lang="en-US"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0</a:t>
            </a:r>
            <a:r>
              <a:rPr sz="2400" dirty="0"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月编程语言排行榜</a:t>
            </a:r>
          </a:p>
          <a:p>
            <a:pPr algn="ctr"/>
            <a:r>
              <a:rPr lang="en-US" sz="2400" dirty="0">
                <a:gradFill>
                  <a:gsLst>
                    <a:gs pos="0">
                      <a:srgbClr val="7030A0"/>
                    </a:gs>
                    <a:gs pos="100000">
                      <a:srgbClr val="00B0F0"/>
                    </a:gs>
                  </a:gsLst>
                  <a:lin ang="13500000" scaled="1"/>
                </a:gra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C# </a:t>
            </a:r>
            <a:r>
              <a:rPr lang="zh-CN" altLang="en-US" sz="2400" dirty="0">
                <a:gradFill>
                  <a:gsLst>
                    <a:gs pos="0">
                      <a:srgbClr val="7030A0"/>
                    </a:gs>
                    <a:gs pos="100000">
                      <a:srgbClr val="00B0F0"/>
                    </a:gs>
                  </a:gsLst>
                  <a:lin ang="13500000" scaled="1"/>
                </a:gra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黑体" panose="02010609060101010101" charset="-122"/>
              </a:rPr>
              <a:t>在该排行榜排名第五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7866830-65A4-38A5-BA64-009970AEE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3" t="1701" r="2374" b="48520"/>
          <a:stretch/>
        </p:blipFill>
        <p:spPr bwMode="auto">
          <a:xfrm>
            <a:off x="2306320" y="985520"/>
            <a:ext cx="7985760" cy="4691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CFC8DB28-E6EC-C1BC-3A8F-A6F06EA44B2B}"/>
              </a:ext>
            </a:extLst>
          </p:cNvPr>
          <p:cNvSpPr/>
          <p:nvPr/>
        </p:nvSpPr>
        <p:spPr>
          <a:xfrm>
            <a:off x="2306320" y="3069695"/>
            <a:ext cx="7985760" cy="445665"/>
          </a:xfrm>
          <a:prstGeom prst="roundRect">
            <a:avLst>
              <a:gd name="adj" fmla="val 3791"/>
            </a:avLst>
          </a:prstGeom>
          <a:gradFill>
            <a:gsLst>
              <a:gs pos="0">
                <a:srgbClr val="7030A0">
                  <a:alpha val="5000"/>
                </a:srgbClr>
              </a:gs>
              <a:gs pos="100000">
                <a:srgbClr val="00B0F0">
                  <a:alpha val="5000"/>
                </a:srgbClr>
              </a:gs>
            </a:gsLst>
            <a:lin ang="13500000" scaled="1"/>
          </a:gradFill>
          <a:ln w="25400">
            <a:gradFill>
              <a:gsLst>
                <a:gs pos="0">
                  <a:srgbClr val="0070C0"/>
                </a:gs>
                <a:gs pos="100000">
                  <a:srgbClr val="7030A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楷体" panose="02010609060101010101" pitchFamily="49" charset="-122"/>
              <a:cs typeface="宋体" panose="02010600030101010101" pitchFamily="2" charset="-122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3042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目录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694340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是一种编译型语言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是托管代码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是一种强类型语言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是基于函数的语言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是面向对象的语言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阅读和理解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语法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5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14556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694340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是一种编译型语言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计算机芯片只能理解机器语言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000000 00001 00010 0011 00000 100000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人们曾经使用穿孔卡进行计算机编程（打孔代表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，不打孔代表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0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编程语言被认为是人类和计算机之间的过渡语言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两种编程语言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解释型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编译型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6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913833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923038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解释型语言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400" b="1" dirty="0">
                <a:latin typeface="Microsoft YaHei UI" panose="020B0502040204020203" pitchFamily="34" charset="0"/>
              </a:rPr>
              <a:t>JavaScript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PHP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Python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编辑和执行代码包括</a:t>
            </a:r>
            <a:r>
              <a:rPr lang="en-US" altLang="zh-CN" sz="2400" b="1" dirty="0">
                <a:latin typeface="Microsoft YaHei UI" panose="020B0502040204020203" pitchFamily="34" charset="0"/>
              </a:rPr>
              <a:t>2</a:t>
            </a:r>
            <a:r>
              <a:rPr lang="zh-CN" altLang="en-US" sz="2400" b="1" dirty="0">
                <a:latin typeface="Microsoft YaHei UI" panose="020B0502040204020203" pitchFamily="34" charset="0"/>
              </a:rPr>
              <a:t>个步骤：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程序员先编写游戏代码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玩家每次玩游戏时，代码均</a:t>
            </a:r>
            <a:r>
              <a:rPr lang="zh-CN" altLang="en-US" sz="20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实时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由编程语言转化为机器语言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优点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具有可移植性：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代码可以专门针对当前计算机进行解释</a:t>
            </a: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缺点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速度慢：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用于解释代码的处理能力并未应用于游戏本身</a:t>
            </a: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效率低：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因为代码可以在任何计算机上运行，所以没有针对任何特定的计算机进行优化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7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083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923038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编译型语言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400" b="1" dirty="0">
                <a:latin typeface="Microsoft YaHei UI" panose="020B0502040204020203" pitchFamily="34" charset="0"/>
              </a:rPr>
              <a:t>C#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Basic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Java</a:t>
            </a:r>
            <a:r>
              <a:rPr lang="zh-CN" altLang="en-US" sz="24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400" b="1" dirty="0">
                <a:latin typeface="Microsoft YaHei UI" panose="020B0502040204020203" pitchFamily="34" charset="0"/>
              </a:rPr>
              <a:t>C++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编程过程分为</a:t>
            </a:r>
            <a:r>
              <a:rPr lang="en-US" altLang="zh-CN" sz="2400" b="1" dirty="0">
                <a:latin typeface="Microsoft YaHei UI" panose="020B0502040204020203" pitchFamily="34" charset="0"/>
              </a:rPr>
              <a:t>3</a:t>
            </a:r>
            <a:r>
              <a:rPr lang="zh-CN" altLang="en-US" sz="2400" b="1" dirty="0">
                <a:latin typeface="Microsoft YaHei UI" panose="020B0502040204020203" pitchFamily="34" charset="0"/>
              </a:rPr>
              <a:t>个独立的步骤：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编写代码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使用编译器转换代码为可执行文件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执行编译后的程序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优点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速度快：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无需解释器即可直接在计算机上运行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效率高：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编译器针对特定的处理器架构进行了优化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缺点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不具有可移植性：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只针对一种运行平台编译</a:t>
            </a:r>
          </a:p>
          <a:p>
            <a:pPr lvl="2"/>
            <a:r>
              <a:rPr lang="zh-CN" altLang="en-US" sz="2000" b="1" dirty="0">
                <a:latin typeface="Microsoft YaHei UI" panose="020B0502040204020203" pitchFamily="34" charset="0"/>
              </a:rPr>
              <a:t>需要额外的编译步骤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58583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124599"/>
            <a:ext cx="11204026" cy="5079353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编程语言分类图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9</a:t>
            </a:fld>
            <a:endParaRPr lang="zh-CN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130DD0A4-F70E-417C-B4E9-B75F3CF76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793" y="1558491"/>
            <a:ext cx="9396413" cy="507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0512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923038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是托管代码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计算机的内存空间是有限的</a:t>
            </a: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像</a:t>
            </a:r>
            <a:r>
              <a:rPr lang="en-US" altLang="zh-CN" sz="2800" b="1" dirty="0">
                <a:latin typeface="Microsoft YaHei UI" panose="020B0502040204020203" pitchFamily="34" charset="0"/>
              </a:rPr>
              <a:t>BASIC</a:t>
            </a:r>
            <a:r>
              <a:rPr lang="zh-CN" altLang="en-US" sz="2800" b="1" dirty="0">
                <a:latin typeface="Microsoft YaHei UI" panose="020B0502040204020203" pitchFamily="34" charset="0"/>
              </a:rPr>
              <a:t>、</a:t>
            </a:r>
            <a:r>
              <a:rPr lang="en-US" altLang="zh-CN" sz="2800" b="1" dirty="0">
                <a:latin typeface="Microsoft YaHei UI" panose="020B0502040204020203" pitchFamily="34" charset="0"/>
              </a:rPr>
              <a:t>C++</a:t>
            </a:r>
            <a:r>
              <a:rPr lang="zh-CN" altLang="en-US" sz="2800" b="1" dirty="0">
                <a:latin typeface="Microsoft YaHei UI" panose="020B0502040204020203" pitchFamily="34" charset="0"/>
              </a:rPr>
              <a:t>等传统的编译型语言需要程序员直接管理内存，每次创建或销毁变量时都要手动分配和释放内存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在托管型代码中，内存的分配和释放是自动进行的</a:t>
            </a: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这可以减少意外占用所有内存的可能性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内存泄漏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10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84170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计算机语言中的变量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923038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变量是一个具有命名的容器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借用了代数中的概念：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400" dirty="0">
                <a:latin typeface="Microsoft YaHei UI" panose="020B0502040204020203" pitchFamily="34" charset="0"/>
              </a:rPr>
              <a:t>x = 5</a:t>
            </a:r>
          </a:p>
          <a:p>
            <a:pPr lvl="1"/>
            <a:r>
              <a:rPr lang="en-US" altLang="zh-CN" sz="2400" dirty="0">
                <a:latin typeface="Microsoft YaHei UI" panose="020B0502040204020203" pitchFamily="34" charset="0"/>
              </a:rPr>
              <a:t>x + 2 = </a:t>
            </a:r>
            <a:r>
              <a:rPr lang="zh-CN" altLang="en-US" sz="2400" dirty="0">
                <a:latin typeface="Microsoft YaHei UI" panose="020B0502040204020203" pitchFamily="34" charset="0"/>
              </a:rPr>
              <a:t>？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/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计算机语言中的变量可以保存的不仅仅是简单的数字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数字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单词、句子、段落、小说</a:t>
            </a:r>
            <a:r>
              <a:rPr lang="en-US" altLang="zh-CN" sz="2400" dirty="0">
                <a:latin typeface="Microsoft YaHei UI" panose="020B0502040204020203" pitchFamily="34" charset="0"/>
              </a:rPr>
              <a:t>……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图像、声音、</a:t>
            </a:r>
            <a:r>
              <a:rPr lang="en-US" altLang="zh-CN" sz="2400" dirty="0">
                <a:latin typeface="Microsoft YaHei UI" panose="020B0502040204020203" pitchFamily="34" charset="0"/>
              </a:rPr>
              <a:t>3D</a:t>
            </a:r>
            <a:r>
              <a:rPr lang="zh-CN" altLang="en-US" sz="2400" dirty="0">
                <a:latin typeface="Microsoft YaHei UI" panose="020B0502040204020203" pitchFamily="34" charset="0"/>
              </a:rPr>
              <a:t>模型、动画</a:t>
            </a:r>
            <a:r>
              <a:rPr lang="en-US" altLang="zh-CN" sz="2400" dirty="0">
                <a:latin typeface="Microsoft YaHei UI" panose="020B0502040204020203" pitchFamily="34" charset="0"/>
              </a:rPr>
              <a:t>……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函数和方法</a:t>
            </a:r>
          </a:p>
          <a:p>
            <a:pPr lvl="1"/>
            <a:r>
              <a:rPr lang="zh-CN" altLang="en-US" sz="2400" dirty="0">
                <a:latin typeface="Microsoft YaHei UI" panose="020B0502040204020203" pitchFamily="34" charset="0"/>
              </a:rPr>
              <a:t>类和游戏对象</a:t>
            </a:r>
            <a:endParaRPr lang="en-US" altLang="zh-CN" sz="2400" dirty="0">
              <a:latin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11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472279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923038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是一种强类型语言</a:t>
            </a:r>
            <a:endParaRPr lang="en-US" altLang="zh-CN" sz="32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b="1" dirty="0">
                <a:latin typeface="Microsoft YaHei UI" panose="020B0502040204020203" pitchFamily="34" charset="0"/>
              </a:rPr>
              <a:t>在弱类型语言中，单个变量可以存储任意类型的数据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同一个变量可能现在存储数字，之后存储动画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800" b="1" dirty="0">
                <a:latin typeface="Microsoft YaHei UI" panose="020B0502040204020203" pitchFamily="34" charset="0"/>
              </a:rPr>
              <a:t>强类型语言限制了变量可以保存的数据类型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= 5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—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整型变量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只能存储整数</a:t>
            </a:r>
          </a:p>
          <a:p>
            <a:pPr lvl="2"/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Float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= 3.4f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；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—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浮点类型变量 </a:t>
            </a:r>
            <a:r>
              <a:rPr lang="en-US" altLang="zh-CN" sz="24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只能存储浮点数</a:t>
            </a:r>
          </a:p>
          <a:p>
            <a:pPr lvl="1"/>
            <a:r>
              <a:rPr lang="zh-CN" altLang="en-US" sz="2800" b="1" dirty="0">
                <a:latin typeface="Microsoft YaHei UI" panose="020B0502040204020203" pitchFamily="34" charset="0"/>
              </a:rPr>
              <a:t>强类型语言支持语法检查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方便编译器检查代码的正确性</a:t>
            </a:r>
          </a:p>
          <a:p>
            <a:pPr lvl="1"/>
            <a:r>
              <a:rPr lang="zh-CN" altLang="en-US" sz="2800" b="1" dirty="0">
                <a:latin typeface="Microsoft YaHei UI" panose="020B0502040204020203" pitchFamily="34" charset="0"/>
              </a:rPr>
              <a:t>强类型语言还支持代码自动完成</a:t>
            </a:r>
            <a:endParaRPr lang="en-US" altLang="zh-CN" sz="28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代码编辑器可以预测您想要输入的内容，并基于已有代码提供有效选项</a:t>
            </a:r>
          </a:p>
          <a:p>
            <a:pPr lvl="2"/>
            <a:endParaRPr lang="zh-CN" altLang="en-US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12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66237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80914"/>
            <a:ext cx="11204026" cy="4923038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是基于函数的语言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早期的编程中，程序是由一系列命令构成的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比如有朋友想开车到你家，你这样给他指路：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1.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从学校出发，沿南海大道向南走。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2.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到创业路后向西拐，走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公里。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到丁字路口后，向左拐上南山大道，再向南走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公里。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4.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一直走，碰到又一个丁字路口后，进入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××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小区。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/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5.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我家就在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××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小区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号楼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单元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1601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。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过程化语言允许将特定功能封装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“如果你来的路上看到商店，能帮我</a:t>
            </a:r>
            <a:r>
              <a:rPr lang="en-US" altLang="zh-CN" sz="20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BuySomeMilk</a:t>
            </a:r>
            <a:r>
              <a:rPr lang="en-US" altLang="zh-CN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( )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吗？”</a:t>
            </a:r>
          </a:p>
          <a:p>
            <a:pPr lvl="2"/>
            <a:r>
              <a:rPr lang="en-US" altLang="zh-CN" sz="20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BuySomeMilk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（）函数封装了找牛奶和购买牛奶所涉及的诸多操作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13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54129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的特性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136539"/>
            <a:ext cx="11204026" cy="5067414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是面向对象的语言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面向过程编程中，函数和数据是分开的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面向对象编程中，引入了类</a:t>
            </a:r>
          </a:p>
          <a:p>
            <a:pPr lvl="1"/>
            <a:r>
              <a:rPr lang="zh-CN" altLang="en-US" sz="2400" b="1" dirty="0">
                <a:latin typeface="Microsoft YaHei UI" panose="020B0502040204020203" pitchFamily="34" charset="0"/>
              </a:rPr>
              <a:t>类将函数和数据组合成一个对象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类中的变量称为</a:t>
            </a:r>
            <a:r>
              <a:rPr lang="zh-CN" altLang="en-US" sz="20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字段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类中的函数称为</a:t>
            </a:r>
            <a:r>
              <a:rPr lang="zh-CN" altLang="en-US" sz="20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方法</a:t>
            </a:r>
            <a:endParaRPr lang="en-US" altLang="zh-CN" sz="2000" b="1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这就像鸟群一样，鸟群中的每只鸟都是独立的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而不是整个鸟群被一个单一的、整体的程序所控制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b="1" dirty="0">
                <a:latin typeface="Microsoft YaHei UI" panose="020B0502040204020203" pitchFamily="34" charset="0"/>
              </a:rPr>
              <a:t>面向对象还引入了类继承</a:t>
            </a:r>
            <a:endParaRPr lang="en-US" altLang="zh-CN" sz="2400" b="1" dirty="0">
              <a:latin typeface="Microsoft YaHei UI" panose="020B0502040204020203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允许子类继承或重写其父类的函数</a:t>
            </a: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例如，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狗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将继承其父类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哺乳动物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的所有字段和方法，而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哺乳动物 </a:t>
            </a:r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又继承自</a:t>
            </a:r>
            <a:r>
              <a:rPr lang="zh-CN" altLang="en-US" sz="20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动物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14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13296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阅读和理解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语法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124599"/>
            <a:ext cx="11204026" cy="5079353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所有语言都有语法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以上只有一句是正确的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只有遵循了汉语语法规则的那句是正确的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zh-CN" altLang="en-US" sz="28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其他三句都存在语法错误</a:t>
            </a:r>
            <a:endParaRPr lang="en-US" altLang="zh-CN" sz="28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15</a:t>
            </a:fld>
            <a:endParaRPr lang="zh-CN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89B803F-E8C0-48F8-B928-BC3014FAD84C}"/>
              </a:ext>
            </a:extLst>
          </p:cNvPr>
          <p:cNvSpPr>
            <a:spLocks/>
          </p:cNvSpPr>
          <p:nvPr/>
        </p:nvSpPr>
        <p:spPr bwMode="auto">
          <a:xfrm>
            <a:off x="444500" y="1929200"/>
            <a:ext cx="3444107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968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540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4112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684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狗咬松鼠</a:t>
            </a:r>
            <a:endParaRPr lang="en-US" altLang="zh-CN" sz="2400" b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松鼠狗咬</a:t>
            </a:r>
            <a:endParaRPr lang="en-US" altLang="zh-CN" sz="2400" b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狗松鼠咬</a:t>
            </a:r>
            <a:endParaRPr lang="en-US" altLang="zh-CN" sz="2400" b="1" dirty="0">
              <a:latin typeface="Helvetica" panose="020B0604020202020204" pitchFamily="34" charset="0"/>
              <a:sym typeface="Helvetica" panose="020B0604020202020204" pitchFamily="34" charset="0"/>
            </a:endParaRPr>
          </a:p>
          <a:p>
            <a:pPr marL="0" algn="ctr">
              <a:spcBef>
                <a:spcPts val="1800"/>
              </a:spcBef>
            </a:pP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咬狗松鼠</a:t>
            </a:r>
            <a:endParaRPr lang="zh-CN" altLang="zh-CN" sz="2000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3CB0A1-63AE-403C-A1D2-B7775DC2B725}"/>
              </a:ext>
            </a:extLst>
          </p:cNvPr>
          <p:cNvSpPr>
            <a:spLocks/>
          </p:cNvSpPr>
          <p:nvPr/>
        </p:nvSpPr>
        <p:spPr bwMode="auto">
          <a:xfrm>
            <a:off x="4648200" y="1929199"/>
            <a:ext cx="5824086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4968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9540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14112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1868488" indent="137160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marL="0"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</a:t>
            </a:r>
          </a:p>
          <a:p>
            <a:pPr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</a:t>
            </a:r>
          </a:p>
          <a:p>
            <a:pPr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</a:t>
            </a:r>
            <a:endParaRPr lang="zh-CN" altLang="zh-CN" sz="2400" b="1" dirty="0">
              <a:latin typeface="Helvetica" panose="020B0604020202020204" pitchFamily="34" charset="0"/>
            </a:endParaRPr>
          </a:p>
          <a:p>
            <a:pPr algn="ctr">
              <a:spcBef>
                <a:spcPts val="1800"/>
              </a:spcBef>
            </a:pP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动词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主语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 [</a:t>
            </a:r>
            <a:r>
              <a:rPr lang="zh-CN" altLang="en-US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宾语</a:t>
            </a:r>
            <a:r>
              <a:rPr lang="en-US" altLang="zh-CN" sz="2400" b="1" dirty="0">
                <a:latin typeface="Helvetica" panose="020B0604020202020204" pitchFamily="34" charset="0"/>
                <a:sym typeface="Helvetica" panose="020B0604020202020204" pitchFamily="34" charset="0"/>
              </a:rPr>
              <a:t>]</a:t>
            </a:r>
            <a:endParaRPr lang="zh-CN" altLang="zh-CN" sz="2400" b="1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261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阅读和理解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语法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11225"/>
            <a:ext cx="11204026" cy="4997067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x = 5;</a:t>
            </a:r>
          </a:p>
          <a:p>
            <a:pPr lvl="2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声明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了一个名为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型变量</a:t>
            </a:r>
            <a:endParaRPr lang="en-US" altLang="zh-CN" sz="28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若语句以变量类型开头，则语句的第二个单词是该类型的新变量名称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定义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的值为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5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等号（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=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用于为变量赋值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中的每个简单语句都必须以分号（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使用分号是因为在十进制数中已经使用了英文句点作为小数点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16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155873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阅读和理解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语法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11225"/>
            <a:ext cx="11204026" cy="4997067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x = 5;</a:t>
            </a: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y = x * ( 3 + x );</a:t>
            </a: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声明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了一个名为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int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型变量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计算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 + x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（即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3+5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，结果为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0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与代数中一样，首先执行圆括号内的运算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计算</a:t>
            </a: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* 8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的乘积（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x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，因此结果是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40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将变量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y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的值</a:t>
            </a: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定义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为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40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以分号（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）结束语句</a:t>
            </a:r>
            <a:endParaRPr lang="en-US" altLang="zh-CN" sz="20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17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172165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阅读和理解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语法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11225"/>
            <a:ext cx="11204026" cy="4997067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string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= “Hello World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！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”;</a:t>
            </a:r>
          </a:p>
          <a:p>
            <a:pPr lvl="2">
              <a:lnSpc>
                <a:spcPct val="150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声明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了一个名为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en-US" altLang="zh-CN" sz="2800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string 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类型变量</a:t>
            </a:r>
            <a:endParaRPr lang="en-US" altLang="zh-CN" sz="28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字符串可以容纳一系列的字符，例如词语或句子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将变量 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的值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定义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为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“Hello World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！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”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双引号之间的任何内容都应当作原义字符串处理，编译器解释时不要为其添加其他含义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以分号（</a:t>
            </a:r>
            <a:r>
              <a:rPr lang="en-US" altLang="zh-CN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）结束语句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18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241424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阅读和理解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语法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211225"/>
            <a:ext cx="11204026" cy="4997067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/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编程语言也有自己的语法规则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string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en-US" altLang="zh-CN" sz="2800" b="1" i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= “Hello World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！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”;</a:t>
            </a:r>
          </a:p>
          <a:p>
            <a:pPr lvl="1"/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 greeting </a:t>
            </a:r>
            <a:r>
              <a:rPr lang="zh-CN" altLang="en-US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</a:t>
            </a:r>
            <a:r>
              <a:rPr lang="en-US" altLang="zh-CN" sz="28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调用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在函数被调用时，函数会执行其中包含的动作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将变量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greeting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传递给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在函数后面的圆括号中包含的变量是传递给函数的</a:t>
            </a:r>
            <a:r>
              <a:rPr lang="zh-CN" altLang="en-US" sz="2400" b="1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参数</a:t>
            </a:r>
          </a:p>
          <a:p>
            <a:pPr lvl="3"/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print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（）函数将打印字符串问候语到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Unity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的控制台面板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控制台面板会输出 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Hello World! 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字样</a:t>
            </a:r>
            <a:endParaRPr lang="en-US" altLang="zh-CN" sz="2400" dirty="0">
              <a:solidFill>
                <a:schemeClr val="tx1"/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以分号（</a:t>
            </a:r>
            <a:r>
              <a:rPr lang="en-US" altLang="zh-CN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）结束语句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19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42941747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3BD17-A7FE-4352-9D7A-10482C686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12137"/>
            <a:ext cx="9146972" cy="640080"/>
          </a:xfrm>
        </p:spPr>
        <p:txBody>
          <a:bodyPr rtlCol="0">
            <a:normAutofit/>
          </a:bodyPr>
          <a:lstStyle>
            <a:defPPr>
              <a:defRPr lang="zh-CN"/>
            </a:defPPr>
          </a:lstStyle>
          <a:p>
            <a:pPr rtl="0"/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第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18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章 </a:t>
            </a:r>
            <a:r>
              <a:rPr lang="en-US" altLang="zh-CN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– </a:t>
            </a:r>
            <a:r>
              <a:rPr lang="zh-CN" altLang="en-US" sz="3600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小</a:t>
            </a:r>
            <a:r>
              <a:rPr lang="zh-CN" altLang="en-US" sz="3600" b="1" dirty="0">
                <a:latin typeface="Microsoft YaHei UI" panose="020B0502040204020203" pitchFamily="34" charset="0"/>
                <a:cs typeface="Microsoft YaHei UI" panose="020B0502040204020203" pitchFamily="34" charset="0"/>
              </a:rPr>
              <a:t>结</a:t>
            </a:r>
            <a:endParaRPr lang="zh-CN" sz="3600" b="1" dirty="0"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3C1D5B-11AC-48D7-B0A0-63BC88617D6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4500" y="1135781"/>
            <a:ext cx="11204026" cy="5068171"/>
          </a:xfrm>
        </p:spPr>
        <p:txBody>
          <a:bodyPr rtlCol="0">
            <a:noAutofit/>
          </a:bodyPr>
          <a:lstStyle>
            <a:defPPr>
              <a:defRPr lang="zh-CN"/>
            </a:defPPr>
          </a:lstStyle>
          <a:p>
            <a:pPr rtl="0">
              <a:lnSpc>
                <a:spcPct val="150000"/>
              </a:lnSpc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你学习了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语言的重要特性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lvl="1"/>
            <a:r>
              <a:rPr lang="en-US" altLang="zh-CN" sz="28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是一种编译型语言</a:t>
            </a:r>
          </a:p>
          <a:p>
            <a:pPr lvl="1"/>
            <a:r>
              <a:rPr lang="en-US" altLang="zh-CN" sz="28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是托管代码</a:t>
            </a:r>
          </a:p>
          <a:p>
            <a:pPr lvl="1"/>
            <a:r>
              <a:rPr lang="en-US" altLang="zh-CN" sz="28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是一种强类型语言</a:t>
            </a:r>
          </a:p>
          <a:p>
            <a:pPr lvl="1"/>
            <a:r>
              <a:rPr lang="en-US" altLang="zh-CN" sz="28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是基于函数的语言</a:t>
            </a:r>
          </a:p>
          <a:p>
            <a:pPr lvl="1"/>
            <a:r>
              <a:rPr lang="en-US" altLang="zh-CN" sz="2800" dirty="0" err="1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2800" dirty="0">
                <a:solidFill>
                  <a:schemeClr val="tx1"/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是面向对象的语言</a:t>
            </a:r>
          </a:p>
          <a:p>
            <a:pPr rtl="0">
              <a:lnSpc>
                <a:spcPct val="150000"/>
              </a:lnSpc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你学会了阅读和理解一些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语句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  <a:p>
            <a:pPr rtl="0">
              <a:lnSpc>
                <a:spcPct val="150000"/>
              </a:lnSpc>
            </a:pP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在下一章中，你将编写你的第一个</a:t>
            </a:r>
            <a:r>
              <a:rPr lang="en-US" altLang="zh-CN" sz="320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Unity C#</a:t>
            </a:r>
            <a:r>
              <a:rPr lang="zh-CN" altLang="en-US" sz="3200" dirty="0">
                <a:solidFill>
                  <a:schemeClr val="accent5">
                    <a:lumMod val="75000"/>
                  </a:schemeClr>
                </a:solidFill>
                <a:latin typeface="Microsoft YaHei UI" panose="020B0502040204020203" pitchFamily="34" charset="0"/>
                <a:cs typeface="Microsoft YaHei UI" panose="020B0502040204020203" pitchFamily="34" charset="0"/>
              </a:rPr>
              <a:t>程序</a:t>
            </a:r>
            <a:endParaRPr lang="en-US" altLang="zh-CN" sz="3200" dirty="0">
              <a:solidFill>
                <a:schemeClr val="accent5">
                  <a:lumMod val="75000"/>
                </a:schemeClr>
              </a:solidFill>
              <a:latin typeface="Microsoft YaHei UI" panose="020B0502040204020203" pitchFamily="34" charset="0"/>
              <a:cs typeface="Microsoft YaHei UI" panose="020B0502040204020203" pitchFamily="34" charset="0"/>
            </a:endParaRP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B7DF6D-1567-44D5-8734-E5E760FFD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rtl="0"/>
            <a:r>
              <a:rPr lang="en-US" altLang="zh-CN"/>
              <a:t>《</a:t>
            </a:r>
            <a:r>
              <a:rPr lang="zh-CN" altLang="en-US"/>
              <a:t>游戏设计、原型与开发（第</a:t>
            </a:r>
            <a:r>
              <a:rPr lang="en-US" altLang="zh-CN"/>
              <a:t>2</a:t>
            </a:r>
            <a:r>
              <a:rPr lang="zh-CN" altLang="en-US"/>
              <a:t>版）</a:t>
            </a:r>
            <a:r>
              <a:rPr lang="en-US" altLang="zh-CN"/>
              <a:t>》</a:t>
            </a:r>
            <a:endParaRPr lang="zh-CN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A2DAF14-EC02-431B-A262-AAB51F5AC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9860EDB8-5305-433F-BE41-D7A86D811DB3}" type="slidenum">
              <a:rPr lang="en-US" altLang="zh-CN" smtClean="0"/>
              <a:pPr rtl="0"/>
              <a:t>20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2491566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Dyslexia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D24726"/>
      </a:accent2>
      <a:accent3>
        <a:srgbClr val="9B5AC8"/>
      </a:accent3>
      <a:accent4>
        <a:srgbClr val="F0A11F"/>
      </a:accent4>
      <a:accent5>
        <a:srgbClr val="CB5BA3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icrosoft YaHei UI"/>
        <a:ea typeface=""/>
        <a:cs typeface="Microsoft YaHei UI"/>
      </a:majorFont>
      <a:minorFont>
        <a:latin typeface="Microsoft YaHei UI"/>
        <a:ea typeface=""/>
        <a:cs typeface="Microsoft YaHei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5215165_TF22841449_Win32.potx" id="{BF39765D-C9E9-4AF1-9256-387BCDBC5A99}" vid="{9B6E473A-F89F-4E45-B3EF-F818F5A2C81B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 Light" panose="020F0302020204030204"/>
        <a:ea typeface=""/>
        <a:cs typeface="Microsoft YaHei UI Ligh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 panose="020F0502020204030204"/>
        <a:ea typeface=""/>
        <a:cs typeface="Microsoft YaHei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7DD0DBF-30B2-4FC6-A5E7-8374DC7180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A44EB6-3BD3-4FF9-B8D1-D973C54C3E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44B501-5DE1-46D9-B449-400C46FE1425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思维导图</Template>
  <TotalTime>1665</TotalTime>
  <Words>1622</Words>
  <Application>Microsoft Office PowerPoint</Application>
  <PresentationFormat>宽屏</PresentationFormat>
  <Paragraphs>221</Paragraphs>
  <Slides>20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Microsoft YaHei UI</vt:lpstr>
      <vt:lpstr>楷体</vt:lpstr>
      <vt:lpstr>Arial</vt:lpstr>
      <vt:lpstr>Helvetica</vt:lpstr>
      <vt:lpstr>Times New Roman</vt:lpstr>
      <vt:lpstr>Office 主题</vt:lpstr>
      <vt:lpstr>PowerPoint 演示文稿</vt:lpstr>
      <vt:lpstr>PowerPoint 演示文稿</vt:lpstr>
      <vt:lpstr>PowerPoint 演示文稿</vt:lpstr>
      <vt:lpstr>PowerPoint 演示文稿</vt:lpstr>
      <vt:lpstr>目录</vt:lpstr>
      <vt:lpstr>理解C#的特性</vt:lpstr>
      <vt:lpstr>理解C#的特性</vt:lpstr>
      <vt:lpstr>理解C#的特性</vt:lpstr>
      <vt:lpstr>理解C#的特性</vt:lpstr>
      <vt:lpstr>理解C#的特性</vt:lpstr>
      <vt:lpstr>计算机语言中的变量</vt:lpstr>
      <vt:lpstr>理解C#的特性</vt:lpstr>
      <vt:lpstr>理解C#的特性</vt:lpstr>
      <vt:lpstr>理解C#的特性</vt:lpstr>
      <vt:lpstr>阅读和理解C#语法</vt:lpstr>
      <vt:lpstr>阅读和理解C#语法</vt:lpstr>
      <vt:lpstr>阅读和理解C#语法</vt:lpstr>
      <vt:lpstr>阅读和理解C#语法</vt:lpstr>
      <vt:lpstr>阅读和理解C#语法</vt:lpstr>
      <vt:lpstr>第18章 – 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思维图</dc:title>
  <dc:creator>chuying</dc:creator>
  <cp:lastModifiedBy>军 魏</cp:lastModifiedBy>
  <cp:revision>485</cp:revision>
  <dcterms:created xsi:type="dcterms:W3CDTF">2024-10-23T20:19:38Z</dcterms:created>
  <dcterms:modified xsi:type="dcterms:W3CDTF">2025-02-25T05:47:06Z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