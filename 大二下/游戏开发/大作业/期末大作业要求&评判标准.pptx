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0" r:id="rId1"/>
  </p:sldMasterIdLst>
  <p:notesMasterIdLst>
    <p:notesMasterId r:id="rId14"/>
  </p:notesMasterIdLst>
  <p:handoutMasterIdLst>
    <p:handoutMasterId r:id="rId15"/>
  </p:handoutMasterIdLst>
  <p:sldIdLst>
    <p:sldId id="723" r:id="rId2"/>
    <p:sldId id="517" r:id="rId3"/>
    <p:sldId id="440" r:id="rId4"/>
    <p:sldId id="516" r:id="rId5"/>
    <p:sldId id="532" r:id="rId6"/>
    <p:sldId id="529" r:id="rId7"/>
    <p:sldId id="541" r:id="rId8"/>
    <p:sldId id="525" r:id="rId9"/>
    <p:sldId id="542" r:id="rId10"/>
    <p:sldId id="530" r:id="rId11"/>
    <p:sldId id="526" r:id="rId12"/>
    <p:sldId id="533" r:id="rId13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ssica Kung" initials="" lastIdx="3" clrIdx="0"/>
  <p:cmAuthor id="1" name="Paul Chen" initials="" lastIdx="8" clrIdx="1"/>
  <p:cmAuthor id="2" name="Anonymous" initials="" lastIdx="1" clrIdx="2"/>
  <p:cmAuthor id="3" name="Thai Bui" initials="" lastIdx="1" clrIdx="3"/>
  <p:cmAuthor id="4" name="Angela Wei" initials="" lastIdx="1" clrIdx="4"/>
  <p:cmAuthor id="5" name="Hannah Lowry" initials="" lastIdx="1" clrIdx="5"/>
  <p:cmAuthor id="6" name="Administrator" initials="A" lastIdx="1" clrIdx="6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4D"/>
    <a:srgbClr val="896329"/>
    <a:srgbClr val="E998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A9E971-24C8-4F21-94F5-C78C48668DDE}">
  <a:tblStyle styleId="{3CA9E971-24C8-4F21-94F5-C78C48668D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8C69F87-69A6-443F-934B-FF5CBB03741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0545726-942A-4AA8-B339-8671F56B762D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0279011-359A-46D8-927A-5B17B0D21C33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95B0BB1-5272-46C3-BB88-B856BAFCCAB5}" styleName="Table_4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F8E1C8-48CF-47D9-8B51-CD49081F147D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7CF973-5783-41B5-BE79-7CE8C1C407B4}" styleName="Table_6">
    <a:wholeTbl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17A9A15-20EC-49A2-9EF0-0C7AF0BB201E}" styleName="Table_7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84161" autoAdjust="0"/>
  </p:normalViewPr>
  <p:slideViewPr>
    <p:cSldViewPr snapToGrid="0">
      <p:cViewPr varScale="1">
        <p:scale>
          <a:sx n="115" d="100"/>
          <a:sy n="115" d="100"/>
        </p:scale>
        <p:origin x="96" y="5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8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378BA-EFD2-435C-A45A-E56E5B4742D9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E2385-6CCF-4BEB-AB9F-4FE494A42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462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46848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56E7D-72D5-4D5C-A83C-16F3F9A948D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56E7D-72D5-4D5C-A83C-16F3F9A948D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" preserve="1" userDrawn="1">
  <p:cSld name="1_Divider Slide">
    <p:bg>
      <p:bgPr>
        <a:solidFill>
          <a:schemeClr val="lt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6"/>
          <p:cNvSpPr/>
          <p:nvPr/>
        </p:nvSpPr>
        <p:spPr>
          <a:xfrm>
            <a:off x="0" y="0"/>
            <a:ext cx="9144000" cy="59817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6"/>
          <p:cNvSpPr txBox="1">
            <a:spLocks noGrp="1"/>
          </p:cNvSpPr>
          <p:nvPr>
            <p:ph type="title" hasCustomPrompt="1"/>
          </p:nvPr>
        </p:nvSpPr>
        <p:spPr>
          <a:xfrm>
            <a:off x="155258" y="91785"/>
            <a:ext cx="8840152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 dirty="0"/>
              <a:t>单击此处添加标题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587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 preserve="1">
  <p:cSld name="1_Thank You">
    <p:bg>
      <p:bgPr>
        <a:solidFill>
          <a:schemeClr val="tx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0" name="Google Shape;310;p63"/>
          <p:cNvSpPr/>
          <p:nvPr/>
        </p:nvSpPr>
        <p:spPr>
          <a:xfrm>
            <a:off x="698252" y="2200282"/>
            <a:ext cx="7755000" cy="741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4000" b="1" i="0" u="none" strike="noStrike" cap="none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Thank you!</a:t>
            </a:r>
            <a:endParaRPr sz="2000" b="0" i="0" u="none" strike="noStrike" cap="none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439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 preserve="1">
  <p:cSld name="1_Thank You">
    <p:bg>
      <p:bgPr>
        <a:solidFill>
          <a:schemeClr val="tx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535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0A5C-9793-46EB-8BB9-1397BE05DB97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B000-D558-447E-9907-1BC8E46D7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61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90A5C-9793-46EB-8BB9-1397BE05DB97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FB000-D558-447E-9907-1BC8E46D7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0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11308556"/>
                </a:moveTo>
                <a:lnTo>
                  <a:pt x="20104099" y="11308556"/>
                </a:lnTo>
                <a:lnTo>
                  <a:pt x="20104099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5" r:id="rId1"/>
    <p:sldLayoutId id="2147483734" r:id="rId2"/>
    <p:sldLayoutId id="2147483736" r:id="rId3"/>
    <p:sldLayoutId id="2147483737" r:id="rId4"/>
    <p:sldLayoutId id="214748373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qq.com/sheet/DUFRMU2d6Ym9BSXZT?tab=BB08J2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DA8C-566B-7C08-9DA8-92037F6B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7156DD31-4B1D-9404-B563-35EC9531361C}"/>
              </a:ext>
            </a:extLst>
          </p:cNvPr>
          <p:cNvSpPr/>
          <p:nvPr/>
        </p:nvSpPr>
        <p:spPr>
          <a:xfrm>
            <a:off x="444137" y="1081185"/>
            <a:ext cx="8242663" cy="110172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520" spc="18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期末大作业要求</a:t>
            </a:r>
            <a:r>
              <a:rPr lang="en-US" altLang="zh-CN" sz="2520" spc="18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520" spc="18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评判标准</a:t>
            </a:r>
            <a:endParaRPr lang="en-US" altLang="zh-CN" sz="2520" spc="1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7332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692341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134876" y="239434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908507" y="692341"/>
            <a:ext cx="7323214" cy="4147661"/>
          </a:xfrm>
        </p:spPr>
        <p:txBody>
          <a:bodyPr>
            <a:normAutofit/>
          </a:bodyPr>
          <a:lstStyle/>
          <a:p>
            <a:endParaRPr lang="zh-CN" altLang="en-US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开发工具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81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利用游戏引擎设计电脑端独立小游戏，可选游戏引擎为</a:t>
            </a:r>
            <a:r>
              <a:rPr lang="en-US" altLang="zh-CN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Unity</a:t>
            </a:r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Unreal</a:t>
            </a:r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Godot</a:t>
            </a:r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题目要求</a:t>
            </a:r>
            <a:endParaRPr lang="en-US" altLang="zh-CN" sz="117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游戏类型不限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游戏主题：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中国传统节日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16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3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期末大作业要求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692341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134876" y="239434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908507" y="692341"/>
            <a:ext cx="7487118" cy="4147661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组队机制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99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每组</a:t>
            </a:r>
            <a:r>
              <a:rPr lang="en-US" altLang="zh-CN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1-3</a:t>
            </a:r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鼓励团队合作</a:t>
            </a:r>
            <a:endParaRPr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不接受跨选课班级组队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94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组合加权系数</a:t>
            </a:r>
            <a:endParaRPr lang="en-US" altLang="zh-CN" sz="117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2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1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16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3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期末大作业要求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19571" y="3284627"/>
          <a:ext cx="6156683" cy="1360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91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游戏引擎</a:t>
                      </a:r>
                      <a:endParaRPr lang="zh-CN" sz="1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小组人数</a:t>
                      </a:r>
                      <a:endParaRPr lang="zh-CN" sz="1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9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70C0"/>
                          </a:solidFill>
                          <a:effectLst/>
                        </a:rPr>
                        <a:t>3</a:t>
                      </a:r>
                      <a:endParaRPr lang="zh-CN" sz="14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endParaRPr lang="zh-CN" sz="14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zh-CN" sz="1400" kern="100" dirty="0">
                        <a:solidFill>
                          <a:srgbClr val="0070C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Unity</a:t>
                      </a:r>
                      <a:endParaRPr lang="zh-CN" sz="1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1.05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  <a:sym typeface="+mn-ea"/>
                        </a:rPr>
                        <a:t>0.95</a:t>
                      </a: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Unreal</a:t>
                      </a:r>
                      <a:endParaRPr lang="zh-CN" sz="1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0.95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0.9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Godot</a:t>
                      </a:r>
                      <a:endParaRPr lang="zh-CN" sz="1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0.95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0.9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094" y="692087"/>
            <a:ext cx="7280910" cy="4147376"/>
          </a:xfrm>
        </p:spPr>
        <p:txBody>
          <a:bodyPr>
            <a:normAutofit fontScale="97500" lnSpcReduction="10000"/>
          </a:bodyPr>
          <a:lstStyle/>
          <a:p>
            <a:pPr algn="just"/>
            <a:r>
              <a:rPr lang="zh-CN" altLang="en-US" sz="216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sz="216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endParaRPr lang="en-US" altLang="zh-CN" sz="99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本次课程设计包含较多可自由实现的内容，各组应</a:t>
            </a:r>
            <a:r>
              <a:rPr lang="zh-CN" altLang="en-US" sz="16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独立完成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，如发现</a:t>
            </a:r>
            <a:r>
              <a:rPr lang="zh-CN" altLang="en-US" sz="16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抄袭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现象，</a:t>
            </a:r>
            <a:r>
              <a:rPr lang="zh-CN" altLang="en-US" sz="16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零分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处理。</a:t>
            </a:r>
            <a:endParaRPr lang="en-US" altLang="zh-CN" sz="16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endParaRPr lang="zh-CN" altLang="en-US" sz="16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en-US" sz="162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现场考核分</a:t>
            </a:r>
            <a:r>
              <a:rPr lang="en-US" altLang="zh-CN" sz="162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2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次进行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2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第12</a:t>
            </a:r>
            <a:r>
              <a:rPr lang="zh-CN" altLang="en-US" sz="162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：各组需准备</a:t>
            </a:r>
            <a:r>
              <a:rPr lang="zh-CN" altLang="en-US" sz="162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游戏策划</a:t>
            </a:r>
            <a:r>
              <a:rPr lang="en-US" altLang="zh-CN" sz="162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，在课堂展示</a:t>
            </a:r>
            <a:r>
              <a:rPr lang="zh-CN" altLang="en-US" sz="162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游戏策划案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sz="162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第14</a:t>
            </a:r>
            <a:r>
              <a:rPr lang="zh-CN" altLang="en-US" sz="162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：各组需在课堂上展示</a:t>
            </a:r>
            <a:r>
              <a:rPr lang="zh-CN" altLang="en-US" sz="162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游戏原型（含核心玩法）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62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第16</a:t>
            </a:r>
            <a:r>
              <a:rPr lang="zh-CN" altLang="en-US" sz="162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各组需展示</a:t>
            </a:r>
            <a:r>
              <a:rPr lang="zh-CN" altLang="en-US" sz="162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游戏成品的录屏视频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sz="16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第17</a:t>
            </a:r>
            <a:r>
              <a:rPr lang="zh-CN" altLang="en-US" sz="16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：各组需</a:t>
            </a:r>
            <a:r>
              <a:rPr lang="zh-CN" altLang="en-US" sz="16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实操游戏和接受现场测评</a:t>
            </a:r>
            <a:r>
              <a:rPr lang="zh-CN" altLang="en-US" sz="162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2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endParaRPr lang="zh-CN" altLang="en-US" sz="162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en-US" sz="162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所有文件分</a:t>
            </a:r>
            <a:r>
              <a:rPr lang="en-US" altLang="zh-CN" sz="162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2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次提交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</a:t>
            </a:r>
            <a:r>
              <a:rPr lang="zh-CN" altLang="en-US" sz="162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2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2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周现场考核后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提交游戏策划文档、游戏策划</a:t>
            </a:r>
            <a:r>
              <a:rPr lang="en-US" altLang="zh-CN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；第</a:t>
            </a:r>
            <a:r>
              <a:rPr lang="en-US" altLang="zh-CN" sz="16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6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周现场考核后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提交游戏源码、游戏可执行文件、游戏录屏视频、游戏设计文档。</a:t>
            </a:r>
          </a:p>
          <a:p>
            <a:pPr lvl="1" algn="just"/>
            <a:endParaRPr lang="zh-CN" altLang="en-US" sz="16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162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个人成绩</a:t>
            </a:r>
            <a:r>
              <a:rPr lang="en-US" altLang="zh-CN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会根据各个小组作品完成情况以及</a:t>
            </a:r>
            <a:r>
              <a:rPr lang="en-US" altLang="zh-CN" sz="162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组内各成员的贡献度</a:t>
            </a:r>
            <a:r>
              <a:rPr lang="en-US" altLang="zh-CN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综合决定，请将</a:t>
            </a:r>
            <a:r>
              <a:rPr lang="en-US" altLang="zh-CN" sz="162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组员贡献度</a:t>
            </a:r>
            <a:r>
              <a:rPr lang="en-US" altLang="zh-CN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明确体现在游戏设计文档中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endParaRPr lang="en-US" altLang="zh-CN" sz="16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</a:t>
            </a:r>
            <a:r>
              <a:rPr lang="zh-CN" altLang="en-US" sz="162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各组长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将各类文件放入对应名称的</a:t>
            </a:r>
            <a:r>
              <a:rPr lang="zh-CN" altLang="en-US" sz="162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文件夹，并以“</a:t>
            </a: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组期末大作业</a:t>
            </a:r>
            <a:r>
              <a:rPr lang="en-US" altLang="zh-CN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62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游戏名称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”命名</a:t>
            </a:r>
            <a:r>
              <a:rPr lang="zh-CN" altLang="en-US" sz="162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文件夹，</a:t>
            </a:r>
            <a:r>
              <a:rPr lang="zh-CN" altLang="en-US" sz="162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压缩后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按时上传至</a:t>
            </a:r>
            <a:r>
              <a:rPr lang="en-US" altLang="zh-CN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BB</a:t>
            </a:r>
            <a:r>
              <a:rPr lang="zh-CN" altLang="en-US" sz="16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系统，过期不候。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期末大作业要求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375" y="692341"/>
            <a:ext cx="7645363" cy="4147661"/>
          </a:xfrm>
        </p:spPr>
        <p:txBody>
          <a:bodyPr>
            <a:normAutofit/>
          </a:bodyPr>
          <a:lstStyle/>
          <a:p>
            <a:endParaRPr lang="en-US" altLang="zh-CN" sz="108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游戏策划案展示</a:t>
            </a:r>
            <a:endParaRPr lang="en-US" altLang="zh-CN" sz="252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期末大作业评分标准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97137" y="1470028"/>
          <a:ext cx="5945952" cy="248476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7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5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序号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评分点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分值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</a:t>
                      </a:r>
                      <a:endParaRPr lang="zh-CN" sz="11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内容完整性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40</a:t>
                      </a:r>
                      <a:endParaRPr lang="zh-CN" sz="11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zh-CN" sz="11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逻辑清晰度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30</a:t>
                      </a:r>
                      <a:endParaRPr lang="zh-CN" sz="11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kern="100" dirty="0">
                          <a:effectLst/>
                        </a:rPr>
                        <a:t>3</a:t>
                      </a:r>
                      <a:endParaRPr lang="zh-CN" sz="11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演讲者表现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20</a:t>
                      </a:r>
                      <a:endParaRPr lang="zh-CN" altLang="zh-CN" sz="11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</a:t>
                      </a:r>
                      <a:endParaRPr lang="zh-CN" sz="11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PPT</a:t>
                      </a:r>
                      <a:r>
                        <a:rPr lang="zh-CN" altLang="en-US" sz="11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美观度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</a:t>
                      </a:r>
                      <a:endParaRPr lang="zh-CN" sz="11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131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合计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375" y="692341"/>
            <a:ext cx="7645363" cy="4147661"/>
          </a:xfrm>
        </p:spPr>
        <p:txBody>
          <a:bodyPr>
            <a:normAutofit/>
          </a:bodyPr>
          <a:lstStyle/>
          <a:p>
            <a:endParaRPr lang="en-US" altLang="zh-CN" sz="108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游戏策划</a:t>
            </a:r>
            <a:r>
              <a:rPr lang="en-US" altLang="zh-CN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设计文档</a:t>
            </a:r>
            <a:endParaRPr lang="en-US" altLang="zh-CN" sz="252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期末大作业评分标准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97137" y="1664449"/>
          <a:ext cx="5945952" cy="255350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7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5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序号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评分点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分值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4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内容完整性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40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逻辑清晰度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30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语言准确度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20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4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</a:rPr>
                        <a:t>格式规范性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10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131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合计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375" y="692341"/>
            <a:ext cx="7645363" cy="4147661"/>
          </a:xfrm>
        </p:spPr>
        <p:txBody>
          <a:bodyPr>
            <a:normAutofit/>
          </a:bodyPr>
          <a:lstStyle/>
          <a:p>
            <a:endParaRPr lang="en-US" altLang="zh-CN" sz="108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游戏原型展示</a:t>
            </a:r>
            <a:endParaRPr lang="en-US" altLang="zh-CN" sz="252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期末大作业评分标准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97137" y="1664449"/>
          <a:ext cx="5945952" cy="261675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7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5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序号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评分点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分值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4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核心玩法的创新性和吸引力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</a:rPr>
                        <a:t>（需明确展示核心玩法）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40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玩法机制的清晰度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</a:rPr>
                        <a:t>（玩家行为、障碍交互等核心规则需直观易懂）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30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原型的技术可行性与完成度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20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4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</a:rPr>
                        <a:t>游戏原型与主题的契合度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10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131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合计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375" y="692341"/>
            <a:ext cx="7645363" cy="4147661"/>
          </a:xfrm>
        </p:spPr>
        <p:txBody>
          <a:bodyPr>
            <a:normAutofit/>
          </a:bodyPr>
          <a:lstStyle/>
          <a:p>
            <a:r>
              <a:rPr lang="zh-CN" altLang="en-US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游戏录屏展示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期末大作业评分标准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37285" y="1145858"/>
          <a:ext cx="6934582" cy="370503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83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6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序号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评分点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分值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7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</a:rPr>
                        <a:t>游戏</a:t>
                      </a:r>
                      <a:r>
                        <a:rPr lang="zh-CN" sz="1100" kern="100" dirty="0">
                          <a:effectLst/>
                        </a:rPr>
                        <a:t>创意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</a:rPr>
                        <a:t>（对游戏的创意和新颖程度进行评估）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20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游戏趣味性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（游戏的核心玩法是否有趣、吸引人，是否具有可重复游玩性）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</a:rPr>
                        <a:t>游戏画面</a:t>
                      </a:r>
                      <a:r>
                        <a:rPr lang="zh-CN" sz="1100" kern="100" dirty="0">
                          <a:effectLst/>
                        </a:rPr>
                        <a:t>美观度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（考量游戏画面的精美程度、视觉效果以及与游戏主题的契合程度）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20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7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游戏</a:t>
                      </a:r>
                      <a:r>
                        <a:rPr lang="zh-CN" altLang="en-US" sz="1100" kern="100" dirty="0">
                          <a:effectLst/>
                        </a:rPr>
                        <a:t>音效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（考察声音效果是否清晰、悦耳）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10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5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游戏</a:t>
                      </a:r>
                      <a:r>
                        <a:rPr lang="zh-CN" altLang="en-US" sz="1100" kern="100" dirty="0">
                          <a:effectLst/>
                        </a:rPr>
                        <a:t>平衡</a:t>
                      </a:r>
                      <a:r>
                        <a:rPr lang="zh-CN" sz="1100" kern="100" dirty="0">
                          <a:effectLst/>
                        </a:rPr>
                        <a:t>性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（考量游戏是否能让不同水平的玩家都能找到合适的挑战与乐趣）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10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7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6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</a:rPr>
                        <a:t>游戏可玩性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（考量游戏是否具有较高的耐玩性和吸引力，能够吸引玩家持续游玩）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10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7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7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综合表现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合计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375" y="692341"/>
            <a:ext cx="7645363" cy="4147661"/>
          </a:xfrm>
        </p:spPr>
        <p:txBody>
          <a:bodyPr>
            <a:normAutofit/>
          </a:bodyPr>
          <a:lstStyle/>
          <a:p>
            <a:r>
              <a:rPr lang="zh-CN" altLang="en-US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游戏实操展示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期末大作业评分标准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37285" y="1145858"/>
          <a:ext cx="6934582" cy="370503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83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6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序号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评分点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分值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7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</a:rPr>
                        <a:t>游戏</a:t>
                      </a:r>
                      <a:r>
                        <a:rPr lang="zh-CN" sz="1100" kern="100" dirty="0">
                          <a:effectLst/>
                        </a:rPr>
                        <a:t>创意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</a:rPr>
                        <a:t>（考量游戏是否有独特的玩法、创意元素或故事情节）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20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游戏趣味性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（游戏的难度设置是否合理，是否能够让玩家在游戏中找到挑战与乐趣的平衡点）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20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3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</a:rPr>
                        <a:t>游戏画面</a:t>
                      </a:r>
                      <a:r>
                        <a:rPr lang="zh-CN" sz="1100" kern="100" dirty="0">
                          <a:effectLst/>
                        </a:rPr>
                        <a:t>美观度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（评估游戏的图形、动画、场景、角色设计、色彩搭配等视觉元素）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20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7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4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游戏</a:t>
                      </a:r>
                      <a:r>
                        <a:rPr lang="zh-CN" altLang="en-US" sz="1100" kern="100" dirty="0">
                          <a:effectLst/>
                        </a:rPr>
                        <a:t>音效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（考量音效与背景音乐的配合程度）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10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5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</a:rPr>
                        <a:t>游戏</a:t>
                      </a:r>
                      <a:r>
                        <a:rPr lang="zh-CN" altLang="en-US" sz="1100" kern="100" dirty="0">
                          <a:effectLst/>
                        </a:rPr>
                        <a:t>平衡</a:t>
                      </a:r>
                      <a:r>
                        <a:rPr lang="zh-CN" sz="1100" kern="100" dirty="0">
                          <a:effectLst/>
                        </a:rPr>
                        <a:t>性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（评测游戏在角色、道具、关卡等方面的平衡性）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10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7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6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</a:rPr>
                        <a:t>游戏可玩性</a:t>
                      </a:r>
                      <a:endParaRPr lang="en-US" altLang="zh-CN" sz="1100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kern="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（对游戏的可玩性进行评估，包括游戏的时长、可玩内容、扩展性等）</a:t>
                      </a: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</a:rPr>
                        <a:t>10</a:t>
                      </a:r>
                      <a:endParaRPr lang="zh-CN" alt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7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7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综合表现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>
                          <a:effectLst/>
                        </a:rPr>
                        <a:t>合计</a:t>
                      </a:r>
                      <a:endParaRPr lang="zh-CN" sz="9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</a:rPr>
                        <a:t>100</a:t>
                      </a:r>
                      <a:endParaRPr lang="zh-CN" sz="9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1722" marR="61722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375" y="692341"/>
            <a:ext cx="7452828" cy="4147661"/>
          </a:xfrm>
        </p:spPr>
        <p:txBody>
          <a:bodyPr>
            <a:normAutofit/>
          </a:bodyPr>
          <a:lstStyle/>
          <a:p>
            <a:endParaRPr lang="en-US" altLang="zh-CN" sz="108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en-US" altLang="zh-CN" sz="252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任课教师对小组</a:t>
            </a:r>
            <a:r>
              <a:rPr lang="zh-CN" altLang="en-US" sz="1800" dirty="0">
                <a:solidFill>
                  <a:srgbClr val="0072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每位成员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的期末大作业成绩进行评定时，会根据</a:t>
            </a:r>
            <a:r>
              <a:rPr lang="zh-CN" alt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组合加权系数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和小组内</a:t>
            </a:r>
            <a:r>
              <a:rPr lang="zh-CN" alt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各组员贡献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大小，在期末大作业</a:t>
            </a:r>
            <a:r>
              <a:rPr lang="zh-CN" altLang="en-US" sz="1800" u="sng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小组初始成绩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的基础上进行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</a:t>
            </a: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文档中，应明确阐述每位组员的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分工情况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例如：组员分别负责代码编写、代码测试、界面设计、角色设计、规则设计、反馈机制、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演讲、文档撰写等哪些模块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每位成员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贡献大小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百分比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），供任课教师评分时参考</a:t>
            </a:r>
          </a:p>
          <a:p>
            <a:pPr lvl="1"/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期末大作业评分标准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375" y="692341"/>
            <a:ext cx="7645363" cy="4147661"/>
          </a:xfrm>
        </p:spPr>
        <p:txBody>
          <a:bodyPr>
            <a:normAutofit/>
          </a:bodyPr>
          <a:lstStyle/>
          <a:p>
            <a:endParaRPr lang="en-US" altLang="zh-CN" sz="108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52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成绩计算公式</a:t>
            </a:r>
            <a:endParaRPr lang="en-US" altLang="zh-CN" sz="252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小组初始成绩  </a:t>
            </a:r>
          </a:p>
          <a:p>
            <a:pPr marL="41148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游戏策划文档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游戏策划案展示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＋游戏原型展示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游戏录屏展示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×</a:t>
            </a:r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30</a:t>
            </a: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％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＋游戏实操展示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×</a:t>
            </a:r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</a:t>
            </a: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％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＋游戏设计文档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endParaRPr lang="en-US" altLang="zh-CN" sz="18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小组加权成绩</a:t>
            </a:r>
            <a:endParaRPr lang="en-US" altLang="zh-CN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=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小组初始成绩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组合加权系数</a:t>
            </a:r>
            <a:endParaRPr lang="en-US" altLang="zh-CN" sz="18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个人成绩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小组加权成绩 </a:t>
            </a:r>
            <a:endParaRPr lang="en-US" altLang="zh-CN" sz="1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＋期末大作业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小组加权成绩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个人贡献率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％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小组人数）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期末大作业评分标准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89" y="703485"/>
            <a:ext cx="7647250" cy="4147661"/>
          </a:xfrm>
          <a:prstGeom prst="rect">
            <a:avLst/>
          </a:prstGeom>
          <a:solidFill>
            <a:schemeClr val="bg1"/>
          </a:solidFill>
          <a:ln w="3175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0" dirty="0"/>
          </a:p>
        </p:txBody>
      </p:sp>
      <p:cxnSp>
        <p:nvCxnSpPr>
          <p:cNvPr id="53" name="直接连接符 52"/>
          <p:cNvCxnSpPr/>
          <p:nvPr/>
        </p:nvCxnSpPr>
        <p:spPr>
          <a:xfrm>
            <a:off x="6231368" y="2386105"/>
            <a:ext cx="1244264" cy="0"/>
          </a:xfrm>
          <a:prstGeom prst="line">
            <a:avLst/>
          </a:prstGeom>
          <a:ln>
            <a:solidFill>
              <a:srgbClr val="FFFFFF">
                <a:alpha val="2196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997938" y="2386105"/>
            <a:ext cx="1233430" cy="0"/>
          </a:xfrm>
          <a:prstGeom prst="line">
            <a:avLst/>
          </a:prstGeom>
          <a:ln>
            <a:solidFill>
              <a:srgbClr val="FFFFFF">
                <a:alpha val="36078"/>
              </a:srgbClr>
            </a:solidFill>
          </a:ln>
          <a:effectLst>
            <a:glow rad="25400">
              <a:schemeClr val="bg1">
                <a:alpha val="15000"/>
              </a:schemeClr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内容占位符 28"/>
          <p:cNvSpPr>
            <a:spLocks noGrp="1"/>
          </p:cNvSpPr>
          <p:nvPr>
            <p:ph idx="1"/>
          </p:nvPr>
        </p:nvSpPr>
        <p:spPr>
          <a:xfrm>
            <a:off x="748375" y="692341"/>
            <a:ext cx="7645363" cy="4147661"/>
          </a:xfrm>
        </p:spPr>
        <p:txBody>
          <a:bodyPr>
            <a:normAutofit/>
          </a:bodyPr>
          <a:lstStyle/>
          <a:p>
            <a:endParaRPr lang="en-US" altLang="zh-CN" sz="108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11480"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908507" y="173884"/>
            <a:ext cx="7323214" cy="443549"/>
          </a:xfrm>
          <a:prstGeom prst="roundRect">
            <a:avLst>
              <a:gd name="adj" fmla="val 9369"/>
            </a:avLst>
          </a:prstGeom>
          <a:gradFill>
            <a:gsLst>
              <a:gs pos="0">
                <a:srgbClr val="717171"/>
              </a:gs>
              <a:gs pos="50000">
                <a:srgbClr val="5B5B5B"/>
              </a:gs>
              <a:gs pos="100000">
                <a:srgbClr val="717171"/>
              </a:gs>
            </a:gsLst>
            <a:lin ang="5400000" scaled="0"/>
          </a:gradFill>
          <a:ln w="3175">
            <a:solidFill>
              <a:srgbClr val="5B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8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请速速组队！！！</a:t>
            </a:r>
            <a:r>
              <a:rPr lang="zh-CN" altLang="en-US" sz="288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（截止日期：</a:t>
            </a:r>
            <a:r>
              <a:rPr lang="en-US" altLang="zh-CN" sz="288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8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88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88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08507" y="1083715"/>
            <a:ext cx="748523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60" dirty="0">
                <a:hlinkClick r:id="rId2"/>
              </a:rPr>
              <a:t>《</a:t>
            </a:r>
            <a:r>
              <a:rPr lang="zh-CN" altLang="en-US" sz="1260" dirty="0">
                <a:hlinkClick r:id="rId2"/>
              </a:rPr>
              <a:t>计算机游戏开发</a:t>
            </a:r>
            <a:r>
              <a:rPr lang="en-US" altLang="zh-CN" sz="1260" dirty="0">
                <a:hlinkClick r:id="rId2"/>
              </a:rPr>
              <a:t>》</a:t>
            </a:r>
            <a:r>
              <a:rPr lang="zh-CN" altLang="en-US" sz="1260" dirty="0">
                <a:hlinkClick r:id="rId2"/>
              </a:rPr>
              <a:t>期末大作业分组信息</a:t>
            </a:r>
            <a:endParaRPr lang="zh-CN" altLang="en-US" sz="126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9B6728-B408-8781-FEC2-698E5BFA9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4" y="1491023"/>
            <a:ext cx="6556712" cy="315455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6*318"/>
  <p:tag name="TABLE_ENDDRAG_RECT" val="59*100*606*3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6*318"/>
  <p:tag name="TABLE_ENDDRAG_RECT" val="59*100*606*318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7485</TotalTime>
  <Words>961</Words>
  <Application>Microsoft Office PowerPoint</Application>
  <PresentationFormat>全屏显示(16:9)</PresentationFormat>
  <Paragraphs>224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Calibri</vt:lpstr>
      <vt:lpstr>微软雅黑</vt:lpstr>
      <vt:lpstr>Times New Roman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Luobu Board Meeting | February 20, 2020</dc:title>
  <dc:creator>Administrator</dc:creator>
  <cp:lastModifiedBy>军 魏</cp:lastModifiedBy>
  <cp:revision>533</cp:revision>
  <dcterms:modified xsi:type="dcterms:W3CDTF">2025-04-29T16:27:20Z</dcterms:modified>
</cp:coreProperties>
</file>