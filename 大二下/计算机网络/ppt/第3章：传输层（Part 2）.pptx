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12" r:id="rId4"/>
    <p:sldId id="313" r:id="rId5"/>
    <p:sldId id="283" r:id="rId6"/>
    <p:sldId id="284" r:id="rId7"/>
    <p:sldId id="285" r:id="rId8"/>
    <p:sldId id="287" r:id="rId9"/>
    <p:sldId id="288" r:id="rId10"/>
    <p:sldId id="286" r:id="rId11"/>
    <p:sldId id="290" r:id="rId12"/>
    <p:sldId id="289" r:id="rId13"/>
    <p:sldId id="291" r:id="rId14"/>
    <p:sldId id="266" r:id="rId15"/>
    <p:sldId id="292" r:id="rId16"/>
    <p:sldId id="293" r:id="rId17"/>
    <p:sldId id="270" r:id="rId18"/>
    <p:sldId id="271" r:id="rId19"/>
    <p:sldId id="297" r:id="rId20"/>
    <p:sldId id="298" r:id="rId21"/>
    <p:sldId id="299" r:id="rId22"/>
    <p:sldId id="294" r:id="rId23"/>
    <p:sldId id="300" r:id="rId24"/>
    <p:sldId id="275" r:id="rId25"/>
    <p:sldId id="311" r:id="rId26"/>
    <p:sldId id="301" r:id="rId27"/>
    <p:sldId id="306" r:id="rId28"/>
    <p:sldId id="307" r:id="rId29"/>
    <p:sldId id="305" r:id="rId30"/>
    <p:sldId id="308" r:id="rId31"/>
    <p:sldId id="304" r:id="rId32"/>
    <p:sldId id="277" r:id="rId33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00B050"/>
    <a:srgbClr val="002060"/>
    <a:srgbClr val="A91F24"/>
    <a:srgbClr val="DC1111"/>
    <a:srgbClr val="940A40"/>
    <a:srgbClr val="01A8EF"/>
    <a:srgbClr val="AE4F74"/>
    <a:srgbClr val="BE6B8B"/>
    <a:srgbClr val="D3E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271" y="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81220"/>
            <a:chOff x="0" y="2654"/>
            <a:chExt cx="19200" cy="7372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73"/>
              <a:chOff x="208" y="1601460"/>
              <a:chExt cx="12191793" cy="4681855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ComputerNetwork</a:t>
                </a: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692249" cy="338774"/>
                <a:chOff x="275" y="0"/>
                <a:chExt cx="739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44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2025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17</a:t>
                  </a:r>
                  <a:r>
                    <a:rPr lang="zh-CN" altLang="en-US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414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945515" y="3235325"/>
            <a:ext cx="1137920" cy="4298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传输层</a:t>
            </a:r>
          </a:p>
        </p:txBody>
      </p:sp>
      <p:sp>
        <p:nvSpPr>
          <p:cNvPr id="33" name="左大括号 32"/>
          <p:cNvSpPr/>
          <p:nvPr/>
        </p:nvSpPr>
        <p:spPr>
          <a:xfrm>
            <a:off x="2353945" y="1984058"/>
            <a:ext cx="260350" cy="283686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536825" y="1587500"/>
            <a:ext cx="2519045" cy="857885"/>
            <a:chOff x="3995" y="2440"/>
            <a:chExt cx="3967" cy="1351"/>
          </a:xfrm>
        </p:grpSpPr>
        <p:sp>
          <p:nvSpPr>
            <p:cNvPr id="5125" name="文本框 18"/>
            <p:cNvSpPr txBox="1"/>
            <p:nvPr/>
          </p:nvSpPr>
          <p:spPr>
            <a:xfrm>
              <a:off x="3995" y="2845"/>
              <a:ext cx="23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传输层协议概述</a:t>
              </a:r>
            </a:p>
          </p:txBody>
        </p:sp>
        <p:sp>
          <p:nvSpPr>
            <p:cNvPr id="38" name="左大括号 37"/>
            <p:cNvSpPr/>
            <p:nvPr/>
          </p:nvSpPr>
          <p:spPr>
            <a:xfrm>
              <a:off x="6267" y="2642"/>
              <a:ext cx="283" cy="92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28" name="文本框 40"/>
            <p:cNvSpPr txBox="1"/>
            <p:nvPr/>
          </p:nvSpPr>
          <p:spPr>
            <a:xfrm>
              <a:off x="6460" y="2440"/>
              <a:ext cx="150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基本概念</a:t>
              </a:r>
            </a:p>
          </p:txBody>
        </p:sp>
        <p:sp>
          <p:nvSpPr>
            <p:cNvPr id="5129" name="文本框 40"/>
            <p:cNvSpPr txBox="1"/>
            <p:nvPr/>
          </p:nvSpPr>
          <p:spPr>
            <a:xfrm>
              <a:off x="6460" y="3307"/>
              <a:ext cx="143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协议对比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546350" y="3524250"/>
            <a:ext cx="1821815" cy="2665730"/>
            <a:chOff x="4010" y="5490"/>
            <a:chExt cx="2869" cy="4198"/>
          </a:xfrm>
        </p:grpSpPr>
        <p:sp>
          <p:nvSpPr>
            <p:cNvPr id="5127" name="文本框 40"/>
            <p:cNvSpPr txBox="1"/>
            <p:nvPr/>
          </p:nvSpPr>
          <p:spPr>
            <a:xfrm>
              <a:off x="4010" y="7355"/>
              <a:ext cx="2547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传输控制协议</a:t>
              </a:r>
              <a:r>
                <a:rPr lang="en-US" altLang="zh-CN" sz="1400" dirty="0">
                  <a:latin typeface="Arial" panose="020B0604020202020204" pitchFamily="34" charset="0"/>
                </a:rPr>
                <a:t>TCP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69" name="左大括号 68"/>
            <p:cNvSpPr/>
            <p:nvPr/>
          </p:nvSpPr>
          <p:spPr>
            <a:xfrm>
              <a:off x="6597" y="5490"/>
              <a:ext cx="283" cy="419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5" name="右大括号 84"/>
          <p:cNvSpPr/>
          <p:nvPr/>
        </p:nvSpPr>
        <p:spPr>
          <a:xfrm>
            <a:off x="9338945" y="3523933"/>
            <a:ext cx="220663" cy="1098550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010150" y="1258570"/>
            <a:ext cx="3553460" cy="1017270"/>
            <a:chOff x="7890" y="1922"/>
            <a:chExt cx="5596" cy="1602"/>
          </a:xfrm>
        </p:grpSpPr>
        <p:sp>
          <p:nvSpPr>
            <p:cNvPr id="42" name="左大括号 41"/>
            <p:cNvSpPr/>
            <p:nvPr/>
          </p:nvSpPr>
          <p:spPr>
            <a:xfrm>
              <a:off x="7890" y="2100"/>
              <a:ext cx="283" cy="118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35" name="文本框 40"/>
            <p:cNvSpPr txBox="1"/>
            <p:nvPr/>
          </p:nvSpPr>
          <p:spPr>
            <a:xfrm>
              <a:off x="8042" y="1922"/>
              <a:ext cx="487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传输层的功能；与上下层之间的关系</a:t>
              </a:r>
            </a:p>
          </p:txBody>
        </p:sp>
        <p:sp>
          <p:nvSpPr>
            <p:cNvPr id="5136" name="文本框 40"/>
            <p:cNvSpPr txBox="1"/>
            <p:nvPr/>
          </p:nvSpPr>
          <p:spPr>
            <a:xfrm>
              <a:off x="8012" y="2477"/>
              <a:ext cx="54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进程、接口、套接字、端口号、进程标识</a:t>
              </a:r>
            </a:p>
          </p:txBody>
        </p:sp>
        <p:sp>
          <p:nvSpPr>
            <p:cNvPr id="5137" name="文本框 40"/>
            <p:cNvSpPr txBox="1"/>
            <p:nvPr/>
          </p:nvSpPr>
          <p:spPr>
            <a:xfrm>
              <a:off x="8082" y="3040"/>
              <a:ext cx="2943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多路复用与多路分解</a:t>
              </a:r>
            </a:p>
          </p:txBody>
        </p:sp>
      </p:grpSp>
      <p:sp>
        <p:nvSpPr>
          <p:cNvPr id="46" name="右大括号 45"/>
          <p:cNvSpPr/>
          <p:nvPr/>
        </p:nvSpPr>
        <p:spPr>
          <a:xfrm>
            <a:off x="8421370" y="1390333"/>
            <a:ext cx="141288" cy="890588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文本框 40"/>
          <p:cNvSpPr txBox="1">
            <a:spLocks noChangeArrowheads="1"/>
          </p:cNvSpPr>
          <p:nvPr/>
        </p:nvSpPr>
        <p:spPr bwMode="auto">
          <a:xfrm>
            <a:off x="8690610" y="1651635"/>
            <a:ext cx="1877060" cy="3683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3.1~3.2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，理解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533650" y="2406650"/>
            <a:ext cx="4099560" cy="1029970"/>
            <a:chOff x="3990" y="3730"/>
            <a:chExt cx="6456" cy="1622"/>
          </a:xfrm>
        </p:grpSpPr>
        <p:sp>
          <p:nvSpPr>
            <p:cNvPr id="5140" name="矩形 4"/>
            <p:cNvSpPr/>
            <p:nvPr/>
          </p:nvSpPr>
          <p:spPr>
            <a:xfrm>
              <a:off x="3990" y="4285"/>
              <a:ext cx="286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用户数据报协议</a:t>
              </a:r>
              <a:r>
                <a:rPr lang="en-US" altLang="zh-CN" sz="1400" dirty="0">
                  <a:latin typeface="Arial" panose="020B0604020202020204" pitchFamily="34" charset="0"/>
                </a:rPr>
                <a:t>UDP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48" name="左大括号 47"/>
            <p:cNvSpPr/>
            <p:nvPr/>
          </p:nvSpPr>
          <p:spPr>
            <a:xfrm>
              <a:off x="6900" y="3905"/>
              <a:ext cx="233" cy="121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2" name="文本框 40"/>
            <p:cNvSpPr txBox="1"/>
            <p:nvPr/>
          </p:nvSpPr>
          <p:spPr>
            <a:xfrm>
              <a:off x="7045" y="3730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协议主要特点及适用范围</a:t>
              </a:r>
            </a:p>
          </p:txBody>
        </p:sp>
        <p:sp>
          <p:nvSpPr>
            <p:cNvPr id="5143" name="文本框 40"/>
            <p:cNvSpPr txBox="1"/>
            <p:nvPr/>
          </p:nvSpPr>
          <p:spPr>
            <a:xfrm>
              <a:off x="7072" y="4297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数据报格式（尤其报头）</a:t>
              </a:r>
            </a:p>
          </p:txBody>
        </p:sp>
        <p:sp>
          <p:nvSpPr>
            <p:cNvPr id="5144" name="文本框 40"/>
            <p:cNvSpPr txBox="1"/>
            <p:nvPr/>
          </p:nvSpPr>
          <p:spPr>
            <a:xfrm>
              <a:off x="6952" y="4870"/>
              <a:ext cx="3375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</a:rPr>
                <a:t> </a:t>
              </a:r>
              <a:r>
                <a:rPr lang="zh-CN" altLang="en-US" sz="1400" dirty="0">
                  <a:latin typeface="Arial" panose="020B0604020202020204" pitchFamily="34" charset="0"/>
                </a:rPr>
                <a:t>校验和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354195" y="3419475"/>
            <a:ext cx="2142490" cy="843915"/>
            <a:chOff x="6857" y="5325"/>
            <a:chExt cx="3374" cy="1329"/>
          </a:xfrm>
        </p:grpSpPr>
        <p:sp>
          <p:nvSpPr>
            <p:cNvPr id="5145" name="文本框 40"/>
            <p:cNvSpPr txBox="1"/>
            <p:nvPr/>
          </p:nvSpPr>
          <p:spPr>
            <a:xfrm>
              <a:off x="6857" y="5325"/>
              <a:ext cx="337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协议主要特点及适用范围</a:t>
              </a:r>
            </a:p>
          </p:txBody>
        </p:sp>
        <p:sp>
          <p:nvSpPr>
            <p:cNvPr id="5146" name="文本框 40"/>
            <p:cNvSpPr txBox="1"/>
            <p:nvPr/>
          </p:nvSpPr>
          <p:spPr>
            <a:xfrm>
              <a:off x="6857" y="6170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数据报格式（尤其报头）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438900" y="3524250"/>
            <a:ext cx="3026410" cy="1130935"/>
            <a:chOff x="10140" y="5490"/>
            <a:chExt cx="4766" cy="1781"/>
          </a:xfrm>
        </p:grpSpPr>
        <p:sp>
          <p:nvSpPr>
            <p:cNvPr id="79" name="左大括号 78"/>
            <p:cNvSpPr/>
            <p:nvPr/>
          </p:nvSpPr>
          <p:spPr>
            <a:xfrm>
              <a:off x="10140" y="5710"/>
              <a:ext cx="283" cy="136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51" name="文本框 40"/>
            <p:cNvSpPr txBox="1"/>
            <p:nvPr/>
          </p:nvSpPr>
          <p:spPr>
            <a:xfrm>
              <a:off x="10422" y="5490"/>
              <a:ext cx="337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源端口号、目的端口号</a:t>
              </a:r>
            </a:p>
          </p:txBody>
        </p:sp>
        <p:sp>
          <p:nvSpPr>
            <p:cNvPr id="5152" name="文本框 40"/>
            <p:cNvSpPr txBox="1"/>
            <p:nvPr/>
          </p:nvSpPr>
          <p:spPr>
            <a:xfrm>
              <a:off x="10422" y="5952"/>
              <a:ext cx="292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发送序号、确认序号</a:t>
              </a:r>
            </a:p>
          </p:txBody>
        </p:sp>
        <p:sp>
          <p:nvSpPr>
            <p:cNvPr id="5153" name="文本框 40"/>
            <p:cNvSpPr txBox="1"/>
            <p:nvPr/>
          </p:nvSpPr>
          <p:spPr>
            <a:xfrm>
              <a:off x="10470" y="6385"/>
              <a:ext cx="443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</a:rPr>
                <a:t>URG, ACK, PSH, RST, SYN, FIN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4" name="文本框 40"/>
            <p:cNvSpPr txBox="1"/>
            <p:nvPr/>
          </p:nvSpPr>
          <p:spPr>
            <a:xfrm>
              <a:off x="10465" y="6787"/>
              <a:ext cx="443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报头长度、窗口、校验和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376420" y="4533900"/>
            <a:ext cx="2533650" cy="626110"/>
            <a:chOff x="6892" y="7080"/>
            <a:chExt cx="3990" cy="986"/>
          </a:xfrm>
        </p:grpSpPr>
        <p:sp>
          <p:nvSpPr>
            <p:cNvPr id="78" name="左大括号 77"/>
            <p:cNvSpPr/>
            <p:nvPr/>
          </p:nvSpPr>
          <p:spPr>
            <a:xfrm>
              <a:off x="9149" y="7220"/>
              <a:ext cx="315" cy="65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7" name="文本框 40"/>
            <p:cNvSpPr txBox="1"/>
            <p:nvPr/>
          </p:nvSpPr>
          <p:spPr>
            <a:xfrm>
              <a:off x="6892" y="7330"/>
              <a:ext cx="232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连接建立与释放</a:t>
              </a:r>
            </a:p>
          </p:txBody>
        </p:sp>
        <p:sp>
          <p:nvSpPr>
            <p:cNvPr id="5155" name="文本框 40"/>
            <p:cNvSpPr txBox="1"/>
            <p:nvPr/>
          </p:nvSpPr>
          <p:spPr>
            <a:xfrm>
              <a:off x="9374" y="7080"/>
              <a:ext cx="150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三次握手</a:t>
              </a:r>
            </a:p>
          </p:txBody>
        </p:sp>
        <p:sp>
          <p:nvSpPr>
            <p:cNvPr id="5156" name="文本框 40"/>
            <p:cNvSpPr txBox="1"/>
            <p:nvPr/>
          </p:nvSpPr>
          <p:spPr>
            <a:xfrm>
              <a:off x="9374" y="7582"/>
              <a:ext cx="150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四次挥手</a:t>
              </a:r>
            </a:p>
          </p:txBody>
        </p:sp>
      </p:grpSp>
      <p:sp>
        <p:nvSpPr>
          <p:cNvPr id="65" name="文本框 40"/>
          <p:cNvSpPr txBox="1">
            <a:spLocks noChangeArrowheads="1"/>
          </p:cNvSpPr>
          <p:nvPr/>
        </p:nvSpPr>
        <p:spPr bwMode="auto">
          <a:xfrm>
            <a:off x="9796145" y="3887470"/>
            <a:ext cx="1021080" cy="3683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重点</a:t>
            </a:r>
          </a:p>
        </p:txBody>
      </p:sp>
      <p:sp>
        <p:nvSpPr>
          <p:cNvPr id="66" name="右大括号 65"/>
          <p:cNvSpPr/>
          <p:nvPr/>
        </p:nvSpPr>
        <p:spPr>
          <a:xfrm>
            <a:off x="6616383" y="2507933"/>
            <a:ext cx="93663" cy="855663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文本框 40"/>
          <p:cNvSpPr txBox="1">
            <a:spLocks noChangeArrowheads="1"/>
          </p:cNvSpPr>
          <p:nvPr/>
        </p:nvSpPr>
        <p:spPr bwMode="auto">
          <a:xfrm>
            <a:off x="6919278" y="2595245"/>
            <a:ext cx="3648075" cy="64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，较为简单，要求理解，尤其报文格式及校验和计算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4325620" y="5109845"/>
            <a:ext cx="2049780" cy="1236345"/>
            <a:chOff x="6812" y="7987"/>
            <a:chExt cx="3228" cy="1947"/>
          </a:xfrm>
        </p:grpSpPr>
        <p:sp>
          <p:nvSpPr>
            <p:cNvPr id="5148" name="文本框 40"/>
            <p:cNvSpPr txBox="1"/>
            <p:nvPr/>
          </p:nvSpPr>
          <p:spPr>
            <a:xfrm>
              <a:off x="6882" y="7987"/>
              <a:ext cx="283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滑动窗口与确认重传</a:t>
              </a:r>
            </a:p>
          </p:txBody>
        </p:sp>
        <p:sp>
          <p:nvSpPr>
            <p:cNvPr id="5149" name="文本框 40"/>
            <p:cNvSpPr txBox="1"/>
            <p:nvPr/>
          </p:nvSpPr>
          <p:spPr>
            <a:xfrm>
              <a:off x="6880" y="8720"/>
              <a:ext cx="283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滑动窗口与流量控制</a:t>
              </a:r>
            </a:p>
          </p:txBody>
        </p:sp>
        <p:sp>
          <p:nvSpPr>
            <p:cNvPr id="5150" name="文本框 40"/>
            <p:cNvSpPr txBox="1"/>
            <p:nvPr/>
          </p:nvSpPr>
          <p:spPr>
            <a:xfrm>
              <a:off x="6812" y="9450"/>
              <a:ext cx="283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拥塞窗口与拥塞控制</a:t>
              </a:r>
            </a:p>
          </p:txBody>
        </p:sp>
        <p:sp>
          <p:nvSpPr>
            <p:cNvPr id="43" name="右大括号 42"/>
            <p:cNvSpPr/>
            <p:nvPr/>
          </p:nvSpPr>
          <p:spPr>
            <a:xfrm>
              <a:off x="9690" y="8100"/>
              <a:ext cx="350" cy="1730"/>
            </a:xfrm>
            <a:prstGeom prst="rightBrace">
              <a:avLst>
                <a:gd name="adj1" fmla="val 8333"/>
                <a:gd name="adj2" fmla="val 491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62" name="文本框 4"/>
          <p:cNvSpPr txBox="1"/>
          <p:nvPr/>
        </p:nvSpPr>
        <p:spPr>
          <a:xfrm>
            <a:off x="6438583" y="5541645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重点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难点！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 bldLvl="0" animBg="1"/>
      <p:bldP spid="33" grpId="0" bldLvl="0" animBg="1"/>
      <p:bldP spid="85" grpId="0" bldLvl="0" animBg="1"/>
      <p:bldP spid="46" grpId="0" bldLvl="0" animBg="1"/>
      <p:bldP spid="47" grpId="0" bldLvl="0" animBg="1"/>
      <p:bldP spid="47" grpId="1" bldLvl="0" animBg="1"/>
      <p:bldP spid="65" grpId="0" bldLvl="0" animBg="1"/>
      <p:bldP spid="66" grpId="0" bldLvl="0" animBg="1"/>
      <p:bldP spid="67" grpId="0" bldLvl="0" animBg="1"/>
      <p:bldP spid="51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65" name="文本框 8">
            <a:extLst>
              <a:ext uri="{FF2B5EF4-FFF2-40B4-BE49-F238E27FC236}">
                <a16:creationId xmlns:a16="http://schemas.microsoft.com/office/drawing/2014/main" id="{A76B62DA-C687-4511-89B4-EB588D3A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3.4.1 TCP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协议的主要特点及应用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0BFAD61-6661-4AFC-AB46-0F853464F216}"/>
              </a:ext>
            </a:extLst>
          </p:cNvPr>
          <p:cNvSpPr txBox="1"/>
          <p:nvPr/>
        </p:nvSpPr>
        <p:spPr>
          <a:xfrm>
            <a:off x="1475740" y="1670510"/>
            <a:ext cx="964565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的服务：打电话式、会话式通信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字节流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传输：字节管道、字节按序传输和到达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全双工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服务：一个应用进程可以同时收发数据、捎带确认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支持建立多个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并发的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（服务器同时响应多个连接）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传输服务：不丢失、不重复、有序</a:t>
            </a:r>
          </a:p>
        </p:txBody>
      </p:sp>
      <p:pic>
        <p:nvPicPr>
          <p:cNvPr id="67" name="Picture 2" descr="What is HTTP (Hypertext Transfer Protocol)? - Definition from ...">
            <a:extLst>
              <a:ext uri="{FF2B5EF4-FFF2-40B4-BE49-F238E27FC236}">
                <a16:creationId xmlns:a16="http://schemas.microsoft.com/office/drawing/2014/main" id="{0219B0A4-06BB-4B0E-A135-7F65DC2D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13914" r="12251" b="16516"/>
          <a:stretch>
            <a:fillRect/>
          </a:stretch>
        </p:blipFill>
        <p:spPr bwMode="auto">
          <a:xfrm>
            <a:off x="1185863" y="4591733"/>
            <a:ext cx="316865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4" descr="Buy Universal Email App - Mail for All Mailbox - Microsoft Store">
            <a:extLst>
              <a:ext uri="{FF2B5EF4-FFF2-40B4-BE49-F238E27FC236}">
                <a16:creationId xmlns:a16="http://schemas.microsoft.com/office/drawing/2014/main" id="{4203B03A-7AEA-4B89-B046-DF2C66598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3" y="4583795"/>
            <a:ext cx="174148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6" descr="UNIX Communication Commands | Telnet Command |Telnet Command Examples">
            <a:extLst>
              <a:ext uri="{FF2B5EF4-FFF2-40B4-BE49-F238E27FC236}">
                <a16:creationId xmlns:a16="http://schemas.microsoft.com/office/drawing/2014/main" id="{CA09B855-CA35-4B59-9485-AF2AB390D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5129590"/>
            <a:ext cx="2816754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8" descr="What is file transfer protocol (FTP)?">
            <a:extLst>
              <a:ext uri="{FF2B5EF4-FFF2-40B4-BE49-F238E27FC236}">
                <a16:creationId xmlns:a16="http://schemas.microsoft.com/office/drawing/2014/main" id="{93DCF629-60DE-4D66-8F65-5C04F7AF9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0" r="6146" b="3149"/>
          <a:stretch>
            <a:fillRect/>
          </a:stretch>
        </p:blipFill>
        <p:spPr bwMode="auto">
          <a:xfrm>
            <a:off x="6183313" y="3485245"/>
            <a:ext cx="2932112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48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65" name="文本框 8">
            <a:extLst>
              <a:ext uri="{FF2B5EF4-FFF2-40B4-BE49-F238E27FC236}">
                <a16:creationId xmlns:a16="http://schemas.microsoft.com/office/drawing/2014/main" id="{A76B62DA-C687-4511-89B4-EB588D3A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3.4.1 TCP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协议的主要特点及应用</a:t>
            </a:r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C5E09C8E-4BEB-43AE-8285-0F1587DD2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738349"/>
              </p:ext>
            </p:extLst>
          </p:nvPr>
        </p:nvGraphicFramePr>
        <p:xfrm>
          <a:off x="3766079" y="1670767"/>
          <a:ext cx="4824412" cy="490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86440" imgH="6989760" progId="Visio.Drawing.11">
                  <p:embed/>
                </p:oleObj>
              </mc:Choice>
              <mc:Fallback>
                <p:oleObj r:id="rId2" imgW="6886440" imgH="6989760" progId="Visio.Drawing.11">
                  <p:embed/>
                  <p:pic>
                    <p:nvPicPr>
                      <p:cNvPr id="48132" name="Object 1">
                        <a:extLst>
                          <a:ext uri="{FF2B5EF4-FFF2-40B4-BE49-F238E27FC236}">
                            <a16:creationId xmlns:a16="http://schemas.microsoft.com/office/drawing/2014/main" id="{BADF6B41-6388-40F8-9342-971B709C4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079" y="1670767"/>
                        <a:ext cx="4824412" cy="490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0C73271F-C8CE-4992-927E-988196B8DD7A}"/>
              </a:ext>
            </a:extLst>
          </p:cNvPr>
          <p:cNvSpPr/>
          <p:nvPr/>
        </p:nvSpPr>
        <p:spPr>
          <a:xfrm>
            <a:off x="5458354" y="46393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BEE40526-FF43-4A60-A610-FEA061718791}"/>
              </a:ext>
            </a:extLst>
          </p:cNvPr>
          <p:cNvSpPr/>
          <p:nvPr/>
        </p:nvSpPr>
        <p:spPr>
          <a:xfrm>
            <a:off x="7114116" y="46393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FFE9174B-5EAB-404A-8F8C-A05880076D77}"/>
              </a:ext>
            </a:extLst>
          </p:cNvPr>
          <p:cNvSpPr/>
          <p:nvPr/>
        </p:nvSpPr>
        <p:spPr>
          <a:xfrm flipV="1">
            <a:off x="5404379" y="52870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圆角矩形标注 11">
            <a:extLst>
              <a:ext uri="{FF2B5EF4-FFF2-40B4-BE49-F238E27FC236}">
                <a16:creationId xmlns:a16="http://schemas.microsoft.com/office/drawing/2014/main" id="{D49ED6BF-5EB9-4591-9182-781A3227C53F}"/>
              </a:ext>
            </a:extLst>
          </p:cNvPr>
          <p:cNvSpPr/>
          <p:nvPr/>
        </p:nvSpPr>
        <p:spPr>
          <a:xfrm>
            <a:off x="2289704" y="2912192"/>
            <a:ext cx="1476375" cy="1116012"/>
          </a:xfrm>
          <a:prstGeom prst="wedgeRoundRectCallout">
            <a:avLst>
              <a:gd name="adj1" fmla="val 35690"/>
              <a:gd name="adj2" fmla="val 71411"/>
              <a:gd name="adj3" fmla="val 16667"/>
            </a:avLst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注意：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TCP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传输单元是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报文段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122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DF073C-D233-48F1-942A-20E52F96205A}"/>
              </a:ext>
            </a:extLst>
          </p:cNvPr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33BAFC-6FA6-4DC9-8BB2-EE157D87B04C}"/>
              </a:ext>
            </a:extLst>
          </p:cNvPr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A091D97-9352-4CF3-8B06-D5A5D6F878A6}"/>
              </a:ext>
            </a:extLst>
          </p:cNvPr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120921-1D08-4F33-B1C9-43A892633F77}"/>
              </a:ext>
            </a:extLst>
          </p:cNvPr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585729-12C0-4CF2-895B-82A61DDFD80E}"/>
              </a:ext>
            </a:extLst>
          </p:cNvPr>
          <p:cNvCxnSpPr>
            <a:cxnSpLocks/>
          </p:cNvCxnSpPr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AD9B963-D157-44BE-9C43-02777B40ADCE}"/>
              </a:ext>
            </a:extLst>
          </p:cNvPr>
          <p:cNvCxnSpPr>
            <a:cxnSpLocks/>
          </p:cNvCxnSpPr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C24470C-336A-428F-9F8C-6DED4292AB35}"/>
              </a:ext>
            </a:extLst>
          </p:cNvPr>
          <p:cNvCxnSpPr>
            <a:cxnSpLocks/>
          </p:cNvCxnSpPr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F78FFD-CAF4-466D-8771-93808B882ADD}"/>
              </a:ext>
            </a:extLst>
          </p:cNvPr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102474A-BC33-4620-AED3-D61B87A95077}"/>
              </a:ext>
            </a:extLst>
          </p:cNvPr>
          <p:cNvCxnSpPr>
            <a:cxnSpLocks/>
          </p:cNvCxnSpPr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30112C0-8348-4686-BC0A-7C871A59E40C}"/>
              </a:ext>
            </a:extLst>
          </p:cNvPr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固定长度部分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7CC6B67-C854-4B0B-AE5C-85595900A431}"/>
              </a:ext>
            </a:extLst>
          </p:cNvPr>
          <p:cNvSpPr txBox="1"/>
          <p:nvPr/>
        </p:nvSpPr>
        <p:spPr>
          <a:xfrm>
            <a:off x="1142952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可变长度部分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70A449-4F50-4EA3-BA0E-39E6C38322F3}"/>
              </a:ext>
            </a:extLst>
          </p:cNvPr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2185B4-14DC-44FC-932E-724F7B6E531F}"/>
              </a:ext>
            </a:extLst>
          </p:cNvPr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紧急指针</a:t>
            </a:r>
          </a:p>
        </p:txBody>
      </p:sp>
      <p:sp>
        <p:nvSpPr>
          <p:cNvPr id="65" name="文本框 8">
            <a:extLst>
              <a:ext uri="{FF2B5EF4-FFF2-40B4-BE49-F238E27FC236}">
                <a16:creationId xmlns:a16="http://schemas.microsoft.com/office/drawing/2014/main" id="{A76B62DA-C687-4511-89B4-EB588D3A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49045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6" grpId="0" animBg="1"/>
      <p:bldP spid="17" grpId="0" animBg="1"/>
      <p:bldP spid="10" grpId="0"/>
      <p:bldP spid="20" grpId="0"/>
      <p:bldP spid="21" grpId="0"/>
      <p:bldP spid="22" grpId="0" animBg="1"/>
      <p:bldP spid="24" grpId="0" animBg="1"/>
      <p:bldP spid="30" grpId="0" animBg="1"/>
      <p:bldP spid="31" grpId="0" animBg="1"/>
      <p:bldP spid="39" grpId="0" animBg="1"/>
      <p:bldP spid="46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49" grpId="0"/>
      <p:bldP spid="18" grpId="0"/>
      <p:bldP spid="60" grpId="0"/>
      <p:bldP spid="6" grpId="0"/>
      <p:bldP spid="61" grpId="0"/>
      <p:bldP spid="62" grpId="0"/>
      <p:bldP spid="63" grpId="0"/>
      <p:bldP spid="9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DF073C-D233-48F1-942A-20E52F96205A}"/>
              </a:ext>
            </a:extLst>
          </p:cNvPr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33BAFC-6FA6-4DC9-8BB2-EE157D87B04C}"/>
              </a:ext>
            </a:extLst>
          </p:cNvPr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A091D97-9352-4CF3-8B06-D5A5D6F878A6}"/>
              </a:ext>
            </a:extLst>
          </p:cNvPr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120921-1D08-4F33-B1C9-43A892633F77}"/>
              </a:ext>
            </a:extLst>
          </p:cNvPr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585729-12C0-4CF2-895B-82A61DDFD80E}"/>
              </a:ext>
            </a:extLst>
          </p:cNvPr>
          <p:cNvCxnSpPr>
            <a:cxnSpLocks/>
          </p:cNvCxnSpPr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AD9B963-D157-44BE-9C43-02777B40ADCE}"/>
              </a:ext>
            </a:extLst>
          </p:cNvPr>
          <p:cNvCxnSpPr>
            <a:cxnSpLocks/>
          </p:cNvCxnSpPr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C24470C-336A-428F-9F8C-6DED4292AB35}"/>
              </a:ext>
            </a:extLst>
          </p:cNvPr>
          <p:cNvCxnSpPr>
            <a:cxnSpLocks/>
          </p:cNvCxnSpPr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F78FFD-CAF4-466D-8771-93808B882ADD}"/>
              </a:ext>
            </a:extLst>
          </p:cNvPr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102474A-BC33-4620-AED3-D61B87A95077}"/>
              </a:ext>
            </a:extLst>
          </p:cNvPr>
          <p:cNvCxnSpPr>
            <a:cxnSpLocks/>
          </p:cNvCxnSpPr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30112C0-8348-4686-BC0A-7C871A59E40C}"/>
              </a:ext>
            </a:extLst>
          </p:cNvPr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固定长度部分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7CC6B67-C854-4B0B-AE5C-85595900A431}"/>
              </a:ext>
            </a:extLst>
          </p:cNvPr>
          <p:cNvSpPr txBox="1"/>
          <p:nvPr/>
        </p:nvSpPr>
        <p:spPr>
          <a:xfrm>
            <a:off x="1142952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可变长度部分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70A449-4F50-4EA3-BA0E-39E6C38322F3}"/>
              </a:ext>
            </a:extLst>
          </p:cNvPr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2185B4-14DC-44FC-932E-724F7B6E531F}"/>
              </a:ext>
            </a:extLst>
          </p:cNvPr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紧急指针</a:t>
            </a:r>
          </a:p>
        </p:txBody>
      </p:sp>
      <p:sp>
        <p:nvSpPr>
          <p:cNvPr id="65" name="文本框 8">
            <a:extLst>
              <a:ext uri="{FF2B5EF4-FFF2-40B4-BE49-F238E27FC236}">
                <a16:creationId xmlns:a16="http://schemas.microsoft.com/office/drawing/2014/main" id="{BD82F820-D947-46D0-A9FB-45F9849BD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238008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30" grpId="0" animBg="1"/>
      <p:bldP spid="31" grpId="0" animBg="1"/>
      <p:bldP spid="39" grpId="0" animBg="1"/>
      <p:bldP spid="46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49" grpId="0"/>
      <p:bldP spid="18" grpId="0"/>
      <p:bldP spid="60" grpId="0"/>
      <p:bldP spid="62" grpId="0"/>
      <p:bldP spid="63" grpId="0"/>
      <p:bldP spid="9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A577FB7-E842-44A0-AC5A-849E9AC034C8}"/>
              </a:ext>
            </a:extLst>
          </p:cNvPr>
          <p:cNvSpPr/>
          <p:nvPr/>
        </p:nvSpPr>
        <p:spPr>
          <a:xfrm>
            <a:off x="1052195" y="5031740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目的端口号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报文接收方的端口号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08CA504-EA16-4880-8FD6-23E66EA474D9}"/>
              </a:ext>
            </a:extLst>
          </p:cNvPr>
          <p:cNvSpPr/>
          <p:nvPr/>
        </p:nvSpPr>
        <p:spPr>
          <a:xfrm>
            <a:off x="1117600" y="5565140"/>
            <a:ext cx="1025144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F55444A6-26A8-4D97-9FED-1638FC146E00}"/>
              </a:ext>
            </a:extLst>
          </p:cNvPr>
          <p:cNvCxnSpPr/>
          <p:nvPr/>
        </p:nvCxnSpPr>
        <p:spPr bwMode="auto">
          <a:xfrm>
            <a:off x="1409700" y="5542915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9DC1D498-C441-46B0-83E0-42EFF05DC67A}"/>
              </a:ext>
            </a:extLst>
          </p:cNvPr>
          <p:cNvSpPr/>
          <p:nvPr/>
        </p:nvSpPr>
        <p:spPr>
          <a:xfrm>
            <a:off x="1091883" y="3597152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源端口号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报文发送方的端口号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F9EA09C-DA13-4B7F-95C7-5C5857859897}"/>
              </a:ext>
            </a:extLst>
          </p:cNvPr>
          <p:cNvSpPr/>
          <p:nvPr/>
        </p:nvSpPr>
        <p:spPr>
          <a:xfrm>
            <a:off x="1157288" y="4130552"/>
            <a:ext cx="1025144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16B37E0-EC98-468A-AD3B-C48B6F8D4682}"/>
              </a:ext>
            </a:extLst>
          </p:cNvPr>
          <p:cNvCxnSpPr/>
          <p:nvPr/>
        </p:nvCxnSpPr>
        <p:spPr bwMode="auto">
          <a:xfrm>
            <a:off x="1449388" y="4108327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>
            <a:extLst>
              <a:ext uri="{FF2B5EF4-FFF2-40B4-BE49-F238E27FC236}">
                <a16:creationId xmlns:a16="http://schemas.microsoft.com/office/drawing/2014/main" id="{964447F7-A24E-4120-95D3-FF56AD34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59762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5A703D4-A82A-4186-8DCB-9A5F9E094CE3}"/>
              </a:ext>
            </a:extLst>
          </p:cNvPr>
          <p:cNvSpPr/>
          <p:nvPr/>
        </p:nvSpPr>
        <p:spPr>
          <a:xfrm>
            <a:off x="1052195" y="5031740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发送序号（seq）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表示TCP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数据字段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的第一个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的序号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D8916B1-C6E9-4294-8B11-B683ECD01742}"/>
              </a:ext>
            </a:extLst>
          </p:cNvPr>
          <p:cNvSpPr/>
          <p:nvPr/>
        </p:nvSpPr>
        <p:spPr>
          <a:xfrm>
            <a:off x="1117600" y="5565140"/>
            <a:ext cx="102514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连接建立时（即SYN=1），初始序号（ISN）由随机数生成器生成，发送端和接收端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独立产生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可能不一样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占32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EF396CC-2618-44EF-989A-2883440FC15A}"/>
              </a:ext>
            </a:extLst>
          </p:cNvPr>
          <p:cNvCxnSpPr/>
          <p:nvPr/>
        </p:nvCxnSpPr>
        <p:spPr bwMode="auto">
          <a:xfrm>
            <a:off x="1409700" y="5542915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>
            <a:extLst>
              <a:ext uri="{FF2B5EF4-FFF2-40B4-BE49-F238E27FC236}">
                <a16:creationId xmlns:a16="http://schemas.microsoft.com/office/drawing/2014/main" id="{4617C290-50E2-4133-8AA1-87230203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11411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2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CC88B1C-0A9B-4AD7-9079-7C6AED417750}"/>
              </a:ext>
            </a:extLst>
          </p:cNvPr>
          <p:cNvSpPr/>
          <p:nvPr/>
        </p:nvSpPr>
        <p:spPr>
          <a:xfrm>
            <a:off x="1052195" y="4917440"/>
            <a:ext cx="10251440" cy="48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确认序号（ack）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只有当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位=1时有效，表示发送此报文段的进程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期望接收的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下一个新字节的序号。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261EA2B-A394-48F0-A1D8-41F8E76A2BD7}"/>
              </a:ext>
            </a:extLst>
          </p:cNvPr>
          <p:cNvSpPr/>
          <p:nvPr/>
        </p:nvSpPr>
        <p:spPr>
          <a:xfrm>
            <a:off x="1117600" y="5400040"/>
            <a:ext cx="97853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确认序号=N+1，表示接收方已经成功接收了序号为N及之前的所有字节，要求发送方接下来应该发送        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起始序号为N+1的字节段。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注意区分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！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0785C63-62C5-4F84-A966-DE4CA4FE81D9}"/>
              </a:ext>
            </a:extLst>
          </p:cNvPr>
          <p:cNvCxnSpPr/>
          <p:nvPr/>
        </p:nvCxnSpPr>
        <p:spPr bwMode="auto">
          <a:xfrm>
            <a:off x="1409700" y="5428615"/>
            <a:ext cx="94932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>
            <a:extLst>
              <a:ext uri="{FF2B5EF4-FFF2-40B4-BE49-F238E27FC236}">
                <a16:creationId xmlns:a16="http://schemas.microsoft.com/office/drawing/2014/main" id="{F0C1D0C6-06C1-41B5-9510-8B3DE7737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4696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63" grpId="0"/>
      <p:bldP spid="65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0BD46E3-9C29-4519-84DC-82D3F3D1AECA}"/>
              </a:ext>
            </a:extLst>
          </p:cNvPr>
          <p:cNvSpPr/>
          <p:nvPr/>
        </p:nvSpPr>
        <p:spPr>
          <a:xfrm>
            <a:off x="1052195" y="5081446"/>
            <a:ext cx="10106329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窗口值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指示当前进程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可以接收的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数据长度 (单位: 字节)。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1E2E496-5A5A-42C1-BCC9-85B437A8CB3D}"/>
              </a:ext>
            </a:extLst>
          </p:cNvPr>
          <p:cNvSpPr/>
          <p:nvPr/>
        </p:nvSpPr>
        <p:spPr>
          <a:xfrm>
            <a:off x="1117599" y="5564046"/>
            <a:ext cx="10040927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准备接收下一个TCP报文的接收方，通知即将发送报文的发送方下一个报文中最多可以发送的字节数，       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是发送方确定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发送窗口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的依据，是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动态可变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的。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CD51EA5-9058-4BA3-913D-001D36F1F378}"/>
              </a:ext>
            </a:extLst>
          </p:cNvPr>
          <p:cNvCxnSpPr/>
          <p:nvPr/>
        </p:nvCxnSpPr>
        <p:spPr bwMode="auto">
          <a:xfrm>
            <a:off x="1409700" y="5592621"/>
            <a:ext cx="5238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A149AF36-884F-4787-9040-113E0C4571B9}"/>
              </a:ext>
            </a:extLst>
          </p:cNvPr>
          <p:cNvSpPr/>
          <p:nvPr/>
        </p:nvSpPr>
        <p:spPr>
          <a:xfrm flipV="1">
            <a:off x="1033445" y="5001950"/>
            <a:ext cx="10125076" cy="1495370"/>
          </a:xfrm>
          <a:prstGeom prst="wedgeRoundRectCallout">
            <a:avLst>
              <a:gd name="adj1" fmla="val 26157"/>
              <a:gd name="adj2" fmla="val 90847"/>
              <a:gd name="adj3" fmla="val 16667"/>
            </a:avLst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8">
            <a:extLst>
              <a:ext uri="{FF2B5EF4-FFF2-40B4-BE49-F238E27FC236}">
                <a16:creationId xmlns:a16="http://schemas.microsoft.com/office/drawing/2014/main" id="{DD2E807A-0119-41EF-A200-44FA04E7F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424244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67" grpId="0"/>
      <p:bldP spid="68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2BF5C2-2917-4CB9-A8C3-49638E45246F}"/>
              </a:ext>
            </a:extLst>
          </p:cNvPr>
          <p:cNvSpPr/>
          <p:nvPr/>
        </p:nvSpPr>
        <p:spPr>
          <a:xfrm>
            <a:off x="1033451" y="5247652"/>
            <a:ext cx="8320446" cy="810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报头长度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：表示TCP报文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首部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的大小，单位是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4字节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思考：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和UDP报头中的长度字段有什么不同？该字段的取值范围是[5,15]，为什么?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046E31A4-BA80-4701-A129-7642CBA0E029}"/>
              </a:ext>
            </a:extLst>
          </p:cNvPr>
          <p:cNvSpPr/>
          <p:nvPr/>
        </p:nvSpPr>
        <p:spPr>
          <a:xfrm flipV="1">
            <a:off x="1033451" y="5247652"/>
            <a:ext cx="8320446" cy="899738"/>
          </a:xfrm>
          <a:prstGeom prst="wedgeRoundRectCallout">
            <a:avLst>
              <a:gd name="adj1" fmla="val -44851"/>
              <a:gd name="adj2" fmla="val 91170"/>
              <a:gd name="adj3" fmla="val 16667"/>
            </a:avLst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8">
            <a:extLst>
              <a:ext uri="{FF2B5EF4-FFF2-40B4-BE49-F238E27FC236}">
                <a16:creationId xmlns:a16="http://schemas.microsoft.com/office/drawing/2014/main" id="{36CCDDF9-071C-4D8F-A767-CB3334496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317865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DF073C-D233-48F1-942A-20E52F96205A}"/>
              </a:ext>
            </a:extLst>
          </p:cNvPr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33BAFC-6FA6-4DC9-8BB2-EE157D87B04C}"/>
              </a:ext>
            </a:extLst>
          </p:cNvPr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70A449-4F50-4EA3-BA0E-39E6C38322F3}"/>
              </a:ext>
            </a:extLst>
          </p:cNvPr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2185B4-14DC-44FC-932E-724F7B6E531F}"/>
              </a:ext>
            </a:extLst>
          </p:cNvPr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紧急指针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756C0BB-2C61-4F1B-ABCA-782D6752C389}"/>
              </a:ext>
            </a:extLst>
          </p:cNvPr>
          <p:cNvSpPr/>
          <p:nvPr/>
        </p:nvSpPr>
        <p:spPr>
          <a:xfrm>
            <a:off x="1008856" y="5758815"/>
            <a:ext cx="9632102" cy="810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校验和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与UDP校验和的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相同点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：1）计算方式相同；2）也需要伪首部。</a:t>
            </a: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            与UDP校验和的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：1）UDP校验和可选，TCP校验和必须；2）伪首部协议字段值为6。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741346F8-7867-4719-AC31-156989F21FEA}"/>
              </a:ext>
            </a:extLst>
          </p:cNvPr>
          <p:cNvSpPr/>
          <p:nvPr/>
        </p:nvSpPr>
        <p:spPr>
          <a:xfrm flipV="1">
            <a:off x="957184" y="5758814"/>
            <a:ext cx="9683774" cy="852805"/>
          </a:xfrm>
          <a:prstGeom prst="wedgeRoundRectCallout">
            <a:avLst>
              <a:gd name="adj1" fmla="val -22737"/>
              <a:gd name="adj2" fmla="val 84389"/>
              <a:gd name="adj3" fmla="val 16667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E6268095-A3B7-4A48-8D9F-9FEE508406F2}"/>
              </a:ext>
            </a:extLst>
          </p:cNvPr>
          <p:cNvCxnSpPr>
            <a:cxnSpLocks/>
          </p:cNvCxnSpPr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0403E79A-EE80-44F0-8BFB-D30E65C01641}"/>
              </a:ext>
            </a:extLst>
          </p:cNvPr>
          <p:cNvCxnSpPr>
            <a:cxnSpLocks/>
          </p:cNvCxnSpPr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2C74A93-1FEA-491C-B0D5-4BFFC5D2D832}"/>
              </a:ext>
            </a:extLst>
          </p:cNvPr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F5998162-66BB-4B4F-AA4B-2A05229182C0}"/>
              </a:ext>
            </a:extLst>
          </p:cNvPr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固定长度部分</a:t>
            </a:r>
          </a:p>
        </p:txBody>
      </p:sp>
      <p:sp>
        <p:nvSpPr>
          <p:cNvPr id="57" name="文本框 8">
            <a:extLst>
              <a:ext uri="{FF2B5EF4-FFF2-40B4-BE49-F238E27FC236}">
                <a16:creationId xmlns:a16="http://schemas.microsoft.com/office/drawing/2014/main" id="{F53382CA-FA81-40C7-BD12-97F2E255A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230993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9" grpId="0"/>
      <p:bldP spid="64" grpId="0"/>
      <p:bldP spid="72" grpId="0"/>
      <p:bldP spid="13" grpId="0" animBg="1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9FD8E4-400F-4A94-B50B-26D7E25DFED7}"/>
              </a:ext>
            </a:extLst>
          </p:cNvPr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51920-15E8-4DF4-A231-C5542DD73368}"/>
                </a:ext>
              </a:extLst>
            </p:cNvPr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报头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E5EC015-7848-4F44-9FC3-CD22F42DBDEB}"/>
                </a:ext>
              </a:extLst>
            </p:cNvPr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D4B438D-0106-4707-9C07-1D258B4D51EA}"/>
              </a:ext>
            </a:extLst>
          </p:cNvPr>
          <p:cNvCxnSpPr>
            <a:cxnSpLocks/>
          </p:cNvCxnSpPr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E9C8C09-C6DD-4B0C-BCF8-FC570E974DC3}"/>
              </a:ext>
            </a:extLst>
          </p:cNvPr>
          <p:cNvCxnSpPr>
            <a:cxnSpLocks/>
          </p:cNvCxnSpPr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35E2FD-6226-4B95-A663-74AC046DFDCE}"/>
              </a:ext>
            </a:extLst>
          </p:cNvPr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BE416-2067-41A6-A374-B0427522D9D7}"/>
              </a:ext>
            </a:extLst>
          </p:cNvPr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ED2338-D9B7-4E08-8779-4AA9EE2B04B3}"/>
              </a:ext>
            </a:extLst>
          </p:cNvPr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6B7E60-0162-40FC-B6E0-E43E6195AA55}"/>
              </a:ext>
            </a:extLst>
          </p:cNvPr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EBE571-CF67-4C26-B98C-12BA59A0C7B7}"/>
              </a:ext>
            </a:extLst>
          </p:cNvPr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636F42-D656-4579-8BCE-98EB0CC281F3}"/>
              </a:ext>
            </a:extLst>
          </p:cNvPr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BC53B-E5D4-4EC0-9DF0-4C762E09DBE4}"/>
              </a:ext>
            </a:extLst>
          </p:cNvPr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DF073C-D233-48F1-942A-20E52F96205A}"/>
              </a:ext>
            </a:extLst>
          </p:cNvPr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433BAFC-6FA6-4DC9-8BB2-EE157D87B04C}"/>
              </a:ext>
            </a:extLst>
          </p:cNvPr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5A3CEF-05D7-4CB4-A950-E68FF6D04C41}"/>
              </a:ext>
            </a:extLst>
          </p:cNvPr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62361E1-3559-4279-8E47-E26D85B2B4A9}"/>
              </a:ext>
            </a:extLst>
          </p:cNvPr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71FFDEB-EB28-423D-B9A6-2B5EBEAE838B}"/>
              </a:ext>
            </a:extLst>
          </p:cNvPr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AC5D216-8BA1-4B5E-B57C-46DB2BA518D4}"/>
              </a:ext>
            </a:extLst>
          </p:cNvPr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27EB94F-3A60-4FC7-8872-54AA1912342F}"/>
              </a:ext>
            </a:extLst>
          </p:cNvPr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0BDC7A-4CA6-45AB-B060-0993148E1577}"/>
              </a:ext>
            </a:extLst>
          </p:cNvPr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565B7F0-AD27-4F1D-82F8-FEB44D0E4EB2}"/>
              </a:ext>
            </a:extLst>
          </p:cNvPr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0E4962A-2E1F-425A-A908-99DCE9314174}"/>
              </a:ext>
            </a:extLst>
          </p:cNvPr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7AEB3E4-EB03-465F-B4FC-A220A733B45C}"/>
              </a:ext>
            </a:extLst>
          </p:cNvPr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A091D97-9352-4CF3-8B06-D5A5D6F878A6}"/>
              </a:ext>
            </a:extLst>
          </p:cNvPr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DA47729-6D09-47B5-AB66-BAE84A482F5C}"/>
              </a:ext>
            </a:extLst>
          </p:cNvPr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报头长度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EC7726-6EAF-44B9-8FC2-833BF6BDAFEF}"/>
              </a:ext>
            </a:extLst>
          </p:cNvPr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955DC05-E183-42F8-9AB1-5CD577D2B22E}"/>
              </a:ext>
            </a:extLst>
          </p:cNvPr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09D362-F579-405D-9863-5B91AE518E9A}"/>
              </a:ext>
            </a:extLst>
          </p:cNvPr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A9DFE4F-1B98-4022-BC2F-84F7A585F7D8}"/>
              </a:ext>
            </a:extLst>
          </p:cNvPr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B888A0F-C550-471D-B7C8-DC1B77F08044}"/>
              </a:ext>
            </a:extLst>
          </p:cNvPr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15FF8-6137-4E67-8293-3A7A132B1D51}"/>
              </a:ext>
            </a:extLst>
          </p:cNvPr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9C0718-7830-46F5-8874-B2D93908E827}"/>
              </a:ext>
            </a:extLst>
          </p:cNvPr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B1F4C33-9D78-41D8-8BF9-DA06B44B3CCD}"/>
              </a:ext>
            </a:extLst>
          </p:cNvPr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窗口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120921-1D08-4F33-B1C9-43A892633F77}"/>
              </a:ext>
            </a:extLst>
          </p:cNvPr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585729-12C0-4CF2-895B-82A61DDFD80E}"/>
              </a:ext>
            </a:extLst>
          </p:cNvPr>
          <p:cNvCxnSpPr>
            <a:cxnSpLocks/>
          </p:cNvCxnSpPr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AD9B963-D157-44BE-9C43-02777B40ADCE}"/>
              </a:ext>
            </a:extLst>
          </p:cNvPr>
          <p:cNvCxnSpPr>
            <a:cxnSpLocks/>
          </p:cNvCxnSpPr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C24470C-336A-428F-9F8C-6DED4292AB35}"/>
              </a:ext>
            </a:extLst>
          </p:cNvPr>
          <p:cNvCxnSpPr>
            <a:cxnSpLocks/>
          </p:cNvCxnSpPr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F78FFD-CAF4-466D-8771-93808B882ADD}"/>
              </a:ext>
            </a:extLst>
          </p:cNvPr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102474A-BC33-4620-AED3-D61B87A95077}"/>
              </a:ext>
            </a:extLst>
          </p:cNvPr>
          <p:cNvCxnSpPr>
            <a:cxnSpLocks/>
          </p:cNvCxnSpPr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30112C0-8348-4686-BC0A-7C871A59E40C}"/>
              </a:ext>
            </a:extLst>
          </p:cNvPr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固定长度部分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7CC6B67-C854-4B0B-AE5C-85595900A431}"/>
              </a:ext>
            </a:extLst>
          </p:cNvPr>
          <p:cNvSpPr txBox="1"/>
          <p:nvPr/>
        </p:nvSpPr>
        <p:spPr>
          <a:xfrm>
            <a:off x="1150326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可变长度部分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A8BBE-13B3-47D3-865B-6AB7EF40A3F0}"/>
              </a:ext>
            </a:extLst>
          </p:cNvPr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源端口号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B22EE01-9D31-4664-8E0A-F5A0D6CE6BD1}"/>
              </a:ext>
            </a:extLst>
          </p:cNvPr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端口号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AD722E9-C19D-4007-9101-467656FA4FC7}"/>
              </a:ext>
            </a:extLst>
          </p:cNvPr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发送序号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D9C24F-D3B1-42BF-81F1-7E575B5537C7}"/>
              </a:ext>
            </a:extLst>
          </p:cNvPr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确认序号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70A449-4F50-4EA3-BA0E-39E6C38322F3}"/>
              </a:ext>
            </a:extLst>
          </p:cNvPr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2185B4-14DC-44FC-932E-724F7B6E531F}"/>
              </a:ext>
            </a:extLst>
          </p:cNvPr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紧急指针</a:t>
            </a:r>
          </a:p>
        </p:txBody>
      </p:sp>
      <p:sp>
        <p:nvSpPr>
          <p:cNvPr id="65" name="文本框 8">
            <a:extLst>
              <a:ext uri="{FF2B5EF4-FFF2-40B4-BE49-F238E27FC236}">
                <a16:creationId xmlns:a16="http://schemas.microsoft.com/office/drawing/2014/main" id="{9FCF5647-FBD3-4C20-A7B4-77856BD78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230378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27225" y="1541463"/>
          <a:ext cx="8642350" cy="4691057"/>
        </p:xfrm>
        <a:graphic>
          <a:graphicData uri="http://schemas.openxmlformats.org/drawingml/2006/table">
            <a:tbl>
              <a:tblPr/>
              <a:tblGrid>
                <a:gridCol w="111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标志</a:t>
                      </a: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说</a:t>
                      </a:r>
                      <a:r>
                        <a:rPr lang="en-US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明</a:t>
                      </a: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2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时，表明这是一个建立连接请求报文，若对方同意建立该连接，则应在发回的报文中将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标志位同时置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。实质上，就是用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来代表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Connection Request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Connection Accepted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位来区分这两种情况。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5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确认号字段的值有效。只有当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时，确认序号字段才有意义。当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时，确认序号没有意义</a:t>
                      </a:r>
                      <a:r>
                        <a:rPr lang="zh-CN" sz="20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4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FIN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终止连接。当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FIN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时，表明数据已经发送完毕，并请求释放连接</a:t>
                      </a:r>
                      <a:r>
                        <a:rPr lang="zh-CN" sz="20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RST</a:t>
                      </a:r>
                      <a:endParaRPr lang="zh-CN" sz="20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连接必须复位。当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RST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时，表明出现严重差错，必须释放连接，然后重新建立连接。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URG</a:t>
                      </a:r>
                      <a:endParaRPr lang="zh-CN" sz="20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此报文是紧急数据，应尽快传送出去。此标志位要与紧急指针字段配合使用，由紧急指针指出在本报文段中的紧急数据的最后一个字节的编号。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PSH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将数据推向前。当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PSH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时，请求接收方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软件将该报文立即推送给应用程序。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EBE5645-D281-4DC2-9CCE-7C205745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906780" y="1687830"/>
            <a:ext cx="3606226" cy="584835"/>
          </a:xfrm>
          <a:prstGeom prst="roundRect">
            <a:avLst>
              <a:gd name="adj" fmla="val 0"/>
            </a:avLst>
          </a:prstGeom>
          <a:solidFill>
            <a:srgbClr val="A91F2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dist">
              <a:spcBef>
                <a:spcPts val="750"/>
              </a:spcBef>
            </a:pP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TCP最大段长度（MSS）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6780" y="2279015"/>
            <a:ext cx="10652125" cy="732790"/>
            <a:chOff x="1428" y="3106"/>
            <a:chExt cx="16775" cy="1154"/>
          </a:xfrm>
        </p:grpSpPr>
        <p:sp>
          <p:nvSpPr>
            <p:cNvPr id="10" name="矩形 9"/>
            <p:cNvSpPr/>
            <p:nvPr/>
          </p:nvSpPr>
          <p:spPr>
            <a:xfrm>
              <a:off x="1428" y="3106"/>
              <a:ext cx="16775" cy="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定义：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TCP报文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数据部分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的最大长度，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不包括TCP报头长度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。默认值为</a:t>
              </a:r>
              <a:r>
                <a:rPr lang="en-US" altLang="zh-CN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536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字节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428" y="4260"/>
              <a:ext cx="1529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3B2D444-1F9F-4A1D-A193-2FADBB38E55E}"/>
              </a:ext>
            </a:extLst>
          </p:cNvPr>
          <p:cNvGrpSpPr/>
          <p:nvPr/>
        </p:nvGrpSpPr>
        <p:grpSpPr>
          <a:xfrm>
            <a:off x="317092" y="3429000"/>
            <a:ext cx="5283798" cy="1502420"/>
            <a:chOff x="966021" y="3429000"/>
            <a:chExt cx="5283798" cy="1502420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AEBBD3D9-B530-4B3D-A559-B13C46BA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625" y="3899667"/>
              <a:ext cx="2805554" cy="500394"/>
            </a:xfrm>
            <a:prstGeom prst="rect">
              <a:avLst/>
            </a:prstGeom>
            <a:gradFill rotWithShape="1">
              <a:gsLst>
                <a:gs pos="0">
                  <a:srgbClr val="B2B28E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7">
              <a:extLst>
                <a:ext uri="{FF2B5EF4-FFF2-40B4-BE49-F238E27FC236}">
                  <a16:creationId xmlns:a16="http://schemas.microsoft.com/office/drawing/2014/main" id="{0A902CE4-6F3B-4673-B507-19D568931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021" y="4401300"/>
              <a:ext cx="4240157" cy="530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7B4E5156-BCF1-459F-AB74-298BFF9FB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0757" y="4401300"/>
              <a:ext cx="0" cy="53012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14">
              <a:extLst>
                <a:ext uri="{FF2B5EF4-FFF2-40B4-BE49-F238E27FC236}">
                  <a16:creationId xmlns:a16="http://schemas.microsoft.com/office/drawing/2014/main" id="{E13799C3-1BAE-40D7-8F76-A50F8278E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021" y="4428548"/>
              <a:ext cx="1637068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dirty="0">
                  <a:ea typeface="黑体" panose="02010609060101010101" pitchFamily="49" charset="-122"/>
                </a:rPr>
                <a:t>UDP </a:t>
              </a:r>
              <a:r>
                <a:rPr kumimoji="1" lang="zh-CN" altLang="en-US" sz="2400" dirty="0">
                  <a:ea typeface="黑体" panose="02010609060101010101" pitchFamily="49" charset="-122"/>
                </a:rPr>
                <a:t>头部</a:t>
              </a:r>
            </a:p>
          </p:txBody>
        </p:sp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DDCE8729-B4D9-4BE5-9937-C84557F3F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004" y="4428548"/>
              <a:ext cx="277542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00" dirty="0">
                  <a:ea typeface="黑体" panose="02010609060101010101" pitchFamily="49" charset="-122"/>
                </a:rPr>
                <a:t>UDP</a:t>
              </a:r>
              <a:r>
                <a:rPr kumimoji="1" lang="zh-CN" altLang="en-US" sz="2400" dirty="0">
                  <a:ea typeface="黑体" panose="02010609060101010101" pitchFamily="49" charset="-122"/>
                </a:rPr>
                <a:t>的数据部分</a:t>
              </a:r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52B9CAFF-4056-488C-AE18-4CEB9D4AA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282" y="4444861"/>
              <a:ext cx="998537" cy="358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rPr>
                <a:t>传输层</a:t>
              </a:r>
            </a:p>
          </p:txBody>
        </p:sp>
        <p:sp>
          <p:nvSpPr>
            <p:cNvPr id="41" name="AutoShape 18">
              <a:extLst>
                <a:ext uri="{FF2B5EF4-FFF2-40B4-BE49-F238E27FC236}">
                  <a16:creationId xmlns:a16="http://schemas.microsoft.com/office/drawing/2014/main" id="{B7CB1106-5D22-48DC-9311-F2560D80A9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3600920" y="4018899"/>
              <a:ext cx="528883" cy="234679"/>
            </a:xfrm>
            <a:prstGeom prst="rightArrow">
              <a:avLst>
                <a:gd name="adj1" fmla="val 50000"/>
                <a:gd name="adj2" fmla="val 14749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7C1CB261-5C41-4DB8-855E-B97E1D495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758" y="3429000"/>
              <a:ext cx="2775424" cy="44218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>
                  <a:ea typeface="黑体" panose="02010609060101010101" pitchFamily="49" charset="-122"/>
                </a:rPr>
                <a:t>应用层报文</a:t>
              </a:r>
            </a:p>
          </p:txBody>
        </p:sp>
        <p:sp>
          <p:nvSpPr>
            <p:cNvPr id="43" name="Rectangle 20">
              <a:extLst>
                <a:ext uri="{FF2B5EF4-FFF2-40B4-BE49-F238E27FC236}">
                  <a16:creationId xmlns:a16="http://schemas.microsoft.com/office/drawing/2014/main" id="{B1900399-CF04-42D0-A29C-3BC358B10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304" y="3429000"/>
              <a:ext cx="998538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rPr>
                <a:t>应用层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91626F0-EB38-4874-8D83-5F0CC1D27627}"/>
              </a:ext>
            </a:extLst>
          </p:cNvPr>
          <p:cNvGrpSpPr/>
          <p:nvPr/>
        </p:nvGrpSpPr>
        <p:grpSpPr>
          <a:xfrm>
            <a:off x="6564700" y="3429000"/>
            <a:ext cx="5283798" cy="1502420"/>
            <a:chOff x="966021" y="3429000"/>
            <a:chExt cx="5283798" cy="1502420"/>
          </a:xfrm>
        </p:grpSpPr>
        <p:sp>
          <p:nvSpPr>
            <p:cNvPr id="55" name="Rectangle 6">
              <a:extLst>
                <a:ext uri="{FF2B5EF4-FFF2-40B4-BE49-F238E27FC236}">
                  <a16:creationId xmlns:a16="http://schemas.microsoft.com/office/drawing/2014/main" id="{BEBD349E-8DBD-4B50-942D-EAC50E08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005" y="3899667"/>
              <a:ext cx="1755494" cy="500394"/>
            </a:xfrm>
            <a:prstGeom prst="rect">
              <a:avLst/>
            </a:prstGeom>
            <a:gradFill rotWithShape="1">
              <a:gsLst>
                <a:gs pos="0">
                  <a:srgbClr val="B2B28E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7">
              <a:extLst>
                <a:ext uri="{FF2B5EF4-FFF2-40B4-BE49-F238E27FC236}">
                  <a16:creationId xmlns:a16="http://schemas.microsoft.com/office/drawing/2014/main" id="{CD85EB63-096F-4752-8AC4-FD68C443C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021" y="4401300"/>
              <a:ext cx="3213481" cy="530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Line 12">
              <a:extLst>
                <a:ext uri="{FF2B5EF4-FFF2-40B4-BE49-F238E27FC236}">
                  <a16:creationId xmlns:a16="http://schemas.microsoft.com/office/drawing/2014/main" id="{C25D4394-E3AD-458A-A294-18E8D9600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0757" y="4401300"/>
              <a:ext cx="0" cy="53012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91B6101-8254-43C4-8C0A-BA3C8324F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021" y="4428548"/>
              <a:ext cx="1515559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dirty="0">
                  <a:ea typeface="黑体" panose="02010609060101010101" pitchFamily="49" charset="-122"/>
                </a:rPr>
                <a:t>TCP </a:t>
              </a:r>
              <a:r>
                <a:rPr kumimoji="1" lang="zh-CN" altLang="en-US" sz="2400" dirty="0">
                  <a:ea typeface="黑体" panose="02010609060101010101" pitchFamily="49" charset="-122"/>
                </a:rPr>
                <a:t>头部</a:t>
              </a: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867CD1D-C5D8-497F-8D79-07DDDD5D6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005" y="4428548"/>
              <a:ext cx="1814490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00" dirty="0">
                  <a:ea typeface="黑体" panose="02010609060101010101" pitchFamily="49" charset="-122"/>
                </a:rPr>
                <a:t>TCP</a:t>
              </a:r>
              <a:r>
                <a:rPr kumimoji="1" lang="zh-CN" altLang="en-US" sz="2400" dirty="0">
                  <a:ea typeface="黑体" panose="02010609060101010101" pitchFamily="49" charset="-122"/>
                </a:rPr>
                <a:t>的数据</a:t>
              </a: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AED74EF1-0A15-46BB-8A5C-04F0A8F13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282" y="4444861"/>
              <a:ext cx="998537" cy="358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rPr>
                <a:t>传输层</a:t>
              </a:r>
            </a:p>
          </p:txBody>
        </p:sp>
        <p:sp>
          <p:nvSpPr>
            <p:cNvPr id="61" name="AutoShape 18">
              <a:extLst>
                <a:ext uri="{FF2B5EF4-FFF2-40B4-BE49-F238E27FC236}">
                  <a16:creationId xmlns:a16="http://schemas.microsoft.com/office/drawing/2014/main" id="{38CAA480-0D3B-43C3-9D22-89E7DFFBE9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988866" y="4018899"/>
              <a:ext cx="528883" cy="234679"/>
            </a:xfrm>
            <a:prstGeom prst="rightArrow">
              <a:avLst>
                <a:gd name="adj1" fmla="val 50000"/>
                <a:gd name="adj2" fmla="val 14749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2065BE0A-8783-4063-AEEA-65D5ADB2B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758" y="3429000"/>
              <a:ext cx="2775424" cy="44218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>
                  <a:ea typeface="黑体" panose="02010609060101010101" pitchFamily="49" charset="-122"/>
                </a:rPr>
                <a:t>应用层报文</a:t>
              </a:r>
            </a:p>
          </p:txBody>
        </p:sp>
        <p:sp>
          <p:nvSpPr>
            <p:cNvPr id="63" name="Rectangle 20">
              <a:extLst>
                <a:ext uri="{FF2B5EF4-FFF2-40B4-BE49-F238E27FC236}">
                  <a16:creationId xmlns:a16="http://schemas.microsoft.com/office/drawing/2014/main" id="{5FF3CA38-DD77-4577-8E31-101DADF20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304" y="3429000"/>
              <a:ext cx="998538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rPr>
                <a:t>应用层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950DA89-59BC-41DD-A13C-8FA12D50FBF6}"/>
              </a:ext>
            </a:extLst>
          </p:cNvPr>
          <p:cNvSpPr txBox="1"/>
          <p:nvPr/>
        </p:nvSpPr>
        <p:spPr>
          <a:xfrm>
            <a:off x="1307116" y="5140441"/>
            <a:ext cx="280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UDP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面向报文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传输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5997949-BC1C-4DF0-9D6A-B53F2FC3ED40}"/>
              </a:ext>
            </a:extLst>
          </p:cNvPr>
          <p:cNvSpPr txBox="1"/>
          <p:nvPr/>
        </p:nvSpPr>
        <p:spPr>
          <a:xfrm>
            <a:off x="7303443" y="5140441"/>
            <a:ext cx="2862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面向字节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传输</a:t>
            </a:r>
          </a:p>
        </p:txBody>
      </p:sp>
      <p:sp>
        <p:nvSpPr>
          <p:cNvPr id="34" name="文本框 8">
            <a:extLst>
              <a:ext uri="{FF2B5EF4-FFF2-40B4-BE49-F238E27FC236}">
                <a16:creationId xmlns:a16="http://schemas.microsoft.com/office/drawing/2014/main" id="{A3534BFF-9985-47D3-B60E-1FCB5B60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33832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8" grpId="0" animBg="1"/>
      <p:bldP spid="15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906780" y="1687830"/>
            <a:ext cx="3606226" cy="584835"/>
          </a:xfrm>
          <a:prstGeom prst="roundRect">
            <a:avLst>
              <a:gd name="adj" fmla="val 0"/>
            </a:avLst>
          </a:prstGeom>
          <a:solidFill>
            <a:srgbClr val="A91F2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dist">
              <a:spcBef>
                <a:spcPts val="750"/>
              </a:spcBef>
            </a:pP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TCP最大段长度（MSS）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6780" y="2279015"/>
            <a:ext cx="10652125" cy="732790"/>
            <a:chOff x="1428" y="3106"/>
            <a:chExt cx="16775" cy="1154"/>
          </a:xfrm>
        </p:grpSpPr>
        <p:sp>
          <p:nvSpPr>
            <p:cNvPr id="10" name="矩形 9"/>
            <p:cNvSpPr/>
            <p:nvPr/>
          </p:nvSpPr>
          <p:spPr>
            <a:xfrm>
              <a:off x="1428" y="3106"/>
              <a:ext cx="16775" cy="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定义：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TCP报文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数据部分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的最大长度，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不包括TCP报头长度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。默认值为</a:t>
              </a:r>
              <a:r>
                <a:rPr lang="en-US" altLang="zh-CN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536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字节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428" y="4260"/>
              <a:ext cx="1529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916305" y="3158490"/>
            <a:ext cx="9885680" cy="677107"/>
            <a:chOff x="1443" y="5363"/>
            <a:chExt cx="15568" cy="1071"/>
          </a:xfrm>
        </p:grpSpPr>
        <p:sp>
          <p:nvSpPr>
            <p:cNvPr id="6" name="矩形 5"/>
            <p:cNvSpPr/>
            <p:nvPr/>
          </p:nvSpPr>
          <p:spPr>
            <a:xfrm>
              <a:off x="1443" y="5363"/>
              <a:ext cx="15568" cy="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区别：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MSS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窗口长度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有什么区别？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533" y="6434"/>
              <a:ext cx="15221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40A3C7-D740-4F80-907E-040137144516}"/>
              </a:ext>
            </a:extLst>
          </p:cNvPr>
          <p:cNvGrpSpPr/>
          <p:nvPr/>
        </p:nvGrpSpPr>
        <p:grpSpPr>
          <a:xfrm>
            <a:off x="916305" y="3970996"/>
            <a:ext cx="9885680" cy="701969"/>
            <a:chOff x="916305" y="3970996"/>
            <a:chExt cx="9885680" cy="701969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202EE48-D77F-4EBF-BCAE-84AFEF1068B8}"/>
                </a:ext>
              </a:extLst>
            </p:cNvPr>
            <p:cNvCxnSpPr/>
            <p:nvPr/>
          </p:nvCxnSpPr>
          <p:spPr>
            <a:xfrm>
              <a:off x="939969" y="4672965"/>
              <a:ext cx="9732116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7D7AB3C-4974-4F1C-BB29-0AAF0301CC09}"/>
                </a:ext>
              </a:extLst>
            </p:cNvPr>
            <p:cNvSpPr/>
            <p:nvPr/>
          </p:nvSpPr>
          <p:spPr>
            <a:xfrm>
              <a:off x="916305" y="3970996"/>
              <a:ext cx="9885680" cy="5810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思考：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MSS的值的大小应该如何选择？过大与过小分别有什么影响？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18304EA-6FA9-4D4C-8DE1-48052E6E981B}"/>
              </a:ext>
            </a:extLst>
          </p:cNvPr>
          <p:cNvGrpSpPr/>
          <p:nvPr/>
        </p:nvGrpSpPr>
        <p:grpSpPr>
          <a:xfrm>
            <a:off x="860316" y="4989195"/>
            <a:ext cx="10122535" cy="1159260"/>
            <a:chOff x="860316" y="4989195"/>
            <a:chExt cx="10122535" cy="115926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7CCA0CE-779E-44B6-8161-7E2689A29AC6}"/>
                </a:ext>
              </a:extLst>
            </p:cNvPr>
            <p:cNvSpPr/>
            <p:nvPr/>
          </p:nvSpPr>
          <p:spPr>
            <a:xfrm>
              <a:off x="860316" y="4989195"/>
              <a:ext cx="10122535" cy="10129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大小选择：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1) 考虑协议开销，不能太小；2) 考虑分段导致的网络层开销和传输出错概率，不能太大；3) 考虑发送和接收缓冲区的限制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070A28E-3281-47CF-B441-F71643B6DA20}"/>
                </a:ext>
              </a:extLst>
            </p:cNvPr>
            <p:cNvCxnSpPr/>
            <p:nvPr/>
          </p:nvCxnSpPr>
          <p:spPr>
            <a:xfrm>
              <a:off x="973455" y="6148455"/>
              <a:ext cx="966533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8">
            <a:extLst>
              <a:ext uri="{FF2B5EF4-FFF2-40B4-BE49-F238E27FC236}">
                <a16:creationId xmlns:a16="http://schemas.microsoft.com/office/drawing/2014/main" id="{723D4769-5827-4C58-9CCF-A68AE8793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</a:p>
        </p:txBody>
      </p:sp>
    </p:spTree>
    <p:extLst>
      <p:ext uri="{BB962C8B-B14F-4D97-AF65-F5344CB8AC3E}">
        <p14:creationId xmlns:p14="http://schemas.microsoft.com/office/powerpoint/2010/main" val="387995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3" name="矩形 2"/>
          <p:cNvSpPr/>
          <p:nvPr/>
        </p:nvSpPr>
        <p:spPr>
          <a:xfrm>
            <a:off x="1049867" y="2023534"/>
            <a:ext cx="10096500" cy="1722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捕捉一组完整的TCP会话通信过程，观察SYN, ACK, FIN, PSH, URG, RST会在什么情况下出现。</a:t>
            </a: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TCP报文段为什么没有字段定义数据字段的长度？这样做会有什么潜在的问题？</a:t>
            </a:r>
            <a:endParaRPr lang="en-US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en-US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3. 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TCPv6的数据结构与TCPv4的数据结构有何不同？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B0A339-4093-4882-ADB1-4BDDDAB1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报文格式（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拓展思考题</a:t>
            </a:r>
            <a:r>
              <a:rPr lang="zh-CN" altLang="en-US" sz="22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797" name="Object 2"/>
          <p:cNvGraphicFramePr>
            <a:graphicFrameLocks noChangeAspect="1"/>
          </p:cNvGraphicFramePr>
          <p:nvPr/>
        </p:nvGraphicFramePr>
        <p:xfrm>
          <a:off x="6978809" y="852646"/>
          <a:ext cx="3648710" cy="609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34230" imgH="7730490" progId="Visio.Drawing.11">
                  <p:embed/>
                </p:oleObj>
              </mc:Choice>
              <mc:Fallback>
                <p:oleObj r:id="rId2" imgW="4634230" imgH="77304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78809" y="852646"/>
                        <a:ext cx="3648710" cy="609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598545" y="1700530"/>
            <a:ext cx="7049770" cy="1200150"/>
            <a:chOff x="5667" y="2678"/>
            <a:chExt cx="11102" cy="1890"/>
          </a:xfrm>
        </p:grpSpPr>
        <p:sp>
          <p:nvSpPr>
            <p:cNvPr id="4" name="矩形 3"/>
            <p:cNvSpPr/>
            <p:nvPr/>
          </p:nvSpPr>
          <p:spPr>
            <a:xfrm>
              <a:off x="10987" y="2678"/>
              <a:ext cx="5783" cy="18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5667" y="3439"/>
              <a:ext cx="4819" cy="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1465580" y="1865630"/>
            <a:ext cx="3523615" cy="991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个报文段交互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994150" y="2969260"/>
            <a:ext cx="6670040" cy="944880"/>
            <a:chOff x="6290" y="4676"/>
            <a:chExt cx="10504" cy="1488"/>
          </a:xfrm>
        </p:grpSpPr>
        <p:sp>
          <p:nvSpPr>
            <p:cNvPr id="13" name="矩形 12"/>
            <p:cNvSpPr/>
            <p:nvPr/>
          </p:nvSpPr>
          <p:spPr>
            <a:xfrm>
              <a:off x="11012" y="4676"/>
              <a:ext cx="5783" cy="1488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6290" y="5322"/>
              <a:ext cx="4196" cy="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1465580" y="3065780"/>
            <a:ext cx="5384165" cy="94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数据双向传输阶段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以滑动窗口中的多个报文段为单位的双向传输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470910" y="3956685"/>
            <a:ext cx="7190105" cy="2545080"/>
            <a:chOff x="5466" y="6231"/>
            <a:chExt cx="11323" cy="4008"/>
          </a:xfrm>
        </p:grpSpPr>
        <p:sp>
          <p:nvSpPr>
            <p:cNvPr id="16" name="矩形 15"/>
            <p:cNvSpPr/>
            <p:nvPr/>
          </p:nvSpPr>
          <p:spPr>
            <a:xfrm>
              <a:off x="11007" y="6231"/>
              <a:ext cx="5783" cy="4008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5466" y="7761"/>
              <a:ext cx="5020" cy="8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1465580" y="4584700"/>
            <a:ext cx="5193665" cy="1360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释放连接阶段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两个方向的连接，可以间隔开来释放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每个方向的连接释放，需要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个报文段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6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596419-E1CC-47D1-8441-5C4EC0A8CB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96DEE77-E28B-4DA6-AD8F-C1A5825846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AF8DD959-B436-4C97-8109-1BA289FE0920}"/>
              </a:ext>
            </a:extLst>
          </p:cNvPr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B590B1-91D7-4E3D-9E8E-35DEBF85F72B}"/>
              </a:ext>
            </a:extLst>
          </p:cNvPr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E7BDF54A-C8CB-4C63-B504-2DC44829CFB7}"/>
              </a:ext>
            </a:extLst>
          </p:cNvPr>
          <p:cNvCxnSpPr>
            <a:cxnSpLocks/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B0D0B39-63C6-49A4-8A92-994FDDADC75C}"/>
              </a:ext>
            </a:extLst>
          </p:cNvPr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主动</a:t>
            </a: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1DD2B6A-F6C6-47AE-BA5D-D9391CE2773D}"/>
              </a:ext>
            </a:extLst>
          </p:cNvPr>
          <p:cNvCxnSpPr>
            <a:cxnSpLocks/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7CE9DA5-0BE2-46DC-9BA9-32D8B6BE658C}"/>
              </a:ext>
            </a:extLst>
          </p:cNvPr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被动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1A87C5-37BB-4E58-B874-D9A5979DAF5B}"/>
              </a:ext>
            </a:extLst>
          </p:cNvPr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2644CB3-9DFA-46E2-9832-8B0CEFCE8076}"/>
              </a:ext>
            </a:extLst>
          </p:cNvPr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009AFA4-FB38-44F5-9BD7-ED3F03ABD8BE}"/>
              </a:ext>
            </a:extLst>
          </p:cNvPr>
          <p:cNvCxnSpPr>
            <a:cxnSpLocks/>
          </p:cNvCxnSpPr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CD59234-EE84-4B74-9379-76D853206FF8}"/>
              </a:ext>
            </a:extLst>
          </p:cNvPr>
          <p:cNvCxnSpPr>
            <a:cxnSpLocks/>
          </p:cNvCxnSpPr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58274A95-53A7-465B-9E3A-4523A99EE8E8}"/>
              </a:ext>
            </a:extLst>
          </p:cNvPr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DF509E-0022-47FF-85F2-D235ED1F0DDA}"/>
              </a:ext>
            </a:extLst>
          </p:cNvPr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>
            <a:extLst>
              <a:ext uri="{FF2B5EF4-FFF2-40B4-BE49-F238E27FC236}">
                <a16:creationId xmlns:a16="http://schemas.microsoft.com/office/drawing/2014/main" id="{74A0DD62-9638-4443-B49F-424DBBFE6B08}"/>
              </a:ext>
            </a:extLst>
          </p:cNvPr>
          <p:cNvCxnSpPr>
            <a:cxnSpLocks/>
          </p:cNvCxnSpPr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58F48DC1-ECB0-44E7-96C1-8D07BB6115A3}"/>
              </a:ext>
            </a:extLst>
          </p:cNvPr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EA34CA-ACA4-4D01-A514-E5CE90A4BF50}"/>
              </a:ext>
            </a:extLst>
          </p:cNvPr>
          <p:cNvSpPr txBox="1"/>
          <p:nvPr/>
        </p:nvSpPr>
        <p:spPr>
          <a:xfrm rot="823709">
            <a:off x="7371862" y="3170138"/>
            <a:ext cx="2402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Hey, connection request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2D16917-B617-4C23-AEB9-074121BBAB42}"/>
              </a:ext>
            </a:extLst>
          </p:cNvPr>
          <p:cNvSpPr txBox="1"/>
          <p:nvPr/>
        </p:nvSpPr>
        <p:spPr>
          <a:xfrm rot="20910729">
            <a:off x="7242259" y="3838817"/>
            <a:ext cx="2169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OK, I agree to connect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F0E0284-B7E4-4F38-80F0-988D801F3B53}"/>
              </a:ext>
            </a:extLst>
          </p:cNvPr>
          <p:cNvSpPr txBox="1"/>
          <p:nvPr/>
        </p:nvSpPr>
        <p:spPr>
          <a:xfrm rot="701508">
            <a:off x="7498756" y="4509241"/>
            <a:ext cx="25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OK, we can transfer data 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>
            <a:extLst>
              <a:ext uri="{FF2B5EF4-FFF2-40B4-BE49-F238E27FC236}">
                <a16:creationId xmlns:a16="http://schemas.microsoft.com/office/drawing/2014/main" id="{8252CFF7-D278-4E73-BBA0-D5EDB30626A6}"/>
              </a:ext>
            </a:extLst>
          </p:cNvPr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917DD33-18DC-472C-ADA2-A2453B36BF18}"/>
              </a:ext>
            </a:extLst>
          </p:cNvPr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CC3EDF-EE87-4A6B-B753-3D340053EB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838" y="3359860"/>
            <a:ext cx="1257576" cy="12575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ED5115-E3A7-4935-8E5D-D8260E0DD1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3646" y="3258581"/>
            <a:ext cx="1358855" cy="135885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5CF7A42-EBE2-4DE8-9663-CB88E5E8C726}"/>
              </a:ext>
            </a:extLst>
          </p:cNvPr>
          <p:cNvCxnSpPr>
            <a:cxnSpLocks/>
          </p:cNvCxnSpPr>
          <p:nvPr/>
        </p:nvCxnSpPr>
        <p:spPr>
          <a:xfrm>
            <a:off x="1509823" y="3471530"/>
            <a:ext cx="2541182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A0F0750-084A-4758-9594-C26DDD56035F}"/>
              </a:ext>
            </a:extLst>
          </p:cNvPr>
          <p:cNvSpPr txBox="1"/>
          <p:nvPr/>
        </p:nvSpPr>
        <p:spPr>
          <a:xfrm>
            <a:off x="1634083" y="30824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喂，听得到我说话吗？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6E5DBB4-715C-4E64-A79D-9C9091435040}"/>
              </a:ext>
            </a:extLst>
          </p:cNvPr>
          <p:cNvCxnSpPr>
            <a:cxnSpLocks/>
          </p:cNvCxnSpPr>
          <p:nvPr/>
        </p:nvCxnSpPr>
        <p:spPr>
          <a:xfrm flipH="1">
            <a:off x="1509823" y="4034673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4ADB362-73E4-476E-A4EE-7DAF71AC11A2}"/>
              </a:ext>
            </a:extLst>
          </p:cNvPr>
          <p:cNvSpPr txBox="1"/>
          <p:nvPr/>
        </p:nvSpPr>
        <p:spPr>
          <a:xfrm>
            <a:off x="1500549" y="3646073"/>
            <a:ext cx="255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听得到，你听得到我吗？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57A5A5F-8BE5-419D-87BA-39FFD69C6DAD}"/>
              </a:ext>
            </a:extLst>
          </p:cNvPr>
          <p:cNvSpPr txBox="1"/>
          <p:nvPr/>
        </p:nvSpPr>
        <p:spPr>
          <a:xfrm>
            <a:off x="1381797" y="4137174"/>
            <a:ext cx="273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听到了，我们可以说话了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8125DC9-79BD-440F-9E19-81B8C8294F8A}"/>
              </a:ext>
            </a:extLst>
          </p:cNvPr>
          <p:cNvCxnSpPr>
            <a:cxnSpLocks/>
          </p:cNvCxnSpPr>
          <p:nvPr/>
        </p:nvCxnSpPr>
        <p:spPr>
          <a:xfrm>
            <a:off x="1495078" y="4544877"/>
            <a:ext cx="2444285" cy="259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934F842-165F-4D67-9DF3-B34A1D78C518}"/>
              </a:ext>
            </a:extLst>
          </p:cNvPr>
          <p:cNvSpPr txBox="1"/>
          <p:nvPr/>
        </p:nvSpPr>
        <p:spPr>
          <a:xfrm>
            <a:off x="574229" y="4740710"/>
            <a:ext cx="6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34486F9-9658-4B65-A253-BA6AEB19DA57}"/>
              </a:ext>
            </a:extLst>
          </p:cNvPr>
          <p:cNvSpPr txBox="1"/>
          <p:nvPr/>
        </p:nvSpPr>
        <p:spPr>
          <a:xfrm>
            <a:off x="4253876" y="4631353"/>
            <a:ext cx="61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5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4" grpId="0" animBg="1"/>
      <p:bldP spid="33" grpId="0" animBg="1"/>
      <p:bldP spid="34" grpId="0"/>
      <p:bldP spid="41" grpId="0"/>
      <p:bldP spid="47" grpId="0" animBg="1"/>
      <p:bldP spid="59" grpId="0" animBg="1"/>
      <p:bldP spid="69" grpId="0" animBg="1"/>
      <p:bldP spid="70" grpId="0" animBg="1"/>
      <p:bldP spid="75" grpId="0" animBg="1"/>
      <p:bldP spid="3" grpId="0"/>
      <p:bldP spid="43" grpId="0"/>
      <p:bldP spid="48" grpId="0"/>
      <p:bldP spid="50" grpId="0" animBg="1"/>
      <p:bldP spid="35" grpId="0"/>
      <p:bldP spid="12" grpId="0"/>
      <p:bldP spid="42" grpId="0"/>
      <p:bldP spid="45" grpId="0"/>
      <p:bldP spid="23" grpId="0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596419-E1CC-47D1-8441-5C4EC0A8CB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96DEE77-E28B-4DA6-AD8F-C1A5825846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AF8DD959-B436-4C97-8109-1BA289FE0920}"/>
              </a:ext>
            </a:extLst>
          </p:cNvPr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B590B1-91D7-4E3D-9E8E-35DEBF85F72B}"/>
              </a:ext>
            </a:extLst>
          </p:cNvPr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E7BDF54A-C8CB-4C63-B504-2DC44829CFB7}"/>
              </a:ext>
            </a:extLst>
          </p:cNvPr>
          <p:cNvCxnSpPr>
            <a:cxnSpLocks/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B0D0B39-63C6-49A4-8A92-994FDDADC75C}"/>
              </a:ext>
            </a:extLst>
          </p:cNvPr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主动</a:t>
            </a: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1DD2B6A-F6C6-47AE-BA5D-D9391CE2773D}"/>
              </a:ext>
            </a:extLst>
          </p:cNvPr>
          <p:cNvCxnSpPr>
            <a:cxnSpLocks/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7CE9DA5-0BE2-46DC-9BA9-32D8B6BE658C}"/>
              </a:ext>
            </a:extLst>
          </p:cNvPr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被动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1A87C5-37BB-4E58-B874-D9A5979DAF5B}"/>
              </a:ext>
            </a:extLst>
          </p:cNvPr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2644CB3-9DFA-46E2-9832-8B0CEFCE8076}"/>
              </a:ext>
            </a:extLst>
          </p:cNvPr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009AFA4-FB38-44F5-9BD7-ED3F03ABD8BE}"/>
              </a:ext>
            </a:extLst>
          </p:cNvPr>
          <p:cNvCxnSpPr>
            <a:cxnSpLocks/>
          </p:cNvCxnSpPr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CD59234-EE84-4B74-9379-76D853206FF8}"/>
              </a:ext>
            </a:extLst>
          </p:cNvPr>
          <p:cNvCxnSpPr>
            <a:cxnSpLocks/>
          </p:cNvCxnSpPr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58274A95-53A7-465B-9E3A-4523A99EE8E8}"/>
              </a:ext>
            </a:extLst>
          </p:cNvPr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DF509E-0022-47FF-85F2-D235ED1F0DDA}"/>
              </a:ext>
            </a:extLst>
          </p:cNvPr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>
            <a:extLst>
              <a:ext uri="{FF2B5EF4-FFF2-40B4-BE49-F238E27FC236}">
                <a16:creationId xmlns:a16="http://schemas.microsoft.com/office/drawing/2014/main" id="{74A0DD62-9638-4443-B49F-424DBBFE6B08}"/>
              </a:ext>
            </a:extLst>
          </p:cNvPr>
          <p:cNvCxnSpPr>
            <a:cxnSpLocks/>
          </p:cNvCxnSpPr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58F48DC1-ECB0-44E7-96C1-8D07BB6115A3}"/>
              </a:ext>
            </a:extLst>
          </p:cNvPr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>
            <a:extLst>
              <a:ext uri="{FF2B5EF4-FFF2-40B4-BE49-F238E27FC236}">
                <a16:creationId xmlns:a16="http://schemas.microsoft.com/office/drawing/2014/main" id="{8252CFF7-D278-4E73-BBA0-D5EDB30626A6}"/>
              </a:ext>
            </a:extLst>
          </p:cNvPr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917DD33-18DC-472C-ADA2-A2453B36BF18}"/>
              </a:ext>
            </a:extLst>
          </p:cNvPr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6EAE513-E7A5-439C-B4BA-7E32677E0000}"/>
              </a:ext>
            </a:extLst>
          </p:cNvPr>
          <p:cNvSpPr txBox="1"/>
          <p:nvPr/>
        </p:nvSpPr>
        <p:spPr>
          <a:xfrm rot="786145">
            <a:off x="7379478" y="3145739"/>
            <a:ext cx="2241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ACK=0, seq=x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7BECDB-1D5D-46B5-BC13-D1FFA1D2041B}"/>
              </a:ext>
            </a:extLst>
          </p:cNvPr>
          <p:cNvSpPr txBox="1"/>
          <p:nvPr/>
        </p:nvSpPr>
        <p:spPr>
          <a:xfrm rot="20910729">
            <a:off x="6993880" y="3884456"/>
            <a:ext cx="2709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ACK=1, seq=y, ack=x+1</a:t>
            </a:r>
            <a:endParaRPr lang="zh-CN" alt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7846E78-F5B0-4271-9649-A8A21C12E92C}"/>
              </a:ext>
            </a:extLst>
          </p:cNvPr>
          <p:cNvSpPr txBox="1"/>
          <p:nvPr/>
        </p:nvSpPr>
        <p:spPr>
          <a:xfrm rot="768234">
            <a:off x="7540761" y="4499377"/>
            <a:ext cx="223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ACK=1, seq=x+1, ack=y+1</a:t>
            </a:r>
            <a:endParaRPr lang="zh-CN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2EC579-56AE-4255-A25C-056C7F1F5E62}"/>
              </a:ext>
            </a:extLst>
          </p:cNvPr>
          <p:cNvSpPr/>
          <p:nvPr/>
        </p:nvSpPr>
        <p:spPr>
          <a:xfrm>
            <a:off x="545120" y="1969631"/>
            <a:ext cx="4553365" cy="1249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：发送连接建立请求，SYN=1，ACK=0，Seq=x。SYN=1的报文段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不携带数据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，但要消耗掉一个序号。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069F61E-1380-4DA4-8AA4-EE3C2E181125}"/>
              </a:ext>
            </a:extLst>
          </p:cNvPr>
          <p:cNvSpPr/>
          <p:nvPr/>
        </p:nvSpPr>
        <p:spPr>
          <a:xfrm>
            <a:off x="523477" y="3341035"/>
            <a:ext cx="4633708" cy="1249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服务器端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：收到请求并同意，SYN=1，ACK=1，Seq=y, ack=x+1。该报文段也是SYN=1的报文段，不携带数据，但要消耗掉一个序号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4740E8-82D3-49C1-85E6-2FBCDABFDA71}"/>
              </a:ext>
            </a:extLst>
          </p:cNvPr>
          <p:cNvSpPr/>
          <p:nvPr/>
        </p:nvSpPr>
        <p:spPr>
          <a:xfrm>
            <a:off x="482314" y="4789440"/>
            <a:ext cx="4784521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：收到服务器的确认，并对此进行确认。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ACK=1, Seq=x+1, ack=y+1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C27B128-FF2A-40E8-AE44-DE56CBBE9189}"/>
              </a:ext>
            </a:extLst>
          </p:cNvPr>
          <p:cNvGrpSpPr/>
          <p:nvPr/>
        </p:nvGrpSpPr>
        <p:grpSpPr>
          <a:xfrm>
            <a:off x="436818" y="5868641"/>
            <a:ext cx="7312935" cy="823009"/>
            <a:chOff x="3105" y="8516"/>
            <a:chExt cx="13382" cy="1532"/>
          </a:xfrm>
        </p:grpSpPr>
        <p:pic>
          <p:nvPicPr>
            <p:cNvPr id="58" name="Picture 2">
              <a:extLst>
                <a:ext uri="{FF2B5EF4-FFF2-40B4-BE49-F238E27FC236}">
                  <a16:creationId xmlns:a16="http://schemas.microsoft.com/office/drawing/2014/main" id="{11A75203-665E-4265-98E9-5A2EF8D2F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4176" t="22581"/>
            <a:stretch>
              <a:fillRect/>
            </a:stretch>
          </p:blipFill>
          <p:spPr>
            <a:xfrm>
              <a:off x="3105" y="8516"/>
              <a:ext cx="13382" cy="15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D4EA175-DDE9-4192-BE4E-E2FB82650230}"/>
                </a:ext>
              </a:extLst>
            </p:cNvPr>
            <p:cNvSpPr/>
            <p:nvPr/>
          </p:nvSpPr>
          <p:spPr>
            <a:xfrm>
              <a:off x="7332" y="8643"/>
              <a:ext cx="1200" cy="4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8E34A54F-D068-4982-83F2-611EA540F55A}"/>
                </a:ext>
              </a:extLst>
            </p:cNvPr>
            <p:cNvSpPr/>
            <p:nvPr/>
          </p:nvSpPr>
          <p:spPr>
            <a:xfrm>
              <a:off x="9617" y="9091"/>
              <a:ext cx="1200" cy="4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8D8DC6BB-6098-449F-B079-93249088938A}"/>
                </a:ext>
              </a:extLst>
            </p:cNvPr>
            <p:cNvSpPr/>
            <p:nvPr/>
          </p:nvSpPr>
          <p:spPr>
            <a:xfrm>
              <a:off x="8360" y="9091"/>
              <a:ext cx="1200" cy="447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619820FA-4D92-438B-8E2F-CD9D25476ACA}"/>
                </a:ext>
              </a:extLst>
            </p:cNvPr>
            <p:cNvSpPr/>
            <p:nvPr/>
          </p:nvSpPr>
          <p:spPr>
            <a:xfrm>
              <a:off x="8532" y="9538"/>
              <a:ext cx="1200" cy="445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691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0" grpId="0" animBg="1"/>
      <p:bldP spid="35" grpId="0"/>
      <p:bldP spid="40" grpId="0"/>
      <p:bldP spid="44" grpId="0"/>
      <p:bldP spid="49" grpId="0"/>
      <p:bldP spid="53" grpId="0"/>
      <p:bldP spid="54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596419-E1CC-47D1-8441-5C4EC0A8CB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96DEE77-E28B-4DA6-AD8F-C1A5825846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AF8DD959-B436-4C97-8109-1BA289FE0920}"/>
              </a:ext>
            </a:extLst>
          </p:cNvPr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B590B1-91D7-4E3D-9E8E-35DEBF85F72B}"/>
              </a:ext>
            </a:extLst>
          </p:cNvPr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E7BDF54A-C8CB-4C63-B504-2DC44829CFB7}"/>
              </a:ext>
            </a:extLst>
          </p:cNvPr>
          <p:cNvCxnSpPr>
            <a:cxnSpLocks/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B0D0B39-63C6-49A4-8A92-994FDDADC75C}"/>
              </a:ext>
            </a:extLst>
          </p:cNvPr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主动</a:t>
            </a: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1DD2B6A-F6C6-47AE-BA5D-D9391CE2773D}"/>
              </a:ext>
            </a:extLst>
          </p:cNvPr>
          <p:cNvCxnSpPr>
            <a:cxnSpLocks/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7CE9DA5-0BE2-46DC-9BA9-32D8B6BE658C}"/>
              </a:ext>
            </a:extLst>
          </p:cNvPr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被动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1A87C5-37BB-4E58-B874-D9A5979DAF5B}"/>
              </a:ext>
            </a:extLst>
          </p:cNvPr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2644CB3-9DFA-46E2-9832-8B0CEFCE8076}"/>
              </a:ext>
            </a:extLst>
          </p:cNvPr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009AFA4-FB38-44F5-9BD7-ED3F03ABD8BE}"/>
              </a:ext>
            </a:extLst>
          </p:cNvPr>
          <p:cNvCxnSpPr>
            <a:cxnSpLocks/>
          </p:cNvCxnSpPr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CD59234-EE84-4B74-9379-76D853206FF8}"/>
              </a:ext>
            </a:extLst>
          </p:cNvPr>
          <p:cNvCxnSpPr>
            <a:cxnSpLocks/>
          </p:cNvCxnSpPr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58274A95-53A7-465B-9E3A-4523A99EE8E8}"/>
              </a:ext>
            </a:extLst>
          </p:cNvPr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DF509E-0022-47FF-85F2-D235ED1F0DDA}"/>
              </a:ext>
            </a:extLst>
          </p:cNvPr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>
            <a:extLst>
              <a:ext uri="{FF2B5EF4-FFF2-40B4-BE49-F238E27FC236}">
                <a16:creationId xmlns:a16="http://schemas.microsoft.com/office/drawing/2014/main" id="{74A0DD62-9638-4443-B49F-424DBBFE6B08}"/>
              </a:ext>
            </a:extLst>
          </p:cNvPr>
          <p:cNvCxnSpPr>
            <a:cxnSpLocks/>
          </p:cNvCxnSpPr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58F48DC1-ECB0-44E7-96C1-8D07BB6115A3}"/>
              </a:ext>
            </a:extLst>
          </p:cNvPr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>
            <a:extLst>
              <a:ext uri="{FF2B5EF4-FFF2-40B4-BE49-F238E27FC236}">
                <a16:creationId xmlns:a16="http://schemas.microsoft.com/office/drawing/2014/main" id="{8252CFF7-D278-4E73-BBA0-D5EDB30626A6}"/>
              </a:ext>
            </a:extLst>
          </p:cNvPr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917DD33-18DC-472C-ADA2-A2453B36BF18}"/>
              </a:ext>
            </a:extLst>
          </p:cNvPr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6EAE513-E7A5-439C-B4BA-7E32677E0000}"/>
              </a:ext>
            </a:extLst>
          </p:cNvPr>
          <p:cNvSpPr txBox="1"/>
          <p:nvPr/>
        </p:nvSpPr>
        <p:spPr>
          <a:xfrm rot="786145">
            <a:off x="7379478" y="3145739"/>
            <a:ext cx="2241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ACK=0, seq=x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7BECDB-1D5D-46B5-BC13-D1FFA1D2041B}"/>
              </a:ext>
            </a:extLst>
          </p:cNvPr>
          <p:cNvSpPr txBox="1"/>
          <p:nvPr/>
        </p:nvSpPr>
        <p:spPr>
          <a:xfrm rot="20910729">
            <a:off x="6993880" y="3884456"/>
            <a:ext cx="2709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ACK=1, seq=y, ack=x+1</a:t>
            </a:r>
            <a:endParaRPr lang="zh-CN" alt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7846E78-F5B0-4271-9649-A8A21C12E92C}"/>
              </a:ext>
            </a:extLst>
          </p:cNvPr>
          <p:cNvSpPr txBox="1"/>
          <p:nvPr/>
        </p:nvSpPr>
        <p:spPr>
          <a:xfrm rot="699247">
            <a:off x="7557187" y="4514945"/>
            <a:ext cx="223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ACK=1, seq=x+1, ack=y+1</a:t>
            </a:r>
            <a:endParaRPr lang="zh-CN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8B82F-E642-41AC-9273-6977A2FCD524}"/>
              </a:ext>
            </a:extLst>
          </p:cNvPr>
          <p:cNvSpPr txBox="1"/>
          <p:nvPr/>
        </p:nvSpPr>
        <p:spPr>
          <a:xfrm>
            <a:off x="1090567" y="2245047"/>
            <a:ext cx="4007918" cy="8811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为什么要三次握手？一次、两次、四次行不行？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4B7872-AD21-4E27-95EE-5F5ECBCB50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1496" y="2237115"/>
            <a:ext cx="889071" cy="8890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274695-59A5-4D29-B79E-1526F0C5E8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26" y="3506775"/>
            <a:ext cx="889071" cy="889071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C3DAB27-8C7F-44EC-A124-07572AFEBCB3}"/>
              </a:ext>
            </a:extLst>
          </p:cNvPr>
          <p:cNvSpPr txBox="1"/>
          <p:nvPr/>
        </p:nvSpPr>
        <p:spPr>
          <a:xfrm>
            <a:off x="1090567" y="3502866"/>
            <a:ext cx="4007918" cy="881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BD9BB440-72B5-4F47-AECE-562313081C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26" y="4764594"/>
            <a:ext cx="889071" cy="889071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83CED81-8F3D-42AA-89DA-8F92E1CA42BA}"/>
              </a:ext>
            </a:extLst>
          </p:cNvPr>
          <p:cNvSpPr txBox="1"/>
          <p:nvPr/>
        </p:nvSpPr>
        <p:spPr>
          <a:xfrm>
            <a:off x="1090567" y="4760685"/>
            <a:ext cx="4007918" cy="8583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初始序列号为什么要动态随机选取而不能固定不变？</a:t>
            </a:r>
          </a:p>
        </p:txBody>
      </p:sp>
    </p:spTree>
    <p:extLst>
      <p:ext uri="{BB962C8B-B14F-4D97-AF65-F5344CB8AC3E}">
        <p14:creationId xmlns:p14="http://schemas.microsoft.com/office/powerpoint/2010/main" val="265489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4" grpId="0" animBg="1"/>
      <p:bldP spid="33" grpId="0" animBg="1"/>
      <p:bldP spid="34" grpId="0"/>
      <p:bldP spid="41" grpId="0"/>
      <p:bldP spid="47" grpId="0" animBg="1"/>
      <p:bldP spid="59" grpId="0" animBg="1"/>
      <p:bldP spid="69" grpId="0" animBg="1"/>
      <p:bldP spid="70" grpId="0" animBg="1"/>
      <p:bldP spid="75" grpId="0" animBg="1"/>
      <p:bldP spid="50" grpId="0" animBg="1"/>
      <p:bldP spid="35" grpId="0"/>
      <p:bldP spid="40" grpId="0"/>
      <p:bldP spid="44" grpId="0"/>
      <p:bldP spid="49" grpId="0"/>
      <p:bldP spid="52" grpId="0"/>
      <p:bldP spid="3" grpId="0" animBg="1"/>
      <p:bldP spid="39" grpId="0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连接释放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57C089B9-DF25-484C-BD94-D5FDB445D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940063"/>
            <a:ext cx="702495" cy="702495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C5EF6A0-772C-4D9E-B27A-355837F83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940063"/>
            <a:ext cx="715579" cy="715579"/>
          </a:xfrm>
          <a:prstGeom prst="rect">
            <a:avLst/>
          </a:prstGeom>
        </p:spPr>
      </p:pic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759578CF-98EA-4D75-A637-655BD46B6E39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 flipV="1">
            <a:off x="5637050" y="1291311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4093471-5728-4662-AF70-634A7868E9CF}"/>
              </a:ext>
            </a:extLst>
          </p:cNvPr>
          <p:cNvSpPr txBox="1"/>
          <p:nvPr/>
        </p:nvSpPr>
        <p:spPr>
          <a:xfrm>
            <a:off x="5098485" y="1610657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主动</a:t>
            </a: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3C69F232-4090-4C3C-B3F7-2F454E7392BC}"/>
              </a:ext>
            </a:extLst>
          </p:cNvPr>
          <p:cNvCxnSpPr>
            <a:cxnSpLocks/>
            <a:stCxn id="82" idx="3"/>
            <a:endCxn id="108" idx="3"/>
          </p:cNvCxnSpPr>
          <p:nvPr/>
        </p:nvCxnSpPr>
        <p:spPr>
          <a:xfrm>
            <a:off x="11131227" y="1297853"/>
            <a:ext cx="348158" cy="2407648"/>
          </a:xfrm>
          <a:prstGeom prst="bentConnector3">
            <a:avLst>
              <a:gd name="adj1" fmla="val 16566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E7616CD9-CD8F-4A90-8D13-58658FD06929}"/>
              </a:ext>
            </a:extLst>
          </p:cNvPr>
          <p:cNvSpPr txBox="1"/>
          <p:nvPr/>
        </p:nvSpPr>
        <p:spPr>
          <a:xfrm>
            <a:off x="11425869" y="245221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被动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2F1279-78A6-4620-B07A-AA759DD78E9B}"/>
              </a:ext>
            </a:extLst>
          </p:cNvPr>
          <p:cNvSpPr/>
          <p:nvPr/>
        </p:nvSpPr>
        <p:spPr>
          <a:xfrm>
            <a:off x="5712213" y="1974008"/>
            <a:ext cx="1394163" cy="7024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7E1D709-04FC-4EAB-82AD-2DD4F299E2E3}"/>
              </a:ext>
            </a:extLst>
          </p:cNvPr>
          <p:cNvSpPr/>
          <p:nvPr/>
        </p:nvSpPr>
        <p:spPr>
          <a:xfrm>
            <a:off x="10080940" y="1974008"/>
            <a:ext cx="1394163" cy="12263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箭头: 左右 96">
            <a:extLst>
              <a:ext uri="{FF2B5EF4-FFF2-40B4-BE49-F238E27FC236}">
                <a16:creationId xmlns:a16="http://schemas.microsoft.com/office/drawing/2014/main" id="{5E8E79F6-B63F-40C4-9762-0F88432CCE8A}"/>
              </a:ext>
            </a:extLst>
          </p:cNvPr>
          <p:cNvSpPr/>
          <p:nvPr/>
        </p:nvSpPr>
        <p:spPr>
          <a:xfrm>
            <a:off x="7133941" y="2046713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21A9F73-204D-4803-891B-50E1B42F1701}"/>
              </a:ext>
            </a:extLst>
          </p:cNvPr>
          <p:cNvSpPr txBox="1"/>
          <p:nvPr/>
        </p:nvSpPr>
        <p:spPr>
          <a:xfrm>
            <a:off x="7988094" y="200550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cxnSp>
        <p:nvCxnSpPr>
          <p:cNvPr id="13324" name="直接箭头连接符 13323">
            <a:extLst>
              <a:ext uri="{FF2B5EF4-FFF2-40B4-BE49-F238E27FC236}">
                <a16:creationId xmlns:a16="http://schemas.microsoft.com/office/drawing/2014/main" id="{4A788528-1637-49B6-B3B4-AEF2159774B4}"/>
              </a:ext>
            </a:extLst>
          </p:cNvPr>
          <p:cNvCxnSpPr/>
          <p:nvPr/>
        </p:nvCxnSpPr>
        <p:spPr>
          <a:xfrm>
            <a:off x="7106376" y="2636880"/>
            <a:ext cx="2974564" cy="56352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E3301AA2-7E8D-4772-83F7-E7AC79551720}"/>
              </a:ext>
            </a:extLst>
          </p:cNvPr>
          <p:cNvSpPr/>
          <p:nvPr/>
        </p:nvSpPr>
        <p:spPr>
          <a:xfrm>
            <a:off x="5707932" y="2695946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FIN-WAIT-1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26" name="直接箭头连接符 13325">
            <a:extLst>
              <a:ext uri="{FF2B5EF4-FFF2-40B4-BE49-F238E27FC236}">
                <a16:creationId xmlns:a16="http://schemas.microsoft.com/office/drawing/2014/main" id="{4668F83B-0DAB-4EC3-BF15-204A8265CC1C}"/>
              </a:ext>
            </a:extLst>
          </p:cNvPr>
          <p:cNvCxnSpPr/>
          <p:nvPr/>
        </p:nvCxnSpPr>
        <p:spPr>
          <a:xfrm flipH="1">
            <a:off x="7133941" y="3200401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AD74004-EB97-4B1C-A0C9-790306B9FE71}"/>
              </a:ext>
            </a:extLst>
          </p:cNvPr>
          <p:cNvSpPr/>
          <p:nvPr/>
        </p:nvSpPr>
        <p:spPr>
          <a:xfrm>
            <a:off x="5707931" y="3967480"/>
            <a:ext cx="1402726" cy="9557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FIN-WAIT-2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21C9D83-70D2-4923-A0E4-A56EC713198B}"/>
              </a:ext>
            </a:extLst>
          </p:cNvPr>
          <p:cNvSpPr/>
          <p:nvPr/>
        </p:nvSpPr>
        <p:spPr>
          <a:xfrm>
            <a:off x="10076659" y="3225096"/>
            <a:ext cx="1402726" cy="9608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CLOSE-WAIT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28" name="箭头: 左 13327">
            <a:extLst>
              <a:ext uri="{FF2B5EF4-FFF2-40B4-BE49-F238E27FC236}">
                <a16:creationId xmlns:a16="http://schemas.microsoft.com/office/drawing/2014/main" id="{B3F2F0F7-D0DB-44FF-9F2E-2DB4D7BBAC9F}"/>
              </a:ext>
            </a:extLst>
          </p:cNvPr>
          <p:cNvSpPr/>
          <p:nvPr/>
        </p:nvSpPr>
        <p:spPr>
          <a:xfrm rot="20693636">
            <a:off x="7850850" y="3766496"/>
            <a:ext cx="1717159" cy="416580"/>
          </a:xfrm>
          <a:prstGeom prst="leftArrow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AEA3EFD-24F5-4AFB-AA76-AE92E233890F}"/>
              </a:ext>
            </a:extLst>
          </p:cNvPr>
          <p:cNvSpPr txBox="1"/>
          <p:nvPr/>
        </p:nvSpPr>
        <p:spPr>
          <a:xfrm rot="20697877">
            <a:off x="8181390" y="3737997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253D705-75F3-4D09-8301-C764B76AC160}"/>
              </a:ext>
            </a:extLst>
          </p:cNvPr>
          <p:cNvCxnSpPr/>
          <p:nvPr/>
        </p:nvCxnSpPr>
        <p:spPr>
          <a:xfrm flipH="1">
            <a:off x="7133940" y="4175554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DEE73CA1-C53C-4B2B-8E12-03EAE59CAB26}"/>
              </a:ext>
            </a:extLst>
          </p:cNvPr>
          <p:cNvSpPr/>
          <p:nvPr/>
        </p:nvSpPr>
        <p:spPr>
          <a:xfrm>
            <a:off x="5707931" y="4942633"/>
            <a:ext cx="1402726" cy="9557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TIME-WAIT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(2MSL)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402B1B3-BB5E-4F91-BA63-4C9B473D0590}"/>
              </a:ext>
            </a:extLst>
          </p:cNvPr>
          <p:cNvSpPr/>
          <p:nvPr/>
        </p:nvSpPr>
        <p:spPr>
          <a:xfrm>
            <a:off x="10085727" y="420893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LAST-ACK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6251CCC-90E6-49B4-AB84-1BFE5A189EE7}"/>
              </a:ext>
            </a:extLst>
          </p:cNvPr>
          <p:cNvCxnSpPr>
            <a:cxnSpLocks/>
          </p:cNvCxnSpPr>
          <p:nvPr/>
        </p:nvCxnSpPr>
        <p:spPr>
          <a:xfrm>
            <a:off x="7133940" y="4970803"/>
            <a:ext cx="2951787" cy="490227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35D455DF-C372-43EC-83B0-1D9F8ABC2891}"/>
              </a:ext>
            </a:extLst>
          </p:cNvPr>
          <p:cNvSpPr/>
          <p:nvPr/>
        </p:nvSpPr>
        <p:spPr>
          <a:xfrm>
            <a:off x="10085727" y="5486613"/>
            <a:ext cx="1402726" cy="955710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3394CF1-681F-4BC7-93C7-7AAF7CD27564}"/>
              </a:ext>
            </a:extLst>
          </p:cNvPr>
          <p:cNvSpPr/>
          <p:nvPr/>
        </p:nvSpPr>
        <p:spPr>
          <a:xfrm>
            <a:off x="5707931" y="5917786"/>
            <a:ext cx="1402726" cy="524537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箭头: 左右 118">
            <a:extLst>
              <a:ext uri="{FF2B5EF4-FFF2-40B4-BE49-F238E27FC236}">
                <a16:creationId xmlns:a16="http://schemas.microsoft.com/office/drawing/2014/main" id="{C37BB5E2-73C6-4C66-AB90-C9EEA5F142E1}"/>
              </a:ext>
            </a:extLst>
          </p:cNvPr>
          <p:cNvSpPr/>
          <p:nvPr/>
        </p:nvSpPr>
        <p:spPr>
          <a:xfrm>
            <a:off x="7147722" y="6000603"/>
            <a:ext cx="2919434" cy="358902"/>
          </a:xfrm>
          <a:prstGeom prst="leftRightArrow">
            <a:avLst/>
          </a:prstGeom>
          <a:solidFill>
            <a:srgbClr val="CC66FF">
              <a:alpha val="62000"/>
            </a:srgbClr>
          </a:solidFill>
          <a:ln>
            <a:solidFill>
              <a:srgbClr val="CC66FF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A6EB688-C8A7-4E89-B43C-C7DE9E87A774}"/>
              </a:ext>
            </a:extLst>
          </p:cNvPr>
          <p:cNvSpPr txBox="1"/>
          <p:nvPr/>
        </p:nvSpPr>
        <p:spPr>
          <a:xfrm>
            <a:off x="7969381" y="595939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断开连接</a:t>
            </a: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68701F5F-F3AC-4155-9B34-38596BEF5B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838" y="3359860"/>
            <a:ext cx="1257576" cy="1257576"/>
          </a:xfrm>
          <a:prstGeom prst="rect">
            <a:avLst/>
          </a:prstGeom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8EF4D31E-E407-4825-A2EA-4ED2EA6E2B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3646" y="3258581"/>
            <a:ext cx="1358855" cy="1358855"/>
          </a:xfrm>
          <a:prstGeom prst="rect">
            <a:avLst/>
          </a:prstGeom>
        </p:spPr>
      </p:pic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DE992995-09C3-40B9-8786-8BEBA97CB9D0}"/>
              </a:ext>
            </a:extLst>
          </p:cNvPr>
          <p:cNvCxnSpPr>
            <a:cxnSpLocks/>
          </p:cNvCxnSpPr>
          <p:nvPr/>
        </p:nvCxnSpPr>
        <p:spPr>
          <a:xfrm>
            <a:off x="1509823" y="3471530"/>
            <a:ext cx="2541182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B71CFF-7797-4E8F-A2D6-0993B9FF75C0}"/>
              </a:ext>
            </a:extLst>
          </p:cNvPr>
          <p:cNvSpPr txBox="1"/>
          <p:nvPr/>
        </p:nvSpPr>
        <p:spPr>
          <a:xfrm>
            <a:off x="1634083" y="30824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Hi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，我有事下回聊</a:t>
            </a: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9A094066-D9D0-418E-92C3-D482D532EF62}"/>
              </a:ext>
            </a:extLst>
          </p:cNvPr>
          <p:cNvCxnSpPr>
            <a:cxnSpLocks/>
          </p:cNvCxnSpPr>
          <p:nvPr/>
        </p:nvCxnSpPr>
        <p:spPr>
          <a:xfrm flipH="1">
            <a:off x="1509823" y="3868425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F8042A18-3AFE-458B-A0EA-2902A4729A8A}"/>
              </a:ext>
            </a:extLst>
          </p:cNvPr>
          <p:cNvSpPr txBox="1"/>
          <p:nvPr/>
        </p:nvSpPr>
        <p:spPr>
          <a:xfrm>
            <a:off x="1634083" y="3479825"/>
            <a:ext cx="232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好的，你先忙</a:t>
            </a: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4A1CDF47-8A50-4693-BCCB-8503367CA449}"/>
              </a:ext>
            </a:extLst>
          </p:cNvPr>
          <p:cNvCxnSpPr>
            <a:cxnSpLocks/>
          </p:cNvCxnSpPr>
          <p:nvPr/>
        </p:nvCxnSpPr>
        <p:spPr>
          <a:xfrm>
            <a:off x="1509823" y="4776719"/>
            <a:ext cx="2444285" cy="259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B9D9234-E770-45B8-ADB7-A723F079B7C3}"/>
              </a:ext>
            </a:extLst>
          </p:cNvPr>
          <p:cNvSpPr txBox="1"/>
          <p:nvPr/>
        </p:nvSpPr>
        <p:spPr>
          <a:xfrm>
            <a:off x="574229" y="4740710"/>
            <a:ext cx="6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50F4E60-24AB-4F65-AFB6-1104F9EB202E}"/>
              </a:ext>
            </a:extLst>
          </p:cNvPr>
          <p:cNvSpPr txBox="1"/>
          <p:nvPr/>
        </p:nvSpPr>
        <p:spPr>
          <a:xfrm>
            <a:off x="4253876" y="4631353"/>
            <a:ext cx="61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356F9FF-2D62-4CD9-A090-BEA4D9F4446B}"/>
              </a:ext>
            </a:extLst>
          </p:cNvPr>
          <p:cNvCxnSpPr>
            <a:cxnSpLocks/>
          </p:cNvCxnSpPr>
          <p:nvPr/>
        </p:nvCxnSpPr>
        <p:spPr>
          <a:xfrm flipH="1">
            <a:off x="1523505" y="4369548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DE3DE887-EC5B-49F4-9CEB-63A348EB770B}"/>
              </a:ext>
            </a:extLst>
          </p:cNvPr>
          <p:cNvSpPr txBox="1"/>
          <p:nvPr/>
        </p:nvSpPr>
        <p:spPr>
          <a:xfrm>
            <a:off x="1634083" y="4001240"/>
            <a:ext cx="232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我有事也要先撤啦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4BED18A-3132-435E-890B-B44C5D0D98CA}"/>
              </a:ext>
            </a:extLst>
          </p:cNvPr>
          <p:cNvSpPr txBox="1"/>
          <p:nvPr/>
        </p:nvSpPr>
        <p:spPr>
          <a:xfrm>
            <a:off x="1634082" y="43936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好的，下回聊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7B01A-B686-4A6A-8890-F0D647F00D63}"/>
              </a:ext>
            </a:extLst>
          </p:cNvPr>
          <p:cNvSpPr txBox="1"/>
          <p:nvPr/>
        </p:nvSpPr>
        <p:spPr>
          <a:xfrm rot="634458">
            <a:off x="7662571" y="2564923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客户机请求释放连接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742A3D5-8C51-4648-A783-1DF7D2943D78}"/>
              </a:ext>
            </a:extLst>
          </p:cNvPr>
          <p:cNvSpPr txBox="1"/>
          <p:nvPr/>
        </p:nvSpPr>
        <p:spPr>
          <a:xfrm rot="20773660">
            <a:off x="7166378" y="3281507"/>
            <a:ext cx="226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服务器同意释放连接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D078905-A8C7-4540-9FBE-A93255B0CAD0}"/>
              </a:ext>
            </a:extLst>
          </p:cNvPr>
          <p:cNvSpPr txBox="1"/>
          <p:nvPr/>
        </p:nvSpPr>
        <p:spPr>
          <a:xfrm rot="20765169">
            <a:off x="7486611" y="4174257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服务器请求释放连接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485250E-74A9-41F5-B5A3-957DC594DCFE}"/>
              </a:ext>
            </a:extLst>
          </p:cNvPr>
          <p:cNvSpPr txBox="1"/>
          <p:nvPr/>
        </p:nvSpPr>
        <p:spPr>
          <a:xfrm rot="589296">
            <a:off x="7861921" y="4899230"/>
            <a:ext cx="225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客户机同意释放连接</a:t>
            </a:r>
          </a:p>
        </p:txBody>
      </p:sp>
    </p:spTree>
    <p:extLst>
      <p:ext uri="{BB962C8B-B14F-4D97-AF65-F5344CB8AC3E}">
        <p14:creationId xmlns:p14="http://schemas.microsoft.com/office/powerpoint/2010/main" val="21856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6" grpId="0"/>
      <p:bldP spid="88" grpId="0"/>
      <p:bldP spid="93" grpId="0" animBg="1"/>
      <p:bldP spid="96" grpId="0" animBg="1"/>
      <p:bldP spid="97" grpId="0" animBg="1"/>
      <p:bldP spid="98" grpId="0"/>
      <p:bldP spid="104" grpId="0" animBg="1"/>
      <p:bldP spid="107" grpId="0" animBg="1"/>
      <p:bldP spid="108" grpId="0" animBg="1"/>
      <p:bldP spid="13328" grpId="0" animBg="1"/>
      <p:bldP spid="111" grpId="0"/>
      <p:bldP spid="113" grpId="0" animBg="1"/>
      <p:bldP spid="114" grpId="0" animBg="1"/>
      <p:bldP spid="117" grpId="0" animBg="1"/>
      <p:bldP spid="118" grpId="0" animBg="1"/>
      <p:bldP spid="119" grpId="0" animBg="1"/>
      <p:bldP spid="120" grpId="0"/>
      <p:bldP spid="124" grpId="0"/>
      <p:bldP spid="126" grpId="0"/>
      <p:bldP spid="129" grpId="0"/>
      <p:bldP spid="130" grpId="0"/>
      <p:bldP spid="45" grpId="0"/>
      <p:bldP spid="46" grpId="0"/>
      <p:bldP spid="3" grpId="0"/>
      <p:bldP spid="48" grpId="0"/>
      <p:bldP spid="49" grpId="0"/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连接释放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57C089B9-DF25-484C-BD94-D5FDB445D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940063"/>
            <a:ext cx="702495" cy="702495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C5EF6A0-772C-4D9E-B27A-355837F83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940063"/>
            <a:ext cx="715579" cy="715579"/>
          </a:xfrm>
          <a:prstGeom prst="rect">
            <a:avLst/>
          </a:prstGeom>
        </p:spPr>
      </p:pic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759578CF-98EA-4D75-A637-655BD46B6E39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 flipV="1">
            <a:off x="5637050" y="1291311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4093471-5728-4662-AF70-634A7868E9CF}"/>
              </a:ext>
            </a:extLst>
          </p:cNvPr>
          <p:cNvSpPr txBox="1"/>
          <p:nvPr/>
        </p:nvSpPr>
        <p:spPr>
          <a:xfrm>
            <a:off x="5098485" y="1610657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主动</a:t>
            </a: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3C69F232-4090-4C3C-B3F7-2F454E7392BC}"/>
              </a:ext>
            </a:extLst>
          </p:cNvPr>
          <p:cNvCxnSpPr>
            <a:cxnSpLocks/>
            <a:stCxn id="82" idx="3"/>
            <a:endCxn id="108" idx="3"/>
          </p:cNvCxnSpPr>
          <p:nvPr/>
        </p:nvCxnSpPr>
        <p:spPr>
          <a:xfrm>
            <a:off x="11131227" y="1297853"/>
            <a:ext cx="348158" cy="2407648"/>
          </a:xfrm>
          <a:prstGeom prst="bentConnector3">
            <a:avLst>
              <a:gd name="adj1" fmla="val 16566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E7616CD9-CD8F-4A90-8D13-58658FD06929}"/>
              </a:ext>
            </a:extLst>
          </p:cNvPr>
          <p:cNvSpPr txBox="1"/>
          <p:nvPr/>
        </p:nvSpPr>
        <p:spPr>
          <a:xfrm>
            <a:off x="11425869" y="245221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被动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2F1279-78A6-4620-B07A-AA759DD78E9B}"/>
              </a:ext>
            </a:extLst>
          </p:cNvPr>
          <p:cNvSpPr/>
          <p:nvPr/>
        </p:nvSpPr>
        <p:spPr>
          <a:xfrm>
            <a:off x="5712213" y="1974008"/>
            <a:ext cx="1394163" cy="7024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7E1D709-04FC-4EAB-82AD-2DD4F299E2E3}"/>
              </a:ext>
            </a:extLst>
          </p:cNvPr>
          <p:cNvSpPr/>
          <p:nvPr/>
        </p:nvSpPr>
        <p:spPr>
          <a:xfrm>
            <a:off x="10080940" y="1974008"/>
            <a:ext cx="1394163" cy="12263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箭头: 左右 96">
            <a:extLst>
              <a:ext uri="{FF2B5EF4-FFF2-40B4-BE49-F238E27FC236}">
                <a16:creationId xmlns:a16="http://schemas.microsoft.com/office/drawing/2014/main" id="{5E8E79F6-B63F-40C4-9762-0F88432CCE8A}"/>
              </a:ext>
            </a:extLst>
          </p:cNvPr>
          <p:cNvSpPr/>
          <p:nvPr/>
        </p:nvSpPr>
        <p:spPr>
          <a:xfrm>
            <a:off x="7133941" y="2046713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21A9F73-204D-4803-891B-50E1B42F1701}"/>
              </a:ext>
            </a:extLst>
          </p:cNvPr>
          <p:cNvSpPr txBox="1"/>
          <p:nvPr/>
        </p:nvSpPr>
        <p:spPr>
          <a:xfrm>
            <a:off x="7988094" y="200550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cxnSp>
        <p:nvCxnSpPr>
          <p:cNvPr id="13324" name="直接箭头连接符 13323">
            <a:extLst>
              <a:ext uri="{FF2B5EF4-FFF2-40B4-BE49-F238E27FC236}">
                <a16:creationId xmlns:a16="http://schemas.microsoft.com/office/drawing/2014/main" id="{4A788528-1637-49B6-B3B4-AEF2159774B4}"/>
              </a:ext>
            </a:extLst>
          </p:cNvPr>
          <p:cNvCxnSpPr/>
          <p:nvPr/>
        </p:nvCxnSpPr>
        <p:spPr>
          <a:xfrm>
            <a:off x="7106376" y="2636880"/>
            <a:ext cx="2974564" cy="56352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E3301AA2-7E8D-4772-83F7-E7AC79551720}"/>
              </a:ext>
            </a:extLst>
          </p:cNvPr>
          <p:cNvSpPr/>
          <p:nvPr/>
        </p:nvSpPr>
        <p:spPr>
          <a:xfrm>
            <a:off x="5707932" y="2695946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FIN-WAIT-1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26" name="直接箭头连接符 13325">
            <a:extLst>
              <a:ext uri="{FF2B5EF4-FFF2-40B4-BE49-F238E27FC236}">
                <a16:creationId xmlns:a16="http://schemas.microsoft.com/office/drawing/2014/main" id="{4668F83B-0DAB-4EC3-BF15-204A8265CC1C}"/>
              </a:ext>
            </a:extLst>
          </p:cNvPr>
          <p:cNvCxnSpPr/>
          <p:nvPr/>
        </p:nvCxnSpPr>
        <p:spPr>
          <a:xfrm flipH="1">
            <a:off x="7133941" y="3200401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AD74004-EB97-4B1C-A0C9-790306B9FE71}"/>
              </a:ext>
            </a:extLst>
          </p:cNvPr>
          <p:cNvSpPr/>
          <p:nvPr/>
        </p:nvSpPr>
        <p:spPr>
          <a:xfrm>
            <a:off x="5707931" y="3967480"/>
            <a:ext cx="1402726" cy="9557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FIN-WAIT-2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21C9D83-70D2-4923-A0E4-A56EC713198B}"/>
              </a:ext>
            </a:extLst>
          </p:cNvPr>
          <p:cNvSpPr/>
          <p:nvPr/>
        </p:nvSpPr>
        <p:spPr>
          <a:xfrm>
            <a:off x="10076659" y="3225096"/>
            <a:ext cx="1402726" cy="9608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CLOSE-WAIT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28" name="箭头: 左 13327">
            <a:extLst>
              <a:ext uri="{FF2B5EF4-FFF2-40B4-BE49-F238E27FC236}">
                <a16:creationId xmlns:a16="http://schemas.microsoft.com/office/drawing/2014/main" id="{B3F2F0F7-D0DB-44FF-9F2E-2DB4D7BBAC9F}"/>
              </a:ext>
            </a:extLst>
          </p:cNvPr>
          <p:cNvSpPr/>
          <p:nvPr/>
        </p:nvSpPr>
        <p:spPr>
          <a:xfrm rot="20693636">
            <a:off x="7850850" y="3766496"/>
            <a:ext cx="1717159" cy="416580"/>
          </a:xfrm>
          <a:prstGeom prst="leftArrow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AEA3EFD-24F5-4AFB-AA76-AE92E233890F}"/>
              </a:ext>
            </a:extLst>
          </p:cNvPr>
          <p:cNvSpPr txBox="1"/>
          <p:nvPr/>
        </p:nvSpPr>
        <p:spPr>
          <a:xfrm rot="20697877">
            <a:off x="8181390" y="3737997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数据传输</a:t>
            </a: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253D705-75F3-4D09-8301-C764B76AC160}"/>
              </a:ext>
            </a:extLst>
          </p:cNvPr>
          <p:cNvCxnSpPr/>
          <p:nvPr/>
        </p:nvCxnSpPr>
        <p:spPr>
          <a:xfrm flipH="1">
            <a:off x="7133940" y="4175554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DEE73CA1-C53C-4B2B-8E12-03EAE59CAB26}"/>
              </a:ext>
            </a:extLst>
          </p:cNvPr>
          <p:cNvSpPr/>
          <p:nvPr/>
        </p:nvSpPr>
        <p:spPr>
          <a:xfrm>
            <a:off x="5707931" y="4942633"/>
            <a:ext cx="1402726" cy="9557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TIME-WAIT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(2MSL)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402B1B3-BB5E-4F91-BA63-4C9B473D0590}"/>
              </a:ext>
            </a:extLst>
          </p:cNvPr>
          <p:cNvSpPr/>
          <p:nvPr/>
        </p:nvSpPr>
        <p:spPr>
          <a:xfrm>
            <a:off x="10085727" y="420893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LAST-ACK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6251CCC-90E6-49B4-AB84-1BFE5A189EE7}"/>
              </a:ext>
            </a:extLst>
          </p:cNvPr>
          <p:cNvCxnSpPr>
            <a:cxnSpLocks/>
          </p:cNvCxnSpPr>
          <p:nvPr/>
        </p:nvCxnSpPr>
        <p:spPr>
          <a:xfrm>
            <a:off x="7133940" y="4970803"/>
            <a:ext cx="2951787" cy="490227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35D455DF-C372-43EC-83B0-1D9F8ABC2891}"/>
              </a:ext>
            </a:extLst>
          </p:cNvPr>
          <p:cNvSpPr/>
          <p:nvPr/>
        </p:nvSpPr>
        <p:spPr>
          <a:xfrm>
            <a:off x="10085727" y="5486613"/>
            <a:ext cx="1402726" cy="955710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3394CF1-681F-4BC7-93C7-7AAF7CD27564}"/>
              </a:ext>
            </a:extLst>
          </p:cNvPr>
          <p:cNvSpPr/>
          <p:nvPr/>
        </p:nvSpPr>
        <p:spPr>
          <a:xfrm>
            <a:off x="5707931" y="5917786"/>
            <a:ext cx="1402726" cy="524537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箭头: 左右 118">
            <a:extLst>
              <a:ext uri="{FF2B5EF4-FFF2-40B4-BE49-F238E27FC236}">
                <a16:creationId xmlns:a16="http://schemas.microsoft.com/office/drawing/2014/main" id="{C37BB5E2-73C6-4C66-AB90-C9EEA5F142E1}"/>
              </a:ext>
            </a:extLst>
          </p:cNvPr>
          <p:cNvSpPr/>
          <p:nvPr/>
        </p:nvSpPr>
        <p:spPr>
          <a:xfrm>
            <a:off x="7147722" y="6000603"/>
            <a:ext cx="2919434" cy="358902"/>
          </a:xfrm>
          <a:prstGeom prst="leftRightArrow">
            <a:avLst/>
          </a:prstGeom>
          <a:solidFill>
            <a:srgbClr val="CC66FF">
              <a:alpha val="62000"/>
            </a:srgbClr>
          </a:solidFill>
          <a:ln>
            <a:solidFill>
              <a:srgbClr val="CC66FF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A6EB688-C8A7-4E89-B43C-C7DE9E87A774}"/>
              </a:ext>
            </a:extLst>
          </p:cNvPr>
          <p:cNvSpPr txBox="1"/>
          <p:nvPr/>
        </p:nvSpPr>
        <p:spPr>
          <a:xfrm>
            <a:off x="7969381" y="595939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断开连接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7B01A-B686-4A6A-8890-F0D647F00D63}"/>
              </a:ext>
            </a:extLst>
          </p:cNvPr>
          <p:cNvSpPr txBox="1"/>
          <p:nvPr/>
        </p:nvSpPr>
        <p:spPr>
          <a:xfrm rot="634458">
            <a:off x="7662571" y="2564923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FIN=1, seq=u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742A3D5-8C51-4648-A783-1DF7D2943D78}"/>
              </a:ext>
            </a:extLst>
          </p:cNvPr>
          <p:cNvSpPr txBox="1"/>
          <p:nvPr/>
        </p:nvSpPr>
        <p:spPr>
          <a:xfrm rot="20773660">
            <a:off x="7163753" y="3275161"/>
            <a:ext cx="2452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ACK=1, seq=v, ack=u+1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D078905-A8C7-4540-9FBE-A93255B0CAD0}"/>
              </a:ext>
            </a:extLst>
          </p:cNvPr>
          <p:cNvSpPr txBox="1"/>
          <p:nvPr/>
        </p:nvSpPr>
        <p:spPr>
          <a:xfrm rot="20700573">
            <a:off x="7486611" y="4212224"/>
            <a:ext cx="2246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FIN=1, seq=w, ack=u+1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485250E-74A9-41F5-B5A3-957DC594DCFE}"/>
              </a:ext>
            </a:extLst>
          </p:cNvPr>
          <p:cNvSpPr txBox="1"/>
          <p:nvPr/>
        </p:nvSpPr>
        <p:spPr>
          <a:xfrm rot="589296">
            <a:off x="7601509" y="4941724"/>
            <a:ext cx="263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ACK=1, seq=u+1, ack=w+1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C3E8C28-2B02-45FF-9FA0-1CD633510F00}"/>
              </a:ext>
            </a:extLst>
          </p:cNvPr>
          <p:cNvSpPr/>
          <p:nvPr/>
        </p:nvSpPr>
        <p:spPr>
          <a:xfrm>
            <a:off x="348470" y="1527810"/>
            <a:ext cx="4323715" cy="479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释放连接阶段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8D3F584-1C0A-4542-A30A-36FE9266E7C9}"/>
              </a:ext>
            </a:extLst>
          </p:cNvPr>
          <p:cNvSpPr/>
          <p:nvPr/>
        </p:nvSpPr>
        <p:spPr>
          <a:xfrm>
            <a:off x="613900" y="1973580"/>
            <a:ext cx="427736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两个方向的连接，可以间隔开来释放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5BCDFFA-D252-41F0-BE1F-8148086F7792}"/>
              </a:ext>
            </a:extLst>
          </p:cNvPr>
          <p:cNvSpPr/>
          <p:nvPr/>
        </p:nvSpPr>
        <p:spPr>
          <a:xfrm>
            <a:off x="613900" y="2448560"/>
            <a:ext cx="427736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每个方向的连接释放，需要2个报文段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26FFC5A-C147-4986-A374-B92BF2021663}"/>
              </a:ext>
            </a:extLst>
          </p:cNvPr>
          <p:cNvSpPr/>
          <p:nvPr/>
        </p:nvSpPr>
        <p:spPr>
          <a:xfrm>
            <a:off x="613900" y="2936240"/>
            <a:ext cx="4058285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MSL：Maximum Segment Lifetime, 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最大报文生存时间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，是任何报文段被丢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弃前在网络内的最长时间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FD5055-9001-49F0-8BBD-C8D6387D75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" y="5018599"/>
            <a:ext cx="717550" cy="717550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B42C8EA8-42C2-41BE-92BF-50F01431C374}"/>
              </a:ext>
            </a:extLst>
          </p:cNvPr>
          <p:cNvSpPr txBox="1"/>
          <p:nvPr/>
        </p:nvSpPr>
        <p:spPr>
          <a:xfrm>
            <a:off x="1038141" y="5232116"/>
            <a:ext cx="29387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为什么需要等待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2MSL?</a:t>
            </a:r>
            <a:endParaRPr lang="zh-CN" altLang="en-US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字魂105号-简雅黑" panose="00000500000000000000" charset="-122"/>
            </a:endParaRPr>
          </a:p>
        </p:txBody>
      </p:sp>
      <p:sp>
        <p:nvSpPr>
          <p:cNvPr id="61" name="í$1ïdê">
            <a:extLst>
              <a:ext uri="{FF2B5EF4-FFF2-40B4-BE49-F238E27FC236}">
                <a16:creationId xmlns:a16="http://schemas.microsoft.com/office/drawing/2014/main" id="{7CC36B16-32D9-416C-91FC-98546F18E5BB}"/>
              </a:ext>
            </a:extLst>
          </p:cNvPr>
          <p:cNvSpPr/>
          <p:nvPr/>
        </p:nvSpPr>
        <p:spPr bwMode="auto">
          <a:xfrm>
            <a:off x="1043480" y="4190597"/>
            <a:ext cx="4320999" cy="717550"/>
          </a:xfrm>
          <a:custGeom>
            <a:avLst/>
            <a:gdLst>
              <a:gd name="T0" fmla="*/ 559 w 1046"/>
              <a:gd name="T1" fmla="*/ 39 h 650"/>
              <a:gd name="T2" fmla="*/ 523 w 1046"/>
              <a:gd name="T3" fmla="*/ 0 h 650"/>
              <a:gd name="T4" fmla="*/ 487 w 1046"/>
              <a:gd name="T5" fmla="*/ 39 h 650"/>
              <a:gd name="T6" fmla="*/ 0 w 1046"/>
              <a:gd name="T7" fmla="*/ 39 h 650"/>
              <a:gd name="T8" fmla="*/ 0 w 1046"/>
              <a:gd name="T9" fmla="*/ 650 h 650"/>
              <a:gd name="T10" fmla="*/ 523 w 1046"/>
              <a:gd name="T11" fmla="*/ 609 h 650"/>
              <a:gd name="T12" fmla="*/ 1046 w 1046"/>
              <a:gd name="T13" fmla="*/ 650 h 650"/>
              <a:gd name="T14" fmla="*/ 1046 w 1046"/>
              <a:gd name="T15" fmla="*/ 39 h 650"/>
              <a:gd name="T16" fmla="*/ 559 w 1046"/>
              <a:gd name="T17" fmla="*/ 39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46" h="650">
                <a:moveTo>
                  <a:pt x="559" y="39"/>
                </a:moveTo>
                <a:cubicBezTo>
                  <a:pt x="523" y="0"/>
                  <a:pt x="523" y="0"/>
                  <a:pt x="523" y="0"/>
                </a:cubicBezTo>
                <a:cubicBezTo>
                  <a:pt x="487" y="39"/>
                  <a:pt x="487" y="39"/>
                  <a:pt x="487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650"/>
                  <a:pt x="0" y="650"/>
                  <a:pt x="0" y="650"/>
                </a:cubicBezTo>
                <a:cubicBezTo>
                  <a:pt x="142" y="625"/>
                  <a:pt x="324" y="609"/>
                  <a:pt x="523" y="609"/>
                </a:cubicBezTo>
                <a:cubicBezTo>
                  <a:pt x="722" y="609"/>
                  <a:pt x="904" y="625"/>
                  <a:pt x="1046" y="650"/>
                </a:cubicBezTo>
                <a:cubicBezTo>
                  <a:pt x="1046" y="39"/>
                  <a:pt x="1046" y="39"/>
                  <a:pt x="1046" y="39"/>
                </a:cubicBezTo>
                <a:lnTo>
                  <a:pt x="559" y="39"/>
                </a:lnTo>
                <a:close/>
              </a:path>
            </a:pathLst>
          </a:custGeom>
          <a:noFill/>
          <a:ln w="12700" cap="flat" cmpd="sng" algn="ctr">
            <a:solidFill>
              <a:srgbClr val="A91F24"/>
            </a:solidFill>
            <a:prstDash val="solid"/>
            <a:miter lim="800000"/>
          </a:ln>
          <a:effectLst>
            <a:outerShdw sx="103000" sy="103000" algn="ctr" rotWithShape="0">
              <a:prstClr val="black">
                <a:alpha val="8000"/>
              </a:prstClr>
            </a:outerShdw>
          </a:effectLst>
        </p:spPr>
        <p:txBody>
          <a:bodyPr wrap="square" lIns="121920" tIns="60960" rIns="121920" bIns="60960" rtlCol="0" anchor="ctr">
            <a:normAutofit/>
          </a:bodyPr>
          <a:lstStyle/>
          <a:p>
            <a:pPr algn="ctr" defTabSz="1219200">
              <a:defRPr/>
            </a:pPr>
            <a:endParaRPr lang="en-US" sz="1865" kern="0" spc="4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A086F2A-0752-4070-8B83-E394EDD5442F}"/>
              </a:ext>
            </a:extLst>
          </p:cNvPr>
          <p:cNvSpPr txBox="1"/>
          <p:nvPr/>
        </p:nvSpPr>
        <p:spPr>
          <a:xfrm>
            <a:off x="929832" y="4278941"/>
            <a:ext cx="4434647" cy="5683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lang="zh-CN" altLang="en-US" sz="155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尽管有时FIN报文的数据字段长度=0(图中蓝色框Len=0)，但FIN报文仍需要消耗额外1个序列号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31BEC7-C030-4345-9F57-E1B623C836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" y="4213536"/>
            <a:ext cx="717550" cy="717550"/>
          </a:xfrm>
          <a:prstGeom prst="rect">
            <a:avLst/>
          </a:prstGeom>
        </p:spPr>
      </p:pic>
      <p:grpSp>
        <p:nvGrpSpPr>
          <p:cNvPr id="65" name="组合 14">
            <a:extLst>
              <a:ext uri="{FF2B5EF4-FFF2-40B4-BE49-F238E27FC236}">
                <a16:creationId xmlns:a16="http://schemas.microsoft.com/office/drawing/2014/main" id="{5C95B440-A3B9-4C56-8201-37B86B171190}"/>
              </a:ext>
            </a:extLst>
          </p:cNvPr>
          <p:cNvGrpSpPr/>
          <p:nvPr/>
        </p:nvGrpSpPr>
        <p:grpSpPr>
          <a:xfrm>
            <a:off x="218726" y="5814965"/>
            <a:ext cx="5418324" cy="948425"/>
            <a:chOff x="301190" y="3717032"/>
            <a:chExt cx="8483278" cy="972108"/>
          </a:xfrm>
        </p:grpSpPr>
        <p:pic>
          <p:nvPicPr>
            <p:cNvPr id="66" name="Picture 3">
              <a:extLst>
                <a:ext uri="{FF2B5EF4-FFF2-40B4-BE49-F238E27FC236}">
                  <a16:creationId xmlns:a16="http://schemas.microsoft.com/office/drawing/2014/main" id="{44A2B210-220D-45CF-BC15-E1DEA8966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702" t="15625"/>
            <a:stretch>
              <a:fillRect/>
            </a:stretch>
          </p:blipFill>
          <p:spPr>
            <a:xfrm>
              <a:off x="301190" y="3717032"/>
              <a:ext cx="8483278" cy="9721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196506F-1D79-49C6-A3FF-ECF8776B3D66}"/>
                </a:ext>
              </a:extLst>
            </p:cNvPr>
            <p:cNvSpPr/>
            <p:nvPr/>
          </p:nvSpPr>
          <p:spPr>
            <a:xfrm>
              <a:off x="5038110" y="3717032"/>
              <a:ext cx="938177" cy="2875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E59BEA37-DD5F-4721-9E88-D6BE7A8CA964}"/>
                </a:ext>
              </a:extLst>
            </p:cNvPr>
            <p:cNvSpPr/>
            <p:nvPr/>
          </p:nvSpPr>
          <p:spPr>
            <a:xfrm>
              <a:off x="7857403" y="3717032"/>
              <a:ext cx="855631" cy="2875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A4A2E84-4F1D-4A61-8D9F-9638EF98ED20}"/>
                </a:ext>
              </a:extLst>
            </p:cNvPr>
            <p:cNvSpPr/>
            <p:nvPr/>
          </p:nvSpPr>
          <p:spPr>
            <a:xfrm>
              <a:off x="5163518" y="4206263"/>
              <a:ext cx="957226" cy="2303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4A53A8A-4304-48E8-8AE0-FB158DCE5F95}"/>
                </a:ext>
              </a:extLst>
            </p:cNvPr>
            <p:cNvSpPr/>
            <p:nvPr/>
          </p:nvSpPr>
          <p:spPr>
            <a:xfrm>
              <a:off x="4625376" y="3979119"/>
              <a:ext cx="919128" cy="2064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04D847AF-3B35-4027-A3D7-1A9F8B1A78CF}"/>
                </a:ext>
              </a:extLst>
            </p:cNvPr>
            <p:cNvSpPr/>
            <p:nvPr/>
          </p:nvSpPr>
          <p:spPr>
            <a:xfrm>
              <a:off x="4487269" y="4220558"/>
              <a:ext cx="588940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2188175-59F9-4E38-8B18-D77BAF6687BB}"/>
                </a:ext>
              </a:extLst>
            </p:cNvPr>
            <p:cNvSpPr/>
            <p:nvPr/>
          </p:nvSpPr>
          <p:spPr>
            <a:xfrm>
              <a:off x="4931752" y="4436582"/>
              <a:ext cx="590528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F084AEA-37EC-44FA-A254-897A140837E9}"/>
                </a:ext>
              </a:extLst>
            </p:cNvPr>
            <p:cNvSpPr/>
            <p:nvPr/>
          </p:nvSpPr>
          <p:spPr>
            <a:xfrm>
              <a:off x="7295450" y="4220558"/>
              <a:ext cx="588941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27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4995" y="1726565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思考以下两个问题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0425" y="2299335"/>
            <a:ext cx="611632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：假如客户端建立了到服务器的连接，传输了一些数据，但是突发故障崩溃。此种情况下，服务器将处于一种什么状态？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823200" y="729615"/>
            <a:ext cx="3687445" cy="6090920"/>
            <a:chOff x="11860" y="1149"/>
            <a:chExt cx="5807" cy="9592"/>
          </a:xfrm>
        </p:grpSpPr>
        <p:graphicFrame>
          <p:nvGraphicFramePr>
            <p:cNvPr id="33797" name="Object 2"/>
            <p:cNvGraphicFramePr>
              <a:graphicFrameLocks noChangeAspect="1"/>
            </p:cNvGraphicFramePr>
            <p:nvPr/>
          </p:nvGraphicFramePr>
          <p:xfrm>
            <a:off x="11863" y="1149"/>
            <a:ext cx="5746" cy="9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34230" imgH="7730490" progId="Visio.Drawing.11">
                    <p:embed/>
                  </p:oleObj>
                </mc:Choice>
                <mc:Fallback>
                  <p:oleObj r:id="rId2" imgW="4634230" imgH="7730490" progId="Visio.Drawing.11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1863" y="1149"/>
                          <a:ext cx="5746" cy="95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/>
            <p:nvPr/>
          </p:nvSpPr>
          <p:spPr>
            <a:xfrm>
              <a:off x="11860" y="2484"/>
              <a:ext cx="5783" cy="18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885" y="4482"/>
              <a:ext cx="5783" cy="1488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880" y="6037"/>
              <a:ext cx="5783" cy="4008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矩形 16"/>
          <p:cNvSpPr/>
          <p:nvPr/>
        </p:nvSpPr>
        <p:spPr bwMode="auto">
          <a:xfrm>
            <a:off x="892810" y="3332480"/>
            <a:ext cx="601408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52830" y="3368040"/>
            <a:ext cx="56940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保持定时器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（服务器端）：每次收到客户端发来的消息就复位；定时器设定为2小时，超时则发送探测包。连续十个探测包还没收到回应，则中断连接。</a:t>
            </a:r>
          </a:p>
        </p:txBody>
      </p:sp>
      <p:sp>
        <p:nvSpPr>
          <p:cNvPr id="22" name="矩形 21"/>
          <p:cNvSpPr/>
          <p:nvPr/>
        </p:nvSpPr>
        <p:spPr>
          <a:xfrm>
            <a:off x="860425" y="4775835"/>
            <a:ext cx="61163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：客户端最终进入的TIME-WAIT状态该如何实现？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892810" y="5415280"/>
            <a:ext cx="6014085" cy="60896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52830" y="5450840"/>
            <a:ext cx="56940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时间等待定时器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（客户端）：设定为报文寿命的2倍</a:t>
            </a:r>
          </a:p>
        </p:txBody>
      </p:sp>
      <p:sp>
        <p:nvSpPr>
          <p:cNvPr id="28" name="KSO_Shape"/>
          <p:cNvSpPr/>
          <p:nvPr/>
        </p:nvSpPr>
        <p:spPr bwMode="auto">
          <a:xfrm>
            <a:off x="4203065" y="929640"/>
            <a:ext cx="1071880" cy="1369695"/>
          </a:xfrm>
          <a:custGeom>
            <a:avLst/>
            <a:gdLst>
              <a:gd name="T0" fmla="*/ 440790 w 2792413"/>
              <a:gd name="T1" fmla="*/ 2575798 h 3389313"/>
              <a:gd name="T2" fmla="*/ 1147253 w 2792413"/>
              <a:gd name="T3" fmla="*/ 1201035 h 3389313"/>
              <a:gd name="T4" fmla="*/ 1223433 w 2792413"/>
              <a:gd name="T5" fmla="*/ 1473921 h 3389313"/>
              <a:gd name="T6" fmla="*/ 1315165 w 2792413"/>
              <a:gd name="T7" fmla="*/ 1458373 h 3389313"/>
              <a:gd name="T8" fmla="*/ 1462128 w 2792413"/>
              <a:gd name="T9" fmla="*/ 1368574 h 3389313"/>
              <a:gd name="T10" fmla="*/ 1552274 w 2792413"/>
              <a:gd name="T11" fmla="*/ 1517392 h 3389313"/>
              <a:gd name="T12" fmla="*/ 1632262 w 2792413"/>
              <a:gd name="T13" fmla="*/ 1262910 h 3389313"/>
              <a:gd name="T14" fmla="*/ 1689714 w 2792413"/>
              <a:gd name="T15" fmla="*/ 1093784 h 3389313"/>
              <a:gd name="T16" fmla="*/ 1947454 w 2792413"/>
              <a:gd name="T17" fmla="*/ 1176285 h 3389313"/>
              <a:gd name="T18" fmla="*/ 2040457 w 2792413"/>
              <a:gd name="T19" fmla="*/ 1240064 h 3389313"/>
              <a:gd name="T20" fmla="*/ 2124889 w 2792413"/>
              <a:gd name="T21" fmla="*/ 1394276 h 3389313"/>
              <a:gd name="T22" fmla="*/ 2358823 w 2792413"/>
              <a:gd name="T23" fmla="*/ 1575460 h 3389313"/>
              <a:gd name="T24" fmla="*/ 2669254 w 2792413"/>
              <a:gd name="T25" fmla="*/ 1240381 h 3389313"/>
              <a:gd name="T26" fmla="*/ 2738767 w 2792413"/>
              <a:gd name="T27" fmla="*/ 1227371 h 3389313"/>
              <a:gd name="T28" fmla="*/ 2783840 w 2792413"/>
              <a:gd name="T29" fmla="*/ 1283853 h 3389313"/>
              <a:gd name="T30" fmla="*/ 2705122 w 2792413"/>
              <a:gd name="T31" fmla="*/ 1422200 h 3389313"/>
              <a:gd name="T32" fmla="*/ 2761621 w 2792413"/>
              <a:gd name="T33" fmla="*/ 1492008 h 3389313"/>
              <a:gd name="T34" fmla="*/ 2775270 w 2792413"/>
              <a:gd name="T35" fmla="*/ 1582441 h 3389313"/>
              <a:gd name="T36" fmla="*/ 2740355 w 2792413"/>
              <a:gd name="T37" fmla="*/ 1669383 h 3389313"/>
              <a:gd name="T38" fmla="*/ 2438811 w 2792413"/>
              <a:gd name="T39" fmla="*/ 2001606 h 3389313"/>
              <a:gd name="T40" fmla="*/ 2326447 w 2792413"/>
              <a:gd name="T41" fmla="*/ 2083155 h 3389313"/>
              <a:gd name="T42" fmla="*/ 2234397 w 2792413"/>
              <a:gd name="T43" fmla="*/ 2095530 h 3389313"/>
              <a:gd name="T44" fmla="*/ 2140759 w 2792413"/>
              <a:gd name="T45" fmla="*/ 2059674 h 3389313"/>
              <a:gd name="T46" fmla="*/ 2049979 w 2792413"/>
              <a:gd name="T47" fmla="*/ 1965116 h 3389313"/>
              <a:gd name="T48" fmla="*/ 1428165 w 2792413"/>
              <a:gd name="T49" fmla="*/ 2143126 h 3389313"/>
              <a:gd name="T50" fmla="*/ 1429434 w 2792413"/>
              <a:gd name="T51" fmla="*/ 1759182 h 3389313"/>
              <a:gd name="T52" fmla="*/ 1368174 w 2792413"/>
              <a:gd name="T53" fmla="*/ 1755057 h 3389313"/>
              <a:gd name="T54" fmla="*/ 1337384 w 2792413"/>
              <a:gd name="T55" fmla="*/ 1826769 h 3389313"/>
              <a:gd name="T56" fmla="*/ 852376 w 2792413"/>
              <a:gd name="T57" fmla="*/ 1682710 h 3389313"/>
              <a:gd name="T58" fmla="*/ 784766 w 2792413"/>
              <a:gd name="T59" fmla="*/ 2018424 h 3389313"/>
              <a:gd name="T60" fmla="*/ 485762 w 2792413"/>
              <a:gd name="T61" fmla="*/ 1784884 h 3389313"/>
              <a:gd name="T62" fmla="*/ 583526 w 2792413"/>
              <a:gd name="T63" fmla="*/ 1432036 h 3389313"/>
              <a:gd name="T64" fmla="*/ 667641 w 2792413"/>
              <a:gd name="T65" fmla="*/ 1278141 h 3389313"/>
              <a:gd name="T66" fmla="*/ 848249 w 2792413"/>
              <a:gd name="T67" fmla="*/ 1188343 h 3389313"/>
              <a:gd name="T68" fmla="*/ 1117099 w 2792413"/>
              <a:gd name="T69" fmla="*/ 1090294 h 3389313"/>
              <a:gd name="T70" fmla="*/ 1495426 w 2792413"/>
              <a:gd name="T71" fmla="*/ 10798 h 3389313"/>
              <a:gd name="T72" fmla="*/ 1596073 w 2792413"/>
              <a:gd name="T73" fmla="*/ 50816 h 3389313"/>
              <a:gd name="T74" fmla="*/ 1679258 w 2792413"/>
              <a:gd name="T75" fmla="*/ 116241 h 3389313"/>
              <a:gd name="T76" fmla="*/ 1743076 w 2792413"/>
              <a:gd name="T77" fmla="*/ 203263 h 3389313"/>
              <a:gd name="T78" fmla="*/ 1802448 w 2792413"/>
              <a:gd name="T79" fmla="*/ 402397 h 3389313"/>
              <a:gd name="T80" fmla="*/ 1849121 w 2792413"/>
              <a:gd name="T81" fmla="*/ 458612 h 3389313"/>
              <a:gd name="T82" fmla="*/ 1861186 w 2792413"/>
              <a:gd name="T83" fmla="*/ 526260 h 3389313"/>
              <a:gd name="T84" fmla="*/ 1823086 w 2792413"/>
              <a:gd name="T85" fmla="*/ 626621 h 3389313"/>
              <a:gd name="T86" fmla="*/ 1771651 w 2792413"/>
              <a:gd name="T87" fmla="*/ 681248 h 3389313"/>
              <a:gd name="T88" fmla="*/ 1688148 w 2792413"/>
              <a:gd name="T89" fmla="*/ 863867 h 3389313"/>
              <a:gd name="T90" fmla="*/ 1552576 w 2792413"/>
              <a:gd name="T91" fmla="*/ 992176 h 3389313"/>
              <a:gd name="T92" fmla="*/ 1464628 w 2792413"/>
              <a:gd name="T93" fmla="*/ 1024254 h 3389313"/>
              <a:gd name="T94" fmla="*/ 1364933 w 2792413"/>
              <a:gd name="T95" fmla="*/ 1028383 h 3389313"/>
              <a:gd name="T96" fmla="*/ 1273493 w 2792413"/>
              <a:gd name="T97" fmla="*/ 1003928 h 3389313"/>
              <a:gd name="T98" fmla="*/ 1136333 w 2792413"/>
              <a:gd name="T99" fmla="*/ 893721 h 3389313"/>
              <a:gd name="T100" fmla="*/ 1043305 w 2792413"/>
              <a:gd name="T101" fmla="*/ 719677 h 3389313"/>
              <a:gd name="T102" fmla="*/ 984250 w 2792413"/>
              <a:gd name="T103" fmla="*/ 642183 h 3389313"/>
              <a:gd name="T104" fmla="*/ 943610 w 2792413"/>
              <a:gd name="T105" fmla="*/ 580887 h 3389313"/>
              <a:gd name="T106" fmla="*/ 930275 w 2792413"/>
              <a:gd name="T107" fmla="*/ 508792 h 3389313"/>
              <a:gd name="T108" fmla="*/ 958215 w 2792413"/>
              <a:gd name="T109" fmla="*/ 440826 h 3389313"/>
              <a:gd name="T110" fmla="*/ 1010603 w 2792413"/>
              <a:gd name="T111" fmla="*/ 336019 h 3389313"/>
              <a:gd name="T112" fmla="*/ 1081405 w 2792413"/>
              <a:gd name="T113" fmla="*/ 168327 h 3389313"/>
              <a:gd name="T114" fmla="*/ 1152525 w 2792413"/>
              <a:gd name="T115" fmla="*/ 89245 h 3389313"/>
              <a:gd name="T116" fmla="*/ 1242060 w 2792413"/>
              <a:gd name="T117" fmla="*/ 32713 h 3389313"/>
              <a:gd name="T118" fmla="*/ 1348105 w 2792413"/>
              <a:gd name="T119" fmla="*/ 3494 h 3389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92413" h="3389313">
                <a:moveTo>
                  <a:pt x="520700" y="2665413"/>
                </a:moveTo>
                <a:lnTo>
                  <a:pt x="2271713" y="2665413"/>
                </a:lnTo>
                <a:lnTo>
                  <a:pt x="2258063" y="3389313"/>
                </a:lnTo>
                <a:lnTo>
                  <a:pt x="534985" y="3389313"/>
                </a:lnTo>
                <a:lnTo>
                  <a:pt x="520700" y="2665413"/>
                </a:lnTo>
                <a:close/>
                <a:moveTo>
                  <a:pt x="0" y="2312988"/>
                </a:moveTo>
                <a:lnTo>
                  <a:pt x="2792413" y="2312988"/>
                </a:lnTo>
                <a:lnTo>
                  <a:pt x="2504058" y="3016251"/>
                </a:lnTo>
                <a:lnTo>
                  <a:pt x="2343366" y="3016251"/>
                </a:lnTo>
                <a:lnTo>
                  <a:pt x="2351623" y="2575798"/>
                </a:lnTo>
                <a:lnTo>
                  <a:pt x="440790" y="2575798"/>
                </a:lnTo>
                <a:lnTo>
                  <a:pt x="449047" y="3016251"/>
                </a:lnTo>
                <a:lnTo>
                  <a:pt x="288355" y="3016251"/>
                </a:lnTo>
                <a:lnTo>
                  <a:pt x="0" y="2312988"/>
                </a:lnTo>
                <a:close/>
                <a:moveTo>
                  <a:pt x="1131065" y="1087438"/>
                </a:moveTo>
                <a:lnTo>
                  <a:pt x="1131065" y="1087755"/>
                </a:lnTo>
                <a:lnTo>
                  <a:pt x="1131700" y="1087438"/>
                </a:lnTo>
                <a:lnTo>
                  <a:pt x="1133287" y="1104890"/>
                </a:lnTo>
                <a:lnTo>
                  <a:pt x="1135826" y="1125198"/>
                </a:lnTo>
                <a:lnTo>
                  <a:pt x="1138683" y="1148044"/>
                </a:lnTo>
                <a:lnTo>
                  <a:pt x="1142492" y="1173112"/>
                </a:lnTo>
                <a:lnTo>
                  <a:pt x="1147253" y="1201035"/>
                </a:lnTo>
                <a:lnTo>
                  <a:pt x="1153284" y="1231179"/>
                </a:lnTo>
                <a:lnTo>
                  <a:pt x="1160267" y="1262910"/>
                </a:lnTo>
                <a:lnTo>
                  <a:pt x="1168520" y="1297180"/>
                </a:lnTo>
                <a:lnTo>
                  <a:pt x="1178042" y="1333670"/>
                </a:lnTo>
                <a:lnTo>
                  <a:pt x="1183439" y="1352074"/>
                </a:lnTo>
                <a:lnTo>
                  <a:pt x="1188835" y="1371430"/>
                </a:lnTo>
                <a:lnTo>
                  <a:pt x="1195183" y="1391103"/>
                </a:lnTo>
                <a:lnTo>
                  <a:pt x="1201531" y="1411094"/>
                </a:lnTo>
                <a:lnTo>
                  <a:pt x="1208514" y="1431719"/>
                </a:lnTo>
                <a:lnTo>
                  <a:pt x="1215497" y="1452344"/>
                </a:lnTo>
                <a:lnTo>
                  <a:pt x="1223433" y="1473921"/>
                </a:lnTo>
                <a:lnTo>
                  <a:pt x="1231685" y="1495498"/>
                </a:lnTo>
                <a:lnTo>
                  <a:pt x="1240573" y="1517392"/>
                </a:lnTo>
                <a:lnTo>
                  <a:pt x="1249461" y="1539604"/>
                </a:lnTo>
                <a:lnTo>
                  <a:pt x="1258983" y="1562450"/>
                </a:lnTo>
                <a:lnTo>
                  <a:pt x="1269458" y="1585296"/>
                </a:lnTo>
                <a:lnTo>
                  <a:pt x="1279932" y="1608460"/>
                </a:lnTo>
                <a:lnTo>
                  <a:pt x="1291359" y="1632258"/>
                </a:lnTo>
                <a:lnTo>
                  <a:pt x="1294851" y="1601162"/>
                </a:lnTo>
                <a:lnTo>
                  <a:pt x="1298977" y="1571018"/>
                </a:lnTo>
                <a:lnTo>
                  <a:pt x="1306913" y="1512315"/>
                </a:lnTo>
                <a:lnTo>
                  <a:pt x="1315165" y="1458373"/>
                </a:lnTo>
                <a:lnTo>
                  <a:pt x="1323101" y="1409824"/>
                </a:lnTo>
                <a:lnTo>
                  <a:pt x="1330084" y="1368574"/>
                </a:lnTo>
                <a:lnTo>
                  <a:pt x="1336115" y="1335574"/>
                </a:lnTo>
                <a:lnTo>
                  <a:pt x="1342780" y="1300670"/>
                </a:lnTo>
                <a:lnTo>
                  <a:pt x="1298025" y="1196275"/>
                </a:lnTo>
                <a:lnTo>
                  <a:pt x="1370395" y="1127736"/>
                </a:lnTo>
                <a:lnTo>
                  <a:pt x="1421817" y="1127736"/>
                </a:lnTo>
                <a:lnTo>
                  <a:pt x="1494187" y="1196275"/>
                </a:lnTo>
                <a:lnTo>
                  <a:pt x="1449749" y="1300670"/>
                </a:lnTo>
                <a:lnTo>
                  <a:pt x="1456415" y="1335574"/>
                </a:lnTo>
                <a:lnTo>
                  <a:pt x="1462128" y="1368574"/>
                </a:lnTo>
                <a:lnTo>
                  <a:pt x="1469746" y="1409824"/>
                </a:lnTo>
                <a:lnTo>
                  <a:pt x="1477364" y="1458373"/>
                </a:lnTo>
                <a:lnTo>
                  <a:pt x="1485617" y="1512315"/>
                </a:lnTo>
                <a:lnTo>
                  <a:pt x="1493869" y="1571018"/>
                </a:lnTo>
                <a:lnTo>
                  <a:pt x="1497678" y="1601162"/>
                </a:lnTo>
                <a:lnTo>
                  <a:pt x="1501170" y="1632258"/>
                </a:lnTo>
                <a:lnTo>
                  <a:pt x="1512279" y="1608460"/>
                </a:lnTo>
                <a:lnTo>
                  <a:pt x="1523072" y="1585296"/>
                </a:lnTo>
                <a:lnTo>
                  <a:pt x="1533229" y="1562450"/>
                </a:lnTo>
                <a:lnTo>
                  <a:pt x="1542751" y="1539604"/>
                </a:lnTo>
                <a:lnTo>
                  <a:pt x="1552274" y="1517392"/>
                </a:lnTo>
                <a:lnTo>
                  <a:pt x="1560844" y="1495498"/>
                </a:lnTo>
                <a:lnTo>
                  <a:pt x="1568779" y="1473921"/>
                </a:lnTo>
                <a:lnTo>
                  <a:pt x="1576715" y="1452344"/>
                </a:lnTo>
                <a:lnTo>
                  <a:pt x="1584015" y="1431719"/>
                </a:lnTo>
                <a:lnTo>
                  <a:pt x="1590681" y="1411094"/>
                </a:lnTo>
                <a:lnTo>
                  <a:pt x="1597346" y="1391103"/>
                </a:lnTo>
                <a:lnTo>
                  <a:pt x="1603377" y="1371430"/>
                </a:lnTo>
                <a:lnTo>
                  <a:pt x="1609408" y="1352074"/>
                </a:lnTo>
                <a:lnTo>
                  <a:pt x="1614487" y="1333670"/>
                </a:lnTo>
                <a:lnTo>
                  <a:pt x="1624327" y="1297180"/>
                </a:lnTo>
                <a:lnTo>
                  <a:pt x="1632262" y="1262910"/>
                </a:lnTo>
                <a:lnTo>
                  <a:pt x="1639563" y="1231179"/>
                </a:lnTo>
                <a:lnTo>
                  <a:pt x="1644959" y="1201035"/>
                </a:lnTo>
                <a:lnTo>
                  <a:pt x="1649720" y="1173112"/>
                </a:lnTo>
                <a:lnTo>
                  <a:pt x="1653846" y="1148044"/>
                </a:lnTo>
                <a:lnTo>
                  <a:pt x="1657020" y="1125198"/>
                </a:lnTo>
                <a:lnTo>
                  <a:pt x="1659242" y="1104890"/>
                </a:lnTo>
                <a:lnTo>
                  <a:pt x="1660829" y="1087438"/>
                </a:lnTo>
                <a:lnTo>
                  <a:pt x="1661464" y="1087755"/>
                </a:lnTo>
                <a:lnTo>
                  <a:pt x="1661464" y="1087438"/>
                </a:lnTo>
                <a:lnTo>
                  <a:pt x="1675430" y="1090294"/>
                </a:lnTo>
                <a:lnTo>
                  <a:pt x="1689714" y="1093784"/>
                </a:lnTo>
                <a:lnTo>
                  <a:pt x="1703998" y="1097592"/>
                </a:lnTo>
                <a:lnTo>
                  <a:pt x="1718916" y="1101400"/>
                </a:lnTo>
                <a:lnTo>
                  <a:pt x="1749705" y="1110919"/>
                </a:lnTo>
                <a:lnTo>
                  <a:pt x="1782399" y="1120756"/>
                </a:lnTo>
                <a:lnTo>
                  <a:pt x="1812871" y="1129640"/>
                </a:lnTo>
                <a:lnTo>
                  <a:pt x="1841120" y="1138208"/>
                </a:lnTo>
                <a:lnTo>
                  <a:pt x="1866831" y="1146458"/>
                </a:lnTo>
                <a:lnTo>
                  <a:pt x="1890002" y="1154390"/>
                </a:lnTo>
                <a:lnTo>
                  <a:pt x="1911269" y="1162006"/>
                </a:lnTo>
                <a:lnTo>
                  <a:pt x="1930314" y="1168987"/>
                </a:lnTo>
                <a:lnTo>
                  <a:pt x="1947454" y="1176285"/>
                </a:lnTo>
                <a:lnTo>
                  <a:pt x="1962690" y="1183266"/>
                </a:lnTo>
                <a:lnTo>
                  <a:pt x="1976021" y="1189612"/>
                </a:lnTo>
                <a:lnTo>
                  <a:pt x="1987766" y="1195958"/>
                </a:lnTo>
                <a:lnTo>
                  <a:pt x="1998240" y="1201670"/>
                </a:lnTo>
                <a:lnTo>
                  <a:pt x="2006811" y="1207381"/>
                </a:lnTo>
                <a:lnTo>
                  <a:pt x="2014111" y="1212775"/>
                </a:lnTo>
                <a:lnTo>
                  <a:pt x="2020142" y="1218487"/>
                </a:lnTo>
                <a:lnTo>
                  <a:pt x="2025221" y="1223564"/>
                </a:lnTo>
                <a:lnTo>
                  <a:pt x="2029030" y="1228641"/>
                </a:lnTo>
                <a:lnTo>
                  <a:pt x="2035061" y="1234035"/>
                </a:lnTo>
                <a:lnTo>
                  <a:pt x="2040457" y="1240064"/>
                </a:lnTo>
                <a:lnTo>
                  <a:pt x="2046170" y="1246410"/>
                </a:lnTo>
                <a:lnTo>
                  <a:pt x="2051249" y="1252756"/>
                </a:lnTo>
                <a:lnTo>
                  <a:pt x="2056010" y="1259420"/>
                </a:lnTo>
                <a:lnTo>
                  <a:pt x="2060771" y="1266401"/>
                </a:lnTo>
                <a:lnTo>
                  <a:pt x="2065215" y="1273699"/>
                </a:lnTo>
                <a:lnTo>
                  <a:pt x="2068706" y="1281631"/>
                </a:lnTo>
                <a:lnTo>
                  <a:pt x="2069976" y="1283535"/>
                </a:lnTo>
                <a:lnTo>
                  <a:pt x="2072833" y="1289564"/>
                </a:lnTo>
                <a:lnTo>
                  <a:pt x="2083942" y="1312410"/>
                </a:lnTo>
                <a:lnTo>
                  <a:pt x="2101717" y="1348584"/>
                </a:lnTo>
                <a:lnTo>
                  <a:pt x="2124889" y="1394276"/>
                </a:lnTo>
                <a:lnTo>
                  <a:pt x="2151869" y="1446950"/>
                </a:lnTo>
                <a:lnTo>
                  <a:pt x="2182341" y="1504382"/>
                </a:lnTo>
                <a:lnTo>
                  <a:pt x="2197894" y="1534210"/>
                </a:lnTo>
                <a:lnTo>
                  <a:pt x="2214399" y="1563719"/>
                </a:lnTo>
                <a:lnTo>
                  <a:pt x="2230588" y="1593229"/>
                </a:lnTo>
                <a:lnTo>
                  <a:pt x="2247093" y="1622104"/>
                </a:lnTo>
                <a:lnTo>
                  <a:pt x="2260742" y="1645902"/>
                </a:lnTo>
                <a:lnTo>
                  <a:pt x="2274073" y="1668431"/>
                </a:lnTo>
                <a:lnTo>
                  <a:pt x="2305497" y="1634479"/>
                </a:lnTo>
                <a:lnTo>
                  <a:pt x="2332478" y="1604652"/>
                </a:lnTo>
                <a:lnTo>
                  <a:pt x="2358823" y="1575460"/>
                </a:lnTo>
                <a:lnTo>
                  <a:pt x="2406752" y="1520883"/>
                </a:lnTo>
                <a:lnTo>
                  <a:pt x="2443572" y="1478046"/>
                </a:lnTo>
                <a:lnTo>
                  <a:pt x="2465157" y="1453296"/>
                </a:lnTo>
                <a:lnTo>
                  <a:pt x="2468013" y="1449805"/>
                </a:lnTo>
                <a:lnTo>
                  <a:pt x="2471822" y="1445681"/>
                </a:lnTo>
                <a:lnTo>
                  <a:pt x="2475631" y="1441555"/>
                </a:lnTo>
                <a:lnTo>
                  <a:pt x="2483567" y="1434257"/>
                </a:lnTo>
                <a:lnTo>
                  <a:pt x="2491819" y="1427276"/>
                </a:lnTo>
                <a:lnTo>
                  <a:pt x="2500390" y="1420930"/>
                </a:lnTo>
                <a:lnTo>
                  <a:pt x="2664175" y="1245141"/>
                </a:lnTo>
                <a:lnTo>
                  <a:pt x="2669254" y="1240381"/>
                </a:lnTo>
                <a:lnTo>
                  <a:pt x="2674967" y="1235939"/>
                </a:lnTo>
                <a:lnTo>
                  <a:pt x="2680681" y="1232131"/>
                </a:lnTo>
                <a:lnTo>
                  <a:pt x="2686712" y="1229275"/>
                </a:lnTo>
                <a:lnTo>
                  <a:pt x="2693060" y="1227054"/>
                </a:lnTo>
                <a:lnTo>
                  <a:pt x="2699408" y="1225150"/>
                </a:lnTo>
                <a:lnTo>
                  <a:pt x="2706074" y="1224198"/>
                </a:lnTo>
                <a:lnTo>
                  <a:pt x="2712422" y="1223247"/>
                </a:lnTo>
                <a:lnTo>
                  <a:pt x="2719088" y="1223247"/>
                </a:lnTo>
                <a:lnTo>
                  <a:pt x="2725754" y="1224198"/>
                </a:lnTo>
                <a:lnTo>
                  <a:pt x="2732419" y="1225468"/>
                </a:lnTo>
                <a:lnTo>
                  <a:pt x="2738767" y="1227371"/>
                </a:lnTo>
                <a:lnTo>
                  <a:pt x="2745116" y="1229910"/>
                </a:lnTo>
                <a:lnTo>
                  <a:pt x="2751147" y="1233400"/>
                </a:lnTo>
                <a:lnTo>
                  <a:pt x="2757178" y="1237525"/>
                </a:lnTo>
                <a:lnTo>
                  <a:pt x="2762574" y="1241968"/>
                </a:lnTo>
                <a:lnTo>
                  <a:pt x="2767335" y="1247045"/>
                </a:lnTo>
                <a:lnTo>
                  <a:pt x="2771779" y="1252756"/>
                </a:lnTo>
                <a:lnTo>
                  <a:pt x="2775270" y="1258151"/>
                </a:lnTo>
                <a:lnTo>
                  <a:pt x="2778444" y="1264497"/>
                </a:lnTo>
                <a:lnTo>
                  <a:pt x="2780666" y="1270843"/>
                </a:lnTo>
                <a:lnTo>
                  <a:pt x="2782571" y="1277189"/>
                </a:lnTo>
                <a:lnTo>
                  <a:pt x="2783840" y="1283853"/>
                </a:lnTo>
                <a:lnTo>
                  <a:pt x="2784475" y="1290199"/>
                </a:lnTo>
                <a:lnTo>
                  <a:pt x="2784475" y="1296862"/>
                </a:lnTo>
                <a:lnTo>
                  <a:pt x="2783840" y="1303526"/>
                </a:lnTo>
                <a:lnTo>
                  <a:pt x="2782253" y="1310189"/>
                </a:lnTo>
                <a:lnTo>
                  <a:pt x="2780349" y="1316535"/>
                </a:lnTo>
                <a:lnTo>
                  <a:pt x="2777492" y="1322882"/>
                </a:lnTo>
                <a:lnTo>
                  <a:pt x="2774635" y="1328911"/>
                </a:lnTo>
                <a:lnTo>
                  <a:pt x="2770509" y="1334622"/>
                </a:lnTo>
                <a:lnTo>
                  <a:pt x="2766065" y="1340334"/>
                </a:lnTo>
                <a:lnTo>
                  <a:pt x="2694964" y="1416171"/>
                </a:lnTo>
                <a:lnTo>
                  <a:pt x="2705122" y="1422200"/>
                </a:lnTo>
                <a:lnTo>
                  <a:pt x="2709883" y="1426007"/>
                </a:lnTo>
                <a:lnTo>
                  <a:pt x="2714644" y="1429815"/>
                </a:lnTo>
                <a:lnTo>
                  <a:pt x="2721310" y="1435844"/>
                </a:lnTo>
                <a:lnTo>
                  <a:pt x="2727658" y="1441873"/>
                </a:lnTo>
                <a:lnTo>
                  <a:pt x="2733689" y="1448854"/>
                </a:lnTo>
                <a:lnTo>
                  <a:pt x="2739085" y="1455517"/>
                </a:lnTo>
                <a:lnTo>
                  <a:pt x="2744481" y="1462498"/>
                </a:lnTo>
                <a:lnTo>
                  <a:pt x="2749242" y="1469478"/>
                </a:lnTo>
                <a:lnTo>
                  <a:pt x="2753686" y="1476777"/>
                </a:lnTo>
                <a:lnTo>
                  <a:pt x="2757812" y="1484392"/>
                </a:lnTo>
                <a:lnTo>
                  <a:pt x="2761621" y="1492008"/>
                </a:lnTo>
                <a:lnTo>
                  <a:pt x="2764478" y="1499940"/>
                </a:lnTo>
                <a:lnTo>
                  <a:pt x="2767335" y="1507873"/>
                </a:lnTo>
                <a:lnTo>
                  <a:pt x="2770191" y="1515806"/>
                </a:lnTo>
                <a:lnTo>
                  <a:pt x="2771779" y="1524056"/>
                </a:lnTo>
                <a:lnTo>
                  <a:pt x="2773683" y="1532306"/>
                </a:lnTo>
                <a:lnTo>
                  <a:pt x="2774953" y="1540556"/>
                </a:lnTo>
                <a:lnTo>
                  <a:pt x="2775905" y="1548806"/>
                </a:lnTo>
                <a:lnTo>
                  <a:pt x="2776222" y="1557373"/>
                </a:lnTo>
                <a:lnTo>
                  <a:pt x="2776222" y="1565623"/>
                </a:lnTo>
                <a:lnTo>
                  <a:pt x="2775905" y="1574191"/>
                </a:lnTo>
                <a:lnTo>
                  <a:pt x="2775270" y="1582441"/>
                </a:lnTo>
                <a:lnTo>
                  <a:pt x="2774000" y="1591008"/>
                </a:lnTo>
                <a:lnTo>
                  <a:pt x="2772731" y="1598941"/>
                </a:lnTo>
                <a:lnTo>
                  <a:pt x="2770826" y="1607508"/>
                </a:lnTo>
                <a:lnTo>
                  <a:pt x="2768604" y="1615758"/>
                </a:lnTo>
                <a:lnTo>
                  <a:pt x="2765430" y="1623691"/>
                </a:lnTo>
                <a:lnTo>
                  <a:pt x="2762574" y="1631624"/>
                </a:lnTo>
                <a:lnTo>
                  <a:pt x="2758765" y="1639556"/>
                </a:lnTo>
                <a:lnTo>
                  <a:pt x="2754956" y="1647489"/>
                </a:lnTo>
                <a:lnTo>
                  <a:pt x="2750194" y="1654787"/>
                </a:lnTo>
                <a:lnTo>
                  <a:pt x="2745433" y="1662085"/>
                </a:lnTo>
                <a:lnTo>
                  <a:pt x="2740355" y="1669383"/>
                </a:lnTo>
                <a:lnTo>
                  <a:pt x="2734641" y="1676364"/>
                </a:lnTo>
                <a:lnTo>
                  <a:pt x="2716549" y="1697941"/>
                </a:lnTo>
                <a:lnTo>
                  <a:pt x="2670206" y="1751249"/>
                </a:lnTo>
                <a:lnTo>
                  <a:pt x="2639417" y="1786470"/>
                </a:lnTo>
                <a:lnTo>
                  <a:pt x="2605136" y="1824865"/>
                </a:lnTo>
                <a:lnTo>
                  <a:pt x="2569586" y="1864529"/>
                </a:lnTo>
                <a:lnTo>
                  <a:pt x="2532766" y="1904827"/>
                </a:lnTo>
                <a:lnTo>
                  <a:pt x="2508325" y="1930529"/>
                </a:lnTo>
                <a:lnTo>
                  <a:pt x="2484519" y="1955914"/>
                </a:lnTo>
                <a:lnTo>
                  <a:pt x="2461030" y="1979712"/>
                </a:lnTo>
                <a:lnTo>
                  <a:pt x="2438811" y="2001606"/>
                </a:lnTo>
                <a:lnTo>
                  <a:pt x="2426115" y="2013347"/>
                </a:lnTo>
                <a:lnTo>
                  <a:pt x="2413418" y="2025087"/>
                </a:lnTo>
                <a:lnTo>
                  <a:pt x="2400722" y="2035876"/>
                </a:lnTo>
                <a:lnTo>
                  <a:pt x="2387708" y="2046664"/>
                </a:lnTo>
                <a:lnTo>
                  <a:pt x="2380090" y="2052376"/>
                </a:lnTo>
                <a:lnTo>
                  <a:pt x="2371837" y="2058405"/>
                </a:lnTo>
                <a:lnTo>
                  <a:pt x="2362314" y="2064751"/>
                </a:lnTo>
                <a:lnTo>
                  <a:pt x="2351205" y="2071414"/>
                </a:lnTo>
                <a:lnTo>
                  <a:pt x="2343904" y="2075222"/>
                </a:lnTo>
                <a:lnTo>
                  <a:pt x="2335969" y="2079347"/>
                </a:lnTo>
                <a:lnTo>
                  <a:pt x="2326447" y="2083155"/>
                </a:lnTo>
                <a:lnTo>
                  <a:pt x="2315337" y="2087280"/>
                </a:lnTo>
                <a:lnTo>
                  <a:pt x="2307719" y="2089501"/>
                </a:lnTo>
                <a:lnTo>
                  <a:pt x="2300101" y="2091405"/>
                </a:lnTo>
                <a:lnTo>
                  <a:pt x="2292801" y="2093309"/>
                </a:lnTo>
                <a:lnTo>
                  <a:pt x="2284865" y="2094578"/>
                </a:lnTo>
                <a:lnTo>
                  <a:pt x="2277565" y="2095530"/>
                </a:lnTo>
                <a:lnTo>
                  <a:pt x="2270582" y="2096164"/>
                </a:lnTo>
                <a:lnTo>
                  <a:pt x="2262964" y="2096799"/>
                </a:lnTo>
                <a:lnTo>
                  <a:pt x="2255981" y="2097116"/>
                </a:lnTo>
                <a:lnTo>
                  <a:pt x="2244871" y="2096799"/>
                </a:lnTo>
                <a:lnTo>
                  <a:pt x="2234397" y="2095530"/>
                </a:lnTo>
                <a:lnTo>
                  <a:pt x="2224557" y="2093943"/>
                </a:lnTo>
                <a:lnTo>
                  <a:pt x="2215034" y="2092357"/>
                </a:lnTo>
                <a:lnTo>
                  <a:pt x="2206147" y="2090453"/>
                </a:lnTo>
                <a:lnTo>
                  <a:pt x="2197894" y="2087597"/>
                </a:lnTo>
                <a:lnTo>
                  <a:pt x="2190593" y="2085058"/>
                </a:lnTo>
                <a:lnTo>
                  <a:pt x="2183610" y="2082520"/>
                </a:lnTo>
                <a:lnTo>
                  <a:pt x="2176945" y="2079982"/>
                </a:lnTo>
                <a:lnTo>
                  <a:pt x="2170596" y="2077126"/>
                </a:lnTo>
                <a:lnTo>
                  <a:pt x="2159487" y="2071097"/>
                </a:lnTo>
                <a:lnTo>
                  <a:pt x="2149647" y="2065385"/>
                </a:lnTo>
                <a:lnTo>
                  <a:pt x="2140759" y="2059674"/>
                </a:lnTo>
                <a:lnTo>
                  <a:pt x="2133141" y="2053962"/>
                </a:lnTo>
                <a:lnTo>
                  <a:pt x="2125841" y="2048251"/>
                </a:lnTo>
                <a:lnTo>
                  <a:pt x="2119175" y="2043174"/>
                </a:lnTo>
                <a:lnTo>
                  <a:pt x="2113462" y="2037779"/>
                </a:lnTo>
                <a:lnTo>
                  <a:pt x="2102670" y="2027308"/>
                </a:lnTo>
                <a:lnTo>
                  <a:pt x="2092512" y="2017154"/>
                </a:lnTo>
                <a:lnTo>
                  <a:pt x="2083307" y="2006683"/>
                </a:lnTo>
                <a:lnTo>
                  <a:pt x="2074737" y="1996847"/>
                </a:lnTo>
                <a:lnTo>
                  <a:pt x="2066167" y="1986375"/>
                </a:lnTo>
                <a:lnTo>
                  <a:pt x="2057914" y="1975904"/>
                </a:lnTo>
                <a:lnTo>
                  <a:pt x="2049979" y="1965116"/>
                </a:lnTo>
                <a:lnTo>
                  <a:pt x="2042044" y="1954010"/>
                </a:lnTo>
                <a:lnTo>
                  <a:pt x="2026490" y="1931798"/>
                </a:lnTo>
                <a:lnTo>
                  <a:pt x="2013476" y="1912125"/>
                </a:lnTo>
                <a:lnTo>
                  <a:pt x="2000462" y="1891817"/>
                </a:lnTo>
                <a:lnTo>
                  <a:pt x="1987131" y="1870557"/>
                </a:lnTo>
                <a:lnTo>
                  <a:pt x="1974117" y="1848663"/>
                </a:lnTo>
                <a:lnTo>
                  <a:pt x="1961103" y="1826769"/>
                </a:lnTo>
                <a:lnTo>
                  <a:pt x="1948089" y="1803922"/>
                </a:lnTo>
                <a:lnTo>
                  <a:pt x="1922061" y="1758547"/>
                </a:lnTo>
                <a:lnTo>
                  <a:pt x="1922061" y="2143126"/>
                </a:lnTo>
                <a:lnTo>
                  <a:pt x="1428165" y="2143126"/>
                </a:lnTo>
                <a:lnTo>
                  <a:pt x="1455462" y="1826769"/>
                </a:lnTo>
                <a:lnTo>
                  <a:pt x="1455145" y="1818519"/>
                </a:lnTo>
                <a:lnTo>
                  <a:pt x="1454510" y="1810269"/>
                </a:lnTo>
                <a:lnTo>
                  <a:pt x="1452923" y="1802653"/>
                </a:lnTo>
                <a:lnTo>
                  <a:pt x="1450701" y="1795038"/>
                </a:lnTo>
                <a:lnTo>
                  <a:pt x="1448479" y="1788057"/>
                </a:lnTo>
                <a:lnTo>
                  <a:pt x="1445623" y="1781076"/>
                </a:lnTo>
                <a:lnTo>
                  <a:pt x="1441814" y="1774730"/>
                </a:lnTo>
                <a:lnTo>
                  <a:pt x="1438005" y="1769018"/>
                </a:lnTo>
                <a:lnTo>
                  <a:pt x="1433878" y="1763941"/>
                </a:lnTo>
                <a:lnTo>
                  <a:pt x="1429434" y="1759182"/>
                </a:lnTo>
                <a:lnTo>
                  <a:pt x="1424673" y="1755057"/>
                </a:lnTo>
                <a:lnTo>
                  <a:pt x="1419595" y="1751566"/>
                </a:lnTo>
                <a:lnTo>
                  <a:pt x="1413881" y="1748711"/>
                </a:lnTo>
                <a:lnTo>
                  <a:pt x="1408485" y="1746807"/>
                </a:lnTo>
                <a:lnTo>
                  <a:pt x="1402454" y="1745538"/>
                </a:lnTo>
                <a:lnTo>
                  <a:pt x="1396423" y="1744903"/>
                </a:lnTo>
                <a:lnTo>
                  <a:pt x="1390710" y="1745538"/>
                </a:lnTo>
                <a:lnTo>
                  <a:pt x="1384679" y="1746807"/>
                </a:lnTo>
                <a:lnTo>
                  <a:pt x="1378966" y="1748711"/>
                </a:lnTo>
                <a:lnTo>
                  <a:pt x="1373570" y="1751566"/>
                </a:lnTo>
                <a:lnTo>
                  <a:pt x="1368174" y="1755057"/>
                </a:lnTo>
                <a:lnTo>
                  <a:pt x="1363412" y="1759182"/>
                </a:lnTo>
                <a:lnTo>
                  <a:pt x="1358969" y="1763941"/>
                </a:lnTo>
                <a:lnTo>
                  <a:pt x="1354842" y="1769018"/>
                </a:lnTo>
                <a:lnTo>
                  <a:pt x="1351351" y="1774730"/>
                </a:lnTo>
                <a:lnTo>
                  <a:pt x="1347542" y="1781076"/>
                </a:lnTo>
                <a:lnTo>
                  <a:pt x="1344367" y="1788057"/>
                </a:lnTo>
                <a:lnTo>
                  <a:pt x="1342146" y="1795038"/>
                </a:lnTo>
                <a:lnTo>
                  <a:pt x="1339924" y="1802653"/>
                </a:lnTo>
                <a:lnTo>
                  <a:pt x="1338971" y="1810269"/>
                </a:lnTo>
                <a:lnTo>
                  <a:pt x="1337702" y="1818519"/>
                </a:lnTo>
                <a:lnTo>
                  <a:pt x="1337384" y="1826769"/>
                </a:lnTo>
                <a:lnTo>
                  <a:pt x="1364999" y="2143126"/>
                </a:lnTo>
                <a:lnTo>
                  <a:pt x="870151" y="2143126"/>
                </a:lnTo>
                <a:lnTo>
                  <a:pt x="870151" y="1651297"/>
                </a:lnTo>
                <a:lnTo>
                  <a:pt x="869833" y="1651297"/>
                </a:lnTo>
                <a:lnTo>
                  <a:pt x="868881" y="1652249"/>
                </a:lnTo>
                <a:lnTo>
                  <a:pt x="867294" y="1653201"/>
                </a:lnTo>
                <a:lnTo>
                  <a:pt x="864755" y="1656691"/>
                </a:lnTo>
                <a:lnTo>
                  <a:pt x="861581" y="1661133"/>
                </a:lnTo>
                <a:lnTo>
                  <a:pt x="858724" y="1667162"/>
                </a:lnTo>
                <a:lnTo>
                  <a:pt x="855867" y="1674143"/>
                </a:lnTo>
                <a:lnTo>
                  <a:pt x="852376" y="1682710"/>
                </a:lnTo>
                <a:lnTo>
                  <a:pt x="848884" y="1691912"/>
                </a:lnTo>
                <a:lnTo>
                  <a:pt x="845710" y="1702701"/>
                </a:lnTo>
                <a:lnTo>
                  <a:pt x="839044" y="1726816"/>
                </a:lnTo>
                <a:lnTo>
                  <a:pt x="832061" y="1755057"/>
                </a:lnTo>
                <a:lnTo>
                  <a:pt x="824443" y="1786153"/>
                </a:lnTo>
                <a:lnTo>
                  <a:pt x="817460" y="1820423"/>
                </a:lnTo>
                <a:lnTo>
                  <a:pt x="810477" y="1856913"/>
                </a:lnTo>
                <a:lnTo>
                  <a:pt x="803811" y="1895308"/>
                </a:lnTo>
                <a:lnTo>
                  <a:pt x="797145" y="1935606"/>
                </a:lnTo>
                <a:lnTo>
                  <a:pt x="790797" y="1976221"/>
                </a:lnTo>
                <a:lnTo>
                  <a:pt x="784766" y="2018424"/>
                </a:lnTo>
                <a:lnTo>
                  <a:pt x="779688" y="2060308"/>
                </a:lnTo>
                <a:lnTo>
                  <a:pt x="774609" y="2101876"/>
                </a:lnTo>
                <a:lnTo>
                  <a:pt x="771118" y="2143126"/>
                </a:lnTo>
                <a:lnTo>
                  <a:pt x="438150" y="2143126"/>
                </a:lnTo>
                <a:lnTo>
                  <a:pt x="443864" y="2084741"/>
                </a:lnTo>
                <a:lnTo>
                  <a:pt x="449894" y="2028577"/>
                </a:lnTo>
                <a:lnTo>
                  <a:pt x="455925" y="1975269"/>
                </a:lnTo>
                <a:lnTo>
                  <a:pt x="463226" y="1923865"/>
                </a:lnTo>
                <a:lnTo>
                  <a:pt x="470209" y="1875317"/>
                </a:lnTo>
                <a:lnTo>
                  <a:pt x="478144" y="1828990"/>
                </a:lnTo>
                <a:lnTo>
                  <a:pt x="485762" y="1784884"/>
                </a:lnTo>
                <a:lnTo>
                  <a:pt x="494015" y="1742682"/>
                </a:lnTo>
                <a:lnTo>
                  <a:pt x="502585" y="1702701"/>
                </a:lnTo>
                <a:lnTo>
                  <a:pt x="511155" y="1665258"/>
                </a:lnTo>
                <a:lnTo>
                  <a:pt x="520043" y="1629085"/>
                </a:lnTo>
                <a:lnTo>
                  <a:pt x="528931" y="1595450"/>
                </a:lnTo>
                <a:lnTo>
                  <a:pt x="537818" y="1563719"/>
                </a:lnTo>
                <a:lnTo>
                  <a:pt x="547023" y="1533892"/>
                </a:lnTo>
                <a:lnTo>
                  <a:pt x="556228" y="1505969"/>
                </a:lnTo>
                <a:lnTo>
                  <a:pt x="565116" y="1479632"/>
                </a:lnTo>
                <a:lnTo>
                  <a:pt x="574638" y="1454882"/>
                </a:lnTo>
                <a:lnTo>
                  <a:pt x="583526" y="1432036"/>
                </a:lnTo>
                <a:lnTo>
                  <a:pt x="592413" y="1410777"/>
                </a:lnTo>
                <a:lnTo>
                  <a:pt x="601301" y="1391420"/>
                </a:lnTo>
                <a:lnTo>
                  <a:pt x="609871" y="1373334"/>
                </a:lnTo>
                <a:lnTo>
                  <a:pt x="618124" y="1356516"/>
                </a:lnTo>
                <a:lnTo>
                  <a:pt x="626059" y="1341920"/>
                </a:lnTo>
                <a:lnTo>
                  <a:pt x="633995" y="1327959"/>
                </a:lnTo>
                <a:lnTo>
                  <a:pt x="641930" y="1315266"/>
                </a:lnTo>
                <a:lnTo>
                  <a:pt x="648913" y="1304160"/>
                </a:lnTo>
                <a:lnTo>
                  <a:pt x="655579" y="1294324"/>
                </a:lnTo>
                <a:lnTo>
                  <a:pt x="661927" y="1285756"/>
                </a:lnTo>
                <a:lnTo>
                  <a:pt x="667641" y="1278141"/>
                </a:lnTo>
                <a:lnTo>
                  <a:pt x="673037" y="1271478"/>
                </a:lnTo>
                <a:lnTo>
                  <a:pt x="677798" y="1266083"/>
                </a:lnTo>
                <a:lnTo>
                  <a:pt x="681924" y="1261641"/>
                </a:lnTo>
                <a:lnTo>
                  <a:pt x="699065" y="1252756"/>
                </a:lnTo>
                <a:lnTo>
                  <a:pt x="717475" y="1243237"/>
                </a:lnTo>
                <a:lnTo>
                  <a:pt x="737154" y="1234035"/>
                </a:lnTo>
                <a:lnTo>
                  <a:pt x="758104" y="1224833"/>
                </a:lnTo>
                <a:lnTo>
                  <a:pt x="779688" y="1215948"/>
                </a:lnTo>
                <a:lnTo>
                  <a:pt x="801907" y="1206746"/>
                </a:lnTo>
                <a:lnTo>
                  <a:pt x="824761" y="1197227"/>
                </a:lnTo>
                <a:lnTo>
                  <a:pt x="848249" y="1188343"/>
                </a:lnTo>
                <a:lnTo>
                  <a:pt x="895544" y="1170891"/>
                </a:lnTo>
                <a:lnTo>
                  <a:pt x="942204" y="1154390"/>
                </a:lnTo>
                <a:lnTo>
                  <a:pt x="987594" y="1138525"/>
                </a:lnTo>
                <a:lnTo>
                  <a:pt x="1030445" y="1124564"/>
                </a:lnTo>
                <a:lnTo>
                  <a:pt x="1041554" y="1118217"/>
                </a:lnTo>
                <a:lnTo>
                  <a:pt x="1053299" y="1112188"/>
                </a:lnTo>
                <a:lnTo>
                  <a:pt x="1065678" y="1107111"/>
                </a:lnTo>
                <a:lnTo>
                  <a:pt x="1077740" y="1102352"/>
                </a:lnTo>
                <a:lnTo>
                  <a:pt x="1090754" y="1097909"/>
                </a:lnTo>
                <a:lnTo>
                  <a:pt x="1103768" y="1094102"/>
                </a:lnTo>
                <a:lnTo>
                  <a:pt x="1117099" y="1090294"/>
                </a:lnTo>
                <a:lnTo>
                  <a:pt x="1131065" y="1087438"/>
                </a:lnTo>
                <a:close/>
                <a:moveTo>
                  <a:pt x="1401445" y="0"/>
                </a:moveTo>
                <a:lnTo>
                  <a:pt x="1412240" y="318"/>
                </a:lnTo>
                <a:lnTo>
                  <a:pt x="1423353" y="635"/>
                </a:lnTo>
                <a:lnTo>
                  <a:pt x="1433513" y="1588"/>
                </a:lnTo>
                <a:lnTo>
                  <a:pt x="1444308" y="2223"/>
                </a:lnTo>
                <a:lnTo>
                  <a:pt x="1454786" y="3494"/>
                </a:lnTo>
                <a:lnTo>
                  <a:pt x="1465263" y="4764"/>
                </a:lnTo>
                <a:lnTo>
                  <a:pt x="1475423" y="6670"/>
                </a:lnTo>
                <a:lnTo>
                  <a:pt x="1485266" y="8575"/>
                </a:lnTo>
                <a:lnTo>
                  <a:pt x="1495426" y="10798"/>
                </a:lnTo>
                <a:lnTo>
                  <a:pt x="1505268" y="13339"/>
                </a:lnTo>
                <a:lnTo>
                  <a:pt x="1515111" y="15880"/>
                </a:lnTo>
                <a:lnTo>
                  <a:pt x="1524636" y="19056"/>
                </a:lnTo>
                <a:lnTo>
                  <a:pt x="1533843" y="22232"/>
                </a:lnTo>
                <a:lnTo>
                  <a:pt x="1543368" y="25726"/>
                </a:lnTo>
                <a:lnTo>
                  <a:pt x="1552576" y="29219"/>
                </a:lnTo>
                <a:lnTo>
                  <a:pt x="1561466" y="33030"/>
                </a:lnTo>
                <a:lnTo>
                  <a:pt x="1570356" y="37159"/>
                </a:lnTo>
                <a:lnTo>
                  <a:pt x="1578928" y="41605"/>
                </a:lnTo>
                <a:lnTo>
                  <a:pt x="1587818" y="46052"/>
                </a:lnTo>
                <a:lnTo>
                  <a:pt x="1596073" y="50816"/>
                </a:lnTo>
                <a:lnTo>
                  <a:pt x="1604646" y="55897"/>
                </a:lnTo>
                <a:lnTo>
                  <a:pt x="1612583" y="60979"/>
                </a:lnTo>
                <a:lnTo>
                  <a:pt x="1620521" y="66378"/>
                </a:lnTo>
                <a:lnTo>
                  <a:pt x="1628776" y="72095"/>
                </a:lnTo>
                <a:lnTo>
                  <a:pt x="1636078" y="77812"/>
                </a:lnTo>
                <a:lnTo>
                  <a:pt x="1644016" y="83528"/>
                </a:lnTo>
                <a:lnTo>
                  <a:pt x="1651318" y="89880"/>
                </a:lnTo>
                <a:lnTo>
                  <a:pt x="1658303" y="96232"/>
                </a:lnTo>
                <a:lnTo>
                  <a:pt x="1665606" y="102902"/>
                </a:lnTo>
                <a:lnTo>
                  <a:pt x="1672591" y="109571"/>
                </a:lnTo>
                <a:lnTo>
                  <a:pt x="1679258" y="116241"/>
                </a:lnTo>
                <a:lnTo>
                  <a:pt x="1685926" y="123546"/>
                </a:lnTo>
                <a:lnTo>
                  <a:pt x="1692593" y="130851"/>
                </a:lnTo>
                <a:lnTo>
                  <a:pt x="1698943" y="138155"/>
                </a:lnTo>
                <a:lnTo>
                  <a:pt x="1704976" y="145778"/>
                </a:lnTo>
                <a:lnTo>
                  <a:pt x="1710691" y="153400"/>
                </a:lnTo>
                <a:lnTo>
                  <a:pt x="1716723" y="161658"/>
                </a:lnTo>
                <a:lnTo>
                  <a:pt x="1722438" y="169597"/>
                </a:lnTo>
                <a:lnTo>
                  <a:pt x="1727836" y="177537"/>
                </a:lnTo>
                <a:lnTo>
                  <a:pt x="1733233" y="186113"/>
                </a:lnTo>
                <a:lnTo>
                  <a:pt x="1738313" y="194688"/>
                </a:lnTo>
                <a:lnTo>
                  <a:pt x="1743076" y="203263"/>
                </a:lnTo>
                <a:lnTo>
                  <a:pt x="1747838" y="212156"/>
                </a:lnTo>
                <a:lnTo>
                  <a:pt x="1752283" y="221048"/>
                </a:lnTo>
                <a:lnTo>
                  <a:pt x="1760856" y="239469"/>
                </a:lnTo>
                <a:lnTo>
                  <a:pt x="1768793" y="258207"/>
                </a:lnTo>
                <a:lnTo>
                  <a:pt x="1776096" y="277581"/>
                </a:lnTo>
                <a:lnTo>
                  <a:pt x="1782446" y="297272"/>
                </a:lnTo>
                <a:lnTo>
                  <a:pt x="1788161" y="317916"/>
                </a:lnTo>
                <a:lnTo>
                  <a:pt x="1792923" y="338560"/>
                </a:lnTo>
                <a:lnTo>
                  <a:pt x="1797051" y="359521"/>
                </a:lnTo>
                <a:lnTo>
                  <a:pt x="1799908" y="380800"/>
                </a:lnTo>
                <a:lnTo>
                  <a:pt x="1802448" y="402397"/>
                </a:lnTo>
                <a:lnTo>
                  <a:pt x="1804036" y="424946"/>
                </a:lnTo>
                <a:lnTo>
                  <a:pt x="1809751" y="426534"/>
                </a:lnTo>
                <a:lnTo>
                  <a:pt x="1815148" y="428758"/>
                </a:lnTo>
                <a:lnTo>
                  <a:pt x="1819911" y="431616"/>
                </a:lnTo>
                <a:lnTo>
                  <a:pt x="1825308" y="434474"/>
                </a:lnTo>
                <a:lnTo>
                  <a:pt x="1829753" y="437968"/>
                </a:lnTo>
                <a:lnTo>
                  <a:pt x="1834198" y="441144"/>
                </a:lnTo>
                <a:lnTo>
                  <a:pt x="1838326" y="445273"/>
                </a:lnTo>
                <a:lnTo>
                  <a:pt x="1842453" y="449401"/>
                </a:lnTo>
                <a:lnTo>
                  <a:pt x="1845628" y="453848"/>
                </a:lnTo>
                <a:lnTo>
                  <a:pt x="1849121" y="458612"/>
                </a:lnTo>
                <a:lnTo>
                  <a:pt x="1851978" y="463693"/>
                </a:lnTo>
                <a:lnTo>
                  <a:pt x="1854201" y="469728"/>
                </a:lnTo>
                <a:lnTo>
                  <a:pt x="1856423" y="475762"/>
                </a:lnTo>
                <a:lnTo>
                  <a:pt x="1858328" y="482114"/>
                </a:lnTo>
                <a:lnTo>
                  <a:pt x="1859916" y="488784"/>
                </a:lnTo>
                <a:lnTo>
                  <a:pt x="1860868" y="496088"/>
                </a:lnTo>
                <a:lnTo>
                  <a:pt x="1861503" y="502123"/>
                </a:lnTo>
                <a:lnTo>
                  <a:pt x="1862138" y="507839"/>
                </a:lnTo>
                <a:lnTo>
                  <a:pt x="1862138" y="513874"/>
                </a:lnTo>
                <a:lnTo>
                  <a:pt x="1861503" y="519908"/>
                </a:lnTo>
                <a:lnTo>
                  <a:pt x="1861186" y="526260"/>
                </a:lnTo>
                <a:lnTo>
                  <a:pt x="1860868" y="532294"/>
                </a:lnTo>
                <a:lnTo>
                  <a:pt x="1858963" y="544998"/>
                </a:lnTo>
                <a:lnTo>
                  <a:pt x="1856106" y="557385"/>
                </a:lnTo>
                <a:lnTo>
                  <a:pt x="1852296" y="569771"/>
                </a:lnTo>
                <a:lnTo>
                  <a:pt x="1847851" y="582157"/>
                </a:lnTo>
                <a:lnTo>
                  <a:pt x="1842771" y="593908"/>
                </a:lnTo>
                <a:lnTo>
                  <a:pt x="1836738" y="605342"/>
                </a:lnTo>
                <a:lnTo>
                  <a:pt x="1833881" y="611059"/>
                </a:lnTo>
                <a:lnTo>
                  <a:pt x="1830071" y="616140"/>
                </a:lnTo>
                <a:lnTo>
                  <a:pt x="1826578" y="621540"/>
                </a:lnTo>
                <a:lnTo>
                  <a:pt x="1823086" y="626621"/>
                </a:lnTo>
                <a:lnTo>
                  <a:pt x="1818958" y="631385"/>
                </a:lnTo>
                <a:lnTo>
                  <a:pt x="1814831" y="635831"/>
                </a:lnTo>
                <a:lnTo>
                  <a:pt x="1810703" y="640278"/>
                </a:lnTo>
                <a:lnTo>
                  <a:pt x="1806258" y="644407"/>
                </a:lnTo>
                <a:lnTo>
                  <a:pt x="1801813" y="648218"/>
                </a:lnTo>
                <a:lnTo>
                  <a:pt x="1797051" y="652029"/>
                </a:lnTo>
                <a:lnTo>
                  <a:pt x="1792288" y="655205"/>
                </a:lnTo>
                <a:lnTo>
                  <a:pt x="1787208" y="658063"/>
                </a:lnTo>
                <a:lnTo>
                  <a:pt x="1782128" y="660922"/>
                </a:lnTo>
                <a:lnTo>
                  <a:pt x="1777048" y="663145"/>
                </a:lnTo>
                <a:lnTo>
                  <a:pt x="1771651" y="681248"/>
                </a:lnTo>
                <a:lnTo>
                  <a:pt x="1766571" y="699033"/>
                </a:lnTo>
                <a:lnTo>
                  <a:pt x="1760538" y="716501"/>
                </a:lnTo>
                <a:lnTo>
                  <a:pt x="1754188" y="733969"/>
                </a:lnTo>
                <a:lnTo>
                  <a:pt x="1747521" y="751437"/>
                </a:lnTo>
                <a:lnTo>
                  <a:pt x="1740218" y="768587"/>
                </a:lnTo>
                <a:lnTo>
                  <a:pt x="1732598" y="785420"/>
                </a:lnTo>
                <a:lnTo>
                  <a:pt x="1724661" y="801618"/>
                </a:lnTo>
                <a:lnTo>
                  <a:pt x="1716406" y="817497"/>
                </a:lnTo>
                <a:lnTo>
                  <a:pt x="1707516" y="833695"/>
                </a:lnTo>
                <a:lnTo>
                  <a:pt x="1698308" y="848940"/>
                </a:lnTo>
                <a:lnTo>
                  <a:pt x="1688148" y="863867"/>
                </a:lnTo>
                <a:lnTo>
                  <a:pt x="1677988" y="878159"/>
                </a:lnTo>
                <a:lnTo>
                  <a:pt x="1667511" y="892451"/>
                </a:lnTo>
                <a:lnTo>
                  <a:pt x="1656716" y="905790"/>
                </a:lnTo>
                <a:lnTo>
                  <a:pt x="1644968" y="918811"/>
                </a:lnTo>
                <a:lnTo>
                  <a:pt x="1633221" y="931515"/>
                </a:lnTo>
                <a:lnTo>
                  <a:pt x="1620838" y="943266"/>
                </a:lnTo>
                <a:lnTo>
                  <a:pt x="1607821" y="954382"/>
                </a:lnTo>
                <a:lnTo>
                  <a:pt x="1594803" y="964863"/>
                </a:lnTo>
                <a:lnTo>
                  <a:pt x="1581151" y="974709"/>
                </a:lnTo>
                <a:lnTo>
                  <a:pt x="1567181" y="983919"/>
                </a:lnTo>
                <a:lnTo>
                  <a:pt x="1552576" y="992176"/>
                </a:lnTo>
                <a:lnTo>
                  <a:pt x="1545273" y="996305"/>
                </a:lnTo>
                <a:lnTo>
                  <a:pt x="1537336" y="1000116"/>
                </a:lnTo>
                <a:lnTo>
                  <a:pt x="1530033" y="1003610"/>
                </a:lnTo>
                <a:lnTo>
                  <a:pt x="1522096" y="1006786"/>
                </a:lnTo>
                <a:lnTo>
                  <a:pt x="1513841" y="1010279"/>
                </a:lnTo>
                <a:lnTo>
                  <a:pt x="1506221" y="1012820"/>
                </a:lnTo>
                <a:lnTo>
                  <a:pt x="1497966" y="1015679"/>
                </a:lnTo>
                <a:lnTo>
                  <a:pt x="1489711" y="1017902"/>
                </a:lnTo>
                <a:lnTo>
                  <a:pt x="1481456" y="1020443"/>
                </a:lnTo>
                <a:lnTo>
                  <a:pt x="1473201" y="1022348"/>
                </a:lnTo>
                <a:lnTo>
                  <a:pt x="1464628" y="1024254"/>
                </a:lnTo>
                <a:lnTo>
                  <a:pt x="1455738" y="1025842"/>
                </a:lnTo>
                <a:lnTo>
                  <a:pt x="1447166" y="1027112"/>
                </a:lnTo>
                <a:lnTo>
                  <a:pt x="1438276" y="1028383"/>
                </a:lnTo>
                <a:lnTo>
                  <a:pt x="1429068" y="1029018"/>
                </a:lnTo>
                <a:lnTo>
                  <a:pt x="1419860" y="1029971"/>
                </a:lnTo>
                <a:lnTo>
                  <a:pt x="1410653" y="1030288"/>
                </a:lnTo>
                <a:lnTo>
                  <a:pt x="1401445" y="1030288"/>
                </a:lnTo>
                <a:lnTo>
                  <a:pt x="1391920" y="1030288"/>
                </a:lnTo>
                <a:lnTo>
                  <a:pt x="1382713" y="1029971"/>
                </a:lnTo>
                <a:lnTo>
                  <a:pt x="1373823" y="1029018"/>
                </a:lnTo>
                <a:lnTo>
                  <a:pt x="1364933" y="1028383"/>
                </a:lnTo>
                <a:lnTo>
                  <a:pt x="1356043" y="1027112"/>
                </a:lnTo>
                <a:lnTo>
                  <a:pt x="1347153" y="1025842"/>
                </a:lnTo>
                <a:lnTo>
                  <a:pt x="1338580" y="1024254"/>
                </a:lnTo>
                <a:lnTo>
                  <a:pt x="1330008" y="1022348"/>
                </a:lnTo>
                <a:lnTo>
                  <a:pt x="1321753" y="1020443"/>
                </a:lnTo>
                <a:lnTo>
                  <a:pt x="1313180" y="1018219"/>
                </a:lnTo>
                <a:lnTo>
                  <a:pt x="1305243" y="1015679"/>
                </a:lnTo>
                <a:lnTo>
                  <a:pt x="1297305" y="1013138"/>
                </a:lnTo>
                <a:lnTo>
                  <a:pt x="1289050" y="1010279"/>
                </a:lnTo>
                <a:lnTo>
                  <a:pt x="1281430" y="1007104"/>
                </a:lnTo>
                <a:lnTo>
                  <a:pt x="1273493" y="1003928"/>
                </a:lnTo>
                <a:lnTo>
                  <a:pt x="1266190" y="1000434"/>
                </a:lnTo>
                <a:lnTo>
                  <a:pt x="1250950" y="992812"/>
                </a:lnTo>
                <a:lnTo>
                  <a:pt x="1236345" y="984554"/>
                </a:lnTo>
                <a:lnTo>
                  <a:pt x="1222693" y="975344"/>
                </a:lnTo>
                <a:lnTo>
                  <a:pt x="1209040" y="965498"/>
                </a:lnTo>
                <a:lnTo>
                  <a:pt x="1196023" y="955017"/>
                </a:lnTo>
                <a:lnTo>
                  <a:pt x="1183005" y="943901"/>
                </a:lnTo>
                <a:lnTo>
                  <a:pt x="1170623" y="932150"/>
                </a:lnTo>
                <a:lnTo>
                  <a:pt x="1158875" y="919764"/>
                </a:lnTo>
                <a:lnTo>
                  <a:pt x="1147128" y="907378"/>
                </a:lnTo>
                <a:lnTo>
                  <a:pt x="1136333" y="893721"/>
                </a:lnTo>
                <a:lnTo>
                  <a:pt x="1125538" y="879747"/>
                </a:lnTo>
                <a:lnTo>
                  <a:pt x="1115695" y="865455"/>
                </a:lnTo>
                <a:lnTo>
                  <a:pt x="1105853" y="850845"/>
                </a:lnTo>
                <a:lnTo>
                  <a:pt x="1096645" y="835601"/>
                </a:lnTo>
                <a:lnTo>
                  <a:pt x="1087755" y="820038"/>
                </a:lnTo>
                <a:lnTo>
                  <a:pt x="1079183" y="803841"/>
                </a:lnTo>
                <a:lnTo>
                  <a:pt x="1070928" y="787643"/>
                </a:lnTo>
                <a:lnTo>
                  <a:pt x="1063625" y="770811"/>
                </a:lnTo>
                <a:lnTo>
                  <a:pt x="1056323" y="753978"/>
                </a:lnTo>
                <a:lnTo>
                  <a:pt x="1049655" y="737145"/>
                </a:lnTo>
                <a:lnTo>
                  <a:pt x="1043305" y="719677"/>
                </a:lnTo>
                <a:lnTo>
                  <a:pt x="1037273" y="702209"/>
                </a:lnTo>
                <a:lnTo>
                  <a:pt x="1031558" y="684106"/>
                </a:lnTo>
                <a:lnTo>
                  <a:pt x="1026795" y="666321"/>
                </a:lnTo>
                <a:lnTo>
                  <a:pt x="1020763" y="664415"/>
                </a:lnTo>
                <a:lnTo>
                  <a:pt x="1015365" y="662827"/>
                </a:lnTo>
                <a:lnTo>
                  <a:pt x="1009650" y="659969"/>
                </a:lnTo>
                <a:lnTo>
                  <a:pt x="1004253" y="657110"/>
                </a:lnTo>
                <a:lnTo>
                  <a:pt x="998855" y="653617"/>
                </a:lnTo>
                <a:lnTo>
                  <a:pt x="993775" y="650441"/>
                </a:lnTo>
                <a:lnTo>
                  <a:pt x="989013" y="646312"/>
                </a:lnTo>
                <a:lnTo>
                  <a:pt x="984250" y="642183"/>
                </a:lnTo>
                <a:lnTo>
                  <a:pt x="979805" y="637737"/>
                </a:lnTo>
                <a:lnTo>
                  <a:pt x="975360" y="632973"/>
                </a:lnTo>
                <a:lnTo>
                  <a:pt x="970598" y="627891"/>
                </a:lnTo>
                <a:lnTo>
                  <a:pt x="966788" y="622492"/>
                </a:lnTo>
                <a:lnTo>
                  <a:pt x="962978" y="617411"/>
                </a:lnTo>
                <a:lnTo>
                  <a:pt x="959168" y="611376"/>
                </a:lnTo>
                <a:lnTo>
                  <a:pt x="955358" y="605660"/>
                </a:lnTo>
                <a:lnTo>
                  <a:pt x="952500" y="599625"/>
                </a:lnTo>
                <a:lnTo>
                  <a:pt x="949325" y="593591"/>
                </a:lnTo>
                <a:lnTo>
                  <a:pt x="946468" y="587239"/>
                </a:lnTo>
                <a:lnTo>
                  <a:pt x="943610" y="580887"/>
                </a:lnTo>
                <a:lnTo>
                  <a:pt x="941388" y="574535"/>
                </a:lnTo>
                <a:lnTo>
                  <a:pt x="939165" y="567865"/>
                </a:lnTo>
                <a:lnTo>
                  <a:pt x="937260" y="561196"/>
                </a:lnTo>
                <a:lnTo>
                  <a:pt x="935355" y="554526"/>
                </a:lnTo>
                <a:lnTo>
                  <a:pt x="934085" y="547857"/>
                </a:lnTo>
                <a:lnTo>
                  <a:pt x="932815" y="541505"/>
                </a:lnTo>
                <a:lnTo>
                  <a:pt x="931863" y="534835"/>
                </a:lnTo>
                <a:lnTo>
                  <a:pt x="930910" y="528166"/>
                </a:lnTo>
                <a:lnTo>
                  <a:pt x="930593" y="521496"/>
                </a:lnTo>
                <a:lnTo>
                  <a:pt x="930275" y="515144"/>
                </a:lnTo>
                <a:lnTo>
                  <a:pt x="930275" y="508792"/>
                </a:lnTo>
                <a:lnTo>
                  <a:pt x="930593" y="502440"/>
                </a:lnTo>
                <a:lnTo>
                  <a:pt x="931228" y="496088"/>
                </a:lnTo>
                <a:lnTo>
                  <a:pt x="932498" y="488148"/>
                </a:lnTo>
                <a:lnTo>
                  <a:pt x="934403" y="480526"/>
                </a:lnTo>
                <a:lnTo>
                  <a:pt x="936625" y="473539"/>
                </a:lnTo>
                <a:lnTo>
                  <a:pt x="939165" y="466869"/>
                </a:lnTo>
                <a:lnTo>
                  <a:pt x="942023" y="460835"/>
                </a:lnTo>
                <a:lnTo>
                  <a:pt x="945515" y="455436"/>
                </a:lnTo>
                <a:lnTo>
                  <a:pt x="949325" y="450037"/>
                </a:lnTo>
                <a:lnTo>
                  <a:pt x="953770" y="445273"/>
                </a:lnTo>
                <a:lnTo>
                  <a:pt x="958215" y="440826"/>
                </a:lnTo>
                <a:lnTo>
                  <a:pt x="962978" y="437015"/>
                </a:lnTo>
                <a:lnTo>
                  <a:pt x="968058" y="433204"/>
                </a:lnTo>
                <a:lnTo>
                  <a:pt x="973773" y="430345"/>
                </a:lnTo>
                <a:lnTo>
                  <a:pt x="979805" y="427805"/>
                </a:lnTo>
                <a:lnTo>
                  <a:pt x="985520" y="425264"/>
                </a:lnTo>
                <a:lnTo>
                  <a:pt x="992188" y="423358"/>
                </a:lnTo>
                <a:lnTo>
                  <a:pt x="998855" y="421453"/>
                </a:lnTo>
                <a:lnTo>
                  <a:pt x="1000443" y="399538"/>
                </a:lnTo>
                <a:lnTo>
                  <a:pt x="1002983" y="377942"/>
                </a:lnTo>
                <a:lnTo>
                  <a:pt x="1006475" y="356663"/>
                </a:lnTo>
                <a:lnTo>
                  <a:pt x="1010603" y="336019"/>
                </a:lnTo>
                <a:lnTo>
                  <a:pt x="1015365" y="315057"/>
                </a:lnTo>
                <a:lnTo>
                  <a:pt x="1020763" y="295049"/>
                </a:lnTo>
                <a:lnTo>
                  <a:pt x="1027748" y="275358"/>
                </a:lnTo>
                <a:lnTo>
                  <a:pt x="1034733" y="256302"/>
                </a:lnTo>
                <a:lnTo>
                  <a:pt x="1042353" y="237564"/>
                </a:lnTo>
                <a:lnTo>
                  <a:pt x="1051243" y="219143"/>
                </a:lnTo>
                <a:lnTo>
                  <a:pt x="1060768" y="201675"/>
                </a:lnTo>
                <a:lnTo>
                  <a:pt x="1065530" y="193417"/>
                </a:lnTo>
                <a:lnTo>
                  <a:pt x="1070610" y="184842"/>
                </a:lnTo>
                <a:lnTo>
                  <a:pt x="1076008" y="176585"/>
                </a:lnTo>
                <a:lnTo>
                  <a:pt x="1081405" y="168327"/>
                </a:lnTo>
                <a:lnTo>
                  <a:pt x="1087120" y="160070"/>
                </a:lnTo>
                <a:lnTo>
                  <a:pt x="1092835" y="152447"/>
                </a:lnTo>
                <a:lnTo>
                  <a:pt x="1098868" y="144507"/>
                </a:lnTo>
                <a:lnTo>
                  <a:pt x="1104900" y="137202"/>
                </a:lnTo>
                <a:lnTo>
                  <a:pt x="1111250" y="129580"/>
                </a:lnTo>
                <a:lnTo>
                  <a:pt x="1117600" y="122593"/>
                </a:lnTo>
                <a:lnTo>
                  <a:pt x="1124268" y="115606"/>
                </a:lnTo>
                <a:lnTo>
                  <a:pt x="1131253" y="108619"/>
                </a:lnTo>
                <a:lnTo>
                  <a:pt x="1137920" y="101949"/>
                </a:lnTo>
                <a:lnTo>
                  <a:pt x="1144905" y="95597"/>
                </a:lnTo>
                <a:lnTo>
                  <a:pt x="1152525" y="89245"/>
                </a:lnTo>
                <a:lnTo>
                  <a:pt x="1159828" y="82893"/>
                </a:lnTo>
                <a:lnTo>
                  <a:pt x="1167130" y="76859"/>
                </a:lnTo>
                <a:lnTo>
                  <a:pt x="1175068" y="71460"/>
                </a:lnTo>
                <a:lnTo>
                  <a:pt x="1183005" y="65743"/>
                </a:lnTo>
                <a:lnTo>
                  <a:pt x="1190943" y="60661"/>
                </a:lnTo>
                <a:lnTo>
                  <a:pt x="1198880" y="55262"/>
                </a:lnTo>
                <a:lnTo>
                  <a:pt x="1207453" y="50498"/>
                </a:lnTo>
                <a:lnTo>
                  <a:pt x="1216025" y="45734"/>
                </a:lnTo>
                <a:lnTo>
                  <a:pt x="1224598" y="41288"/>
                </a:lnTo>
                <a:lnTo>
                  <a:pt x="1233170" y="36841"/>
                </a:lnTo>
                <a:lnTo>
                  <a:pt x="1242060" y="32713"/>
                </a:lnTo>
                <a:lnTo>
                  <a:pt x="1250950" y="28902"/>
                </a:lnTo>
                <a:lnTo>
                  <a:pt x="1260158" y="25408"/>
                </a:lnTo>
                <a:lnTo>
                  <a:pt x="1269365" y="21914"/>
                </a:lnTo>
                <a:lnTo>
                  <a:pt x="1278890" y="19056"/>
                </a:lnTo>
                <a:lnTo>
                  <a:pt x="1288415" y="15880"/>
                </a:lnTo>
                <a:lnTo>
                  <a:pt x="1297940" y="13339"/>
                </a:lnTo>
                <a:lnTo>
                  <a:pt x="1307783" y="10798"/>
                </a:lnTo>
                <a:lnTo>
                  <a:pt x="1317625" y="8575"/>
                </a:lnTo>
                <a:lnTo>
                  <a:pt x="1327785" y="6670"/>
                </a:lnTo>
                <a:lnTo>
                  <a:pt x="1337945" y="4764"/>
                </a:lnTo>
                <a:lnTo>
                  <a:pt x="1348105" y="3494"/>
                </a:lnTo>
                <a:lnTo>
                  <a:pt x="1358583" y="2223"/>
                </a:lnTo>
                <a:lnTo>
                  <a:pt x="1369060" y="1588"/>
                </a:lnTo>
                <a:lnTo>
                  <a:pt x="1379855" y="635"/>
                </a:lnTo>
                <a:lnTo>
                  <a:pt x="1390650" y="318"/>
                </a:lnTo>
                <a:lnTo>
                  <a:pt x="1401445" y="0"/>
                </a:lnTo>
                <a:close/>
              </a:path>
            </a:pathLst>
          </a:custGeom>
          <a:solidFill>
            <a:srgbClr val="A91F24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1" name="圆角矩形 15"/>
          <p:cNvSpPr/>
          <p:nvPr/>
        </p:nvSpPr>
        <p:spPr>
          <a:xfrm>
            <a:off x="5408930" y="1073785"/>
            <a:ext cx="2162810" cy="750570"/>
          </a:xfrm>
          <a:prstGeom prst="roundRect">
            <a:avLst/>
          </a:prstGeom>
          <a:solidFill>
            <a:srgbClr val="A91F2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300" b="1" dirty="0">
                <a:ln w="2540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charset="-122"/>
              </a:rPr>
              <a:t>万事大吉了吗？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/>
      <p:bldP spid="8" grpId="0"/>
      <p:bldP spid="17" grpId="0" bldLvl="0" animBg="1"/>
      <p:bldP spid="21" grpId="0"/>
      <p:bldP spid="22" grpId="0"/>
      <p:bldP spid="23" grpId="0" bldLvl="0" animBg="1"/>
      <p:bldP spid="24" grpId="0"/>
      <p:bldP spid="28" grpId="0" bldLvl="0" animBg="1"/>
      <p:bldP spid="3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42950" y="3155950"/>
            <a:ext cx="1421765" cy="4298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前讲复习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2276475" y="1893888"/>
            <a:ext cx="260350" cy="29908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4888230" y="1633538"/>
            <a:ext cx="179388" cy="20161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438400" y="4298950"/>
            <a:ext cx="2139950" cy="1150620"/>
            <a:chOff x="3840" y="6770"/>
            <a:chExt cx="3370" cy="1812"/>
          </a:xfrm>
        </p:grpSpPr>
        <p:sp>
          <p:nvSpPr>
            <p:cNvPr id="6" name="左大括号 5"/>
            <p:cNvSpPr/>
            <p:nvPr/>
          </p:nvSpPr>
          <p:spPr>
            <a:xfrm>
              <a:off x="6968" y="6770"/>
              <a:ext cx="243" cy="1813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文本框 40"/>
            <p:cNvSpPr txBox="1"/>
            <p:nvPr/>
          </p:nvSpPr>
          <p:spPr>
            <a:xfrm>
              <a:off x="3840" y="7450"/>
              <a:ext cx="318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TCP连接建立与释放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01900" y="1163320"/>
            <a:ext cx="2425700" cy="1583690"/>
            <a:chOff x="3940" y="1832"/>
            <a:chExt cx="3820" cy="2494"/>
          </a:xfrm>
        </p:grpSpPr>
        <p:grpSp>
          <p:nvGrpSpPr>
            <p:cNvPr id="31" name="组合 30"/>
            <p:cNvGrpSpPr/>
            <p:nvPr/>
          </p:nvGrpSpPr>
          <p:grpSpPr>
            <a:xfrm>
              <a:off x="3940" y="2120"/>
              <a:ext cx="2852" cy="1928"/>
              <a:chOff x="3940" y="2120"/>
              <a:chExt cx="2852" cy="1928"/>
            </a:xfrm>
          </p:grpSpPr>
          <p:sp>
            <p:nvSpPr>
              <p:cNvPr id="5" name="左大括号 4"/>
              <p:cNvSpPr/>
              <p:nvPr/>
            </p:nvSpPr>
            <p:spPr>
              <a:xfrm>
                <a:off x="6510" y="2120"/>
                <a:ext cx="283" cy="1928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文本框 40"/>
              <p:cNvSpPr txBox="1"/>
              <p:nvPr/>
            </p:nvSpPr>
            <p:spPr>
              <a:xfrm>
                <a:off x="3940" y="2734"/>
                <a:ext cx="2555" cy="5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TCP数据报格式</a:t>
                </a:r>
              </a:p>
            </p:txBody>
          </p:sp>
        </p:grpSp>
        <p:sp>
          <p:nvSpPr>
            <p:cNvPr id="11" name="文本框 40"/>
            <p:cNvSpPr txBox="1"/>
            <p:nvPr/>
          </p:nvSpPr>
          <p:spPr>
            <a:xfrm>
              <a:off x="6790" y="1832"/>
              <a:ext cx="97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  <p:sp>
          <p:nvSpPr>
            <p:cNvPr id="12" name="文本框 40"/>
            <p:cNvSpPr txBox="1"/>
            <p:nvPr/>
          </p:nvSpPr>
          <p:spPr>
            <a:xfrm>
              <a:off x="6728" y="3796"/>
              <a:ext cx="97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dist">
                <a:buClrTx/>
                <a:buSzTx/>
                <a:buFontTx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报头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927600" y="1132205"/>
            <a:ext cx="5144770" cy="368300"/>
            <a:chOff x="7760" y="1783"/>
            <a:chExt cx="8102" cy="580"/>
          </a:xfrm>
        </p:grpSpPr>
        <p:cxnSp>
          <p:nvCxnSpPr>
            <p:cNvPr id="13" name="直接箭头连接符 12"/>
            <p:cNvCxnSpPr/>
            <p:nvPr/>
          </p:nvCxnSpPr>
          <p:spPr>
            <a:xfrm>
              <a:off x="7760" y="2073"/>
              <a:ext cx="10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9" name="文本框 5"/>
            <p:cNvSpPr txBox="1"/>
            <p:nvPr/>
          </p:nvSpPr>
          <p:spPr>
            <a:xfrm>
              <a:off x="8718" y="1783"/>
              <a:ext cx="714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最大段长度</a:t>
              </a:r>
              <a:r>
                <a:rPr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MSS</a:t>
              </a:r>
              <a:r>
                <a:rPr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（定义、确定原则、计算）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067935" y="1535430"/>
            <a:ext cx="3743960" cy="369570"/>
            <a:chOff x="7981" y="2418"/>
            <a:chExt cx="5896" cy="582"/>
          </a:xfrm>
        </p:grpSpPr>
        <p:sp>
          <p:nvSpPr>
            <p:cNvPr id="9" name="文本框 40"/>
            <p:cNvSpPr txBox="1"/>
            <p:nvPr/>
          </p:nvSpPr>
          <p:spPr>
            <a:xfrm>
              <a:off x="7981" y="2468"/>
              <a:ext cx="3147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源端口号、目的端口号</a:t>
              </a:r>
            </a:p>
          </p:txBody>
        </p:sp>
        <p:cxnSp>
          <p:nvCxnSpPr>
            <p:cNvPr id="53" name="直接箭头连接符 52"/>
            <p:cNvCxnSpPr/>
            <p:nvPr/>
          </p:nvCxnSpPr>
          <p:spPr>
            <a:xfrm>
              <a:off x="11047" y="2709"/>
              <a:ext cx="1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53"/>
            <p:cNvSpPr txBox="1"/>
            <p:nvPr/>
          </p:nvSpPr>
          <p:spPr>
            <a:xfrm>
              <a:off x="12063" y="2418"/>
              <a:ext cx="1815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各占</a:t>
              </a:r>
              <a:r>
                <a:rPr lang="en-US" altLang="zh-CN" b="0" dirty="0">
                  <a:latin typeface="Times New Roman" panose="02020603050405020304" pitchFamily="18" charset="0"/>
                  <a:ea typeface="黑体" panose="02010609060101010101" charset="-122"/>
                </a:rPr>
                <a:t>16</a:t>
              </a:r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位</a:t>
              </a:r>
            </a:p>
          </p:txBody>
        </p:sp>
      </p:grpSp>
      <p:sp>
        <p:nvSpPr>
          <p:cNvPr id="16" name="文本框 40"/>
          <p:cNvSpPr txBox="1"/>
          <p:nvPr/>
        </p:nvSpPr>
        <p:spPr>
          <a:xfrm>
            <a:off x="5018088" y="3233738"/>
            <a:ext cx="773112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校验和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559300" y="3964305"/>
            <a:ext cx="1162050" cy="707390"/>
            <a:chOff x="7180" y="6243"/>
            <a:chExt cx="1830" cy="1114"/>
          </a:xfrm>
        </p:grpSpPr>
        <p:sp>
          <p:nvSpPr>
            <p:cNvPr id="5133" name="文本框 40"/>
            <p:cNvSpPr txBox="1"/>
            <p:nvPr/>
          </p:nvSpPr>
          <p:spPr>
            <a:xfrm>
              <a:off x="7180" y="6558"/>
              <a:ext cx="1649" cy="5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三次握手</a:t>
              </a:r>
            </a:p>
          </p:txBody>
        </p:sp>
        <p:sp>
          <p:nvSpPr>
            <p:cNvPr id="56" name="左大括号 55"/>
            <p:cNvSpPr/>
            <p:nvPr/>
          </p:nvSpPr>
          <p:spPr>
            <a:xfrm>
              <a:off x="8818" y="6243"/>
              <a:ext cx="193" cy="111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文本框 40"/>
          <p:cNvSpPr txBox="1"/>
          <p:nvPr/>
        </p:nvSpPr>
        <p:spPr>
          <a:xfrm>
            <a:off x="5721350" y="3843655"/>
            <a:ext cx="1998980" cy="306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三次握手的基本过程</a:t>
            </a:r>
          </a:p>
        </p:txBody>
      </p:sp>
      <p:sp>
        <p:nvSpPr>
          <p:cNvPr id="18" name="文本框 40"/>
          <p:cNvSpPr txBox="1"/>
          <p:nvPr/>
        </p:nvSpPr>
        <p:spPr>
          <a:xfrm>
            <a:off x="5743575" y="4159250"/>
            <a:ext cx="439293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每次握手时，数据报的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Seq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的变化</a:t>
            </a:r>
          </a:p>
        </p:txBody>
      </p:sp>
      <p:sp>
        <p:nvSpPr>
          <p:cNvPr id="19" name="文本框 40"/>
          <p:cNvSpPr txBox="1"/>
          <p:nvPr/>
        </p:nvSpPr>
        <p:spPr>
          <a:xfrm>
            <a:off x="5721350" y="4492625"/>
            <a:ext cx="36004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为什么要三次握手，而不能只进行两次？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562475" y="4885055"/>
            <a:ext cx="1146175" cy="1141730"/>
            <a:chOff x="7185" y="7693"/>
            <a:chExt cx="1805" cy="1798"/>
          </a:xfrm>
        </p:grpSpPr>
        <p:sp>
          <p:nvSpPr>
            <p:cNvPr id="5134" name="文本框 40"/>
            <p:cNvSpPr txBox="1"/>
            <p:nvPr/>
          </p:nvSpPr>
          <p:spPr>
            <a:xfrm>
              <a:off x="7185" y="8293"/>
              <a:ext cx="1508" cy="5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四次挥手</a:t>
              </a:r>
            </a:p>
          </p:txBody>
        </p:sp>
        <p:sp>
          <p:nvSpPr>
            <p:cNvPr id="60" name="左大括号 59"/>
            <p:cNvSpPr/>
            <p:nvPr/>
          </p:nvSpPr>
          <p:spPr>
            <a:xfrm>
              <a:off x="8828" y="7693"/>
              <a:ext cx="163" cy="179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文本框 40"/>
          <p:cNvSpPr txBox="1"/>
          <p:nvPr/>
        </p:nvSpPr>
        <p:spPr>
          <a:xfrm>
            <a:off x="5708650" y="4813300"/>
            <a:ext cx="1998663" cy="306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四次挥手的基本过程</a:t>
            </a:r>
          </a:p>
        </p:txBody>
      </p:sp>
      <p:sp>
        <p:nvSpPr>
          <p:cNvPr id="21" name="文本框 40"/>
          <p:cNvSpPr txBox="1"/>
          <p:nvPr/>
        </p:nvSpPr>
        <p:spPr>
          <a:xfrm>
            <a:off x="5692775" y="5178425"/>
            <a:ext cx="43910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每次挥手时，数据报的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Seq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FIN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的变化</a:t>
            </a:r>
          </a:p>
        </p:txBody>
      </p:sp>
      <p:sp>
        <p:nvSpPr>
          <p:cNvPr id="22" name="文本框 40"/>
          <p:cNvSpPr txBox="1"/>
          <p:nvPr/>
        </p:nvSpPr>
        <p:spPr>
          <a:xfrm>
            <a:off x="5695950" y="5507038"/>
            <a:ext cx="4392613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每次挥手后，收发端进入的状态（能否收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/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发数据）</a:t>
            </a:r>
          </a:p>
        </p:txBody>
      </p:sp>
      <p:sp>
        <p:nvSpPr>
          <p:cNvPr id="23" name="文本框 40"/>
          <p:cNvSpPr txBox="1"/>
          <p:nvPr/>
        </p:nvSpPr>
        <p:spPr>
          <a:xfrm>
            <a:off x="5708650" y="5857875"/>
            <a:ext cx="37401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charset="-122"/>
              </a:rPr>
              <a:t>时间等待定时器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（为什么等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2MSL?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）</a:t>
            </a:r>
          </a:p>
        </p:txBody>
      </p:sp>
      <p:sp>
        <p:nvSpPr>
          <p:cNvPr id="24" name="文本框 40"/>
          <p:cNvSpPr txBox="1"/>
          <p:nvPr/>
        </p:nvSpPr>
        <p:spPr>
          <a:xfrm>
            <a:off x="4516755" y="4713605"/>
            <a:ext cx="1273810" cy="321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保持定时器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5018405" y="1938655"/>
            <a:ext cx="5188585" cy="1276985"/>
            <a:chOff x="7903" y="3053"/>
            <a:chExt cx="8171" cy="2011"/>
          </a:xfrm>
        </p:grpSpPr>
        <p:sp>
          <p:nvSpPr>
            <p:cNvPr id="5130" name="文本框 40"/>
            <p:cNvSpPr txBox="1"/>
            <p:nvPr/>
          </p:nvSpPr>
          <p:spPr>
            <a:xfrm>
              <a:off x="7903" y="3053"/>
              <a:ext cx="14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发送序号</a:t>
              </a:r>
            </a:p>
          </p:txBody>
        </p:sp>
        <p:sp>
          <p:nvSpPr>
            <p:cNvPr id="5132" name="文本框 40"/>
            <p:cNvSpPr txBox="1"/>
            <p:nvPr/>
          </p:nvSpPr>
          <p:spPr>
            <a:xfrm>
              <a:off x="7903" y="4068"/>
              <a:ext cx="146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报头长度</a:t>
              </a:r>
            </a:p>
          </p:txBody>
        </p:sp>
        <p:sp>
          <p:nvSpPr>
            <p:cNvPr id="14" name="文本框 40"/>
            <p:cNvSpPr txBox="1"/>
            <p:nvPr/>
          </p:nvSpPr>
          <p:spPr>
            <a:xfrm>
              <a:off x="7903" y="3555"/>
              <a:ext cx="14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确认序号</a:t>
              </a:r>
            </a:p>
          </p:txBody>
        </p:sp>
        <p:sp>
          <p:nvSpPr>
            <p:cNvPr id="5141" name="文本框 40"/>
            <p:cNvSpPr txBox="1"/>
            <p:nvPr/>
          </p:nvSpPr>
          <p:spPr>
            <a:xfrm>
              <a:off x="7903" y="4580"/>
              <a:ext cx="146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窗口</a:t>
              </a:r>
            </a:p>
          </p:txBody>
        </p:sp>
        <p:sp>
          <p:nvSpPr>
            <p:cNvPr id="71" name="左大括号 70"/>
            <p:cNvSpPr/>
            <p:nvPr/>
          </p:nvSpPr>
          <p:spPr>
            <a:xfrm flipH="1">
              <a:off x="9523" y="3265"/>
              <a:ext cx="218" cy="157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文本框 71"/>
            <p:cNvSpPr txBox="1"/>
            <p:nvPr/>
          </p:nvSpPr>
          <p:spPr>
            <a:xfrm>
              <a:off x="9880" y="3744"/>
              <a:ext cx="6195" cy="5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含义、自身占位数、单位等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067935" y="3319145"/>
            <a:ext cx="5176520" cy="645160"/>
            <a:chOff x="7981" y="5227"/>
            <a:chExt cx="8152" cy="1016"/>
          </a:xfrm>
        </p:grpSpPr>
        <p:grpSp>
          <p:nvGrpSpPr>
            <p:cNvPr id="55" name="组合 54"/>
            <p:cNvGrpSpPr/>
            <p:nvPr/>
          </p:nvGrpSpPr>
          <p:grpSpPr>
            <a:xfrm>
              <a:off x="7981" y="5553"/>
              <a:ext cx="5001" cy="484"/>
              <a:chOff x="7981" y="5553"/>
              <a:chExt cx="5001" cy="484"/>
            </a:xfrm>
          </p:grpSpPr>
          <p:sp>
            <p:nvSpPr>
              <p:cNvPr id="5131" name="文本框 40"/>
              <p:cNvSpPr txBox="1"/>
              <p:nvPr/>
            </p:nvSpPr>
            <p:spPr>
              <a:xfrm>
                <a:off x="7981" y="5553"/>
                <a:ext cx="4262" cy="4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URG,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ACK</a:t>
                </a:r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PSH, RST,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</a:t>
                </a:r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</a:t>
                </a:r>
                <a:endParaRPr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73" name="直接箭头连接符 72"/>
              <p:cNvCxnSpPr/>
              <p:nvPr/>
            </p:nvCxnSpPr>
            <p:spPr>
              <a:xfrm>
                <a:off x="12130" y="5802"/>
                <a:ext cx="853" cy="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40"/>
            <p:cNvSpPr txBox="1">
              <a:spLocks noChangeArrowheads="1"/>
            </p:cNvSpPr>
            <p:nvPr/>
          </p:nvSpPr>
          <p:spPr bwMode="auto">
            <a:xfrm>
              <a:off x="12983" y="5227"/>
              <a:ext cx="3150" cy="1016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连接建立和释放过程中的作用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 animBg="1"/>
      <p:bldP spid="4" grpId="0" animBg="1"/>
      <p:bldP spid="7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8B82F-E642-41AC-9273-6977A2FCD524}"/>
              </a:ext>
            </a:extLst>
          </p:cNvPr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为什么要三次握手？一次、两次、四次行不行？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4B7872-AD21-4E27-95EE-5F5ECBCB50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D69394E-44C0-4B17-B476-75AECC0DE973}"/>
              </a:ext>
            </a:extLst>
          </p:cNvPr>
          <p:cNvCxnSpPr>
            <a:cxnSpLocks/>
          </p:cNvCxnSpPr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A0E66CE-D181-4F43-BE68-22CB85A20196}"/>
              </a:ext>
            </a:extLst>
          </p:cNvPr>
          <p:cNvCxnSpPr>
            <a:cxnSpLocks/>
          </p:cNvCxnSpPr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7E95D382-35EE-4F6E-B68C-62F95DDF6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F30C9BB-9EED-4B45-AC1E-AA21BEF42124}"/>
              </a:ext>
            </a:extLst>
          </p:cNvPr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60388F3-08BE-4C9D-B32F-B0797AAB5647}"/>
              </a:ext>
            </a:extLst>
          </p:cNvPr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DE46243-04E2-4BDF-B609-8CB764099EE8}"/>
              </a:ext>
            </a:extLst>
          </p:cNvPr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请求包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C273D993-DA9A-41E2-B147-155D3C4371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2099920-D2AC-4A8A-AD1D-727ACB0D3D37}"/>
              </a:ext>
            </a:extLst>
          </p:cNvPr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EA9486C8-6F1A-4688-8A46-11439B7CED63}"/>
              </a:ext>
            </a:extLst>
          </p:cNvPr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434124C-C159-44F2-9370-350371724912}"/>
              </a:ext>
            </a:extLst>
          </p:cNvPr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CFC60DC1-C725-4BF9-BCA2-910CB23C10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76A52E64-1CE3-4C6E-8F0A-456310C0B750}"/>
              </a:ext>
            </a:extLst>
          </p:cNvPr>
          <p:cNvSpPr txBox="1"/>
          <p:nvPr/>
        </p:nvSpPr>
        <p:spPr>
          <a:xfrm>
            <a:off x="1049851" y="2903283"/>
            <a:ext cx="7204359" cy="87075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一次握手显然不可行，因为没有收到对方的任何回复，无法确定对方是否同意建立连接并进行通信。</a:t>
            </a:r>
          </a:p>
        </p:txBody>
      </p:sp>
    </p:spTree>
    <p:extLst>
      <p:ext uri="{BB962C8B-B14F-4D97-AF65-F5344CB8AC3E}">
        <p14:creationId xmlns:p14="http://schemas.microsoft.com/office/powerpoint/2010/main" val="174042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4" grpId="0"/>
      <p:bldP spid="65" grpId="0"/>
      <p:bldP spid="6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8B82F-E642-41AC-9273-6977A2FCD524}"/>
              </a:ext>
            </a:extLst>
          </p:cNvPr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为什么要三次握手？一次、两次、四次行不行？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4B7872-AD21-4E27-95EE-5F5ECBCB50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D69394E-44C0-4B17-B476-75AECC0DE973}"/>
              </a:ext>
            </a:extLst>
          </p:cNvPr>
          <p:cNvCxnSpPr>
            <a:cxnSpLocks/>
          </p:cNvCxnSpPr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A0E66CE-D181-4F43-BE68-22CB85A20196}"/>
              </a:ext>
            </a:extLst>
          </p:cNvPr>
          <p:cNvCxnSpPr>
            <a:cxnSpLocks/>
          </p:cNvCxnSpPr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7E95D382-35EE-4F6E-B68C-62F95DDF6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F30C9BB-9EED-4B45-AC1E-AA21BEF42124}"/>
              </a:ext>
            </a:extLst>
          </p:cNvPr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60388F3-08BE-4C9D-B32F-B0797AAB5647}"/>
              </a:ext>
            </a:extLst>
          </p:cNvPr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DE46243-04E2-4BDF-B609-8CB764099EE8}"/>
              </a:ext>
            </a:extLst>
          </p:cNvPr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请求包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C273D993-DA9A-41E2-B147-155D3C4371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2099920-D2AC-4A8A-AD1D-727ACB0D3D37}"/>
              </a:ext>
            </a:extLst>
          </p:cNvPr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EA9486C8-6F1A-4688-8A46-11439B7CED63}"/>
              </a:ext>
            </a:extLst>
          </p:cNvPr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434124C-C159-44F2-9370-350371724912}"/>
              </a:ext>
            </a:extLst>
          </p:cNvPr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CFC60DC1-C725-4BF9-BCA2-910CB23C10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76A52E64-1CE3-4C6E-8F0A-456310C0B750}"/>
              </a:ext>
            </a:extLst>
          </p:cNvPr>
          <p:cNvSpPr txBox="1"/>
          <p:nvPr/>
        </p:nvSpPr>
        <p:spPr>
          <a:xfrm>
            <a:off x="1049851" y="2903283"/>
            <a:ext cx="7204359" cy="87075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四次握手肯定可以，但是相比于三次握手，没有增加任何必要的信息，浪费了信道资源，没有必要。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E51A5E8-2746-44A8-9234-A68011BA1D89}"/>
              </a:ext>
            </a:extLst>
          </p:cNvPr>
          <p:cNvCxnSpPr/>
          <p:nvPr/>
        </p:nvCxnSpPr>
        <p:spPr>
          <a:xfrm flipH="1">
            <a:off x="8987265" y="397488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E760B39-52B8-4F81-891E-C7805D7B6F70}"/>
              </a:ext>
            </a:extLst>
          </p:cNvPr>
          <p:cNvSpPr txBox="1"/>
          <p:nvPr/>
        </p:nvSpPr>
        <p:spPr>
          <a:xfrm rot="20767183">
            <a:off x="9055236" y="397486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</p:spTree>
    <p:extLst>
      <p:ext uri="{BB962C8B-B14F-4D97-AF65-F5344CB8AC3E}">
        <p14:creationId xmlns:p14="http://schemas.microsoft.com/office/powerpoint/2010/main" val="184927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8B82F-E642-41AC-9273-6977A2FCD524}"/>
              </a:ext>
            </a:extLst>
          </p:cNvPr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为什么要三次握手？一次、两次、四次行不行？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4B7872-AD21-4E27-95EE-5F5ECBCB50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D69394E-44C0-4B17-B476-75AECC0DE973}"/>
              </a:ext>
            </a:extLst>
          </p:cNvPr>
          <p:cNvCxnSpPr>
            <a:cxnSpLocks/>
          </p:cNvCxnSpPr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A0E66CE-D181-4F43-BE68-22CB85A20196}"/>
              </a:ext>
            </a:extLst>
          </p:cNvPr>
          <p:cNvCxnSpPr>
            <a:cxnSpLocks/>
          </p:cNvCxnSpPr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7E95D382-35EE-4F6E-B68C-62F95DDF6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F30C9BB-9EED-4B45-AC1E-AA21BEF42124}"/>
              </a:ext>
            </a:extLst>
          </p:cNvPr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60388F3-08BE-4C9D-B32F-B0797AAB5647}"/>
              </a:ext>
            </a:extLst>
          </p:cNvPr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DE46243-04E2-4BDF-B609-8CB764099EE8}"/>
              </a:ext>
            </a:extLst>
          </p:cNvPr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请求包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C273D993-DA9A-41E2-B147-155D3C4371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2099920-D2AC-4A8A-AD1D-727ACB0D3D37}"/>
              </a:ext>
            </a:extLst>
          </p:cNvPr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EA9486C8-6F1A-4688-8A46-11439B7CED63}"/>
              </a:ext>
            </a:extLst>
          </p:cNvPr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434124C-C159-44F2-9370-350371724912}"/>
              </a:ext>
            </a:extLst>
          </p:cNvPr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CFC60DC1-C725-4BF9-BCA2-910CB23C10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76A52E64-1CE3-4C6E-8F0A-456310C0B750}"/>
              </a:ext>
            </a:extLst>
          </p:cNvPr>
          <p:cNvSpPr txBox="1"/>
          <p:nvPr/>
        </p:nvSpPr>
        <p:spPr>
          <a:xfrm>
            <a:off x="1049851" y="2903283"/>
            <a:ext cx="7204359" cy="455253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）客户端和服务器无法通过两次握手确认彼此的收发功能是否正常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6C0876-AE9A-402F-9A0F-86F1AFC73EDA}"/>
              </a:ext>
            </a:extLst>
          </p:cNvPr>
          <p:cNvSpPr txBox="1"/>
          <p:nvPr/>
        </p:nvSpPr>
        <p:spPr>
          <a:xfrm>
            <a:off x="11214534" y="2658425"/>
            <a:ext cx="885635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客户端发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，收？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1A96CC6-8824-4ABF-B20D-47B26A35844F}"/>
              </a:ext>
            </a:extLst>
          </p:cNvPr>
          <p:cNvSpPr txBox="1"/>
          <p:nvPr/>
        </p:nvSpPr>
        <p:spPr>
          <a:xfrm>
            <a:off x="8112412" y="3095821"/>
            <a:ext cx="900573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服务器发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，收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ok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453FA30-27C8-45B7-AF61-C88BF372A2B4}"/>
              </a:ext>
            </a:extLst>
          </p:cNvPr>
          <p:cNvSpPr txBox="1"/>
          <p:nvPr/>
        </p:nvSpPr>
        <p:spPr>
          <a:xfrm>
            <a:off x="1045869" y="3499465"/>
            <a:ext cx="7204359" cy="128625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）客户端与服务器之间的序列号无法同步，也就是服务器返回的确认可能会丢失，导致客户端无法知道服务器的起始序列号，自然无法保证可靠性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20D31C-3A81-43C3-9C08-6A6DE50DF875}"/>
              </a:ext>
            </a:extLst>
          </p:cNvPr>
          <p:cNvSpPr txBox="1"/>
          <p:nvPr/>
        </p:nvSpPr>
        <p:spPr>
          <a:xfrm>
            <a:off x="1029387" y="4926644"/>
            <a:ext cx="7204359" cy="455253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）防止已失效的连接请求报文段突然又传送到了服务器端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7D6CDB-2CC9-4A77-A685-AC6ECC191430}"/>
              </a:ext>
            </a:extLst>
          </p:cNvPr>
          <p:cNvSpPr txBox="1"/>
          <p:nvPr/>
        </p:nvSpPr>
        <p:spPr>
          <a:xfrm>
            <a:off x="1049851" y="5949645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《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计算机网络（第七版）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》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（谢希仁著）；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RFC 793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3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7" grpId="0" animBg="1"/>
      <p:bldP spid="4" grpId="0" animBg="1"/>
      <p:bldP spid="31" grpId="0" animBg="1"/>
      <p:bldP spid="33" grpId="0" animBg="1"/>
      <p:bldP spid="34" grpId="0" animBg="1"/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274695-59A5-4D29-B79E-1526F0C5E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C3DAB27-8C7F-44EC-A124-07572AFEBCB3}"/>
              </a:ext>
            </a:extLst>
          </p:cNvPr>
          <p:cNvSpPr txBox="1"/>
          <p:nvPr/>
        </p:nvSpPr>
        <p:spPr>
          <a:xfrm>
            <a:off x="997309" y="2213101"/>
            <a:ext cx="4151087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1A0142E-279D-48B0-A808-67B4047ACD25}"/>
              </a:ext>
            </a:extLst>
          </p:cNvPr>
          <p:cNvCxnSpPr>
            <a:cxnSpLocks/>
          </p:cNvCxnSpPr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A68B2FC-412B-48C4-A3CE-8CA7B773FBE6}"/>
              </a:ext>
            </a:extLst>
          </p:cNvPr>
          <p:cNvCxnSpPr>
            <a:cxnSpLocks/>
          </p:cNvCxnSpPr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F5034FF9-D575-4A51-97A4-D68AABB97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D467B2D-325B-4281-8B4B-60E284F09CCA}"/>
              </a:ext>
            </a:extLst>
          </p:cNvPr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6781EE4-E58D-4D79-97EF-B03652888D9C}"/>
              </a:ext>
            </a:extLst>
          </p:cNvPr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785A378-987E-48B4-9678-DA10510AA8A0}"/>
              </a:ext>
            </a:extLst>
          </p:cNvPr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请求包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02EF3B8-C4B5-4831-9019-8C8AD088259D}"/>
              </a:ext>
            </a:extLst>
          </p:cNvPr>
          <p:cNvCxnSpPr/>
          <p:nvPr/>
        </p:nvCxnSpPr>
        <p:spPr>
          <a:xfrm>
            <a:off x="8979533" y="25298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D20E4C3-7522-4327-88C6-9290E189B48E}"/>
              </a:ext>
            </a:extLst>
          </p:cNvPr>
          <p:cNvCxnSpPr/>
          <p:nvPr/>
        </p:nvCxnSpPr>
        <p:spPr>
          <a:xfrm>
            <a:off x="8981321" y="26822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E155EE9-2201-42C5-BBE5-5222147C8D8F}"/>
              </a:ext>
            </a:extLst>
          </p:cNvPr>
          <p:cNvCxnSpPr/>
          <p:nvPr/>
        </p:nvCxnSpPr>
        <p:spPr>
          <a:xfrm flipH="1">
            <a:off x="8979533" y="30462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C3333CB-F0E3-4582-B710-73A24DE6CEB8}"/>
              </a:ext>
            </a:extLst>
          </p:cNvPr>
          <p:cNvCxnSpPr/>
          <p:nvPr/>
        </p:nvCxnSpPr>
        <p:spPr>
          <a:xfrm flipH="1">
            <a:off x="8981321" y="3187849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0702890C-C8C9-4314-9FBE-4D9736AFA4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20ACA8B-FCE9-47E5-8101-003C424CEA5B}"/>
              </a:ext>
            </a:extLst>
          </p:cNvPr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F3E0FC1-BA82-4DC6-83EB-81CA2EF2C95A}"/>
              </a:ext>
            </a:extLst>
          </p:cNvPr>
          <p:cNvCxnSpPr/>
          <p:nvPr/>
        </p:nvCxnSpPr>
        <p:spPr>
          <a:xfrm>
            <a:off x="8974765" y="35966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29C8043-50CB-4BDB-993D-D4F7420BFBD6}"/>
              </a:ext>
            </a:extLst>
          </p:cNvPr>
          <p:cNvCxnSpPr/>
          <p:nvPr/>
        </p:nvCxnSpPr>
        <p:spPr>
          <a:xfrm>
            <a:off x="8969997" y="37490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BE8D2E9-FFFE-49D8-9418-8C79892696E6}"/>
              </a:ext>
            </a:extLst>
          </p:cNvPr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0E0F2D-5B3B-4050-B2B9-3C70A5D42084}"/>
              </a:ext>
            </a:extLst>
          </p:cNvPr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82EBAFD-F811-481D-9D14-FF8D0DF659BB}"/>
              </a:ext>
            </a:extLst>
          </p:cNvPr>
          <p:cNvCxnSpPr/>
          <p:nvPr/>
        </p:nvCxnSpPr>
        <p:spPr>
          <a:xfrm>
            <a:off x="8962265" y="28346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D0C861D-20A2-4CB0-98E8-503AE6853233}"/>
              </a:ext>
            </a:extLst>
          </p:cNvPr>
          <p:cNvCxnSpPr/>
          <p:nvPr/>
        </p:nvCxnSpPr>
        <p:spPr>
          <a:xfrm>
            <a:off x="8971785" y="29870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B2E5CB2-705C-46B8-B59F-82089B931363}"/>
              </a:ext>
            </a:extLst>
          </p:cNvPr>
          <p:cNvCxnSpPr/>
          <p:nvPr/>
        </p:nvCxnSpPr>
        <p:spPr>
          <a:xfrm>
            <a:off x="8967022" y="31394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7702ABA-4F7A-4CFA-9A2A-385A0B20D9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08" y="2974572"/>
            <a:ext cx="429730" cy="4297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332697-C2F2-4021-939F-9EE5892766E8}"/>
              </a:ext>
            </a:extLst>
          </p:cNvPr>
          <p:cNvSpPr txBox="1"/>
          <p:nvPr/>
        </p:nvSpPr>
        <p:spPr>
          <a:xfrm>
            <a:off x="1049851" y="2903283"/>
            <a:ext cx="7204359" cy="189224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攻击也叫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洪泛（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 Flood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），是指攻击者发送大量的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包给服务器，但是并不回复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包，导致连接处于“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半打开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” 状况，消耗了服务器大量的资源。当合法用户发送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包请求建立连接时，服务器由于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资源被占用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而拒绝与其连接并提供服务。因此，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攻击属于拒绝服务攻击（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Denial-of-service attack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34EDD3-0016-4AD8-8831-6B94E31EDD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5C73D242-CB2E-4393-9F74-BBF5AB1FDB0E}"/>
              </a:ext>
            </a:extLst>
          </p:cNvPr>
          <p:cNvSpPr txBox="1"/>
          <p:nvPr/>
        </p:nvSpPr>
        <p:spPr>
          <a:xfrm>
            <a:off x="1062182" y="4966122"/>
            <a:ext cx="7204359" cy="115358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应对措施主要包括：过滤（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Filtering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）、增加积压（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Increasing Backlog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）、减少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SYN-RECEIVED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定时（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Reducing SYN-RECEIVED Timer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缓存（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 Cache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503E43-9D42-4230-B6C4-3FF84ED85A3F}"/>
              </a:ext>
            </a:extLst>
          </p:cNvPr>
          <p:cNvSpPr txBox="1"/>
          <p:nvPr/>
        </p:nvSpPr>
        <p:spPr>
          <a:xfrm>
            <a:off x="1062182" y="6290298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RFC 4987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41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 animBg="1"/>
      <p:bldP spid="38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274695-59A5-4D29-B79E-1526F0C5E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C3DAB27-8C7F-44EC-A124-07572AFEBCB3}"/>
              </a:ext>
            </a:extLst>
          </p:cNvPr>
          <p:cNvSpPr txBox="1"/>
          <p:nvPr/>
        </p:nvSpPr>
        <p:spPr>
          <a:xfrm>
            <a:off x="997309" y="2213101"/>
            <a:ext cx="4151087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攻击？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1A0142E-279D-48B0-A808-67B4047ACD25}"/>
              </a:ext>
            </a:extLst>
          </p:cNvPr>
          <p:cNvCxnSpPr>
            <a:cxnSpLocks/>
          </p:cNvCxnSpPr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A68B2FC-412B-48C4-A3CE-8CA7B773FBE6}"/>
              </a:ext>
            </a:extLst>
          </p:cNvPr>
          <p:cNvCxnSpPr>
            <a:cxnSpLocks/>
          </p:cNvCxnSpPr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F5034FF9-D575-4A51-97A4-D68AABB97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D467B2D-325B-4281-8B4B-60E284F09CCA}"/>
              </a:ext>
            </a:extLst>
          </p:cNvPr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6781EE4-E58D-4D79-97EF-B03652888D9C}"/>
              </a:ext>
            </a:extLst>
          </p:cNvPr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785A378-987E-48B4-9678-DA10510AA8A0}"/>
              </a:ext>
            </a:extLst>
          </p:cNvPr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请求包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02EF3B8-C4B5-4831-9019-8C8AD088259D}"/>
              </a:ext>
            </a:extLst>
          </p:cNvPr>
          <p:cNvCxnSpPr/>
          <p:nvPr/>
        </p:nvCxnSpPr>
        <p:spPr>
          <a:xfrm>
            <a:off x="8979533" y="25298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D20E4C3-7522-4327-88C6-9290E189B48E}"/>
              </a:ext>
            </a:extLst>
          </p:cNvPr>
          <p:cNvCxnSpPr/>
          <p:nvPr/>
        </p:nvCxnSpPr>
        <p:spPr>
          <a:xfrm>
            <a:off x="8981321" y="26822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E155EE9-2201-42C5-BBE5-5222147C8D8F}"/>
              </a:ext>
            </a:extLst>
          </p:cNvPr>
          <p:cNvCxnSpPr/>
          <p:nvPr/>
        </p:nvCxnSpPr>
        <p:spPr>
          <a:xfrm flipH="1">
            <a:off x="8979533" y="30462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C3333CB-F0E3-4582-B710-73A24DE6CEB8}"/>
              </a:ext>
            </a:extLst>
          </p:cNvPr>
          <p:cNvCxnSpPr/>
          <p:nvPr/>
        </p:nvCxnSpPr>
        <p:spPr>
          <a:xfrm flipH="1">
            <a:off x="8981321" y="3187849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0702890C-C8C9-4314-9FBE-4D9736AFA4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20ACA8B-FCE9-47E5-8101-003C424CEA5B}"/>
              </a:ext>
            </a:extLst>
          </p:cNvPr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F3E0FC1-BA82-4DC6-83EB-81CA2EF2C95A}"/>
              </a:ext>
            </a:extLst>
          </p:cNvPr>
          <p:cNvCxnSpPr/>
          <p:nvPr/>
        </p:nvCxnSpPr>
        <p:spPr>
          <a:xfrm>
            <a:off x="8974765" y="35966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29C8043-50CB-4BDB-993D-D4F7420BFBD6}"/>
              </a:ext>
            </a:extLst>
          </p:cNvPr>
          <p:cNvCxnSpPr/>
          <p:nvPr/>
        </p:nvCxnSpPr>
        <p:spPr>
          <a:xfrm>
            <a:off x="8969997" y="37490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BE8D2E9-FFFE-49D8-9418-8C79892696E6}"/>
              </a:ext>
            </a:extLst>
          </p:cNvPr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0E0F2D-5B3B-4050-B2B9-3C70A5D42084}"/>
              </a:ext>
            </a:extLst>
          </p:cNvPr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82EBAFD-F811-481D-9D14-FF8D0DF659BB}"/>
              </a:ext>
            </a:extLst>
          </p:cNvPr>
          <p:cNvCxnSpPr/>
          <p:nvPr/>
        </p:nvCxnSpPr>
        <p:spPr>
          <a:xfrm>
            <a:off x="8962265" y="28346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D0C861D-20A2-4CB0-98E8-503AE6853233}"/>
              </a:ext>
            </a:extLst>
          </p:cNvPr>
          <p:cNvCxnSpPr/>
          <p:nvPr/>
        </p:nvCxnSpPr>
        <p:spPr>
          <a:xfrm>
            <a:off x="8971785" y="29870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B2E5CB2-705C-46B8-B59F-82089B931363}"/>
              </a:ext>
            </a:extLst>
          </p:cNvPr>
          <p:cNvCxnSpPr/>
          <p:nvPr/>
        </p:nvCxnSpPr>
        <p:spPr>
          <a:xfrm>
            <a:off x="8967022" y="31394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7702ABA-4F7A-4CFA-9A2A-385A0B20D9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08" y="2974572"/>
            <a:ext cx="429730" cy="4297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332697-C2F2-4021-939F-9EE5892766E8}"/>
              </a:ext>
            </a:extLst>
          </p:cNvPr>
          <p:cNvSpPr txBox="1"/>
          <p:nvPr/>
        </p:nvSpPr>
        <p:spPr>
          <a:xfrm>
            <a:off x="1049851" y="2903283"/>
            <a:ext cx="7204359" cy="189224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攻击也叫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洪泛（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 Flood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），是指攻击者发送大量的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包给服务器，但是并不回复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包，导致连接处于“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半打开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” 状况，消耗了服务器大量的资源。当合法用户发送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包请求建立连接时，服务器由于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资源被占用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而拒绝与其连接并提供服务。因此，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攻击属于拒绝服务攻击（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Denial-of-service attack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34EDD3-0016-4AD8-8831-6B94E31EDD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5C73D242-CB2E-4393-9F74-BBF5AB1FDB0E}"/>
              </a:ext>
            </a:extLst>
          </p:cNvPr>
          <p:cNvSpPr txBox="1"/>
          <p:nvPr/>
        </p:nvSpPr>
        <p:spPr>
          <a:xfrm>
            <a:off x="1062182" y="4966122"/>
            <a:ext cx="7204359" cy="115358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应对措施主要包括：过滤（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Filtering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）、增加积压（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Increasing Backlog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）、减少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SYN-RECEIVED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定时（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Reducing SYN-RECEIVED Timer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缓存（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SYN Cache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</a:rPr>
              <a:t>）等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503E43-9D42-4230-B6C4-3FF84ED85A3F}"/>
              </a:ext>
            </a:extLst>
          </p:cNvPr>
          <p:cNvSpPr txBox="1"/>
          <p:nvPr/>
        </p:nvSpPr>
        <p:spPr>
          <a:xfrm>
            <a:off x="1062182" y="6290298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RFC 4987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90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 animBg="1"/>
      <p:bldP spid="38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41708" y="908355"/>
            <a:ext cx="6280510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CF24BCC-24DB-4931-9268-4CABD0D63195}"/>
              </a:ext>
            </a:extLst>
          </p:cNvPr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274695-59A5-4D29-B79E-1526F0C5E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C3DAB27-8C7F-44EC-A124-07572AFEBCB3}"/>
              </a:ext>
            </a:extLst>
          </p:cNvPr>
          <p:cNvSpPr txBox="1"/>
          <p:nvPr/>
        </p:nvSpPr>
        <p:spPr>
          <a:xfrm>
            <a:off x="997309" y="2213101"/>
            <a:ext cx="6070465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初始序列号为什么每次都要动态随机选取而不能固定不变？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3B93799-4B88-4C43-963F-AB48EA498D97}"/>
              </a:ext>
            </a:extLst>
          </p:cNvPr>
          <p:cNvCxnSpPr>
            <a:cxnSpLocks/>
          </p:cNvCxnSpPr>
          <p:nvPr/>
        </p:nvCxnSpPr>
        <p:spPr>
          <a:xfrm>
            <a:off x="7514702" y="2731185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9184871-8C9E-4BD5-A68E-1BC5F8F29C28}"/>
              </a:ext>
            </a:extLst>
          </p:cNvPr>
          <p:cNvCxnSpPr>
            <a:cxnSpLocks/>
          </p:cNvCxnSpPr>
          <p:nvPr/>
        </p:nvCxnSpPr>
        <p:spPr>
          <a:xfrm>
            <a:off x="9668025" y="2695314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3A511C6C-50B4-4746-AA0C-30EE88CC5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235" y="1979735"/>
            <a:ext cx="715579" cy="715579"/>
          </a:xfrm>
          <a:prstGeom prst="rect">
            <a:avLst/>
          </a:prstGeom>
        </p:spPr>
      </p:pic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34B36EE-6ECA-4F8B-BA97-3FDB3F38BCEB}"/>
              </a:ext>
            </a:extLst>
          </p:cNvPr>
          <p:cNvCxnSpPr/>
          <p:nvPr/>
        </p:nvCxnSpPr>
        <p:spPr>
          <a:xfrm>
            <a:off x="7514702" y="307668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177B35A-4F5F-4CEE-91B3-04CA944464D4}"/>
              </a:ext>
            </a:extLst>
          </p:cNvPr>
          <p:cNvCxnSpPr/>
          <p:nvPr/>
        </p:nvCxnSpPr>
        <p:spPr>
          <a:xfrm flipH="1">
            <a:off x="7514702" y="3571541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94DC772-5B19-4386-B624-A7545C1E239A}"/>
              </a:ext>
            </a:extLst>
          </p:cNvPr>
          <p:cNvSpPr txBox="1"/>
          <p:nvPr/>
        </p:nvSpPr>
        <p:spPr>
          <a:xfrm rot="813296">
            <a:off x="7668785" y="2954861"/>
            <a:ext cx="193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SYN, seq= ISN_C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A22A30FA-CEA1-4E19-BC38-233155C237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242" y="1982074"/>
            <a:ext cx="702495" cy="702495"/>
          </a:xfrm>
          <a:prstGeom prst="rect">
            <a:avLst/>
          </a:prstGeom>
        </p:spPr>
      </p:pic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FECC152-E2B8-4F5F-A49C-DE60C6454038}"/>
              </a:ext>
            </a:extLst>
          </p:cNvPr>
          <p:cNvCxnSpPr/>
          <p:nvPr/>
        </p:nvCxnSpPr>
        <p:spPr>
          <a:xfrm>
            <a:off x="7509934" y="4100633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DEEBA5E0-C9E3-4BE1-99A0-5AF41506EF8A}"/>
              </a:ext>
            </a:extLst>
          </p:cNvPr>
          <p:cNvSpPr txBox="1"/>
          <p:nvPr/>
        </p:nvSpPr>
        <p:spPr>
          <a:xfrm rot="20767183">
            <a:off x="7582673" y="3571517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确认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3602018-0529-4611-A1D6-E79BA603A19F}"/>
              </a:ext>
            </a:extLst>
          </p:cNvPr>
          <p:cNvSpPr txBox="1"/>
          <p:nvPr/>
        </p:nvSpPr>
        <p:spPr>
          <a:xfrm rot="813296">
            <a:off x="8734312" y="4134665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2EFD7EF-2834-4908-96C2-30F87F564D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710" y="1979735"/>
            <a:ext cx="702495" cy="70249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E0EAC8-8841-451B-9150-316BB40465DC}"/>
              </a:ext>
            </a:extLst>
          </p:cNvPr>
          <p:cNvSpPr txBox="1"/>
          <p:nvPr/>
        </p:nvSpPr>
        <p:spPr>
          <a:xfrm>
            <a:off x="6950536" y="1607047"/>
            <a:ext cx="11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（非法）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E4D9AAA-10B0-48F6-8861-98E85C3C5072}"/>
              </a:ext>
            </a:extLst>
          </p:cNvPr>
          <p:cNvSpPr txBox="1"/>
          <p:nvPr/>
        </p:nvSpPr>
        <p:spPr>
          <a:xfrm>
            <a:off x="11036559" y="1607047"/>
            <a:ext cx="11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（合法）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C18DD8B-0A89-41FC-86E8-F00FCCEB45A7}"/>
              </a:ext>
            </a:extLst>
          </p:cNvPr>
          <p:cNvCxnSpPr>
            <a:cxnSpLocks/>
          </p:cNvCxnSpPr>
          <p:nvPr/>
        </p:nvCxnSpPr>
        <p:spPr>
          <a:xfrm>
            <a:off x="11595956" y="2695314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弧形 3">
            <a:extLst>
              <a:ext uri="{FF2B5EF4-FFF2-40B4-BE49-F238E27FC236}">
                <a16:creationId xmlns:a16="http://schemas.microsoft.com/office/drawing/2014/main" id="{01953175-BC73-4AC1-A3F3-3EBCEC25BA1F}"/>
              </a:ext>
            </a:extLst>
          </p:cNvPr>
          <p:cNvSpPr/>
          <p:nvPr/>
        </p:nvSpPr>
        <p:spPr>
          <a:xfrm>
            <a:off x="8380207" y="1118296"/>
            <a:ext cx="3270081" cy="908001"/>
          </a:xfrm>
          <a:prstGeom prst="arc">
            <a:avLst>
              <a:gd name="adj1" fmla="val 16200000"/>
              <a:gd name="adj2" fmla="val 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3D0F1-13B1-4EC1-88FC-84EA0E4F797F}"/>
              </a:ext>
            </a:extLst>
          </p:cNvPr>
          <p:cNvSpPr txBox="1"/>
          <p:nvPr/>
        </p:nvSpPr>
        <p:spPr>
          <a:xfrm>
            <a:off x="8633097" y="94138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假冒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IP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3" name="弧形 52">
            <a:extLst>
              <a:ext uri="{FF2B5EF4-FFF2-40B4-BE49-F238E27FC236}">
                <a16:creationId xmlns:a16="http://schemas.microsoft.com/office/drawing/2014/main" id="{9977DFD5-538D-4F02-87DF-B8645322EB92}"/>
              </a:ext>
            </a:extLst>
          </p:cNvPr>
          <p:cNvSpPr/>
          <p:nvPr/>
        </p:nvSpPr>
        <p:spPr>
          <a:xfrm flipH="1">
            <a:off x="7334687" y="1130119"/>
            <a:ext cx="2691127" cy="823550"/>
          </a:xfrm>
          <a:prstGeom prst="arc">
            <a:avLst>
              <a:gd name="adj1" fmla="val 16200000"/>
              <a:gd name="adj2" fmla="val 76390"/>
            </a:avLst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252F259-6260-4EEC-8DA4-18A64A743A46}"/>
              </a:ext>
            </a:extLst>
          </p:cNvPr>
          <p:cNvCxnSpPr>
            <a:cxnSpLocks/>
          </p:cNvCxnSpPr>
          <p:nvPr/>
        </p:nvCxnSpPr>
        <p:spPr>
          <a:xfrm>
            <a:off x="9671452" y="3575370"/>
            <a:ext cx="1914373" cy="535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8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2" grpId="0"/>
      <p:bldP spid="39" grpId="0" animBg="1"/>
      <p:bldP spid="44" grpId="0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</a:p>
        </p:txBody>
      </p:sp>
      <p:sp>
        <p:nvSpPr>
          <p:cNvPr id="3" name="矩形 2"/>
          <p:cNvSpPr/>
          <p:nvPr/>
        </p:nvSpPr>
        <p:spPr>
          <a:xfrm>
            <a:off x="383063" y="1983105"/>
            <a:ext cx="10761859" cy="341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为什么TCP释放连接用了4个报文段，而TCP建立连接只需要3个？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对于数据字段长度=0的SYN/FIN报文段S，假定S的序号为x，为什么其ACK报文段的序号等于x</a:t>
            </a:r>
            <a:r>
              <a:rPr lang="zh-CN" altLang="zh-CN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+1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？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请查阅TCP状态机图示，了解客户机和服务器在TCP通信过程中的状态变化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endParaRPr lang="en-US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参考资料：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[1] 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Kevin R. Fall 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著，吴英等 译。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《TCP/IP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详解 卷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：协议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》</a:t>
            </a: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[2] </a:t>
            </a:r>
            <a:r>
              <a:rPr lang="en-US" altLang="zh-CN" i="1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F.Kurose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James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等 著，陈鸣 译。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《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计算机网络：自顶向下方法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》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TCP基本通信过程（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拓展学习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133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913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bc3331-6234-450f-b85c-c261ced6e4e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</TotalTime>
  <Words>3164</Words>
  <Application>Microsoft Office PowerPoint</Application>
  <PresentationFormat>宽屏</PresentationFormat>
  <Paragraphs>507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等线</vt:lpstr>
      <vt:lpstr>等线 Light</vt:lpstr>
      <vt:lpstr>黑体</vt:lpstr>
      <vt:lpstr>思源宋体 CN Heavy</vt:lpstr>
      <vt:lpstr>微软雅黑</vt:lpstr>
      <vt:lpstr>字魂105号-简雅黑</vt:lpstr>
      <vt:lpstr>Arial</vt:lpstr>
      <vt:lpstr>Calibri</vt:lpstr>
      <vt:lpstr>Century Gothic</vt:lpstr>
      <vt:lpstr>Times New Roman</vt:lpstr>
      <vt:lpstr>Wingdings</vt:lpstr>
      <vt:lpstr>Office 主题​​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Wisdom</cp:lastModifiedBy>
  <cp:revision>1485</cp:revision>
  <dcterms:created xsi:type="dcterms:W3CDTF">2017-09-08T08:49:00Z</dcterms:created>
  <dcterms:modified xsi:type="dcterms:W3CDTF">2025-04-03T03:15:08Z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