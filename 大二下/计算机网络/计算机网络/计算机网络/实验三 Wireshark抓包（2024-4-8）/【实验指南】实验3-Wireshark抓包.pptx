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333" r:id="rId3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99"/>
    <a:srgbClr val="EAEAEA"/>
    <a:srgbClr val="000000"/>
    <a:srgbClr val="1B9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92"/>
    <p:restoredTop sz="81315"/>
  </p:normalViewPr>
  <p:slideViewPr>
    <p:cSldViewPr showGuides="1">
      <p:cViewPr varScale="1">
        <p:scale>
          <a:sx n="73" d="100"/>
          <a:sy n="73" d="100"/>
        </p:scale>
        <p:origin x="1649" y="34"/>
      </p:cViewPr>
      <p:guideLst>
        <p:guide orient="horz" pos="2188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DF52E4-248F-4930-88A0-7D1592FA2830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3635EF-021C-45A8-9C7D-007291E15CE7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b="1" dirty="0">
                <a:latin typeface="Arial" panose="020B0604020202020204" pitchFamily="34" charset="0"/>
                <a:ea typeface="PMingLiU"/>
              </a:rPr>
            </a:fld>
            <a:endParaRPr lang="zh-TW" altLang="en-US" b="1" dirty="0">
              <a:latin typeface="Arial" panose="020B0604020202020204" pitchFamily="34" charset="0"/>
              <a:ea typeface="PMingLiU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gradFill rotWithShape="1">
          <a:gsLst>
            <a:gs pos="0">
              <a:srgbClr val="FFFFFF"/>
            </a:gs>
            <a:gs pos="100000">
              <a:srgbClr val="CEEAF9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1075" y="3175"/>
            <a:ext cx="6034088" cy="668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15163" y="125413"/>
            <a:ext cx="1733550" cy="506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2568923" y="-98115"/>
            <a:ext cx="3013967" cy="769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计算机网络</a:t>
            </a:r>
            <a:endParaRPr kumimoji="0" lang="zh-CN" altLang="en-US" sz="4400" b="1" i="0" u="none" strike="noStrike" kern="1200" cap="none" spc="0" normalizeH="0" baseline="0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2055" name="图片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3850" y="0"/>
            <a:ext cx="657225" cy="6715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Straight Connector 9"/>
          <p:cNvCxnSpPr/>
          <p:nvPr/>
        </p:nvCxnSpPr>
        <p:spPr>
          <a:xfrm>
            <a:off x="250825" y="1268413"/>
            <a:ext cx="8497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EEAF9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/>
          <p:cNvCxnSpPr/>
          <p:nvPr/>
        </p:nvCxnSpPr>
        <p:spPr>
          <a:xfrm>
            <a:off x="250825" y="692150"/>
            <a:ext cx="8497888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hf sldNum="0"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805" indent="-90805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90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705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218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izardforcel.gitbooks.io/wireshark-manual/content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2854325" y="765175"/>
            <a:ext cx="417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0825" y="1557338"/>
            <a:ext cx="8642350" cy="3833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实验目的</a:t>
            </a:r>
            <a:endParaRPr kumimoji="0" lang="zh-CN" altLang="en-US" sz="280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学习安装、使用协议分析软件，掌握基本的数据报捕获、过滤和协议的分析技巧，能对抓取数据包进行分析。 </a:t>
            </a:r>
            <a:endParaRPr kumimoji="0" lang="zh-CN" altLang="en-US" sz="2400" b="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实验内容</a:t>
            </a:r>
            <a:endParaRPr kumimoji="0" lang="zh-CN" altLang="en-US" sz="280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协议分析软件的安装和使用、学会抓取数据包的方法并对对抓取数据包进行分析</a:t>
            </a:r>
            <a:endParaRPr kumimoji="0" lang="zh-CN" altLang="en-US" sz="2400" b="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实验环境和要求</a:t>
            </a:r>
            <a:endParaRPr kumimoji="0" lang="zh-CN" altLang="en-US" sz="280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使用</a:t>
            </a:r>
            <a:r>
              <a:rPr kumimoji="0" lang="en-US" altLang="zh-CN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Windows</a:t>
            </a:r>
            <a:r>
              <a:rPr kumimoji="0" lang="zh-CN" altLang="en-US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操作系统；</a:t>
            </a:r>
            <a:r>
              <a:rPr kumimoji="0" lang="en-US" altLang="zh-CN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Internet</a:t>
            </a:r>
            <a:r>
              <a:rPr kumimoji="0" lang="zh-CN" altLang="en-US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连接；抓包软件</a:t>
            </a:r>
            <a:r>
              <a:rPr kumimoji="0" lang="en-US" altLang="zh-CN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Wireshark</a:t>
            </a:r>
            <a:r>
              <a:rPr kumimoji="0" lang="zh-CN" altLang="en-US" sz="2400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。</a:t>
            </a:r>
            <a:endParaRPr kumimoji="0" lang="zh-CN" altLang="en-US" sz="2400" b="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172" name="Picture 2" descr="http://pic002.cnblogs.com/images/2012/263119/20121006084838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341120"/>
            <a:ext cx="5732145" cy="4030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2854325" y="765175"/>
            <a:ext cx="360362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1550" y="5661660"/>
            <a:ext cx="28308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下载地址：</a:t>
            </a:r>
            <a:r>
              <a:rPr lang="zh-CN" altLang="en-US">
                <a:solidFill>
                  <a:srgbClr val="FF0000"/>
                </a:solidFill>
              </a:rPr>
              <a:t>wireshark.org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1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1900" y="746125"/>
            <a:ext cx="4173538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21" name="文本框 7"/>
          <p:cNvSpPr txBox="1"/>
          <p:nvPr/>
        </p:nvSpPr>
        <p:spPr>
          <a:xfrm>
            <a:off x="277813" y="1592263"/>
            <a:ext cx="8621712" cy="183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>
                <a:latin typeface="Times New Roman" panose="02020603050405020304" pitchFamily="18" charset="0"/>
                <a:ea typeface="华文仿宋" pitchFamily="2" charset="-122"/>
              </a:rPr>
              <a:t>Wireshark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是捕获机器上的某一块网卡的网络包，当你的机器上有多块网卡的时候，你需要选择一个网卡。</a:t>
            </a:r>
            <a:endParaRPr lang="zh-CN" altLang="en-US" sz="24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点击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itchFamily="2" charset="-122"/>
              </a:rPr>
              <a:t>Caputre-&gt;Interfaces.. 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出现下面对话框，选择正确的网卡。然后点击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itchFamily="2" charset="-122"/>
              </a:rPr>
              <a:t>“Start”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按钮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itchFamily="2" charset="-122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开始抓包。</a:t>
            </a:r>
            <a:endParaRPr lang="zh-CN" altLang="en-US" sz="2400" b="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9222" name="Picture 2" descr="http://pic002.cnblogs.com/images/2012/263119/201210060849428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075" y="3492500"/>
            <a:ext cx="6419850" cy="2735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54325" y="765175"/>
            <a:ext cx="4238625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文本框 7"/>
          <p:cNvSpPr txBox="1"/>
          <p:nvPr/>
        </p:nvSpPr>
        <p:spPr>
          <a:xfrm>
            <a:off x="250825" y="1484313"/>
            <a:ext cx="1512888" cy="2678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华文仿宋" pitchFamily="2" charset="-122"/>
                <a:ea typeface="华文仿宋" pitchFamily="2" charset="-122"/>
              </a:rPr>
              <a:t>先来看看 “主窗口界面”，大多数打开捕捉包以后的界面</a:t>
            </a:r>
            <a:endParaRPr lang="zh-CN" altLang="en-US" sz="2400" dirty="0">
              <a:latin typeface="华文仿宋" pitchFamily="2" charset="-122"/>
              <a:ea typeface="华文仿宋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2275" y="1412875"/>
            <a:ext cx="7045325" cy="44983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文本框 7"/>
          <p:cNvSpPr txBox="1"/>
          <p:nvPr/>
        </p:nvSpPr>
        <p:spPr>
          <a:xfrm>
            <a:off x="250825" y="1484313"/>
            <a:ext cx="8642350" cy="2247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WireShark 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主要分为这几个界面：</a:t>
            </a:r>
            <a:endParaRPr lang="zh-CN" altLang="en-US" sz="20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1. Display Filter(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显示过滤器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  用于过滤</a:t>
            </a:r>
            <a:endParaRPr lang="zh-CN" altLang="en-US" sz="20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2. Packet List Pane(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封包列表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 显示捕获到的封包， 有源地址和目标地址，端口号。 颜色不同，代表</a:t>
            </a:r>
            <a:endParaRPr lang="zh-CN" altLang="en-US" sz="20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3. Packet Details Pane (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封包详细信息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，显示封包中的字段</a:t>
            </a:r>
            <a:endParaRPr lang="zh-CN" altLang="en-US" sz="20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4. Dissector Pane (16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进制数据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)</a:t>
            </a:r>
            <a:endParaRPr lang="en-US" altLang="zh-CN" sz="20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5. Miscellanous (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地址栏，杂项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)</a:t>
            </a:r>
            <a:endParaRPr lang="zh-CN" altLang="en-US" sz="2000" b="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13318" name="Picture 2" descr="http://pic002.cnblogs.com/images/2012/263119/20121006091220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3629025"/>
            <a:ext cx="5649913" cy="3163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78088" y="746125"/>
            <a:ext cx="4187825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5" name="文本框 7"/>
          <p:cNvSpPr txBox="1"/>
          <p:nvPr/>
        </p:nvSpPr>
        <p:spPr>
          <a:xfrm>
            <a:off x="250825" y="1412875"/>
            <a:ext cx="86296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dirty="0">
                <a:latin typeface="Times New Roman" panose="02020603050405020304" pitchFamily="18" charset="0"/>
                <a:ea typeface="华文仿宋" pitchFamily="2" charset="-122"/>
              </a:rPr>
              <a:t>Wireshark </a:t>
            </a:r>
            <a:r>
              <a:rPr lang="zh-CN" altLang="en-US" sz="2000" dirty="0">
                <a:latin typeface="Times New Roman" panose="02020603050405020304" pitchFamily="18" charset="0"/>
                <a:ea typeface="华文仿宋" pitchFamily="2" charset="-122"/>
              </a:rPr>
              <a:t>显示过滤</a:t>
            </a:r>
            <a:endParaRPr lang="zh-CN" altLang="en-US" sz="200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15366" name="Picture 2" descr="http://pic002.cnblogs.com/images/2012/263119/201210061711397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925" y="1436688"/>
            <a:ext cx="6191250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250825" y="1987550"/>
            <a:ext cx="8629650" cy="3784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marR="0" indent="-285750" defTabSz="914400"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过滤器会帮助我们在大量的数据中迅速找到我们需要的信息。</a:t>
            </a:r>
            <a:endParaRPr kumimoji="0" lang="en-US" altLang="zh-CN" b="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285750" marR="0" indent="-285750" defTabSz="914400"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b="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过滤器有两种：</a:t>
            </a:r>
            <a:endParaRPr kumimoji="0" lang="en-US" altLang="zh-CN" b="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一种是显示过滤器，就是主界面上那个，用来在捕获的记录中找到所需要的记录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一种是捕获过滤器，用来过滤捕获的封包，以免捕获太多的记录。 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Capture -&gt; Capture Filters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中设置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285750" marR="0" indent="-285750" defTabSz="914400"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kern="1200" cap="none" spc="0" normalizeH="0" baseline="0" noProof="0" dirty="0">
                <a:latin typeface="华文仿宋" pitchFamily="2" charset="-122"/>
                <a:ea typeface="华文仿宋" pitchFamily="2" charset="-122"/>
                <a:cs typeface="+mn-cs"/>
              </a:rPr>
              <a:t>保存过滤</a:t>
            </a:r>
            <a:endParaRPr kumimoji="0" lang="en-US" altLang="zh-CN" sz="2400" kern="1200" cap="none" spc="0" normalizeH="0" baseline="0" noProof="0" dirty="0"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Filter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栏上，填好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Filter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的表达式后，点击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Save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按钮， 取个名字。比如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“Filter 102”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；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Filter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栏上就多了个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"Filter 102"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itchFamily="2" charset="-122"/>
                <a:ea typeface="华文仿宋" pitchFamily="2" charset="-122"/>
                <a:cs typeface="+mn-cs"/>
              </a:rPr>
              <a:t>的按钮。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itchFamily="2" charset="-122"/>
              <a:ea typeface="华文仿宋" pitchFamily="2" charset="-122"/>
              <a:cs typeface="+mn-cs"/>
            </a:endParaRPr>
          </a:p>
        </p:txBody>
      </p:sp>
      <p:pic>
        <p:nvPicPr>
          <p:cNvPr id="15368" name="Picture 4" descr="http://pic002.cnblogs.com/images/2012/263119/20121006171447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88" y="4310063"/>
            <a:ext cx="5399087" cy="1084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9" name="Picture 6" descr="http://pic002.cnblogs.com/images/2012/263119/201210061715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772150"/>
            <a:ext cx="7696200" cy="419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7740650" y="5772150"/>
            <a:ext cx="719138" cy="3794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80138" y="4662488"/>
            <a:ext cx="720725" cy="3794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文本框 7"/>
          <p:cNvSpPr txBox="1"/>
          <p:nvPr/>
        </p:nvSpPr>
        <p:spPr>
          <a:xfrm>
            <a:off x="292100" y="1484313"/>
            <a:ext cx="8601075" cy="3848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0" dirty="0">
                <a:latin typeface="华文仿宋" pitchFamily="2" charset="-122"/>
                <a:ea typeface="华文仿宋" pitchFamily="2" charset="-122"/>
              </a:rPr>
              <a:t>过滤表达式的规则：</a:t>
            </a:r>
            <a:endParaRPr lang="en-US" altLang="zh-CN" sz="2400" b="0" dirty="0">
              <a:latin typeface="华文仿宋" pitchFamily="2" charset="-122"/>
              <a:ea typeface="华文仿宋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仿宋" pitchFamily="2" charset="-122"/>
                <a:ea typeface="华文仿宋" pitchFamily="2" charset="-122"/>
              </a:rPr>
              <a:t>协议过滤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，比如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TCP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，只显示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TCP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协议。</a:t>
            </a:r>
            <a:endParaRPr lang="zh-CN" altLang="en-US" sz="2000" b="0" dirty="0">
              <a:latin typeface="华文仿宋" pitchFamily="2" charset="-122"/>
              <a:ea typeface="华文仿宋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华文仿宋" pitchFamily="2" charset="-122"/>
                <a:ea typeface="华文仿宋" pitchFamily="2" charset="-122"/>
              </a:rPr>
              <a:t>IP </a:t>
            </a:r>
            <a:r>
              <a:rPr lang="zh-CN" altLang="en-US" sz="2000" dirty="0">
                <a:latin typeface="华文仿宋" pitchFamily="2" charset="-122"/>
                <a:ea typeface="华文仿宋" pitchFamily="2" charset="-122"/>
              </a:rPr>
              <a:t>过滤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，比如 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ip.src ==192.168.1.102 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表示显示源地址为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192.168.1.102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的数据通信， 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ip.dst==192.168.1.102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表示显示目标地址为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192.168.1.102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的数据通信</a:t>
            </a:r>
            <a:endParaRPr lang="en-US" altLang="zh-CN" sz="2000" b="0" dirty="0">
              <a:latin typeface="华文仿宋" pitchFamily="2" charset="-122"/>
              <a:ea typeface="华文仿宋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仿宋" pitchFamily="2" charset="-122"/>
                <a:ea typeface="华文仿宋" pitchFamily="2" charset="-122"/>
              </a:rPr>
              <a:t>端口过滤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，比如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tcp.port ==80,  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端口为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80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的  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tcp.srcport == 80,  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表示只显示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TCP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协议的源端口为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80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的数据通信。</a:t>
            </a:r>
            <a:endParaRPr lang="zh-CN" altLang="en-US" sz="2000" b="0" dirty="0">
              <a:latin typeface="华文仿宋" pitchFamily="2" charset="-122"/>
              <a:ea typeface="华文仿宋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华文仿宋" pitchFamily="2" charset="-122"/>
                <a:ea typeface="华文仿宋" pitchFamily="2" charset="-122"/>
              </a:rPr>
              <a:t>HTTP</a:t>
            </a:r>
            <a:r>
              <a:rPr lang="zh-CN" altLang="en-US" sz="2000" dirty="0">
                <a:latin typeface="华文仿宋" pitchFamily="2" charset="-122"/>
                <a:ea typeface="华文仿宋" pitchFamily="2" charset="-122"/>
              </a:rPr>
              <a:t>模式过滤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，比如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http.request.method=="GET",   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只显示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HTTP GET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方法的。</a:t>
            </a:r>
            <a:endParaRPr lang="zh-CN" altLang="en-US" sz="2000" b="0" dirty="0">
              <a:latin typeface="华文仿宋" pitchFamily="2" charset="-122"/>
              <a:ea typeface="华文仿宋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仿宋" pitchFamily="2" charset="-122"/>
                <a:ea typeface="华文仿宋" pitchFamily="2" charset="-122"/>
              </a:rPr>
              <a:t>逻辑运算符为 </a:t>
            </a:r>
            <a:r>
              <a:rPr lang="en-US" altLang="zh-CN" sz="2000" dirty="0">
                <a:latin typeface="华文仿宋" pitchFamily="2" charset="-122"/>
                <a:ea typeface="华文仿宋" pitchFamily="2" charset="-122"/>
              </a:rPr>
              <a:t>AND/ OR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，比如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ip.src ==192.168.1.102  or ip.dst==192.168.1.102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，表示显示源或目的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IP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为</a:t>
            </a:r>
            <a:r>
              <a:rPr lang="en-US" altLang="zh-CN" sz="2000" b="0" dirty="0">
                <a:latin typeface="华文仿宋" pitchFamily="2" charset="-122"/>
                <a:ea typeface="华文仿宋" pitchFamily="2" charset="-122"/>
              </a:rPr>
              <a:t>192.168.1.102</a:t>
            </a:r>
            <a:r>
              <a:rPr lang="zh-CN" altLang="en-US" sz="2000" b="0" dirty="0">
                <a:latin typeface="华文仿宋" pitchFamily="2" charset="-122"/>
                <a:ea typeface="华文仿宋" pitchFamily="2" charset="-122"/>
              </a:rPr>
              <a:t>的数据通信</a:t>
            </a:r>
            <a:endParaRPr lang="en-US" altLang="zh-CN" sz="2000" b="0" dirty="0">
              <a:latin typeface="华文仿宋" pitchFamily="2" charset="-122"/>
              <a:ea typeface="华文仿宋" pitchFamily="2" charset="-122"/>
            </a:endParaRPr>
          </a:p>
        </p:txBody>
      </p:sp>
      <p:pic>
        <p:nvPicPr>
          <p:cNvPr id="174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5229225"/>
            <a:ext cx="6153150" cy="1133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5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0825" y="1484313"/>
            <a:ext cx="8642350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封包详细信息 </a:t>
            </a:r>
            <a:r>
              <a:rPr kumimoji="0" lang="en-US" altLang="zh-CN" sz="240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(Packet Details Pane)</a:t>
            </a:r>
            <a:endParaRPr kumimoji="0" lang="en-US" altLang="zh-CN" sz="240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这个面板是非常重要的，可用来查看协议中的每一个字段。</a:t>
            </a:r>
            <a:endParaRPr kumimoji="0" lang="en-US" altLang="zh-CN" sz="2400" b="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Frame:  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物理层的数据帧概况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Ethernet II: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数据链路层以太网帧头部信息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Internet Protocol Version 4: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互联网层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包头部信息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Transmission Control Protocol: 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传输层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的数据段头部信息，此处是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TCP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Hypertext Transfer Protocol:  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应用层的信息，此处是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HTTP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协议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9300"/>
            <a:ext cx="4175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509" name="Picture 2" descr="http://pic002.cnblogs.com/images/2012/263119/20121007090307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1412875"/>
            <a:ext cx="8429625" cy="4695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6700" y="1484313"/>
            <a:ext cx="861060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TCP</a:t>
            </a: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包的具体内容</a:t>
            </a:r>
            <a:endParaRPr kumimoji="0" lang="en-US" altLang="zh-CN" sz="240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从下图可以看到</a:t>
            </a:r>
            <a:r>
              <a:rPr kumimoji="0" lang="en-US" altLang="zh-CN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wireshark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捕获到的</a:t>
            </a:r>
            <a:r>
              <a:rPr kumimoji="0" lang="en-US" altLang="zh-CN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TCP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包中的每个字段。</a:t>
            </a:r>
            <a:endParaRPr kumimoji="0" lang="zh-CN" altLang="en-US" sz="2400" b="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</p:txBody>
      </p:sp>
      <p:pic>
        <p:nvPicPr>
          <p:cNvPr id="23558" name="Picture 2" descr="http://pic002.cnblogs.com/images/2012/263119/20121007172546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5" y="2573338"/>
            <a:ext cx="8818563" cy="3386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5" name="文本框 7"/>
          <p:cNvSpPr txBox="1"/>
          <p:nvPr/>
        </p:nvSpPr>
        <p:spPr>
          <a:xfrm>
            <a:off x="268288" y="1484313"/>
            <a:ext cx="86153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itchFamily="2" charset="-122"/>
              </a:rPr>
              <a:t>实例分析</a:t>
            </a:r>
            <a:r>
              <a:rPr lang="en-US" altLang="zh-CN" sz="2400" dirty="0">
                <a:latin typeface="Times New Roman" panose="02020603050405020304" pitchFamily="18" charset="0"/>
                <a:ea typeface="华文仿宋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itchFamily="2" charset="-122"/>
              </a:rPr>
              <a:t>三次握手过程</a:t>
            </a:r>
            <a:endParaRPr lang="zh-CN" altLang="en-US" sz="240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25606" name="Picture 2" descr="http://pic002.cnblogs.com/images/2012/263119/201210072254198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888" y="2203450"/>
            <a:ext cx="4592637" cy="3290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文本框 7"/>
          <p:cNvSpPr txBox="1"/>
          <p:nvPr/>
        </p:nvSpPr>
        <p:spPr>
          <a:xfrm>
            <a:off x="268288" y="1512888"/>
            <a:ext cx="8607425" cy="191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Wireshark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中输入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http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过滤， 然后选中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GET /tankxiao HTTP/1.1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的那条记录，右键然后点击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“Follow TCP Stream”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，这样做的目的是为了得到与浏览器打开网站相关的数据包，将得到如下图；</a:t>
            </a:r>
            <a:endParaRPr lang="en-US" altLang="zh-CN" sz="2000" b="0" dirty="0">
              <a:latin typeface="Times New Roman" panose="02020603050405020304" pitchFamily="18" charset="0"/>
              <a:ea typeface="华文仿宋" pitchFamily="2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图中可以看到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wireshark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截获到了三次握手的三个数据包。第四个包才是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HTTP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的， 这说明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HTTP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的确是使用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TCP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建立连接的</a:t>
            </a:r>
            <a:endParaRPr lang="zh-CN" altLang="en-US" sz="2000" b="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27654" name="Picture 2" descr="http://pic002.cnblogs.com/images/2012/263119/201210072309516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8" y="3429000"/>
            <a:ext cx="8124825" cy="333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69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1" name="文本框 7"/>
          <p:cNvSpPr txBox="1"/>
          <p:nvPr/>
        </p:nvSpPr>
        <p:spPr>
          <a:xfrm>
            <a:off x="250825" y="1479550"/>
            <a:ext cx="864235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itchFamily="2" charset="-122"/>
              </a:rPr>
              <a:t>第一次握手数据包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：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客户端发送一个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TCP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，标志位为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SYN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，序列号为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0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 代表客户端请求建立连接。 如下图所示：</a:t>
            </a:r>
            <a:endParaRPr lang="zh-CN" altLang="en-US" sz="2400" b="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29702" name="Picture 2" descr="http://pic002.cnblogs.com/images/2012/263119/20121007231719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25" y="2249488"/>
            <a:ext cx="7194550" cy="4216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9" name="文本框 7"/>
          <p:cNvSpPr txBox="1"/>
          <p:nvPr/>
        </p:nvSpPr>
        <p:spPr>
          <a:xfrm>
            <a:off x="250825" y="1484313"/>
            <a:ext cx="8626475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itchFamily="2" charset="-122"/>
              </a:rPr>
              <a:t>第二次握手的数据包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：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服务器发回确认包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, 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标志位为 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SYN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、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ACK. 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将确认序号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(Acknowledgement Number)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设置为客户的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ISN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加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1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，即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0+1=1, 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如下图所示：</a:t>
            </a:r>
            <a:endParaRPr lang="zh-CN" altLang="en-US" sz="2400" b="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31750" name="Picture 2" descr="http://pic002.cnblogs.com/images/2012/263119/20121007232213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63" y="2276475"/>
            <a:ext cx="7254875" cy="4392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7" name="文本框 7"/>
          <p:cNvSpPr txBox="1"/>
          <p:nvPr/>
        </p:nvSpPr>
        <p:spPr>
          <a:xfrm>
            <a:off x="307975" y="1557338"/>
            <a:ext cx="8578850" cy="1250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仿宋" pitchFamily="2" charset="-122"/>
              </a:rPr>
              <a:t>第三次握手的数据包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itchFamily="2" charset="-122"/>
              </a:rPr>
              <a:t>：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客户端再次发送确认包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(ACK) SYN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标志位为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0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ACK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标志位为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1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。并且把服务器发来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ACK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的序号字段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+1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，放在确定字段中发送给对方。并且在数据段放写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ISN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的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+1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itchFamily="2" charset="-122"/>
              </a:rPr>
              <a:t>，如下图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itchFamily="2" charset="-122"/>
              </a:rPr>
              <a:t>:</a:t>
            </a:r>
            <a:endParaRPr lang="en-US" altLang="zh-CN" sz="2400" b="0" dirty="0">
              <a:latin typeface="Times New Roman" panose="02020603050405020304" pitchFamily="18" charset="0"/>
              <a:ea typeface="华文仿宋" pitchFamily="2" charset="-122"/>
            </a:endParaRPr>
          </a:p>
        </p:txBody>
      </p:sp>
      <p:pic>
        <p:nvPicPr>
          <p:cNvPr id="33798" name="Picture 2" descr="http://pic002.cnblogs.com/images/2012/263119/201210072324418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75" y="2808288"/>
            <a:ext cx="6623050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" y="1557338"/>
            <a:ext cx="8702675" cy="2713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问题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：</a:t>
            </a:r>
            <a:endParaRPr kumimoji="0" lang="en-US" altLang="zh-CN" sz="2400" b="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342900" marR="0" indent="-342900" defTabSz="914400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打开</a:t>
            </a:r>
            <a:r>
              <a:rPr kumimoji="0" lang="en-US" altLang="zh-CN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Wireshark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程序执行抓包，访问如下网站（看网页和看视频），分别分析</a:t>
            </a:r>
            <a:r>
              <a:rPr kumimoji="0" lang="en-US" altLang="zh-CN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HTTP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、</a:t>
            </a:r>
            <a:r>
              <a:rPr kumimoji="0" lang="en-US" altLang="zh-CN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TCP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、</a:t>
            </a:r>
            <a:r>
              <a:rPr kumimoji="0" lang="en-US" altLang="zh-CN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UDP</a:t>
            </a:r>
            <a:r>
              <a:rPr kumimoji="0" lang="zh-CN" altLang="en-US" sz="24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数据包：</a:t>
            </a:r>
            <a:endParaRPr kumimoji="0" lang="en-US" altLang="zh-CN" sz="2400" b="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https://www.baidu.com/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http://www.youku.com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itchFamily="2" charset="-122"/>
                <a:cs typeface="+mn-cs"/>
              </a:rPr>
              <a:t>http://www.sina.com.cn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89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4438" y="746125"/>
            <a:ext cx="41751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数据包抓取与分析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8438" y="1773238"/>
            <a:ext cx="8694738" cy="1935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参考资料：</a:t>
            </a:r>
            <a:endParaRPr kumimoji="0" lang="en-US" altLang="zh-CN" sz="240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en-US" altLang="zh-CN" sz="20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Wireshark </a:t>
            </a:r>
            <a:r>
              <a:rPr kumimoji="0" lang="zh-CN" altLang="en-US" sz="20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</a:rPr>
              <a:t>用户手册：</a:t>
            </a:r>
            <a:r>
              <a:rPr kumimoji="0" lang="en-US" altLang="zh-CN" sz="2000" b="0" kern="1200" cap="none" spc="0" normalizeH="0" baseline="0" noProof="0" dirty="0">
                <a:latin typeface="Times New Roman" panose="02020603050405020304" pitchFamily="18" charset="0"/>
                <a:ea typeface="华文仿宋" pitchFamily="2" charset="-122"/>
                <a:cs typeface="+mn-cs"/>
                <a:hlinkClick r:id="rId1"/>
              </a:rPr>
              <a:t>https://wizardforcel.gitbooks.io/wireshark-manual/content/index.html</a:t>
            </a:r>
            <a:endParaRPr kumimoji="0" lang="en-US" altLang="zh-CN" sz="2000" b="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endParaRPr kumimoji="0" lang="zh-CN" altLang="en-US" b="0" kern="1200" cap="none" spc="0" normalizeH="0" baseline="0" noProof="0" dirty="0">
              <a:latin typeface="Times New Roman" panose="02020603050405020304" pitchFamily="18" charset="0"/>
              <a:ea typeface="华文仿宋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PLACING_PICTURE_USER_VIEWPORT" val="{&quot;height&quot;:6675,&quot;width&quot;:10455}"/>
</p:tagLst>
</file>

<file path=ppt/theme/theme1.xml><?xml version="1.0" encoding="utf-8"?>
<a:theme xmlns:a="http://schemas.openxmlformats.org/drawingml/2006/main" name="回顾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C0D8F1"/>
      </a:accent1>
      <a:accent2>
        <a:srgbClr val="C0D8F1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2217</Words>
  <Application>WPS 演示</Application>
  <PresentationFormat>全屏显示(4:3)</PresentationFormat>
  <Paragraphs>107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Calibri Light</vt:lpstr>
      <vt:lpstr>Calibri</vt:lpstr>
      <vt:lpstr>隶书</vt:lpstr>
      <vt:lpstr>微软雅黑</vt:lpstr>
      <vt:lpstr>等线</vt:lpstr>
      <vt:lpstr>Times New Roman</vt:lpstr>
      <vt:lpstr>华文仿宋</vt:lpstr>
      <vt:lpstr>仿宋</vt:lpstr>
      <vt:lpstr>PMingLiU</vt:lpstr>
      <vt:lpstr>Arial Unicode MS</vt:lpstr>
      <vt:lpstr>Segoe Print</vt:lpstr>
      <vt:lpstr>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Lenovo</dc:creator>
  <cp:lastModifiedBy>丸子焘</cp:lastModifiedBy>
  <cp:revision>1708</cp:revision>
  <dcterms:created xsi:type="dcterms:W3CDTF">2014-05-03T04:50:00Z</dcterms:created>
  <dcterms:modified xsi:type="dcterms:W3CDTF">2022-03-21T02:46:51Z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F898AA1C76CA4B11A33AE07524E44C1B</vt:lpwstr>
  </property>
  <property fmtid="{D5CDD505-2E9C-101B-9397-08002B2CF9AE}" pid="3" name="KSOProductBuildVer">
    <vt:lpwstr>2052-11.1.0.11365</vt:lpwstr>
  </property>
</Properties>
</file>