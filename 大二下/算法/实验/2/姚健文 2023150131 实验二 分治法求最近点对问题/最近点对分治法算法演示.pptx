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62" r:id="rId4"/>
    <p:sldId id="264" r:id="rId5"/>
    <p:sldId id="283" r:id="rId6"/>
    <p:sldId id="270" r:id="rId7"/>
    <p:sldId id="310" r:id="rId8"/>
    <p:sldId id="311" r:id="rId9"/>
    <p:sldId id="312" r:id="rId10"/>
    <p:sldId id="313" r:id="rId11"/>
    <p:sldId id="314" r:id="rId12"/>
    <p:sldId id="306" r:id="rId13"/>
    <p:sldId id="307" r:id="rId14"/>
    <p:sldId id="271" r:id="rId15"/>
    <p:sldId id="284" r:id="rId16"/>
    <p:sldId id="305" r:id="rId17"/>
    <p:sldId id="278" r:id="rId18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74" userDrawn="1">
          <p15:clr>
            <a:srgbClr val="A4A3A4"/>
          </p15:clr>
        </p15:guide>
        <p15:guide id="2" pos="551" userDrawn="1">
          <p15:clr>
            <a:srgbClr val="A4A3A4"/>
          </p15:clr>
        </p15:guide>
        <p15:guide id="3" orient="horz" pos="368" userDrawn="1">
          <p15:clr>
            <a:srgbClr val="A4A3A4"/>
          </p15:clr>
        </p15:guide>
        <p15:guide id="4" pos="71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C5C5"/>
    <a:srgbClr val="3B3838"/>
    <a:srgbClr val="767171"/>
    <a:srgbClr val="757575"/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72" y="57"/>
      </p:cViewPr>
      <p:guideLst>
        <p:guide orient="horz" pos="3974"/>
        <p:guide pos="551"/>
        <p:guide orient="horz" pos="368"/>
        <p:guide pos="71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&#26032;&#24314;%20Microsoft%20Excel%20&#24037;&#20316;&#34920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&#26032;&#24314;%20Microsoft%20Excel%20&#24037;&#20316;&#34920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&#26032;&#24314;%20Microsoft%20Excel%20&#24037;&#20316;&#34920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蛮力法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Sheet1!$A$4</c:f>
              <c:strCache>
                <c:ptCount val="1"/>
                <c:pt idx="0">
                  <c:v>理论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Sheet1!$B$3:$I$3</c:f>
              <c:numCache>
                <c:formatCode>General</c:formatCode>
                <c:ptCount val="8"/>
                <c:pt idx="0">
                  <c:v>100000</c:v>
                </c:pt>
                <c:pt idx="1">
                  <c:v>200000</c:v>
                </c:pt>
                <c:pt idx="2">
                  <c:v>300000</c:v>
                </c:pt>
                <c:pt idx="3">
                  <c:v>400000</c:v>
                </c:pt>
                <c:pt idx="4">
                  <c:v>500000</c:v>
                </c:pt>
                <c:pt idx="5">
                  <c:v>650000</c:v>
                </c:pt>
                <c:pt idx="6">
                  <c:v>800000</c:v>
                </c:pt>
                <c:pt idx="7">
                  <c:v>1000000</c:v>
                </c:pt>
              </c:numCache>
            </c:numRef>
          </c:xVal>
          <c:yVal>
            <c:numRef>
              <c:f>Sheet1!$B$4:$I$4</c:f>
              <c:numCache>
                <c:formatCode>General</c:formatCode>
                <c:ptCount val="8"/>
                <c:pt idx="0">
                  <c:v>23.912663157894741</c:v>
                </c:pt>
                <c:pt idx="1">
                  <c:v>95.650652631578964</c:v>
                </c:pt>
                <c:pt idx="2">
                  <c:v>215.21396842105267</c:v>
                </c:pt>
                <c:pt idx="3">
                  <c:v>382.60261052631586</c:v>
                </c:pt>
                <c:pt idx="4">
                  <c:v>597.8165789473685</c:v>
                </c:pt>
                <c:pt idx="5">
                  <c:v>1010.3100184210529</c:v>
                </c:pt>
                <c:pt idx="6">
                  <c:v>1530.4104421052637</c:v>
                </c:pt>
                <c:pt idx="7">
                  <c:v>2391.2663157894744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4BC-4D80-B58B-9AFFE25F8A70}"/>
            </c:ext>
          </c:extLst>
        </c:ser>
        <c:ser>
          <c:idx val="1"/>
          <c:order val="1"/>
          <c:tx>
            <c:strRef>
              <c:f>Sheet1!$A$5</c:f>
              <c:strCache>
                <c:ptCount val="1"/>
                <c:pt idx="0">
                  <c:v>平均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Sheet1!$B$3:$I$3</c:f>
              <c:numCache>
                <c:formatCode>General</c:formatCode>
                <c:ptCount val="8"/>
                <c:pt idx="0">
                  <c:v>100000</c:v>
                </c:pt>
                <c:pt idx="1">
                  <c:v>200000</c:v>
                </c:pt>
                <c:pt idx="2">
                  <c:v>300000</c:v>
                </c:pt>
                <c:pt idx="3">
                  <c:v>400000</c:v>
                </c:pt>
                <c:pt idx="4">
                  <c:v>500000</c:v>
                </c:pt>
                <c:pt idx="5">
                  <c:v>650000</c:v>
                </c:pt>
                <c:pt idx="6">
                  <c:v>800000</c:v>
                </c:pt>
                <c:pt idx="7">
                  <c:v>1000000</c:v>
                </c:pt>
              </c:numCache>
            </c:numRef>
          </c:xVal>
          <c:yVal>
            <c:numRef>
              <c:f>Sheet1!$B$5:$I$5</c:f>
              <c:numCache>
                <c:formatCode>General</c:formatCode>
                <c:ptCount val="8"/>
                <c:pt idx="0">
                  <c:v>23.735084210526313</c:v>
                </c:pt>
                <c:pt idx="1">
                  <c:v>95.650652631578964</c:v>
                </c:pt>
                <c:pt idx="2">
                  <c:v>215.82794736842109</c:v>
                </c:pt>
                <c:pt idx="3">
                  <c:v>387.37836842105264</c:v>
                </c:pt>
                <c:pt idx="4">
                  <c:v>601.77582352941192</c:v>
                </c:pt>
                <c:pt idx="5">
                  <c:v>1102.7409999999998</c:v>
                </c:pt>
                <c:pt idx="6">
                  <c:v>1533.8490909090908</c:v>
                </c:pt>
                <c:pt idx="7">
                  <c:v>2390.7663157894735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04BC-4D80-B58B-9AFFE25F8A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39843680"/>
        <c:axId val="939845600"/>
      </c:scatterChart>
      <c:valAx>
        <c:axId val="939843680"/>
        <c:scaling>
          <c:orientation val="minMax"/>
          <c:max val="1000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39845600"/>
        <c:crosses val="autoZero"/>
        <c:crossBetween val="midCat"/>
      </c:valAx>
      <c:valAx>
        <c:axId val="939845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3984368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分治法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Sheet1!$Q$4</c:f>
              <c:strCache>
                <c:ptCount val="1"/>
                <c:pt idx="0">
                  <c:v>理论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Sheet1!$R$3:$Y$3</c:f>
              <c:numCache>
                <c:formatCode>General</c:formatCode>
                <c:ptCount val="8"/>
                <c:pt idx="0">
                  <c:v>100000</c:v>
                </c:pt>
                <c:pt idx="1">
                  <c:v>200000</c:v>
                </c:pt>
                <c:pt idx="2">
                  <c:v>300000</c:v>
                </c:pt>
                <c:pt idx="3">
                  <c:v>400000</c:v>
                </c:pt>
                <c:pt idx="4">
                  <c:v>500000</c:v>
                </c:pt>
                <c:pt idx="5">
                  <c:v>650000</c:v>
                </c:pt>
                <c:pt idx="6">
                  <c:v>800000</c:v>
                </c:pt>
                <c:pt idx="7">
                  <c:v>1000000</c:v>
                </c:pt>
              </c:numCache>
            </c:numRef>
          </c:xVal>
          <c:yVal>
            <c:numRef>
              <c:f>Sheet1!$R$4:$Y$4</c:f>
              <c:numCache>
                <c:formatCode>General</c:formatCode>
                <c:ptCount val="8"/>
                <c:pt idx="0">
                  <c:v>0.15841764925179028</c:v>
                </c:pt>
                <c:pt idx="1">
                  <c:v>0.33591068421052633</c:v>
                </c:pt>
                <c:pt idx="2">
                  <c:v>0.52060360430382291</c:v>
                </c:pt>
                <c:pt idx="3">
                  <c:v>0.70997213983494434</c:v>
                </c:pt>
                <c:pt idx="4">
                  <c:v>0.9028174312433771</c:v>
                </c:pt>
                <c:pt idx="5">
                  <c:v>1.1971284900428032</c:v>
                </c:pt>
                <c:pt idx="6">
                  <c:v>1.496245822497672</c:v>
                </c:pt>
                <c:pt idx="7">
                  <c:v>1.9010117910214834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F3F-4B32-B276-33C2B3128F22}"/>
            </c:ext>
          </c:extLst>
        </c:ser>
        <c:ser>
          <c:idx val="1"/>
          <c:order val="1"/>
          <c:tx>
            <c:strRef>
              <c:f>Sheet1!$Q$5</c:f>
              <c:strCache>
                <c:ptCount val="1"/>
                <c:pt idx="0">
                  <c:v>平均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Sheet1!$R$3:$Y$3</c:f>
              <c:numCache>
                <c:formatCode>General</c:formatCode>
                <c:ptCount val="8"/>
                <c:pt idx="0">
                  <c:v>100000</c:v>
                </c:pt>
                <c:pt idx="1">
                  <c:v>200000</c:v>
                </c:pt>
                <c:pt idx="2">
                  <c:v>300000</c:v>
                </c:pt>
                <c:pt idx="3">
                  <c:v>400000</c:v>
                </c:pt>
                <c:pt idx="4">
                  <c:v>500000</c:v>
                </c:pt>
                <c:pt idx="5">
                  <c:v>650000</c:v>
                </c:pt>
                <c:pt idx="6">
                  <c:v>800000</c:v>
                </c:pt>
                <c:pt idx="7">
                  <c:v>1000000</c:v>
                </c:pt>
              </c:numCache>
            </c:numRef>
          </c:xVal>
          <c:yVal>
            <c:numRef>
              <c:f>Sheet1!$R$5:$Y$5</c:f>
              <c:numCache>
                <c:formatCode>General</c:formatCode>
                <c:ptCount val="8"/>
                <c:pt idx="0">
                  <c:v>0.15479642105263156</c:v>
                </c:pt>
                <c:pt idx="1">
                  <c:v>0.33591068421052633</c:v>
                </c:pt>
                <c:pt idx="2">
                  <c:v>0.53864157894736842</c:v>
                </c:pt>
                <c:pt idx="3">
                  <c:v>0.71019452631578961</c:v>
                </c:pt>
                <c:pt idx="4">
                  <c:v>0.85050894117647058</c:v>
                </c:pt>
                <c:pt idx="5">
                  <c:v>1.3066409999999997</c:v>
                </c:pt>
                <c:pt idx="6">
                  <c:v>1.5041127272727273</c:v>
                </c:pt>
                <c:pt idx="7">
                  <c:v>1.8153684210526315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7F3F-4B32-B276-33C2B3128F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39842720"/>
        <c:axId val="939843200"/>
      </c:scatterChart>
      <c:valAx>
        <c:axId val="939842720"/>
        <c:scaling>
          <c:orientation val="minMax"/>
          <c:max val="1000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39843200"/>
        <c:crosses val="autoZero"/>
        <c:crossBetween val="midCat"/>
      </c:valAx>
      <c:valAx>
        <c:axId val="939843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3984272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蛮力与分治对比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蛮力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Sheet1!$B$3:$I$3</c:f>
              <c:numCache>
                <c:formatCode>General</c:formatCode>
                <c:ptCount val="8"/>
                <c:pt idx="0">
                  <c:v>100000</c:v>
                </c:pt>
                <c:pt idx="1">
                  <c:v>200000</c:v>
                </c:pt>
                <c:pt idx="2">
                  <c:v>300000</c:v>
                </c:pt>
                <c:pt idx="3">
                  <c:v>400000</c:v>
                </c:pt>
                <c:pt idx="4">
                  <c:v>500000</c:v>
                </c:pt>
                <c:pt idx="5">
                  <c:v>650000</c:v>
                </c:pt>
                <c:pt idx="6">
                  <c:v>800000</c:v>
                </c:pt>
                <c:pt idx="7">
                  <c:v>1000000</c:v>
                </c:pt>
              </c:numCache>
            </c:numRef>
          </c:xVal>
          <c:yVal>
            <c:numRef>
              <c:f>Sheet1!$B$5:$I$5</c:f>
              <c:numCache>
                <c:formatCode>General</c:formatCode>
                <c:ptCount val="8"/>
                <c:pt idx="0">
                  <c:v>23.735084210526313</c:v>
                </c:pt>
                <c:pt idx="1">
                  <c:v>95.650652631578964</c:v>
                </c:pt>
                <c:pt idx="2">
                  <c:v>215.82794736842109</c:v>
                </c:pt>
                <c:pt idx="3">
                  <c:v>387.37836842105264</c:v>
                </c:pt>
                <c:pt idx="4">
                  <c:v>601.77582352941192</c:v>
                </c:pt>
                <c:pt idx="5">
                  <c:v>1102.7409999999998</c:v>
                </c:pt>
                <c:pt idx="6">
                  <c:v>1533.8490909090908</c:v>
                </c:pt>
                <c:pt idx="7">
                  <c:v>2390.7663157894735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CB6-4189-ADE5-E92BA25BC448}"/>
            </c:ext>
          </c:extLst>
        </c:ser>
        <c:ser>
          <c:idx val="1"/>
          <c:order val="1"/>
          <c:tx>
            <c:v>分治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Sheet1!$R$3:$Y$3</c:f>
              <c:numCache>
                <c:formatCode>General</c:formatCode>
                <c:ptCount val="8"/>
                <c:pt idx="0">
                  <c:v>100000</c:v>
                </c:pt>
                <c:pt idx="1">
                  <c:v>200000</c:v>
                </c:pt>
                <c:pt idx="2">
                  <c:v>300000</c:v>
                </c:pt>
                <c:pt idx="3">
                  <c:v>400000</c:v>
                </c:pt>
                <c:pt idx="4">
                  <c:v>500000</c:v>
                </c:pt>
                <c:pt idx="5">
                  <c:v>650000</c:v>
                </c:pt>
                <c:pt idx="6">
                  <c:v>800000</c:v>
                </c:pt>
                <c:pt idx="7">
                  <c:v>1000000</c:v>
                </c:pt>
              </c:numCache>
            </c:numRef>
          </c:xVal>
          <c:yVal>
            <c:numRef>
              <c:f>Sheet1!$R$5:$Y$5</c:f>
              <c:numCache>
                <c:formatCode>General</c:formatCode>
                <c:ptCount val="8"/>
                <c:pt idx="0">
                  <c:v>0.15479642105263156</c:v>
                </c:pt>
                <c:pt idx="1">
                  <c:v>0.33591068421052633</c:v>
                </c:pt>
                <c:pt idx="2">
                  <c:v>0.53864157894736842</c:v>
                </c:pt>
                <c:pt idx="3">
                  <c:v>0.71019452631578961</c:v>
                </c:pt>
                <c:pt idx="4">
                  <c:v>0.85050894117647058</c:v>
                </c:pt>
                <c:pt idx="5">
                  <c:v>1.3066409999999997</c:v>
                </c:pt>
                <c:pt idx="6">
                  <c:v>1.5041127272727273</c:v>
                </c:pt>
                <c:pt idx="7">
                  <c:v>1.8153684210526315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CB6-4189-ADE5-E92BA25BC4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94175536"/>
        <c:axId val="894176976"/>
      </c:scatterChart>
      <c:valAx>
        <c:axId val="894175536"/>
        <c:scaling>
          <c:orientation val="minMax"/>
          <c:max val="1000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94176976"/>
        <c:crosses val="autoZero"/>
        <c:crossBetween val="midCat"/>
      </c:valAx>
      <c:valAx>
        <c:axId val="894176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9417553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257E82-C2C1-4F89-A614-C4BF84446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892212-D1D2-4303-8944-206AEFAF12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5212F6-9A48-430B-B9E6-DA670644F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AC504E-755D-4F5F-A884-BCD4DD19B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E828B0-4B30-4BA2-8ADB-B8F59D36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991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4457CA-DDE9-4F9F-8273-0E0264B5A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85EA8C-57D9-4581-8DE3-0E42DC10E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E55DC0-E036-4261-9731-D22858714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6E2335-EF40-4FDC-A0F9-F3A875F06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DA12CF-3869-4629-8613-E2D21DCB7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196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E2813-ECDC-4E85-AA4B-AC247737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54F65D-F5F8-4A34-AFE8-94231E31D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9CA55C-516B-449E-9F4A-214010C99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22D9D-E873-400F-A805-E8C9BB7A8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1D8B4E-FD17-4313-BFCF-F96BCB1E6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347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83533C-DA66-4D35-8252-1936C80E8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8758ED-7231-43C7-9BE1-F52C077C1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4871AB-4676-4339-9698-3C1C0946D1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BF8AD7-435F-4016-87F8-CA2CDD9B9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2025/4/11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27EFFF-B774-47BE-8EAC-075B844B0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DAA445-F7D1-4322-A39A-F748A3887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721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0F8ACA-0C6F-4585-BBFC-67DC1AFD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B355CF-E8C9-4F66-B7BE-AF659A2FD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D3FC60-5F48-4478-B38E-E0B42323C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46BC4FC-6846-4C6E-B5E1-5E4ED19F12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EFDE226-0E96-4C39-96A0-7769CF969B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1FF6DC1-ECBC-4285-9059-340DE2CCD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2025/4/11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042EF3A-76A6-4A93-9250-C4ED87283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5702E4D-3D66-47A5-A76F-38B0D8B9A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296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C83F67-3EC5-41B9-AD61-409CB3DBC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73DD6F-A3B3-40E3-8D4B-902B4EB2B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2025/4/11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B60495-4166-438A-AA08-3DFF56EF2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FC8C80-8154-4157-9CFB-8CA216A8E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110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D41F186-51F5-45E8-925B-6658F8A5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2025/4/11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D2ECC3-C525-4A07-85E1-4E1F647DA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334DF1-DD41-42A6-9B05-0BFE17730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227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89250C-2EE3-445E-9712-10B975409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B04AB1-6D3A-4BE8-B8B5-21A79ABC8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42F583-4BA2-4767-B73E-07B95F6A4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73520B-4AC8-4F8D-882F-32A6DD943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2025/4/11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CA0CDF-248C-44A0-A591-5A05DE3B5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AEAC46-2DE2-47DA-8813-3C9BA8EA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004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AB3301-B061-4373-9F59-0EC727BE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45669B0-DD46-493F-9454-F44F08213D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C1D14F-4F0C-4201-8D61-5C840BBF6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DD7F5E-01FC-4819-8C56-D266420F2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2025/4/11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B5C8EA-E3E6-490E-9D6B-3984C9600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488420-C912-41CE-AE9C-1CBF33ED8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922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1ECCF2-208E-4FBA-AE00-B0A5FD508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4E9D07-D1CC-4710-9907-A01DE658B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09FB46-4707-4650-AF22-2B3409702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6DC8CF-D042-4A60-BA6B-A0236402C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EC390D-ECD5-4BA9-8119-03A79C78A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06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9C6E7E2-4753-49A0-8B5B-4BD8A505D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5B3755-B931-424B-A541-5425C7B5F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BB126F-56CE-470F-9512-76CD4C778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74AF32-60DB-438A-8513-3D49FB21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D1D76D-0183-419D-9803-7E9B71857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548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C7438AF-4DE6-4664-AA9B-018009122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5168E7-0D07-40EE-A925-11F73CC3B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76C523-D268-4347-8EC0-C672D7854F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4C87E-67D7-4747-B03D-6F045E1AC05D}" type="datetimeFigureOut">
              <a:rPr lang="zh-CN" altLang="en-US" smtClean="0"/>
              <a:t>2025/4/11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5BFEE9-6C9A-4DC8-8CAE-7B9476393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1A4AE2-3345-48D3-BA37-72E0F9E53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846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18" Type="http://schemas.openxmlformats.org/officeDocument/2006/relationships/tags" Target="../tags/tag29.xml"/><Relationship Id="rId26" Type="http://schemas.openxmlformats.org/officeDocument/2006/relationships/slideLayout" Target="../slideLayouts/slideLayout7.xml"/><Relationship Id="rId3" Type="http://schemas.openxmlformats.org/officeDocument/2006/relationships/tags" Target="../tags/tag14.xml"/><Relationship Id="rId21" Type="http://schemas.openxmlformats.org/officeDocument/2006/relationships/tags" Target="../tags/tag32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tags" Target="../tags/tag28.xml"/><Relationship Id="rId25" Type="http://schemas.openxmlformats.org/officeDocument/2006/relationships/tags" Target="../tags/tag36.xml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20" Type="http://schemas.openxmlformats.org/officeDocument/2006/relationships/tags" Target="../tags/tag31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24" Type="http://schemas.openxmlformats.org/officeDocument/2006/relationships/tags" Target="../tags/tag35.xml"/><Relationship Id="rId5" Type="http://schemas.openxmlformats.org/officeDocument/2006/relationships/tags" Target="../tags/tag16.xml"/><Relationship Id="rId15" Type="http://schemas.openxmlformats.org/officeDocument/2006/relationships/tags" Target="../tags/tag26.xml"/><Relationship Id="rId23" Type="http://schemas.openxmlformats.org/officeDocument/2006/relationships/tags" Target="../tags/tag34.xml"/><Relationship Id="rId10" Type="http://schemas.openxmlformats.org/officeDocument/2006/relationships/tags" Target="../tags/tag21.xml"/><Relationship Id="rId19" Type="http://schemas.openxmlformats.org/officeDocument/2006/relationships/tags" Target="../tags/tag30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tags" Target="../tags/tag25.xml"/><Relationship Id="rId22" Type="http://schemas.openxmlformats.org/officeDocument/2006/relationships/tags" Target="../tags/tag3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tags" Target="../tags/tag54.xml"/><Relationship Id="rId3" Type="http://schemas.openxmlformats.org/officeDocument/2006/relationships/tags" Target="../tags/tag39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20" Type="http://schemas.openxmlformats.org/officeDocument/2006/relationships/tags" Target="../tags/tag56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10" Type="http://schemas.openxmlformats.org/officeDocument/2006/relationships/tags" Target="../tags/tag46.xml"/><Relationship Id="rId19" Type="http://schemas.openxmlformats.org/officeDocument/2006/relationships/tags" Target="../tags/tag55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tags" Target="../tags/tag69.xml"/><Relationship Id="rId18" Type="http://schemas.openxmlformats.org/officeDocument/2006/relationships/tags" Target="../tags/tag74.xml"/><Relationship Id="rId3" Type="http://schemas.openxmlformats.org/officeDocument/2006/relationships/tags" Target="../tags/tag59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63.xml"/><Relationship Id="rId12" Type="http://schemas.openxmlformats.org/officeDocument/2006/relationships/tags" Target="../tags/tag68.xml"/><Relationship Id="rId17" Type="http://schemas.openxmlformats.org/officeDocument/2006/relationships/tags" Target="../tags/tag73.xml"/><Relationship Id="rId2" Type="http://schemas.openxmlformats.org/officeDocument/2006/relationships/tags" Target="../tags/tag58.xml"/><Relationship Id="rId16" Type="http://schemas.openxmlformats.org/officeDocument/2006/relationships/tags" Target="../tags/tag72.xml"/><Relationship Id="rId20" Type="http://schemas.openxmlformats.org/officeDocument/2006/relationships/tags" Target="../tags/tag76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5" Type="http://schemas.openxmlformats.org/officeDocument/2006/relationships/tags" Target="../tags/tag61.xml"/><Relationship Id="rId15" Type="http://schemas.openxmlformats.org/officeDocument/2006/relationships/tags" Target="../tags/tag71.xml"/><Relationship Id="rId10" Type="http://schemas.openxmlformats.org/officeDocument/2006/relationships/tags" Target="../tags/tag66.xml"/><Relationship Id="rId19" Type="http://schemas.openxmlformats.org/officeDocument/2006/relationships/tags" Target="../tags/tag75.xml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tags" Target="../tags/tag7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chart" Target="../charts/chart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80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13" Type="http://schemas.openxmlformats.org/officeDocument/2006/relationships/tags" Target="../tags/tag93.xml"/><Relationship Id="rId18" Type="http://schemas.openxmlformats.org/officeDocument/2006/relationships/tags" Target="../tags/tag98.xml"/><Relationship Id="rId3" Type="http://schemas.openxmlformats.org/officeDocument/2006/relationships/tags" Target="../tags/tag83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87.xml"/><Relationship Id="rId12" Type="http://schemas.openxmlformats.org/officeDocument/2006/relationships/tags" Target="../tags/tag92.xml"/><Relationship Id="rId17" Type="http://schemas.openxmlformats.org/officeDocument/2006/relationships/tags" Target="../tags/tag97.xml"/><Relationship Id="rId2" Type="http://schemas.openxmlformats.org/officeDocument/2006/relationships/tags" Target="../tags/tag82.xml"/><Relationship Id="rId16" Type="http://schemas.openxmlformats.org/officeDocument/2006/relationships/tags" Target="../tags/tag96.xml"/><Relationship Id="rId20" Type="http://schemas.openxmlformats.org/officeDocument/2006/relationships/tags" Target="../tags/tag100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tags" Target="../tags/tag91.xml"/><Relationship Id="rId5" Type="http://schemas.openxmlformats.org/officeDocument/2006/relationships/tags" Target="../tags/tag85.xml"/><Relationship Id="rId15" Type="http://schemas.openxmlformats.org/officeDocument/2006/relationships/tags" Target="../tags/tag95.xml"/><Relationship Id="rId10" Type="http://schemas.openxmlformats.org/officeDocument/2006/relationships/tags" Target="../tags/tag90.xml"/><Relationship Id="rId19" Type="http://schemas.openxmlformats.org/officeDocument/2006/relationships/tags" Target="../tags/tag99.xml"/><Relationship Id="rId4" Type="http://schemas.openxmlformats.org/officeDocument/2006/relationships/tags" Target="../tags/tag84.xml"/><Relationship Id="rId9" Type="http://schemas.openxmlformats.org/officeDocument/2006/relationships/tags" Target="../tags/tag89.xml"/><Relationship Id="rId14" Type="http://schemas.openxmlformats.org/officeDocument/2006/relationships/tags" Target="../tags/tag9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-圆角矩形 6">
            <a:extLst>
              <a:ext uri="{FF2B5EF4-FFF2-40B4-BE49-F238E27FC236}">
                <a16:creationId xmlns:a16="http://schemas.microsoft.com/office/drawing/2014/main" id="{CA1D04B1-561C-427F-A69C-418146F033E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890216" y="1750488"/>
            <a:ext cx="2646983" cy="2646982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PA-AutoShape 2">
            <a:extLst>
              <a:ext uri="{FF2B5EF4-FFF2-40B4-BE49-F238E27FC236}">
                <a16:creationId xmlns:a16="http://schemas.microsoft.com/office/drawing/2014/main" id="{DDF01370-10EF-410F-8B87-ACE304D75DDC}"/>
              </a:ext>
            </a:extLst>
          </p:cNvPr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auto">
          <a:xfrm>
            <a:off x="837235" y="2786976"/>
            <a:ext cx="191688" cy="19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PA-圆角矩形 3">
            <a:extLst>
              <a:ext uri="{FF2B5EF4-FFF2-40B4-BE49-F238E27FC236}">
                <a16:creationId xmlns:a16="http://schemas.microsoft.com/office/drawing/2014/main" id="{128046FA-F4E0-4BA1-A2BB-1ED170AF322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84541" y="1036899"/>
            <a:ext cx="485609" cy="485609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PA-圆角矩形 5">
            <a:extLst>
              <a:ext uri="{FF2B5EF4-FFF2-40B4-BE49-F238E27FC236}">
                <a16:creationId xmlns:a16="http://schemas.microsoft.com/office/drawing/2014/main" id="{11A08D04-3124-48C1-9669-36C1BEC4701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174801" y="5311792"/>
            <a:ext cx="715415" cy="715415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PA-圆角矩形 7">
            <a:extLst>
              <a:ext uri="{FF2B5EF4-FFF2-40B4-BE49-F238E27FC236}">
                <a16:creationId xmlns:a16="http://schemas.microsoft.com/office/drawing/2014/main" id="{4C94711A-F1EC-48D3-B3D5-1CC00A21989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453107" y="836166"/>
            <a:ext cx="715415" cy="715415"/>
          </a:xfrm>
          <a:prstGeom prst="roundRect">
            <a:avLst>
              <a:gd name="adj" fmla="val 17797"/>
            </a:avLst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PA-圆角矩形 17">
            <a:extLst>
              <a:ext uri="{FF2B5EF4-FFF2-40B4-BE49-F238E27FC236}">
                <a16:creationId xmlns:a16="http://schemas.microsoft.com/office/drawing/2014/main" id="{31AF2055-48A7-4C54-A11C-925E241CAAA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384541" y="2442758"/>
            <a:ext cx="7120563" cy="2109744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PA-文本框 13">
            <a:extLst>
              <a:ext uri="{FF2B5EF4-FFF2-40B4-BE49-F238E27FC236}">
                <a16:creationId xmlns:a16="http://schemas.microsoft.com/office/drawing/2014/main" id="{73722EF1-500F-4A6B-B673-277906A7761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048010" y="2528134"/>
            <a:ext cx="59636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最近点对分治法算法演示</a:t>
            </a:r>
          </a:p>
        </p:txBody>
      </p:sp>
      <p:sp>
        <p:nvSpPr>
          <p:cNvPr id="9" name="PA-圆角矩形 8">
            <a:extLst>
              <a:ext uri="{FF2B5EF4-FFF2-40B4-BE49-F238E27FC236}">
                <a16:creationId xmlns:a16="http://schemas.microsoft.com/office/drawing/2014/main" id="{E9D98FD9-23F9-4849-8ABD-4B3194E83D3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690166" y="4270737"/>
            <a:ext cx="2407535" cy="529731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PA-圆角矩形 18">
            <a:extLst>
              <a:ext uri="{FF2B5EF4-FFF2-40B4-BE49-F238E27FC236}">
                <a16:creationId xmlns:a16="http://schemas.microsoft.com/office/drawing/2014/main" id="{D960B0CF-F4D4-4B1F-B9B3-B3A5012EF2C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8381243" y="3691758"/>
            <a:ext cx="2918378" cy="2109744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PA-文本框 13">
            <a:extLst>
              <a:ext uri="{FF2B5EF4-FFF2-40B4-BE49-F238E27FC236}">
                <a16:creationId xmlns:a16="http://schemas.microsoft.com/office/drawing/2014/main" id="{C682BAAE-DB0F-4A29-989A-BF7F78B4B45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627345" y="2622284"/>
            <a:ext cx="1771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 </a:t>
            </a:r>
            <a:r>
              <a:rPr lang="en-US" altLang="zh-CN" sz="60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endParaRPr lang="zh-CN" altLang="en-US" sz="6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60C63D-1517-3098-692F-1E4F4A200C19}"/>
              </a:ext>
            </a:extLst>
          </p:cNvPr>
          <p:cNvSpPr txBox="1"/>
          <p:nvPr/>
        </p:nvSpPr>
        <p:spPr>
          <a:xfrm>
            <a:off x="8589818" y="4885129"/>
            <a:ext cx="2651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报告人：姚健文</a:t>
            </a:r>
            <a:endParaRPr lang="en-US" altLang="zh-CN" sz="2400" dirty="0"/>
          </a:p>
          <a:p>
            <a:r>
              <a:rPr lang="en-US" altLang="zh-CN" sz="2400" dirty="0"/>
              <a:t>2023150131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9234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19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4" grpId="0" animBg="1"/>
      <p:bldP spid="4" grpId="1" animBg="1"/>
      <p:bldP spid="6" grpId="0" animBg="1"/>
      <p:bldP spid="6" grpId="1" animBg="1"/>
      <p:bldP spid="8" grpId="0" animBg="1"/>
      <p:bldP spid="8" grpId="1" animBg="1"/>
      <p:bldP spid="18" grpId="0" animBg="1"/>
      <p:bldP spid="18" grpId="1" animBg="1"/>
      <p:bldP spid="14" grpId="0"/>
      <p:bldP spid="14" grpId="1"/>
      <p:bldP spid="9" grpId="0" animBg="1"/>
      <p:bldP spid="9" grpId="1" animBg="1"/>
      <p:bldP spid="19" grpId="0" animBg="1"/>
      <p:bldP spid="19" grpId="1" animBg="1"/>
      <p:bldP spid="13" grpId="0"/>
      <p:bldP spid="1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A-圆角矩形 51">
            <a:extLst>
              <a:ext uri="{FF2B5EF4-FFF2-40B4-BE49-F238E27FC236}">
                <a16:creationId xmlns:a16="http://schemas.microsoft.com/office/drawing/2014/main" id="{6612C7AD-C5D0-4CE0-8366-4DA07510C22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343266" y="2418285"/>
            <a:ext cx="2218292" cy="2218280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8" name="PA-圆角矩形 51">
            <a:extLst>
              <a:ext uri="{FF2B5EF4-FFF2-40B4-BE49-F238E27FC236}">
                <a16:creationId xmlns:a16="http://schemas.microsoft.com/office/drawing/2014/main" id="{F99DF15F-AE84-43B1-BD9B-F3B6601555A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343266" y="2418285"/>
            <a:ext cx="2218292" cy="2218280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5" name="PA-圆角矩形 51">
            <a:extLst>
              <a:ext uri="{FF2B5EF4-FFF2-40B4-BE49-F238E27FC236}">
                <a16:creationId xmlns:a16="http://schemas.microsoft.com/office/drawing/2014/main" id="{AB33F4EF-52AF-40CF-A1FA-03C32EFBBCB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43266" y="2418285"/>
            <a:ext cx="2218292" cy="2218280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PA-圆角矩形 51">
            <a:extLst>
              <a:ext uri="{FF2B5EF4-FFF2-40B4-BE49-F238E27FC236}">
                <a16:creationId xmlns:a16="http://schemas.microsoft.com/office/drawing/2014/main" id="{350BC068-2A10-4088-8935-4FEDC5F9149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343266" y="2418285"/>
            <a:ext cx="2218292" cy="2218280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PA-圆角矩形 6">
            <a:extLst>
              <a:ext uri="{FF2B5EF4-FFF2-40B4-BE49-F238E27FC236}">
                <a16:creationId xmlns:a16="http://schemas.microsoft.com/office/drawing/2014/main" id="{CA1D04B1-561C-427F-A69C-418146F033E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890216" y="1981983"/>
            <a:ext cx="2646983" cy="2646982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" name="PA-AutoShape 2">
            <a:extLst>
              <a:ext uri="{FF2B5EF4-FFF2-40B4-BE49-F238E27FC236}">
                <a16:creationId xmlns:a16="http://schemas.microsoft.com/office/drawing/2014/main" id="{DDF01370-10EF-410F-8B87-ACE304D75DDC}"/>
              </a:ext>
            </a:extLst>
          </p:cNvPr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837235" y="3018471"/>
            <a:ext cx="191688" cy="19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PA-圆角矩形 3">
            <a:extLst>
              <a:ext uri="{FF2B5EF4-FFF2-40B4-BE49-F238E27FC236}">
                <a16:creationId xmlns:a16="http://schemas.microsoft.com/office/drawing/2014/main" id="{128046FA-F4E0-4BA1-A2BB-1ED170AF322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384541" y="1268394"/>
            <a:ext cx="485609" cy="485609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" name="PA-圆角矩形 5">
            <a:extLst>
              <a:ext uri="{FF2B5EF4-FFF2-40B4-BE49-F238E27FC236}">
                <a16:creationId xmlns:a16="http://schemas.microsoft.com/office/drawing/2014/main" id="{11A08D04-3124-48C1-9669-36C1BEC47014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174801" y="4827872"/>
            <a:ext cx="715415" cy="715415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5" name="PA-圆角矩形 14">
            <a:extLst>
              <a:ext uri="{FF2B5EF4-FFF2-40B4-BE49-F238E27FC236}">
                <a16:creationId xmlns:a16="http://schemas.microsoft.com/office/drawing/2014/main" id="{28E04C6A-65BD-4DAA-9677-E9B4128E044B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350873" y="2425886"/>
            <a:ext cx="2203079" cy="2203079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PA-文本框 26">
            <a:extLst>
              <a:ext uri="{FF2B5EF4-FFF2-40B4-BE49-F238E27FC236}">
                <a16:creationId xmlns:a16="http://schemas.microsoft.com/office/drawing/2014/main" id="{39FDEDFC-605C-409F-A432-538EB1677F5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575804" y="3721547"/>
            <a:ext cx="1836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PA-文本框 27">
            <a:extLst>
              <a:ext uri="{FF2B5EF4-FFF2-40B4-BE49-F238E27FC236}">
                <a16:creationId xmlns:a16="http://schemas.microsoft.com/office/drawing/2014/main" id="{DC0F587A-857A-49B1-A2AD-1305FB5B0DE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2661532" y="2875344"/>
            <a:ext cx="16690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sz="2800" b="1" dirty="0">
                <a:solidFill>
                  <a:schemeClr val="bg1"/>
                </a:solidFill>
              </a:rPr>
              <a:t> 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51" name="PA-圆角矩形 50">
            <a:extLst>
              <a:ext uri="{FF2B5EF4-FFF2-40B4-BE49-F238E27FC236}">
                <a16:creationId xmlns:a16="http://schemas.microsoft.com/office/drawing/2014/main" id="{CC36E74B-BA9D-453F-9CBC-559876C1A7DA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881136" y="2047938"/>
            <a:ext cx="991082" cy="241318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6" name="PA-圆角矩形 45">
            <a:extLst>
              <a:ext uri="{FF2B5EF4-FFF2-40B4-BE49-F238E27FC236}">
                <a16:creationId xmlns:a16="http://schemas.microsoft.com/office/drawing/2014/main" id="{604D31D0-F1BA-4DF8-80F9-516545242D58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6881136" y="3452548"/>
            <a:ext cx="991082" cy="241318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4" name="PA-圆角矩形 53">
            <a:extLst>
              <a:ext uri="{FF2B5EF4-FFF2-40B4-BE49-F238E27FC236}">
                <a16:creationId xmlns:a16="http://schemas.microsoft.com/office/drawing/2014/main" id="{31B1E93E-7865-4E80-A7FB-230B440DBF97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918980" y="4974465"/>
            <a:ext cx="991082" cy="241318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8" name="PA-圆角矩形 67">
            <a:extLst>
              <a:ext uri="{FF2B5EF4-FFF2-40B4-BE49-F238E27FC236}">
                <a16:creationId xmlns:a16="http://schemas.microsoft.com/office/drawing/2014/main" id="{449A29ED-6222-4DCF-B5F1-3362F101C623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3453107" y="836166"/>
            <a:ext cx="715415" cy="715415"/>
          </a:xfrm>
          <a:prstGeom prst="roundRect">
            <a:avLst>
              <a:gd name="adj" fmla="val 17797"/>
            </a:avLst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3" name="PA-圆角矩形 72">
            <a:extLst>
              <a:ext uri="{FF2B5EF4-FFF2-40B4-BE49-F238E27FC236}">
                <a16:creationId xmlns:a16="http://schemas.microsoft.com/office/drawing/2014/main" id="{B2BA17DA-5BBE-4519-99A1-D2733FB864D7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8380983" y="6572911"/>
            <a:ext cx="2407535" cy="529731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grpSp>
        <p:nvGrpSpPr>
          <p:cNvPr id="3" name="PA-组合 2">
            <a:extLst>
              <a:ext uri="{FF2B5EF4-FFF2-40B4-BE49-F238E27FC236}">
                <a16:creationId xmlns:a16="http://schemas.microsoft.com/office/drawing/2014/main" id="{7CF0D2C0-559A-44D5-84C5-966B08B3852C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6870579" y="1551581"/>
            <a:ext cx="3761671" cy="730157"/>
            <a:chOff x="6898350" y="739354"/>
            <a:chExt cx="2550535" cy="730157"/>
          </a:xfrm>
        </p:grpSpPr>
        <p:sp>
          <p:nvSpPr>
            <p:cNvPr id="53" name="PA-标题 1">
              <a:extLst>
                <a:ext uri="{FF2B5EF4-FFF2-40B4-BE49-F238E27FC236}">
                  <a16:creationId xmlns:a16="http://schemas.microsoft.com/office/drawing/2014/main" id="{0D8DCF9B-7B1F-4CA7-9151-00760C2CE454}"/>
                </a:ext>
              </a:extLst>
            </p:cNvPr>
            <p:cNvSpPr txBox="1">
              <a:spLocks/>
            </p:cNvSpPr>
            <p:nvPr>
              <p:custDataLst>
                <p:tags r:id="rId24"/>
              </p:custDataLst>
            </p:nvPr>
          </p:nvSpPr>
          <p:spPr>
            <a:xfrm>
              <a:off x="6898350" y="739354"/>
              <a:ext cx="916405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7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1</a:t>
              </a:r>
              <a:endParaRPr 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64" name="PA-标题 1">
              <a:extLst>
                <a:ext uri="{FF2B5EF4-FFF2-40B4-BE49-F238E27FC236}">
                  <a16:creationId xmlns:a16="http://schemas.microsoft.com/office/drawing/2014/main" id="{F4F6C1D8-3708-4B37-B3EB-B3B1151A48C3}"/>
                </a:ext>
              </a:extLst>
            </p:cNvPr>
            <p:cNvSpPr txBox="1">
              <a:spLocks/>
            </p:cNvSpPr>
            <p:nvPr>
              <p:custDataLst>
                <p:tags r:id="rId25"/>
              </p:custDataLst>
            </p:nvPr>
          </p:nvSpPr>
          <p:spPr>
            <a:xfrm>
              <a:off x="7726515" y="879202"/>
              <a:ext cx="1722370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rm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蛮力法效率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PA-组合 4">
            <a:extLst>
              <a:ext uri="{FF2B5EF4-FFF2-40B4-BE49-F238E27FC236}">
                <a16:creationId xmlns:a16="http://schemas.microsoft.com/office/drawing/2014/main" id="{FC62D572-985F-499F-8ED0-FA5CD0799C6A}"/>
              </a:ext>
            </a:extLst>
          </p:cNvPr>
          <p:cNvGrpSpPr/>
          <p:nvPr>
            <p:custDataLst>
              <p:tags r:id="rId18"/>
            </p:custDataLst>
          </p:nvPr>
        </p:nvGrpSpPr>
        <p:grpSpPr>
          <a:xfrm>
            <a:off x="6881137" y="2955684"/>
            <a:ext cx="3751114" cy="676479"/>
            <a:chOff x="6881136" y="2147194"/>
            <a:chExt cx="2543377" cy="676479"/>
          </a:xfrm>
        </p:grpSpPr>
        <p:sp>
          <p:nvSpPr>
            <p:cNvPr id="37" name="PA-标题 1">
              <a:extLst>
                <a:ext uri="{FF2B5EF4-FFF2-40B4-BE49-F238E27FC236}">
                  <a16:creationId xmlns:a16="http://schemas.microsoft.com/office/drawing/2014/main" id="{352B812F-DC70-4CAF-85A9-A94D03B9D59F}"/>
                </a:ext>
              </a:extLst>
            </p:cNvPr>
            <p:cNvSpPr txBox="1">
              <a:spLocks/>
            </p:cNvSpPr>
            <p:nvPr>
              <p:custDataLst>
                <p:tags r:id="rId22"/>
              </p:custDataLst>
            </p:nvPr>
          </p:nvSpPr>
          <p:spPr>
            <a:xfrm>
              <a:off x="6881136" y="2147194"/>
              <a:ext cx="916406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7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2</a:t>
              </a:r>
              <a:endParaRPr 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65" name="PA-标题 1">
              <a:extLst>
                <a:ext uri="{FF2B5EF4-FFF2-40B4-BE49-F238E27FC236}">
                  <a16:creationId xmlns:a16="http://schemas.microsoft.com/office/drawing/2014/main" id="{164ADDDA-31CA-4B08-9B4C-94633CB9E8F9}"/>
                </a:ext>
              </a:extLst>
            </p:cNvPr>
            <p:cNvSpPr txBox="1">
              <a:spLocks/>
            </p:cNvSpPr>
            <p:nvPr>
              <p:custDataLst>
                <p:tags r:id="rId23"/>
              </p:custDataLst>
            </p:nvPr>
          </p:nvSpPr>
          <p:spPr>
            <a:xfrm>
              <a:off x="7702143" y="2233364"/>
              <a:ext cx="1722370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rm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分治法思想及效率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PA-组合 7">
            <a:extLst>
              <a:ext uri="{FF2B5EF4-FFF2-40B4-BE49-F238E27FC236}">
                <a16:creationId xmlns:a16="http://schemas.microsoft.com/office/drawing/2014/main" id="{68AC6118-D5CF-4122-8609-96262D3D7DEB}"/>
              </a:ext>
            </a:extLst>
          </p:cNvPr>
          <p:cNvGrpSpPr/>
          <p:nvPr>
            <p:custDataLst>
              <p:tags r:id="rId19"/>
            </p:custDataLst>
          </p:nvPr>
        </p:nvGrpSpPr>
        <p:grpSpPr>
          <a:xfrm>
            <a:off x="6908424" y="4478108"/>
            <a:ext cx="3723826" cy="707471"/>
            <a:chOff x="6962718" y="3687258"/>
            <a:chExt cx="2524875" cy="707471"/>
          </a:xfrm>
        </p:grpSpPr>
        <p:sp>
          <p:nvSpPr>
            <p:cNvPr id="56" name="PA-标题 1">
              <a:extLst>
                <a:ext uri="{FF2B5EF4-FFF2-40B4-BE49-F238E27FC236}">
                  <a16:creationId xmlns:a16="http://schemas.microsoft.com/office/drawing/2014/main" id="{514CB1B8-99E4-49C8-92D8-BE392A72B719}"/>
                </a:ext>
              </a:extLst>
            </p:cNvPr>
            <p:cNvSpPr txBox="1">
              <a:spLocks/>
            </p:cNvSpPr>
            <p:nvPr>
              <p:custDataLst>
                <p:tags r:id="rId20"/>
              </p:custDataLst>
            </p:nvPr>
          </p:nvSpPr>
          <p:spPr>
            <a:xfrm>
              <a:off x="6962718" y="3687258"/>
              <a:ext cx="916405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7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3</a:t>
              </a:r>
              <a:endParaRPr 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66" name="PA-标题 1">
              <a:extLst>
                <a:ext uri="{FF2B5EF4-FFF2-40B4-BE49-F238E27FC236}">
                  <a16:creationId xmlns:a16="http://schemas.microsoft.com/office/drawing/2014/main" id="{D1A0F2D1-8073-4ABF-BDC9-774823509ADB}"/>
                </a:ext>
              </a:extLst>
            </p:cNvPr>
            <p:cNvSpPr txBox="1">
              <a:spLocks/>
            </p:cNvSpPr>
            <p:nvPr>
              <p:custDataLst>
                <p:tags r:id="rId21"/>
              </p:custDataLst>
            </p:nvPr>
          </p:nvSpPr>
          <p:spPr>
            <a:xfrm>
              <a:off x="7765223" y="3804420"/>
              <a:ext cx="1722370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rm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方法比较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705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7" dur="7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8" dur="7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11" dur="7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12" dur="7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15" dur="7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16" dur="7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19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20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23" dur="7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24" dur="7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27" dur="7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28" dur="7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53" presetClass="entr" presetSubtype="16" fill="hold" nodeType="withEffect">
                                      <p:stCondLst>
                                        <p:cond delay="7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1" dur="500" fill="hold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53" presetClass="entr" presetSubtype="16" fill="hold" grpId="0" nodeType="withEffect">
                                      <p:stCondLst>
                                        <p:cond delay="700"/>
                                      </p:stCondLst>
                                      <p:iterate type="lt">
                                        <p:tmPct val="5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4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0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086 -0.34491 " pathEditMode="relative" rAng="0" ptsTypes="AA">
                                          <p:cBhvr>
                                            <p:cTn id="51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036" y="-1724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2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54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5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7487 -0.13472 " pathEditMode="relative" rAng="0" ptsTypes="AA">
                                          <p:cBhvr>
                                            <p:cTn id="56" dur="1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737" y="-673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7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5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0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164 0.09005 " pathEditMode="relative" rAng="0" ptsTypes="AA">
                                          <p:cBhvr>
                                            <p:cTn id="61" dur="1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076" y="44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2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64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5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269 0.28912 " pathEditMode="relative" rAng="0" ptsTypes="AA">
                                          <p:cBhvr>
                                            <p:cTn id="66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128" y="1444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7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9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2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5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2" presetClass="entr" presetSubtype="1" fill="hold" nodeType="withEffect" p14:presetBounceEnd="60000">
                                      <p:stCondLst>
                                        <p:cond delay="288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8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79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0" presetID="2" presetClass="entr" presetSubtype="1" fill="hold" nodeType="withEffect" p14:presetBounceEnd="60000">
                                      <p:stCondLst>
                                        <p:cond delay="338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82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3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4" presetID="2" presetClass="entr" presetSubtype="1" fill="hold" nodeType="withEffect" p14:presetBounceEnd="60000">
                                      <p:stCondLst>
                                        <p:cond delay="388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86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7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9" grpId="0" animBg="1"/>
          <p:bldP spid="49" grpId="1" animBg="1"/>
          <p:bldP spid="49" grpId="2" animBg="1"/>
          <p:bldP spid="48" grpId="0" animBg="1"/>
          <p:bldP spid="48" grpId="1" animBg="1"/>
          <p:bldP spid="48" grpId="2" animBg="1"/>
          <p:bldP spid="45" grpId="0" animBg="1"/>
          <p:bldP spid="45" grpId="1" animBg="1"/>
          <p:bldP spid="45" grpId="2" animBg="1"/>
          <p:bldP spid="43" grpId="0" animBg="1"/>
          <p:bldP spid="43" grpId="1" animBg="1"/>
          <p:bldP spid="43" grpId="2" animBg="1"/>
          <p:bldP spid="7" grpId="0" animBg="1"/>
          <p:bldP spid="4" grpId="0" animBg="1"/>
          <p:bldP spid="6" grpId="0" animBg="1"/>
          <p:bldP spid="15" grpId="0" animBg="1"/>
          <p:bldP spid="27" grpId="0"/>
          <p:bldP spid="51" grpId="0" animBg="1"/>
          <p:bldP spid="46" grpId="0" animBg="1"/>
          <p:bldP spid="54" grpId="0" animBg="1"/>
          <p:bldP spid="68" grpId="0" animBg="1"/>
          <p:bldP spid="73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7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7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7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7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7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53" presetClass="entr" presetSubtype="16" fill="hold" nodeType="withEffect">
                                      <p:stCondLst>
                                        <p:cond delay="7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700"/>
                                      </p:stCondLst>
                                      <p:iterate type="lt">
                                        <p:tmPct val="5000"/>
                                      </p:iterate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1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53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4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086 -0.34491 " pathEditMode="relative" rAng="0" ptsTypes="AA">
                                          <p:cBhvr>
                                            <p:cTn id="55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036" y="-1724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6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58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9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7487 -0.13472 " pathEditMode="relative" rAng="0" ptsTypes="AA">
                                          <p:cBhvr>
                                            <p:cTn id="60" dur="1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737" y="-673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1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63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4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164 0.09005 " pathEditMode="relative" rAng="0" ptsTypes="AA">
                                          <p:cBhvr>
                                            <p:cTn id="65" dur="1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076" y="44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6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68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269 0.28912 " pathEditMode="relative" rAng="0" ptsTypes="AA">
                                          <p:cBhvr>
                                            <p:cTn id="70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128" y="1444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1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3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6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9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2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2" presetClass="entr" presetSubtype="1" fill="hold" nodeType="withEffect">
                                      <p:stCondLst>
                                        <p:cond delay="288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5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6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7" presetID="2" presetClass="entr" presetSubtype="1" fill="hold" nodeType="withEffect">
                                      <p:stCondLst>
                                        <p:cond delay="338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9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0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1" presetID="2" presetClass="entr" presetSubtype="1" fill="hold" nodeType="withEffect">
                                      <p:stCondLst>
                                        <p:cond delay="388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3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4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" presetClass="entr" presetSubtype="1" fill="hold" nodeType="withEffect">
                                      <p:stCondLst>
                                        <p:cond delay="438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7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8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9" grpId="0" animBg="1"/>
          <p:bldP spid="49" grpId="1" animBg="1"/>
          <p:bldP spid="49" grpId="2" animBg="1"/>
          <p:bldP spid="48" grpId="0" animBg="1"/>
          <p:bldP spid="48" grpId="1" animBg="1"/>
          <p:bldP spid="48" grpId="2" animBg="1"/>
          <p:bldP spid="45" grpId="0" animBg="1"/>
          <p:bldP spid="45" grpId="1" animBg="1"/>
          <p:bldP spid="45" grpId="2" animBg="1"/>
          <p:bldP spid="43" grpId="0" animBg="1"/>
          <p:bldP spid="43" grpId="1" animBg="1"/>
          <p:bldP spid="43" grpId="2" animBg="1"/>
          <p:bldP spid="7" grpId="0" animBg="1"/>
          <p:bldP spid="4" grpId="0" animBg="1"/>
          <p:bldP spid="6" grpId="0" animBg="1"/>
          <p:bldP spid="15" grpId="0" animBg="1"/>
          <p:bldP spid="27" grpId="0"/>
          <p:bldP spid="51" grpId="0" animBg="1"/>
          <p:bldP spid="46" grpId="0" animBg="1"/>
          <p:bldP spid="54" grpId="0" animBg="1"/>
          <p:bldP spid="57" grpId="0" animBg="1"/>
          <p:bldP spid="68" grpId="0" animBg="1"/>
          <p:bldP spid="73" grpId="0" animBg="1"/>
          <p:bldP spid="74" grpId="0" animBg="1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-圆角矩形 8">
            <a:extLst>
              <a:ext uri="{FF2B5EF4-FFF2-40B4-BE49-F238E27FC236}">
                <a16:creationId xmlns:a16="http://schemas.microsoft.com/office/drawing/2014/main" id="{6E6F20AA-C6E8-44BE-8D19-0D3C9BDEE11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668294" y="3129525"/>
            <a:ext cx="898397" cy="322625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PA-标题 1">
            <a:extLst>
              <a:ext uri="{FF2B5EF4-FFF2-40B4-BE49-F238E27FC236}">
                <a16:creationId xmlns:a16="http://schemas.microsoft.com/office/drawing/2014/main" id="{4CC0907A-1A62-48F4-9B55-9BB7DDD59158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483416" y="2240791"/>
            <a:ext cx="1225168" cy="789201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3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</a:t>
            </a:r>
            <a:endParaRPr lang="en-US" sz="13800" dirty="0">
              <a:solidFill>
                <a:schemeClr val="tx1">
                  <a:lumMod val="75000"/>
                  <a:lumOff val="2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" name="PA-组合 1">
            <a:extLst>
              <a:ext uri="{FF2B5EF4-FFF2-40B4-BE49-F238E27FC236}">
                <a16:creationId xmlns:a16="http://schemas.microsoft.com/office/drawing/2014/main" id="{FE316119-C1FB-49B5-BFA0-52F96C18D6D6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16515" y="388374"/>
            <a:ext cx="2255157" cy="2037622"/>
            <a:chOff x="616515" y="388374"/>
            <a:chExt cx="2255157" cy="2037622"/>
          </a:xfrm>
        </p:grpSpPr>
        <p:sp>
          <p:nvSpPr>
            <p:cNvPr id="16" name="PA-圆角矩形 15">
              <a:extLst>
                <a:ext uri="{FF2B5EF4-FFF2-40B4-BE49-F238E27FC236}">
                  <a16:creationId xmlns:a16="http://schemas.microsoft.com/office/drawing/2014/main" id="{C7CD84A2-40A3-401F-A9DA-409B4ABF871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PA-圆角矩形 16">
              <a:extLst>
                <a:ext uri="{FF2B5EF4-FFF2-40B4-BE49-F238E27FC236}">
                  <a16:creationId xmlns:a16="http://schemas.microsoft.com/office/drawing/2014/main" id="{CE925F5F-607C-407D-A2D0-44942966DD8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PA-圆角矩形 18">
              <a:extLst>
                <a:ext uri="{FF2B5EF4-FFF2-40B4-BE49-F238E27FC236}">
                  <a16:creationId xmlns:a16="http://schemas.microsoft.com/office/drawing/2014/main" id="{38A43B7E-6714-4239-A6C0-A20C9EB6EFE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PA-圆角矩形 22">
              <a:extLst>
                <a:ext uri="{FF2B5EF4-FFF2-40B4-BE49-F238E27FC236}">
                  <a16:creationId xmlns:a16="http://schemas.microsoft.com/office/drawing/2014/main" id="{34B063C5-342C-4688-959C-C9D3F304138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PA-标题 1">
            <a:extLst>
              <a:ext uri="{FF2B5EF4-FFF2-40B4-BE49-F238E27FC236}">
                <a16:creationId xmlns:a16="http://schemas.microsoft.com/office/drawing/2014/main" id="{4C4B8C7B-8E26-4887-A7AE-5F2964DE728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834826" y="3692895"/>
            <a:ext cx="2565331" cy="590309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蛮力法效率</a:t>
            </a:r>
          </a:p>
        </p:txBody>
      </p:sp>
      <p:grpSp>
        <p:nvGrpSpPr>
          <p:cNvPr id="20" name="PA-组合 1">
            <a:extLst>
              <a:ext uri="{FF2B5EF4-FFF2-40B4-BE49-F238E27FC236}">
                <a16:creationId xmlns:a16="http://schemas.microsoft.com/office/drawing/2014/main" id="{45381ABC-1EC4-4B4F-A10C-E3936D973F2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16515" y="391920"/>
            <a:ext cx="2255157" cy="2037622"/>
            <a:chOff x="616515" y="388374"/>
            <a:chExt cx="2255157" cy="2037622"/>
          </a:xfrm>
        </p:grpSpPr>
        <p:sp>
          <p:nvSpPr>
            <p:cNvPr id="24" name="PA-圆角矩形 15">
              <a:extLst>
                <a:ext uri="{FF2B5EF4-FFF2-40B4-BE49-F238E27FC236}">
                  <a16:creationId xmlns:a16="http://schemas.microsoft.com/office/drawing/2014/main" id="{6C04B470-BFEF-4F6A-A946-471B5D355C1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PA-圆角矩形 16">
              <a:extLst>
                <a:ext uri="{FF2B5EF4-FFF2-40B4-BE49-F238E27FC236}">
                  <a16:creationId xmlns:a16="http://schemas.microsoft.com/office/drawing/2014/main" id="{6C0F716D-B261-4372-8C3B-59CA2EBD6F6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PA-圆角矩形 18">
              <a:extLst>
                <a:ext uri="{FF2B5EF4-FFF2-40B4-BE49-F238E27FC236}">
                  <a16:creationId xmlns:a16="http://schemas.microsoft.com/office/drawing/2014/main" id="{1C95B621-18DC-4B25-BF35-BBFB14FA147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PA-圆角矩形 22">
              <a:extLst>
                <a:ext uri="{FF2B5EF4-FFF2-40B4-BE49-F238E27FC236}">
                  <a16:creationId xmlns:a16="http://schemas.microsoft.com/office/drawing/2014/main" id="{37E85A14-7BB4-4957-86CD-3FC71F1F179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PA-组合 2">
            <a:extLst>
              <a:ext uri="{FF2B5EF4-FFF2-40B4-BE49-F238E27FC236}">
                <a16:creationId xmlns:a16="http://schemas.microsoft.com/office/drawing/2014/main" id="{03B04EBE-E721-4505-A5C8-558D26B631D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29" name="PA-圆角矩形 20">
              <a:extLst>
                <a:ext uri="{FF2B5EF4-FFF2-40B4-BE49-F238E27FC236}">
                  <a16:creationId xmlns:a16="http://schemas.microsoft.com/office/drawing/2014/main" id="{9343CEE2-BF0F-480A-8A51-D0081B2B9E5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PA-圆角矩形 21">
              <a:extLst>
                <a:ext uri="{FF2B5EF4-FFF2-40B4-BE49-F238E27FC236}">
                  <a16:creationId xmlns:a16="http://schemas.microsoft.com/office/drawing/2014/main" id="{2B1389B9-66FC-45FA-8950-863C406B87B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PA-组合 2">
            <a:extLst>
              <a:ext uri="{FF2B5EF4-FFF2-40B4-BE49-F238E27FC236}">
                <a16:creationId xmlns:a16="http://schemas.microsoft.com/office/drawing/2014/main" id="{88B89166-D218-4AE5-8CA9-5E49DAABB1F4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32" name="PA-圆角矩形 20">
              <a:extLst>
                <a:ext uri="{FF2B5EF4-FFF2-40B4-BE49-F238E27FC236}">
                  <a16:creationId xmlns:a16="http://schemas.microsoft.com/office/drawing/2014/main" id="{28A80E83-1203-4740-B296-4AD1E3CE08F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PA-圆角矩形 21">
              <a:extLst>
                <a:ext uri="{FF2B5EF4-FFF2-40B4-BE49-F238E27FC236}">
                  <a16:creationId xmlns:a16="http://schemas.microsoft.com/office/drawing/2014/main" id="{15ED84CC-1617-4DF3-B51B-3A8B64AEAA2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PA-圆角矩形 9">
            <a:extLst>
              <a:ext uri="{FF2B5EF4-FFF2-40B4-BE49-F238E27FC236}">
                <a16:creationId xmlns:a16="http://schemas.microsoft.com/office/drawing/2014/main" id="{23F784A1-6035-4AB1-9021-4A364ADDD4D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303588" y="2822003"/>
            <a:ext cx="497667" cy="497668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702628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 p14:bounceEnd="28000"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 p14:presetBounceEnd="47000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7000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7000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4" accel="40000" fill="hold" nodeType="withEffect">
                                      <p:stCondLst>
                                        <p:cond delay="26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>
            <a:extLst>
              <a:ext uri="{FF2B5EF4-FFF2-40B4-BE49-F238E27FC236}">
                <a16:creationId xmlns:a16="http://schemas.microsoft.com/office/drawing/2014/main" id="{6CF72A71-887C-4846-A632-9C33C464B760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1D368C49-5B4D-4B14-B48F-54229B32341E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2B6853D3-0C18-40C4-B998-068CD0F08D11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CBD1426E-1655-4623-BB5D-DE7D5EFAFAD7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734C670D-D6C4-418C-A0A8-9E167BB6B53C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蛮力法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FF13F29D-C1E4-41D5-8781-6AFFF0B4A664}"/>
              </a:ext>
            </a:extLst>
          </p:cNvPr>
          <p:cNvGrpSpPr/>
          <p:nvPr/>
        </p:nvGrpSpPr>
        <p:grpSpPr>
          <a:xfrm>
            <a:off x="1052187" y="711189"/>
            <a:ext cx="213360" cy="211962"/>
            <a:chOff x="1207666" y="863589"/>
            <a:chExt cx="213360" cy="211962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D6C713E0-DDB0-4F9D-966F-3974E86CE85C}"/>
                </a:ext>
              </a:extLst>
            </p:cNvPr>
            <p:cNvSpPr/>
            <p:nvPr/>
          </p:nvSpPr>
          <p:spPr>
            <a:xfrm>
              <a:off x="1207666" y="863589"/>
              <a:ext cx="211963" cy="21196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3EC253FD-0E05-427F-8356-40EBF0BCF482}"/>
                </a:ext>
              </a:extLst>
            </p:cNvPr>
            <p:cNvSpPr/>
            <p:nvPr/>
          </p:nvSpPr>
          <p:spPr>
            <a:xfrm>
              <a:off x="1244610" y="899135"/>
              <a:ext cx="176416" cy="17641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847590D7-792E-32AF-C578-822E3B2A6195}"/>
              </a:ext>
            </a:extLst>
          </p:cNvPr>
          <p:cNvSpPr txBox="1"/>
          <p:nvPr/>
        </p:nvSpPr>
        <p:spPr>
          <a:xfrm>
            <a:off x="1052187" y="1320800"/>
            <a:ext cx="4129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算法思想：遍历所有点与其他点求距离，更新最小距离和相应的点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9803827-4E4D-6580-1D7D-F48258EBCD09}"/>
                  </a:ext>
                </a:extLst>
              </p:cNvPr>
              <p:cNvSpPr txBox="1"/>
              <p:nvPr/>
            </p:nvSpPr>
            <p:spPr>
              <a:xfrm>
                <a:off x="1089131" y="2437118"/>
                <a:ext cx="30619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时间复杂度：</a:t>
                </a:r>
                <a:r>
                  <a:rPr lang="en-US" altLang="zh-CN" dirty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)</a:t>
                </a:r>
                <a:r>
                  <a:rPr lang="en-US" altLang="zh-CN" b="0" i="1" dirty="0">
                    <a:solidFill>
                      <a:srgbClr val="404040"/>
                    </a:solidFill>
                    <a:effectLst/>
                    <a:latin typeface="KaTeX_Math"/>
                  </a:rPr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9803827-4E4D-6580-1D7D-F48258EBC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131" y="2437118"/>
                <a:ext cx="3061969" cy="369332"/>
              </a:xfrm>
              <a:prstGeom prst="rect">
                <a:avLst/>
              </a:prstGeom>
              <a:blipFill>
                <a:blip r:embed="rId3"/>
                <a:stretch>
                  <a:fillRect l="-1793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519EE78C-7817-B8C8-B7D1-9909E5D4B4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3700053"/>
              </p:ext>
            </p:extLst>
          </p:nvPr>
        </p:nvGraphicFramePr>
        <p:xfrm>
          <a:off x="6221185" y="2305129"/>
          <a:ext cx="5502729" cy="4329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EE36A5F9-832E-0811-066E-34EA07070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947713"/>
              </p:ext>
            </p:extLst>
          </p:nvPr>
        </p:nvGraphicFramePr>
        <p:xfrm>
          <a:off x="5613266" y="1310769"/>
          <a:ext cx="6263050" cy="9321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2671">
                  <a:extLst>
                    <a:ext uri="{9D8B030D-6E8A-4147-A177-3AD203B41FA5}">
                      <a16:colId xmlns:a16="http://schemas.microsoft.com/office/drawing/2014/main" val="3975767767"/>
                    </a:ext>
                  </a:extLst>
                </a:gridCol>
                <a:gridCol w="602671">
                  <a:extLst>
                    <a:ext uri="{9D8B030D-6E8A-4147-A177-3AD203B41FA5}">
                      <a16:colId xmlns:a16="http://schemas.microsoft.com/office/drawing/2014/main" val="2030131620"/>
                    </a:ext>
                  </a:extLst>
                </a:gridCol>
                <a:gridCol w="602671">
                  <a:extLst>
                    <a:ext uri="{9D8B030D-6E8A-4147-A177-3AD203B41FA5}">
                      <a16:colId xmlns:a16="http://schemas.microsoft.com/office/drawing/2014/main" val="1847414015"/>
                    </a:ext>
                  </a:extLst>
                </a:gridCol>
                <a:gridCol w="839012">
                  <a:extLst>
                    <a:ext uri="{9D8B030D-6E8A-4147-A177-3AD203B41FA5}">
                      <a16:colId xmlns:a16="http://schemas.microsoft.com/office/drawing/2014/main" val="1259575155"/>
                    </a:ext>
                  </a:extLst>
                </a:gridCol>
                <a:gridCol w="969000">
                  <a:extLst>
                    <a:ext uri="{9D8B030D-6E8A-4147-A177-3AD203B41FA5}">
                      <a16:colId xmlns:a16="http://schemas.microsoft.com/office/drawing/2014/main" val="259536210"/>
                    </a:ext>
                  </a:extLst>
                </a:gridCol>
                <a:gridCol w="602671">
                  <a:extLst>
                    <a:ext uri="{9D8B030D-6E8A-4147-A177-3AD203B41FA5}">
                      <a16:colId xmlns:a16="http://schemas.microsoft.com/office/drawing/2014/main" val="146745804"/>
                    </a:ext>
                  </a:extLst>
                </a:gridCol>
                <a:gridCol w="602671">
                  <a:extLst>
                    <a:ext uri="{9D8B030D-6E8A-4147-A177-3AD203B41FA5}">
                      <a16:colId xmlns:a16="http://schemas.microsoft.com/office/drawing/2014/main" val="1269164139"/>
                    </a:ext>
                  </a:extLst>
                </a:gridCol>
                <a:gridCol w="602671">
                  <a:extLst>
                    <a:ext uri="{9D8B030D-6E8A-4147-A177-3AD203B41FA5}">
                      <a16:colId xmlns:a16="http://schemas.microsoft.com/office/drawing/2014/main" val="1505704062"/>
                    </a:ext>
                  </a:extLst>
                </a:gridCol>
                <a:gridCol w="839012">
                  <a:extLst>
                    <a:ext uri="{9D8B030D-6E8A-4147-A177-3AD203B41FA5}">
                      <a16:colId xmlns:a16="http://schemas.microsoft.com/office/drawing/2014/main" val="2301961352"/>
                    </a:ext>
                  </a:extLst>
                </a:gridCol>
              </a:tblGrid>
              <a:tr h="31071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</a:rPr>
                        <a:t>规模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100000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200000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300000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400000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500000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650000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800000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1000000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6169086"/>
                  </a:ext>
                </a:extLst>
              </a:tr>
              <a:tr h="31071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</a:rPr>
                        <a:t>理论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23.9127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95.6507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215.213968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382.6026105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597.817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1010.31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1530.41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2391.26632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326597092"/>
                  </a:ext>
                </a:extLst>
              </a:tr>
              <a:tr h="31071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</a:rPr>
                        <a:t>平均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23.7351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95.6507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215.827947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387.3783684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601.776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1102.74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1533.85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</a:rPr>
                        <a:t>2390.76632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97860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3089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 p14:presetBounceEnd="38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 p14:bounceEnd="38000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58" presetClass="path" presetSubtype="0" accel="6700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animMotion origin="layout" path="M 4.79167E-6 2.59259E-6 C 0.14778 -0.12037 0.38645 -0.00741 0.40429 0.18727 " pathEditMode="relative" rAng="0" ptsTypes="AA">
                                          <p:cBhvr>
                                            <p:cTn id="18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208" y="68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" presetClass="exit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" presetClass="entr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58" presetClass="path" presetSubtype="0" accel="3600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animMotion origin="layout" path="M -2.08333E-6 4.07407E-6 C 0.05156 -0.15741 0.1681 -0.35047 0.16836 -0.16297 " pathEditMode="relative" rAng="0" ptsTypes="AA">
                                          <p:cBhvr>
                                            <p:cTn id="24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411" y="-120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6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5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0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21" presetClass="entr" presetSubtype="1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3" dur="2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22" presetClass="entr" presetSubtype="2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6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21" presetClass="entr" presetSubtype="1" fill="hold" grpId="0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9" dur="2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8" presetClass="emph" presetSubtype="0" fill="hold" grpId="1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animRot by="10800000">
                                          <p:cBhvr>
                                            <p:cTn id="41" dur="1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2" presetID="22" presetClass="entr" presetSubtype="8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4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21" presetClass="entr" presetSubtype="1" fill="hold" grpId="0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47" dur="12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2" presetClass="entr" presetSubtype="1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0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22" presetClass="entr" presetSubtype="4" fill="hold" grpId="0" nodeType="withEffect">
                                      <p:stCondLst>
                                        <p:cond delay="27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3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22" presetClass="entr" presetSubtype="1" fill="hold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6" dur="10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6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27" grpId="0" animBg="1"/>
          <p:bldP spid="13" grpId="0" animBg="1"/>
          <p:bldP spid="13" grpId="1" animBg="1"/>
          <p:bldP spid="12" grpId="0" animBg="1"/>
          <p:bldP spid="26" grpId="0" animBg="1"/>
          <p:bldP spid="29" grpId="0" animBg="1"/>
          <p:bldP spid="30" grpId="0" animBg="1"/>
          <p:bldP spid="31" grpId="0" animBg="1"/>
          <p:bldP spid="32" grpId="0" animBg="1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-圆角矩形 8">
            <a:extLst>
              <a:ext uri="{FF2B5EF4-FFF2-40B4-BE49-F238E27FC236}">
                <a16:creationId xmlns:a16="http://schemas.microsoft.com/office/drawing/2014/main" id="{6E6F20AA-C6E8-44BE-8D19-0D3C9BDEE11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668294" y="3129525"/>
            <a:ext cx="1184626" cy="322625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PA-标题 1">
            <a:extLst>
              <a:ext uri="{FF2B5EF4-FFF2-40B4-BE49-F238E27FC236}">
                <a16:creationId xmlns:a16="http://schemas.microsoft.com/office/drawing/2014/main" id="{4CC0907A-1A62-48F4-9B55-9BB7DDD59158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668294" y="2268830"/>
            <a:ext cx="1225168" cy="761162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3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</a:t>
            </a:r>
          </a:p>
        </p:txBody>
      </p:sp>
      <p:grpSp>
        <p:nvGrpSpPr>
          <p:cNvPr id="2" name="PA-组合 1">
            <a:extLst>
              <a:ext uri="{FF2B5EF4-FFF2-40B4-BE49-F238E27FC236}">
                <a16:creationId xmlns:a16="http://schemas.microsoft.com/office/drawing/2014/main" id="{FE316119-C1FB-49B5-BFA0-52F96C18D6D6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16515" y="388374"/>
            <a:ext cx="2255157" cy="2037622"/>
            <a:chOff x="616515" y="388374"/>
            <a:chExt cx="2255157" cy="2037622"/>
          </a:xfrm>
        </p:grpSpPr>
        <p:sp>
          <p:nvSpPr>
            <p:cNvPr id="16" name="PA-圆角矩形 15">
              <a:extLst>
                <a:ext uri="{FF2B5EF4-FFF2-40B4-BE49-F238E27FC236}">
                  <a16:creationId xmlns:a16="http://schemas.microsoft.com/office/drawing/2014/main" id="{C7CD84A2-40A3-401F-A9DA-409B4ABF871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PA-圆角矩形 16">
              <a:extLst>
                <a:ext uri="{FF2B5EF4-FFF2-40B4-BE49-F238E27FC236}">
                  <a16:creationId xmlns:a16="http://schemas.microsoft.com/office/drawing/2014/main" id="{CE925F5F-607C-407D-A2D0-44942966DD8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PA-圆角矩形 18">
              <a:extLst>
                <a:ext uri="{FF2B5EF4-FFF2-40B4-BE49-F238E27FC236}">
                  <a16:creationId xmlns:a16="http://schemas.microsoft.com/office/drawing/2014/main" id="{38A43B7E-6714-4239-A6C0-A20C9EB6EFE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PA-圆角矩形 22">
              <a:extLst>
                <a:ext uri="{FF2B5EF4-FFF2-40B4-BE49-F238E27FC236}">
                  <a16:creationId xmlns:a16="http://schemas.microsoft.com/office/drawing/2014/main" id="{34B063C5-342C-4688-959C-C9D3F304138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PA-标题 1">
            <a:extLst>
              <a:ext uri="{FF2B5EF4-FFF2-40B4-BE49-F238E27FC236}">
                <a16:creationId xmlns:a16="http://schemas.microsoft.com/office/drawing/2014/main" id="{4C4B8C7B-8E26-4887-A7AE-5F2964DE728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834826" y="3692895"/>
            <a:ext cx="2565331" cy="590309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分治法思想及效率</a:t>
            </a:r>
          </a:p>
        </p:txBody>
      </p:sp>
      <p:grpSp>
        <p:nvGrpSpPr>
          <p:cNvPr id="20" name="PA-组合 1">
            <a:extLst>
              <a:ext uri="{FF2B5EF4-FFF2-40B4-BE49-F238E27FC236}">
                <a16:creationId xmlns:a16="http://schemas.microsoft.com/office/drawing/2014/main" id="{45381ABC-1EC4-4B4F-A10C-E3936D973F2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16515" y="391920"/>
            <a:ext cx="2255157" cy="2037622"/>
            <a:chOff x="616515" y="388374"/>
            <a:chExt cx="2255157" cy="2037622"/>
          </a:xfrm>
        </p:grpSpPr>
        <p:sp>
          <p:nvSpPr>
            <p:cNvPr id="24" name="PA-圆角矩形 15">
              <a:extLst>
                <a:ext uri="{FF2B5EF4-FFF2-40B4-BE49-F238E27FC236}">
                  <a16:creationId xmlns:a16="http://schemas.microsoft.com/office/drawing/2014/main" id="{6C04B470-BFEF-4F6A-A946-471B5D355C1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PA-圆角矩形 16">
              <a:extLst>
                <a:ext uri="{FF2B5EF4-FFF2-40B4-BE49-F238E27FC236}">
                  <a16:creationId xmlns:a16="http://schemas.microsoft.com/office/drawing/2014/main" id="{6C0F716D-B261-4372-8C3B-59CA2EBD6F6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PA-圆角矩形 18">
              <a:extLst>
                <a:ext uri="{FF2B5EF4-FFF2-40B4-BE49-F238E27FC236}">
                  <a16:creationId xmlns:a16="http://schemas.microsoft.com/office/drawing/2014/main" id="{1C95B621-18DC-4B25-BF35-BBFB14FA147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PA-圆角矩形 22">
              <a:extLst>
                <a:ext uri="{FF2B5EF4-FFF2-40B4-BE49-F238E27FC236}">
                  <a16:creationId xmlns:a16="http://schemas.microsoft.com/office/drawing/2014/main" id="{37E85A14-7BB4-4957-86CD-3FC71F1F179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PA-组合 2">
            <a:extLst>
              <a:ext uri="{FF2B5EF4-FFF2-40B4-BE49-F238E27FC236}">
                <a16:creationId xmlns:a16="http://schemas.microsoft.com/office/drawing/2014/main" id="{03B04EBE-E721-4505-A5C8-558D26B631D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29" name="PA-圆角矩形 20">
              <a:extLst>
                <a:ext uri="{FF2B5EF4-FFF2-40B4-BE49-F238E27FC236}">
                  <a16:creationId xmlns:a16="http://schemas.microsoft.com/office/drawing/2014/main" id="{9343CEE2-BF0F-480A-8A51-D0081B2B9E5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PA-圆角矩形 21">
              <a:extLst>
                <a:ext uri="{FF2B5EF4-FFF2-40B4-BE49-F238E27FC236}">
                  <a16:creationId xmlns:a16="http://schemas.microsoft.com/office/drawing/2014/main" id="{2B1389B9-66FC-45FA-8950-863C406B87B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PA-组合 2">
            <a:extLst>
              <a:ext uri="{FF2B5EF4-FFF2-40B4-BE49-F238E27FC236}">
                <a16:creationId xmlns:a16="http://schemas.microsoft.com/office/drawing/2014/main" id="{88B89166-D218-4AE5-8CA9-5E49DAABB1F4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32" name="PA-圆角矩形 20">
              <a:extLst>
                <a:ext uri="{FF2B5EF4-FFF2-40B4-BE49-F238E27FC236}">
                  <a16:creationId xmlns:a16="http://schemas.microsoft.com/office/drawing/2014/main" id="{28A80E83-1203-4740-B296-4AD1E3CE08F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PA-圆角矩形 21">
              <a:extLst>
                <a:ext uri="{FF2B5EF4-FFF2-40B4-BE49-F238E27FC236}">
                  <a16:creationId xmlns:a16="http://schemas.microsoft.com/office/drawing/2014/main" id="{15ED84CC-1617-4DF3-B51B-3A8B64AEAA2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PA-圆角矩形 9">
            <a:extLst>
              <a:ext uri="{FF2B5EF4-FFF2-40B4-BE49-F238E27FC236}">
                <a16:creationId xmlns:a16="http://schemas.microsoft.com/office/drawing/2014/main" id="{23F784A1-6035-4AB1-9021-4A364ADDD4D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303588" y="2822003"/>
            <a:ext cx="497667" cy="497668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188907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 p14:bounceEnd="28000"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 p14:presetBounceEnd="47000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7000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7000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4" accel="40000" fill="hold" nodeType="withEffect">
                                      <p:stCondLst>
                                        <p:cond delay="26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83A330B1-4DE4-4166-9CC2-8FCCA7970594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BC705468-A605-4090-9DAF-237608E0F93C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3DD6AAE6-7752-4CB7-88C2-5E13994BA30E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654C22CE-59C2-496D-B598-70C287E6957F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D95E7B05-CC54-493F-A853-E3B338F3A4F9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分治法思想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B2884699-5DFA-4BEC-8CCE-D13D269D61EE}"/>
              </a:ext>
            </a:extLst>
          </p:cNvPr>
          <p:cNvGrpSpPr/>
          <p:nvPr/>
        </p:nvGrpSpPr>
        <p:grpSpPr>
          <a:xfrm>
            <a:off x="1052187" y="711189"/>
            <a:ext cx="213360" cy="211962"/>
            <a:chOff x="1207666" y="863589"/>
            <a:chExt cx="213360" cy="211962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136A69FD-B86E-4593-8837-77CBDDBAAD0D}"/>
                </a:ext>
              </a:extLst>
            </p:cNvPr>
            <p:cNvSpPr/>
            <p:nvPr/>
          </p:nvSpPr>
          <p:spPr>
            <a:xfrm>
              <a:off x="1207666" y="863589"/>
              <a:ext cx="211963" cy="21196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B686100A-BEB5-4EDA-A82B-B7D7F10C459E}"/>
                </a:ext>
              </a:extLst>
            </p:cNvPr>
            <p:cNvSpPr/>
            <p:nvPr/>
          </p:nvSpPr>
          <p:spPr>
            <a:xfrm>
              <a:off x="1244610" y="899135"/>
              <a:ext cx="176416" cy="17641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02E2978-941D-57FC-A159-3B8E51C75E60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6827493" y="4620263"/>
            <a:ext cx="376213" cy="55672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CE5AB8E-5359-BA20-E291-B579A3A043A7}"/>
              </a:ext>
            </a:extLst>
          </p:cNvPr>
          <p:cNvCxnSpPr/>
          <p:nvPr/>
        </p:nvCxnSpPr>
        <p:spPr>
          <a:xfrm flipH="1">
            <a:off x="3896472" y="2737297"/>
            <a:ext cx="180304" cy="68508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A853D07-4645-DF69-C8AF-F7F86A34F59A}"/>
              </a:ext>
            </a:extLst>
          </p:cNvPr>
          <p:cNvCxnSpPr>
            <a:cxnSpLocks/>
          </p:cNvCxnSpPr>
          <p:nvPr/>
        </p:nvCxnSpPr>
        <p:spPr>
          <a:xfrm>
            <a:off x="1211776" y="6125355"/>
            <a:ext cx="7138331" cy="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248215D-EDA0-EB1B-835F-44EFAD73FA99}"/>
              </a:ext>
            </a:extLst>
          </p:cNvPr>
          <p:cNvCxnSpPr>
            <a:cxnSpLocks/>
          </p:cNvCxnSpPr>
          <p:nvPr/>
        </p:nvCxnSpPr>
        <p:spPr>
          <a:xfrm flipV="1">
            <a:off x="1735197" y="1700673"/>
            <a:ext cx="0" cy="48068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F0724052-CE45-2C73-055B-77F116E539B3}"/>
              </a:ext>
            </a:extLst>
          </p:cNvPr>
          <p:cNvSpPr/>
          <p:nvPr/>
        </p:nvSpPr>
        <p:spPr>
          <a:xfrm>
            <a:off x="2481132" y="3500153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A1BBCE8-0721-E94B-4590-843C67453C87}"/>
              </a:ext>
            </a:extLst>
          </p:cNvPr>
          <p:cNvSpPr/>
          <p:nvPr/>
        </p:nvSpPr>
        <p:spPr>
          <a:xfrm>
            <a:off x="6936157" y="3184328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380853C-9F85-17CD-2BC2-4BD3F354F9C6}"/>
              </a:ext>
            </a:extLst>
          </p:cNvPr>
          <p:cNvSpPr/>
          <p:nvPr/>
        </p:nvSpPr>
        <p:spPr>
          <a:xfrm>
            <a:off x="3260789" y="4763088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7D8E449-D40F-51D2-24BB-784B2388D72D}"/>
              </a:ext>
            </a:extLst>
          </p:cNvPr>
          <p:cNvSpPr/>
          <p:nvPr/>
        </p:nvSpPr>
        <p:spPr>
          <a:xfrm>
            <a:off x="5605825" y="5386318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5FE8E0D-DB62-B4FD-E304-573A63D584BE}"/>
              </a:ext>
            </a:extLst>
          </p:cNvPr>
          <p:cNvSpPr/>
          <p:nvPr/>
        </p:nvSpPr>
        <p:spPr>
          <a:xfrm>
            <a:off x="3958147" y="2616447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47B9C81-B6FB-6549-2F64-862289887D23}"/>
              </a:ext>
            </a:extLst>
          </p:cNvPr>
          <p:cNvSpPr txBox="1"/>
          <p:nvPr/>
        </p:nvSpPr>
        <p:spPr>
          <a:xfrm>
            <a:off x="8504825" y="5969675"/>
            <a:ext cx="634608" cy="678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X</a:t>
            </a:r>
            <a:endParaRPr lang="zh-CN" altLang="en-US" sz="14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42A73EA-EE69-BB02-9991-66DC0DB1EB94}"/>
              </a:ext>
            </a:extLst>
          </p:cNvPr>
          <p:cNvSpPr txBox="1"/>
          <p:nvPr/>
        </p:nvSpPr>
        <p:spPr>
          <a:xfrm>
            <a:off x="1580479" y="1377679"/>
            <a:ext cx="620283" cy="678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Y</a:t>
            </a:r>
            <a:endParaRPr lang="zh-CN" altLang="en-US" sz="1400" b="1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6D2A1F5-727D-536A-0205-0BBFA573DA3A}"/>
              </a:ext>
            </a:extLst>
          </p:cNvPr>
          <p:cNvSpPr/>
          <p:nvPr/>
        </p:nvSpPr>
        <p:spPr>
          <a:xfrm>
            <a:off x="6706850" y="4501239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CCE57BA3-C044-301B-BFFF-4553FC7EDF8D}"/>
              </a:ext>
            </a:extLst>
          </p:cNvPr>
          <p:cNvSpPr/>
          <p:nvPr/>
        </p:nvSpPr>
        <p:spPr>
          <a:xfrm>
            <a:off x="4380002" y="4440688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F199BD6C-9846-141D-3931-99B59E40102D}"/>
              </a:ext>
            </a:extLst>
          </p:cNvPr>
          <p:cNvSpPr/>
          <p:nvPr/>
        </p:nvSpPr>
        <p:spPr>
          <a:xfrm>
            <a:off x="4199433" y="5543214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2C6C4B9F-688C-1EE9-852E-501837510170}"/>
              </a:ext>
            </a:extLst>
          </p:cNvPr>
          <p:cNvSpPr/>
          <p:nvPr/>
        </p:nvSpPr>
        <p:spPr>
          <a:xfrm>
            <a:off x="6031201" y="2946279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2B5C2A90-11C8-2F27-B2B3-5953C2FC8E25}"/>
              </a:ext>
            </a:extLst>
          </p:cNvPr>
          <p:cNvSpPr/>
          <p:nvPr/>
        </p:nvSpPr>
        <p:spPr>
          <a:xfrm>
            <a:off x="7168370" y="5142124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5A36AC6B-E123-4D41-852C-B3DCF8DE120A}"/>
              </a:ext>
            </a:extLst>
          </p:cNvPr>
          <p:cNvSpPr/>
          <p:nvPr/>
        </p:nvSpPr>
        <p:spPr>
          <a:xfrm>
            <a:off x="5772768" y="3980240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15AACA86-05F6-A7BB-8723-D761C7832FDB}"/>
              </a:ext>
            </a:extLst>
          </p:cNvPr>
          <p:cNvSpPr/>
          <p:nvPr/>
        </p:nvSpPr>
        <p:spPr>
          <a:xfrm>
            <a:off x="3773114" y="3298453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1B23AD81-048B-56A2-6059-6E353C743780}"/>
              </a:ext>
            </a:extLst>
          </p:cNvPr>
          <p:cNvSpPr/>
          <p:nvPr/>
        </p:nvSpPr>
        <p:spPr>
          <a:xfrm>
            <a:off x="5024443" y="3556923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A6561F33-A843-79F7-F841-0F4AC264674E}"/>
              </a:ext>
            </a:extLst>
          </p:cNvPr>
          <p:cNvSpPr/>
          <p:nvPr/>
        </p:nvSpPr>
        <p:spPr>
          <a:xfrm>
            <a:off x="3266497" y="1873482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7971FF9-E427-A2EE-5E5C-8C31D14DD2FE}"/>
              </a:ext>
            </a:extLst>
          </p:cNvPr>
          <p:cNvSpPr/>
          <p:nvPr/>
        </p:nvSpPr>
        <p:spPr>
          <a:xfrm>
            <a:off x="5182937" y="1302028"/>
            <a:ext cx="2766801" cy="45943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F867BF6-457D-F7C0-68FA-B7FA37E3A2A4}"/>
              </a:ext>
            </a:extLst>
          </p:cNvPr>
          <p:cNvSpPr/>
          <p:nvPr/>
        </p:nvSpPr>
        <p:spPr>
          <a:xfrm>
            <a:off x="2326744" y="1302028"/>
            <a:ext cx="2848907" cy="45943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EEAB2ED-CCCE-3EF9-4833-29224E376C88}"/>
                  </a:ext>
                </a:extLst>
              </p:cNvPr>
              <p:cNvSpPr txBox="1"/>
              <p:nvPr/>
            </p:nvSpPr>
            <p:spPr>
              <a:xfrm>
                <a:off x="2290894" y="1302028"/>
                <a:ext cx="89317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𝑺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altLang="zh-CN" sz="1400" b="1" i="1" dirty="0">
                  <a:solidFill>
                    <a:schemeClr val="accent3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EEAB2ED-CCCE-3EF9-4833-29224E376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894" y="1302028"/>
                <a:ext cx="893173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BE95B427-A09C-FAB9-A9A3-97FAE56D6AFC}"/>
                  </a:ext>
                </a:extLst>
              </p:cNvPr>
              <p:cNvSpPr txBox="1"/>
              <p:nvPr/>
            </p:nvSpPr>
            <p:spPr>
              <a:xfrm>
                <a:off x="7056800" y="1273682"/>
                <a:ext cx="89317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𝑺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altLang="zh-CN" sz="1400" b="1" i="1" dirty="0">
                  <a:solidFill>
                    <a:schemeClr val="accent3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BE95B427-A09C-FAB9-A9A3-97FAE56D6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800" y="1273682"/>
                <a:ext cx="893173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19450C04-36C3-F7D9-7E87-06FABBC5EF93}"/>
                  </a:ext>
                </a:extLst>
              </p:cNvPr>
              <p:cNvSpPr txBox="1"/>
              <p:nvPr/>
            </p:nvSpPr>
            <p:spPr>
              <a:xfrm>
                <a:off x="3445524" y="2827294"/>
                <a:ext cx="6528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18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𝒅</m:t>
                          </m:r>
                        </m:e>
                        <m:sub>
                          <m:r>
                            <a:rPr lang="en-US" altLang="zh-CN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19450C04-36C3-F7D9-7E87-06FABBC5E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5524" y="2827294"/>
                <a:ext cx="65283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A60937F-6237-A6F2-C57D-7378BAA55C03}"/>
                  </a:ext>
                </a:extLst>
              </p:cNvPr>
              <p:cNvSpPr txBox="1"/>
              <p:nvPr/>
            </p:nvSpPr>
            <p:spPr>
              <a:xfrm>
                <a:off x="6876828" y="4657226"/>
                <a:ext cx="7314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𝒅</m:t>
                          </m:r>
                        </m:e>
                        <m:sub>
                          <m:r>
                            <a:rPr lang="en-US" altLang="zh-CN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A60937F-6237-A6F2-C57D-7378BAA55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828" y="4657226"/>
                <a:ext cx="73140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椭圆 31">
            <a:extLst>
              <a:ext uri="{FF2B5EF4-FFF2-40B4-BE49-F238E27FC236}">
                <a16:creationId xmlns:a16="http://schemas.microsoft.com/office/drawing/2014/main" id="{AAF54F43-EB81-F472-578F-D718A448D901}"/>
              </a:ext>
            </a:extLst>
          </p:cNvPr>
          <p:cNvSpPr/>
          <p:nvPr/>
        </p:nvSpPr>
        <p:spPr>
          <a:xfrm>
            <a:off x="5383374" y="1754457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B2C96E00-02A6-2ABD-39F7-3EA568264099}"/>
              </a:ext>
            </a:extLst>
          </p:cNvPr>
          <p:cNvSpPr/>
          <p:nvPr/>
        </p:nvSpPr>
        <p:spPr>
          <a:xfrm>
            <a:off x="4855118" y="2001452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861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/>
      <p:bldP spid="29" grpId="0"/>
      <p:bldP spid="30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C91196-38BA-AE54-0009-E6E9C407B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091428EB-00BA-E232-D892-AD644A1CFBF6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10D9009A-F968-6183-164E-05A34C4F99E7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631EE5AE-3F71-0209-588A-C56350D72F21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422C2066-010B-A330-75C8-361A28FC090C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F81C4AA9-3FD1-F375-4573-312F2869691D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分治法思想</a:t>
              </a:r>
            </a:p>
          </p:txBody>
        </p:sp>
      </p:grp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8033BFE-4275-ADF0-7DAD-051F485F30E1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6827493" y="4620263"/>
            <a:ext cx="376213" cy="55672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5846CFD-FF4E-CC92-DBD7-5BF85C804902}"/>
              </a:ext>
            </a:extLst>
          </p:cNvPr>
          <p:cNvCxnSpPr/>
          <p:nvPr/>
        </p:nvCxnSpPr>
        <p:spPr>
          <a:xfrm flipH="1">
            <a:off x="3896472" y="2737297"/>
            <a:ext cx="180304" cy="68508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F4E29BF-9152-69DD-C927-9BE5B38E806F}"/>
              </a:ext>
            </a:extLst>
          </p:cNvPr>
          <p:cNvCxnSpPr>
            <a:cxnSpLocks/>
          </p:cNvCxnSpPr>
          <p:nvPr/>
        </p:nvCxnSpPr>
        <p:spPr>
          <a:xfrm>
            <a:off x="1211776" y="6125355"/>
            <a:ext cx="7138331" cy="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38B776E-F834-BD5A-B81E-0560015E3805}"/>
              </a:ext>
            </a:extLst>
          </p:cNvPr>
          <p:cNvCxnSpPr>
            <a:cxnSpLocks/>
          </p:cNvCxnSpPr>
          <p:nvPr/>
        </p:nvCxnSpPr>
        <p:spPr>
          <a:xfrm flipV="1">
            <a:off x="1735197" y="1700673"/>
            <a:ext cx="0" cy="48068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BF32A917-FCCE-6CC0-DA46-61ABF724863B}"/>
              </a:ext>
            </a:extLst>
          </p:cNvPr>
          <p:cNvSpPr/>
          <p:nvPr/>
        </p:nvSpPr>
        <p:spPr>
          <a:xfrm>
            <a:off x="2481132" y="3500153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D2CDF30-0C13-91AB-E1E5-D806E35F6DC0}"/>
              </a:ext>
            </a:extLst>
          </p:cNvPr>
          <p:cNvSpPr/>
          <p:nvPr/>
        </p:nvSpPr>
        <p:spPr>
          <a:xfrm>
            <a:off x="6936157" y="3184328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0640FBF-5FA9-D1EB-0E69-ABBBF3A65CE1}"/>
              </a:ext>
            </a:extLst>
          </p:cNvPr>
          <p:cNvSpPr/>
          <p:nvPr/>
        </p:nvSpPr>
        <p:spPr>
          <a:xfrm>
            <a:off x="3260789" y="4763088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823CA7B-D3E1-3514-3E33-25987D826F35}"/>
              </a:ext>
            </a:extLst>
          </p:cNvPr>
          <p:cNvSpPr/>
          <p:nvPr/>
        </p:nvSpPr>
        <p:spPr>
          <a:xfrm>
            <a:off x="5605825" y="5386318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BEF7B00-CE1B-0099-7660-93A2917D7270}"/>
              </a:ext>
            </a:extLst>
          </p:cNvPr>
          <p:cNvSpPr/>
          <p:nvPr/>
        </p:nvSpPr>
        <p:spPr>
          <a:xfrm>
            <a:off x="3958147" y="2616447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A7E9E8-CC2B-5427-1B9E-A036CA7C92C4}"/>
              </a:ext>
            </a:extLst>
          </p:cNvPr>
          <p:cNvSpPr txBox="1"/>
          <p:nvPr/>
        </p:nvSpPr>
        <p:spPr>
          <a:xfrm>
            <a:off x="8504825" y="5969675"/>
            <a:ext cx="634608" cy="678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X</a:t>
            </a:r>
            <a:endParaRPr lang="zh-CN" altLang="en-US" sz="14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F4A6789-C8C3-BE63-1876-CBA15357D5F4}"/>
              </a:ext>
            </a:extLst>
          </p:cNvPr>
          <p:cNvSpPr txBox="1"/>
          <p:nvPr/>
        </p:nvSpPr>
        <p:spPr>
          <a:xfrm>
            <a:off x="1580479" y="1377679"/>
            <a:ext cx="620283" cy="678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Y</a:t>
            </a:r>
            <a:endParaRPr lang="zh-CN" altLang="en-US" sz="1400" b="1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1E5F5637-C10A-D669-68BC-51AC80F56AAE}"/>
              </a:ext>
            </a:extLst>
          </p:cNvPr>
          <p:cNvSpPr/>
          <p:nvPr/>
        </p:nvSpPr>
        <p:spPr>
          <a:xfrm>
            <a:off x="6706850" y="4501239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B4387CB-63E6-27DB-A27E-11A88F4F1CC3}"/>
              </a:ext>
            </a:extLst>
          </p:cNvPr>
          <p:cNvSpPr/>
          <p:nvPr/>
        </p:nvSpPr>
        <p:spPr>
          <a:xfrm>
            <a:off x="4380002" y="4440688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F2E24038-5639-80CB-516E-98F03AA2D639}"/>
              </a:ext>
            </a:extLst>
          </p:cNvPr>
          <p:cNvSpPr/>
          <p:nvPr/>
        </p:nvSpPr>
        <p:spPr>
          <a:xfrm>
            <a:off x="5383374" y="1754457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33613EF-B060-EB21-EFDD-7A48155D3FA3}"/>
              </a:ext>
            </a:extLst>
          </p:cNvPr>
          <p:cNvSpPr/>
          <p:nvPr/>
        </p:nvSpPr>
        <p:spPr>
          <a:xfrm>
            <a:off x="4199433" y="5543214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B18104DF-337F-3D58-7DAA-19F889433E87}"/>
              </a:ext>
            </a:extLst>
          </p:cNvPr>
          <p:cNvSpPr/>
          <p:nvPr/>
        </p:nvSpPr>
        <p:spPr>
          <a:xfrm>
            <a:off x="6031201" y="2946279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6796F6B3-0D3F-3B96-19E0-1DDDC330983E}"/>
              </a:ext>
            </a:extLst>
          </p:cNvPr>
          <p:cNvSpPr/>
          <p:nvPr/>
        </p:nvSpPr>
        <p:spPr>
          <a:xfrm>
            <a:off x="7168370" y="5142124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49B2B654-DCD6-6ECE-952B-EA03C3A75303}"/>
              </a:ext>
            </a:extLst>
          </p:cNvPr>
          <p:cNvSpPr/>
          <p:nvPr/>
        </p:nvSpPr>
        <p:spPr>
          <a:xfrm>
            <a:off x="5772768" y="3980240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2E979D8B-A787-F020-8F4E-F6AA5E699BB2}"/>
              </a:ext>
            </a:extLst>
          </p:cNvPr>
          <p:cNvSpPr/>
          <p:nvPr/>
        </p:nvSpPr>
        <p:spPr>
          <a:xfrm>
            <a:off x="3773114" y="3298453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52C754EB-B618-0114-EA51-41B139CF3888}"/>
              </a:ext>
            </a:extLst>
          </p:cNvPr>
          <p:cNvSpPr/>
          <p:nvPr/>
        </p:nvSpPr>
        <p:spPr>
          <a:xfrm>
            <a:off x="5024443" y="3556923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8F46D17A-27EB-A707-C77E-3320EC6A720C}"/>
              </a:ext>
            </a:extLst>
          </p:cNvPr>
          <p:cNvSpPr/>
          <p:nvPr/>
        </p:nvSpPr>
        <p:spPr>
          <a:xfrm>
            <a:off x="3266497" y="1873482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DC2E4E7-2E18-B805-19BF-F4D31C417CC2}"/>
              </a:ext>
            </a:extLst>
          </p:cNvPr>
          <p:cNvSpPr/>
          <p:nvPr/>
        </p:nvSpPr>
        <p:spPr>
          <a:xfrm>
            <a:off x="5182937" y="1302028"/>
            <a:ext cx="2766801" cy="45943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F412B14-E9D6-7594-7A09-B1A59B410F86}"/>
              </a:ext>
            </a:extLst>
          </p:cNvPr>
          <p:cNvSpPr/>
          <p:nvPr/>
        </p:nvSpPr>
        <p:spPr>
          <a:xfrm>
            <a:off x="2326744" y="1302028"/>
            <a:ext cx="2848907" cy="45943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F97FA144-6B20-5091-1652-F9431FF2441A}"/>
                  </a:ext>
                </a:extLst>
              </p:cNvPr>
              <p:cNvSpPr txBox="1"/>
              <p:nvPr/>
            </p:nvSpPr>
            <p:spPr>
              <a:xfrm>
                <a:off x="2290894" y="1302028"/>
                <a:ext cx="89317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𝑺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en-US" altLang="zh-CN" sz="1400" b="1" i="1" dirty="0">
                  <a:solidFill>
                    <a:schemeClr val="accent3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F97FA144-6B20-5091-1652-F9431FF24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894" y="1302028"/>
                <a:ext cx="893173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9BA13E74-12A9-397B-AE94-899A4416BCC5}"/>
                  </a:ext>
                </a:extLst>
              </p:cNvPr>
              <p:cNvSpPr txBox="1"/>
              <p:nvPr/>
            </p:nvSpPr>
            <p:spPr>
              <a:xfrm>
                <a:off x="7056800" y="1273682"/>
                <a:ext cx="89317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𝑺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altLang="zh-CN" sz="1400" b="1" i="1" dirty="0">
                  <a:solidFill>
                    <a:schemeClr val="accent3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9BA13E74-12A9-397B-AE94-899A4416B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800" y="1273682"/>
                <a:ext cx="893173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03DFD86-D076-B36C-CE6A-4651A64AD7D3}"/>
                  </a:ext>
                </a:extLst>
              </p:cNvPr>
              <p:cNvSpPr txBox="1"/>
              <p:nvPr/>
            </p:nvSpPr>
            <p:spPr>
              <a:xfrm>
                <a:off x="3445524" y="2827294"/>
                <a:ext cx="6528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18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𝒅</m:t>
                          </m:r>
                        </m:e>
                        <m:sub>
                          <m:r>
                            <a:rPr lang="en-US" altLang="zh-CN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03DFD86-D076-B36C-CE6A-4651A64AD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5524" y="2827294"/>
                <a:ext cx="65283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B5680F9-0128-F955-DF7A-FB8482ACDE15}"/>
                  </a:ext>
                </a:extLst>
              </p:cNvPr>
              <p:cNvSpPr txBox="1"/>
              <p:nvPr/>
            </p:nvSpPr>
            <p:spPr>
              <a:xfrm>
                <a:off x="6876828" y="4657226"/>
                <a:ext cx="7314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𝒅</m:t>
                          </m:r>
                        </m:e>
                        <m:sub>
                          <m:r>
                            <a:rPr lang="en-US" altLang="zh-CN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B5680F9-0128-F955-DF7A-FB8482ACD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828" y="4657226"/>
                <a:ext cx="73140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D170B50-4816-1DAE-3087-0199575389B6}"/>
              </a:ext>
            </a:extLst>
          </p:cNvPr>
          <p:cNvSpPr txBox="1"/>
          <p:nvPr/>
        </p:nvSpPr>
        <p:spPr>
          <a:xfrm>
            <a:off x="8623390" y="1992506"/>
            <a:ext cx="27668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取</a:t>
            </a:r>
            <a:r>
              <a:rPr lang="en-US" altLang="zh-CN" dirty="0"/>
              <a:t>d=min(</a:t>
            </a:r>
            <a:r>
              <a:rPr lang="en-US" altLang="zh-CN" dirty="0" err="1"/>
              <a:t>dl,dr</a:t>
            </a:r>
            <a:r>
              <a:rPr lang="en-US" altLang="zh-CN" dirty="0"/>
              <a:t>)</a:t>
            </a:r>
            <a:r>
              <a:rPr lang="zh-CN" altLang="en-US" dirty="0"/>
              <a:t>，显然如果最近点对距离小于</a:t>
            </a:r>
            <a:r>
              <a:rPr lang="en-US" altLang="zh-CN" dirty="0"/>
              <a:t>d</a:t>
            </a:r>
            <a:r>
              <a:rPr lang="zh-CN" altLang="en-US" dirty="0"/>
              <a:t>，则一定一左一右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ED62853-5092-E569-E5EE-824C3EEDC57E}"/>
              </a:ext>
            </a:extLst>
          </p:cNvPr>
          <p:cNvSpPr txBox="1"/>
          <p:nvPr/>
        </p:nvSpPr>
        <p:spPr>
          <a:xfrm>
            <a:off x="8623389" y="3500153"/>
            <a:ext cx="2766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从而这样的点一定出现在距离中线小于</a:t>
            </a:r>
            <a:r>
              <a:rPr lang="en-US" altLang="zh-CN" dirty="0"/>
              <a:t>d</a:t>
            </a:r>
            <a:r>
              <a:rPr lang="zh-CN" altLang="en-US" dirty="0"/>
              <a:t>的区域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E56D513-086B-AC67-0CB9-5AE18FB77A8B}"/>
              </a:ext>
            </a:extLst>
          </p:cNvPr>
          <p:cNvSpPr/>
          <p:nvPr/>
        </p:nvSpPr>
        <p:spPr>
          <a:xfrm>
            <a:off x="4354662" y="1131888"/>
            <a:ext cx="1672896" cy="49346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A12EFA0-5960-1E77-3E1A-0B2259126C7A}"/>
              </a:ext>
            </a:extLst>
          </p:cNvPr>
          <p:cNvCxnSpPr>
            <a:cxnSpLocks/>
          </p:cNvCxnSpPr>
          <p:nvPr/>
        </p:nvCxnSpPr>
        <p:spPr>
          <a:xfrm>
            <a:off x="5182937" y="544286"/>
            <a:ext cx="0" cy="603068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93056943-89AB-0880-9F2B-07AF068A69EE}"/>
              </a:ext>
            </a:extLst>
          </p:cNvPr>
          <p:cNvCxnSpPr>
            <a:cxnSpLocks/>
          </p:cNvCxnSpPr>
          <p:nvPr/>
        </p:nvCxnSpPr>
        <p:spPr>
          <a:xfrm flipH="1">
            <a:off x="4320076" y="711189"/>
            <a:ext cx="86286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020AFB62-FC17-8824-6C69-EC6086DB83B0}"/>
              </a:ext>
            </a:extLst>
          </p:cNvPr>
          <p:cNvCxnSpPr>
            <a:cxnSpLocks/>
          </p:cNvCxnSpPr>
          <p:nvPr/>
        </p:nvCxnSpPr>
        <p:spPr>
          <a:xfrm>
            <a:off x="5182937" y="711189"/>
            <a:ext cx="84462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40C2DB82-4EC3-6E78-4630-0339DAB6148F}"/>
              </a:ext>
            </a:extLst>
          </p:cNvPr>
          <p:cNvSpPr txBox="1"/>
          <p:nvPr/>
        </p:nvSpPr>
        <p:spPr>
          <a:xfrm>
            <a:off x="5434346" y="756674"/>
            <a:ext cx="2952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d</a:t>
            </a:r>
            <a:endParaRPr lang="zh-CN" altLang="en-US" sz="1400" b="1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D68A777D-D085-8C66-8200-D8B6377300FA}"/>
              </a:ext>
            </a:extLst>
          </p:cNvPr>
          <p:cNvSpPr txBox="1"/>
          <p:nvPr/>
        </p:nvSpPr>
        <p:spPr>
          <a:xfrm>
            <a:off x="4667025" y="761993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d</a:t>
            </a:r>
            <a:endParaRPr lang="zh-CN" altLang="en-US" sz="1400" b="1" dirty="0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4DD88040-80B4-DD73-3ED0-B28B0E7A1E9E}"/>
              </a:ext>
            </a:extLst>
          </p:cNvPr>
          <p:cNvSpPr/>
          <p:nvPr/>
        </p:nvSpPr>
        <p:spPr>
          <a:xfrm>
            <a:off x="4855118" y="2001452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4575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48" grpId="0"/>
      <p:bldP spid="5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AE1248-242C-BBC7-A87D-D778D24C1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E1332DA9-AF94-4DE5-14C2-BE5E52E1A8D3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E8024869-A60D-8E3D-CEAF-2AEEC121213A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6B1C85D8-91E5-F6E7-D60B-D3D07BA98E3A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31F359E4-043B-9001-7FC2-AC16301280E1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155CCE38-AF5E-8688-529F-2FC1F5A47989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分治法思想</a:t>
              </a:r>
            </a:p>
          </p:txBody>
        </p:sp>
      </p:grpSp>
      <p:sp>
        <p:nvSpPr>
          <p:cNvPr id="12" name="椭圆 11">
            <a:extLst>
              <a:ext uri="{FF2B5EF4-FFF2-40B4-BE49-F238E27FC236}">
                <a16:creationId xmlns:a16="http://schemas.microsoft.com/office/drawing/2014/main" id="{7C94A353-F759-56F8-C685-1FD8088A3F35}"/>
              </a:ext>
            </a:extLst>
          </p:cNvPr>
          <p:cNvSpPr/>
          <p:nvPr/>
        </p:nvSpPr>
        <p:spPr>
          <a:xfrm>
            <a:off x="2925807" y="5724514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1F47F11F-3FB5-3F0C-8840-E6FB298B1E38}"/>
              </a:ext>
            </a:extLst>
          </p:cNvPr>
          <p:cNvSpPr/>
          <p:nvPr/>
        </p:nvSpPr>
        <p:spPr>
          <a:xfrm>
            <a:off x="1699984" y="4778884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F9FF4C71-DCD2-F8D1-D49D-882E0EF50E27}"/>
              </a:ext>
            </a:extLst>
          </p:cNvPr>
          <p:cNvSpPr/>
          <p:nvPr/>
        </p:nvSpPr>
        <p:spPr>
          <a:xfrm>
            <a:off x="2703356" y="2092653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28A69A33-618F-D6F6-653F-0CA3C4EE4F38}"/>
              </a:ext>
            </a:extLst>
          </p:cNvPr>
          <p:cNvSpPr/>
          <p:nvPr/>
        </p:nvSpPr>
        <p:spPr>
          <a:xfrm>
            <a:off x="3092750" y="4318436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6E1B1D20-6C61-79E4-134F-B40B82DAAE5B}"/>
              </a:ext>
            </a:extLst>
          </p:cNvPr>
          <p:cNvSpPr/>
          <p:nvPr/>
        </p:nvSpPr>
        <p:spPr>
          <a:xfrm>
            <a:off x="2344425" y="3895119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CAC5F88-128E-DD46-DBF1-F15B35BE08FD}"/>
              </a:ext>
            </a:extLst>
          </p:cNvPr>
          <p:cNvSpPr txBox="1"/>
          <p:nvPr/>
        </p:nvSpPr>
        <p:spPr>
          <a:xfrm>
            <a:off x="4829718" y="1945825"/>
            <a:ext cx="3280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从而合并问题转化为在这个区域中寻找是否有小于</a:t>
            </a:r>
            <a:r>
              <a:rPr lang="en-US" altLang="zh-CN" dirty="0"/>
              <a:t>d</a:t>
            </a:r>
            <a:r>
              <a:rPr lang="zh-CN" altLang="en-US" dirty="0"/>
              <a:t>的点对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09F258D-D552-1571-DBCF-7B1F25E806F7}"/>
                  </a:ext>
                </a:extLst>
              </p:cNvPr>
              <p:cNvSpPr txBox="1"/>
              <p:nvPr/>
            </p:nvSpPr>
            <p:spPr>
              <a:xfrm>
                <a:off x="4829718" y="3192919"/>
                <a:ext cx="324203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显然，遍历左边的全部点，向右边求距离是不行的，会达到</a:t>
                </a:r>
                <a:r>
                  <a:rPr lang="en-US" altLang="zh-CN" dirty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)</a:t>
                </a:r>
                <a:r>
                  <a:rPr lang="zh-CN" altLang="en-US" dirty="0"/>
                  <a:t>，因此需要找到不遍历右边全部点的方法</a:t>
                </a: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09F258D-D552-1571-DBCF-7B1F25E80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9718" y="3192919"/>
                <a:ext cx="3242039" cy="1200329"/>
              </a:xfrm>
              <a:prstGeom prst="rect">
                <a:avLst/>
              </a:prstGeom>
              <a:blipFill>
                <a:blip r:embed="rId2"/>
                <a:stretch>
                  <a:fillRect l="-1504" t="-3046" r="-1692" b="-7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矩形 32">
            <a:extLst>
              <a:ext uri="{FF2B5EF4-FFF2-40B4-BE49-F238E27FC236}">
                <a16:creationId xmlns:a16="http://schemas.microsoft.com/office/drawing/2014/main" id="{4167EFAA-AFE7-9854-5B1C-B732F71D46AC}"/>
              </a:ext>
            </a:extLst>
          </p:cNvPr>
          <p:cNvSpPr/>
          <p:nvPr/>
        </p:nvSpPr>
        <p:spPr>
          <a:xfrm>
            <a:off x="1674644" y="1470084"/>
            <a:ext cx="1672896" cy="49346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C6335A0-3E6E-C542-9C15-7DD39FC59A13}"/>
              </a:ext>
            </a:extLst>
          </p:cNvPr>
          <p:cNvCxnSpPr>
            <a:cxnSpLocks/>
          </p:cNvCxnSpPr>
          <p:nvPr/>
        </p:nvCxnSpPr>
        <p:spPr>
          <a:xfrm>
            <a:off x="2502919" y="1328058"/>
            <a:ext cx="0" cy="524147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8" name="椭圆 57">
            <a:extLst>
              <a:ext uri="{FF2B5EF4-FFF2-40B4-BE49-F238E27FC236}">
                <a16:creationId xmlns:a16="http://schemas.microsoft.com/office/drawing/2014/main" id="{3E9363BF-EC53-F5FA-22F2-95CA3D612085}"/>
              </a:ext>
            </a:extLst>
          </p:cNvPr>
          <p:cNvSpPr/>
          <p:nvPr/>
        </p:nvSpPr>
        <p:spPr>
          <a:xfrm>
            <a:off x="2175100" y="2339648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6844F9CE-8B14-5101-9054-F1F17E87006F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1814485" y="4900122"/>
            <a:ext cx="1146658" cy="8592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C7B62BBA-3239-4C9E-5E22-35256BBADF39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1820627" y="4437461"/>
            <a:ext cx="1272123" cy="4212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DBFA8489-2D47-1E87-CA31-12F42F2D6F1A}"/>
              </a:ext>
            </a:extLst>
          </p:cNvPr>
          <p:cNvCxnSpPr>
            <a:cxnSpLocks/>
          </p:cNvCxnSpPr>
          <p:nvPr/>
        </p:nvCxnSpPr>
        <p:spPr>
          <a:xfrm flipV="1">
            <a:off x="2433953" y="2373208"/>
            <a:ext cx="336461" cy="16132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DD0D2F77-9D21-487E-4DFA-D34499D4D0AB}"/>
              </a:ext>
            </a:extLst>
          </p:cNvPr>
          <p:cNvCxnSpPr>
            <a:cxnSpLocks/>
          </p:cNvCxnSpPr>
          <p:nvPr/>
        </p:nvCxnSpPr>
        <p:spPr>
          <a:xfrm flipV="1">
            <a:off x="2275747" y="2288542"/>
            <a:ext cx="385597" cy="1719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D7695A8B-882A-F775-259A-17A7D8707AB4}"/>
              </a:ext>
            </a:extLst>
          </p:cNvPr>
          <p:cNvCxnSpPr>
            <a:cxnSpLocks/>
            <a:endCxn id="18" idx="3"/>
          </p:cNvCxnSpPr>
          <p:nvPr/>
        </p:nvCxnSpPr>
        <p:spPr>
          <a:xfrm flipV="1">
            <a:off x="1815167" y="2295841"/>
            <a:ext cx="923525" cy="25531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2566EAA1-E376-DE72-D81A-F0407991DA51}"/>
              </a:ext>
            </a:extLst>
          </p:cNvPr>
          <p:cNvCxnSpPr>
            <a:cxnSpLocks/>
            <a:stCxn id="58" idx="5"/>
            <a:endCxn id="22" idx="1"/>
          </p:cNvCxnSpPr>
          <p:nvPr/>
        </p:nvCxnSpPr>
        <p:spPr>
          <a:xfrm>
            <a:off x="2381050" y="2542836"/>
            <a:ext cx="747036" cy="1810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61BC95BD-5901-8AAA-2E1F-48C41E36533A}"/>
              </a:ext>
            </a:extLst>
          </p:cNvPr>
          <p:cNvCxnSpPr>
            <a:cxnSpLocks/>
            <a:stCxn id="58" idx="4"/>
            <a:endCxn id="12" idx="0"/>
          </p:cNvCxnSpPr>
          <p:nvPr/>
        </p:nvCxnSpPr>
        <p:spPr>
          <a:xfrm>
            <a:off x="2295743" y="2577697"/>
            <a:ext cx="750707" cy="31468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3BF6D114-95BA-21AD-3FE8-443CF362409C}"/>
              </a:ext>
            </a:extLst>
          </p:cNvPr>
          <p:cNvCxnSpPr>
            <a:cxnSpLocks/>
          </p:cNvCxnSpPr>
          <p:nvPr/>
        </p:nvCxnSpPr>
        <p:spPr>
          <a:xfrm>
            <a:off x="2458959" y="4037522"/>
            <a:ext cx="606224" cy="3338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1188B385-DA81-ED5B-D94D-0DFBA0E8B031}"/>
              </a:ext>
            </a:extLst>
          </p:cNvPr>
          <p:cNvCxnSpPr>
            <a:cxnSpLocks/>
            <a:stCxn id="24" idx="4"/>
            <a:endCxn id="12" idx="1"/>
          </p:cNvCxnSpPr>
          <p:nvPr/>
        </p:nvCxnSpPr>
        <p:spPr>
          <a:xfrm>
            <a:off x="2465068" y="4133168"/>
            <a:ext cx="496075" cy="16262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708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A3B627-E359-A249-967C-15D02F6CB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BC0D6CBD-1727-0346-4922-E2FD00DEC170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5BAB7437-15DC-6AD0-4338-F7FDDDB3AD13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ACA1876E-97A0-0E6B-17EC-29D4482418A5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1D4DC79D-F08D-240D-C1F5-2BD7E9233D7B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4D0529C-5864-D73A-AFDF-29206C5A8AF9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分治法思想</a:t>
              </a:r>
            </a:p>
          </p:txBody>
        </p:sp>
      </p:grpSp>
      <p:sp>
        <p:nvSpPr>
          <p:cNvPr id="12" name="椭圆 11">
            <a:extLst>
              <a:ext uri="{FF2B5EF4-FFF2-40B4-BE49-F238E27FC236}">
                <a16:creationId xmlns:a16="http://schemas.microsoft.com/office/drawing/2014/main" id="{96DDAA91-B95D-5A5D-62F7-BE7751DF8D73}"/>
              </a:ext>
            </a:extLst>
          </p:cNvPr>
          <p:cNvSpPr/>
          <p:nvPr/>
        </p:nvSpPr>
        <p:spPr>
          <a:xfrm>
            <a:off x="2925807" y="5724514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A9D977F-F91F-1CB7-F1DF-3C6BB2C8BF07}"/>
              </a:ext>
            </a:extLst>
          </p:cNvPr>
          <p:cNvSpPr/>
          <p:nvPr/>
        </p:nvSpPr>
        <p:spPr>
          <a:xfrm>
            <a:off x="1699984" y="4778884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42E6677-922B-282E-EBD1-A68D7D4C3656}"/>
              </a:ext>
            </a:extLst>
          </p:cNvPr>
          <p:cNvSpPr/>
          <p:nvPr/>
        </p:nvSpPr>
        <p:spPr>
          <a:xfrm>
            <a:off x="2703356" y="2092653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D7948F1-4052-2E71-3247-691692FD422C}"/>
              </a:ext>
            </a:extLst>
          </p:cNvPr>
          <p:cNvSpPr/>
          <p:nvPr/>
        </p:nvSpPr>
        <p:spPr>
          <a:xfrm>
            <a:off x="3092750" y="4318436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A91372C6-99D9-F314-D992-BE25F791D28A}"/>
              </a:ext>
            </a:extLst>
          </p:cNvPr>
          <p:cNvSpPr/>
          <p:nvPr/>
        </p:nvSpPr>
        <p:spPr>
          <a:xfrm>
            <a:off x="2344425" y="3895119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85D33C3-06C5-6AB6-154D-96040D636C62}"/>
              </a:ext>
            </a:extLst>
          </p:cNvPr>
          <p:cNvSpPr txBox="1"/>
          <p:nvPr/>
        </p:nvSpPr>
        <p:spPr>
          <a:xfrm>
            <a:off x="4829718" y="1945825"/>
            <a:ext cx="3280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考虑对左边每个点都只寻找</a:t>
            </a:r>
            <a:r>
              <a:rPr lang="en-US" altLang="zh-CN" dirty="0"/>
              <a:t>d</a:t>
            </a:r>
            <a:r>
              <a:rPr lang="zh-CN" altLang="en-US" dirty="0"/>
              <a:t>半径圆形区域内右边的点，这样要遍历的点的个数是有限的（因为右边的点都相距</a:t>
            </a:r>
            <a:r>
              <a:rPr lang="en-US" altLang="zh-CN" dirty="0"/>
              <a:t>d</a:t>
            </a:r>
            <a:r>
              <a:rPr lang="zh-CN" altLang="en-US" dirty="0"/>
              <a:t>以上）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C7D71A9-B3CA-49AB-B1B8-A7F8CFCB660E}"/>
              </a:ext>
            </a:extLst>
          </p:cNvPr>
          <p:cNvSpPr txBox="1"/>
          <p:nvPr/>
        </p:nvSpPr>
        <p:spPr>
          <a:xfrm>
            <a:off x="4829718" y="3895119"/>
            <a:ext cx="32420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因为圆形内比较难找，考虑找</a:t>
            </a:r>
            <a:r>
              <a:rPr lang="en-US" altLang="zh-CN" dirty="0"/>
              <a:t>d*2d</a:t>
            </a:r>
            <a:r>
              <a:rPr lang="zh-CN" altLang="en-US" dirty="0"/>
              <a:t>范围内，这样只要比较坐标就可以了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501973C-3BEA-EB0C-1DC8-5480A8AD70AD}"/>
              </a:ext>
            </a:extLst>
          </p:cNvPr>
          <p:cNvSpPr/>
          <p:nvPr/>
        </p:nvSpPr>
        <p:spPr>
          <a:xfrm>
            <a:off x="1674644" y="1470084"/>
            <a:ext cx="1672896" cy="49346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19FCF16-B9B5-C05A-911F-5D713ACC35ED}"/>
              </a:ext>
            </a:extLst>
          </p:cNvPr>
          <p:cNvCxnSpPr>
            <a:cxnSpLocks/>
          </p:cNvCxnSpPr>
          <p:nvPr/>
        </p:nvCxnSpPr>
        <p:spPr>
          <a:xfrm>
            <a:off x="2502919" y="1328058"/>
            <a:ext cx="0" cy="524147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8" name="椭圆 57">
            <a:extLst>
              <a:ext uri="{FF2B5EF4-FFF2-40B4-BE49-F238E27FC236}">
                <a16:creationId xmlns:a16="http://schemas.microsoft.com/office/drawing/2014/main" id="{5376A495-A25F-9441-97B0-7C8FA52527B5}"/>
              </a:ext>
            </a:extLst>
          </p:cNvPr>
          <p:cNvSpPr/>
          <p:nvPr/>
        </p:nvSpPr>
        <p:spPr>
          <a:xfrm>
            <a:off x="2175100" y="2339648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4AF9866A-49F2-DC48-D172-6873BC4C0B35}"/>
              </a:ext>
            </a:extLst>
          </p:cNvPr>
          <p:cNvSpPr/>
          <p:nvPr/>
        </p:nvSpPr>
        <p:spPr>
          <a:xfrm>
            <a:off x="990931" y="4071611"/>
            <a:ext cx="1659392" cy="16646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E3DC84-7038-50C8-0533-194C38A26623}"/>
              </a:ext>
            </a:extLst>
          </p:cNvPr>
          <p:cNvSpPr/>
          <p:nvPr/>
        </p:nvSpPr>
        <p:spPr>
          <a:xfrm>
            <a:off x="1635372" y="3181817"/>
            <a:ext cx="1659392" cy="16646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7BD31C7-21F5-7689-A44F-002119E96269}"/>
              </a:ext>
            </a:extLst>
          </p:cNvPr>
          <p:cNvSpPr/>
          <p:nvPr/>
        </p:nvSpPr>
        <p:spPr>
          <a:xfrm>
            <a:off x="1466047" y="1630300"/>
            <a:ext cx="1659392" cy="16646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2DEF6A7C-DE79-1811-6D4A-A25C001F6339}"/>
              </a:ext>
            </a:extLst>
          </p:cNvPr>
          <p:cNvSpPr/>
          <p:nvPr/>
        </p:nvSpPr>
        <p:spPr>
          <a:xfrm>
            <a:off x="10134895" y="5749511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330410E6-45CF-B3F7-F18F-18C2A1D8E880}"/>
              </a:ext>
            </a:extLst>
          </p:cNvPr>
          <p:cNvSpPr/>
          <p:nvPr/>
        </p:nvSpPr>
        <p:spPr>
          <a:xfrm>
            <a:off x="8909072" y="4803881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895B71EB-E54A-68EA-EF9A-49F32ED12A54}"/>
              </a:ext>
            </a:extLst>
          </p:cNvPr>
          <p:cNvSpPr/>
          <p:nvPr/>
        </p:nvSpPr>
        <p:spPr>
          <a:xfrm>
            <a:off x="9912444" y="2117650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812134AD-6A61-5F4A-0673-51C00163A060}"/>
              </a:ext>
            </a:extLst>
          </p:cNvPr>
          <p:cNvSpPr/>
          <p:nvPr/>
        </p:nvSpPr>
        <p:spPr>
          <a:xfrm>
            <a:off x="10301838" y="4343433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01613AFB-021C-40D8-883C-039CBDF8C8FF}"/>
              </a:ext>
            </a:extLst>
          </p:cNvPr>
          <p:cNvSpPr/>
          <p:nvPr/>
        </p:nvSpPr>
        <p:spPr>
          <a:xfrm>
            <a:off x="9553513" y="3920116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E125BB6-EBA5-C6BB-AF1B-FB78F5E7CDA0}"/>
              </a:ext>
            </a:extLst>
          </p:cNvPr>
          <p:cNvSpPr/>
          <p:nvPr/>
        </p:nvSpPr>
        <p:spPr>
          <a:xfrm>
            <a:off x="8883732" y="1495081"/>
            <a:ext cx="1672896" cy="49346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302ED32-0303-CA3C-F79A-F80CD6D8657F}"/>
              </a:ext>
            </a:extLst>
          </p:cNvPr>
          <p:cNvCxnSpPr>
            <a:cxnSpLocks/>
          </p:cNvCxnSpPr>
          <p:nvPr/>
        </p:nvCxnSpPr>
        <p:spPr>
          <a:xfrm>
            <a:off x="9712007" y="1353055"/>
            <a:ext cx="0" cy="524147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椭圆 27">
            <a:extLst>
              <a:ext uri="{FF2B5EF4-FFF2-40B4-BE49-F238E27FC236}">
                <a16:creationId xmlns:a16="http://schemas.microsoft.com/office/drawing/2014/main" id="{7BFFCF6F-08BD-0125-859E-951DC5486B4A}"/>
              </a:ext>
            </a:extLst>
          </p:cNvPr>
          <p:cNvSpPr/>
          <p:nvPr/>
        </p:nvSpPr>
        <p:spPr>
          <a:xfrm>
            <a:off x="9384188" y="2364645"/>
            <a:ext cx="241286" cy="238049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92DFA6E-54CF-4395-4709-AB69DDE6A794}"/>
              </a:ext>
            </a:extLst>
          </p:cNvPr>
          <p:cNvSpPr/>
          <p:nvPr/>
        </p:nvSpPr>
        <p:spPr>
          <a:xfrm>
            <a:off x="9504831" y="1777735"/>
            <a:ext cx="848492" cy="14444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26FFC54-2E13-F32E-228C-01DC3A19E728}"/>
              </a:ext>
            </a:extLst>
          </p:cNvPr>
          <p:cNvSpPr/>
          <p:nvPr/>
        </p:nvSpPr>
        <p:spPr>
          <a:xfrm>
            <a:off x="9036167" y="4200687"/>
            <a:ext cx="848492" cy="14444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7E46762-1DA1-65BE-A570-F14A89D04BB5}"/>
              </a:ext>
            </a:extLst>
          </p:cNvPr>
          <p:cNvSpPr/>
          <p:nvPr/>
        </p:nvSpPr>
        <p:spPr>
          <a:xfrm>
            <a:off x="9675576" y="3322165"/>
            <a:ext cx="848492" cy="14444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554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332367-7401-4CB7-4986-5E5FC224A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84856EF8-C1A0-2D41-BF73-20EF3DA126FA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ABAEA08D-707D-9915-743B-5B3C386E8BDE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FD8710EB-826E-E5A7-3676-F243147A9C1C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46ABD780-AB83-2F4E-A069-5DAE01A4AC27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0D33D92-7C10-FA45-55BF-9B1ED3BFF3A8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分治法思想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29B4FBCA-08A1-4997-3F60-74CF43620184}"/>
              </a:ext>
            </a:extLst>
          </p:cNvPr>
          <p:cNvSpPr txBox="1"/>
          <p:nvPr/>
        </p:nvSpPr>
        <p:spPr>
          <a:xfrm>
            <a:off x="3865382" y="1902801"/>
            <a:ext cx="37917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对这个矩形进行分析，每个小矩形的对角线为</a:t>
            </a:r>
            <a:r>
              <a:rPr lang="en-US" altLang="zh-CN" dirty="0"/>
              <a:t>5/6d</a:t>
            </a:r>
            <a:r>
              <a:rPr lang="zh-CN" altLang="en-US" dirty="0"/>
              <a:t>，因此在每个小矩形内至多有</a:t>
            </a:r>
            <a:r>
              <a:rPr lang="en-US" altLang="zh-CN" dirty="0"/>
              <a:t>1</a:t>
            </a:r>
            <a:r>
              <a:rPr lang="zh-CN" altLang="en-US" dirty="0"/>
              <a:t>个点，从而大矩形内要考虑的点不超过</a:t>
            </a:r>
            <a:r>
              <a:rPr lang="en-US" altLang="zh-CN" dirty="0"/>
              <a:t>6</a:t>
            </a:r>
            <a:r>
              <a:rPr lang="zh-CN" altLang="en-US" dirty="0"/>
              <a:t>个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0FF84C89-87D5-05C0-B2BB-378E076A00ED}"/>
              </a:ext>
            </a:extLst>
          </p:cNvPr>
          <p:cNvSpPr/>
          <p:nvPr/>
        </p:nvSpPr>
        <p:spPr>
          <a:xfrm>
            <a:off x="1393982" y="3547991"/>
            <a:ext cx="472298" cy="413078"/>
          </a:xfrm>
          <a:prstGeom prst="ellipse">
            <a:avLst/>
          </a:prstGeom>
          <a:solidFill>
            <a:srgbClr val="000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A97145-F7E6-3661-D9FA-26CCFBA9DC34}"/>
              </a:ext>
            </a:extLst>
          </p:cNvPr>
          <p:cNvSpPr/>
          <p:nvPr/>
        </p:nvSpPr>
        <p:spPr>
          <a:xfrm>
            <a:off x="1639324" y="2427514"/>
            <a:ext cx="1272606" cy="2667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EE4AACF-62AF-AEC7-4C04-90B0B59EA9ED}"/>
              </a:ext>
            </a:extLst>
          </p:cNvPr>
          <p:cNvCxnSpPr>
            <a:cxnSpLocks/>
          </p:cNvCxnSpPr>
          <p:nvPr/>
        </p:nvCxnSpPr>
        <p:spPr>
          <a:xfrm>
            <a:off x="2278347" y="2427514"/>
            <a:ext cx="0" cy="2667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1E6D277-66EC-E0C8-7F16-FD5C72F48F78}"/>
              </a:ext>
            </a:extLst>
          </p:cNvPr>
          <p:cNvCxnSpPr>
            <a:cxnSpLocks/>
          </p:cNvCxnSpPr>
          <p:nvPr/>
        </p:nvCxnSpPr>
        <p:spPr>
          <a:xfrm flipH="1">
            <a:off x="1639323" y="3271158"/>
            <a:ext cx="127260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A9DADC6-9920-82E3-1294-5EAD76133973}"/>
              </a:ext>
            </a:extLst>
          </p:cNvPr>
          <p:cNvCxnSpPr>
            <a:cxnSpLocks/>
          </p:cNvCxnSpPr>
          <p:nvPr/>
        </p:nvCxnSpPr>
        <p:spPr>
          <a:xfrm flipH="1">
            <a:off x="1639323" y="4245429"/>
            <a:ext cx="127260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椭圆 22">
            <a:extLst>
              <a:ext uri="{FF2B5EF4-FFF2-40B4-BE49-F238E27FC236}">
                <a16:creationId xmlns:a16="http://schemas.microsoft.com/office/drawing/2014/main" id="{E6276D8C-DA01-AF55-1EEE-C8FD26F980FE}"/>
              </a:ext>
            </a:extLst>
          </p:cNvPr>
          <p:cNvSpPr/>
          <p:nvPr/>
        </p:nvSpPr>
        <p:spPr>
          <a:xfrm>
            <a:off x="1718711" y="2751502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19F4F13E-1402-844B-58B3-5C34682E6D6B}"/>
              </a:ext>
            </a:extLst>
          </p:cNvPr>
          <p:cNvSpPr/>
          <p:nvPr/>
        </p:nvSpPr>
        <p:spPr>
          <a:xfrm>
            <a:off x="2610903" y="2502966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E887DF1F-2A1A-D0BA-451C-692BD53CD706}"/>
              </a:ext>
            </a:extLst>
          </p:cNvPr>
          <p:cNvSpPr/>
          <p:nvPr/>
        </p:nvSpPr>
        <p:spPr>
          <a:xfrm>
            <a:off x="1996949" y="3405613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0B0A1037-2C89-F264-3814-7E9C5BF19D8D}"/>
              </a:ext>
            </a:extLst>
          </p:cNvPr>
          <p:cNvSpPr/>
          <p:nvPr/>
        </p:nvSpPr>
        <p:spPr>
          <a:xfrm>
            <a:off x="1723954" y="4791471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EE098EE1-2315-975E-ABB1-C00F5FEC784C}"/>
              </a:ext>
            </a:extLst>
          </p:cNvPr>
          <p:cNvSpPr/>
          <p:nvPr/>
        </p:nvSpPr>
        <p:spPr>
          <a:xfrm>
            <a:off x="2510869" y="4739126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FCB3326-C495-D016-4F7A-CCC01112D327}"/>
              </a:ext>
            </a:extLst>
          </p:cNvPr>
          <p:cNvSpPr/>
          <p:nvPr/>
        </p:nvSpPr>
        <p:spPr>
          <a:xfrm>
            <a:off x="2658761" y="3607865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B1FC335-9697-6839-CB76-6441C1775CB5}"/>
              </a:ext>
            </a:extLst>
          </p:cNvPr>
          <p:cNvSpPr txBox="1"/>
          <p:nvPr/>
        </p:nvSpPr>
        <p:spPr>
          <a:xfrm>
            <a:off x="3865382" y="3419478"/>
            <a:ext cx="37917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因此对所有点排序，对每个左边的点先找到范围内的第一个点，在从此向后遍历</a:t>
            </a:r>
            <a:r>
              <a:rPr lang="en-US" altLang="zh-CN" dirty="0"/>
              <a:t>6</a:t>
            </a:r>
            <a:r>
              <a:rPr lang="zh-CN" altLang="en-US" dirty="0"/>
              <a:t>个点即可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35DE696-9D0C-ED01-A177-8174FBD3B53E}"/>
              </a:ext>
            </a:extLst>
          </p:cNvPr>
          <p:cNvSpPr txBox="1"/>
          <p:nvPr/>
        </p:nvSpPr>
        <p:spPr>
          <a:xfrm>
            <a:off x="3865382" y="4702672"/>
            <a:ext cx="37917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注意到对右边的点也同理，因此可以将整体一起处理，每个点向后遍历</a:t>
            </a:r>
            <a:r>
              <a:rPr lang="en-US" altLang="zh-CN" dirty="0"/>
              <a:t>4</a:t>
            </a:r>
            <a:r>
              <a:rPr lang="zh-CN" altLang="en-US" dirty="0"/>
              <a:t>个以内的点（坐标差超过</a:t>
            </a:r>
            <a:r>
              <a:rPr lang="en-US" altLang="zh-CN" dirty="0"/>
              <a:t>d</a:t>
            </a:r>
            <a:r>
              <a:rPr lang="zh-CN" altLang="en-US" dirty="0"/>
              <a:t>直接退出），从而达到线性效率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563D2EE-25DE-652E-EA6E-DBDC487EF7EC}"/>
              </a:ext>
            </a:extLst>
          </p:cNvPr>
          <p:cNvSpPr/>
          <p:nvPr/>
        </p:nvSpPr>
        <p:spPr>
          <a:xfrm>
            <a:off x="9119198" y="2427514"/>
            <a:ext cx="1272606" cy="2667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45B07E86-DBC1-283A-AF4E-4845F387B010}"/>
              </a:ext>
            </a:extLst>
          </p:cNvPr>
          <p:cNvCxnSpPr>
            <a:cxnSpLocks/>
          </p:cNvCxnSpPr>
          <p:nvPr/>
        </p:nvCxnSpPr>
        <p:spPr>
          <a:xfrm>
            <a:off x="9758221" y="2427514"/>
            <a:ext cx="0" cy="2667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71DD6CF8-0D0F-6EB6-C9D6-34CBB0A5F9B1}"/>
              </a:ext>
            </a:extLst>
          </p:cNvPr>
          <p:cNvCxnSpPr>
            <a:cxnSpLocks/>
          </p:cNvCxnSpPr>
          <p:nvPr/>
        </p:nvCxnSpPr>
        <p:spPr>
          <a:xfrm flipH="1">
            <a:off x="9119197" y="3271158"/>
            <a:ext cx="127260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B0B5F137-F4CD-6642-F03B-C6C2D4D80A6F}"/>
              </a:ext>
            </a:extLst>
          </p:cNvPr>
          <p:cNvCxnSpPr>
            <a:cxnSpLocks/>
          </p:cNvCxnSpPr>
          <p:nvPr/>
        </p:nvCxnSpPr>
        <p:spPr>
          <a:xfrm flipH="1">
            <a:off x="9119197" y="4245429"/>
            <a:ext cx="127260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椭圆 64">
            <a:extLst>
              <a:ext uri="{FF2B5EF4-FFF2-40B4-BE49-F238E27FC236}">
                <a16:creationId xmlns:a16="http://schemas.microsoft.com/office/drawing/2014/main" id="{E2D9278B-8B8C-7425-2504-94B246309E03}"/>
              </a:ext>
            </a:extLst>
          </p:cNvPr>
          <p:cNvSpPr/>
          <p:nvPr/>
        </p:nvSpPr>
        <p:spPr>
          <a:xfrm>
            <a:off x="9198585" y="2751502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6372BFF7-52A2-B01D-7952-404136686102}"/>
              </a:ext>
            </a:extLst>
          </p:cNvPr>
          <p:cNvSpPr/>
          <p:nvPr/>
        </p:nvSpPr>
        <p:spPr>
          <a:xfrm>
            <a:off x="10090777" y="2502966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C1D67E87-34F0-1D1F-C641-33114A88D9E2}"/>
              </a:ext>
            </a:extLst>
          </p:cNvPr>
          <p:cNvSpPr/>
          <p:nvPr/>
        </p:nvSpPr>
        <p:spPr>
          <a:xfrm>
            <a:off x="9476823" y="3405613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284051A4-BCF6-9C47-AF5D-656963BB9D2A}"/>
              </a:ext>
            </a:extLst>
          </p:cNvPr>
          <p:cNvSpPr/>
          <p:nvPr/>
        </p:nvSpPr>
        <p:spPr>
          <a:xfrm>
            <a:off x="9203828" y="4791471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761FE31D-0577-A9F7-2D8D-F7F06E246E84}"/>
              </a:ext>
            </a:extLst>
          </p:cNvPr>
          <p:cNvSpPr/>
          <p:nvPr/>
        </p:nvSpPr>
        <p:spPr>
          <a:xfrm>
            <a:off x="9990743" y="4739126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759A14C3-A027-6488-BB56-9077C1FF233F}"/>
              </a:ext>
            </a:extLst>
          </p:cNvPr>
          <p:cNvSpPr/>
          <p:nvPr/>
        </p:nvSpPr>
        <p:spPr>
          <a:xfrm>
            <a:off x="10138635" y="3607865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5C242010-CCD7-3A1E-9C1A-3551AE4C8213}"/>
              </a:ext>
            </a:extLst>
          </p:cNvPr>
          <p:cNvSpPr/>
          <p:nvPr/>
        </p:nvSpPr>
        <p:spPr>
          <a:xfrm>
            <a:off x="9045252" y="3699388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7226506F-2879-F48A-BF2D-DFF6844A9E8C}"/>
              </a:ext>
            </a:extLst>
          </p:cNvPr>
          <p:cNvCxnSpPr/>
          <p:nvPr/>
        </p:nvCxnSpPr>
        <p:spPr>
          <a:xfrm>
            <a:off x="8472885" y="3771322"/>
            <a:ext cx="25652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31EA5A5D-685A-5FC5-5F60-E2AE9C14B74F}"/>
              </a:ext>
            </a:extLst>
          </p:cNvPr>
          <p:cNvSpPr/>
          <p:nvPr/>
        </p:nvSpPr>
        <p:spPr>
          <a:xfrm>
            <a:off x="8947619" y="3843256"/>
            <a:ext cx="1675377" cy="147309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183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D1EF75-27A2-6464-506E-78924A48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0AF623B2-2BEF-16A1-9612-3EEBB94C0B35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0026A462-FF96-05C9-9E0D-BB65F574B12B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BF70E140-DAC3-6560-781A-4A98BBEDAD1E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3A4F1F6D-F239-D734-E755-C722891E0BFA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DAE14C87-DAEB-2913-2164-F92A3FD07046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分治法思想</a:t>
              </a: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282B71EC-A070-F8B5-40A0-C7C6CB20C199}"/>
              </a:ext>
            </a:extLst>
          </p:cNvPr>
          <p:cNvSpPr/>
          <p:nvPr/>
        </p:nvSpPr>
        <p:spPr>
          <a:xfrm>
            <a:off x="4600225" y="846951"/>
            <a:ext cx="2449255" cy="57280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966B553-F98A-1942-1867-69B79E85A36A}"/>
              </a:ext>
            </a:extLst>
          </p:cNvPr>
          <p:cNvCxnSpPr>
            <a:cxnSpLocks/>
          </p:cNvCxnSpPr>
          <p:nvPr/>
        </p:nvCxnSpPr>
        <p:spPr>
          <a:xfrm>
            <a:off x="5784053" y="457625"/>
            <a:ext cx="7653" cy="62534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椭圆 22">
            <a:extLst>
              <a:ext uri="{FF2B5EF4-FFF2-40B4-BE49-F238E27FC236}">
                <a16:creationId xmlns:a16="http://schemas.microsoft.com/office/drawing/2014/main" id="{98E5CF21-CFFE-9872-01F4-5BEFE20831BE}"/>
              </a:ext>
            </a:extLst>
          </p:cNvPr>
          <p:cNvSpPr/>
          <p:nvPr/>
        </p:nvSpPr>
        <p:spPr>
          <a:xfrm>
            <a:off x="4775287" y="1792377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A7F648B4-42C9-4468-66D9-EB1D9216D14B}"/>
              </a:ext>
            </a:extLst>
          </p:cNvPr>
          <p:cNvSpPr/>
          <p:nvPr/>
        </p:nvSpPr>
        <p:spPr>
          <a:xfrm>
            <a:off x="5332332" y="998603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BF8EBBF8-7B6E-BA59-D4B8-A71BFC302031}"/>
              </a:ext>
            </a:extLst>
          </p:cNvPr>
          <p:cNvSpPr/>
          <p:nvPr/>
        </p:nvSpPr>
        <p:spPr>
          <a:xfrm>
            <a:off x="5636161" y="2611718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C73C2FBC-070C-6F30-8DEF-51F73156D88D}"/>
              </a:ext>
            </a:extLst>
          </p:cNvPr>
          <p:cNvSpPr/>
          <p:nvPr/>
        </p:nvSpPr>
        <p:spPr>
          <a:xfrm>
            <a:off x="6726526" y="3760637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1FED0BFC-0877-B27F-8FC7-78FD80D5973E}"/>
              </a:ext>
            </a:extLst>
          </p:cNvPr>
          <p:cNvSpPr/>
          <p:nvPr/>
        </p:nvSpPr>
        <p:spPr>
          <a:xfrm>
            <a:off x="6524318" y="1648509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402B1AE3-1F80-661B-15E2-4966073D0AE9}"/>
              </a:ext>
            </a:extLst>
          </p:cNvPr>
          <p:cNvSpPr/>
          <p:nvPr/>
        </p:nvSpPr>
        <p:spPr>
          <a:xfrm>
            <a:off x="6080467" y="926669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A2A4036-EC46-9271-3E03-8DD58B05CBA1}"/>
              </a:ext>
            </a:extLst>
          </p:cNvPr>
          <p:cNvSpPr/>
          <p:nvPr/>
        </p:nvSpPr>
        <p:spPr>
          <a:xfrm>
            <a:off x="4592573" y="6266705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029C41C-59CE-DD8B-92FD-D10FA1B552D8}"/>
              </a:ext>
            </a:extLst>
          </p:cNvPr>
          <p:cNvSpPr/>
          <p:nvPr/>
        </p:nvSpPr>
        <p:spPr>
          <a:xfrm>
            <a:off x="5569869" y="4175099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13AD37D-DA67-A8E8-1ADC-72D467BEF6EB}"/>
              </a:ext>
            </a:extLst>
          </p:cNvPr>
          <p:cNvSpPr/>
          <p:nvPr/>
        </p:nvSpPr>
        <p:spPr>
          <a:xfrm>
            <a:off x="5932575" y="5227119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F3D347C-6878-56A3-4D9E-DFE69C8BFF50}"/>
              </a:ext>
            </a:extLst>
          </p:cNvPr>
          <p:cNvSpPr/>
          <p:nvPr/>
        </p:nvSpPr>
        <p:spPr>
          <a:xfrm>
            <a:off x="6010666" y="2467850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CC6CB27-7B58-7E71-2CA0-A8F622AA6F36}"/>
              </a:ext>
            </a:extLst>
          </p:cNvPr>
          <p:cNvSpPr/>
          <p:nvPr/>
        </p:nvSpPr>
        <p:spPr>
          <a:xfrm>
            <a:off x="4740465" y="3285132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E6D005A-2C1C-EE00-0CEC-95385071C6EC}"/>
              </a:ext>
            </a:extLst>
          </p:cNvPr>
          <p:cNvSpPr/>
          <p:nvPr/>
        </p:nvSpPr>
        <p:spPr>
          <a:xfrm>
            <a:off x="6909240" y="6122837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76B21BF-0537-D29C-2144-028CFA3BC0ED}"/>
              </a:ext>
            </a:extLst>
          </p:cNvPr>
          <p:cNvSpPr/>
          <p:nvPr/>
        </p:nvSpPr>
        <p:spPr>
          <a:xfrm>
            <a:off x="4596728" y="5083251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26DCA44A-775D-8B5C-6321-40A9C1FDDE0D}"/>
              </a:ext>
            </a:extLst>
          </p:cNvPr>
          <p:cNvCxnSpPr>
            <a:stCxn id="6" idx="6"/>
            <a:endCxn id="14" idx="2"/>
          </p:cNvCxnSpPr>
          <p:nvPr/>
        </p:nvCxnSpPr>
        <p:spPr>
          <a:xfrm flipV="1">
            <a:off x="4740465" y="6194771"/>
            <a:ext cx="2168775" cy="1438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D7675E2C-533F-DEB4-F219-CA6FDF11BF1F}"/>
              </a:ext>
            </a:extLst>
          </p:cNvPr>
          <p:cNvCxnSpPr>
            <a:cxnSpLocks/>
            <a:endCxn id="10" idx="3"/>
          </p:cNvCxnSpPr>
          <p:nvPr/>
        </p:nvCxnSpPr>
        <p:spPr>
          <a:xfrm flipV="1">
            <a:off x="4661808" y="5349918"/>
            <a:ext cx="1292425" cy="10198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2069E7E8-BB07-2DD5-A4FB-F665A4679639}"/>
              </a:ext>
            </a:extLst>
          </p:cNvPr>
          <p:cNvCxnSpPr>
            <a:cxnSpLocks/>
            <a:stCxn id="6" idx="0"/>
            <a:endCxn id="15" idx="4"/>
          </p:cNvCxnSpPr>
          <p:nvPr/>
        </p:nvCxnSpPr>
        <p:spPr>
          <a:xfrm flipV="1">
            <a:off x="4666519" y="5227119"/>
            <a:ext cx="4155" cy="10395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57C6733D-89E4-51D2-E460-E4B12B304FC7}"/>
              </a:ext>
            </a:extLst>
          </p:cNvPr>
          <p:cNvCxnSpPr>
            <a:cxnSpLocks/>
            <a:stCxn id="6" idx="7"/>
            <a:endCxn id="9" idx="4"/>
          </p:cNvCxnSpPr>
          <p:nvPr/>
        </p:nvCxnSpPr>
        <p:spPr>
          <a:xfrm flipV="1">
            <a:off x="4718807" y="4318967"/>
            <a:ext cx="925008" cy="19688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4631D636-DE25-78A4-1B6E-27E11AC2C81B}"/>
              </a:ext>
            </a:extLst>
          </p:cNvPr>
          <p:cNvCxnSpPr>
            <a:cxnSpLocks/>
            <a:endCxn id="10" idx="5"/>
          </p:cNvCxnSpPr>
          <p:nvPr/>
        </p:nvCxnSpPr>
        <p:spPr>
          <a:xfrm flipH="1" flipV="1">
            <a:off x="6058809" y="5349918"/>
            <a:ext cx="917971" cy="7704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AE1AEEEC-9169-6E4C-4274-5EEE9D9C15D0}"/>
              </a:ext>
            </a:extLst>
          </p:cNvPr>
          <p:cNvCxnSpPr>
            <a:cxnSpLocks/>
            <a:stCxn id="14" idx="1"/>
            <a:endCxn id="15" idx="5"/>
          </p:cNvCxnSpPr>
          <p:nvPr/>
        </p:nvCxnSpPr>
        <p:spPr>
          <a:xfrm flipH="1" flipV="1">
            <a:off x="4722962" y="5206050"/>
            <a:ext cx="2207936" cy="9378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08A6E678-7E41-9D3B-F72B-F5450E303EF9}"/>
              </a:ext>
            </a:extLst>
          </p:cNvPr>
          <p:cNvCxnSpPr>
            <a:cxnSpLocks/>
            <a:stCxn id="14" idx="0"/>
            <a:endCxn id="9" idx="5"/>
          </p:cNvCxnSpPr>
          <p:nvPr/>
        </p:nvCxnSpPr>
        <p:spPr>
          <a:xfrm flipH="1" flipV="1">
            <a:off x="5696103" y="4297898"/>
            <a:ext cx="1287083" cy="18249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F72FFD54-2FC9-6BA3-09AF-5DB9E939DE15}"/>
              </a:ext>
            </a:extLst>
          </p:cNvPr>
          <p:cNvCxnSpPr>
            <a:cxnSpLocks/>
            <a:stCxn id="10" idx="1"/>
            <a:endCxn id="15" idx="6"/>
          </p:cNvCxnSpPr>
          <p:nvPr/>
        </p:nvCxnSpPr>
        <p:spPr>
          <a:xfrm flipH="1" flipV="1">
            <a:off x="4744620" y="5155185"/>
            <a:ext cx="1209613" cy="930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0EAA6AB8-6554-EC0C-6307-45909D81D0A7}"/>
              </a:ext>
            </a:extLst>
          </p:cNvPr>
          <p:cNvCxnSpPr>
            <a:cxnSpLocks/>
            <a:stCxn id="10" idx="1"/>
            <a:endCxn id="9" idx="4"/>
          </p:cNvCxnSpPr>
          <p:nvPr/>
        </p:nvCxnSpPr>
        <p:spPr>
          <a:xfrm flipH="1" flipV="1">
            <a:off x="5643815" y="4318967"/>
            <a:ext cx="310418" cy="9292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D50E7173-FC96-5089-1469-F7112A72CB85}"/>
              </a:ext>
            </a:extLst>
          </p:cNvPr>
          <p:cNvCxnSpPr>
            <a:cxnSpLocks/>
            <a:stCxn id="10" idx="7"/>
            <a:endCxn id="27" idx="3"/>
          </p:cNvCxnSpPr>
          <p:nvPr/>
        </p:nvCxnSpPr>
        <p:spPr>
          <a:xfrm flipV="1">
            <a:off x="6058809" y="3883436"/>
            <a:ext cx="689375" cy="13647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D1A84CEA-7E81-139F-47F9-6CCD9917EA7B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4678335" y="4247033"/>
            <a:ext cx="891534" cy="8243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38255B33-5620-2F45-C1EF-5D7CEB9DAB69}"/>
              </a:ext>
            </a:extLst>
          </p:cNvPr>
          <p:cNvCxnSpPr>
            <a:cxnSpLocks/>
            <a:stCxn id="15" idx="7"/>
            <a:endCxn id="27" idx="2"/>
          </p:cNvCxnSpPr>
          <p:nvPr/>
        </p:nvCxnSpPr>
        <p:spPr>
          <a:xfrm flipV="1">
            <a:off x="4722962" y="3832571"/>
            <a:ext cx="2003564" cy="12717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A583F388-F517-4EA8-2B95-0D18454E43C7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5636161" y="3832571"/>
            <a:ext cx="1090365" cy="3876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B86DD00B-8B7E-67DC-9565-FD9FBA44CA9B}"/>
              </a:ext>
            </a:extLst>
          </p:cNvPr>
          <p:cNvCxnSpPr>
            <a:cxnSpLocks/>
            <a:stCxn id="9" idx="1"/>
            <a:endCxn id="12" idx="4"/>
          </p:cNvCxnSpPr>
          <p:nvPr/>
        </p:nvCxnSpPr>
        <p:spPr>
          <a:xfrm flipH="1" flipV="1">
            <a:off x="4814411" y="3429000"/>
            <a:ext cx="777116" cy="7671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DAFCEA29-F20A-5A35-773E-C9AB55D7737A}"/>
              </a:ext>
            </a:extLst>
          </p:cNvPr>
          <p:cNvCxnSpPr>
            <a:cxnSpLocks/>
          </p:cNvCxnSpPr>
          <p:nvPr/>
        </p:nvCxnSpPr>
        <p:spPr>
          <a:xfrm flipV="1">
            <a:off x="5672056" y="2734517"/>
            <a:ext cx="14004" cy="14405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B4888B94-6285-30F4-EFA4-E84BCFEC54E0}"/>
              </a:ext>
            </a:extLst>
          </p:cNvPr>
          <p:cNvCxnSpPr>
            <a:cxnSpLocks/>
            <a:endCxn id="12" idx="6"/>
          </p:cNvCxnSpPr>
          <p:nvPr/>
        </p:nvCxnSpPr>
        <p:spPr>
          <a:xfrm flipH="1" flipV="1">
            <a:off x="4888357" y="3357066"/>
            <a:ext cx="1853829" cy="4346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DB22E3F5-A054-BDBD-B998-5B63F4CF421C}"/>
              </a:ext>
            </a:extLst>
          </p:cNvPr>
          <p:cNvCxnSpPr>
            <a:cxnSpLocks/>
            <a:stCxn id="27" idx="1"/>
            <a:endCxn id="26" idx="4"/>
          </p:cNvCxnSpPr>
          <p:nvPr/>
        </p:nvCxnSpPr>
        <p:spPr>
          <a:xfrm flipH="1" flipV="1">
            <a:off x="5710107" y="2755586"/>
            <a:ext cx="1038077" cy="1026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E41B06BC-C74A-44CA-9FE1-3175D7D9AAA0}"/>
              </a:ext>
            </a:extLst>
          </p:cNvPr>
          <p:cNvCxnSpPr>
            <a:cxnSpLocks/>
            <a:stCxn id="27" idx="0"/>
            <a:endCxn id="11" idx="5"/>
          </p:cNvCxnSpPr>
          <p:nvPr/>
        </p:nvCxnSpPr>
        <p:spPr>
          <a:xfrm flipH="1" flipV="1">
            <a:off x="6136900" y="2590649"/>
            <a:ext cx="663572" cy="11699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AAAD5E03-E63F-1C3D-B8DE-0962777213AC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4776967" y="2683652"/>
            <a:ext cx="859194" cy="6445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4CBD0340-6480-55EC-77C9-66A01F8D47F4}"/>
              </a:ext>
            </a:extLst>
          </p:cNvPr>
          <p:cNvCxnSpPr>
            <a:cxnSpLocks/>
            <a:stCxn id="12" idx="7"/>
            <a:endCxn id="11" idx="3"/>
          </p:cNvCxnSpPr>
          <p:nvPr/>
        </p:nvCxnSpPr>
        <p:spPr>
          <a:xfrm flipV="1">
            <a:off x="4866699" y="2590649"/>
            <a:ext cx="1165625" cy="7155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85E5E333-DCFB-47B5-FA54-8BB263114F41}"/>
              </a:ext>
            </a:extLst>
          </p:cNvPr>
          <p:cNvCxnSpPr>
            <a:cxnSpLocks/>
            <a:endCxn id="23" idx="4"/>
          </p:cNvCxnSpPr>
          <p:nvPr/>
        </p:nvCxnSpPr>
        <p:spPr>
          <a:xfrm flipV="1">
            <a:off x="4804851" y="1936245"/>
            <a:ext cx="44382" cy="14084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4B50BB56-32AB-787E-5051-6B102326FBBD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5703139" y="2539784"/>
            <a:ext cx="307527" cy="1636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8A9EF7A5-761F-D486-D471-EFEAF5A77829}"/>
              </a:ext>
            </a:extLst>
          </p:cNvPr>
          <p:cNvCxnSpPr>
            <a:cxnSpLocks/>
            <a:endCxn id="23" idx="6"/>
          </p:cNvCxnSpPr>
          <p:nvPr/>
        </p:nvCxnSpPr>
        <p:spPr>
          <a:xfrm flipH="1" flipV="1">
            <a:off x="4923179" y="1864311"/>
            <a:ext cx="758629" cy="8454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9FD72DF8-4FD3-FA73-C917-D8D8E5EDB457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5717341" y="1720443"/>
            <a:ext cx="806977" cy="9574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A7040332-9A29-8EF9-AE59-9264DF68C42C}"/>
              </a:ext>
            </a:extLst>
          </p:cNvPr>
          <p:cNvCxnSpPr>
            <a:cxnSpLocks/>
          </p:cNvCxnSpPr>
          <p:nvPr/>
        </p:nvCxnSpPr>
        <p:spPr>
          <a:xfrm flipH="1" flipV="1">
            <a:off x="5419222" y="1142471"/>
            <a:ext cx="264005" cy="14998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7076D4C8-CABB-5BBD-B79B-EE0C3FE22F32}"/>
              </a:ext>
            </a:extLst>
          </p:cNvPr>
          <p:cNvCxnSpPr>
            <a:cxnSpLocks/>
            <a:endCxn id="23" idx="6"/>
          </p:cNvCxnSpPr>
          <p:nvPr/>
        </p:nvCxnSpPr>
        <p:spPr>
          <a:xfrm flipH="1" flipV="1">
            <a:off x="4923179" y="1864311"/>
            <a:ext cx="1155602" cy="6911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556B05FC-BB41-00B2-E499-5071D508D8E8}"/>
              </a:ext>
            </a:extLst>
          </p:cNvPr>
          <p:cNvCxnSpPr>
            <a:cxnSpLocks/>
            <a:stCxn id="11" idx="7"/>
            <a:endCxn id="28" idx="4"/>
          </p:cNvCxnSpPr>
          <p:nvPr/>
        </p:nvCxnSpPr>
        <p:spPr>
          <a:xfrm flipV="1">
            <a:off x="6136900" y="1792377"/>
            <a:ext cx="461364" cy="696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4DAE5CFF-859B-E99B-E821-A4335B376454}"/>
              </a:ext>
            </a:extLst>
          </p:cNvPr>
          <p:cNvCxnSpPr>
            <a:cxnSpLocks/>
            <a:stCxn id="11" idx="0"/>
            <a:endCxn id="25" idx="5"/>
          </p:cNvCxnSpPr>
          <p:nvPr/>
        </p:nvCxnSpPr>
        <p:spPr>
          <a:xfrm flipH="1" flipV="1">
            <a:off x="5458566" y="1121402"/>
            <a:ext cx="626046" cy="13464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EF259964-CE1E-CF6F-1EFD-3845A7A76A3C}"/>
              </a:ext>
            </a:extLst>
          </p:cNvPr>
          <p:cNvCxnSpPr>
            <a:cxnSpLocks/>
            <a:stCxn id="23" idx="7"/>
            <a:endCxn id="28" idx="2"/>
          </p:cNvCxnSpPr>
          <p:nvPr/>
        </p:nvCxnSpPr>
        <p:spPr>
          <a:xfrm flipV="1">
            <a:off x="4901521" y="1720443"/>
            <a:ext cx="1622797" cy="930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AEE2C4CB-E073-A0E2-6749-F3FFF560A630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4870488" y="1070537"/>
            <a:ext cx="461844" cy="7529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D029D72E-8812-8C6C-EA0A-50695F23BFD6}"/>
              </a:ext>
            </a:extLst>
          </p:cNvPr>
          <p:cNvCxnSpPr>
            <a:cxnSpLocks/>
            <a:stCxn id="23" idx="7"/>
            <a:endCxn id="29" idx="2"/>
          </p:cNvCxnSpPr>
          <p:nvPr/>
        </p:nvCxnSpPr>
        <p:spPr>
          <a:xfrm flipV="1">
            <a:off x="4901521" y="998603"/>
            <a:ext cx="1178946" cy="8148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49B1BA5F-0394-21F9-E611-930CBBDD9358}"/>
              </a:ext>
            </a:extLst>
          </p:cNvPr>
          <p:cNvCxnSpPr>
            <a:cxnSpLocks/>
            <a:endCxn id="25" idx="6"/>
          </p:cNvCxnSpPr>
          <p:nvPr/>
        </p:nvCxnSpPr>
        <p:spPr>
          <a:xfrm flipH="1" flipV="1">
            <a:off x="5480224" y="1070537"/>
            <a:ext cx="1130648" cy="5754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F3EA4EC5-28DA-0B56-157A-670D0B618281}"/>
              </a:ext>
            </a:extLst>
          </p:cNvPr>
          <p:cNvCxnSpPr>
            <a:cxnSpLocks/>
            <a:endCxn id="29" idx="5"/>
          </p:cNvCxnSpPr>
          <p:nvPr/>
        </p:nvCxnSpPr>
        <p:spPr>
          <a:xfrm flipH="1" flipV="1">
            <a:off x="6206701" y="1049468"/>
            <a:ext cx="398531" cy="6652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215FAAE9-F3A9-C06E-A710-A6C506273304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5413822" y="947738"/>
            <a:ext cx="688303" cy="1645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7450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CBE6F2-7E08-D718-23E7-E1F08DBF3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60E21FC2-BF9B-B0BF-8D53-30C781CBD558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2A3996C5-3638-1B79-08E3-097D5388C251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9A20FE86-3818-C96F-F6FE-1C34B94E07A7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CEFD7550-6D25-14D9-79C7-1ED0DBA4F971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B6716807-F01F-3336-17CD-DB5F1CFA6170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分治法思想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A88015D4-69F9-6326-DFB1-A3C3DD34132B}"/>
              </a:ext>
            </a:extLst>
          </p:cNvPr>
          <p:cNvGrpSpPr/>
          <p:nvPr/>
        </p:nvGrpSpPr>
        <p:grpSpPr>
          <a:xfrm>
            <a:off x="1052187" y="711189"/>
            <a:ext cx="213360" cy="211962"/>
            <a:chOff x="1207666" y="863589"/>
            <a:chExt cx="213360" cy="211962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38DCF943-C25B-4F3D-EAD5-03009AAAF199}"/>
                </a:ext>
              </a:extLst>
            </p:cNvPr>
            <p:cNvSpPr/>
            <p:nvPr/>
          </p:nvSpPr>
          <p:spPr>
            <a:xfrm>
              <a:off x="1207666" y="863589"/>
              <a:ext cx="211963" cy="21196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774DB150-BDE7-7060-3FB0-BEA70696E385}"/>
                </a:ext>
              </a:extLst>
            </p:cNvPr>
            <p:cNvSpPr/>
            <p:nvPr/>
          </p:nvSpPr>
          <p:spPr>
            <a:xfrm>
              <a:off x="1244610" y="899135"/>
              <a:ext cx="176416" cy="17641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A20D649F-B7EF-5CFA-9751-6283204D09FE}"/>
              </a:ext>
            </a:extLst>
          </p:cNvPr>
          <p:cNvSpPr/>
          <p:nvPr/>
        </p:nvSpPr>
        <p:spPr>
          <a:xfrm>
            <a:off x="4600225" y="846951"/>
            <a:ext cx="2449255" cy="57280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D372D85-628F-F05B-69A9-7280124ADFEB}"/>
              </a:ext>
            </a:extLst>
          </p:cNvPr>
          <p:cNvCxnSpPr>
            <a:cxnSpLocks/>
          </p:cNvCxnSpPr>
          <p:nvPr/>
        </p:nvCxnSpPr>
        <p:spPr>
          <a:xfrm>
            <a:off x="5784053" y="457625"/>
            <a:ext cx="7653" cy="62534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21301F0D-D45C-72CD-981E-6839334BA4F5}"/>
              </a:ext>
            </a:extLst>
          </p:cNvPr>
          <p:cNvSpPr/>
          <p:nvPr/>
        </p:nvSpPr>
        <p:spPr>
          <a:xfrm>
            <a:off x="4775287" y="1792377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EF4AE4F-F039-CC5E-8E04-C8DB7D2D22C1}"/>
              </a:ext>
            </a:extLst>
          </p:cNvPr>
          <p:cNvSpPr/>
          <p:nvPr/>
        </p:nvSpPr>
        <p:spPr>
          <a:xfrm>
            <a:off x="5332332" y="998603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2AE0629-9710-1B85-5505-2FB45BB18831}"/>
              </a:ext>
            </a:extLst>
          </p:cNvPr>
          <p:cNvSpPr/>
          <p:nvPr/>
        </p:nvSpPr>
        <p:spPr>
          <a:xfrm>
            <a:off x="5636161" y="2611718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473C844-00E7-013C-EE42-FA5C343824C5}"/>
              </a:ext>
            </a:extLst>
          </p:cNvPr>
          <p:cNvSpPr/>
          <p:nvPr/>
        </p:nvSpPr>
        <p:spPr>
          <a:xfrm>
            <a:off x="6726526" y="3760637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F5A40A10-40F1-97C9-1A0C-2BC089AD2EA0}"/>
              </a:ext>
            </a:extLst>
          </p:cNvPr>
          <p:cNvSpPr/>
          <p:nvPr/>
        </p:nvSpPr>
        <p:spPr>
          <a:xfrm>
            <a:off x="6524318" y="1648509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426C6A8-C134-3901-DAFF-EFB93A507B0A}"/>
              </a:ext>
            </a:extLst>
          </p:cNvPr>
          <p:cNvSpPr/>
          <p:nvPr/>
        </p:nvSpPr>
        <p:spPr>
          <a:xfrm>
            <a:off x="6080467" y="926669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9B26BA77-B961-EC44-6AAD-341D509369B9}"/>
              </a:ext>
            </a:extLst>
          </p:cNvPr>
          <p:cNvSpPr/>
          <p:nvPr/>
        </p:nvSpPr>
        <p:spPr>
          <a:xfrm>
            <a:off x="4592573" y="6266705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E638190-DD9A-2982-2A93-FB38BED1442A}"/>
              </a:ext>
            </a:extLst>
          </p:cNvPr>
          <p:cNvSpPr/>
          <p:nvPr/>
        </p:nvSpPr>
        <p:spPr>
          <a:xfrm>
            <a:off x="5569869" y="4175099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88728BD-DCD0-273E-73FE-5AC36853F875}"/>
              </a:ext>
            </a:extLst>
          </p:cNvPr>
          <p:cNvSpPr/>
          <p:nvPr/>
        </p:nvSpPr>
        <p:spPr>
          <a:xfrm>
            <a:off x="5932575" y="5227119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4141CC35-B9AC-B23E-7F49-78DB538FB407}"/>
              </a:ext>
            </a:extLst>
          </p:cNvPr>
          <p:cNvSpPr/>
          <p:nvPr/>
        </p:nvSpPr>
        <p:spPr>
          <a:xfrm>
            <a:off x="6010666" y="2467850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937EEB7-A3CA-D3F1-EFB6-27BAEF5FA3EC}"/>
              </a:ext>
            </a:extLst>
          </p:cNvPr>
          <p:cNvSpPr/>
          <p:nvPr/>
        </p:nvSpPr>
        <p:spPr>
          <a:xfrm>
            <a:off x="4740465" y="3285132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631F0BE-E1B0-CB3F-9A45-512E39A732F2}"/>
              </a:ext>
            </a:extLst>
          </p:cNvPr>
          <p:cNvSpPr/>
          <p:nvPr/>
        </p:nvSpPr>
        <p:spPr>
          <a:xfrm>
            <a:off x="6909240" y="6122837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79242FFC-800E-F7BB-341D-C8B0D84FB6C6}"/>
              </a:ext>
            </a:extLst>
          </p:cNvPr>
          <p:cNvSpPr/>
          <p:nvPr/>
        </p:nvSpPr>
        <p:spPr>
          <a:xfrm>
            <a:off x="4596728" y="5083251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AE8BE988-1449-DBA3-B000-446AED4D9102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5703139" y="2539784"/>
            <a:ext cx="307527" cy="1636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5A4AD727-4E40-B478-528E-3098A19B3A48}"/>
                  </a:ext>
                </a:extLst>
              </p:cNvPr>
              <p:cNvSpPr txBox="1"/>
              <p:nvPr/>
            </p:nvSpPr>
            <p:spPr>
              <a:xfrm>
                <a:off x="2420140" y="4318967"/>
                <a:ext cx="9223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1800" b="1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𝒅</m:t>
                          </m:r>
                        </m:e>
                        <m:sub>
                          <m:r>
                            <a:rPr lang="en-US" altLang="zh-CN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5A4AD727-4E40-B478-528E-3098A19B3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140" y="4318967"/>
                <a:ext cx="92231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5CA4A993-A085-2D85-1AFA-AD38C0C269F4}"/>
                  </a:ext>
                </a:extLst>
              </p:cNvPr>
              <p:cNvSpPr txBox="1"/>
              <p:nvPr/>
            </p:nvSpPr>
            <p:spPr>
              <a:xfrm>
                <a:off x="8536224" y="4406542"/>
                <a:ext cx="7314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𝒅</m:t>
                          </m:r>
                        </m:e>
                        <m:sub>
                          <m:r>
                            <a:rPr lang="en-US" altLang="zh-CN" sz="18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5CA4A993-A085-2D85-1AFA-AD38C0C26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6224" y="4406542"/>
                <a:ext cx="73140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文本框 61">
            <a:extLst>
              <a:ext uri="{FF2B5EF4-FFF2-40B4-BE49-F238E27FC236}">
                <a16:creationId xmlns:a16="http://schemas.microsoft.com/office/drawing/2014/main" id="{5FCD28B2-9892-B8C5-3306-741FB4463F6E}"/>
              </a:ext>
            </a:extLst>
          </p:cNvPr>
          <p:cNvSpPr txBox="1"/>
          <p:nvPr/>
        </p:nvSpPr>
        <p:spPr>
          <a:xfrm>
            <a:off x="8085416" y="2452679"/>
            <a:ext cx="30437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由此，找到中间条带的最近点对后再与左右的相对比，取最短的点对，合并完成</a:t>
            </a:r>
          </a:p>
        </p:txBody>
      </p:sp>
    </p:spTree>
    <p:extLst>
      <p:ext uri="{BB962C8B-B14F-4D97-AF65-F5344CB8AC3E}">
        <p14:creationId xmlns:p14="http://schemas.microsoft.com/office/powerpoint/2010/main" val="815277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5BB682-2088-5802-C28E-A42DD5E4F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680E1DE5-5870-C08E-8FC7-3854B98287AF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050485EA-61FA-9CBF-6BB2-237451859814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F217CDE6-50DC-E96C-E0F9-F5DF9220FC61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986920AB-1FCD-6D3B-4FFC-948918D5C310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FD2B9D4F-476E-DD0F-793F-5597F0F079F2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分治法思想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A2773EC3-9E2E-0DE5-0CAD-789853EACAE4}"/>
              </a:ext>
            </a:extLst>
          </p:cNvPr>
          <p:cNvGrpSpPr/>
          <p:nvPr/>
        </p:nvGrpSpPr>
        <p:grpSpPr>
          <a:xfrm>
            <a:off x="1052187" y="711189"/>
            <a:ext cx="213360" cy="211962"/>
            <a:chOff x="1207666" y="863589"/>
            <a:chExt cx="213360" cy="211962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202755EB-DD5F-4E98-D7B5-C12050AB250D}"/>
                </a:ext>
              </a:extLst>
            </p:cNvPr>
            <p:cNvSpPr/>
            <p:nvPr/>
          </p:nvSpPr>
          <p:spPr>
            <a:xfrm>
              <a:off x="1207666" y="863589"/>
              <a:ext cx="211963" cy="21196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E1F84C44-2284-C0B7-9250-F5393E49D6A0}"/>
                </a:ext>
              </a:extLst>
            </p:cNvPr>
            <p:cNvSpPr/>
            <p:nvPr/>
          </p:nvSpPr>
          <p:spPr>
            <a:xfrm>
              <a:off x="1244610" y="899135"/>
              <a:ext cx="176416" cy="17641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>
            <a:extLst>
              <a:ext uri="{FF2B5EF4-FFF2-40B4-BE49-F238E27FC236}">
                <a16:creationId xmlns:a16="http://schemas.microsoft.com/office/drawing/2014/main" id="{C0043927-5776-4A8B-84BC-C59DEBD7B856}"/>
              </a:ext>
            </a:extLst>
          </p:cNvPr>
          <p:cNvSpPr/>
          <p:nvPr/>
        </p:nvSpPr>
        <p:spPr>
          <a:xfrm>
            <a:off x="9098553" y="4180850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4A8818A-3365-2F03-1B98-BC2D6BBAF39E}"/>
              </a:ext>
            </a:extLst>
          </p:cNvPr>
          <p:cNvSpPr/>
          <p:nvPr/>
        </p:nvSpPr>
        <p:spPr>
          <a:xfrm>
            <a:off x="10438555" y="3141264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5EEDA1D-61D6-42D3-3AAC-FBA6547AD185}"/>
              </a:ext>
            </a:extLst>
          </p:cNvPr>
          <p:cNvSpPr/>
          <p:nvPr/>
        </p:nvSpPr>
        <p:spPr>
          <a:xfrm>
            <a:off x="9102708" y="2997396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354E7E8-5A3D-D029-0CE3-27DDDDD56E6C}"/>
              </a:ext>
            </a:extLst>
          </p:cNvPr>
          <p:cNvSpPr/>
          <p:nvPr/>
        </p:nvSpPr>
        <p:spPr>
          <a:xfrm>
            <a:off x="6519429" y="3357066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19A2C29-60AE-DD84-DA9F-5D1771430536}"/>
              </a:ext>
            </a:extLst>
          </p:cNvPr>
          <p:cNvSpPr/>
          <p:nvPr/>
        </p:nvSpPr>
        <p:spPr>
          <a:xfrm>
            <a:off x="5183582" y="3213198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1552595-D507-3892-D1C4-8E8370011CA9}"/>
              </a:ext>
            </a:extLst>
          </p:cNvPr>
          <p:cNvSpPr/>
          <p:nvPr/>
        </p:nvSpPr>
        <p:spPr>
          <a:xfrm>
            <a:off x="1753445" y="3429000"/>
            <a:ext cx="147892" cy="14386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F7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352F33-148C-70BB-8E64-FE65FF88E716}"/>
              </a:ext>
            </a:extLst>
          </p:cNvPr>
          <p:cNvSpPr txBox="1"/>
          <p:nvPr/>
        </p:nvSpPr>
        <p:spPr>
          <a:xfrm>
            <a:off x="9177290" y="5547815"/>
            <a:ext cx="1279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n=3</a:t>
            </a:r>
            <a:r>
              <a:rPr lang="zh-CN" altLang="en-US" dirty="0"/>
              <a:t>时蛮力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98C3B39-981C-A7D9-69BC-4C545EE49299}"/>
              </a:ext>
            </a:extLst>
          </p:cNvPr>
          <p:cNvSpPr txBox="1"/>
          <p:nvPr/>
        </p:nvSpPr>
        <p:spPr>
          <a:xfrm>
            <a:off x="5040935" y="5547815"/>
            <a:ext cx="1741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n=2</a:t>
            </a:r>
            <a:r>
              <a:rPr lang="zh-CN" altLang="en-US" dirty="0"/>
              <a:t>时直接计算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9FF30DC-C7DF-74E1-D901-E82C0A7D9491}"/>
              </a:ext>
            </a:extLst>
          </p:cNvPr>
          <p:cNvSpPr txBox="1"/>
          <p:nvPr/>
        </p:nvSpPr>
        <p:spPr>
          <a:xfrm>
            <a:off x="799913" y="5547815"/>
            <a:ext cx="2202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n=1</a:t>
            </a:r>
            <a:r>
              <a:rPr lang="zh-CN" altLang="en-US" dirty="0"/>
              <a:t>时距离取无穷大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C9D5216-FDD1-6646-AA3A-17918B314299}"/>
              </a:ext>
            </a:extLst>
          </p:cNvPr>
          <p:cNvSpPr txBox="1"/>
          <p:nvPr/>
        </p:nvSpPr>
        <p:spPr>
          <a:xfrm>
            <a:off x="1901336" y="1820426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分到最小规模的子问题的中止</a:t>
            </a:r>
          </a:p>
        </p:txBody>
      </p:sp>
    </p:spTree>
    <p:extLst>
      <p:ext uri="{BB962C8B-B14F-4D97-AF65-F5344CB8AC3E}">
        <p14:creationId xmlns:p14="http://schemas.microsoft.com/office/powerpoint/2010/main" val="2063488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845AF61D-1995-4D14-AD90-B7BC64431F7B}"/>
              </a:ext>
            </a:extLst>
          </p:cNvPr>
          <p:cNvGrpSpPr/>
          <p:nvPr/>
        </p:nvGrpSpPr>
        <p:grpSpPr>
          <a:xfrm>
            <a:off x="1052187" y="711189"/>
            <a:ext cx="213360" cy="211962"/>
            <a:chOff x="1207666" y="863589"/>
            <a:chExt cx="213360" cy="211962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CB0BEBBF-FEFC-4837-9DAC-5567707F1154}"/>
                </a:ext>
              </a:extLst>
            </p:cNvPr>
            <p:cNvSpPr/>
            <p:nvPr/>
          </p:nvSpPr>
          <p:spPr>
            <a:xfrm>
              <a:off x="1207666" y="863589"/>
              <a:ext cx="211963" cy="21196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54F765AD-0DC1-4AB2-BC0D-76BE094E4646}"/>
                </a:ext>
              </a:extLst>
            </p:cNvPr>
            <p:cNvSpPr/>
            <p:nvPr/>
          </p:nvSpPr>
          <p:spPr>
            <a:xfrm>
              <a:off x="1244610" y="899135"/>
              <a:ext cx="176416" cy="17641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2" name="PA-组合 81">
            <a:extLst>
              <a:ext uri="{FF2B5EF4-FFF2-40B4-BE49-F238E27FC236}">
                <a16:creationId xmlns:a16="http://schemas.microsoft.com/office/drawing/2014/main" id="{C40EAD5C-AE5A-499A-ABC6-29823368C222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55266" y="634888"/>
            <a:ext cx="2697584" cy="400110"/>
            <a:chOff x="1148080" y="833460"/>
            <a:chExt cx="2292274" cy="400110"/>
          </a:xfrm>
        </p:grpSpPr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06D3DE2D-618D-44B9-AC29-439DA15A6E00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85" name="PA-圆角矩形 84">
                <a:extLst>
                  <a:ext uri="{FF2B5EF4-FFF2-40B4-BE49-F238E27FC236}">
                    <a16:creationId xmlns:a16="http://schemas.microsoft.com/office/drawing/2014/main" id="{DDA0D906-07D5-4B7F-8340-66B3FCF0E6C4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PA-圆角矩形 85">
                <a:extLst>
                  <a:ext uri="{FF2B5EF4-FFF2-40B4-BE49-F238E27FC236}">
                    <a16:creationId xmlns:a16="http://schemas.microsoft.com/office/drawing/2014/main" id="{82ED6D7D-F7AC-4F6C-8D1B-2D62CE48B870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4" name="PA-文本框 83">
              <a:extLst>
                <a:ext uri="{FF2B5EF4-FFF2-40B4-BE49-F238E27FC236}">
                  <a16:creationId xmlns:a16="http://schemas.microsoft.com/office/drawing/2014/main" id="{65FA5167-C6F4-44DF-B24E-011CC1FE3F1E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分治法效率</a:t>
              </a:r>
            </a:p>
          </p:txBody>
        </p:sp>
      </p:grpSp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8272CC5B-F611-43F0-A4A0-370105C94E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5695598"/>
              </p:ext>
            </p:extLst>
          </p:nvPr>
        </p:nvGraphicFramePr>
        <p:xfrm>
          <a:off x="2198914" y="2683327"/>
          <a:ext cx="7451272" cy="38064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B297F7C-B9E0-7D0A-4243-5CB8750E03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056615"/>
              </p:ext>
            </p:extLst>
          </p:nvPr>
        </p:nvGraphicFramePr>
        <p:xfrm>
          <a:off x="1808843" y="1374320"/>
          <a:ext cx="8102599" cy="1047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7212">
                  <a:extLst>
                    <a:ext uri="{9D8B030D-6E8A-4147-A177-3AD203B41FA5}">
                      <a16:colId xmlns:a16="http://schemas.microsoft.com/office/drawing/2014/main" val="996540419"/>
                    </a:ext>
                  </a:extLst>
                </a:gridCol>
                <a:gridCol w="1105513">
                  <a:extLst>
                    <a:ext uri="{9D8B030D-6E8A-4147-A177-3AD203B41FA5}">
                      <a16:colId xmlns:a16="http://schemas.microsoft.com/office/drawing/2014/main" val="3731548242"/>
                    </a:ext>
                  </a:extLst>
                </a:gridCol>
                <a:gridCol w="687575">
                  <a:extLst>
                    <a:ext uri="{9D8B030D-6E8A-4147-A177-3AD203B41FA5}">
                      <a16:colId xmlns:a16="http://schemas.microsoft.com/office/drawing/2014/main" val="2924616073"/>
                    </a:ext>
                  </a:extLst>
                </a:gridCol>
                <a:gridCol w="687575">
                  <a:extLst>
                    <a:ext uri="{9D8B030D-6E8A-4147-A177-3AD203B41FA5}">
                      <a16:colId xmlns:a16="http://schemas.microsoft.com/office/drawing/2014/main" val="2276854808"/>
                    </a:ext>
                  </a:extLst>
                </a:gridCol>
                <a:gridCol w="957212">
                  <a:extLst>
                    <a:ext uri="{9D8B030D-6E8A-4147-A177-3AD203B41FA5}">
                      <a16:colId xmlns:a16="http://schemas.microsoft.com/office/drawing/2014/main" val="3719530895"/>
                    </a:ext>
                  </a:extLst>
                </a:gridCol>
                <a:gridCol w="1105513">
                  <a:extLst>
                    <a:ext uri="{9D8B030D-6E8A-4147-A177-3AD203B41FA5}">
                      <a16:colId xmlns:a16="http://schemas.microsoft.com/office/drawing/2014/main" val="3130699564"/>
                    </a:ext>
                  </a:extLst>
                </a:gridCol>
                <a:gridCol w="687575">
                  <a:extLst>
                    <a:ext uri="{9D8B030D-6E8A-4147-A177-3AD203B41FA5}">
                      <a16:colId xmlns:a16="http://schemas.microsoft.com/office/drawing/2014/main" val="2496548712"/>
                    </a:ext>
                  </a:extLst>
                </a:gridCol>
                <a:gridCol w="957212">
                  <a:extLst>
                    <a:ext uri="{9D8B030D-6E8A-4147-A177-3AD203B41FA5}">
                      <a16:colId xmlns:a16="http://schemas.microsoft.com/office/drawing/2014/main" val="3616391665"/>
                    </a:ext>
                  </a:extLst>
                </a:gridCol>
                <a:gridCol w="957212">
                  <a:extLst>
                    <a:ext uri="{9D8B030D-6E8A-4147-A177-3AD203B41FA5}">
                      <a16:colId xmlns:a16="http://schemas.microsoft.com/office/drawing/2014/main" val="604517579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</a:rPr>
                        <a:t>规模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100000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200000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300000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400000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500000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650000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800000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1000000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94884423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</a:rPr>
                        <a:t>理论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0.158417649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0.33591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0.5206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0.70997214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0.902817431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1.19713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1.49624582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1.90101179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285652505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</a:rPr>
                        <a:t>平均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0.154796421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0.33591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0.53864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0.71019453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0.850508941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1.30664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</a:rPr>
                        <a:t>1.50411273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</a:rPr>
                        <a:t>1.81536842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14914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3982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" presetID="58" presetClass="path" presetSubtype="0" accel="100000" fill="hold" nodeType="withEffect" p14:presetBounceEnd="21000">
                                      <p:stCondLst>
                                        <p:cond delay="1300"/>
                                      </p:stCondLst>
                                      <p:childTnLst>
                                        <p:animMotion origin="layout" path="M -2.08333E-6 -0.00023 C 0.16537 -0.22824 0.40808 -0.00324 0.41276 0.09699 " pathEditMode="relative" rAng="0" ptsTypes="AA" p14:bounceEnd="21000">
                                          <p:cBhvr>
                                            <p:cTn id="8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638" y="-6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exit" presetSubtype="0" fill="hold" nodeType="withEffect">
                                      <p:stCondLst>
                                        <p:cond delay="23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nodeType="withEffect" p14:presetBounceEnd="60000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3" dur="5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4" dur="5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53" presetClass="entr" presetSubtype="16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53" presetClass="entr" presetSubtype="16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53" presetClass="entr" presetSubtype="16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53" presetClass="entr" presetSubtype="16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4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53" presetClass="entr" presetSubtype="16" fill="hold" grpId="0" nodeType="withEffect">
                                      <p:stCondLst>
                                        <p:cond delay="16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53" presetClass="entr" presetSubtype="16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4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53" presetClass="entr" presetSubtype="16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53" presetClass="entr" presetSubtype="16" fill="hold" grpId="0" nodeType="withEffect">
                                      <p:stCondLst>
                                        <p:cond delay="22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53" presetClass="entr" presetSubtype="16" fill="hold" grpId="0" nodeType="withEffect">
                                      <p:stCondLst>
                                        <p:cond delay="24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53" presetClass="entr" presetSubtype="16" fill="hold" grpId="0" nodeType="withEffect">
                                      <p:stCondLst>
                                        <p:cond delay="260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2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3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4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5" presetID="53" presetClass="entr" presetSubtype="16" fill="hold" grpId="0" nodeType="withEffect">
                                      <p:stCondLst>
                                        <p:cond delay="290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4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4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9" dur="4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53" presetClass="entr" presetSubtype="16" fill="hold" grpId="0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2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3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4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53" presetClass="entr" presetSubtype="16" fill="hold" grpId="0" nodeType="withEffect">
                                      <p:stCondLst>
                                        <p:cond delay="320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7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8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9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0" presetID="53" presetClass="entr" presetSubtype="16" fill="hold" grpId="0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2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3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4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53" presetClass="entr" presetSubtype="16" fill="hold" grpId="0" nodeType="withEffect">
                                      <p:stCondLst>
                                        <p:cond delay="360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9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53" presetClass="entr" presetSubtype="16" fill="hold" grpId="0" nodeType="withEffect">
                                      <p:stCondLst>
                                        <p:cond delay="380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2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3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4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5" presetID="53" presetClass="entr" presetSubtype="16" fill="hold" grpId="0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7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8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53" presetClass="entr" presetSubtype="16" fill="hold" grpId="0" nodeType="withEffect">
                                      <p:stCondLst>
                                        <p:cond delay="420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3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4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5" presetID="53" presetClass="entr" presetSubtype="16" fill="hold" grpId="0" nodeType="withEffect">
                                      <p:stCondLst>
                                        <p:cond delay="440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7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9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0" presetID="53" presetClass="entr" presetSubtype="16" fill="hold" grpId="0" nodeType="withEffect">
                                      <p:stCondLst>
                                        <p:cond delay="4600"/>
                                      </p:stCondLst>
                                      <p:childTnLst>
                                        <p:set>
                                          <p:cBhvr>
                                            <p:cTn id="1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2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3" dur="5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53" presetClass="entr" presetSubtype="16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7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8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9" dur="5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0" presetID="53" presetClass="entr" presetSubtype="16" fill="hold" grpId="0" nodeType="withEffect">
                                      <p:stCondLst>
                                        <p:cond delay="500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2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3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4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5" presetID="22" presetClass="entr" presetSubtype="2" fill="hold" nodeType="withEffect">
                                      <p:stCondLst>
                                        <p:cond delay="2100"/>
                                      </p:stCondLst>
                                      <p:childTnLs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37" dur="75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8" presetID="22" presetClass="entr" presetSubtype="2" fill="hold" grpId="0" nodeType="withEffect">
                                      <p:stCondLst>
                                        <p:cond delay="2300"/>
                                      </p:stCondLst>
                                      <p:childTnLst>
                                        <p:set>
                                          <p:cBhvr>
                                            <p:cTn id="1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40" dur="750"/>
                                            <p:tgtEl>
                                              <p:spTgt spid="6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1" presetID="22" presetClass="entr" presetSubtype="2" fill="hold" nodeType="withEffect">
                                      <p:stCondLst>
                                        <p:cond delay="510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43" dur="75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4" presetID="22" presetClass="entr" presetSubtype="2" fill="hold" grpId="0" nodeType="withEffect">
                                      <p:stCondLst>
                                        <p:cond delay="5300"/>
                                      </p:stCondLst>
                                      <p:childTnLst>
                                        <p:set>
                                          <p:cBhvr>
                                            <p:cTn id="1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46" dur="75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7" presetID="22" presetClass="entr" presetSubtype="8" fill="hold" nodeType="withEffect">
                                      <p:stCondLst>
                                        <p:cond delay="2800"/>
                                      </p:stCondLst>
                                      <p:childTnLst>
                                        <p:set>
                                          <p:cBhvr>
                                            <p:cTn id="1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9" dur="7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0" presetID="22" presetClass="entr" presetSubtype="8" fill="hold" grpId="0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1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2" dur="75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3" presetID="22" presetClass="entr" presetSubtype="8" fill="hold" grpId="0" nodeType="withEffect">
                                      <p:stCondLst>
                                        <p:cond delay="6000"/>
                                      </p:stCondLst>
                                      <p:childTnLst>
                                        <p:set>
                                          <p:cBhvr>
                                            <p:cTn id="1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5" dur="75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6" presetID="22" presetClass="entr" presetSubtype="8" fill="hold" nodeType="withEffect">
                                      <p:stCondLst>
                                        <p:cond delay="5800"/>
                                      </p:stCondLst>
                                      <p:childTnLs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8" dur="75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9" presetID="1" presetClass="entr" presetSubtype="0" fill="hold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1" presetID="58" presetClass="path" presetSubtype="0" accel="100000" fill="hold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animMotion origin="layout" path="M -2.08333E-6 -0.00023 C 0.16537 -0.22824 0.40808 -0.00324 0.41276 0.09699 " pathEditMode="relative" rAng="0" ptsTypes="AA">
                                          <p:cBhvr>
                                            <p:cTn id="162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638" y="-69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63" presetID="1" presetClass="exit" presetSubtype="0" fill="hold" nodeType="withEffect">
                                      <p:stCondLst>
                                        <p:cond delay="2300"/>
                                      </p:stCondLst>
                                      <p:childTnLst>
                                        <p:set>
                                          <p:cBhvr>
                                            <p:cTn id="1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5" presetID="1" presetClass="entr" presetSubtype="0" fill="hold" nodeType="withEffect">
                                      <p:stCondLst>
                                        <p:cond delay="2200"/>
                                      </p:stCondLst>
                                      <p:childTnLs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7" presetID="58" presetClass="path" presetSubtype="0" accel="100000" fill="hold" nodeType="withEffect">
                                      <p:stCondLst>
                                        <p:cond delay="2300"/>
                                      </p:stCondLst>
                                      <p:childTnLst>
                                        <p:animMotion origin="layout" path="M 0.00039 -0.00093 C 0.07097 -0.15232 0.12305 -0.08287 0.1625 -0.0044 " pathEditMode="relative" rAng="0" ptsTypes="AA">
                                          <p:cBhvr>
                                            <p:cTn id="168" dur="75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099" y="-44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69" presetID="1" presetClass="exit" presetSubtype="0" fill="hold" nodeType="withEffect">
                                      <p:stCondLst>
                                        <p:cond delay="3200"/>
                                      </p:stCondLst>
                                      <p:childTnLst>
                                        <p:set>
                                          <p:cBhvr>
                                            <p:cTn id="1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1" presetID="1" presetClass="entr" presetSubtype="0" fill="hold" nodeType="withEffect">
                                      <p:stCondLst>
                                        <p:cond delay="3200"/>
                                      </p:stCondLst>
                                      <p:childTnLs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3" presetID="58" presetClass="path" presetSubtype="0" accel="100000" fill="hold" nodeType="withEffect">
                                      <p:stCondLst>
                                        <p:cond delay="3300"/>
                                      </p:stCondLst>
                                      <p:childTnLst>
                                        <p:animMotion origin="layout" path="M 4.16667E-7 -4.07407E-6 C -0.17214 -0.39189 -0.36992 0.55811 -0.3651 0.65949 " pathEditMode="relative" rAng="0" ptsTypes="AA">
                                          <p:cBhvr>
                                            <p:cTn id="174" dur="2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8268" y="2824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75" presetID="1" presetClass="exit" presetSubtype="0" fill="hold" nodeType="withEffect">
                                      <p:stCondLst>
                                        <p:cond delay="5300"/>
                                      </p:stCondLst>
                                      <p:childTnLst>
                                        <p:set>
                                          <p:cBhvr>
                                            <p:cTn id="1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7" presetID="1" presetClass="entr" presetSubtype="0" fill="hold" nodeType="withEffect">
                                      <p:stCondLst>
                                        <p:cond delay="5200"/>
                                      </p:stCondLst>
                                      <p:childTnLs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9" presetID="58" presetClass="path" presetSubtype="0" accel="66667" fill="hold" nodeType="withEffect">
                                      <p:stCondLst>
                                        <p:cond delay="5300"/>
                                      </p:stCondLst>
                                      <p:childTnLst>
                                        <p:animMotion origin="layout" path="M 0.00078 -0.00046 C 0.08516 -0.19074 0.17826 -0.11828 0.18868 0.05973 " pathEditMode="relative" rAng="0" ptsTypes="AA">
                                          <p:cBhvr>
                                            <p:cTn id="180" dur="75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388" y="-26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1" presetID="1" presetClass="exit" presetSubtype="0" fill="hold" nodeType="withEffect">
                                      <p:stCondLst>
                                        <p:cond delay="6000"/>
                                      </p:stCondLst>
                                      <p:childTnLst>
                                        <p:set>
                                          <p:cBhvr>
                                            <p:cTn id="1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3" presetID="1" presetClass="entr" presetSubtype="0" fill="hold" nodeType="withEffect">
                                      <p:stCondLst>
                                        <p:cond delay="6000"/>
                                      </p:stCondLst>
                                      <p:childTnLs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5" presetID="58" presetClass="path" presetSubtype="0" accel="100000" fill="hold" nodeType="withEffect">
                                      <p:stCondLst>
                                        <p:cond delay="6050"/>
                                      </p:stCondLst>
                                      <p:childTnLst>
                                        <p:animMotion origin="layout" path="M 0.00169 -0.00208 C -0.03789 -0.20347 -0.13933 -0.02245 -0.18308 0.11922 " pathEditMode="relative" rAng="0" ptsTypes="AA">
                                          <p:cBhvr>
                                            <p:cTn id="186" dur="75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9245" y="157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7" presetID="1" presetClass="exit" presetSubtype="0" fill="hold" nodeType="withEffect">
                                      <p:stCondLst>
                                        <p:cond delay="6700"/>
                                      </p:stCondLst>
                                      <p:childTnLst>
                                        <p:set>
                                          <p:cBhvr>
                                            <p:cTn id="1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9" presetID="2" presetClass="entr" presetSubtype="1" fill="hold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1" dur="5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2" dur="5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4" grpId="0" animBg="1"/>
          <p:bldP spid="35" grpId="0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1" grpId="0" animBg="1"/>
          <p:bldP spid="4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54" grpId="0" animBg="1"/>
          <p:bldP spid="55" grpId="0" animBg="1"/>
          <p:bldP spid="59" grpId="0" animBg="1"/>
          <p:bldP spid="61" grpId="0"/>
          <p:bldP spid="66" grpId="0"/>
          <p:bldP spid="68" grpId="0"/>
          <p:bldP spid="79" grpId="0" animBg="1"/>
          <p:bldP spid="80" grpId="0" animBg="1"/>
          <p:bldP spid="81" grpId="0" animBg="1"/>
        </p:bldLst>
      </p:timing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-圆角矩形 8">
            <a:extLst>
              <a:ext uri="{FF2B5EF4-FFF2-40B4-BE49-F238E27FC236}">
                <a16:creationId xmlns:a16="http://schemas.microsoft.com/office/drawing/2014/main" id="{6E6F20AA-C6E8-44BE-8D19-0D3C9BDEE11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668294" y="3129525"/>
            <a:ext cx="1178276" cy="322625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PA-标题 1">
            <a:extLst>
              <a:ext uri="{FF2B5EF4-FFF2-40B4-BE49-F238E27FC236}">
                <a16:creationId xmlns:a16="http://schemas.microsoft.com/office/drawing/2014/main" id="{4CC0907A-1A62-48F4-9B55-9BB7DDD59158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711329" y="2253764"/>
            <a:ext cx="1225168" cy="789201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3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</a:p>
        </p:txBody>
      </p:sp>
      <p:grpSp>
        <p:nvGrpSpPr>
          <p:cNvPr id="2" name="PA-组合 1">
            <a:extLst>
              <a:ext uri="{FF2B5EF4-FFF2-40B4-BE49-F238E27FC236}">
                <a16:creationId xmlns:a16="http://schemas.microsoft.com/office/drawing/2014/main" id="{FE316119-C1FB-49B5-BFA0-52F96C18D6D6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16515" y="388374"/>
            <a:ext cx="2255157" cy="2037622"/>
            <a:chOff x="616515" y="388374"/>
            <a:chExt cx="2255157" cy="2037622"/>
          </a:xfrm>
        </p:grpSpPr>
        <p:sp>
          <p:nvSpPr>
            <p:cNvPr id="16" name="PA-圆角矩形 15">
              <a:extLst>
                <a:ext uri="{FF2B5EF4-FFF2-40B4-BE49-F238E27FC236}">
                  <a16:creationId xmlns:a16="http://schemas.microsoft.com/office/drawing/2014/main" id="{C7CD84A2-40A3-401F-A9DA-409B4ABF871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PA-圆角矩形 16">
              <a:extLst>
                <a:ext uri="{FF2B5EF4-FFF2-40B4-BE49-F238E27FC236}">
                  <a16:creationId xmlns:a16="http://schemas.microsoft.com/office/drawing/2014/main" id="{CE925F5F-607C-407D-A2D0-44942966DD8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PA-圆角矩形 18">
              <a:extLst>
                <a:ext uri="{FF2B5EF4-FFF2-40B4-BE49-F238E27FC236}">
                  <a16:creationId xmlns:a16="http://schemas.microsoft.com/office/drawing/2014/main" id="{38A43B7E-6714-4239-A6C0-A20C9EB6EFE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PA-圆角矩形 22">
              <a:extLst>
                <a:ext uri="{FF2B5EF4-FFF2-40B4-BE49-F238E27FC236}">
                  <a16:creationId xmlns:a16="http://schemas.microsoft.com/office/drawing/2014/main" id="{34B063C5-342C-4688-959C-C9D3F304138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PA-标题 1">
            <a:extLst>
              <a:ext uri="{FF2B5EF4-FFF2-40B4-BE49-F238E27FC236}">
                <a16:creationId xmlns:a16="http://schemas.microsoft.com/office/drawing/2014/main" id="{4C4B8C7B-8E26-4887-A7AE-5F2964DE728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834826" y="3692895"/>
            <a:ext cx="2565331" cy="590309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方法比较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PA-组合 1">
            <a:extLst>
              <a:ext uri="{FF2B5EF4-FFF2-40B4-BE49-F238E27FC236}">
                <a16:creationId xmlns:a16="http://schemas.microsoft.com/office/drawing/2014/main" id="{45381ABC-1EC4-4B4F-A10C-E3936D973F2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16515" y="391920"/>
            <a:ext cx="2255157" cy="2037622"/>
            <a:chOff x="616515" y="388374"/>
            <a:chExt cx="2255157" cy="2037622"/>
          </a:xfrm>
        </p:grpSpPr>
        <p:sp>
          <p:nvSpPr>
            <p:cNvPr id="24" name="PA-圆角矩形 15">
              <a:extLst>
                <a:ext uri="{FF2B5EF4-FFF2-40B4-BE49-F238E27FC236}">
                  <a16:creationId xmlns:a16="http://schemas.microsoft.com/office/drawing/2014/main" id="{6C04B470-BFEF-4F6A-A946-471B5D355C1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PA-圆角矩形 16">
              <a:extLst>
                <a:ext uri="{FF2B5EF4-FFF2-40B4-BE49-F238E27FC236}">
                  <a16:creationId xmlns:a16="http://schemas.microsoft.com/office/drawing/2014/main" id="{6C0F716D-B261-4372-8C3B-59CA2EBD6F6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PA-圆角矩形 18">
              <a:extLst>
                <a:ext uri="{FF2B5EF4-FFF2-40B4-BE49-F238E27FC236}">
                  <a16:creationId xmlns:a16="http://schemas.microsoft.com/office/drawing/2014/main" id="{1C95B621-18DC-4B25-BF35-BBFB14FA147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PA-圆角矩形 22">
              <a:extLst>
                <a:ext uri="{FF2B5EF4-FFF2-40B4-BE49-F238E27FC236}">
                  <a16:creationId xmlns:a16="http://schemas.microsoft.com/office/drawing/2014/main" id="{37E85A14-7BB4-4957-86CD-3FC71F1F179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PA-组合 2">
            <a:extLst>
              <a:ext uri="{FF2B5EF4-FFF2-40B4-BE49-F238E27FC236}">
                <a16:creationId xmlns:a16="http://schemas.microsoft.com/office/drawing/2014/main" id="{03B04EBE-E721-4505-A5C8-558D26B631D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29" name="PA-圆角矩形 20">
              <a:extLst>
                <a:ext uri="{FF2B5EF4-FFF2-40B4-BE49-F238E27FC236}">
                  <a16:creationId xmlns:a16="http://schemas.microsoft.com/office/drawing/2014/main" id="{9343CEE2-BF0F-480A-8A51-D0081B2B9E5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PA-圆角矩形 21">
              <a:extLst>
                <a:ext uri="{FF2B5EF4-FFF2-40B4-BE49-F238E27FC236}">
                  <a16:creationId xmlns:a16="http://schemas.microsoft.com/office/drawing/2014/main" id="{2B1389B9-66FC-45FA-8950-863C406B87B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PA-组合 2">
            <a:extLst>
              <a:ext uri="{FF2B5EF4-FFF2-40B4-BE49-F238E27FC236}">
                <a16:creationId xmlns:a16="http://schemas.microsoft.com/office/drawing/2014/main" id="{88B89166-D218-4AE5-8CA9-5E49DAABB1F4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32" name="PA-圆角矩形 20">
              <a:extLst>
                <a:ext uri="{FF2B5EF4-FFF2-40B4-BE49-F238E27FC236}">
                  <a16:creationId xmlns:a16="http://schemas.microsoft.com/office/drawing/2014/main" id="{28A80E83-1203-4740-B296-4AD1E3CE08F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PA-圆角矩形 21">
              <a:extLst>
                <a:ext uri="{FF2B5EF4-FFF2-40B4-BE49-F238E27FC236}">
                  <a16:creationId xmlns:a16="http://schemas.microsoft.com/office/drawing/2014/main" id="{15ED84CC-1617-4DF3-B51B-3A8B64AEAA2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PA-圆角矩形 9">
            <a:extLst>
              <a:ext uri="{FF2B5EF4-FFF2-40B4-BE49-F238E27FC236}">
                <a16:creationId xmlns:a16="http://schemas.microsoft.com/office/drawing/2014/main" id="{23F784A1-6035-4AB1-9021-4A364ADDD4D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303588" y="2822003"/>
            <a:ext cx="497667" cy="497668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21394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 p14:bounceEnd="28000"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 p14:presetBounceEnd="47000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7000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7000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4" accel="40000" fill="hold" nodeType="withEffect">
                                      <p:stCondLst>
                                        <p:cond delay="26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5DB8AF-9207-8CC3-02AE-4FAECD5CA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91965A89-FB40-7FD7-BD58-C1A1BC3AA4C0}"/>
              </a:ext>
            </a:extLst>
          </p:cNvPr>
          <p:cNvGrpSpPr/>
          <p:nvPr/>
        </p:nvGrpSpPr>
        <p:grpSpPr>
          <a:xfrm>
            <a:off x="1055266" y="711189"/>
            <a:ext cx="213360" cy="211962"/>
            <a:chOff x="1890216" y="1981983"/>
            <a:chExt cx="2664431" cy="2646982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3BAE1A55-EFF2-9E3A-C897-B0A870D6E108}"/>
                </a:ext>
              </a:extLst>
            </p:cNvPr>
            <p:cNvSpPr/>
            <p:nvPr/>
          </p:nvSpPr>
          <p:spPr>
            <a:xfrm>
              <a:off x="1890216" y="1981983"/>
              <a:ext cx="2646983" cy="264698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C515631E-E2B5-9593-0492-BC0A1CB6654B}"/>
                </a:ext>
              </a:extLst>
            </p:cNvPr>
            <p:cNvSpPr/>
            <p:nvPr/>
          </p:nvSpPr>
          <p:spPr>
            <a:xfrm>
              <a:off x="2351568" y="2425886"/>
              <a:ext cx="2203079" cy="2203079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0FF12548-594E-886A-DAD3-DC38E0236E7C}"/>
              </a:ext>
            </a:extLst>
          </p:cNvPr>
          <p:cNvSpPr txBox="1"/>
          <p:nvPr/>
        </p:nvSpPr>
        <p:spPr>
          <a:xfrm>
            <a:off x="1304173" y="634888"/>
            <a:ext cx="20433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4091E45-3C43-9691-3ED9-8D8FCF6E3729}"/>
                  </a:ext>
                </a:extLst>
              </p:cNvPr>
              <p:cNvSpPr txBox="1"/>
              <p:nvPr/>
            </p:nvSpPr>
            <p:spPr>
              <a:xfrm>
                <a:off x="7228628" y="3060831"/>
                <a:ext cx="418961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显然规模越大，分治法越有优势，因为时间复杂度</a:t>
                </a:r>
                <a:r>
                  <a:rPr lang="en-US" altLang="zh-CN" dirty="0"/>
                  <a:t>O(</a:t>
                </a:r>
                <a:r>
                  <a:rPr lang="en-US" altLang="zh-CN" dirty="0" err="1"/>
                  <a:t>nlogn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优于</a:t>
                </a:r>
                <a:r>
                  <a:rPr lang="en-US" altLang="zh-CN" dirty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4091E45-3C43-9691-3ED9-8D8FCF6E3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8628" y="3060831"/>
                <a:ext cx="4189616" cy="646331"/>
              </a:xfrm>
              <a:prstGeom prst="rect">
                <a:avLst/>
              </a:prstGeom>
              <a:blipFill>
                <a:blip r:embed="rId2"/>
                <a:stretch>
                  <a:fillRect l="-1310" t="-4717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E83EB673-EAC7-CF08-DFAB-261A4478A4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4666266"/>
              </p:ext>
            </p:extLst>
          </p:nvPr>
        </p:nvGraphicFramePr>
        <p:xfrm>
          <a:off x="968455" y="1352490"/>
          <a:ext cx="5644616" cy="4406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35475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E9D98FD9-23F9-4849-8ABD-4B3194E83D3E}"/>
              </a:ext>
            </a:extLst>
          </p:cNvPr>
          <p:cNvSpPr/>
          <p:nvPr/>
        </p:nvSpPr>
        <p:spPr>
          <a:xfrm>
            <a:off x="7020351" y="4291157"/>
            <a:ext cx="1950929" cy="429264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960B0CF-F4D4-4B1F-B9B3-B3A5012EF2CC}"/>
              </a:ext>
            </a:extLst>
          </p:cNvPr>
          <p:cNvSpPr/>
          <p:nvPr/>
        </p:nvSpPr>
        <p:spPr>
          <a:xfrm>
            <a:off x="8575040" y="3361767"/>
            <a:ext cx="2174466" cy="1571958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A1D04B1-561C-427F-A69C-418146F033E1}"/>
              </a:ext>
            </a:extLst>
          </p:cNvPr>
          <p:cNvSpPr/>
          <p:nvPr/>
        </p:nvSpPr>
        <p:spPr>
          <a:xfrm>
            <a:off x="3017976" y="1740328"/>
            <a:ext cx="2646983" cy="2646982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DF01370-10EF-410F-8B87-ACE304D75D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7235" y="2786976"/>
            <a:ext cx="191688" cy="19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28046FA-F4E0-4BA1-A2BB-1ED170AF322F}"/>
              </a:ext>
            </a:extLst>
          </p:cNvPr>
          <p:cNvSpPr/>
          <p:nvPr/>
        </p:nvSpPr>
        <p:spPr>
          <a:xfrm>
            <a:off x="2384541" y="1036899"/>
            <a:ext cx="485609" cy="485609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1A08D04-3124-48C1-9669-36C1BEC47014}"/>
              </a:ext>
            </a:extLst>
          </p:cNvPr>
          <p:cNvSpPr/>
          <p:nvPr/>
        </p:nvSpPr>
        <p:spPr>
          <a:xfrm>
            <a:off x="1174801" y="5311792"/>
            <a:ext cx="715415" cy="715415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C94711A-F1EC-48D3-B3D5-1CC00A21989F}"/>
              </a:ext>
            </a:extLst>
          </p:cNvPr>
          <p:cNvSpPr/>
          <p:nvPr/>
        </p:nvSpPr>
        <p:spPr>
          <a:xfrm>
            <a:off x="3453107" y="836166"/>
            <a:ext cx="715415" cy="715415"/>
          </a:xfrm>
          <a:prstGeom prst="roundRect">
            <a:avLst>
              <a:gd name="adj" fmla="val 17797"/>
            </a:avLst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8E04C6A-65BD-4DAA-9677-E9B4128E044B}"/>
              </a:ext>
            </a:extLst>
          </p:cNvPr>
          <p:cNvSpPr/>
          <p:nvPr/>
        </p:nvSpPr>
        <p:spPr>
          <a:xfrm>
            <a:off x="3479328" y="2184231"/>
            <a:ext cx="5006086" cy="2203079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3722EF1-500F-4A6B-B673-277906A77619}"/>
              </a:ext>
            </a:extLst>
          </p:cNvPr>
          <p:cNvSpPr txBox="1"/>
          <p:nvPr/>
        </p:nvSpPr>
        <p:spPr>
          <a:xfrm>
            <a:off x="4410259" y="2777938"/>
            <a:ext cx="33714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THANKS</a:t>
            </a:r>
            <a:r>
              <a:rPr lang="en-US" altLang="zh-CN" sz="60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 </a:t>
            </a:r>
            <a:r>
              <a:rPr lang="zh-CN" altLang="en-US" sz="60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3585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700000" y="7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1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19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9" grpId="0" animBg="1"/>
      <p:bldP spid="7" grpId="0" animBg="1"/>
      <p:bldP spid="4" grpId="0" animBg="1"/>
      <p:bldP spid="6" grpId="0" animBg="1"/>
      <p:bldP spid="8" grpId="0" animBg="1"/>
      <p:bldP spid="15" grpId="0" animBg="1"/>
      <p:bldP spid="15" grpId="1" animBg="1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ne&quot;,&quot;Name&quot;:&quot;无&quot;,&quot;HeaderHeight&quot;:0.0,&quot;FooterHeight&quot;:0.0,&quot;SideMargin&quot;:0.0,&quot;TopMargin&quot;:0.0,&quot;BottomMargin&quot;:0.0,&quot;IntervalMargin&quot;:0.0,&quot;SettingType&quot;:&quot;System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2273</TotalTime>
  <Words>519</Words>
  <Application>Microsoft Office PowerPoint</Application>
  <PresentationFormat>宽屏</PresentationFormat>
  <Paragraphs>120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KaTeX_Math</vt:lpstr>
      <vt:lpstr>等线</vt:lpstr>
      <vt:lpstr>等线 Light</vt:lpstr>
      <vt:lpstr>华文细黑</vt:lpstr>
      <vt:lpstr>思源黑体 CN Bold</vt:lpstr>
      <vt:lpstr>微软雅黑</vt:lpstr>
      <vt:lpstr>幼圆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雪 雷</dc:creator>
  <cp:lastModifiedBy>健文 姚</cp:lastModifiedBy>
  <cp:revision>110</cp:revision>
  <dcterms:created xsi:type="dcterms:W3CDTF">2021-08-22T12:17:40Z</dcterms:created>
  <dcterms:modified xsi:type="dcterms:W3CDTF">2025-04-10T19:40:08Z</dcterms:modified>
</cp:coreProperties>
</file>