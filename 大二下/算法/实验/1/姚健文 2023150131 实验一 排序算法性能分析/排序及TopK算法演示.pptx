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62" r:id="rId4"/>
    <p:sldId id="264" r:id="rId5"/>
    <p:sldId id="286" r:id="rId6"/>
    <p:sldId id="287" r:id="rId7"/>
    <p:sldId id="288" r:id="rId8"/>
    <p:sldId id="301" r:id="rId9"/>
    <p:sldId id="289" r:id="rId10"/>
    <p:sldId id="303" r:id="rId11"/>
    <p:sldId id="283" r:id="rId12"/>
    <p:sldId id="270" r:id="rId13"/>
    <p:sldId id="271" r:id="rId14"/>
    <p:sldId id="284" r:id="rId15"/>
    <p:sldId id="297" r:id="rId16"/>
    <p:sldId id="298" r:id="rId17"/>
    <p:sldId id="299" r:id="rId18"/>
    <p:sldId id="273" r:id="rId19"/>
    <p:sldId id="304" r:id="rId20"/>
    <p:sldId id="305" r:id="rId21"/>
    <p:sldId id="278" r:id="rId22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4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orient="horz" pos="368" userDrawn="1">
          <p15:clr>
            <a:srgbClr val="A4A3A4"/>
          </p15:clr>
        </p15:guide>
        <p15:guide id="4" pos="71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5C5"/>
    <a:srgbClr val="3B3838"/>
    <a:srgbClr val="767171"/>
    <a:srgbClr val="757575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210" y="45"/>
      </p:cViewPr>
      <p:guideLst>
        <p:guide orient="horz" pos="3974"/>
        <p:guide pos="551"/>
        <p:guide orient="horz" pos="368"/>
        <p:guide pos="71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31639;&#27861;&#31532;&#19968;&#27425;&#23454;&#39564;&#20998;&#2651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31639;&#27861;&#31532;&#19968;&#27425;&#23454;&#39564;&#20998;&#2651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31639;&#27861;&#31532;&#19968;&#27425;&#23454;&#39564;&#20998;&#26512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31639;&#27861;&#31532;&#19968;&#27425;&#23454;&#39564;&#20998;&#26512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31639;&#27861;&#31532;&#19968;&#27425;&#23454;&#39564;&#20998;&#26512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31639;&#27861;&#31532;&#19968;&#27425;&#23454;&#39564;&#20998;&#26512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31639;&#27861;&#31532;&#19968;&#27425;&#23454;&#39564;&#20998;&#26512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TopK&#20998;&#26512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TopK&#20998;&#26512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TopK&#20998;&#26512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TopK&#20998;&#26512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TopK&#20998;&#26512;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TopK&#20998;&#26512;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TopK&#20998;&#26512;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选择排序</a:t>
            </a:r>
            <a:endParaRPr lang="en-US" altLang="zh-C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Sheet1!$A$3</c:f>
              <c:strCache>
                <c:ptCount val="1"/>
                <c:pt idx="0">
                  <c:v>理论时间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Sheet1!$B$2:$G$2</c:f>
              <c:strCache>
                <c:ptCount val="6"/>
                <c:pt idx="0">
                  <c:v>1w</c:v>
                </c:pt>
                <c:pt idx="1">
                  <c:v>10w</c:v>
                </c:pt>
                <c:pt idx="2">
                  <c:v>20w</c:v>
                </c:pt>
                <c:pt idx="3">
                  <c:v>30w</c:v>
                </c:pt>
                <c:pt idx="4">
                  <c:v>40w</c:v>
                </c:pt>
                <c:pt idx="5">
                  <c:v>50w</c:v>
                </c:pt>
              </c:strCache>
            </c:strRef>
          </c:xVal>
          <c:yVal>
            <c:numRef>
              <c:f>Sheet1!$B$3:$G$3</c:f>
              <c:numCache>
                <c:formatCode>General</c:formatCode>
                <c:ptCount val="6"/>
                <c:pt idx="0">
                  <c:v>223.56818749999999</c:v>
                </c:pt>
                <c:pt idx="1">
                  <c:v>22356.818749999999</c:v>
                </c:pt>
                <c:pt idx="2">
                  <c:v>89427.274999999994</c:v>
                </c:pt>
                <c:pt idx="3">
                  <c:v>201211.36874999999</c:v>
                </c:pt>
                <c:pt idx="4">
                  <c:v>357709.1</c:v>
                </c:pt>
                <c:pt idx="5">
                  <c:v>558920.46875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0DA-4F82-8147-A334E4079441}"/>
            </c:ext>
          </c:extLst>
        </c:ser>
        <c:ser>
          <c:idx val="1"/>
          <c:order val="1"/>
          <c:tx>
            <c:strRef>
              <c:f>Sheet1!$A$4</c:f>
              <c:strCache>
                <c:ptCount val="1"/>
                <c:pt idx="0">
                  <c:v>平均时间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Sheet1!$B$2:$G$2</c:f>
              <c:strCache>
                <c:ptCount val="6"/>
                <c:pt idx="0">
                  <c:v>1w</c:v>
                </c:pt>
                <c:pt idx="1">
                  <c:v>10w</c:v>
                </c:pt>
                <c:pt idx="2">
                  <c:v>20w</c:v>
                </c:pt>
                <c:pt idx="3">
                  <c:v>30w</c:v>
                </c:pt>
                <c:pt idx="4">
                  <c:v>40w</c:v>
                </c:pt>
                <c:pt idx="5">
                  <c:v>50w</c:v>
                </c:pt>
              </c:strCache>
            </c:strRef>
          </c:xVal>
          <c:yVal>
            <c:numRef>
              <c:f>Sheet1!$B$4:$G$4</c:f>
              <c:numCache>
                <c:formatCode>General</c:formatCode>
                <c:ptCount val="6"/>
                <c:pt idx="0">
                  <c:v>239.31175000000002</c:v>
                </c:pt>
                <c:pt idx="1">
                  <c:v>21664.304999999997</c:v>
                </c:pt>
                <c:pt idx="2">
                  <c:v>89427.274999999994</c:v>
                </c:pt>
                <c:pt idx="3">
                  <c:v>188835.20000000001</c:v>
                </c:pt>
                <c:pt idx="4">
                  <c:v>332249.7</c:v>
                </c:pt>
                <c:pt idx="5">
                  <c:v>507925.6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0DA-4F82-8147-A334E40794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2623840"/>
        <c:axId val="472643040"/>
      </c:scatterChart>
      <c:valAx>
        <c:axId val="472623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72643040"/>
        <c:crosses val="autoZero"/>
        <c:crossBetween val="midCat"/>
      </c:valAx>
      <c:valAx>
        <c:axId val="472643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7262384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冒泡排序</a:t>
            </a:r>
            <a:endParaRPr lang="en-US" altLang="zh-CN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layout>
        <c:manualLayout>
          <c:xMode val="edge"/>
          <c:yMode val="edge"/>
          <c:x val="0.41111111111111104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Sheet1!$I$3</c:f>
              <c:strCache>
                <c:ptCount val="1"/>
                <c:pt idx="0">
                  <c:v>理论时间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Sheet1!$J$2:$O$2</c:f>
              <c:strCache>
                <c:ptCount val="6"/>
                <c:pt idx="0">
                  <c:v>1w</c:v>
                </c:pt>
                <c:pt idx="1">
                  <c:v>10w</c:v>
                </c:pt>
                <c:pt idx="2">
                  <c:v>20w</c:v>
                </c:pt>
                <c:pt idx="3">
                  <c:v>30w</c:v>
                </c:pt>
                <c:pt idx="4">
                  <c:v>40w</c:v>
                </c:pt>
                <c:pt idx="5">
                  <c:v>50w</c:v>
                </c:pt>
              </c:strCache>
            </c:strRef>
          </c:xVal>
          <c:yVal>
            <c:numRef>
              <c:f>Sheet1!$J$3:$O$3</c:f>
              <c:numCache>
                <c:formatCode>General</c:formatCode>
                <c:ptCount val="6"/>
                <c:pt idx="0">
                  <c:v>648.59825000000001</c:v>
                </c:pt>
                <c:pt idx="1">
                  <c:v>64859.824999999997</c:v>
                </c:pt>
                <c:pt idx="2">
                  <c:v>259439.3</c:v>
                </c:pt>
                <c:pt idx="3">
                  <c:v>583738.42499999993</c:v>
                </c:pt>
                <c:pt idx="4">
                  <c:v>1037757.2</c:v>
                </c:pt>
                <c:pt idx="5">
                  <c:v>1621495.625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8BD-4AA9-A912-5A7344C326B3}"/>
            </c:ext>
          </c:extLst>
        </c:ser>
        <c:ser>
          <c:idx val="1"/>
          <c:order val="1"/>
          <c:tx>
            <c:strRef>
              <c:f>Sheet1!$I$4</c:f>
              <c:strCache>
                <c:ptCount val="1"/>
                <c:pt idx="0">
                  <c:v>平均时间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Sheet1!$J$2:$O$2</c:f>
              <c:strCache>
                <c:ptCount val="6"/>
                <c:pt idx="0">
                  <c:v>1w</c:v>
                </c:pt>
                <c:pt idx="1">
                  <c:v>10w</c:v>
                </c:pt>
                <c:pt idx="2">
                  <c:v>20w</c:v>
                </c:pt>
                <c:pt idx="3">
                  <c:v>30w</c:v>
                </c:pt>
                <c:pt idx="4">
                  <c:v>40w</c:v>
                </c:pt>
                <c:pt idx="5">
                  <c:v>50w</c:v>
                </c:pt>
              </c:strCache>
            </c:strRef>
          </c:xVal>
          <c:yVal>
            <c:numRef>
              <c:f>Sheet1!$J$4:$O$4</c:f>
              <c:numCache>
                <c:formatCode>General</c:formatCode>
                <c:ptCount val="6"/>
                <c:pt idx="0">
                  <c:v>491.7408999999999</c:v>
                </c:pt>
                <c:pt idx="1">
                  <c:v>65478.24500000001</c:v>
                </c:pt>
                <c:pt idx="2">
                  <c:v>259439.3</c:v>
                </c:pt>
                <c:pt idx="3">
                  <c:v>566834.85</c:v>
                </c:pt>
                <c:pt idx="4">
                  <c:v>1026887.2</c:v>
                </c:pt>
                <c:pt idx="5">
                  <c:v>1531170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8BD-4AA9-A912-5A7344C326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4440864"/>
        <c:axId val="484436064"/>
      </c:scatterChart>
      <c:valAx>
        <c:axId val="484440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4436064"/>
        <c:crosses val="autoZero"/>
        <c:crossBetween val="midCat"/>
      </c:valAx>
      <c:valAx>
        <c:axId val="484436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444086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插入排序</a:t>
            </a:r>
            <a:endParaRPr lang="en-US" altLang="zh-CN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Sheet1!$Q$3</c:f>
              <c:strCache>
                <c:ptCount val="1"/>
                <c:pt idx="0">
                  <c:v>理论时间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Sheet1!$R$2:$W$2</c:f>
              <c:strCache>
                <c:ptCount val="6"/>
                <c:pt idx="0">
                  <c:v>1w</c:v>
                </c:pt>
                <c:pt idx="1">
                  <c:v>10w</c:v>
                </c:pt>
                <c:pt idx="2">
                  <c:v>20w</c:v>
                </c:pt>
                <c:pt idx="3">
                  <c:v>30w</c:v>
                </c:pt>
                <c:pt idx="4">
                  <c:v>40w</c:v>
                </c:pt>
                <c:pt idx="5">
                  <c:v>50w</c:v>
                </c:pt>
              </c:strCache>
            </c:strRef>
          </c:xVal>
          <c:yVal>
            <c:numRef>
              <c:f>Sheet1!$R$3:$W$3</c:f>
              <c:numCache>
                <c:formatCode>General</c:formatCode>
                <c:ptCount val="6"/>
                <c:pt idx="0">
                  <c:v>162.84191250000001</c:v>
                </c:pt>
                <c:pt idx="1">
                  <c:v>16284.19125</c:v>
                </c:pt>
                <c:pt idx="2">
                  <c:v>65136.764999999999</c:v>
                </c:pt>
                <c:pt idx="3">
                  <c:v>146557.72125</c:v>
                </c:pt>
                <c:pt idx="4">
                  <c:v>260547.06</c:v>
                </c:pt>
                <c:pt idx="5">
                  <c:v>407104.78125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8E5-48B3-9BBE-25840F084E13}"/>
            </c:ext>
          </c:extLst>
        </c:ser>
        <c:ser>
          <c:idx val="1"/>
          <c:order val="1"/>
          <c:tx>
            <c:strRef>
              <c:f>Sheet1!$Q$4</c:f>
              <c:strCache>
                <c:ptCount val="1"/>
                <c:pt idx="0">
                  <c:v>平均时间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Sheet1!$R$2:$W$2</c:f>
              <c:strCache>
                <c:ptCount val="6"/>
                <c:pt idx="0">
                  <c:v>1w</c:v>
                </c:pt>
                <c:pt idx="1">
                  <c:v>10w</c:v>
                </c:pt>
                <c:pt idx="2">
                  <c:v>20w</c:v>
                </c:pt>
                <c:pt idx="3">
                  <c:v>30w</c:v>
                </c:pt>
                <c:pt idx="4">
                  <c:v>40w</c:v>
                </c:pt>
                <c:pt idx="5">
                  <c:v>50w</c:v>
                </c:pt>
              </c:strCache>
            </c:strRef>
          </c:xVal>
          <c:yVal>
            <c:numRef>
              <c:f>Sheet1!$R$4:$W$4</c:f>
              <c:numCache>
                <c:formatCode>General</c:formatCode>
                <c:ptCount val="6"/>
                <c:pt idx="0">
                  <c:v>157.44120000000001</c:v>
                </c:pt>
                <c:pt idx="1">
                  <c:v>15129.904999999995</c:v>
                </c:pt>
                <c:pt idx="2">
                  <c:v>65136.764999999999</c:v>
                </c:pt>
                <c:pt idx="3">
                  <c:v>137190.54999999999</c:v>
                </c:pt>
                <c:pt idx="4">
                  <c:v>239885</c:v>
                </c:pt>
                <c:pt idx="5">
                  <c:v>370616.4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8E5-48B3-9BBE-25840F084E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2634880"/>
        <c:axId val="472646880"/>
      </c:scatterChart>
      <c:valAx>
        <c:axId val="472634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72646880"/>
        <c:crosses val="autoZero"/>
        <c:crossBetween val="midCat"/>
      </c:valAx>
      <c:valAx>
        <c:axId val="472646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7263488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归并排序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Sheet1!$Y$3</c:f>
              <c:strCache>
                <c:ptCount val="1"/>
                <c:pt idx="0">
                  <c:v>理论时间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Sheet1!$Z$2:$AJ$2</c:f>
              <c:numCache>
                <c:formatCode>General</c:formatCode>
                <c:ptCount val="11"/>
                <c:pt idx="0">
                  <c:v>10000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</c:numCache>
            </c:numRef>
          </c:xVal>
          <c:yVal>
            <c:numRef>
              <c:f>Sheet1!$Z$3:$AJ$3</c:f>
              <c:numCache>
                <c:formatCode>General</c:formatCode>
                <c:ptCount val="11"/>
                <c:pt idx="0">
                  <c:v>2.4442066939063025</c:v>
                </c:pt>
                <c:pt idx="1">
                  <c:v>30.552583673828781</c:v>
                </c:pt>
                <c:pt idx="2">
                  <c:v>64.784064999999998</c:v>
                </c:pt>
                <c:pt idx="3">
                  <c:v>100.40412325591713</c:v>
                </c:pt>
                <c:pt idx="4">
                  <c:v>136.92592530468488</c:v>
                </c:pt>
                <c:pt idx="5">
                  <c:v>174.11825791211658</c:v>
                </c:pt>
                <c:pt idx="6">
                  <c:v>211.84493946886158</c:v>
                </c:pt>
                <c:pt idx="7">
                  <c:v>250.01598572897547</c:v>
                </c:pt>
                <c:pt idx="8">
                  <c:v>288.56744121873953</c:v>
                </c:pt>
                <c:pt idx="9">
                  <c:v>327.45148647104384</c:v>
                </c:pt>
                <c:pt idx="10">
                  <c:v>366.63100408594545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FAC-4D18-9DFF-69F50F0711CE}"/>
            </c:ext>
          </c:extLst>
        </c:ser>
        <c:ser>
          <c:idx val="1"/>
          <c:order val="1"/>
          <c:tx>
            <c:strRef>
              <c:f>Sheet1!$Y$4</c:f>
              <c:strCache>
                <c:ptCount val="1"/>
                <c:pt idx="0">
                  <c:v>平均时间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Sheet1!$Z$2:$AJ$2</c:f>
              <c:numCache>
                <c:formatCode>General</c:formatCode>
                <c:ptCount val="11"/>
                <c:pt idx="0">
                  <c:v>10000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</c:numCache>
            </c:numRef>
          </c:xVal>
          <c:yVal>
            <c:numRef>
              <c:f>Sheet1!$Z$4:$AJ$4</c:f>
              <c:numCache>
                <c:formatCode>General</c:formatCode>
                <c:ptCount val="11"/>
                <c:pt idx="0">
                  <c:v>2.7572505000000005</c:v>
                </c:pt>
                <c:pt idx="1">
                  <c:v>32.955959999999997</c:v>
                </c:pt>
                <c:pt idx="2">
                  <c:v>64.784064999999998</c:v>
                </c:pt>
                <c:pt idx="3">
                  <c:v>97.869060000000005</c:v>
                </c:pt>
                <c:pt idx="4">
                  <c:v>134.70439999999999</c:v>
                </c:pt>
                <c:pt idx="5">
                  <c:v>166.76579999999998</c:v>
                </c:pt>
                <c:pt idx="6">
                  <c:v>207.88034999999996</c:v>
                </c:pt>
                <c:pt idx="7">
                  <c:v>239.82435000000001</c:v>
                </c:pt>
                <c:pt idx="8">
                  <c:v>278.78429999999997</c:v>
                </c:pt>
                <c:pt idx="9">
                  <c:v>315.97254999999996</c:v>
                </c:pt>
                <c:pt idx="10">
                  <c:v>350.31820000000005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FAC-4D18-9DFF-69F50F0711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55964288"/>
        <c:axId val="655989728"/>
      </c:scatterChart>
      <c:valAx>
        <c:axId val="6559642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5989728"/>
        <c:crosses val="autoZero"/>
        <c:crossBetween val="midCat"/>
      </c:valAx>
      <c:valAx>
        <c:axId val="655989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596428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快速排序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Sheet1!$AN$3</c:f>
              <c:strCache>
                <c:ptCount val="1"/>
                <c:pt idx="0">
                  <c:v>理论时间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Sheet1!$AO$2:$AY$2</c:f>
              <c:numCache>
                <c:formatCode>General</c:formatCode>
                <c:ptCount val="11"/>
                <c:pt idx="0">
                  <c:v>10000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</c:numCache>
            </c:numRef>
          </c:xVal>
          <c:yVal>
            <c:numRef>
              <c:f>Sheet1!$AO$3:$AY$3</c:f>
              <c:numCache>
                <c:formatCode>General</c:formatCode>
                <c:ptCount val="11"/>
                <c:pt idx="0">
                  <c:v>2.2151736567431302</c:v>
                </c:pt>
                <c:pt idx="1">
                  <c:v>27.689670709289128</c:v>
                </c:pt>
                <c:pt idx="2">
                  <c:v>58.713510000000007</c:v>
                </c:pt>
                <c:pt idx="3">
                  <c:v>90.995810386821574</c:v>
                </c:pt>
                <c:pt idx="4">
                  <c:v>124.09535716284351</c:v>
                </c:pt>
                <c:pt idx="5">
                  <c:v>157.80260280218039</c:v>
                </c:pt>
                <c:pt idx="6">
                  <c:v>191.99412651790837</c:v>
                </c:pt>
                <c:pt idx="7">
                  <c:v>226.58837598810848</c:v>
                </c:pt>
                <c:pt idx="8">
                  <c:v>261.527388651374</c:v>
                </c:pt>
                <c:pt idx="9">
                  <c:v>296.76782593732725</c:v>
                </c:pt>
                <c:pt idx="10">
                  <c:v>332.27604851146953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3ED-4850-8099-03AEE8A1706F}"/>
            </c:ext>
          </c:extLst>
        </c:ser>
        <c:ser>
          <c:idx val="1"/>
          <c:order val="1"/>
          <c:tx>
            <c:strRef>
              <c:f>Sheet1!$AN$4</c:f>
              <c:strCache>
                <c:ptCount val="1"/>
                <c:pt idx="0">
                  <c:v>平均时间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Sheet1!$AO$2:$AY$2</c:f>
              <c:numCache>
                <c:formatCode>General</c:formatCode>
                <c:ptCount val="11"/>
                <c:pt idx="0">
                  <c:v>10000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</c:numCache>
            </c:numRef>
          </c:xVal>
          <c:yVal>
            <c:numRef>
              <c:f>Sheet1!$AO$4:$AY$4</c:f>
              <c:numCache>
                <c:formatCode>General</c:formatCode>
                <c:ptCount val="11"/>
                <c:pt idx="0">
                  <c:v>2.2727009999999996</c:v>
                </c:pt>
                <c:pt idx="1">
                  <c:v>26.591895000000001</c:v>
                </c:pt>
                <c:pt idx="2">
                  <c:v>58.713510000000007</c:v>
                </c:pt>
                <c:pt idx="3">
                  <c:v>83.925614999999965</c:v>
                </c:pt>
                <c:pt idx="4">
                  <c:v>116.82719999999999</c:v>
                </c:pt>
                <c:pt idx="5">
                  <c:v>143.37529999999998</c:v>
                </c:pt>
                <c:pt idx="6">
                  <c:v>183.03244999999998</c:v>
                </c:pt>
                <c:pt idx="7">
                  <c:v>211.06644999999997</c:v>
                </c:pt>
                <c:pt idx="8">
                  <c:v>245.39575000000005</c:v>
                </c:pt>
                <c:pt idx="9">
                  <c:v>272.08180000000004</c:v>
                </c:pt>
                <c:pt idx="10">
                  <c:v>336.97294999999997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3ED-4850-8099-03AEE8A17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4432224"/>
        <c:axId val="2010747328"/>
      </c:scatterChart>
      <c:valAx>
        <c:axId val="4844322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10747328"/>
        <c:crosses val="autoZero"/>
        <c:crossBetween val="midCat"/>
      </c:valAx>
      <c:valAx>
        <c:axId val="2010747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443222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5</a:t>
            </a:r>
            <a:r>
              <a:rPr lang="zh-CN" altLang="en-US"/>
              <a:t>种排序比较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选择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Sheet1!$AO$1:$AT$1</c:f>
              <c:strCache>
                <c:ptCount val="6"/>
                <c:pt idx="0">
                  <c:v>1w</c:v>
                </c:pt>
                <c:pt idx="1">
                  <c:v>10w</c:v>
                </c:pt>
                <c:pt idx="2">
                  <c:v>20w</c:v>
                </c:pt>
                <c:pt idx="3">
                  <c:v>30w</c:v>
                </c:pt>
                <c:pt idx="4">
                  <c:v>40w</c:v>
                </c:pt>
                <c:pt idx="5">
                  <c:v>50w</c:v>
                </c:pt>
              </c:strCache>
            </c:strRef>
          </c:cat>
          <c:val>
            <c:numRef>
              <c:f>Sheet1!$B$4:$G$4</c:f>
              <c:numCache>
                <c:formatCode>General</c:formatCode>
                <c:ptCount val="6"/>
                <c:pt idx="0">
                  <c:v>239.31175000000002</c:v>
                </c:pt>
                <c:pt idx="1">
                  <c:v>21664.304999999997</c:v>
                </c:pt>
                <c:pt idx="2">
                  <c:v>89427.274999999994</c:v>
                </c:pt>
                <c:pt idx="3">
                  <c:v>188835.20000000001</c:v>
                </c:pt>
                <c:pt idx="4">
                  <c:v>332249.7</c:v>
                </c:pt>
                <c:pt idx="5">
                  <c:v>507925.6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903-4DB6-A698-53E4CF234710}"/>
            </c:ext>
          </c:extLst>
        </c:ser>
        <c:ser>
          <c:idx val="1"/>
          <c:order val="1"/>
          <c:tx>
            <c:v>冒泡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Sheet1!$AO$1:$AT$1</c:f>
              <c:strCache>
                <c:ptCount val="6"/>
                <c:pt idx="0">
                  <c:v>1w</c:v>
                </c:pt>
                <c:pt idx="1">
                  <c:v>10w</c:v>
                </c:pt>
                <c:pt idx="2">
                  <c:v>20w</c:v>
                </c:pt>
                <c:pt idx="3">
                  <c:v>30w</c:v>
                </c:pt>
                <c:pt idx="4">
                  <c:v>40w</c:v>
                </c:pt>
                <c:pt idx="5">
                  <c:v>50w</c:v>
                </c:pt>
              </c:strCache>
            </c:strRef>
          </c:cat>
          <c:val>
            <c:numRef>
              <c:f>Sheet1!$J$4:$O$4</c:f>
              <c:numCache>
                <c:formatCode>General</c:formatCode>
                <c:ptCount val="6"/>
                <c:pt idx="0">
                  <c:v>491.7408999999999</c:v>
                </c:pt>
                <c:pt idx="1">
                  <c:v>65478.24500000001</c:v>
                </c:pt>
                <c:pt idx="2">
                  <c:v>259439.3</c:v>
                </c:pt>
                <c:pt idx="3">
                  <c:v>566834.85</c:v>
                </c:pt>
                <c:pt idx="4">
                  <c:v>1026887.2</c:v>
                </c:pt>
                <c:pt idx="5">
                  <c:v>1531170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03-4DB6-A698-53E4CF234710}"/>
            </c:ext>
          </c:extLst>
        </c:ser>
        <c:ser>
          <c:idx val="2"/>
          <c:order val="2"/>
          <c:tx>
            <c:v>插入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Sheet1!$AO$1:$AT$1</c:f>
              <c:strCache>
                <c:ptCount val="6"/>
                <c:pt idx="0">
                  <c:v>1w</c:v>
                </c:pt>
                <c:pt idx="1">
                  <c:v>10w</c:v>
                </c:pt>
                <c:pt idx="2">
                  <c:v>20w</c:v>
                </c:pt>
                <c:pt idx="3">
                  <c:v>30w</c:v>
                </c:pt>
                <c:pt idx="4">
                  <c:v>40w</c:v>
                </c:pt>
                <c:pt idx="5">
                  <c:v>50w</c:v>
                </c:pt>
              </c:strCache>
            </c:strRef>
          </c:cat>
          <c:val>
            <c:numRef>
              <c:f>Sheet1!$R$4:$W$4</c:f>
              <c:numCache>
                <c:formatCode>General</c:formatCode>
                <c:ptCount val="6"/>
                <c:pt idx="0">
                  <c:v>157.44120000000001</c:v>
                </c:pt>
                <c:pt idx="1">
                  <c:v>15129.904999999995</c:v>
                </c:pt>
                <c:pt idx="2">
                  <c:v>65136.764999999999</c:v>
                </c:pt>
                <c:pt idx="3">
                  <c:v>137190.54999999999</c:v>
                </c:pt>
                <c:pt idx="4">
                  <c:v>239885</c:v>
                </c:pt>
                <c:pt idx="5">
                  <c:v>370616.4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903-4DB6-A698-53E4CF234710}"/>
            </c:ext>
          </c:extLst>
        </c:ser>
        <c:ser>
          <c:idx val="3"/>
          <c:order val="3"/>
          <c:tx>
            <c:v>归并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Sheet1!$AO$1:$AT$1</c:f>
              <c:strCache>
                <c:ptCount val="6"/>
                <c:pt idx="0">
                  <c:v>1w</c:v>
                </c:pt>
                <c:pt idx="1">
                  <c:v>10w</c:v>
                </c:pt>
                <c:pt idx="2">
                  <c:v>20w</c:v>
                </c:pt>
                <c:pt idx="3">
                  <c:v>30w</c:v>
                </c:pt>
                <c:pt idx="4">
                  <c:v>40w</c:v>
                </c:pt>
                <c:pt idx="5">
                  <c:v>50w</c:v>
                </c:pt>
              </c:strCache>
            </c:strRef>
          </c:cat>
          <c:val>
            <c:numRef>
              <c:f>Sheet1!$Z$4:$AE$4</c:f>
              <c:numCache>
                <c:formatCode>General</c:formatCode>
                <c:ptCount val="6"/>
                <c:pt idx="0">
                  <c:v>2.7572505000000005</c:v>
                </c:pt>
                <c:pt idx="1">
                  <c:v>32.955959999999997</c:v>
                </c:pt>
                <c:pt idx="2">
                  <c:v>64.784064999999998</c:v>
                </c:pt>
                <c:pt idx="3">
                  <c:v>97.869060000000005</c:v>
                </c:pt>
                <c:pt idx="4">
                  <c:v>134.70439999999999</c:v>
                </c:pt>
                <c:pt idx="5">
                  <c:v>166.76579999999998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903-4DB6-A698-53E4CF234710}"/>
            </c:ext>
          </c:extLst>
        </c:ser>
        <c:ser>
          <c:idx val="4"/>
          <c:order val="4"/>
          <c:tx>
            <c:v>快速</c:v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Sheet1!$AO$1:$AT$1</c:f>
              <c:strCache>
                <c:ptCount val="6"/>
                <c:pt idx="0">
                  <c:v>1w</c:v>
                </c:pt>
                <c:pt idx="1">
                  <c:v>10w</c:v>
                </c:pt>
                <c:pt idx="2">
                  <c:v>20w</c:v>
                </c:pt>
                <c:pt idx="3">
                  <c:v>30w</c:v>
                </c:pt>
                <c:pt idx="4">
                  <c:v>40w</c:v>
                </c:pt>
                <c:pt idx="5">
                  <c:v>50w</c:v>
                </c:pt>
              </c:strCache>
            </c:strRef>
          </c:cat>
          <c:val>
            <c:numRef>
              <c:f>Sheet1!$AO$4:$AT$4</c:f>
              <c:numCache>
                <c:formatCode>General</c:formatCode>
                <c:ptCount val="6"/>
                <c:pt idx="0">
                  <c:v>2.2727009999999996</c:v>
                </c:pt>
                <c:pt idx="1">
                  <c:v>26.591895000000001</c:v>
                </c:pt>
                <c:pt idx="2">
                  <c:v>58.713510000000007</c:v>
                </c:pt>
                <c:pt idx="3">
                  <c:v>83.925614999999965</c:v>
                </c:pt>
                <c:pt idx="4">
                  <c:v>116.82719999999999</c:v>
                </c:pt>
                <c:pt idx="5">
                  <c:v>143.37529999999998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903-4DB6-A698-53E4CF2347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5972928"/>
        <c:axId val="655990688"/>
      </c:lineChart>
      <c:catAx>
        <c:axId val="655972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5990688"/>
        <c:crosses val="autoZero"/>
        <c:auto val="1"/>
        <c:lblAlgn val="ctr"/>
        <c:lblOffset val="100"/>
        <c:noMultiLvlLbl val="0"/>
      </c:catAx>
      <c:valAx>
        <c:axId val="655990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5972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归并与快速比较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归并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Sheet1!$Z$2:$AJ$2</c:f>
              <c:numCache>
                <c:formatCode>General</c:formatCode>
                <c:ptCount val="11"/>
                <c:pt idx="0">
                  <c:v>10000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</c:numCache>
            </c:numRef>
          </c:xVal>
          <c:yVal>
            <c:numRef>
              <c:f>Sheet1!$Z$4:$AJ$4</c:f>
              <c:numCache>
                <c:formatCode>General</c:formatCode>
                <c:ptCount val="11"/>
                <c:pt idx="0">
                  <c:v>2.7572505000000005</c:v>
                </c:pt>
                <c:pt idx="1">
                  <c:v>32.955959999999997</c:v>
                </c:pt>
                <c:pt idx="2">
                  <c:v>64.784064999999998</c:v>
                </c:pt>
                <c:pt idx="3">
                  <c:v>97.869060000000005</c:v>
                </c:pt>
                <c:pt idx="4">
                  <c:v>134.70439999999999</c:v>
                </c:pt>
                <c:pt idx="5">
                  <c:v>166.76579999999998</c:v>
                </c:pt>
                <c:pt idx="6">
                  <c:v>207.88034999999996</c:v>
                </c:pt>
                <c:pt idx="7">
                  <c:v>239.82435000000001</c:v>
                </c:pt>
                <c:pt idx="8">
                  <c:v>278.78429999999997</c:v>
                </c:pt>
                <c:pt idx="9">
                  <c:v>315.97254999999996</c:v>
                </c:pt>
                <c:pt idx="10">
                  <c:v>350.31820000000005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625-4690-A790-5FCC44C8FAB6}"/>
            </c:ext>
          </c:extLst>
        </c:ser>
        <c:ser>
          <c:idx val="1"/>
          <c:order val="1"/>
          <c:tx>
            <c:v>快速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Sheet1!$AO$2:$AY$2</c:f>
              <c:numCache>
                <c:formatCode>General</c:formatCode>
                <c:ptCount val="11"/>
                <c:pt idx="0">
                  <c:v>10000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</c:numCache>
            </c:numRef>
          </c:xVal>
          <c:yVal>
            <c:numRef>
              <c:f>Sheet1!$AO$4:$AY$4</c:f>
              <c:numCache>
                <c:formatCode>General</c:formatCode>
                <c:ptCount val="11"/>
                <c:pt idx="0">
                  <c:v>2.2727009999999996</c:v>
                </c:pt>
                <c:pt idx="1">
                  <c:v>26.591895000000001</c:v>
                </c:pt>
                <c:pt idx="2">
                  <c:v>58.713510000000007</c:v>
                </c:pt>
                <c:pt idx="3">
                  <c:v>83.925614999999965</c:v>
                </c:pt>
                <c:pt idx="4">
                  <c:v>116.82719999999999</c:v>
                </c:pt>
                <c:pt idx="5">
                  <c:v>143.37529999999998</c:v>
                </c:pt>
                <c:pt idx="6">
                  <c:v>183.03244999999998</c:v>
                </c:pt>
                <c:pt idx="7">
                  <c:v>211.06644999999997</c:v>
                </c:pt>
                <c:pt idx="8">
                  <c:v>245.39575000000005</c:v>
                </c:pt>
                <c:pt idx="9">
                  <c:v>272.08180000000004</c:v>
                </c:pt>
                <c:pt idx="10">
                  <c:v>336.97294999999997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625-4690-A790-5FCC44C8FA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05590176"/>
        <c:axId val="605586336"/>
      </c:scatterChart>
      <c:valAx>
        <c:axId val="6055901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05586336"/>
        <c:crosses val="autoZero"/>
        <c:crossBetween val="midCat"/>
      </c:valAx>
      <c:valAx>
        <c:axId val="605586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0559017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选择排序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Sheet1!$A$3</c:f>
              <c:strCache>
                <c:ptCount val="1"/>
                <c:pt idx="0">
                  <c:v>理论时间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Sheet1!$B$2:$I$2</c:f>
              <c:numCache>
                <c:formatCode>General</c:formatCode>
                <c:ptCount val="8"/>
                <c:pt idx="0">
                  <c:v>1000000</c:v>
                </c:pt>
                <c:pt idx="1">
                  <c:v>5000000</c:v>
                </c:pt>
                <c:pt idx="2">
                  <c:v>10000000</c:v>
                </c:pt>
                <c:pt idx="3">
                  <c:v>25000000</c:v>
                </c:pt>
                <c:pt idx="4">
                  <c:v>50000000</c:v>
                </c:pt>
                <c:pt idx="5">
                  <c:v>75000000</c:v>
                </c:pt>
                <c:pt idx="6">
                  <c:v>100000000</c:v>
                </c:pt>
                <c:pt idx="7">
                  <c:v>200000000</c:v>
                </c:pt>
              </c:numCache>
            </c:numRef>
          </c:xVal>
          <c:yVal>
            <c:numRef>
              <c:f>Sheet1!$B$3:$I$3</c:f>
              <c:numCache>
                <c:formatCode>General</c:formatCode>
                <c:ptCount val="8"/>
                <c:pt idx="0">
                  <c:v>40.707565000000002</c:v>
                </c:pt>
                <c:pt idx="1">
                  <c:v>203.537825</c:v>
                </c:pt>
                <c:pt idx="2">
                  <c:v>407.07565</c:v>
                </c:pt>
                <c:pt idx="3">
                  <c:v>1017.689125</c:v>
                </c:pt>
                <c:pt idx="4">
                  <c:v>2035.37825</c:v>
                </c:pt>
                <c:pt idx="5">
                  <c:v>3053.0673750000001</c:v>
                </c:pt>
                <c:pt idx="6">
                  <c:v>4070.7565</c:v>
                </c:pt>
                <c:pt idx="7">
                  <c:v>8141.5129999999999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934-434B-9FEA-D7F92845BC57}"/>
            </c:ext>
          </c:extLst>
        </c:ser>
        <c:ser>
          <c:idx val="1"/>
          <c:order val="1"/>
          <c:tx>
            <c:strRef>
              <c:f>Sheet1!$A$4</c:f>
              <c:strCache>
                <c:ptCount val="1"/>
                <c:pt idx="0">
                  <c:v>平均时间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Sheet1!$B$2:$I$2</c:f>
              <c:numCache>
                <c:formatCode>General</c:formatCode>
                <c:ptCount val="8"/>
                <c:pt idx="0">
                  <c:v>1000000</c:v>
                </c:pt>
                <c:pt idx="1">
                  <c:v>5000000</c:v>
                </c:pt>
                <c:pt idx="2">
                  <c:v>10000000</c:v>
                </c:pt>
                <c:pt idx="3">
                  <c:v>25000000</c:v>
                </c:pt>
                <c:pt idx="4">
                  <c:v>50000000</c:v>
                </c:pt>
                <c:pt idx="5">
                  <c:v>75000000</c:v>
                </c:pt>
                <c:pt idx="6">
                  <c:v>100000000</c:v>
                </c:pt>
                <c:pt idx="7">
                  <c:v>200000000</c:v>
                </c:pt>
              </c:numCache>
            </c:numRef>
          </c:xVal>
          <c:yVal>
            <c:numRef>
              <c:f>Sheet1!$B$4:$I$4</c:f>
              <c:numCache>
                <c:formatCode>General</c:formatCode>
                <c:ptCount val="8"/>
                <c:pt idx="0">
                  <c:v>40.281020000000005</c:v>
                </c:pt>
                <c:pt idx="1">
                  <c:v>210.99560000000002</c:v>
                </c:pt>
                <c:pt idx="2">
                  <c:v>407.07565</c:v>
                </c:pt>
                <c:pt idx="3">
                  <c:v>1021.4837</c:v>
                </c:pt>
                <c:pt idx="4">
                  <c:v>2008.1740000000002</c:v>
                </c:pt>
                <c:pt idx="5">
                  <c:v>2976.8685</c:v>
                </c:pt>
                <c:pt idx="6">
                  <c:v>3964.5245000000004</c:v>
                </c:pt>
                <c:pt idx="7">
                  <c:v>7896.7699999999986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934-434B-9FEA-D7F92845BC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66862016"/>
        <c:axId val="966864416"/>
      </c:scatterChart>
      <c:valAx>
        <c:axId val="966862016"/>
        <c:scaling>
          <c:orientation val="minMax"/>
          <c:max val="200000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6864416"/>
        <c:crosses val="autoZero"/>
        <c:crossBetween val="midCat"/>
      </c:valAx>
      <c:valAx>
        <c:axId val="966864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686201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堆选择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Sheet1!$K$3</c:f>
              <c:strCache>
                <c:ptCount val="1"/>
                <c:pt idx="0">
                  <c:v>理论时间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Sheet1!$L$2:$S$2</c:f>
              <c:numCache>
                <c:formatCode>General</c:formatCode>
                <c:ptCount val="8"/>
                <c:pt idx="0">
                  <c:v>1000000</c:v>
                </c:pt>
                <c:pt idx="1">
                  <c:v>5000000</c:v>
                </c:pt>
                <c:pt idx="2">
                  <c:v>10000000</c:v>
                </c:pt>
                <c:pt idx="3">
                  <c:v>25000000</c:v>
                </c:pt>
                <c:pt idx="4">
                  <c:v>50000000</c:v>
                </c:pt>
                <c:pt idx="5">
                  <c:v>75000000</c:v>
                </c:pt>
                <c:pt idx="6">
                  <c:v>100000000</c:v>
                </c:pt>
                <c:pt idx="7">
                  <c:v>200000000</c:v>
                </c:pt>
              </c:numCache>
            </c:numRef>
          </c:xVal>
          <c:yVal>
            <c:numRef>
              <c:f>Sheet1!$L$3:$S$3</c:f>
              <c:numCache>
                <c:formatCode>General</c:formatCode>
                <c:ptCount val="8"/>
                <c:pt idx="0">
                  <c:v>19.520585000000001</c:v>
                </c:pt>
                <c:pt idx="1">
                  <c:v>97.602924999999999</c:v>
                </c:pt>
                <c:pt idx="2">
                  <c:v>195.20585</c:v>
                </c:pt>
                <c:pt idx="3">
                  <c:v>488.01462500000002</c:v>
                </c:pt>
                <c:pt idx="4">
                  <c:v>976.02925000000005</c:v>
                </c:pt>
                <c:pt idx="5">
                  <c:v>1464.0438750000001</c:v>
                </c:pt>
                <c:pt idx="6">
                  <c:v>1952.0585000000001</c:v>
                </c:pt>
                <c:pt idx="7">
                  <c:v>3904.1170000000002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EEE-46A5-A429-FCA3575A9C37}"/>
            </c:ext>
          </c:extLst>
        </c:ser>
        <c:ser>
          <c:idx val="1"/>
          <c:order val="1"/>
          <c:tx>
            <c:strRef>
              <c:f>Sheet1!$K$4</c:f>
              <c:strCache>
                <c:ptCount val="1"/>
                <c:pt idx="0">
                  <c:v>平均时间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Sheet1!$L$2:$S$2</c:f>
              <c:numCache>
                <c:formatCode>General</c:formatCode>
                <c:ptCount val="8"/>
                <c:pt idx="0">
                  <c:v>1000000</c:v>
                </c:pt>
                <c:pt idx="1">
                  <c:v>5000000</c:v>
                </c:pt>
                <c:pt idx="2">
                  <c:v>10000000</c:v>
                </c:pt>
                <c:pt idx="3">
                  <c:v>25000000</c:v>
                </c:pt>
                <c:pt idx="4">
                  <c:v>50000000</c:v>
                </c:pt>
                <c:pt idx="5">
                  <c:v>75000000</c:v>
                </c:pt>
                <c:pt idx="6">
                  <c:v>100000000</c:v>
                </c:pt>
                <c:pt idx="7">
                  <c:v>200000000</c:v>
                </c:pt>
              </c:numCache>
            </c:numRef>
          </c:xVal>
          <c:yVal>
            <c:numRef>
              <c:f>Sheet1!$L$4:$S$4</c:f>
              <c:numCache>
                <c:formatCode>General</c:formatCode>
                <c:ptCount val="8"/>
                <c:pt idx="0">
                  <c:v>19.510825000000001</c:v>
                </c:pt>
                <c:pt idx="1">
                  <c:v>98.493195</c:v>
                </c:pt>
                <c:pt idx="2">
                  <c:v>195.20585</c:v>
                </c:pt>
                <c:pt idx="3">
                  <c:v>483.58515000000006</c:v>
                </c:pt>
                <c:pt idx="4">
                  <c:v>971.64080000000013</c:v>
                </c:pt>
                <c:pt idx="5">
                  <c:v>1426.6365000000001</c:v>
                </c:pt>
                <c:pt idx="6">
                  <c:v>1898.4885000000002</c:v>
                </c:pt>
                <c:pt idx="7">
                  <c:v>3801.7935000000007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EEE-46A5-A429-FCA3575A9C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22993968"/>
        <c:axId val="954479200"/>
      </c:scatterChart>
      <c:valAx>
        <c:axId val="1222993968"/>
        <c:scaling>
          <c:orientation val="minMax"/>
          <c:max val="200000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54479200"/>
        <c:crosses val="autoZero"/>
        <c:crossBetween val="midCat"/>
      </c:valAx>
      <c:valAx>
        <c:axId val="954479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229939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快速选择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Sheet1!$U$3</c:f>
              <c:strCache>
                <c:ptCount val="1"/>
                <c:pt idx="0">
                  <c:v>理论时间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Sheet1!$V$2:$AC$2</c:f>
              <c:numCache>
                <c:formatCode>General</c:formatCode>
                <c:ptCount val="8"/>
                <c:pt idx="0">
                  <c:v>1000000</c:v>
                </c:pt>
                <c:pt idx="1">
                  <c:v>5000000</c:v>
                </c:pt>
                <c:pt idx="2">
                  <c:v>10000000</c:v>
                </c:pt>
                <c:pt idx="3">
                  <c:v>25000000</c:v>
                </c:pt>
                <c:pt idx="4">
                  <c:v>50000000</c:v>
                </c:pt>
                <c:pt idx="5">
                  <c:v>75000000</c:v>
                </c:pt>
                <c:pt idx="6">
                  <c:v>100000000</c:v>
                </c:pt>
                <c:pt idx="7">
                  <c:v>200000000</c:v>
                </c:pt>
              </c:numCache>
            </c:numRef>
          </c:xVal>
          <c:yVal>
            <c:numRef>
              <c:f>Sheet1!$V$3:$AC$3</c:f>
              <c:numCache>
                <c:formatCode>General</c:formatCode>
                <c:ptCount val="8"/>
                <c:pt idx="0">
                  <c:v>20.913484500000006</c:v>
                </c:pt>
                <c:pt idx="1">
                  <c:v>104.56742250000002</c:v>
                </c:pt>
                <c:pt idx="2">
                  <c:v>209.13484500000004</c:v>
                </c:pt>
                <c:pt idx="3">
                  <c:v>522.8371125000001</c:v>
                </c:pt>
                <c:pt idx="4">
                  <c:v>1045.6742250000002</c:v>
                </c:pt>
                <c:pt idx="5">
                  <c:v>1568.5113375000003</c:v>
                </c:pt>
                <c:pt idx="6">
                  <c:v>2091.3484500000004</c:v>
                </c:pt>
                <c:pt idx="7">
                  <c:v>4182.6969000000008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186-46F5-BD24-EBD9C6526C37}"/>
            </c:ext>
          </c:extLst>
        </c:ser>
        <c:ser>
          <c:idx val="1"/>
          <c:order val="1"/>
          <c:tx>
            <c:strRef>
              <c:f>Sheet1!$U$4</c:f>
              <c:strCache>
                <c:ptCount val="1"/>
                <c:pt idx="0">
                  <c:v>平均时间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Sheet1!$V$2:$AC$2</c:f>
              <c:numCache>
                <c:formatCode>General</c:formatCode>
                <c:ptCount val="8"/>
                <c:pt idx="0">
                  <c:v>1000000</c:v>
                </c:pt>
                <c:pt idx="1">
                  <c:v>5000000</c:v>
                </c:pt>
                <c:pt idx="2">
                  <c:v>10000000</c:v>
                </c:pt>
                <c:pt idx="3">
                  <c:v>25000000</c:v>
                </c:pt>
                <c:pt idx="4">
                  <c:v>50000000</c:v>
                </c:pt>
                <c:pt idx="5">
                  <c:v>75000000</c:v>
                </c:pt>
                <c:pt idx="6">
                  <c:v>100000000</c:v>
                </c:pt>
                <c:pt idx="7">
                  <c:v>200000000</c:v>
                </c:pt>
              </c:numCache>
            </c:numRef>
          </c:xVal>
          <c:yVal>
            <c:numRef>
              <c:f>Sheet1!$V$4:$AC$4</c:f>
              <c:numCache>
                <c:formatCode>General</c:formatCode>
                <c:ptCount val="8"/>
                <c:pt idx="0">
                  <c:v>18.503424000000003</c:v>
                </c:pt>
                <c:pt idx="1">
                  <c:v>104.44014999999999</c:v>
                </c:pt>
                <c:pt idx="2">
                  <c:v>209.13484500000004</c:v>
                </c:pt>
                <c:pt idx="3">
                  <c:v>569.01384499999995</c:v>
                </c:pt>
                <c:pt idx="4">
                  <c:v>856.60554999999999</c:v>
                </c:pt>
                <c:pt idx="5">
                  <c:v>1691.9511500000001</c:v>
                </c:pt>
                <c:pt idx="6">
                  <c:v>2416.6136000000001</c:v>
                </c:pt>
                <c:pt idx="7">
                  <c:v>4526.8979999999992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186-46F5-BD24-EBD9C6526C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6038800"/>
        <c:axId val="954478720"/>
      </c:scatterChart>
      <c:valAx>
        <c:axId val="346038800"/>
        <c:scaling>
          <c:orientation val="minMax"/>
          <c:max val="200000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54478720"/>
        <c:crosses val="autoZero"/>
        <c:crossBetween val="midCat"/>
      </c:valAx>
      <c:valAx>
        <c:axId val="954478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4603880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dirty="0"/>
              <a:t>K=10</a:t>
            </a:r>
            <a:r>
              <a:rPr lang="zh-CN" altLang="en-US" dirty="0"/>
              <a:t>时不同规模下算法对比</a:t>
            </a:r>
            <a:endParaRPr lang="en-US" altLang="zh-C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zh-CN"/>
        </a:p>
      </c:tx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v>选择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Sheet1!$B$2:$I$2</c:f>
              <c:numCache>
                <c:formatCode>General</c:formatCode>
                <c:ptCount val="8"/>
                <c:pt idx="0">
                  <c:v>1000000</c:v>
                </c:pt>
                <c:pt idx="1">
                  <c:v>5000000</c:v>
                </c:pt>
                <c:pt idx="2">
                  <c:v>10000000</c:v>
                </c:pt>
                <c:pt idx="3">
                  <c:v>25000000</c:v>
                </c:pt>
                <c:pt idx="4">
                  <c:v>50000000</c:v>
                </c:pt>
                <c:pt idx="5">
                  <c:v>75000000</c:v>
                </c:pt>
                <c:pt idx="6">
                  <c:v>100000000</c:v>
                </c:pt>
                <c:pt idx="7">
                  <c:v>200000000</c:v>
                </c:pt>
              </c:numCache>
            </c:numRef>
          </c:xVal>
          <c:yVal>
            <c:numRef>
              <c:f>Sheet1!$B$4:$I$4</c:f>
              <c:numCache>
                <c:formatCode>General</c:formatCode>
                <c:ptCount val="8"/>
                <c:pt idx="0">
                  <c:v>40.281020000000005</c:v>
                </c:pt>
                <c:pt idx="1">
                  <c:v>210.99560000000002</c:v>
                </c:pt>
                <c:pt idx="2">
                  <c:v>407.07565</c:v>
                </c:pt>
                <c:pt idx="3">
                  <c:v>1021.4837</c:v>
                </c:pt>
                <c:pt idx="4">
                  <c:v>2008.1740000000002</c:v>
                </c:pt>
                <c:pt idx="5">
                  <c:v>2976.8685</c:v>
                </c:pt>
                <c:pt idx="6">
                  <c:v>3964.5245000000004</c:v>
                </c:pt>
                <c:pt idx="7">
                  <c:v>7896.7699999999986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5B5-4366-97EB-A70361F08DB6}"/>
            </c:ext>
          </c:extLst>
        </c:ser>
        <c:ser>
          <c:idx val="0"/>
          <c:order val="1"/>
          <c:tx>
            <c:v>堆选择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Sheet1!$L$2:$S$2</c:f>
              <c:numCache>
                <c:formatCode>General</c:formatCode>
                <c:ptCount val="8"/>
                <c:pt idx="0">
                  <c:v>1000000</c:v>
                </c:pt>
                <c:pt idx="1">
                  <c:v>5000000</c:v>
                </c:pt>
                <c:pt idx="2">
                  <c:v>10000000</c:v>
                </c:pt>
                <c:pt idx="3">
                  <c:v>25000000</c:v>
                </c:pt>
                <c:pt idx="4">
                  <c:v>50000000</c:v>
                </c:pt>
                <c:pt idx="5">
                  <c:v>75000000</c:v>
                </c:pt>
                <c:pt idx="6">
                  <c:v>100000000</c:v>
                </c:pt>
                <c:pt idx="7">
                  <c:v>200000000</c:v>
                </c:pt>
              </c:numCache>
            </c:numRef>
          </c:xVal>
          <c:yVal>
            <c:numRef>
              <c:f>Sheet1!$L$4:$S$4</c:f>
              <c:numCache>
                <c:formatCode>General</c:formatCode>
                <c:ptCount val="8"/>
                <c:pt idx="0">
                  <c:v>19.510825000000001</c:v>
                </c:pt>
                <c:pt idx="1">
                  <c:v>98.493195</c:v>
                </c:pt>
                <c:pt idx="2">
                  <c:v>195.20585</c:v>
                </c:pt>
                <c:pt idx="3">
                  <c:v>483.58515000000006</c:v>
                </c:pt>
                <c:pt idx="4">
                  <c:v>971.64080000000013</c:v>
                </c:pt>
                <c:pt idx="5">
                  <c:v>1426.6365000000001</c:v>
                </c:pt>
                <c:pt idx="6">
                  <c:v>1898.4885000000002</c:v>
                </c:pt>
                <c:pt idx="7">
                  <c:v>3801.7935000000007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5B5-4366-97EB-A70361F08DB6}"/>
            </c:ext>
          </c:extLst>
        </c:ser>
        <c:ser>
          <c:idx val="2"/>
          <c:order val="2"/>
          <c:tx>
            <c:v>快速选择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Sheet1!$V$2:$AC$2</c:f>
              <c:numCache>
                <c:formatCode>General</c:formatCode>
                <c:ptCount val="8"/>
                <c:pt idx="0">
                  <c:v>1000000</c:v>
                </c:pt>
                <c:pt idx="1">
                  <c:v>5000000</c:v>
                </c:pt>
                <c:pt idx="2">
                  <c:v>10000000</c:v>
                </c:pt>
                <c:pt idx="3">
                  <c:v>25000000</c:v>
                </c:pt>
                <c:pt idx="4">
                  <c:v>50000000</c:v>
                </c:pt>
                <c:pt idx="5">
                  <c:v>75000000</c:v>
                </c:pt>
                <c:pt idx="6">
                  <c:v>100000000</c:v>
                </c:pt>
                <c:pt idx="7">
                  <c:v>200000000</c:v>
                </c:pt>
              </c:numCache>
            </c:numRef>
          </c:xVal>
          <c:yVal>
            <c:numRef>
              <c:f>Sheet1!$V$4:$AC$4</c:f>
              <c:numCache>
                <c:formatCode>General</c:formatCode>
                <c:ptCount val="8"/>
                <c:pt idx="0">
                  <c:v>18.503424000000003</c:v>
                </c:pt>
                <c:pt idx="1">
                  <c:v>104.44014999999999</c:v>
                </c:pt>
                <c:pt idx="2">
                  <c:v>209.13484500000004</c:v>
                </c:pt>
                <c:pt idx="3">
                  <c:v>569.01384499999995</c:v>
                </c:pt>
                <c:pt idx="4">
                  <c:v>856.60554999999999</c:v>
                </c:pt>
                <c:pt idx="5">
                  <c:v>1691.9511500000001</c:v>
                </c:pt>
                <c:pt idx="6">
                  <c:v>2416.6136000000001</c:v>
                </c:pt>
                <c:pt idx="7">
                  <c:v>4526.8979999999992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F5B5-4366-97EB-A70361F08D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55899360"/>
        <c:axId val="1455900320"/>
      </c:scatterChart>
      <c:valAx>
        <c:axId val="1455899360"/>
        <c:scaling>
          <c:orientation val="minMax"/>
          <c:max val="200000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55900320"/>
        <c:crosses val="autoZero"/>
        <c:crossBetween val="midCat"/>
      </c:valAx>
      <c:valAx>
        <c:axId val="1455900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5589936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1000w</a:t>
            </a:r>
            <a:r>
              <a:rPr lang="zh-CN" altLang="en-US"/>
              <a:t>规模下</a:t>
            </a:r>
            <a:r>
              <a:rPr lang="en-US" altLang="zh-CN"/>
              <a:t>K</a:t>
            </a:r>
            <a:r>
              <a:rPr lang="zh-CN" altLang="en-US"/>
              <a:t>的选取对算法的影响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堆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Sheet1!$BB$3:$BF$3</c:f>
              <c:numCache>
                <c:formatCode>General</c:formatCode>
                <c:ptCount val="5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  <c:pt idx="4">
                  <c:v>100000</c:v>
                </c:pt>
              </c:numCache>
            </c:numRef>
          </c:xVal>
          <c:yVal>
            <c:numRef>
              <c:f>Sheet1!$BB$4:$BF$4</c:f>
              <c:numCache>
                <c:formatCode>General</c:formatCode>
                <c:ptCount val="5"/>
                <c:pt idx="0">
                  <c:v>198.93574999999998</c:v>
                </c:pt>
                <c:pt idx="1">
                  <c:v>200.57494999999997</c:v>
                </c:pt>
                <c:pt idx="2">
                  <c:v>201.00770000000003</c:v>
                </c:pt>
                <c:pt idx="3">
                  <c:v>252.86234999999996</c:v>
                </c:pt>
                <c:pt idx="4">
                  <c:v>636.53695000000005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C56-4C19-BD87-0ED88E0BDE72}"/>
            </c:ext>
          </c:extLst>
        </c:ser>
        <c:ser>
          <c:idx val="1"/>
          <c:order val="1"/>
          <c:tx>
            <c:v>快速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Sheet1!$BJ$3:$BN$3</c:f>
              <c:numCache>
                <c:formatCode>General</c:formatCode>
                <c:ptCount val="5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  <c:pt idx="4">
                  <c:v>100000</c:v>
                </c:pt>
              </c:numCache>
            </c:numRef>
          </c:xVal>
          <c:yVal>
            <c:numRef>
              <c:f>Sheet1!$BJ$4:$BN$4</c:f>
              <c:numCache>
                <c:formatCode>General</c:formatCode>
                <c:ptCount val="5"/>
                <c:pt idx="0">
                  <c:v>283.17659999999995</c:v>
                </c:pt>
                <c:pt idx="1">
                  <c:v>270.65960000000007</c:v>
                </c:pt>
                <c:pt idx="2">
                  <c:v>239.73379500000001</c:v>
                </c:pt>
                <c:pt idx="3">
                  <c:v>252.44519999999997</c:v>
                </c:pt>
                <c:pt idx="4">
                  <c:v>239.59199500000005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C56-4C19-BD87-0ED88E0BDE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3187503"/>
        <c:axId val="1293185103"/>
      </c:scatterChart>
      <c:valAx>
        <c:axId val="1293187503"/>
        <c:scaling>
          <c:orientation val="minMax"/>
          <c:max val="10000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93185103"/>
        <c:crosses val="autoZero"/>
        <c:crossBetween val="midCat"/>
      </c:valAx>
      <c:valAx>
        <c:axId val="1293185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9318750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1000w</a:t>
            </a:r>
            <a:r>
              <a:rPr lang="zh-CN" altLang="en-US"/>
              <a:t>规模下</a:t>
            </a:r>
            <a:r>
              <a:rPr lang="en-US" altLang="zh-CN"/>
              <a:t>K</a:t>
            </a:r>
            <a:r>
              <a:rPr lang="zh-CN" altLang="en-US"/>
              <a:t>的选取对算法的影响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堆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Sheet1!$BB$3:$BF$3</c:f>
              <c:numCache>
                <c:formatCode>General</c:formatCode>
                <c:ptCount val="5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  <c:pt idx="4">
                  <c:v>100000</c:v>
                </c:pt>
              </c:numCache>
            </c:numRef>
          </c:xVal>
          <c:yVal>
            <c:numRef>
              <c:f>Sheet1!$BB$4:$BF$4</c:f>
              <c:numCache>
                <c:formatCode>General</c:formatCode>
                <c:ptCount val="5"/>
                <c:pt idx="0">
                  <c:v>198.93574999999998</c:v>
                </c:pt>
                <c:pt idx="1">
                  <c:v>200.57494999999997</c:v>
                </c:pt>
                <c:pt idx="2">
                  <c:v>201.00770000000003</c:v>
                </c:pt>
                <c:pt idx="3">
                  <c:v>252.86234999999996</c:v>
                </c:pt>
                <c:pt idx="4">
                  <c:v>636.53695000000005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C56-4C19-BD87-0ED88E0BDE72}"/>
            </c:ext>
          </c:extLst>
        </c:ser>
        <c:ser>
          <c:idx val="1"/>
          <c:order val="1"/>
          <c:tx>
            <c:v>快速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Sheet1!$BJ$3:$BN$3</c:f>
              <c:numCache>
                <c:formatCode>General</c:formatCode>
                <c:ptCount val="5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  <c:pt idx="4">
                  <c:v>100000</c:v>
                </c:pt>
              </c:numCache>
            </c:numRef>
          </c:xVal>
          <c:yVal>
            <c:numRef>
              <c:f>Sheet1!$BJ$4:$BN$4</c:f>
              <c:numCache>
                <c:formatCode>General</c:formatCode>
                <c:ptCount val="5"/>
                <c:pt idx="0">
                  <c:v>283.17659999999995</c:v>
                </c:pt>
                <c:pt idx="1">
                  <c:v>270.65960000000007</c:v>
                </c:pt>
                <c:pt idx="2">
                  <c:v>239.73379500000001</c:v>
                </c:pt>
                <c:pt idx="3">
                  <c:v>252.44519999999997</c:v>
                </c:pt>
                <c:pt idx="4">
                  <c:v>239.59199500000005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C56-4C19-BD87-0ED88E0BDE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3187503"/>
        <c:axId val="1293185103"/>
      </c:scatterChart>
      <c:valAx>
        <c:axId val="1293187503"/>
        <c:scaling>
          <c:orientation val="minMax"/>
          <c:max val="10000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93185103"/>
        <c:crosses val="autoZero"/>
        <c:crossBetween val="midCat"/>
      </c:valAx>
      <c:valAx>
        <c:axId val="1293185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9318750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dirty="0"/>
              <a:t>K=10</a:t>
            </a:r>
            <a:r>
              <a:rPr lang="zh-CN" altLang="en-US" dirty="0"/>
              <a:t>时不同规模下算法对比</a:t>
            </a:r>
            <a:endParaRPr lang="en-US" altLang="zh-C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zh-CN"/>
        </a:p>
      </c:tx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v>选择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Sheet1!$B$2:$I$2</c:f>
              <c:numCache>
                <c:formatCode>General</c:formatCode>
                <c:ptCount val="8"/>
                <c:pt idx="0">
                  <c:v>1000000</c:v>
                </c:pt>
                <c:pt idx="1">
                  <c:v>5000000</c:v>
                </c:pt>
                <c:pt idx="2">
                  <c:v>10000000</c:v>
                </c:pt>
                <c:pt idx="3">
                  <c:v>25000000</c:v>
                </c:pt>
                <c:pt idx="4">
                  <c:v>50000000</c:v>
                </c:pt>
                <c:pt idx="5">
                  <c:v>75000000</c:v>
                </c:pt>
                <c:pt idx="6">
                  <c:v>100000000</c:v>
                </c:pt>
                <c:pt idx="7">
                  <c:v>200000000</c:v>
                </c:pt>
              </c:numCache>
            </c:numRef>
          </c:xVal>
          <c:yVal>
            <c:numRef>
              <c:f>Sheet1!$B$4:$I$4</c:f>
              <c:numCache>
                <c:formatCode>General</c:formatCode>
                <c:ptCount val="8"/>
                <c:pt idx="0">
                  <c:v>40.281020000000005</c:v>
                </c:pt>
                <c:pt idx="1">
                  <c:v>210.99560000000002</c:v>
                </c:pt>
                <c:pt idx="2">
                  <c:v>407.07565</c:v>
                </c:pt>
                <c:pt idx="3">
                  <c:v>1021.4837</c:v>
                </c:pt>
                <c:pt idx="4">
                  <c:v>2008.1740000000002</c:v>
                </c:pt>
                <c:pt idx="5">
                  <c:v>2976.8685</c:v>
                </c:pt>
                <c:pt idx="6">
                  <c:v>3964.5245000000004</c:v>
                </c:pt>
                <c:pt idx="7">
                  <c:v>7896.7699999999986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734-473D-BB56-84E9AE2D295F}"/>
            </c:ext>
          </c:extLst>
        </c:ser>
        <c:ser>
          <c:idx val="0"/>
          <c:order val="1"/>
          <c:tx>
            <c:v>堆选择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Sheet1!$L$2:$S$2</c:f>
              <c:numCache>
                <c:formatCode>General</c:formatCode>
                <c:ptCount val="8"/>
                <c:pt idx="0">
                  <c:v>1000000</c:v>
                </c:pt>
                <c:pt idx="1">
                  <c:v>5000000</c:v>
                </c:pt>
                <c:pt idx="2">
                  <c:v>10000000</c:v>
                </c:pt>
                <c:pt idx="3">
                  <c:v>25000000</c:v>
                </c:pt>
                <c:pt idx="4">
                  <c:v>50000000</c:v>
                </c:pt>
                <c:pt idx="5">
                  <c:v>75000000</c:v>
                </c:pt>
                <c:pt idx="6">
                  <c:v>100000000</c:v>
                </c:pt>
                <c:pt idx="7">
                  <c:v>200000000</c:v>
                </c:pt>
              </c:numCache>
            </c:numRef>
          </c:xVal>
          <c:yVal>
            <c:numRef>
              <c:f>Sheet1!$L$4:$S$4</c:f>
              <c:numCache>
                <c:formatCode>General</c:formatCode>
                <c:ptCount val="8"/>
                <c:pt idx="0">
                  <c:v>19.510825000000001</c:v>
                </c:pt>
                <c:pt idx="1">
                  <c:v>98.493195</c:v>
                </c:pt>
                <c:pt idx="2">
                  <c:v>195.20585</c:v>
                </c:pt>
                <c:pt idx="3">
                  <c:v>483.58515000000006</c:v>
                </c:pt>
                <c:pt idx="4">
                  <c:v>971.64080000000013</c:v>
                </c:pt>
                <c:pt idx="5">
                  <c:v>1426.6365000000001</c:v>
                </c:pt>
                <c:pt idx="6">
                  <c:v>1898.4885000000002</c:v>
                </c:pt>
                <c:pt idx="7">
                  <c:v>3801.7935000000007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734-473D-BB56-84E9AE2D295F}"/>
            </c:ext>
          </c:extLst>
        </c:ser>
        <c:ser>
          <c:idx val="2"/>
          <c:order val="2"/>
          <c:tx>
            <c:v>快速选择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Sheet1!$V$2:$AC$2</c:f>
              <c:numCache>
                <c:formatCode>General</c:formatCode>
                <c:ptCount val="8"/>
                <c:pt idx="0">
                  <c:v>1000000</c:v>
                </c:pt>
                <c:pt idx="1">
                  <c:v>5000000</c:v>
                </c:pt>
                <c:pt idx="2">
                  <c:v>10000000</c:v>
                </c:pt>
                <c:pt idx="3">
                  <c:v>25000000</c:v>
                </c:pt>
                <c:pt idx="4">
                  <c:v>50000000</c:v>
                </c:pt>
                <c:pt idx="5">
                  <c:v>75000000</c:v>
                </c:pt>
                <c:pt idx="6">
                  <c:v>100000000</c:v>
                </c:pt>
                <c:pt idx="7">
                  <c:v>200000000</c:v>
                </c:pt>
              </c:numCache>
            </c:numRef>
          </c:xVal>
          <c:yVal>
            <c:numRef>
              <c:f>Sheet1!$V$4:$AC$4</c:f>
              <c:numCache>
                <c:formatCode>General</c:formatCode>
                <c:ptCount val="8"/>
                <c:pt idx="0">
                  <c:v>18.503424000000003</c:v>
                </c:pt>
                <c:pt idx="1">
                  <c:v>104.44014999999999</c:v>
                </c:pt>
                <c:pt idx="2">
                  <c:v>209.13484500000004</c:v>
                </c:pt>
                <c:pt idx="3">
                  <c:v>569.01384499999995</c:v>
                </c:pt>
                <c:pt idx="4">
                  <c:v>856.60554999999999</c:v>
                </c:pt>
                <c:pt idx="5">
                  <c:v>1691.9511500000001</c:v>
                </c:pt>
                <c:pt idx="6">
                  <c:v>2416.6136000000001</c:v>
                </c:pt>
                <c:pt idx="7">
                  <c:v>4526.8979999999992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A734-473D-BB56-84E9AE2D29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55899360"/>
        <c:axId val="1455900320"/>
      </c:scatterChart>
      <c:valAx>
        <c:axId val="1455899360"/>
        <c:scaling>
          <c:orientation val="minMax"/>
          <c:max val="200000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55900320"/>
        <c:crosses val="autoZero"/>
        <c:crossBetween val="midCat"/>
      </c:valAx>
      <c:valAx>
        <c:axId val="1455900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5589936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57E82-C2C1-4F89-A614-C4BF84446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892212-D1D2-4303-8944-206AEFAF1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5212F6-9A48-430B-B9E6-DA670644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AC504E-755D-4F5F-A884-BCD4DD19B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E828B0-4B30-4BA2-8ADB-B8F59D36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99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457CA-DDE9-4F9F-8273-0E0264B5A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85EA8C-57D9-4581-8DE3-0E42DC10E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E55DC0-E036-4261-9731-D22858714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6E2335-EF40-4FDC-A0F9-F3A875F06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DA12CF-3869-4629-8613-E2D21DCB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19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E2813-ECDC-4E85-AA4B-AC247737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54F65D-F5F8-4A34-AFE8-94231E31D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9CA55C-516B-449E-9F4A-214010C99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22D9D-E873-400F-A805-E8C9BB7A8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1D8B4E-FD17-4313-BFCF-F96BCB1E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347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3533C-DA66-4D35-8252-1936C80E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8758ED-7231-43C7-9BE1-F52C077C1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4871AB-4676-4339-9698-3C1C0946D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BF8AD7-435F-4016-87F8-CA2CDD9B9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7EFFF-B774-47BE-8EAC-075B844B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DAA445-F7D1-4322-A39A-F748A388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721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F8ACA-0C6F-4585-BBFC-67DC1AFD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B355CF-E8C9-4F66-B7BE-AF659A2FD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D3FC60-5F48-4478-B38E-E0B42323C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6BC4FC-6846-4C6E-B5E1-5E4ED19F1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EFDE226-0E96-4C39-96A0-7769CF969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FF6DC1-ECBC-4285-9059-340DE2CCD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42EF3A-76A6-4A93-9250-C4ED8728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5702E4D-3D66-47A5-A76F-38B0D8B9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296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83F67-3EC5-41B9-AD61-409CB3DBC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73DD6F-A3B3-40E3-8D4B-902B4EB2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B60495-4166-438A-AA08-3DFF56EF2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FC8C80-8154-4157-9CFB-8CA216A8E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110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41F186-51F5-45E8-925B-6658F8A5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D2ECC3-C525-4A07-85E1-4E1F647D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334DF1-DD41-42A6-9B05-0BFE1773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22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9250C-2EE3-445E-9712-10B975409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B04AB1-6D3A-4BE8-B8B5-21A79ABC8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42F583-4BA2-4767-B73E-07B95F6A4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73520B-4AC8-4F8D-882F-32A6DD94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CA0CDF-248C-44A0-A591-5A05DE3B5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AEAC46-2DE2-47DA-8813-3C9BA8EA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00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B3301-B061-4373-9F59-0EC727BE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5669B0-DD46-493F-9454-F44F08213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C1D14F-4F0C-4201-8D61-5C840BBF6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DD7F5E-01FC-4819-8C56-D266420F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B5C8EA-E3E6-490E-9D6B-3984C960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488420-C912-41CE-AE9C-1CBF33ED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92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ECCF2-208E-4FBA-AE00-B0A5FD508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4E9D07-D1CC-4710-9907-A01DE658B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09FB46-4707-4650-AF22-2B340970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6DC8CF-D042-4A60-BA6B-A0236402C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EC390D-ECD5-4BA9-8119-03A79C78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06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C6E7E2-4753-49A0-8B5B-4BD8A505D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5B3755-B931-424B-A541-5425C7B5F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BB126F-56CE-470F-9512-76CD4C77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74AF32-60DB-438A-8513-3D49FB21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D1D76D-0183-419D-9803-7E9B71857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54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7438AF-4DE6-4664-AA9B-018009122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5168E7-0D07-40EE-A925-11F73CC3B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6C523-D268-4347-8EC0-C672D7854F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4C87E-67D7-4747-B03D-6F045E1AC05D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5BFEE9-6C9A-4DC8-8CAE-7B9476393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1A4AE2-3345-48D3-BA37-72E0F9E53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846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slideLayout" Target="../slideLayouts/slideLayout7.xml"/><Relationship Id="rId3" Type="http://schemas.openxmlformats.org/officeDocument/2006/relationships/tags" Target="../tags/tag14.xml"/><Relationship Id="rId21" Type="http://schemas.openxmlformats.org/officeDocument/2006/relationships/tags" Target="../tags/tag32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tags" Target="../tags/tag36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tags" Target="../tags/tag31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tags" Target="../tags/tag35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tags" Target="../tags/tag34.xml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tags" Target="../tags/tag3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3" Type="http://schemas.openxmlformats.org/officeDocument/2006/relationships/tags" Target="../tags/tag39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tags" Target="../tags/tag56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tags" Target="../tags/tag55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tags" Target="../tags/tag69.xml"/><Relationship Id="rId18" Type="http://schemas.openxmlformats.org/officeDocument/2006/relationships/tags" Target="../tags/tag74.xml"/><Relationship Id="rId3" Type="http://schemas.openxmlformats.org/officeDocument/2006/relationships/tags" Target="../tags/tag59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17" Type="http://schemas.openxmlformats.org/officeDocument/2006/relationships/tags" Target="../tags/tag73.xml"/><Relationship Id="rId2" Type="http://schemas.openxmlformats.org/officeDocument/2006/relationships/tags" Target="../tags/tag58.xml"/><Relationship Id="rId16" Type="http://schemas.openxmlformats.org/officeDocument/2006/relationships/tags" Target="../tags/tag72.xml"/><Relationship Id="rId20" Type="http://schemas.openxmlformats.org/officeDocument/2006/relationships/tags" Target="../tags/tag76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5" Type="http://schemas.openxmlformats.org/officeDocument/2006/relationships/tags" Target="../tags/tag71.xml"/><Relationship Id="rId10" Type="http://schemas.openxmlformats.org/officeDocument/2006/relationships/tags" Target="../tags/tag66.xml"/><Relationship Id="rId19" Type="http://schemas.openxmlformats.org/officeDocument/2006/relationships/tags" Target="../tags/tag75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tags" Target="../tags/tag7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chart" Target="../charts/chart7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8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13" Type="http://schemas.openxmlformats.org/officeDocument/2006/relationships/tags" Target="../tags/tag93.xml"/><Relationship Id="rId18" Type="http://schemas.openxmlformats.org/officeDocument/2006/relationships/tags" Target="../tags/tag98.xml"/><Relationship Id="rId3" Type="http://schemas.openxmlformats.org/officeDocument/2006/relationships/tags" Target="../tags/tag83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87.xml"/><Relationship Id="rId12" Type="http://schemas.openxmlformats.org/officeDocument/2006/relationships/tags" Target="../tags/tag92.xml"/><Relationship Id="rId17" Type="http://schemas.openxmlformats.org/officeDocument/2006/relationships/tags" Target="../tags/tag97.xml"/><Relationship Id="rId2" Type="http://schemas.openxmlformats.org/officeDocument/2006/relationships/tags" Target="../tags/tag82.xml"/><Relationship Id="rId16" Type="http://schemas.openxmlformats.org/officeDocument/2006/relationships/tags" Target="../tags/tag96.xml"/><Relationship Id="rId20" Type="http://schemas.openxmlformats.org/officeDocument/2006/relationships/tags" Target="../tags/tag100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tags" Target="../tags/tag91.xml"/><Relationship Id="rId5" Type="http://schemas.openxmlformats.org/officeDocument/2006/relationships/tags" Target="../tags/tag85.xml"/><Relationship Id="rId15" Type="http://schemas.openxmlformats.org/officeDocument/2006/relationships/tags" Target="../tags/tag95.xml"/><Relationship Id="rId10" Type="http://schemas.openxmlformats.org/officeDocument/2006/relationships/tags" Target="../tags/tag90.xml"/><Relationship Id="rId19" Type="http://schemas.openxmlformats.org/officeDocument/2006/relationships/tags" Target="../tags/tag99.xml"/><Relationship Id="rId4" Type="http://schemas.openxmlformats.org/officeDocument/2006/relationships/tags" Target="../tags/tag84.xml"/><Relationship Id="rId9" Type="http://schemas.openxmlformats.org/officeDocument/2006/relationships/tags" Target="../tags/tag89.xml"/><Relationship Id="rId14" Type="http://schemas.openxmlformats.org/officeDocument/2006/relationships/tags" Target="../tags/tag9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-圆角矩形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890216" y="1750488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PA-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837235" y="2786976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PA-圆角矩形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84541" y="1036899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A-圆角矩形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174801" y="531179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A-圆角矩形 7">
            <a:extLst>
              <a:ext uri="{FF2B5EF4-FFF2-40B4-BE49-F238E27FC236}">
                <a16:creationId xmlns:a16="http://schemas.microsoft.com/office/drawing/2014/main" id="{4C94711A-F1EC-48D3-B3D5-1CC00A21989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PA-圆角矩形 17">
            <a:extLst>
              <a:ext uri="{FF2B5EF4-FFF2-40B4-BE49-F238E27FC236}">
                <a16:creationId xmlns:a16="http://schemas.microsoft.com/office/drawing/2014/main" id="{31AF2055-48A7-4C54-A11C-925E241CAAA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384541" y="2442758"/>
            <a:ext cx="7120563" cy="2109744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PA-文本框 13">
            <a:extLst>
              <a:ext uri="{FF2B5EF4-FFF2-40B4-BE49-F238E27FC236}">
                <a16:creationId xmlns:a16="http://schemas.microsoft.com/office/drawing/2014/main" id="{73722EF1-500F-4A6B-B673-277906A7761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048010" y="2528134"/>
            <a:ext cx="59636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排序及</a:t>
            </a:r>
            <a:r>
              <a:rPr lang="en-US" altLang="zh-CN" sz="6000" dirty="0" err="1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TopK</a:t>
            </a:r>
            <a:r>
              <a:rPr lang="zh-CN" altLang="en-US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问题算法演示</a:t>
            </a:r>
          </a:p>
        </p:txBody>
      </p:sp>
      <p:sp>
        <p:nvSpPr>
          <p:cNvPr id="9" name="PA-圆角矩形 8">
            <a:extLst>
              <a:ext uri="{FF2B5EF4-FFF2-40B4-BE49-F238E27FC236}">
                <a16:creationId xmlns:a16="http://schemas.microsoft.com/office/drawing/2014/main" id="{E9D98FD9-23F9-4849-8ABD-4B3194E83D3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690166" y="4270737"/>
            <a:ext cx="2407535" cy="529731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PA-圆角矩形 18">
            <a:extLst>
              <a:ext uri="{FF2B5EF4-FFF2-40B4-BE49-F238E27FC236}">
                <a16:creationId xmlns:a16="http://schemas.microsoft.com/office/drawing/2014/main" id="{D960B0CF-F4D4-4B1F-B9B3-B3A5012EF2C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381243" y="3691758"/>
            <a:ext cx="2918378" cy="2109744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PA-文本框 13">
            <a:extLst>
              <a:ext uri="{FF2B5EF4-FFF2-40B4-BE49-F238E27FC236}">
                <a16:creationId xmlns:a16="http://schemas.microsoft.com/office/drawing/2014/main" id="{C682BAAE-DB0F-4A29-989A-BF7F78B4B45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627345" y="2622284"/>
            <a:ext cx="1771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en-US" altLang="zh-CN" sz="60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sz="6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60C63D-1517-3098-692F-1E4F4A200C19}"/>
              </a:ext>
            </a:extLst>
          </p:cNvPr>
          <p:cNvSpPr txBox="1"/>
          <p:nvPr/>
        </p:nvSpPr>
        <p:spPr>
          <a:xfrm>
            <a:off x="8589818" y="4885129"/>
            <a:ext cx="2651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报告人：姚健文</a:t>
            </a:r>
            <a:endParaRPr lang="en-US" altLang="zh-CN" sz="2400" dirty="0"/>
          </a:p>
          <a:p>
            <a:r>
              <a:rPr lang="en-US" altLang="zh-CN" sz="2400" dirty="0"/>
              <a:t>2023150131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9234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4" grpId="0" animBg="1"/>
      <p:bldP spid="4" grpId="1" animBg="1"/>
      <p:bldP spid="6" grpId="0" animBg="1"/>
      <p:bldP spid="6" grpId="1" animBg="1"/>
      <p:bldP spid="8" grpId="0" animBg="1"/>
      <p:bldP spid="8" grpId="1" animBg="1"/>
      <p:bldP spid="18" grpId="0" animBg="1"/>
      <p:bldP spid="18" grpId="1" animBg="1"/>
      <p:bldP spid="14" grpId="0"/>
      <p:bldP spid="14" grpId="1"/>
      <p:bldP spid="9" grpId="0" animBg="1"/>
      <p:bldP spid="9" grpId="1" animBg="1"/>
      <p:bldP spid="19" grpId="0" animBg="1"/>
      <p:bldP spid="19" grpId="1" animBg="1"/>
      <p:bldP spid="13" grpId="0"/>
      <p:bldP spid="1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A-圆角矩形 51">
            <a:extLst>
              <a:ext uri="{FF2B5EF4-FFF2-40B4-BE49-F238E27FC236}">
                <a16:creationId xmlns:a16="http://schemas.microsoft.com/office/drawing/2014/main" id="{6612C7AD-C5D0-4CE0-8366-4DA07510C22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8" name="PA-圆角矩形 51">
            <a:extLst>
              <a:ext uri="{FF2B5EF4-FFF2-40B4-BE49-F238E27FC236}">
                <a16:creationId xmlns:a16="http://schemas.microsoft.com/office/drawing/2014/main" id="{F99DF15F-AE84-43B1-BD9B-F3B6601555A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5" name="PA-圆角矩形 51">
            <a:extLst>
              <a:ext uri="{FF2B5EF4-FFF2-40B4-BE49-F238E27FC236}">
                <a16:creationId xmlns:a16="http://schemas.microsoft.com/office/drawing/2014/main" id="{AB33F4EF-52AF-40CF-A1FA-03C32EFBBCB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PA-圆角矩形 51">
            <a:extLst>
              <a:ext uri="{FF2B5EF4-FFF2-40B4-BE49-F238E27FC236}">
                <a16:creationId xmlns:a16="http://schemas.microsoft.com/office/drawing/2014/main" id="{350BC068-2A10-4088-8935-4FEDC5F9149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PA-圆角矩形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890216" y="1981983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" name="PA-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837235" y="3018471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PA-圆角矩形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384541" y="1268394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" name="PA-圆角矩形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174801" y="482787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5" name="PA-圆角矩形 14">
            <a:extLst>
              <a:ext uri="{FF2B5EF4-FFF2-40B4-BE49-F238E27FC236}">
                <a16:creationId xmlns:a16="http://schemas.microsoft.com/office/drawing/2014/main" id="{28E04C6A-65BD-4DAA-9677-E9B4128E044B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350873" y="2425886"/>
            <a:ext cx="2203079" cy="2203079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PA-文本框 26">
            <a:extLst>
              <a:ext uri="{FF2B5EF4-FFF2-40B4-BE49-F238E27FC236}">
                <a16:creationId xmlns:a16="http://schemas.microsoft.com/office/drawing/2014/main" id="{39FDEDFC-605C-409F-A432-538EB1677F5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575804" y="3721547"/>
            <a:ext cx="1836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PA-文本框 27">
            <a:extLst>
              <a:ext uri="{FF2B5EF4-FFF2-40B4-BE49-F238E27FC236}">
                <a16:creationId xmlns:a16="http://schemas.microsoft.com/office/drawing/2014/main" id="{DC0F587A-857A-49B1-A2AD-1305FB5B0DE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2661532" y="2875344"/>
            <a:ext cx="16690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2800" b="1" dirty="0">
                <a:solidFill>
                  <a:schemeClr val="bg1"/>
                </a:solidFill>
              </a:rPr>
              <a:t> 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PA-圆角矩形 50">
            <a:extLst>
              <a:ext uri="{FF2B5EF4-FFF2-40B4-BE49-F238E27FC236}">
                <a16:creationId xmlns:a16="http://schemas.microsoft.com/office/drawing/2014/main" id="{CC36E74B-BA9D-453F-9CBC-559876C1A7D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881136" y="2047938"/>
            <a:ext cx="991082" cy="241318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6" name="PA-圆角矩形 45">
            <a:extLst>
              <a:ext uri="{FF2B5EF4-FFF2-40B4-BE49-F238E27FC236}">
                <a16:creationId xmlns:a16="http://schemas.microsoft.com/office/drawing/2014/main" id="{604D31D0-F1BA-4DF8-80F9-516545242D58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881136" y="3452548"/>
            <a:ext cx="991082" cy="241318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4" name="PA-圆角矩形 53">
            <a:extLst>
              <a:ext uri="{FF2B5EF4-FFF2-40B4-BE49-F238E27FC236}">
                <a16:creationId xmlns:a16="http://schemas.microsoft.com/office/drawing/2014/main" id="{31B1E93E-7865-4E80-A7FB-230B440DBF97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918980" y="4974465"/>
            <a:ext cx="991082" cy="241318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8" name="PA-圆角矩形 67">
            <a:extLst>
              <a:ext uri="{FF2B5EF4-FFF2-40B4-BE49-F238E27FC236}">
                <a16:creationId xmlns:a16="http://schemas.microsoft.com/office/drawing/2014/main" id="{449A29ED-6222-4DCF-B5F1-3362F101C623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3" name="PA-圆角矩形 72">
            <a:extLst>
              <a:ext uri="{FF2B5EF4-FFF2-40B4-BE49-F238E27FC236}">
                <a16:creationId xmlns:a16="http://schemas.microsoft.com/office/drawing/2014/main" id="{B2BA17DA-5BBE-4519-99A1-D2733FB864D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8380983" y="6572911"/>
            <a:ext cx="2407535" cy="529731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grpSp>
        <p:nvGrpSpPr>
          <p:cNvPr id="3" name="PA-组合 2">
            <a:extLst>
              <a:ext uri="{FF2B5EF4-FFF2-40B4-BE49-F238E27FC236}">
                <a16:creationId xmlns:a16="http://schemas.microsoft.com/office/drawing/2014/main" id="{7CF0D2C0-559A-44D5-84C5-966B08B3852C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6870579" y="1551581"/>
            <a:ext cx="3761671" cy="730157"/>
            <a:chOff x="6898350" y="739354"/>
            <a:chExt cx="2550535" cy="730157"/>
          </a:xfrm>
        </p:grpSpPr>
        <p:sp>
          <p:nvSpPr>
            <p:cNvPr id="53" name="PA-标题 1">
              <a:extLst>
                <a:ext uri="{FF2B5EF4-FFF2-40B4-BE49-F238E27FC236}">
                  <a16:creationId xmlns:a16="http://schemas.microsoft.com/office/drawing/2014/main" id="{0D8DCF9B-7B1F-4CA7-9151-00760C2CE454}"/>
                </a:ext>
              </a:extLst>
            </p:cNvPr>
            <p:cNvSpPr txBox="1">
              <a:spLocks/>
            </p:cNvSpPr>
            <p:nvPr>
              <p:custDataLst>
                <p:tags r:id="rId24"/>
              </p:custDataLst>
            </p:nvPr>
          </p:nvSpPr>
          <p:spPr>
            <a:xfrm>
              <a:off x="6898350" y="739354"/>
              <a:ext cx="916405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7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1</a:t>
              </a:r>
              <a:endParaRPr 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4" name="PA-标题 1">
              <a:extLst>
                <a:ext uri="{FF2B5EF4-FFF2-40B4-BE49-F238E27FC236}">
                  <a16:creationId xmlns:a16="http://schemas.microsoft.com/office/drawing/2014/main" id="{F4F6C1D8-3708-4B37-B3EB-B3B1151A48C3}"/>
                </a:ext>
              </a:extLst>
            </p:cNvPr>
            <p:cNvSpPr txBox="1">
              <a:spLocks/>
            </p:cNvSpPr>
            <p:nvPr>
              <p:custDataLst>
                <p:tags r:id="rId25"/>
              </p:custDataLst>
            </p:nvPr>
          </p:nvSpPr>
          <p:spPr>
            <a:xfrm>
              <a:off x="7726515" y="879202"/>
              <a:ext cx="1722370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rm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种排序算法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PA-组合 4">
            <a:extLst>
              <a:ext uri="{FF2B5EF4-FFF2-40B4-BE49-F238E27FC236}">
                <a16:creationId xmlns:a16="http://schemas.microsoft.com/office/drawing/2014/main" id="{FC62D572-985F-499F-8ED0-FA5CD0799C6A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6881137" y="2955684"/>
            <a:ext cx="3751114" cy="676479"/>
            <a:chOff x="6881136" y="2147194"/>
            <a:chExt cx="2543377" cy="676479"/>
          </a:xfrm>
        </p:grpSpPr>
        <p:sp>
          <p:nvSpPr>
            <p:cNvPr id="37" name="PA-标题 1">
              <a:extLst>
                <a:ext uri="{FF2B5EF4-FFF2-40B4-BE49-F238E27FC236}">
                  <a16:creationId xmlns:a16="http://schemas.microsoft.com/office/drawing/2014/main" id="{352B812F-DC70-4CAF-85A9-A94D03B9D59F}"/>
                </a:ext>
              </a:extLst>
            </p:cNvPr>
            <p:cNvSpPr txBox="1">
              <a:spLocks/>
            </p:cNvSpPr>
            <p:nvPr>
              <p:custDataLst>
                <p:tags r:id="rId22"/>
              </p:custDataLst>
            </p:nvPr>
          </p:nvSpPr>
          <p:spPr>
            <a:xfrm>
              <a:off x="6881136" y="2147194"/>
              <a:ext cx="916406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7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2</a:t>
              </a:r>
              <a:endParaRPr 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5" name="PA-标题 1">
              <a:extLst>
                <a:ext uri="{FF2B5EF4-FFF2-40B4-BE49-F238E27FC236}">
                  <a16:creationId xmlns:a16="http://schemas.microsoft.com/office/drawing/2014/main" id="{164ADDDA-31CA-4B08-9B4C-94633CB9E8F9}"/>
                </a:ext>
              </a:extLst>
            </p:cNvPr>
            <p:cNvSpPr txBox="1">
              <a:spLocks/>
            </p:cNvSpPr>
            <p:nvPr>
              <p:custDataLst>
                <p:tags r:id="rId23"/>
              </p:custDataLst>
            </p:nvPr>
          </p:nvSpPr>
          <p:spPr>
            <a:xfrm>
              <a:off x="7702143" y="2233364"/>
              <a:ext cx="1722370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rm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各排序算法比较分析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PA-组合 7">
            <a:extLst>
              <a:ext uri="{FF2B5EF4-FFF2-40B4-BE49-F238E27FC236}">
                <a16:creationId xmlns:a16="http://schemas.microsoft.com/office/drawing/2014/main" id="{68AC6118-D5CF-4122-8609-96262D3D7DEB}"/>
              </a:ext>
            </a:extLst>
          </p:cNvPr>
          <p:cNvGrpSpPr/>
          <p:nvPr>
            <p:custDataLst>
              <p:tags r:id="rId19"/>
            </p:custDataLst>
          </p:nvPr>
        </p:nvGrpSpPr>
        <p:grpSpPr>
          <a:xfrm>
            <a:off x="6908424" y="4478108"/>
            <a:ext cx="3723826" cy="707471"/>
            <a:chOff x="6962718" y="3687258"/>
            <a:chExt cx="2524875" cy="707471"/>
          </a:xfrm>
        </p:grpSpPr>
        <p:sp>
          <p:nvSpPr>
            <p:cNvPr id="56" name="PA-标题 1">
              <a:extLst>
                <a:ext uri="{FF2B5EF4-FFF2-40B4-BE49-F238E27FC236}">
                  <a16:creationId xmlns:a16="http://schemas.microsoft.com/office/drawing/2014/main" id="{514CB1B8-99E4-49C8-92D8-BE392A72B719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6962718" y="3687258"/>
              <a:ext cx="916405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7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3</a:t>
              </a:r>
              <a:endParaRPr 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6" name="PA-标题 1">
              <a:extLst>
                <a:ext uri="{FF2B5EF4-FFF2-40B4-BE49-F238E27FC236}">
                  <a16:creationId xmlns:a16="http://schemas.microsoft.com/office/drawing/2014/main" id="{D1A0F2D1-8073-4ABF-BDC9-774823509ADB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7765223" y="3804420"/>
              <a:ext cx="1722370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rm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Top K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问题求解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705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7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8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11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12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15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16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19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20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23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24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27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28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53" presetClass="entr" presetSubtype="16" fill="hold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4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086 -0.34491 " pathEditMode="relative" rAng="0" ptsTypes="AA">
                                          <p:cBhvr>
                                            <p:cTn id="51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36" y="-1724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4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5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7487 -0.13472 " pathEditMode="relative" rAng="0" ptsTypes="AA">
                                          <p:cBhvr>
                                            <p:cTn id="56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737" y="-673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7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0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164 0.09005 " pathEditMode="relative" rAng="0" ptsTypes="AA">
                                          <p:cBhvr>
                                            <p:cTn id="61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76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2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4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5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269 0.28912 " pathEditMode="relative" rAng="0" ptsTypes="AA">
                                          <p:cBhvr>
                                            <p:cTn id="66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128" y="1444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7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5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2" presetClass="entr" presetSubtype="1" fill="hold" nodeType="withEffect" p14:presetBounceEnd="60000">
                                      <p:stCondLst>
                                        <p:cond delay="288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79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2" presetClass="entr" presetSubtype="1" fill="hold" nodeType="withEffect" p14:presetBounceEnd="60000">
                                      <p:stCondLst>
                                        <p:cond delay="338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82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4" presetID="2" presetClass="entr" presetSubtype="1" fill="hold" nodeType="withEffect" p14:presetBounceEnd="60000">
                                      <p:stCondLst>
                                        <p:cond delay="388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86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7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animBg="1"/>
          <p:bldP spid="49" grpId="1" animBg="1"/>
          <p:bldP spid="49" grpId="2" animBg="1"/>
          <p:bldP spid="48" grpId="0" animBg="1"/>
          <p:bldP spid="48" grpId="1" animBg="1"/>
          <p:bldP spid="48" grpId="2" animBg="1"/>
          <p:bldP spid="45" grpId="0" animBg="1"/>
          <p:bldP spid="45" grpId="1" animBg="1"/>
          <p:bldP spid="45" grpId="2" animBg="1"/>
          <p:bldP spid="43" grpId="0" animBg="1"/>
          <p:bldP spid="43" grpId="1" animBg="1"/>
          <p:bldP spid="43" grpId="2" animBg="1"/>
          <p:bldP spid="7" grpId="0" animBg="1"/>
          <p:bldP spid="4" grpId="0" animBg="1"/>
          <p:bldP spid="6" grpId="0" animBg="1"/>
          <p:bldP spid="15" grpId="0" animBg="1"/>
          <p:bldP spid="27" grpId="0"/>
          <p:bldP spid="51" grpId="0" animBg="1"/>
          <p:bldP spid="46" grpId="0" animBg="1"/>
          <p:bldP spid="54" grpId="0" animBg="1"/>
          <p:bldP spid="68" grpId="0" animBg="1"/>
          <p:bldP spid="7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1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3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4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086 -0.34491 " pathEditMode="relative" rAng="0" ptsTypes="AA">
                                          <p:cBhvr>
                                            <p:cTn id="55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36" y="-1724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6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8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9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7487 -0.13472 " pathEditMode="relative" rAng="0" ptsTypes="AA">
                                          <p:cBhvr>
                                            <p:cTn id="60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737" y="-673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1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3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4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164 0.09005 " pathEditMode="relative" rAng="0" ptsTypes="AA">
                                          <p:cBhvr>
                                            <p:cTn id="65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76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6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8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269 0.28912 " pathEditMode="relative" rAng="0" ptsTypes="AA">
                                          <p:cBhvr>
                                            <p:cTn id="7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128" y="1444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1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3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6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9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2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2" presetClass="entr" presetSubtype="1" fill="hold" nodeType="withEffect">
                                      <p:stCondLst>
                                        <p:cond delay="288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5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7" presetID="2" presetClass="entr" presetSubtype="1" fill="hold" nodeType="withEffect">
                                      <p:stCondLst>
                                        <p:cond delay="338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9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0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1" presetID="2" presetClass="entr" presetSubtype="1" fill="hold" nodeType="withEffect">
                                      <p:stCondLst>
                                        <p:cond delay="388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3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" presetClass="entr" presetSubtype="1" fill="hold" nodeType="withEffect">
                                      <p:stCondLst>
                                        <p:cond delay="438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animBg="1"/>
          <p:bldP spid="49" grpId="1" animBg="1"/>
          <p:bldP spid="49" grpId="2" animBg="1"/>
          <p:bldP spid="48" grpId="0" animBg="1"/>
          <p:bldP spid="48" grpId="1" animBg="1"/>
          <p:bldP spid="48" grpId="2" animBg="1"/>
          <p:bldP spid="45" grpId="0" animBg="1"/>
          <p:bldP spid="45" grpId="1" animBg="1"/>
          <p:bldP spid="45" grpId="2" animBg="1"/>
          <p:bldP spid="43" grpId="0" animBg="1"/>
          <p:bldP spid="43" grpId="1" animBg="1"/>
          <p:bldP spid="43" grpId="2" animBg="1"/>
          <p:bldP spid="7" grpId="0" animBg="1"/>
          <p:bldP spid="4" grpId="0" animBg="1"/>
          <p:bldP spid="6" grpId="0" animBg="1"/>
          <p:bldP spid="15" grpId="0" animBg="1"/>
          <p:bldP spid="27" grpId="0"/>
          <p:bldP spid="51" grpId="0" animBg="1"/>
          <p:bldP spid="46" grpId="0" animBg="1"/>
          <p:bldP spid="54" grpId="0" animBg="1"/>
          <p:bldP spid="57" grpId="0" animBg="1"/>
          <p:bldP spid="68" grpId="0" animBg="1"/>
          <p:bldP spid="73" grpId="0" animBg="1"/>
          <p:bldP spid="74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圆角矩形 8">
            <a:extLst>
              <a:ext uri="{FF2B5EF4-FFF2-40B4-BE49-F238E27FC236}">
                <a16:creationId xmlns:a16="http://schemas.microsoft.com/office/drawing/2014/main" id="{6E6F20AA-C6E8-44BE-8D19-0D3C9BDEE1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68294" y="3129525"/>
            <a:ext cx="898397" cy="322625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PA-标题 1">
            <a:extLst>
              <a:ext uri="{FF2B5EF4-FFF2-40B4-BE49-F238E27FC236}">
                <a16:creationId xmlns:a16="http://schemas.microsoft.com/office/drawing/2014/main" id="{4CC0907A-1A62-48F4-9B55-9BB7DDD5915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483416" y="2240791"/>
            <a:ext cx="1225168" cy="789201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endParaRPr lang="en-US" sz="138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" name="PA-组合 1">
            <a:extLst>
              <a:ext uri="{FF2B5EF4-FFF2-40B4-BE49-F238E27FC236}">
                <a16:creationId xmlns:a16="http://schemas.microsoft.com/office/drawing/2014/main" id="{FE316119-C1FB-49B5-BFA0-52F96C18D6D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6515" y="388374"/>
            <a:ext cx="2255157" cy="2037622"/>
            <a:chOff x="616515" y="388374"/>
            <a:chExt cx="2255157" cy="2037622"/>
          </a:xfrm>
        </p:grpSpPr>
        <p:sp>
          <p:nvSpPr>
            <p:cNvPr id="16" name="PA-圆角矩形 15">
              <a:extLst>
                <a:ext uri="{FF2B5EF4-FFF2-40B4-BE49-F238E27FC236}">
                  <a16:creationId xmlns:a16="http://schemas.microsoft.com/office/drawing/2014/main" id="{C7CD84A2-40A3-401F-A9DA-409B4ABF87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PA-圆角矩形 16">
              <a:extLst>
                <a:ext uri="{FF2B5EF4-FFF2-40B4-BE49-F238E27FC236}">
                  <a16:creationId xmlns:a16="http://schemas.microsoft.com/office/drawing/2014/main" id="{CE925F5F-607C-407D-A2D0-44942966DD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PA-圆角矩形 18">
              <a:extLst>
                <a:ext uri="{FF2B5EF4-FFF2-40B4-BE49-F238E27FC236}">
                  <a16:creationId xmlns:a16="http://schemas.microsoft.com/office/drawing/2014/main" id="{38A43B7E-6714-4239-A6C0-A20C9EB6E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PA-圆角矩形 22">
              <a:extLst>
                <a:ext uri="{FF2B5EF4-FFF2-40B4-BE49-F238E27FC236}">
                  <a16:creationId xmlns:a16="http://schemas.microsoft.com/office/drawing/2014/main" id="{34B063C5-342C-4688-959C-C9D3F304138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-标题 1">
            <a:extLst>
              <a:ext uri="{FF2B5EF4-FFF2-40B4-BE49-F238E27FC236}">
                <a16:creationId xmlns:a16="http://schemas.microsoft.com/office/drawing/2014/main" id="{4C4B8C7B-8E26-4887-A7AE-5F2964DE728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834826" y="3692895"/>
            <a:ext cx="2565331" cy="590309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种排序算法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PA-组合 1">
            <a:extLst>
              <a:ext uri="{FF2B5EF4-FFF2-40B4-BE49-F238E27FC236}">
                <a16:creationId xmlns:a16="http://schemas.microsoft.com/office/drawing/2014/main" id="{45381ABC-1EC4-4B4F-A10C-E3936D973F2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6515" y="391920"/>
            <a:ext cx="2255157" cy="2037622"/>
            <a:chOff x="616515" y="388374"/>
            <a:chExt cx="2255157" cy="2037622"/>
          </a:xfrm>
        </p:grpSpPr>
        <p:sp>
          <p:nvSpPr>
            <p:cNvPr id="24" name="PA-圆角矩形 15">
              <a:extLst>
                <a:ext uri="{FF2B5EF4-FFF2-40B4-BE49-F238E27FC236}">
                  <a16:creationId xmlns:a16="http://schemas.microsoft.com/office/drawing/2014/main" id="{6C04B470-BFEF-4F6A-A946-471B5D355C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圆角矩形 16">
              <a:extLst>
                <a:ext uri="{FF2B5EF4-FFF2-40B4-BE49-F238E27FC236}">
                  <a16:creationId xmlns:a16="http://schemas.microsoft.com/office/drawing/2014/main" id="{6C0F716D-B261-4372-8C3B-59CA2EBD6F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PA-圆角矩形 18">
              <a:extLst>
                <a:ext uri="{FF2B5EF4-FFF2-40B4-BE49-F238E27FC236}">
                  <a16:creationId xmlns:a16="http://schemas.microsoft.com/office/drawing/2014/main" id="{1C95B621-18DC-4B25-BF35-BBFB14FA1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PA-圆角矩形 22">
              <a:extLst>
                <a:ext uri="{FF2B5EF4-FFF2-40B4-BE49-F238E27FC236}">
                  <a16:creationId xmlns:a16="http://schemas.microsoft.com/office/drawing/2014/main" id="{37E85A14-7BB4-4957-86CD-3FC71F1F179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PA-组合 2">
            <a:extLst>
              <a:ext uri="{FF2B5EF4-FFF2-40B4-BE49-F238E27FC236}">
                <a16:creationId xmlns:a16="http://schemas.microsoft.com/office/drawing/2014/main" id="{03B04EBE-E721-4505-A5C8-558D26B631D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29" name="PA-圆角矩形 20">
              <a:extLst>
                <a:ext uri="{FF2B5EF4-FFF2-40B4-BE49-F238E27FC236}">
                  <a16:creationId xmlns:a16="http://schemas.microsoft.com/office/drawing/2014/main" id="{9343CEE2-BF0F-480A-8A51-D0081B2B9E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PA-圆角矩形 21">
              <a:extLst>
                <a:ext uri="{FF2B5EF4-FFF2-40B4-BE49-F238E27FC236}">
                  <a16:creationId xmlns:a16="http://schemas.microsoft.com/office/drawing/2014/main" id="{2B1389B9-66FC-45FA-8950-863C406B87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PA-组合 2">
            <a:extLst>
              <a:ext uri="{FF2B5EF4-FFF2-40B4-BE49-F238E27FC236}">
                <a16:creationId xmlns:a16="http://schemas.microsoft.com/office/drawing/2014/main" id="{88B89166-D218-4AE5-8CA9-5E49DAABB1F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32" name="PA-圆角矩形 20">
              <a:extLst>
                <a:ext uri="{FF2B5EF4-FFF2-40B4-BE49-F238E27FC236}">
                  <a16:creationId xmlns:a16="http://schemas.microsoft.com/office/drawing/2014/main" id="{28A80E83-1203-4740-B296-4AD1E3CE08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-圆角矩形 21">
              <a:extLst>
                <a:ext uri="{FF2B5EF4-FFF2-40B4-BE49-F238E27FC236}">
                  <a16:creationId xmlns:a16="http://schemas.microsoft.com/office/drawing/2014/main" id="{15ED84CC-1617-4DF3-B51B-3A8B64AEAA2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PA-圆角矩形 9">
            <a:extLst>
              <a:ext uri="{FF2B5EF4-FFF2-40B4-BE49-F238E27FC236}">
                <a16:creationId xmlns:a16="http://schemas.microsoft.com/office/drawing/2014/main" id="{23F784A1-6035-4AB1-9021-4A364ADDD4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03588" y="2822003"/>
            <a:ext cx="497667" cy="49766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70262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 p14:bounceEnd="28000"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 p14:presetBounceEnd="47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7000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7000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accel="40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6CF72A71-887C-4846-A632-9C33C464B760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1D368C49-5B4D-4B14-B48F-54229B32341E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2B6853D3-0C18-40C4-B998-068CD0F08D11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CBD1426E-1655-4623-BB5D-DE7D5EFAFAD7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34C670D-D6C4-418C-A0A8-9E167BB6B53C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选择排序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F13F29D-C1E4-41D5-8781-6AFFF0B4A664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D6C713E0-DDB0-4F9D-966F-3974E86CE85C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3EC253FD-0E05-427F-8356-40EBF0BCF482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847590D7-792E-32AF-C578-822E3B2A6195}"/>
              </a:ext>
            </a:extLst>
          </p:cNvPr>
          <p:cNvSpPr txBox="1"/>
          <p:nvPr/>
        </p:nvSpPr>
        <p:spPr>
          <a:xfrm>
            <a:off x="1052187" y="1320800"/>
            <a:ext cx="4857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算法思想：每次从未排序的数据中遍历，选出最小的元素放在已排序元素的后一位</a:t>
            </a: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845414FA-4174-D6D8-AA39-30940DE68B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1434355"/>
              </p:ext>
            </p:extLst>
          </p:nvPr>
        </p:nvGraphicFramePr>
        <p:xfrm>
          <a:off x="6039822" y="2738716"/>
          <a:ext cx="5805813" cy="3776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9803827-4E4D-6580-1D7D-F48258EBCD09}"/>
                  </a:ext>
                </a:extLst>
              </p:cNvPr>
              <p:cNvSpPr txBox="1"/>
              <p:nvPr/>
            </p:nvSpPr>
            <p:spPr>
              <a:xfrm>
                <a:off x="1089131" y="2437118"/>
                <a:ext cx="30619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时间复杂度：</a:t>
                </a:r>
                <a:r>
                  <a:rPr lang="en-US" altLang="zh-CN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)</a:t>
                </a:r>
                <a:r>
                  <a:rPr lang="en-US" altLang="zh-CN" b="0" i="1" dirty="0">
                    <a:solidFill>
                      <a:srgbClr val="404040"/>
                    </a:solidFill>
                    <a:effectLst/>
                    <a:latin typeface="KaTeX_Math"/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9803827-4E4D-6580-1D7D-F48258EBC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131" y="2437118"/>
                <a:ext cx="3061969" cy="369332"/>
              </a:xfrm>
              <a:prstGeom prst="rect">
                <a:avLst/>
              </a:prstGeom>
              <a:blipFill>
                <a:blip r:embed="rId3"/>
                <a:stretch>
                  <a:fillRect l="-1793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228B9805-29EE-87CE-52ED-66E984BD5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912" y="3362750"/>
            <a:ext cx="3718478" cy="2478985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C1A0121-B012-5DE0-648F-1B9446D5B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467764"/>
              </p:ext>
            </p:extLst>
          </p:nvPr>
        </p:nvGraphicFramePr>
        <p:xfrm>
          <a:off x="6240268" y="1320800"/>
          <a:ext cx="5648779" cy="14179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0110">
                  <a:extLst>
                    <a:ext uri="{9D8B030D-6E8A-4147-A177-3AD203B41FA5}">
                      <a16:colId xmlns:a16="http://schemas.microsoft.com/office/drawing/2014/main" val="3726891646"/>
                    </a:ext>
                  </a:extLst>
                </a:gridCol>
                <a:gridCol w="800110">
                  <a:extLst>
                    <a:ext uri="{9D8B030D-6E8A-4147-A177-3AD203B41FA5}">
                      <a16:colId xmlns:a16="http://schemas.microsoft.com/office/drawing/2014/main" val="3197822192"/>
                    </a:ext>
                  </a:extLst>
                </a:gridCol>
                <a:gridCol w="800110">
                  <a:extLst>
                    <a:ext uri="{9D8B030D-6E8A-4147-A177-3AD203B41FA5}">
                      <a16:colId xmlns:a16="http://schemas.microsoft.com/office/drawing/2014/main" val="1395131388"/>
                    </a:ext>
                  </a:extLst>
                </a:gridCol>
                <a:gridCol w="800110">
                  <a:extLst>
                    <a:ext uri="{9D8B030D-6E8A-4147-A177-3AD203B41FA5}">
                      <a16:colId xmlns:a16="http://schemas.microsoft.com/office/drawing/2014/main" val="3103774048"/>
                    </a:ext>
                  </a:extLst>
                </a:gridCol>
                <a:gridCol w="816113">
                  <a:extLst>
                    <a:ext uri="{9D8B030D-6E8A-4147-A177-3AD203B41FA5}">
                      <a16:colId xmlns:a16="http://schemas.microsoft.com/office/drawing/2014/main" val="3881264585"/>
                    </a:ext>
                  </a:extLst>
                </a:gridCol>
                <a:gridCol w="816113">
                  <a:extLst>
                    <a:ext uri="{9D8B030D-6E8A-4147-A177-3AD203B41FA5}">
                      <a16:colId xmlns:a16="http://schemas.microsoft.com/office/drawing/2014/main" val="791167309"/>
                    </a:ext>
                  </a:extLst>
                </a:gridCol>
                <a:gridCol w="816113">
                  <a:extLst>
                    <a:ext uri="{9D8B030D-6E8A-4147-A177-3AD203B41FA5}">
                      <a16:colId xmlns:a16="http://schemas.microsoft.com/office/drawing/2014/main" val="381656492"/>
                    </a:ext>
                  </a:extLst>
                </a:gridCol>
              </a:tblGrid>
              <a:tr h="35447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选择排序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129513937"/>
                  </a:ext>
                </a:extLst>
              </a:tr>
              <a:tr h="35447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规模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1w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10w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20w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30w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40w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50w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116405165"/>
                  </a:ext>
                </a:extLst>
              </a:tr>
              <a:tr h="35447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理论时间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223.5682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22356.82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89427.28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201211.4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357709.1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558920.5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94526377"/>
                  </a:ext>
                </a:extLst>
              </a:tr>
              <a:tr h="35447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平均时间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239.3118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21664.31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89427.28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188835.2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332249.7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507925.6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099444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308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 p14:presetBounceEnd="38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 p14:bounceEnd="38000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58" presetClass="path" presetSubtype="0" accel="67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animMotion origin="layout" path="M 4.79167E-6 2.59259E-6 C 0.14778 -0.12037 0.38645 -0.00741 0.40429 0.18727 " pathEditMode="relative" rAng="0" ptsTypes="AA">
                                          <p:cBhvr>
                                            <p:cTn id="1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208" y="68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xit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58" presetClass="path" presetSubtype="0" accel="3600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animMotion origin="layout" path="M -2.08333E-6 4.07407E-6 C 0.05156 -0.15741 0.1681 -0.35047 0.16836 -0.16297 " pathEditMode="relative" rAng="0" ptsTypes="AA">
                                          <p:cBhvr>
                                            <p:cTn id="24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411" y="-1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6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1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3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8" presetClass="emph" presetSubtype="0" fill="hold" grpId="1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41" dur="1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7" dur="1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1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4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1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6" dur="10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27" grpId="0" animBg="1"/>
          <p:bldP spid="13" grpId="0" animBg="1"/>
          <p:bldP spid="13" grpId="1" animBg="1"/>
          <p:bldP spid="12" grpId="0" animBg="1"/>
          <p:bldP spid="26" grpId="0" animBg="1"/>
          <p:bldP spid="29" grpId="0" animBg="1"/>
          <p:bldP spid="30" grpId="0" animBg="1"/>
          <p:bldP spid="31" grpId="0" animBg="1"/>
          <p:bldP spid="32" grpId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5EC414-F783-1BCE-C8EB-A1CC954B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DC02FB04-DD44-D9E1-A4C8-5C33BFC0CA88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3D6CD3F5-9AC9-2FEE-0294-11C25184DA39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14D9F499-0FE2-DDB0-E54A-E0326420F717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290B7903-FF8B-A535-11CB-0C424D6D0DA2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1F3F0DA0-4311-B0A1-64AA-5FC9551CB8D2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冒泡排序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6D94FC7-054B-7B9C-6253-C254CBDB2B1B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610D7559-563A-9473-156F-7E86201CAE8B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79414D24-726C-736C-D452-0D63FBA645F9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DED8CBC5-7635-4ACB-DA99-BB80356DB6E1}"/>
              </a:ext>
            </a:extLst>
          </p:cNvPr>
          <p:cNvSpPr txBox="1"/>
          <p:nvPr/>
        </p:nvSpPr>
        <p:spPr>
          <a:xfrm>
            <a:off x="1052187" y="1320800"/>
            <a:ext cx="4857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算法思想：每次将左右两元素比较，如果左边大于右边交换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13D0351-11C7-A10D-2E56-5689538E3826}"/>
                  </a:ext>
                </a:extLst>
              </p:cNvPr>
              <p:cNvSpPr txBox="1"/>
              <p:nvPr/>
            </p:nvSpPr>
            <p:spPr>
              <a:xfrm>
                <a:off x="1089131" y="2543961"/>
                <a:ext cx="30619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时间复杂度：</a:t>
                </a:r>
                <a:r>
                  <a:rPr lang="en-US" altLang="zh-CN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)</a:t>
                </a:r>
                <a:r>
                  <a:rPr lang="en-US" altLang="zh-CN" b="0" i="1" dirty="0">
                    <a:solidFill>
                      <a:srgbClr val="404040"/>
                    </a:solidFill>
                    <a:effectLst/>
                    <a:latin typeface="KaTeX_Math"/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13D0351-11C7-A10D-2E56-5689538E3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131" y="2543961"/>
                <a:ext cx="3061969" cy="369332"/>
              </a:xfrm>
              <a:prstGeom prst="rect">
                <a:avLst/>
              </a:prstGeom>
              <a:blipFill>
                <a:blip r:embed="rId2"/>
                <a:stretch>
                  <a:fillRect l="-1793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F5BF0804-6BC1-FADD-E10A-17D41F00D5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5964968"/>
              </p:ext>
            </p:extLst>
          </p:nvPr>
        </p:nvGraphicFramePr>
        <p:xfrm>
          <a:off x="6314926" y="2771370"/>
          <a:ext cx="5513714" cy="3799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450E597D-E205-0F35-1CD1-14D4548EC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187" y="3660760"/>
            <a:ext cx="4117523" cy="2486051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D4482A4-DFB9-4B6E-7EB6-FDAB619CB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045316"/>
              </p:ext>
            </p:extLst>
          </p:nvPr>
        </p:nvGraphicFramePr>
        <p:xfrm>
          <a:off x="6405994" y="1113905"/>
          <a:ext cx="5331578" cy="13568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1654">
                  <a:extLst>
                    <a:ext uri="{9D8B030D-6E8A-4147-A177-3AD203B41FA5}">
                      <a16:colId xmlns:a16="http://schemas.microsoft.com/office/drawing/2014/main" val="391407507"/>
                    </a:ext>
                  </a:extLst>
                </a:gridCol>
                <a:gridCol w="761654">
                  <a:extLst>
                    <a:ext uri="{9D8B030D-6E8A-4147-A177-3AD203B41FA5}">
                      <a16:colId xmlns:a16="http://schemas.microsoft.com/office/drawing/2014/main" val="3716878594"/>
                    </a:ext>
                  </a:extLst>
                </a:gridCol>
                <a:gridCol w="761654">
                  <a:extLst>
                    <a:ext uri="{9D8B030D-6E8A-4147-A177-3AD203B41FA5}">
                      <a16:colId xmlns:a16="http://schemas.microsoft.com/office/drawing/2014/main" val="2528155973"/>
                    </a:ext>
                  </a:extLst>
                </a:gridCol>
                <a:gridCol w="761654">
                  <a:extLst>
                    <a:ext uri="{9D8B030D-6E8A-4147-A177-3AD203B41FA5}">
                      <a16:colId xmlns:a16="http://schemas.microsoft.com/office/drawing/2014/main" val="3013042600"/>
                    </a:ext>
                  </a:extLst>
                </a:gridCol>
                <a:gridCol w="761654">
                  <a:extLst>
                    <a:ext uri="{9D8B030D-6E8A-4147-A177-3AD203B41FA5}">
                      <a16:colId xmlns:a16="http://schemas.microsoft.com/office/drawing/2014/main" val="1295324455"/>
                    </a:ext>
                  </a:extLst>
                </a:gridCol>
                <a:gridCol w="761654">
                  <a:extLst>
                    <a:ext uri="{9D8B030D-6E8A-4147-A177-3AD203B41FA5}">
                      <a16:colId xmlns:a16="http://schemas.microsoft.com/office/drawing/2014/main" val="332285498"/>
                    </a:ext>
                  </a:extLst>
                </a:gridCol>
                <a:gridCol w="761654">
                  <a:extLst>
                    <a:ext uri="{9D8B030D-6E8A-4147-A177-3AD203B41FA5}">
                      <a16:colId xmlns:a16="http://schemas.microsoft.com/office/drawing/2014/main" val="3378434191"/>
                    </a:ext>
                  </a:extLst>
                </a:gridCol>
              </a:tblGrid>
              <a:tr h="37956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冒泡排序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525979454"/>
                  </a:ext>
                </a:extLst>
              </a:tr>
              <a:tr h="1918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规模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1w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10w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20w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30w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40w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50w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105992423"/>
                  </a:ext>
                </a:extLst>
              </a:tr>
              <a:tr h="37956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理论时间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648.5983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64859.83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259439.3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583738.4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1037757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1621496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896650749"/>
                  </a:ext>
                </a:extLst>
              </a:tr>
              <a:tr h="37956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平均时间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491.7409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65478.25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259439.3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566834.9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1026887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1531170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456297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384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 p14:presetBounceEnd="38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 p14:bounceEnd="38000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58" presetClass="path" presetSubtype="0" accel="67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animMotion origin="layout" path="M 4.79167E-6 2.59259E-6 C 0.14778 -0.12037 0.38645 -0.00741 0.40429 0.18727 " pathEditMode="relative" rAng="0" ptsTypes="AA">
                                          <p:cBhvr>
                                            <p:cTn id="1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208" y="68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xit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58" presetClass="path" presetSubtype="0" accel="3600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animMotion origin="layout" path="M -2.08333E-6 4.07407E-6 C 0.05156 -0.15741 0.1681 -0.35047 0.16836 -0.16297 " pathEditMode="relative" rAng="0" ptsTypes="AA">
                                          <p:cBhvr>
                                            <p:cTn id="24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411" y="-1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6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1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3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8" presetClass="emph" presetSubtype="0" fill="hold" grpId="1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41" dur="1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7" dur="1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1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4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1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6" dur="10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27" grpId="0" animBg="1"/>
          <p:bldP spid="13" grpId="0" animBg="1"/>
          <p:bldP spid="13" grpId="1" animBg="1"/>
          <p:bldP spid="12" grpId="0" animBg="1"/>
          <p:bldP spid="26" grpId="0" animBg="1"/>
          <p:bldP spid="29" grpId="0" animBg="1"/>
          <p:bldP spid="30" grpId="0" animBg="1"/>
          <p:bldP spid="31" grpId="0" animBg="1"/>
          <p:bldP spid="32" grpId="0" animBg="1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9EAA74-B70F-9997-4521-D75A81494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9E43B7D4-B6EE-7AD4-632A-80DD56A1694C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B9442032-AAFB-229A-40EE-6D6AD73ADC8B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1AA52BFE-277B-2EC7-FBCA-817298D580B4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5ADB5153-83B1-3121-0D87-65418537EBE6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30120EB-BFFE-3B1F-8866-1C4C6EDCF0F7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插入排序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92CB20C-D404-0064-B862-745E37BB346B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F8CF842E-AC2D-FC5C-A4D1-3B7E023BE8FA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4D8A6B62-550E-1B7A-3528-CFC9D76BE972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8B4BDACF-8FF8-6B78-FE72-E145B6476DFD}"/>
              </a:ext>
            </a:extLst>
          </p:cNvPr>
          <p:cNvSpPr txBox="1"/>
          <p:nvPr/>
        </p:nvSpPr>
        <p:spPr>
          <a:xfrm>
            <a:off x="1052187" y="1320800"/>
            <a:ext cx="4857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算法思想：每次将一个元素插入到已排序元素的正确位置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FBC1C4A-369B-59CC-9BFB-84767E618F04}"/>
                  </a:ext>
                </a:extLst>
              </p:cNvPr>
              <p:cNvSpPr txBox="1"/>
              <p:nvPr/>
            </p:nvSpPr>
            <p:spPr>
              <a:xfrm>
                <a:off x="1089131" y="2450985"/>
                <a:ext cx="30619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时间复杂度：</a:t>
                </a:r>
                <a:r>
                  <a:rPr lang="en-US" altLang="zh-CN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)</a:t>
                </a:r>
                <a:r>
                  <a:rPr lang="en-US" altLang="zh-CN" b="0" i="1" dirty="0">
                    <a:solidFill>
                      <a:srgbClr val="404040"/>
                    </a:solidFill>
                    <a:effectLst/>
                    <a:latin typeface="KaTeX_Math"/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FBC1C4A-369B-59CC-9BFB-84767E618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131" y="2450985"/>
                <a:ext cx="3061969" cy="369332"/>
              </a:xfrm>
              <a:prstGeom prst="rect">
                <a:avLst/>
              </a:prstGeom>
              <a:blipFill>
                <a:blip r:embed="rId2"/>
                <a:stretch>
                  <a:fillRect l="-1793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7297A602-72F6-9FE1-F1F8-BE4255AFE5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6466481"/>
              </p:ext>
            </p:extLst>
          </p:nvPr>
        </p:nvGraphicFramePr>
        <p:xfrm>
          <a:off x="5804987" y="2635651"/>
          <a:ext cx="5737120" cy="3841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3B091D6E-7D68-6AD8-0A8C-A29F2147C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131" y="3657382"/>
            <a:ext cx="2624818" cy="2211054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B34E871-746C-BDD2-479B-7B85A3070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818376"/>
              </p:ext>
            </p:extLst>
          </p:nvPr>
        </p:nvGraphicFramePr>
        <p:xfrm>
          <a:off x="6096000" y="979714"/>
          <a:ext cx="5540829" cy="1235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1547">
                  <a:extLst>
                    <a:ext uri="{9D8B030D-6E8A-4147-A177-3AD203B41FA5}">
                      <a16:colId xmlns:a16="http://schemas.microsoft.com/office/drawing/2014/main" val="1231495702"/>
                    </a:ext>
                  </a:extLst>
                </a:gridCol>
                <a:gridCol w="791547">
                  <a:extLst>
                    <a:ext uri="{9D8B030D-6E8A-4147-A177-3AD203B41FA5}">
                      <a16:colId xmlns:a16="http://schemas.microsoft.com/office/drawing/2014/main" val="1965485019"/>
                    </a:ext>
                  </a:extLst>
                </a:gridCol>
                <a:gridCol w="791547">
                  <a:extLst>
                    <a:ext uri="{9D8B030D-6E8A-4147-A177-3AD203B41FA5}">
                      <a16:colId xmlns:a16="http://schemas.microsoft.com/office/drawing/2014/main" val="3212143352"/>
                    </a:ext>
                  </a:extLst>
                </a:gridCol>
                <a:gridCol w="791547">
                  <a:extLst>
                    <a:ext uri="{9D8B030D-6E8A-4147-A177-3AD203B41FA5}">
                      <a16:colId xmlns:a16="http://schemas.microsoft.com/office/drawing/2014/main" val="2706531610"/>
                    </a:ext>
                  </a:extLst>
                </a:gridCol>
                <a:gridCol w="791547">
                  <a:extLst>
                    <a:ext uri="{9D8B030D-6E8A-4147-A177-3AD203B41FA5}">
                      <a16:colId xmlns:a16="http://schemas.microsoft.com/office/drawing/2014/main" val="1434512265"/>
                    </a:ext>
                  </a:extLst>
                </a:gridCol>
                <a:gridCol w="791547">
                  <a:extLst>
                    <a:ext uri="{9D8B030D-6E8A-4147-A177-3AD203B41FA5}">
                      <a16:colId xmlns:a16="http://schemas.microsoft.com/office/drawing/2014/main" val="1724075469"/>
                    </a:ext>
                  </a:extLst>
                </a:gridCol>
                <a:gridCol w="791547">
                  <a:extLst>
                    <a:ext uri="{9D8B030D-6E8A-4147-A177-3AD203B41FA5}">
                      <a16:colId xmlns:a16="http://schemas.microsoft.com/office/drawing/2014/main" val="1054554608"/>
                    </a:ext>
                  </a:extLst>
                </a:gridCol>
              </a:tblGrid>
              <a:tr h="30886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插入排序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591569677"/>
                  </a:ext>
                </a:extLst>
              </a:tr>
              <a:tr h="30886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规模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1w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10w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20w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30w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40w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50w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828216439"/>
                  </a:ext>
                </a:extLst>
              </a:tr>
              <a:tr h="30886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理论时间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162.8419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16284.19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65136.77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146557.7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260547.1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407104.8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658158583"/>
                  </a:ext>
                </a:extLst>
              </a:tr>
              <a:tr h="30886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平均时间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157.4412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15129.91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65136.77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137190.6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239885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370616.4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92915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431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 p14:presetBounceEnd="38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 p14:bounceEnd="38000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58" presetClass="path" presetSubtype="0" accel="67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animMotion origin="layout" path="M 4.79167E-6 2.59259E-6 C 0.14778 -0.12037 0.38645 -0.00741 0.40429 0.18727 " pathEditMode="relative" rAng="0" ptsTypes="AA">
                                          <p:cBhvr>
                                            <p:cTn id="1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208" y="68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xit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58" presetClass="path" presetSubtype="0" accel="3600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animMotion origin="layout" path="M -2.08333E-6 4.07407E-6 C 0.05156 -0.15741 0.1681 -0.35047 0.16836 -0.16297 " pathEditMode="relative" rAng="0" ptsTypes="AA">
                                          <p:cBhvr>
                                            <p:cTn id="24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411" y="-1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6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1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3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8" presetClass="emph" presetSubtype="0" fill="hold" grpId="1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41" dur="1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7" dur="1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1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4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1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6" dur="10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27" grpId="0" animBg="1"/>
          <p:bldP spid="13" grpId="0" animBg="1"/>
          <p:bldP spid="13" grpId="1" animBg="1"/>
          <p:bldP spid="12" grpId="0" animBg="1"/>
          <p:bldP spid="26" grpId="0" animBg="1"/>
          <p:bldP spid="29" grpId="0" animBg="1"/>
          <p:bldP spid="30" grpId="0" animBg="1"/>
          <p:bldP spid="31" grpId="0" animBg="1"/>
          <p:bldP spid="32" grpId="0" animBg="1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178CF4-4C3A-3D69-7FD7-5DFF6E681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A0CD152-5C85-F7AD-6885-74E294CF5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355" y="2855850"/>
            <a:ext cx="3378924" cy="3367262"/>
          </a:xfrm>
          <a:prstGeom prst="rect">
            <a:avLst/>
          </a:prstGeom>
        </p:spPr>
      </p:pic>
      <p:grpSp>
        <p:nvGrpSpPr>
          <p:cNvPr id="37" name="组合 36">
            <a:extLst>
              <a:ext uri="{FF2B5EF4-FFF2-40B4-BE49-F238E27FC236}">
                <a16:creationId xmlns:a16="http://schemas.microsoft.com/office/drawing/2014/main" id="{FBF71BA7-8C6F-3137-2768-1D317203FB1D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EF22911-E1FA-BB82-41C7-DD14CCADABA0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B7E6D410-9E64-08EB-E1EA-0EA2727E81F6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2E3EB208-5366-8653-F430-80D815168428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4456993B-4ED7-F968-8D22-F0125C300FC0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归并排序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CA08A943-89A9-B215-3D56-C808BC58C66E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CEF21AB3-0250-BEB6-F7AB-0928815645AE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111C0F3A-E8F0-254E-C7B9-4388B81D5786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E606835D-EE02-EAB1-476B-10488AA346B1}"/>
              </a:ext>
            </a:extLst>
          </p:cNvPr>
          <p:cNvSpPr txBox="1"/>
          <p:nvPr/>
        </p:nvSpPr>
        <p:spPr>
          <a:xfrm>
            <a:off x="1052186" y="1320800"/>
            <a:ext cx="5215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算法思想：分治法</a:t>
            </a:r>
            <a:endParaRPr lang="en-US" altLang="zh-CN" dirty="0"/>
          </a:p>
          <a:p>
            <a:r>
              <a:rPr lang="zh-CN" altLang="en-US" dirty="0"/>
              <a:t>将序列递归分为两个序列，直到子序列长度为</a:t>
            </a:r>
            <a:r>
              <a:rPr lang="en-US" altLang="zh-CN" dirty="0"/>
              <a:t>1</a:t>
            </a:r>
          </a:p>
          <a:p>
            <a:r>
              <a:rPr lang="zh-CN" altLang="en-US" dirty="0"/>
              <a:t>将</a:t>
            </a:r>
            <a:r>
              <a:rPr lang="en-US" altLang="zh-CN" dirty="0"/>
              <a:t>2</a:t>
            </a:r>
            <a:r>
              <a:rPr lang="zh-CN" altLang="en-US" dirty="0"/>
              <a:t>个有序子序列合并为</a:t>
            </a:r>
            <a:r>
              <a:rPr lang="en-US" altLang="zh-CN" dirty="0"/>
              <a:t>1</a:t>
            </a:r>
            <a:r>
              <a:rPr lang="zh-CN" altLang="en-US" dirty="0"/>
              <a:t>个有序序列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EA7F056-F377-B98E-2F20-F8FB1D7807CC}"/>
              </a:ext>
            </a:extLst>
          </p:cNvPr>
          <p:cNvSpPr txBox="1"/>
          <p:nvPr/>
        </p:nvSpPr>
        <p:spPr>
          <a:xfrm>
            <a:off x="7362999" y="1597799"/>
            <a:ext cx="3061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时间复杂度：</a:t>
            </a:r>
            <a:r>
              <a:rPr lang="en-US" altLang="zh-CN" dirty="0"/>
              <a:t>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KaTeX_Math"/>
              </a:rPr>
              <a:t> 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B0D44F2-4BB7-67FF-526D-C36551D5D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136" y="2855850"/>
            <a:ext cx="2400918" cy="339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83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 p14:presetBounceEnd="38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 p14:bounceEnd="38000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58" presetClass="path" presetSubtype="0" accel="67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animMotion origin="layout" path="M 4.79167E-6 2.59259E-6 C 0.14778 -0.12037 0.38645 -0.00741 0.40429 0.18727 " pathEditMode="relative" rAng="0" ptsTypes="AA">
                                          <p:cBhvr>
                                            <p:cTn id="1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208" y="68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xit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58" presetClass="path" presetSubtype="0" accel="3600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animMotion origin="layout" path="M -2.08333E-6 4.07407E-6 C 0.05156 -0.15741 0.1681 -0.35047 0.16836 -0.16297 " pathEditMode="relative" rAng="0" ptsTypes="AA">
                                          <p:cBhvr>
                                            <p:cTn id="24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411" y="-1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6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1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3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8" presetClass="emph" presetSubtype="0" fill="hold" grpId="1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41" dur="1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7" dur="1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1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4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1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6" dur="10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27" grpId="0" animBg="1"/>
          <p:bldP spid="13" grpId="0" animBg="1"/>
          <p:bldP spid="13" grpId="1" animBg="1"/>
          <p:bldP spid="12" grpId="0" animBg="1"/>
          <p:bldP spid="26" grpId="0" animBg="1"/>
          <p:bldP spid="29" grpId="0" animBg="1"/>
          <p:bldP spid="30" grpId="0" animBg="1"/>
          <p:bldP spid="31" grpId="0" animBg="1"/>
          <p:bldP spid="32" grpId="0" animBg="1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E7D14-8FEE-77D4-0502-355165E34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9FF0B3A9-7632-EC13-716E-8F8E5DB326FE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328F0E29-CB23-115A-8477-7D2E4B91BB57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CD32BAD2-C0AC-C82E-A69F-40734326F8C4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643BC8EF-92B1-6CA8-2797-6BC7B04B8E24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C9EC7F65-0C0B-0128-745F-5FD81679E248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归并排序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42DE7F5-23AF-F975-4F3F-5CF938750F79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03714ED7-B9B3-87D2-84DC-EA9BA47685B0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FEF6A684-6BCB-2F7E-8EB3-662C37C169C6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3669639A-9D31-27F2-DC68-ED0F6135D9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7900307"/>
              </p:ext>
            </p:extLst>
          </p:nvPr>
        </p:nvGraphicFramePr>
        <p:xfrm>
          <a:off x="1751842" y="2719858"/>
          <a:ext cx="9013140" cy="35032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7DBCC2D-E349-0270-AF89-503A5A96C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265558"/>
              </p:ext>
            </p:extLst>
          </p:nvPr>
        </p:nvGraphicFramePr>
        <p:xfrm>
          <a:off x="1158168" y="1215420"/>
          <a:ext cx="10761590" cy="132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8685">
                  <a:extLst>
                    <a:ext uri="{9D8B030D-6E8A-4147-A177-3AD203B41FA5}">
                      <a16:colId xmlns:a16="http://schemas.microsoft.com/office/drawing/2014/main" val="847419070"/>
                    </a:ext>
                  </a:extLst>
                </a:gridCol>
                <a:gridCol w="768685">
                  <a:extLst>
                    <a:ext uri="{9D8B030D-6E8A-4147-A177-3AD203B41FA5}">
                      <a16:colId xmlns:a16="http://schemas.microsoft.com/office/drawing/2014/main" val="2326199786"/>
                    </a:ext>
                  </a:extLst>
                </a:gridCol>
                <a:gridCol w="768685">
                  <a:extLst>
                    <a:ext uri="{9D8B030D-6E8A-4147-A177-3AD203B41FA5}">
                      <a16:colId xmlns:a16="http://schemas.microsoft.com/office/drawing/2014/main" val="305408925"/>
                    </a:ext>
                  </a:extLst>
                </a:gridCol>
                <a:gridCol w="768685">
                  <a:extLst>
                    <a:ext uri="{9D8B030D-6E8A-4147-A177-3AD203B41FA5}">
                      <a16:colId xmlns:a16="http://schemas.microsoft.com/office/drawing/2014/main" val="3032498884"/>
                    </a:ext>
                  </a:extLst>
                </a:gridCol>
                <a:gridCol w="768685">
                  <a:extLst>
                    <a:ext uri="{9D8B030D-6E8A-4147-A177-3AD203B41FA5}">
                      <a16:colId xmlns:a16="http://schemas.microsoft.com/office/drawing/2014/main" val="2334454344"/>
                    </a:ext>
                  </a:extLst>
                </a:gridCol>
                <a:gridCol w="768685">
                  <a:extLst>
                    <a:ext uri="{9D8B030D-6E8A-4147-A177-3AD203B41FA5}">
                      <a16:colId xmlns:a16="http://schemas.microsoft.com/office/drawing/2014/main" val="96192397"/>
                    </a:ext>
                  </a:extLst>
                </a:gridCol>
                <a:gridCol w="768685">
                  <a:extLst>
                    <a:ext uri="{9D8B030D-6E8A-4147-A177-3AD203B41FA5}">
                      <a16:colId xmlns:a16="http://schemas.microsoft.com/office/drawing/2014/main" val="2047125815"/>
                    </a:ext>
                  </a:extLst>
                </a:gridCol>
                <a:gridCol w="768685">
                  <a:extLst>
                    <a:ext uri="{9D8B030D-6E8A-4147-A177-3AD203B41FA5}">
                      <a16:colId xmlns:a16="http://schemas.microsoft.com/office/drawing/2014/main" val="2436156053"/>
                    </a:ext>
                  </a:extLst>
                </a:gridCol>
                <a:gridCol w="768685">
                  <a:extLst>
                    <a:ext uri="{9D8B030D-6E8A-4147-A177-3AD203B41FA5}">
                      <a16:colId xmlns:a16="http://schemas.microsoft.com/office/drawing/2014/main" val="3812052958"/>
                    </a:ext>
                  </a:extLst>
                </a:gridCol>
                <a:gridCol w="768685">
                  <a:extLst>
                    <a:ext uri="{9D8B030D-6E8A-4147-A177-3AD203B41FA5}">
                      <a16:colId xmlns:a16="http://schemas.microsoft.com/office/drawing/2014/main" val="3615894982"/>
                    </a:ext>
                  </a:extLst>
                </a:gridCol>
                <a:gridCol w="768685">
                  <a:extLst>
                    <a:ext uri="{9D8B030D-6E8A-4147-A177-3AD203B41FA5}">
                      <a16:colId xmlns:a16="http://schemas.microsoft.com/office/drawing/2014/main" val="353240997"/>
                    </a:ext>
                  </a:extLst>
                </a:gridCol>
                <a:gridCol w="768685">
                  <a:extLst>
                    <a:ext uri="{9D8B030D-6E8A-4147-A177-3AD203B41FA5}">
                      <a16:colId xmlns:a16="http://schemas.microsoft.com/office/drawing/2014/main" val="2872794454"/>
                    </a:ext>
                  </a:extLst>
                </a:gridCol>
                <a:gridCol w="768685">
                  <a:extLst>
                    <a:ext uri="{9D8B030D-6E8A-4147-A177-3AD203B41FA5}">
                      <a16:colId xmlns:a16="http://schemas.microsoft.com/office/drawing/2014/main" val="2266415072"/>
                    </a:ext>
                  </a:extLst>
                </a:gridCol>
                <a:gridCol w="768685">
                  <a:extLst>
                    <a:ext uri="{9D8B030D-6E8A-4147-A177-3AD203B41FA5}">
                      <a16:colId xmlns:a16="http://schemas.microsoft.com/office/drawing/2014/main" val="969546543"/>
                    </a:ext>
                  </a:extLst>
                </a:gridCol>
              </a:tblGrid>
              <a:tr h="315507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归并排序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1w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10w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20w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30w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40w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50w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60w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70w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80w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90w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100w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500w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1000w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885353230"/>
                  </a:ext>
                </a:extLst>
              </a:tr>
              <a:tr h="27709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规模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10000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100000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200000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300000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400000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500000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600000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700000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800000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900000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1000000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5000000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10000000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7433438"/>
                  </a:ext>
                </a:extLst>
              </a:tr>
              <a:tr h="36570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理论时间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2.444207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30.55258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64.78407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100.4041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136.9259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174.1183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211.8449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250.016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288.5674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327.4515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366.631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2046.708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4277.362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55454605"/>
                  </a:ext>
                </a:extLst>
              </a:tr>
              <a:tr h="36570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平均时间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2.757251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32.95596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64.78407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97.86906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134.7044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166.7658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207.8804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239.8244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278.7843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315.9726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350.3182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1948.718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4014.507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899409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86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 p14:presetBounceEnd="38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 p14:bounceEnd="38000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58" presetClass="path" presetSubtype="0" accel="67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animMotion origin="layout" path="M 4.79167E-6 2.59259E-6 C 0.14778 -0.12037 0.38645 -0.00741 0.40429 0.18727 " pathEditMode="relative" rAng="0" ptsTypes="AA">
                                          <p:cBhvr>
                                            <p:cTn id="1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208" y="68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xit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58" presetClass="path" presetSubtype="0" accel="3600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animMotion origin="layout" path="M -2.08333E-6 4.07407E-6 C 0.05156 -0.15741 0.1681 -0.35047 0.16836 -0.16297 " pathEditMode="relative" rAng="0" ptsTypes="AA">
                                          <p:cBhvr>
                                            <p:cTn id="24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411" y="-1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6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1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3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8" presetClass="emph" presetSubtype="0" fill="hold" grpId="1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41" dur="1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7" dur="1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1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4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1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6" dur="10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27" grpId="0" animBg="1"/>
          <p:bldP spid="13" grpId="0" animBg="1"/>
          <p:bldP spid="13" grpId="1" animBg="1"/>
          <p:bldP spid="12" grpId="0" animBg="1"/>
          <p:bldP spid="26" grpId="0" animBg="1"/>
          <p:bldP spid="29" grpId="0" animBg="1"/>
          <p:bldP spid="30" grpId="0" animBg="1"/>
          <p:bldP spid="31" grpId="0" animBg="1"/>
          <p:bldP spid="32" grpId="0" animBg="1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04FABE-B152-92BD-6C3E-FC82E3F86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D42D8AC1-B858-00B4-33D2-E50A6C0D796F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0D440553-4006-68E7-140D-66D883D3747B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15A8BB9E-3185-D5DA-60D3-91B5767C5F03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C9B0B2C9-A7C2-4BC9-1C58-4D92621467E1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62CD86EA-4FA8-0827-34CA-A2B7638F9C5A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快速排序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FD21988-2212-1A6A-5088-31AF85FA34F7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7E970B33-D157-F051-7580-2ADD0B06CFF9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20B4B69A-87D7-56D2-03D6-A5F2EF9B3C1C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BE856E8-EEDD-412B-7A59-09897D9A16C2}"/>
                  </a:ext>
                </a:extLst>
              </p:cNvPr>
              <p:cNvSpPr txBox="1"/>
              <p:nvPr/>
            </p:nvSpPr>
            <p:spPr>
              <a:xfrm>
                <a:off x="7917181" y="1597799"/>
                <a:ext cx="30619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时间复杂度：</a:t>
                </a:r>
                <a:r>
                  <a:rPr lang="en-US" altLang="zh-CN" dirty="0"/>
                  <a:t>O(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dirty="0"/>
                      <m:t>nlogn</m:t>
                    </m:r>
                  </m:oMath>
                </a14:m>
                <a:r>
                  <a:rPr lang="en-US" altLang="zh-CN" dirty="0"/>
                  <a:t>)</a:t>
                </a:r>
                <a:r>
                  <a:rPr lang="en-US" altLang="zh-CN" b="0" i="1" dirty="0">
                    <a:solidFill>
                      <a:srgbClr val="404040"/>
                    </a:solidFill>
                    <a:effectLst/>
                    <a:latin typeface="KaTeX_Math"/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BE856E8-EEDD-412B-7A59-09897D9A1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181" y="1597799"/>
                <a:ext cx="3061969" cy="369332"/>
              </a:xfrm>
              <a:prstGeom prst="rect">
                <a:avLst/>
              </a:prstGeom>
              <a:blipFill>
                <a:blip r:embed="rId2"/>
                <a:stretch>
                  <a:fillRect l="-1793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BB07E3B4-01B7-CD60-1D25-951D27C3E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168" y="3264902"/>
            <a:ext cx="5399314" cy="181659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9D534FB-68A7-2BC2-4239-2D9D386D13F7}"/>
              </a:ext>
            </a:extLst>
          </p:cNvPr>
          <p:cNvSpPr txBox="1"/>
          <p:nvPr/>
        </p:nvSpPr>
        <p:spPr>
          <a:xfrm>
            <a:off x="1052186" y="1320800"/>
            <a:ext cx="64408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算法思想：分治法</a:t>
            </a:r>
            <a:endParaRPr lang="en-US" altLang="zh-CN" dirty="0"/>
          </a:p>
          <a:p>
            <a:r>
              <a:rPr lang="zh-CN" altLang="en-US" dirty="0"/>
              <a:t>选取基准值，将比基准值小的移到左边，大的移到右边</a:t>
            </a:r>
            <a:endParaRPr lang="en-US" altLang="zh-CN" dirty="0"/>
          </a:p>
          <a:p>
            <a:r>
              <a:rPr lang="zh-CN" altLang="en-US" dirty="0"/>
              <a:t>在子序列中选取新的基准值，重复直到分区中只有一个元素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79B5892-55B7-6BF1-535C-B7CFC23BC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720" y="2989457"/>
            <a:ext cx="4207329" cy="280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949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 p14:presetBounceEnd="38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 p14:bounceEnd="38000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58" presetClass="path" presetSubtype="0" accel="67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animMotion origin="layout" path="M 4.79167E-6 2.59259E-6 C 0.14778 -0.12037 0.38645 -0.00741 0.40429 0.18727 " pathEditMode="relative" rAng="0" ptsTypes="AA">
                                          <p:cBhvr>
                                            <p:cTn id="1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208" y="68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xit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58" presetClass="path" presetSubtype="0" accel="3600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animMotion origin="layout" path="M -2.08333E-6 4.07407E-6 C 0.05156 -0.15741 0.1681 -0.35047 0.16836 -0.16297 " pathEditMode="relative" rAng="0" ptsTypes="AA">
                                          <p:cBhvr>
                                            <p:cTn id="24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411" y="-1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6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1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3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8" presetClass="emph" presetSubtype="0" fill="hold" grpId="1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41" dur="1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7" dur="1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1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4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1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6" dur="10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27" grpId="0" animBg="1"/>
          <p:bldP spid="13" grpId="0" animBg="1"/>
          <p:bldP spid="13" grpId="1" animBg="1"/>
          <p:bldP spid="12" grpId="0" animBg="1"/>
          <p:bldP spid="26" grpId="0" animBg="1"/>
          <p:bldP spid="29" grpId="0" animBg="1"/>
          <p:bldP spid="30" grpId="0" animBg="1"/>
          <p:bldP spid="31" grpId="0" animBg="1"/>
          <p:bldP spid="32" grpId="0" animBg="1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76B711-06DA-15FB-8EE2-100D8243E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5F1D55CF-07B1-DBBC-AC20-801D18F1A0C6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EFC223B-4238-20C6-B4E8-088CC6DC1686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2FDC878B-4C86-6566-70A1-196B369949F0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96A74014-2B5B-0341-57C4-A3F4B442B6FC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2261C5BC-8DD2-F5B7-0F10-5D6C4CB11B2B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快速排序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D8D3BAD-2092-AA86-CC5A-0BE350A6398F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0079112D-00B7-FAEB-95D6-572076BEB7F7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8D656541-8B29-D2AF-ADAB-8B039AE5BC15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75496CE7-AD5B-C7FE-87C8-042D4C6777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8603081"/>
              </p:ext>
            </p:extLst>
          </p:nvPr>
        </p:nvGraphicFramePr>
        <p:xfrm>
          <a:off x="1304173" y="2617435"/>
          <a:ext cx="9786923" cy="3717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022BF6F-F124-AE88-2150-B6865F198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07973"/>
              </p:ext>
            </p:extLst>
          </p:nvPr>
        </p:nvGraphicFramePr>
        <p:xfrm>
          <a:off x="1158168" y="1212589"/>
          <a:ext cx="10286990" cy="1115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4785">
                  <a:extLst>
                    <a:ext uri="{9D8B030D-6E8A-4147-A177-3AD203B41FA5}">
                      <a16:colId xmlns:a16="http://schemas.microsoft.com/office/drawing/2014/main" val="2951224631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2572073297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629848539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2714238391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1265842144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1322780903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2169412635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1228846146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553755784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1125767008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826733635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3365098967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812274180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1864938770"/>
                    </a:ext>
                  </a:extLst>
                </a:gridCol>
              </a:tblGrid>
              <a:tr h="2788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快速排序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836120628"/>
                  </a:ext>
                </a:extLst>
              </a:tr>
              <a:tr h="2788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规模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1w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10w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20w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30w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40w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50w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60w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70w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80w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90w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100w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500w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1000w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766500014"/>
                  </a:ext>
                </a:extLst>
              </a:tr>
              <a:tr h="2788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理论时间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2.215174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27.68967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58.71351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90.99581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124.0954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157.8026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191.9941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226.5884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261.5274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296.7678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332.276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1854.923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3876.554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582701169"/>
                  </a:ext>
                </a:extLst>
              </a:tr>
              <a:tr h="2788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平均时间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2.272701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26.5919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58.71351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83.92562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116.8272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143.3753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183.0325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211.0665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245.3958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272.0818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336.973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>
                          <a:effectLst/>
                        </a:rPr>
                        <a:t>1858.876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u="none" strike="noStrike" dirty="0">
                          <a:effectLst/>
                        </a:rPr>
                        <a:t>3563.017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53666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09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 p14:presetBounceEnd="38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 p14:bounceEnd="38000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58" presetClass="path" presetSubtype="0" accel="67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animMotion origin="layout" path="M 4.79167E-6 2.59259E-6 C 0.14778 -0.12037 0.38645 -0.00741 0.40429 0.18727 " pathEditMode="relative" rAng="0" ptsTypes="AA">
                                          <p:cBhvr>
                                            <p:cTn id="1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208" y="68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xit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58" presetClass="path" presetSubtype="0" accel="3600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animMotion origin="layout" path="M -2.08333E-6 4.07407E-6 C 0.05156 -0.15741 0.1681 -0.35047 0.16836 -0.16297 " pathEditMode="relative" rAng="0" ptsTypes="AA">
                                          <p:cBhvr>
                                            <p:cTn id="24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411" y="-1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6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1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3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8" presetClass="emph" presetSubtype="0" fill="hold" grpId="1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41" dur="1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7" dur="1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1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4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1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6" dur="10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27" grpId="0" animBg="1"/>
          <p:bldP spid="13" grpId="0" animBg="1"/>
          <p:bldP spid="13" grpId="1" animBg="1"/>
          <p:bldP spid="12" grpId="0" animBg="1"/>
          <p:bldP spid="26" grpId="0" animBg="1"/>
          <p:bldP spid="29" grpId="0" animBg="1"/>
          <p:bldP spid="30" grpId="0" animBg="1"/>
          <p:bldP spid="31" grpId="0" animBg="1"/>
          <p:bldP spid="32" grpId="0" animBg="1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圆角矩形 8">
            <a:extLst>
              <a:ext uri="{FF2B5EF4-FFF2-40B4-BE49-F238E27FC236}">
                <a16:creationId xmlns:a16="http://schemas.microsoft.com/office/drawing/2014/main" id="{6E6F20AA-C6E8-44BE-8D19-0D3C9BDEE1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68294" y="3129525"/>
            <a:ext cx="1184626" cy="322625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PA-标题 1">
            <a:extLst>
              <a:ext uri="{FF2B5EF4-FFF2-40B4-BE49-F238E27FC236}">
                <a16:creationId xmlns:a16="http://schemas.microsoft.com/office/drawing/2014/main" id="{4CC0907A-1A62-48F4-9B55-9BB7DDD5915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668294" y="2268830"/>
            <a:ext cx="1225168" cy="761162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</a:p>
        </p:txBody>
      </p:sp>
      <p:grpSp>
        <p:nvGrpSpPr>
          <p:cNvPr id="2" name="PA-组合 1">
            <a:extLst>
              <a:ext uri="{FF2B5EF4-FFF2-40B4-BE49-F238E27FC236}">
                <a16:creationId xmlns:a16="http://schemas.microsoft.com/office/drawing/2014/main" id="{FE316119-C1FB-49B5-BFA0-52F96C18D6D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6515" y="388374"/>
            <a:ext cx="2255157" cy="2037622"/>
            <a:chOff x="616515" y="388374"/>
            <a:chExt cx="2255157" cy="2037622"/>
          </a:xfrm>
        </p:grpSpPr>
        <p:sp>
          <p:nvSpPr>
            <p:cNvPr id="16" name="PA-圆角矩形 15">
              <a:extLst>
                <a:ext uri="{FF2B5EF4-FFF2-40B4-BE49-F238E27FC236}">
                  <a16:creationId xmlns:a16="http://schemas.microsoft.com/office/drawing/2014/main" id="{C7CD84A2-40A3-401F-A9DA-409B4ABF87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PA-圆角矩形 16">
              <a:extLst>
                <a:ext uri="{FF2B5EF4-FFF2-40B4-BE49-F238E27FC236}">
                  <a16:creationId xmlns:a16="http://schemas.microsoft.com/office/drawing/2014/main" id="{CE925F5F-607C-407D-A2D0-44942966DD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PA-圆角矩形 18">
              <a:extLst>
                <a:ext uri="{FF2B5EF4-FFF2-40B4-BE49-F238E27FC236}">
                  <a16:creationId xmlns:a16="http://schemas.microsoft.com/office/drawing/2014/main" id="{38A43B7E-6714-4239-A6C0-A20C9EB6E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PA-圆角矩形 22">
              <a:extLst>
                <a:ext uri="{FF2B5EF4-FFF2-40B4-BE49-F238E27FC236}">
                  <a16:creationId xmlns:a16="http://schemas.microsoft.com/office/drawing/2014/main" id="{34B063C5-342C-4688-959C-C9D3F304138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-标题 1">
            <a:extLst>
              <a:ext uri="{FF2B5EF4-FFF2-40B4-BE49-F238E27FC236}">
                <a16:creationId xmlns:a16="http://schemas.microsoft.com/office/drawing/2014/main" id="{4C4B8C7B-8E26-4887-A7AE-5F2964DE728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834826" y="3692895"/>
            <a:ext cx="2565331" cy="590309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各排序算法比较分析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PA-组合 1">
            <a:extLst>
              <a:ext uri="{FF2B5EF4-FFF2-40B4-BE49-F238E27FC236}">
                <a16:creationId xmlns:a16="http://schemas.microsoft.com/office/drawing/2014/main" id="{45381ABC-1EC4-4B4F-A10C-E3936D973F2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6515" y="391920"/>
            <a:ext cx="2255157" cy="2037622"/>
            <a:chOff x="616515" y="388374"/>
            <a:chExt cx="2255157" cy="2037622"/>
          </a:xfrm>
        </p:grpSpPr>
        <p:sp>
          <p:nvSpPr>
            <p:cNvPr id="24" name="PA-圆角矩形 15">
              <a:extLst>
                <a:ext uri="{FF2B5EF4-FFF2-40B4-BE49-F238E27FC236}">
                  <a16:creationId xmlns:a16="http://schemas.microsoft.com/office/drawing/2014/main" id="{6C04B470-BFEF-4F6A-A946-471B5D355C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圆角矩形 16">
              <a:extLst>
                <a:ext uri="{FF2B5EF4-FFF2-40B4-BE49-F238E27FC236}">
                  <a16:creationId xmlns:a16="http://schemas.microsoft.com/office/drawing/2014/main" id="{6C0F716D-B261-4372-8C3B-59CA2EBD6F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PA-圆角矩形 18">
              <a:extLst>
                <a:ext uri="{FF2B5EF4-FFF2-40B4-BE49-F238E27FC236}">
                  <a16:creationId xmlns:a16="http://schemas.microsoft.com/office/drawing/2014/main" id="{1C95B621-18DC-4B25-BF35-BBFB14FA1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PA-圆角矩形 22">
              <a:extLst>
                <a:ext uri="{FF2B5EF4-FFF2-40B4-BE49-F238E27FC236}">
                  <a16:creationId xmlns:a16="http://schemas.microsoft.com/office/drawing/2014/main" id="{37E85A14-7BB4-4957-86CD-3FC71F1F179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PA-组合 2">
            <a:extLst>
              <a:ext uri="{FF2B5EF4-FFF2-40B4-BE49-F238E27FC236}">
                <a16:creationId xmlns:a16="http://schemas.microsoft.com/office/drawing/2014/main" id="{03B04EBE-E721-4505-A5C8-558D26B631D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29" name="PA-圆角矩形 20">
              <a:extLst>
                <a:ext uri="{FF2B5EF4-FFF2-40B4-BE49-F238E27FC236}">
                  <a16:creationId xmlns:a16="http://schemas.microsoft.com/office/drawing/2014/main" id="{9343CEE2-BF0F-480A-8A51-D0081B2B9E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PA-圆角矩形 21">
              <a:extLst>
                <a:ext uri="{FF2B5EF4-FFF2-40B4-BE49-F238E27FC236}">
                  <a16:creationId xmlns:a16="http://schemas.microsoft.com/office/drawing/2014/main" id="{2B1389B9-66FC-45FA-8950-863C406B87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PA-组合 2">
            <a:extLst>
              <a:ext uri="{FF2B5EF4-FFF2-40B4-BE49-F238E27FC236}">
                <a16:creationId xmlns:a16="http://schemas.microsoft.com/office/drawing/2014/main" id="{88B89166-D218-4AE5-8CA9-5E49DAABB1F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32" name="PA-圆角矩形 20">
              <a:extLst>
                <a:ext uri="{FF2B5EF4-FFF2-40B4-BE49-F238E27FC236}">
                  <a16:creationId xmlns:a16="http://schemas.microsoft.com/office/drawing/2014/main" id="{28A80E83-1203-4740-B296-4AD1E3CE08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-圆角矩形 21">
              <a:extLst>
                <a:ext uri="{FF2B5EF4-FFF2-40B4-BE49-F238E27FC236}">
                  <a16:creationId xmlns:a16="http://schemas.microsoft.com/office/drawing/2014/main" id="{15ED84CC-1617-4DF3-B51B-3A8B64AEAA2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PA-圆角矩形 9">
            <a:extLst>
              <a:ext uri="{FF2B5EF4-FFF2-40B4-BE49-F238E27FC236}">
                <a16:creationId xmlns:a16="http://schemas.microsoft.com/office/drawing/2014/main" id="{23F784A1-6035-4AB1-9021-4A364ADDD4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03588" y="2822003"/>
            <a:ext cx="497667" cy="49766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88907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 p14:bounceEnd="28000"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 p14:presetBounceEnd="47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7000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7000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accel="40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83A330B1-4DE4-4166-9CC2-8FCCA7970594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BC705468-A605-4090-9DAF-237608E0F93C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3DD6AAE6-7752-4CB7-88C2-5E13994BA30E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654C22CE-59C2-496D-B598-70C287E6957F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95E7B05-CC54-493F-A853-E3B338F3A4F9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种算法比较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2884699-5DFA-4BEC-8CCE-D13D269D61EE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136A69FD-B86E-4593-8837-77CBDDBAAD0D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B686100A-BEB5-4EDA-A82B-B7D7F10C459E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1E845A95-2594-3302-3144-3B293C4560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4219591"/>
              </p:ext>
            </p:extLst>
          </p:nvPr>
        </p:nvGraphicFramePr>
        <p:xfrm>
          <a:off x="1052186" y="1162050"/>
          <a:ext cx="5907413" cy="4883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153DE59A-F995-AC66-45C8-16564687E709}"/>
              </a:ext>
            </a:extLst>
          </p:cNvPr>
          <p:cNvSpPr txBox="1"/>
          <p:nvPr/>
        </p:nvSpPr>
        <p:spPr>
          <a:xfrm>
            <a:off x="7245928" y="2362199"/>
            <a:ext cx="468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冒泡排序的交换操作较多，明显比其他同速的算法更耗时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E6BE10-D38F-3F70-4396-CE35F70EFE5C}"/>
              </a:ext>
            </a:extLst>
          </p:cNvPr>
          <p:cNvSpPr txBox="1"/>
          <p:nvPr/>
        </p:nvSpPr>
        <p:spPr>
          <a:xfrm>
            <a:off x="7245928" y="4020558"/>
            <a:ext cx="468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插入排序在有序序列中的遍历大部分时候不用遍历全部元素，因此略优于选择排序</a:t>
            </a:r>
          </a:p>
        </p:txBody>
      </p:sp>
    </p:spTree>
    <p:extLst>
      <p:ext uri="{BB962C8B-B14F-4D97-AF65-F5344CB8AC3E}">
        <p14:creationId xmlns:p14="http://schemas.microsoft.com/office/powerpoint/2010/main" val="282186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 p14:presetBounceEnd="38000">
                                      <p:stCondLst>
                                        <p:cond delay="1500"/>
                                      </p:stCondLst>
                                      <p:childTnLst>
                                        <p:animMotion origin="layout" path="M -2.08333E-6 -2.96296E-6 C 0.0336 0.0132 0.1444 0.05602 0.15755 0.34283 " pathEditMode="relative" rAng="0" ptsTypes="AA" p14:bounceEnd="38000">
                                          <p:cBhvr>
                                            <p:cTn id="12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878" y="1713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53" presetClass="entr" presetSubtype="16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75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53" presetClass="entr" presetSubtype="16" fill="hold" grpId="0" nodeType="withEffect">
                                      <p:stCondLst>
                                        <p:cond delay="195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7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7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75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53" presetClass="entr" presetSubtype="16" fill="hold" grpId="0" nodeType="withEffect">
                                      <p:stCondLst>
                                        <p:cond delay="263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7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7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9" dur="75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53" presetClass="entr" presetSubtype="16" fill="hold" grpId="0" nodeType="withEffect">
                                      <p:stCondLst>
                                        <p:cond delay="3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53" presetClass="entr" presetSubtype="16" fill="hold" grpId="0" nodeType="withEffect">
                                      <p:stCondLst>
                                        <p:cond delay="37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53" presetClass="entr" presetSubtype="16" fill="hold" grpId="0" nodeType="withEffect">
                                      <p:stCondLst>
                                        <p:cond delay="39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53" presetClass="entr" presetSubtype="16" fill="hold" grpId="0" nodeType="withEffect">
                                      <p:stCondLst>
                                        <p:cond delay="41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53" presetClass="entr" presetSubtype="16" fill="hold" grpId="0" nodeType="withEffect">
                                      <p:stCondLst>
                                        <p:cond delay="430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53" presetClass="entr" presetSubtype="16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53" presetClass="entr" presetSubtype="16" fill="hold" grpId="0" nodeType="withEffect">
                                      <p:stCondLst>
                                        <p:cond delay="47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3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4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2" presetClass="entr" presetSubtype="1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1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1" presetID="58" presetClass="path" presetSubtype="0" accel="6600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Motion origin="layout" path="M -2.08333E-6 -2.96296E-6 C 0.0336 0.0132 0.1444 0.05602 0.15755 0.34283 " pathEditMode="relative" rAng="0" ptsTypes="AA">
                                          <p:cBhvr>
                                            <p:cTn id="92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878" y="1713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3" presetID="1" presetClass="exit" presetSubtype="0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" presetClass="entr" presetSubtype="0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7" presetID="58" presetClass="path" presetSubtype="0" accel="67000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animMotion origin="layout" path="M -4.16667E-6 2.96296E-6 C 0.11055 -0.26644 0.20183 -0.15648 0.26433 -0.00533 " pathEditMode="relative" rAng="0" ptsTypes="AA">
                                          <p:cBhvr>
                                            <p:cTn id="98" dur="65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216" y="-807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9" presetID="1" presetClass="exit" presetSubtype="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" presetClass="entr" presetSubtype="0" fill="hold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3" presetID="58" presetClass="path" presetSubtype="0" accel="36000" fill="hold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animMotion origin="layout" path="M 4.375E-6 4.81481E-6 C 0.05117 -0.15741 0.15872 -0.26019 0.25 0.00648 " pathEditMode="relative" rAng="0" ptsTypes="AA">
                                          <p:cBhvr>
                                            <p:cTn id="104" dur="65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2500" y="-756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5" presetID="10" presetClass="exit" presetSubtype="0" fill="hold" nodeType="withEffect">
                                      <p:stCondLst>
                                        <p:cond delay="33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6" dur="6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8" presetID="53" presetClass="entr" presetSubtype="16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53" presetClass="entr" presetSubtype="16" fill="hold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7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8" presetID="53" presetClass="entr" presetSubtype="16" fill="hold" nodeType="withEffect">
                                      <p:stCondLst>
                                        <p:cond delay="333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2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23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</p:bld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845AF61D-1995-4D14-AD90-B7BC64431F7B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CB0BEBBF-FEFC-4837-9DAC-5567707F1154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54F765AD-0DC1-4AB2-BC0D-76BE094E4646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2" name="PA-组合 81">
            <a:extLst>
              <a:ext uri="{FF2B5EF4-FFF2-40B4-BE49-F238E27FC236}">
                <a16:creationId xmlns:a16="http://schemas.microsoft.com/office/drawing/2014/main" id="{C40EAD5C-AE5A-499A-ABC6-29823368C22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55266" y="634888"/>
            <a:ext cx="2697584" cy="707886"/>
            <a:chOff x="1148080" y="833460"/>
            <a:chExt cx="2292274" cy="707886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06D3DE2D-618D-44B9-AC29-439DA15A6E00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85" name="PA-圆角矩形 84">
                <a:extLst>
                  <a:ext uri="{FF2B5EF4-FFF2-40B4-BE49-F238E27FC236}">
                    <a16:creationId xmlns:a16="http://schemas.microsoft.com/office/drawing/2014/main" id="{DDA0D906-07D5-4B7F-8340-66B3FCF0E6C4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PA-圆角矩形 85">
                <a:extLst>
                  <a:ext uri="{FF2B5EF4-FFF2-40B4-BE49-F238E27FC236}">
                    <a16:creationId xmlns:a16="http://schemas.microsoft.com/office/drawing/2014/main" id="{82ED6D7D-F7AC-4F6C-8D1B-2D62CE48B870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4" name="PA-文本框 83">
              <a:extLst>
                <a:ext uri="{FF2B5EF4-FFF2-40B4-BE49-F238E27FC236}">
                  <a16:creationId xmlns:a16="http://schemas.microsoft.com/office/drawing/2014/main" id="{65FA5167-C6F4-44DF-B24E-011CC1FE3F1E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1396987" y="833460"/>
              <a:ext cx="204336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归并与快速比较</a:t>
              </a:r>
            </a:p>
          </p:txBody>
        </p:sp>
      </p:grp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16ED1642-F997-0E05-E69D-926EECA9E5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2053653"/>
              </p:ext>
            </p:extLst>
          </p:nvPr>
        </p:nvGraphicFramePr>
        <p:xfrm>
          <a:off x="969168" y="1378320"/>
          <a:ext cx="5850732" cy="4844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D98906B9-F078-76E6-F6FB-EEB007BBD8DA}"/>
              </a:ext>
            </a:extLst>
          </p:cNvPr>
          <p:cNvSpPr txBox="1"/>
          <p:nvPr/>
        </p:nvSpPr>
        <p:spPr>
          <a:xfrm>
            <a:off x="7207827" y="2586426"/>
            <a:ext cx="4152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快速排序在原本的数组上交换元素，归并排序需要开辟新的空间并合并两序列，因此快速排序性能优于归并排序</a:t>
            </a:r>
          </a:p>
        </p:txBody>
      </p:sp>
    </p:spTree>
    <p:extLst>
      <p:ext uri="{BB962C8B-B14F-4D97-AF65-F5344CB8AC3E}">
        <p14:creationId xmlns:p14="http://schemas.microsoft.com/office/powerpoint/2010/main" val="185398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58" presetClass="path" presetSubtype="0" accel="100000" fill="hold" nodeType="withEffect" p14:presetBounceEnd="21000">
                                      <p:stCondLst>
                                        <p:cond delay="1300"/>
                                      </p:stCondLst>
                                      <p:childTnLst>
                                        <p:animMotion origin="layout" path="M -2.08333E-6 -0.00023 C 0.16537 -0.22824 0.40808 -0.00324 0.41276 0.09699 " pathEditMode="relative" rAng="0" ptsTypes="AA" p14:bounceEnd="21000">
                                          <p:cBhvr>
                                            <p:cTn id="8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638" y="-6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exit" presetSubtype="0" fill="hold" nodeType="withEffect">
                                      <p:stCondLst>
                                        <p:cond delay="2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nodeType="withEffect" p14:presetBounceEnd="60000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3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4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53" presetClass="entr" presetSubtype="16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53" presetClass="entr" presetSubtype="16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53" presetClass="entr" presetSubtype="16" fill="hold" grpId="0" nodeType="withEffect">
                                      <p:stCondLst>
                                        <p:cond delay="16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53" presetClass="entr" presetSubtype="16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53" presetClass="entr" presetSubtype="16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53" presetClass="entr" presetSubtype="16" fill="hold" grpId="0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53" presetClass="entr" presetSubtype="16" fill="hold" grpId="0" nodeType="withEffect">
                                      <p:stCondLst>
                                        <p:cond delay="24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53" presetClass="entr" presetSubtype="16" fill="hold" grpId="0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53" presetClass="entr" presetSubtype="16" fill="hold" grpId="0" nodeType="withEffect">
                                      <p:stCondLst>
                                        <p:cond delay="29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4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4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9" dur="4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53" presetClass="entr" presetSubtype="16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3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4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53" presetClass="entr" presetSubtype="16" fill="hold" grpId="0" nodeType="withEffect">
                                      <p:stCondLst>
                                        <p:cond delay="32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53" presetClass="entr" presetSubtype="16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53" presetClass="entr" presetSubtype="16" fill="hold" grpId="0" nodeType="withEffect">
                                      <p:stCondLst>
                                        <p:cond delay="36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9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53" presetClass="entr" presetSubtype="16" fill="hold" grpId="0" nodeType="withEffect">
                                      <p:stCondLst>
                                        <p:cond delay="380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2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4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5" presetID="53" presetClass="entr" presetSubtype="16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7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53" presetClass="entr" presetSubtype="16" fill="hold" grpId="0" nodeType="withEffect">
                                      <p:stCondLst>
                                        <p:cond delay="420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4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53" presetClass="entr" presetSubtype="16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9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0" presetID="53" presetClass="entr" presetSubtype="16" fill="hold" grpId="0" nodeType="withEffect">
                                      <p:stCondLst>
                                        <p:cond delay="460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2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3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53" presetClass="entr" presetSubtype="16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9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0" presetID="53" presetClass="entr" presetSubtype="16" fill="hold" grpId="0" nodeType="withEffect">
                                      <p:stCondLst>
                                        <p:cond delay="500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4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5" presetID="22" presetClass="entr" presetSubtype="2" fill="hold" nodeType="withEffect">
                                      <p:stCondLst>
                                        <p:cond delay="210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37" dur="75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8" presetID="22" presetClass="entr" presetSubtype="2" fill="hold" grpId="0" nodeType="withEffect">
                                      <p:stCondLst>
                                        <p:cond delay="2300"/>
                                      </p:stCondLst>
                                      <p:childTnLs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40" dur="75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1" presetID="22" presetClass="entr" presetSubtype="2" fill="hold" nodeType="withEffect">
                                      <p:stCondLst>
                                        <p:cond delay="510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43" dur="75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4" presetID="22" presetClass="entr" presetSubtype="2" fill="hold" grpId="0" nodeType="withEffect">
                                      <p:stCondLst>
                                        <p:cond delay="5300"/>
                                      </p:stCondLst>
                                      <p:childTnLst>
                                        <p:set>
                                          <p:cBhvr>
                                            <p:cTn id="1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46" dur="75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7" presetID="22" presetClass="entr" presetSubtype="8" fill="hold" nodeType="withEffect">
                                      <p:stCondLst>
                                        <p:cond delay="2800"/>
                                      </p:stCondLst>
                                      <p:childTnLst>
                                        <p:set>
                                          <p:cBhvr>
                                            <p:cTn id="1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9" dur="7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0" presetID="22" presetClass="entr" presetSubtype="8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2" dur="75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3" presetID="22" presetClass="entr" presetSubtype="8" fill="hold" grpId="0" nodeType="withEffect">
                                      <p:stCondLst>
                                        <p:cond delay="6000"/>
                                      </p:stCondLst>
                                      <p:childTnLs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5" dur="75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6" presetID="22" presetClass="entr" presetSubtype="8" fill="hold" nodeType="withEffect">
                                      <p:stCondLst>
                                        <p:cond delay="580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8" dur="75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9" presetID="1" presetClass="entr" presetSubtype="0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58" presetClass="path" presetSubtype="0" accel="100000" fill="hold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animMotion origin="layout" path="M -2.08333E-6 -0.00023 C 0.16537 -0.22824 0.40808 -0.00324 0.41276 0.09699 " pathEditMode="relative" rAng="0" ptsTypes="AA">
                                          <p:cBhvr>
                                            <p:cTn id="162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638" y="-6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63" presetID="1" presetClass="exit" presetSubtype="0" fill="hold" nodeType="withEffect">
                                      <p:stCondLst>
                                        <p:cond delay="2300"/>
                                      </p:stCondLst>
                                      <p:childTnLst>
                                        <p:set>
                                          <p:cBhvr>
                                            <p:cTn id="1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5" presetID="1" presetClass="entr" presetSubtype="0" fill="hold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58" presetClass="path" presetSubtype="0" accel="100000" fill="hold" nodeType="withEffect">
                                      <p:stCondLst>
                                        <p:cond delay="2300"/>
                                      </p:stCondLst>
                                      <p:childTnLst>
                                        <p:animMotion origin="layout" path="M 0.00039 -0.00093 C 0.07097 -0.15232 0.12305 -0.08287 0.1625 -0.0044 " pathEditMode="relative" rAng="0" ptsTypes="AA">
                                          <p:cBhvr>
                                            <p:cTn id="168" dur="7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099" y="-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69" presetID="1" presetClass="exit" presetSubtype="0" fill="hold" nodeType="withEffect">
                                      <p:stCondLst>
                                        <p:cond delay="3200"/>
                                      </p:stCondLst>
                                      <p:childTnLst>
                                        <p:set>
                                          <p:cBhvr>
                                            <p:cTn id="1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1" presetID="1" presetClass="entr" presetSubtype="0" fill="hold" nodeType="withEffect">
                                      <p:stCondLst>
                                        <p:cond delay="3200"/>
                                      </p:stCondLst>
                                      <p:childTnLs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58" presetClass="path" presetSubtype="0" accel="100000" fill="hold" nodeType="withEffect">
                                      <p:stCondLst>
                                        <p:cond delay="3300"/>
                                      </p:stCondLst>
                                      <p:childTnLst>
                                        <p:animMotion origin="layout" path="M 4.16667E-7 -4.07407E-6 C -0.17214 -0.39189 -0.36992 0.55811 -0.3651 0.65949 " pathEditMode="relative" rAng="0" ptsTypes="AA">
                                          <p:cBhvr>
                                            <p:cTn id="174" dur="2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8268" y="2824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5" presetID="1" presetClass="exit" presetSubtype="0" fill="hold" nodeType="withEffect">
                                      <p:stCondLst>
                                        <p:cond delay="5300"/>
                                      </p:stCondLst>
                                      <p:childTnLst>
                                        <p:set>
                                          <p:cBhvr>
                                            <p:cTn id="1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7" presetID="1" presetClass="entr" presetSubtype="0" fill="hold" nodeType="withEffect">
                                      <p:stCondLst>
                                        <p:cond delay="5200"/>
                                      </p:stCondLst>
                                      <p:childTnLs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58" presetClass="path" presetSubtype="0" accel="66667" fill="hold" nodeType="withEffect">
                                      <p:stCondLst>
                                        <p:cond delay="5300"/>
                                      </p:stCondLst>
                                      <p:childTnLst>
                                        <p:animMotion origin="layout" path="M 0.00078 -0.00046 C 0.08516 -0.19074 0.17826 -0.11828 0.18868 0.05973 " pathEditMode="relative" rAng="0" ptsTypes="AA">
                                          <p:cBhvr>
                                            <p:cTn id="180" dur="75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388" y="-26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1" presetID="1" presetClass="exit" presetSubtype="0" fill="hold" nodeType="withEffect">
                                      <p:stCondLst>
                                        <p:cond delay="6000"/>
                                      </p:stCondLst>
                                      <p:childTnLst>
                                        <p:set>
                                          <p:cBhvr>
                                            <p:cTn id="1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3" presetID="1" presetClass="entr" presetSubtype="0" fill="hold" nodeType="withEffect">
                                      <p:stCondLst>
                                        <p:cond delay="6000"/>
                                      </p:stCondLst>
                                      <p:childTnLs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58" presetClass="path" presetSubtype="0" accel="100000" fill="hold" nodeType="withEffect">
                                      <p:stCondLst>
                                        <p:cond delay="6050"/>
                                      </p:stCondLst>
                                      <p:childTnLst>
                                        <p:animMotion origin="layout" path="M 0.00169 -0.00208 C -0.03789 -0.20347 -0.13933 -0.02245 -0.18308 0.11922 " pathEditMode="relative" rAng="0" ptsTypes="AA">
                                          <p:cBhvr>
                                            <p:cTn id="186" dur="7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9245" y="157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7" presetID="1" presetClass="exit" presetSubtype="0" fill="hold" nodeType="withEffect">
                                      <p:stCondLst>
                                        <p:cond delay="6700"/>
                                      </p:stCondLst>
                                      <p:childTnLst>
                                        <p:set>
                                          <p:cBhvr>
                                            <p:cTn id="1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9" presetID="2" presetClass="entr" presetSubtype="1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1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2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54" grpId="0" animBg="1"/>
          <p:bldP spid="55" grpId="0" animBg="1"/>
          <p:bldP spid="59" grpId="0" animBg="1"/>
          <p:bldP spid="61" grpId="0"/>
          <p:bldP spid="66" grpId="0"/>
          <p:bldP spid="68" grpId="0"/>
          <p:bldP spid="79" grpId="0" animBg="1"/>
          <p:bldP spid="80" grpId="0" animBg="1"/>
          <p:bldP spid="81" grpId="0" animBg="1"/>
        </p:bldLst>
      </p:timing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圆角矩形 8">
            <a:extLst>
              <a:ext uri="{FF2B5EF4-FFF2-40B4-BE49-F238E27FC236}">
                <a16:creationId xmlns:a16="http://schemas.microsoft.com/office/drawing/2014/main" id="{6E6F20AA-C6E8-44BE-8D19-0D3C9BDEE1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68294" y="3129525"/>
            <a:ext cx="1178276" cy="322625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PA-标题 1">
            <a:extLst>
              <a:ext uri="{FF2B5EF4-FFF2-40B4-BE49-F238E27FC236}">
                <a16:creationId xmlns:a16="http://schemas.microsoft.com/office/drawing/2014/main" id="{4CC0907A-1A62-48F4-9B55-9BB7DDD5915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711329" y="2253764"/>
            <a:ext cx="1225168" cy="789201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</a:p>
        </p:txBody>
      </p:sp>
      <p:grpSp>
        <p:nvGrpSpPr>
          <p:cNvPr id="2" name="PA-组合 1">
            <a:extLst>
              <a:ext uri="{FF2B5EF4-FFF2-40B4-BE49-F238E27FC236}">
                <a16:creationId xmlns:a16="http://schemas.microsoft.com/office/drawing/2014/main" id="{FE316119-C1FB-49B5-BFA0-52F96C18D6D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6515" y="388374"/>
            <a:ext cx="2255157" cy="2037622"/>
            <a:chOff x="616515" y="388374"/>
            <a:chExt cx="2255157" cy="2037622"/>
          </a:xfrm>
        </p:grpSpPr>
        <p:sp>
          <p:nvSpPr>
            <p:cNvPr id="16" name="PA-圆角矩形 15">
              <a:extLst>
                <a:ext uri="{FF2B5EF4-FFF2-40B4-BE49-F238E27FC236}">
                  <a16:creationId xmlns:a16="http://schemas.microsoft.com/office/drawing/2014/main" id="{C7CD84A2-40A3-401F-A9DA-409B4ABF87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PA-圆角矩形 16">
              <a:extLst>
                <a:ext uri="{FF2B5EF4-FFF2-40B4-BE49-F238E27FC236}">
                  <a16:creationId xmlns:a16="http://schemas.microsoft.com/office/drawing/2014/main" id="{CE925F5F-607C-407D-A2D0-44942966DD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PA-圆角矩形 18">
              <a:extLst>
                <a:ext uri="{FF2B5EF4-FFF2-40B4-BE49-F238E27FC236}">
                  <a16:creationId xmlns:a16="http://schemas.microsoft.com/office/drawing/2014/main" id="{38A43B7E-6714-4239-A6C0-A20C9EB6E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PA-圆角矩形 22">
              <a:extLst>
                <a:ext uri="{FF2B5EF4-FFF2-40B4-BE49-F238E27FC236}">
                  <a16:creationId xmlns:a16="http://schemas.microsoft.com/office/drawing/2014/main" id="{34B063C5-342C-4688-959C-C9D3F304138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-标题 1">
            <a:extLst>
              <a:ext uri="{FF2B5EF4-FFF2-40B4-BE49-F238E27FC236}">
                <a16:creationId xmlns:a16="http://schemas.microsoft.com/office/drawing/2014/main" id="{4C4B8C7B-8E26-4887-A7AE-5F2964DE728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834826" y="3692895"/>
            <a:ext cx="2565331" cy="590309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 K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问题算法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PA-组合 1">
            <a:extLst>
              <a:ext uri="{FF2B5EF4-FFF2-40B4-BE49-F238E27FC236}">
                <a16:creationId xmlns:a16="http://schemas.microsoft.com/office/drawing/2014/main" id="{45381ABC-1EC4-4B4F-A10C-E3936D973F2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6515" y="391920"/>
            <a:ext cx="2255157" cy="2037622"/>
            <a:chOff x="616515" y="388374"/>
            <a:chExt cx="2255157" cy="2037622"/>
          </a:xfrm>
        </p:grpSpPr>
        <p:sp>
          <p:nvSpPr>
            <p:cNvPr id="24" name="PA-圆角矩形 15">
              <a:extLst>
                <a:ext uri="{FF2B5EF4-FFF2-40B4-BE49-F238E27FC236}">
                  <a16:creationId xmlns:a16="http://schemas.microsoft.com/office/drawing/2014/main" id="{6C04B470-BFEF-4F6A-A946-471B5D355C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圆角矩形 16">
              <a:extLst>
                <a:ext uri="{FF2B5EF4-FFF2-40B4-BE49-F238E27FC236}">
                  <a16:creationId xmlns:a16="http://schemas.microsoft.com/office/drawing/2014/main" id="{6C0F716D-B261-4372-8C3B-59CA2EBD6F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PA-圆角矩形 18">
              <a:extLst>
                <a:ext uri="{FF2B5EF4-FFF2-40B4-BE49-F238E27FC236}">
                  <a16:creationId xmlns:a16="http://schemas.microsoft.com/office/drawing/2014/main" id="{1C95B621-18DC-4B25-BF35-BBFB14FA1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PA-圆角矩形 22">
              <a:extLst>
                <a:ext uri="{FF2B5EF4-FFF2-40B4-BE49-F238E27FC236}">
                  <a16:creationId xmlns:a16="http://schemas.microsoft.com/office/drawing/2014/main" id="{37E85A14-7BB4-4957-86CD-3FC71F1F179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PA-组合 2">
            <a:extLst>
              <a:ext uri="{FF2B5EF4-FFF2-40B4-BE49-F238E27FC236}">
                <a16:creationId xmlns:a16="http://schemas.microsoft.com/office/drawing/2014/main" id="{03B04EBE-E721-4505-A5C8-558D26B631D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29" name="PA-圆角矩形 20">
              <a:extLst>
                <a:ext uri="{FF2B5EF4-FFF2-40B4-BE49-F238E27FC236}">
                  <a16:creationId xmlns:a16="http://schemas.microsoft.com/office/drawing/2014/main" id="{9343CEE2-BF0F-480A-8A51-D0081B2B9E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PA-圆角矩形 21">
              <a:extLst>
                <a:ext uri="{FF2B5EF4-FFF2-40B4-BE49-F238E27FC236}">
                  <a16:creationId xmlns:a16="http://schemas.microsoft.com/office/drawing/2014/main" id="{2B1389B9-66FC-45FA-8950-863C406B87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PA-组合 2">
            <a:extLst>
              <a:ext uri="{FF2B5EF4-FFF2-40B4-BE49-F238E27FC236}">
                <a16:creationId xmlns:a16="http://schemas.microsoft.com/office/drawing/2014/main" id="{88B89166-D218-4AE5-8CA9-5E49DAABB1F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32" name="PA-圆角矩形 20">
              <a:extLst>
                <a:ext uri="{FF2B5EF4-FFF2-40B4-BE49-F238E27FC236}">
                  <a16:creationId xmlns:a16="http://schemas.microsoft.com/office/drawing/2014/main" id="{28A80E83-1203-4740-B296-4AD1E3CE08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-圆角矩形 21">
              <a:extLst>
                <a:ext uri="{FF2B5EF4-FFF2-40B4-BE49-F238E27FC236}">
                  <a16:creationId xmlns:a16="http://schemas.microsoft.com/office/drawing/2014/main" id="{15ED84CC-1617-4DF3-B51B-3A8B64AEAA2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PA-圆角矩形 9">
            <a:extLst>
              <a:ext uri="{FF2B5EF4-FFF2-40B4-BE49-F238E27FC236}">
                <a16:creationId xmlns:a16="http://schemas.microsoft.com/office/drawing/2014/main" id="{23F784A1-6035-4AB1-9021-4A364ADDD4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03588" y="2822003"/>
            <a:ext cx="497667" cy="49766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21394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 p14:bounceEnd="28000"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 p14:presetBounceEnd="47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7000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7000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accel="40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A82AA4-4E6C-B323-8587-1F4FA50FC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DD12816F-A649-7929-F111-578828877B39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FABC3A61-B02D-F042-37A7-25388292C64F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CCBDC999-A023-5FE7-AA62-618CE711ACD6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5FF6CBF5-20F8-358E-DE52-CD017AEF615A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D38B52E8-387E-CC54-2C3A-0F1F134E2A1C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选择排序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31B5CE8-FEF3-B1B9-D324-B06C5F64F36E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B7BA322A-1D05-4108-4450-43EFDB6B9495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E9DCBA91-4477-6D96-C58F-336A89C69DD2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C2ED1550-4F79-1DC2-914F-46BD4650D040}"/>
              </a:ext>
            </a:extLst>
          </p:cNvPr>
          <p:cNvSpPr txBox="1"/>
          <p:nvPr/>
        </p:nvSpPr>
        <p:spPr>
          <a:xfrm>
            <a:off x="1052187" y="1320800"/>
            <a:ext cx="4857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算法思想：每次从全部数据中遍历，选出最大的元素放在已选择元素的后一位，选择</a:t>
            </a:r>
            <a:r>
              <a:rPr lang="en-US" altLang="zh-CN" dirty="0"/>
              <a:t>K</a:t>
            </a:r>
            <a:r>
              <a:rPr lang="zh-CN" altLang="en-US" dirty="0"/>
              <a:t>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22C65E-0C71-18DE-3A0F-B5028A355B4E}"/>
              </a:ext>
            </a:extLst>
          </p:cNvPr>
          <p:cNvSpPr txBox="1"/>
          <p:nvPr/>
        </p:nvSpPr>
        <p:spPr>
          <a:xfrm>
            <a:off x="1052187" y="2367935"/>
            <a:ext cx="3061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时间复杂度：</a:t>
            </a:r>
            <a:r>
              <a:rPr lang="en-US" altLang="zh-CN" dirty="0"/>
              <a:t>O(</a:t>
            </a:r>
            <a:r>
              <a:rPr lang="en-US" altLang="zh-CN" dirty="0" err="1"/>
              <a:t>Kn</a:t>
            </a:r>
            <a:r>
              <a:rPr lang="en-US" altLang="zh-CN" dirty="0"/>
              <a:t>)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KaTeX_Math"/>
              </a:rPr>
              <a:t> </a:t>
            </a:r>
            <a:endParaRPr lang="zh-CN" altLang="en-US" dirty="0"/>
          </a:p>
        </p:txBody>
      </p:sp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1EA6669F-5A4F-46C7-2B7D-B517DFC958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4766922"/>
              </p:ext>
            </p:extLst>
          </p:nvPr>
        </p:nvGraphicFramePr>
        <p:xfrm>
          <a:off x="6612419" y="2856537"/>
          <a:ext cx="5233203" cy="3654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B3DE1556-2A65-70E6-B6CF-A125114B8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240" y="3213179"/>
            <a:ext cx="3718478" cy="2478985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159614D-167F-7B86-8F24-B5E445392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58365"/>
              </p:ext>
            </p:extLst>
          </p:nvPr>
        </p:nvGraphicFramePr>
        <p:xfrm>
          <a:off x="6400800" y="1624338"/>
          <a:ext cx="5565910" cy="111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2678">
                  <a:extLst>
                    <a:ext uri="{9D8B030D-6E8A-4147-A177-3AD203B41FA5}">
                      <a16:colId xmlns:a16="http://schemas.microsoft.com/office/drawing/2014/main" val="419174274"/>
                    </a:ext>
                  </a:extLst>
                </a:gridCol>
                <a:gridCol w="602678">
                  <a:extLst>
                    <a:ext uri="{9D8B030D-6E8A-4147-A177-3AD203B41FA5}">
                      <a16:colId xmlns:a16="http://schemas.microsoft.com/office/drawing/2014/main" val="1977738971"/>
                    </a:ext>
                  </a:extLst>
                </a:gridCol>
                <a:gridCol w="602678">
                  <a:extLst>
                    <a:ext uri="{9D8B030D-6E8A-4147-A177-3AD203B41FA5}">
                      <a16:colId xmlns:a16="http://schemas.microsoft.com/office/drawing/2014/main" val="1696532157"/>
                    </a:ext>
                  </a:extLst>
                </a:gridCol>
                <a:gridCol w="602678">
                  <a:extLst>
                    <a:ext uri="{9D8B030D-6E8A-4147-A177-3AD203B41FA5}">
                      <a16:colId xmlns:a16="http://schemas.microsoft.com/office/drawing/2014/main" val="3987151792"/>
                    </a:ext>
                  </a:extLst>
                </a:gridCol>
                <a:gridCol w="602678">
                  <a:extLst>
                    <a:ext uri="{9D8B030D-6E8A-4147-A177-3AD203B41FA5}">
                      <a16:colId xmlns:a16="http://schemas.microsoft.com/office/drawing/2014/main" val="3104733218"/>
                    </a:ext>
                  </a:extLst>
                </a:gridCol>
                <a:gridCol w="602678">
                  <a:extLst>
                    <a:ext uri="{9D8B030D-6E8A-4147-A177-3AD203B41FA5}">
                      <a16:colId xmlns:a16="http://schemas.microsoft.com/office/drawing/2014/main" val="4090384841"/>
                    </a:ext>
                  </a:extLst>
                </a:gridCol>
                <a:gridCol w="602678">
                  <a:extLst>
                    <a:ext uri="{9D8B030D-6E8A-4147-A177-3AD203B41FA5}">
                      <a16:colId xmlns:a16="http://schemas.microsoft.com/office/drawing/2014/main" val="3155318724"/>
                    </a:ext>
                  </a:extLst>
                </a:gridCol>
                <a:gridCol w="673582">
                  <a:extLst>
                    <a:ext uri="{9D8B030D-6E8A-4147-A177-3AD203B41FA5}">
                      <a16:colId xmlns:a16="http://schemas.microsoft.com/office/drawing/2014/main" val="3753685578"/>
                    </a:ext>
                  </a:extLst>
                </a:gridCol>
                <a:gridCol w="673582">
                  <a:extLst>
                    <a:ext uri="{9D8B030D-6E8A-4147-A177-3AD203B41FA5}">
                      <a16:colId xmlns:a16="http://schemas.microsoft.com/office/drawing/2014/main" val="757643550"/>
                    </a:ext>
                  </a:extLst>
                </a:gridCol>
              </a:tblGrid>
              <a:tr h="37097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规模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5000000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25000000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50000000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75000000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200000000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818107010"/>
                  </a:ext>
                </a:extLst>
              </a:tr>
              <a:tr h="37097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理论时间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40.70757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203.5378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407.0757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1017.689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2035.378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3053.067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4070.7565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8141.513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61934612"/>
                  </a:ext>
                </a:extLst>
              </a:tr>
              <a:tr h="37097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平均时间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40.28102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210.9956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407.0757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1021.484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2008.174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2976.869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3964.5245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7896.77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69805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94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 p14:presetBounceEnd="38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 p14:bounceEnd="38000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58" presetClass="path" presetSubtype="0" accel="67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animMotion origin="layout" path="M 4.79167E-6 2.59259E-6 C 0.14778 -0.12037 0.38645 -0.00741 0.40429 0.18727 " pathEditMode="relative" rAng="0" ptsTypes="AA">
                                          <p:cBhvr>
                                            <p:cTn id="1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208" y="68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xit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58" presetClass="path" presetSubtype="0" accel="3600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animMotion origin="layout" path="M -2.08333E-6 4.07407E-6 C 0.05156 -0.15741 0.1681 -0.35047 0.16836 -0.16297 " pathEditMode="relative" rAng="0" ptsTypes="AA">
                                          <p:cBhvr>
                                            <p:cTn id="24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411" y="-1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6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1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3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8" presetClass="emph" presetSubtype="0" fill="hold" grpId="1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41" dur="1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7" dur="1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1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4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1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6" dur="10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27" grpId="0" animBg="1"/>
          <p:bldP spid="13" grpId="0" animBg="1"/>
          <p:bldP spid="13" grpId="1" animBg="1"/>
          <p:bldP spid="12" grpId="0" animBg="1"/>
          <p:bldP spid="26" grpId="0" animBg="1"/>
          <p:bldP spid="29" grpId="0" animBg="1"/>
          <p:bldP spid="30" grpId="0" animBg="1"/>
          <p:bldP spid="31" grpId="0" animBg="1"/>
          <p:bldP spid="32" grpId="0" animBg="1"/>
        </p:bldLst>
      </p:timing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0EFDD-9398-98F1-F2E0-C02E7851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2AC4B16B-88BA-30A0-308B-20BCB01B9B57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0AD0E076-5F9B-A589-1C6E-8F85C1BE75B4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9EF4FCA0-AF8C-96E5-03E3-0A64B9309E56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804500FB-DE10-9FEA-32B8-6974462CD722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DC62A223-1AF7-29BC-FB34-550BFE08FC86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堆选择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6245D79-589C-0A0A-DCD8-A7AF708794FC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181F6A0F-9121-5382-FD70-DD2F7E5C8FEB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A619B0C2-B77D-F745-D9FA-B40A811A9521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CEF394ED-B374-17C7-DA8E-75E6D84369D7}"/>
              </a:ext>
            </a:extLst>
          </p:cNvPr>
          <p:cNvSpPr txBox="1"/>
          <p:nvPr/>
        </p:nvSpPr>
        <p:spPr>
          <a:xfrm>
            <a:off x="1052187" y="1320800"/>
            <a:ext cx="4857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算法思想：将前</a:t>
            </a:r>
            <a:r>
              <a:rPr lang="en-US" altLang="zh-CN" dirty="0"/>
              <a:t>K</a:t>
            </a:r>
            <a:r>
              <a:rPr lang="zh-CN" altLang="en-US" dirty="0"/>
              <a:t>个元素建立成小顶堆，后续元素与堆顶元素对比，大于则替换并维护堆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7CF49D-9962-3085-D3DC-5649682FBCB0}"/>
              </a:ext>
            </a:extLst>
          </p:cNvPr>
          <p:cNvSpPr txBox="1"/>
          <p:nvPr/>
        </p:nvSpPr>
        <p:spPr>
          <a:xfrm>
            <a:off x="1052187" y="2222011"/>
            <a:ext cx="3061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时间复杂度：</a:t>
            </a:r>
            <a:r>
              <a:rPr lang="en-US" altLang="zh-CN" dirty="0"/>
              <a:t>O(</a:t>
            </a:r>
            <a:r>
              <a:rPr lang="en-US" altLang="zh-CN" dirty="0" err="1"/>
              <a:t>nlogK</a:t>
            </a:r>
            <a:r>
              <a:rPr lang="en-US" altLang="zh-CN" dirty="0"/>
              <a:t>)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KaTeX_Math"/>
              </a:rPr>
              <a:t> </a:t>
            </a:r>
            <a:endParaRPr lang="zh-CN" altLang="en-US" dirty="0"/>
          </a:p>
        </p:txBody>
      </p:sp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73649597-EAE4-CF08-C05A-FCA8CFB111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3168622"/>
              </p:ext>
            </p:extLst>
          </p:nvPr>
        </p:nvGraphicFramePr>
        <p:xfrm>
          <a:off x="6610995" y="2735690"/>
          <a:ext cx="5334001" cy="3766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238AC630-3AFB-1464-7897-9CAABD4D8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68" y="3260035"/>
            <a:ext cx="5480173" cy="2327382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59DB01F-FD39-CC7D-C47F-2A2CDB898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952520"/>
              </p:ext>
            </p:extLst>
          </p:nvPr>
        </p:nvGraphicFramePr>
        <p:xfrm>
          <a:off x="6096000" y="1630017"/>
          <a:ext cx="5739310" cy="983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1454">
                  <a:extLst>
                    <a:ext uri="{9D8B030D-6E8A-4147-A177-3AD203B41FA5}">
                      <a16:colId xmlns:a16="http://schemas.microsoft.com/office/drawing/2014/main" val="683011059"/>
                    </a:ext>
                  </a:extLst>
                </a:gridCol>
                <a:gridCol w="621454">
                  <a:extLst>
                    <a:ext uri="{9D8B030D-6E8A-4147-A177-3AD203B41FA5}">
                      <a16:colId xmlns:a16="http://schemas.microsoft.com/office/drawing/2014/main" val="3259841276"/>
                    </a:ext>
                  </a:extLst>
                </a:gridCol>
                <a:gridCol w="621454">
                  <a:extLst>
                    <a:ext uri="{9D8B030D-6E8A-4147-A177-3AD203B41FA5}">
                      <a16:colId xmlns:a16="http://schemas.microsoft.com/office/drawing/2014/main" val="4261955884"/>
                    </a:ext>
                  </a:extLst>
                </a:gridCol>
                <a:gridCol w="621454">
                  <a:extLst>
                    <a:ext uri="{9D8B030D-6E8A-4147-A177-3AD203B41FA5}">
                      <a16:colId xmlns:a16="http://schemas.microsoft.com/office/drawing/2014/main" val="2878800056"/>
                    </a:ext>
                  </a:extLst>
                </a:gridCol>
                <a:gridCol w="621454">
                  <a:extLst>
                    <a:ext uri="{9D8B030D-6E8A-4147-A177-3AD203B41FA5}">
                      <a16:colId xmlns:a16="http://schemas.microsoft.com/office/drawing/2014/main" val="788109676"/>
                    </a:ext>
                  </a:extLst>
                </a:gridCol>
                <a:gridCol w="621454">
                  <a:extLst>
                    <a:ext uri="{9D8B030D-6E8A-4147-A177-3AD203B41FA5}">
                      <a16:colId xmlns:a16="http://schemas.microsoft.com/office/drawing/2014/main" val="495620438"/>
                    </a:ext>
                  </a:extLst>
                </a:gridCol>
                <a:gridCol w="621454">
                  <a:extLst>
                    <a:ext uri="{9D8B030D-6E8A-4147-A177-3AD203B41FA5}">
                      <a16:colId xmlns:a16="http://schemas.microsoft.com/office/drawing/2014/main" val="2317759506"/>
                    </a:ext>
                  </a:extLst>
                </a:gridCol>
                <a:gridCol w="694566">
                  <a:extLst>
                    <a:ext uri="{9D8B030D-6E8A-4147-A177-3AD203B41FA5}">
                      <a16:colId xmlns:a16="http://schemas.microsoft.com/office/drawing/2014/main" val="252082672"/>
                    </a:ext>
                  </a:extLst>
                </a:gridCol>
                <a:gridCol w="694566">
                  <a:extLst>
                    <a:ext uri="{9D8B030D-6E8A-4147-A177-3AD203B41FA5}">
                      <a16:colId xmlns:a16="http://schemas.microsoft.com/office/drawing/2014/main" val="325972478"/>
                    </a:ext>
                  </a:extLst>
                </a:gridCol>
              </a:tblGrid>
              <a:tr h="32785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规模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5000000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25000000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50000000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75000000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200000000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357589406"/>
                  </a:ext>
                </a:extLst>
              </a:tr>
              <a:tr h="32785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理论时间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19.52059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97.60293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195.2059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488.0146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976.0293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1464.044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1952.0585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3904.117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54229050"/>
                  </a:ext>
                </a:extLst>
              </a:tr>
              <a:tr h="32785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平均时间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19.51083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98.4932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195.2059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483.5852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971.6408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1426.637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1898.4885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3801.7935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69114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650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 p14:presetBounceEnd="38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 p14:bounceEnd="38000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58" presetClass="path" presetSubtype="0" accel="67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animMotion origin="layout" path="M 4.79167E-6 2.59259E-6 C 0.14778 -0.12037 0.38645 -0.00741 0.40429 0.18727 " pathEditMode="relative" rAng="0" ptsTypes="AA">
                                          <p:cBhvr>
                                            <p:cTn id="1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208" y="68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xit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58" presetClass="path" presetSubtype="0" accel="3600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animMotion origin="layout" path="M -2.08333E-6 4.07407E-6 C 0.05156 -0.15741 0.1681 -0.35047 0.16836 -0.16297 " pathEditMode="relative" rAng="0" ptsTypes="AA">
                                          <p:cBhvr>
                                            <p:cTn id="24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411" y="-1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6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1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3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8" presetClass="emph" presetSubtype="0" fill="hold" grpId="1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41" dur="1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7" dur="1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1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4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1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6" dur="10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27" grpId="0" animBg="1"/>
          <p:bldP spid="13" grpId="0" animBg="1"/>
          <p:bldP spid="13" grpId="1" animBg="1"/>
          <p:bldP spid="12" grpId="0" animBg="1"/>
          <p:bldP spid="26" grpId="0" animBg="1"/>
          <p:bldP spid="29" grpId="0" animBg="1"/>
          <p:bldP spid="30" grpId="0" animBg="1"/>
          <p:bldP spid="31" grpId="0" animBg="1"/>
          <p:bldP spid="32" grpId="0" animBg="1"/>
        </p:bldLst>
      </p:timing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D497E-7449-1782-C4BB-E6DC73133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E801AC2-59C9-35CD-BA7E-3697B3B22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95" y="3902147"/>
            <a:ext cx="3240032" cy="2532730"/>
          </a:xfrm>
          <a:prstGeom prst="rect">
            <a:avLst/>
          </a:prstGeom>
        </p:spPr>
      </p:pic>
      <p:grpSp>
        <p:nvGrpSpPr>
          <p:cNvPr id="37" name="组合 36">
            <a:extLst>
              <a:ext uri="{FF2B5EF4-FFF2-40B4-BE49-F238E27FC236}">
                <a16:creationId xmlns:a16="http://schemas.microsoft.com/office/drawing/2014/main" id="{E9B9F0D3-13B3-C0BB-F03D-80D127AE0233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EB010485-AC9A-6145-F8B5-DE0AAB10E7BA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986AB163-57BA-9844-483F-16DD2736D76A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64A7DA76-FEA2-26EA-81D2-78434768AED9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C615D32-8ECD-EEFE-E84F-386F8EF723A8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快速选择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2F64E12-B6D9-E04C-173F-7819C972D5AC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C2ED3DD0-4AC5-9600-49CD-398A7722B42A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0F93EE7B-C3E7-FFA5-1ED9-7A2B32904093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532C5FA5-640D-209B-D0AD-AAA4C5992FB0}"/>
              </a:ext>
            </a:extLst>
          </p:cNvPr>
          <p:cNvSpPr txBox="1"/>
          <p:nvPr/>
        </p:nvSpPr>
        <p:spPr>
          <a:xfrm>
            <a:off x="1052187" y="1320800"/>
            <a:ext cx="46841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算法思想：分治法</a:t>
            </a:r>
            <a:endParaRPr lang="en-US" altLang="zh-CN" dirty="0"/>
          </a:p>
          <a:p>
            <a:r>
              <a:rPr lang="zh-CN" altLang="en-US" dirty="0"/>
              <a:t>选取基准值，将比基准值小的移到左边，大的移到右边</a:t>
            </a:r>
            <a:endParaRPr lang="en-US" altLang="zh-CN" dirty="0"/>
          </a:p>
          <a:p>
            <a:r>
              <a:rPr lang="zh-CN" altLang="en-US" dirty="0"/>
              <a:t>若大的分区元素个数小于</a:t>
            </a:r>
            <a:r>
              <a:rPr lang="en-US" altLang="zh-CN" dirty="0"/>
              <a:t>K</a:t>
            </a:r>
            <a:r>
              <a:rPr lang="zh-CN" altLang="en-US" dirty="0"/>
              <a:t>，则在小的分区中选择剩余元素，否则在大的分区中选择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DC777B-C93F-8D08-6F28-F5042033EBBC}"/>
              </a:ext>
            </a:extLst>
          </p:cNvPr>
          <p:cNvSpPr txBox="1"/>
          <p:nvPr/>
        </p:nvSpPr>
        <p:spPr>
          <a:xfrm>
            <a:off x="1052187" y="2980805"/>
            <a:ext cx="3061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时间复杂度：</a:t>
            </a:r>
            <a:r>
              <a:rPr lang="en-US" altLang="zh-CN" dirty="0"/>
              <a:t>O(</a:t>
            </a:r>
            <a:r>
              <a:rPr lang="en-US" altLang="zh-CN" dirty="0" err="1"/>
              <a:t>n+KlogK</a:t>
            </a:r>
            <a:r>
              <a:rPr lang="en-US" altLang="zh-CN" dirty="0"/>
              <a:t>)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KaTeX_Math"/>
              </a:rPr>
              <a:t> </a:t>
            </a:r>
            <a:endParaRPr lang="zh-CN" altLang="en-US" dirty="0"/>
          </a:p>
        </p:txBody>
      </p:sp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3300695C-8649-3035-DBAD-B207AEDCF6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4674609"/>
              </p:ext>
            </p:extLst>
          </p:nvPr>
        </p:nvGraphicFramePr>
        <p:xfrm>
          <a:off x="6157001" y="2980805"/>
          <a:ext cx="6124468" cy="3549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A8C2392B-421D-ADD8-61DC-177FB7479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6328" y="3429000"/>
            <a:ext cx="2350673" cy="3248025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3FC2938-C4A0-0470-A5D9-78C19FD416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330798"/>
              </p:ext>
            </p:extLst>
          </p:nvPr>
        </p:nvGraphicFramePr>
        <p:xfrm>
          <a:off x="5978978" y="1734005"/>
          <a:ext cx="6124469" cy="9822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3159">
                  <a:extLst>
                    <a:ext uri="{9D8B030D-6E8A-4147-A177-3AD203B41FA5}">
                      <a16:colId xmlns:a16="http://schemas.microsoft.com/office/drawing/2014/main" val="3281518722"/>
                    </a:ext>
                  </a:extLst>
                </a:gridCol>
                <a:gridCol w="663159">
                  <a:extLst>
                    <a:ext uri="{9D8B030D-6E8A-4147-A177-3AD203B41FA5}">
                      <a16:colId xmlns:a16="http://schemas.microsoft.com/office/drawing/2014/main" val="1941826336"/>
                    </a:ext>
                  </a:extLst>
                </a:gridCol>
                <a:gridCol w="663159">
                  <a:extLst>
                    <a:ext uri="{9D8B030D-6E8A-4147-A177-3AD203B41FA5}">
                      <a16:colId xmlns:a16="http://schemas.microsoft.com/office/drawing/2014/main" val="339104253"/>
                    </a:ext>
                  </a:extLst>
                </a:gridCol>
                <a:gridCol w="663159">
                  <a:extLst>
                    <a:ext uri="{9D8B030D-6E8A-4147-A177-3AD203B41FA5}">
                      <a16:colId xmlns:a16="http://schemas.microsoft.com/office/drawing/2014/main" val="4019272718"/>
                    </a:ext>
                  </a:extLst>
                </a:gridCol>
                <a:gridCol w="663159">
                  <a:extLst>
                    <a:ext uri="{9D8B030D-6E8A-4147-A177-3AD203B41FA5}">
                      <a16:colId xmlns:a16="http://schemas.microsoft.com/office/drawing/2014/main" val="1252153409"/>
                    </a:ext>
                  </a:extLst>
                </a:gridCol>
                <a:gridCol w="663159">
                  <a:extLst>
                    <a:ext uri="{9D8B030D-6E8A-4147-A177-3AD203B41FA5}">
                      <a16:colId xmlns:a16="http://schemas.microsoft.com/office/drawing/2014/main" val="3600374622"/>
                    </a:ext>
                  </a:extLst>
                </a:gridCol>
                <a:gridCol w="663159">
                  <a:extLst>
                    <a:ext uri="{9D8B030D-6E8A-4147-A177-3AD203B41FA5}">
                      <a16:colId xmlns:a16="http://schemas.microsoft.com/office/drawing/2014/main" val="3962317533"/>
                    </a:ext>
                  </a:extLst>
                </a:gridCol>
                <a:gridCol w="741178">
                  <a:extLst>
                    <a:ext uri="{9D8B030D-6E8A-4147-A177-3AD203B41FA5}">
                      <a16:colId xmlns:a16="http://schemas.microsoft.com/office/drawing/2014/main" val="2492059387"/>
                    </a:ext>
                  </a:extLst>
                </a:gridCol>
                <a:gridCol w="741178">
                  <a:extLst>
                    <a:ext uri="{9D8B030D-6E8A-4147-A177-3AD203B41FA5}">
                      <a16:colId xmlns:a16="http://schemas.microsoft.com/office/drawing/2014/main" val="335770996"/>
                    </a:ext>
                  </a:extLst>
                </a:gridCol>
              </a:tblGrid>
              <a:tr h="32740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规模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5000000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25000000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50000000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75000000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200000000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877586248"/>
                  </a:ext>
                </a:extLst>
              </a:tr>
              <a:tr h="32740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理论时间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20.91348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104.5674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209.1348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522.8371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1045.674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1568.511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2091.3485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4182.6969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62084416"/>
                  </a:ext>
                </a:extLst>
              </a:tr>
              <a:tr h="32740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平均时间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18.50342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104.4402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209.1348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569.0138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856.6056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1691.951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2416.6136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4526.898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386172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641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 p14:presetBounceEnd="38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 p14:bounceEnd="38000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58" presetClass="path" presetSubtype="0" accel="67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animMotion origin="layout" path="M 4.79167E-6 2.59259E-6 C 0.14778 -0.12037 0.38645 -0.00741 0.40429 0.18727 " pathEditMode="relative" rAng="0" ptsTypes="AA">
                                          <p:cBhvr>
                                            <p:cTn id="1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208" y="68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xit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58" presetClass="path" presetSubtype="0" accel="3600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animMotion origin="layout" path="M -2.08333E-6 4.07407E-6 C 0.05156 -0.15741 0.1681 -0.35047 0.16836 -0.16297 " pathEditMode="relative" rAng="0" ptsTypes="AA">
                                          <p:cBhvr>
                                            <p:cTn id="24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411" y="-1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6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1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3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8" presetClass="emph" presetSubtype="0" fill="hold" grpId="1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41" dur="1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7" dur="1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1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4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1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6" dur="10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27" grpId="0" animBg="1"/>
          <p:bldP spid="13" grpId="0" animBg="1"/>
          <p:bldP spid="13" grpId="1" animBg="1"/>
          <p:bldP spid="12" grpId="0" animBg="1"/>
          <p:bldP spid="26" grpId="0" animBg="1"/>
          <p:bldP spid="29" grpId="0" animBg="1"/>
          <p:bldP spid="30" grpId="0" animBg="1"/>
          <p:bldP spid="31" grpId="0" animBg="1"/>
          <p:bldP spid="32" grpId="0" animBg="1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E01AF9B4-CB88-45E0-A100-413C632FEA97}"/>
              </a:ext>
            </a:extLst>
          </p:cNvPr>
          <p:cNvGrpSpPr/>
          <p:nvPr/>
        </p:nvGrpSpPr>
        <p:grpSpPr>
          <a:xfrm>
            <a:off x="1055266" y="711189"/>
            <a:ext cx="213360" cy="211962"/>
            <a:chOff x="1890216" y="1981983"/>
            <a:chExt cx="2664431" cy="264698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31AA7D25-B7CE-429F-9AAB-82B2D591C24B}"/>
                </a:ext>
              </a:extLst>
            </p:cNvPr>
            <p:cNvSpPr/>
            <p:nvPr/>
          </p:nvSpPr>
          <p:spPr>
            <a:xfrm>
              <a:off x="1890216" y="1981983"/>
              <a:ext cx="2646983" cy="264698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23624CBC-8A07-4490-9CE3-2EDF15C7CE10}"/>
                </a:ext>
              </a:extLst>
            </p:cNvPr>
            <p:cNvSpPr/>
            <p:nvPr/>
          </p:nvSpPr>
          <p:spPr>
            <a:xfrm>
              <a:off x="2351568" y="2425886"/>
              <a:ext cx="2203079" cy="220307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2CAF198C-5201-4B55-B0C8-23FD029D2CBA}"/>
              </a:ext>
            </a:extLst>
          </p:cNvPr>
          <p:cNvSpPr txBox="1"/>
          <p:nvPr/>
        </p:nvSpPr>
        <p:spPr>
          <a:xfrm>
            <a:off x="1304173" y="634888"/>
            <a:ext cx="2043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各算法比较</a:t>
            </a:r>
          </a:p>
        </p:txBody>
      </p:sp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1BF32ECD-AD73-6E4E-27E8-015E261A9D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6324614"/>
              </p:ext>
            </p:extLst>
          </p:nvPr>
        </p:nvGraphicFramePr>
        <p:xfrm>
          <a:off x="715218" y="1260594"/>
          <a:ext cx="6351407" cy="4962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2BDE2290-6129-2FCA-5CC6-739F904CEA31}"/>
              </a:ext>
            </a:extLst>
          </p:cNvPr>
          <p:cNvSpPr txBox="1"/>
          <p:nvPr/>
        </p:nvSpPr>
        <p:spPr>
          <a:xfrm>
            <a:off x="7370617" y="2101338"/>
            <a:ext cx="4189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快速排序受限于可能的最坏性能，存在浮动，可以通过优化基准值的随机选择提高整体性能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FF289B-2F0E-DA1C-D29D-5FBFC21D10DF}"/>
              </a:ext>
            </a:extLst>
          </p:cNvPr>
          <p:cNvSpPr txBox="1"/>
          <p:nvPr/>
        </p:nvSpPr>
        <p:spPr>
          <a:xfrm>
            <a:off x="7370618" y="3999678"/>
            <a:ext cx="4189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堆选择因为大规模数据中的大部分数据不进堆，且在</a:t>
            </a:r>
            <a:r>
              <a:rPr lang="en-US" altLang="zh-CN" dirty="0"/>
              <a:t>K</a:t>
            </a:r>
            <a:r>
              <a:rPr lang="zh-CN" altLang="en-US" dirty="0"/>
              <a:t>较小时</a:t>
            </a:r>
            <a:r>
              <a:rPr lang="en-US" altLang="zh-CN" dirty="0" err="1"/>
              <a:t>logK</a:t>
            </a:r>
            <a:r>
              <a:rPr lang="zh-CN" altLang="en-US" dirty="0"/>
              <a:t>较小，对于</a:t>
            </a:r>
            <a:r>
              <a:rPr lang="en-US" altLang="zh-CN" dirty="0"/>
              <a:t>K&lt;&lt;N</a:t>
            </a:r>
            <a:r>
              <a:rPr lang="zh-CN" altLang="en-US" dirty="0"/>
              <a:t>时具有较好的性能的同时更加稳定</a:t>
            </a:r>
          </a:p>
        </p:txBody>
      </p:sp>
    </p:spTree>
    <p:extLst>
      <p:ext uri="{BB962C8B-B14F-4D97-AF65-F5344CB8AC3E}">
        <p14:creationId xmlns:p14="http://schemas.microsoft.com/office/powerpoint/2010/main" val="1094568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B5F1AF-3DF8-12B1-BF8A-3AAB00A71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E2E383D2-C180-3436-8E3D-58747E35677F}"/>
              </a:ext>
            </a:extLst>
          </p:cNvPr>
          <p:cNvGrpSpPr/>
          <p:nvPr/>
        </p:nvGrpSpPr>
        <p:grpSpPr>
          <a:xfrm>
            <a:off x="1055266" y="711189"/>
            <a:ext cx="213360" cy="211962"/>
            <a:chOff x="1890216" y="1981983"/>
            <a:chExt cx="2664431" cy="264698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4255097-0B34-D3A3-1461-59E0321F71C2}"/>
                </a:ext>
              </a:extLst>
            </p:cNvPr>
            <p:cNvSpPr/>
            <p:nvPr/>
          </p:nvSpPr>
          <p:spPr>
            <a:xfrm>
              <a:off x="1890216" y="1981983"/>
              <a:ext cx="2646983" cy="264698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4D9F6FA1-E733-D203-5F5B-33458B5561B0}"/>
                </a:ext>
              </a:extLst>
            </p:cNvPr>
            <p:cNvSpPr/>
            <p:nvPr/>
          </p:nvSpPr>
          <p:spPr>
            <a:xfrm>
              <a:off x="2351568" y="2425886"/>
              <a:ext cx="2203079" cy="220307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D6B770CC-A7F2-EC23-C65F-619278E8F1C3}"/>
              </a:ext>
            </a:extLst>
          </p:cNvPr>
          <p:cNvSpPr txBox="1"/>
          <p:nvPr/>
        </p:nvSpPr>
        <p:spPr>
          <a:xfrm>
            <a:off x="1304173" y="634888"/>
            <a:ext cx="2043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各算法比较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DCE04E-56E4-4015-CAD0-0B7AD07A64FD}"/>
              </a:ext>
            </a:extLst>
          </p:cNvPr>
          <p:cNvSpPr txBox="1"/>
          <p:nvPr/>
        </p:nvSpPr>
        <p:spPr>
          <a:xfrm>
            <a:off x="7370615" y="2061238"/>
            <a:ext cx="4189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在Ｋ较大时快速选择的</a:t>
            </a:r>
            <a:r>
              <a:rPr lang="en-US" altLang="zh-CN" dirty="0"/>
              <a:t>O(n)</a:t>
            </a:r>
            <a:r>
              <a:rPr lang="zh-CN" altLang="en-US" dirty="0"/>
              <a:t>的优势更能体现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D6947A-F325-394D-FE2D-3B64F275D03D}"/>
              </a:ext>
            </a:extLst>
          </p:cNvPr>
          <p:cNvSpPr txBox="1"/>
          <p:nvPr/>
        </p:nvSpPr>
        <p:spPr>
          <a:xfrm>
            <a:off x="7370615" y="3677251"/>
            <a:ext cx="41896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堆选择因为更大的</a:t>
            </a:r>
            <a:r>
              <a:rPr lang="en-US" altLang="zh-CN" dirty="0"/>
              <a:t>K</a:t>
            </a:r>
            <a:r>
              <a:rPr lang="zh-CN" altLang="en-US" dirty="0"/>
              <a:t>使得常数因子更大，且有更多的数据进堆，因此性能表现不如快速选择</a:t>
            </a: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0D892280-350E-F42F-1EC9-E7C851208C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4868664"/>
              </p:ext>
            </p:extLst>
          </p:nvPr>
        </p:nvGraphicFramePr>
        <p:xfrm>
          <a:off x="849756" y="2805675"/>
          <a:ext cx="5990279" cy="3212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25E7EE5-2B88-C8B0-5FD5-8F4459CB7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677362"/>
              </p:ext>
            </p:extLst>
          </p:nvPr>
        </p:nvGraphicFramePr>
        <p:xfrm>
          <a:off x="1161247" y="1215415"/>
          <a:ext cx="5404255" cy="6650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9611">
                  <a:extLst>
                    <a:ext uri="{9D8B030D-6E8A-4147-A177-3AD203B41FA5}">
                      <a16:colId xmlns:a16="http://schemas.microsoft.com/office/drawing/2014/main" val="3768930268"/>
                    </a:ext>
                  </a:extLst>
                </a:gridCol>
                <a:gridCol w="786589">
                  <a:extLst>
                    <a:ext uri="{9D8B030D-6E8A-4147-A177-3AD203B41FA5}">
                      <a16:colId xmlns:a16="http://schemas.microsoft.com/office/drawing/2014/main" val="1887596495"/>
                    </a:ext>
                  </a:extLst>
                </a:gridCol>
                <a:gridCol w="769611">
                  <a:extLst>
                    <a:ext uri="{9D8B030D-6E8A-4147-A177-3AD203B41FA5}">
                      <a16:colId xmlns:a16="http://schemas.microsoft.com/office/drawing/2014/main" val="801699459"/>
                    </a:ext>
                  </a:extLst>
                </a:gridCol>
                <a:gridCol w="769611">
                  <a:extLst>
                    <a:ext uri="{9D8B030D-6E8A-4147-A177-3AD203B41FA5}">
                      <a16:colId xmlns:a16="http://schemas.microsoft.com/office/drawing/2014/main" val="2794523249"/>
                    </a:ext>
                  </a:extLst>
                </a:gridCol>
                <a:gridCol w="769611">
                  <a:extLst>
                    <a:ext uri="{9D8B030D-6E8A-4147-A177-3AD203B41FA5}">
                      <a16:colId xmlns:a16="http://schemas.microsoft.com/office/drawing/2014/main" val="714723815"/>
                    </a:ext>
                  </a:extLst>
                </a:gridCol>
                <a:gridCol w="769611">
                  <a:extLst>
                    <a:ext uri="{9D8B030D-6E8A-4147-A177-3AD203B41FA5}">
                      <a16:colId xmlns:a16="http://schemas.microsoft.com/office/drawing/2014/main" val="949094605"/>
                    </a:ext>
                  </a:extLst>
                </a:gridCol>
                <a:gridCol w="769611">
                  <a:extLst>
                    <a:ext uri="{9D8B030D-6E8A-4147-A177-3AD203B41FA5}">
                      <a16:colId xmlns:a16="http://schemas.microsoft.com/office/drawing/2014/main" val="413142261"/>
                    </a:ext>
                  </a:extLst>
                </a:gridCol>
              </a:tblGrid>
              <a:tr h="2216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堆选择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01584082"/>
                  </a:ext>
                </a:extLst>
              </a:tr>
              <a:tr h="2216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700512525"/>
                  </a:ext>
                </a:extLst>
              </a:tr>
              <a:tr h="2216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平均时间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198.93575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200.575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201.0077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252.8624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636.537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3967.184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1184915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2C8EECE-2F62-AC5A-09DD-21A00B3B6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270524"/>
              </p:ext>
            </p:extLst>
          </p:nvPr>
        </p:nvGraphicFramePr>
        <p:xfrm>
          <a:off x="1161247" y="2042561"/>
          <a:ext cx="5385086" cy="6650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9298">
                  <a:extLst>
                    <a:ext uri="{9D8B030D-6E8A-4147-A177-3AD203B41FA5}">
                      <a16:colId xmlns:a16="http://schemas.microsoft.com/office/drawing/2014/main" val="596151630"/>
                    </a:ext>
                  </a:extLst>
                </a:gridCol>
                <a:gridCol w="769298">
                  <a:extLst>
                    <a:ext uri="{9D8B030D-6E8A-4147-A177-3AD203B41FA5}">
                      <a16:colId xmlns:a16="http://schemas.microsoft.com/office/drawing/2014/main" val="4076517383"/>
                    </a:ext>
                  </a:extLst>
                </a:gridCol>
                <a:gridCol w="769298">
                  <a:extLst>
                    <a:ext uri="{9D8B030D-6E8A-4147-A177-3AD203B41FA5}">
                      <a16:colId xmlns:a16="http://schemas.microsoft.com/office/drawing/2014/main" val="1860740270"/>
                    </a:ext>
                  </a:extLst>
                </a:gridCol>
                <a:gridCol w="769298">
                  <a:extLst>
                    <a:ext uri="{9D8B030D-6E8A-4147-A177-3AD203B41FA5}">
                      <a16:colId xmlns:a16="http://schemas.microsoft.com/office/drawing/2014/main" val="2387893428"/>
                    </a:ext>
                  </a:extLst>
                </a:gridCol>
                <a:gridCol w="769298">
                  <a:extLst>
                    <a:ext uri="{9D8B030D-6E8A-4147-A177-3AD203B41FA5}">
                      <a16:colId xmlns:a16="http://schemas.microsoft.com/office/drawing/2014/main" val="3418679144"/>
                    </a:ext>
                  </a:extLst>
                </a:gridCol>
                <a:gridCol w="769298">
                  <a:extLst>
                    <a:ext uri="{9D8B030D-6E8A-4147-A177-3AD203B41FA5}">
                      <a16:colId xmlns:a16="http://schemas.microsoft.com/office/drawing/2014/main" val="1538301163"/>
                    </a:ext>
                  </a:extLst>
                </a:gridCol>
                <a:gridCol w="769298">
                  <a:extLst>
                    <a:ext uri="{9D8B030D-6E8A-4147-A177-3AD203B41FA5}">
                      <a16:colId xmlns:a16="http://schemas.microsoft.com/office/drawing/2014/main" val="3685479233"/>
                    </a:ext>
                  </a:extLst>
                </a:gridCol>
              </a:tblGrid>
              <a:tr h="2216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快速选择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345629862"/>
                  </a:ext>
                </a:extLst>
              </a:tr>
              <a:tr h="2216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1000000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096948033"/>
                  </a:ext>
                </a:extLst>
              </a:tr>
              <a:tr h="2216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平均时间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283.1766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270.6596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239.7338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252.4452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239.592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696.1566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896973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58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DB8AF-9207-8CC3-02AE-4FAECD5CA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91965A89-FB40-7FD7-BD58-C1A1BC3AA4C0}"/>
              </a:ext>
            </a:extLst>
          </p:cNvPr>
          <p:cNvGrpSpPr/>
          <p:nvPr/>
        </p:nvGrpSpPr>
        <p:grpSpPr>
          <a:xfrm>
            <a:off x="1055266" y="711189"/>
            <a:ext cx="213360" cy="211962"/>
            <a:chOff x="1890216" y="1981983"/>
            <a:chExt cx="2664431" cy="264698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3BAE1A55-EFF2-9E3A-C897-B0A870D6E108}"/>
                </a:ext>
              </a:extLst>
            </p:cNvPr>
            <p:cNvSpPr/>
            <p:nvPr/>
          </p:nvSpPr>
          <p:spPr>
            <a:xfrm>
              <a:off x="1890216" y="1981983"/>
              <a:ext cx="2646983" cy="264698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C515631E-E2B5-9593-0492-BC0A1CB6654B}"/>
                </a:ext>
              </a:extLst>
            </p:cNvPr>
            <p:cNvSpPr/>
            <p:nvPr/>
          </p:nvSpPr>
          <p:spPr>
            <a:xfrm>
              <a:off x="2351568" y="2425886"/>
              <a:ext cx="2203079" cy="220307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FF12548-594E-886A-DAD3-DC38E0236E7C}"/>
              </a:ext>
            </a:extLst>
          </p:cNvPr>
          <p:cNvSpPr txBox="1"/>
          <p:nvPr/>
        </p:nvSpPr>
        <p:spPr>
          <a:xfrm>
            <a:off x="1304173" y="634888"/>
            <a:ext cx="2043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091E45-3C43-9691-3ED9-8D8FCF6E3729}"/>
              </a:ext>
            </a:extLst>
          </p:cNvPr>
          <p:cNvSpPr txBox="1"/>
          <p:nvPr/>
        </p:nvSpPr>
        <p:spPr>
          <a:xfrm>
            <a:off x="7228628" y="3060831"/>
            <a:ext cx="4189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Top K</a:t>
            </a:r>
            <a:r>
              <a:rPr lang="zh-CN" altLang="en-US" dirty="0"/>
              <a:t>问题的性能与</a:t>
            </a:r>
            <a:r>
              <a:rPr lang="en-US" altLang="zh-CN" dirty="0"/>
              <a:t>K</a:t>
            </a:r>
            <a:r>
              <a:rPr lang="zh-CN" altLang="en-US" dirty="0"/>
              <a:t>和</a:t>
            </a:r>
            <a:r>
              <a:rPr lang="en-US" altLang="zh-CN" dirty="0"/>
              <a:t>n</a:t>
            </a:r>
            <a:r>
              <a:rPr lang="zh-CN" altLang="en-US" dirty="0"/>
              <a:t>的关系有关，在</a:t>
            </a:r>
            <a:r>
              <a:rPr lang="en-US" altLang="zh-CN" dirty="0"/>
              <a:t>K&lt;&lt;n</a:t>
            </a:r>
            <a:r>
              <a:rPr lang="zh-CN" altLang="en-US" dirty="0"/>
              <a:t>时堆选择算法更优，在</a:t>
            </a:r>
            <a:r>
              <a:rPr lang="en-US" altLang="zh-CN" dirty="0"/>
              <a:t>K</a:t>
            </a:r>
            <a:r>
              <a:rPr lang="zh-CN" altLang="en-US" dirty="0"/>
              <a:t>较大时快速选择算法更优</a:t>
            </a: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82AFBFDB-08C3-3D44-FA96-472D3230B1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8151418"/>
              </p:ext>
            </p:extLst>
          </p:nvPr>
        </p:nvGraphicFramePr>
        <p:xfrm>
          <a:off x="631769" y="3759831"/>
          <a:ext cx="6251789" cy="2928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3613DF89-2F24-0A4A-E30C-B7AD5C45B8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1516018"/>
              </p:ext>
            </p:extLst>
          </p:nvPr>
        </p:nvGraphicFramePr>
        <p:xfrm>
          <a:off x="631769" y="1070544"/>
          <a:ext cx="6351407" cy="2689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3547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E9D98FD9-23F9-4849-8ABD-4B3194E83D3E}"/>
              </a:ext>
            </a:extLst>
          </p:cNvPr>
          <p:cNvSpPr/>
          <p:nvPr/>
        </p:nvSpPr>
        <p:spPr>
          <a:xfrm>
            <a:off x="7020351" y="4291157"/>
            <a:ext cx="1950929" cy="429264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960B0CF-F4D4-4B1F-B9B3-B3A5012EF2CC}"/>
              </a:ext>
            </a:extLst>
          </p:cNvPr>
          <p:cNvSpPr/>
          <p:nvPr/>
        </p:nvSpPr>
        <p:spPr>
          <a:xfrm>
            <a:off x="8575040" y="3361767"/>
            <a:ext cx="2174466" cy="1571958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/>
        </p:nvSpPr>
        <p:spPr>
          <a:xfrm>
            <a:off x="3017976" y="1740328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7235" y="2786976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/>
        </p:nvSpPr>
        <p:spPr>
          <a:xfrm>
            <a:off x="2384541" y="1036899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/>
        </p:nvSpPr>
        <p:spPr>
          <a:xfrm>
            <a:off x="1174801" y="531179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C94711A-F1EC-48D3-B3D5-1CC00A21989F}"/>
              </a:ext>
            </a:extLst>
          </p:cNvPr>
          <p:cNvSpPr/>
          <p:nvPr/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8E04C6A-65BD-4DAA-9677-E9B4128E044B}"/>
              </a:ext>
            </a:extLst>
          </p:cNvPr>
          <p:cNvSpPr/>
          <p:nvPr/>
        </p:nvSpPr>
        <p:spPr>
          <a:xfrm>
            <a:off x="3479328" y="2184231"/>
            <a:ext cx="5006086" cy="2203079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3722EF1-500F-4A6B-B673-277906A77619}"/>
              </a:ext>
            </a:extLst>
          </p:cNvPr>
          <p:cNvSpPr txBox="1"/>
          <p:nvPr/>
        </p:nvSpPr>
        <p:spPr>
          <a:xfrm>
            <a:off x="4410259" y="2777938"/>
            <a:ext cx="33714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THANKS</a:t>
            </a:r>
            <a:r>
              <a:rPr lang="en-US" altLang="zh-CN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 </a:t>
            </a:r>
            <a:r>
              <a:rPr lang="zh-CN" altLang="en-US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358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700000" y="7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 animBg="1"/>
      <p:bldP spid="7" grpId="0" animBg="1"/>
      <p:bldP spid="4" grpId="0" animBg="1"/>
      <p:bldP spid="6" grpId="0" animBg="1"/>
      <p:bldP spid="8" grpId="0" animBg="1"/>
      <p:bldP spid="15" grpId="0" animBg="1"/>
      <p:bldP spid="15" grpId="1" animBg="1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ne&quot;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1902</TotalTime>
  <Words>916</Words>
  <Application>Microsoft Office PowerPoint</Application>
  <PresentationFormat>宽屏</PresentationFormat>
  <Paragraphs>354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KaTeX_Math</vt:lpstr>
      <vt:lpstr>等线</vt:lpstr>
      <vt:lpstr>等线 Light</vt:lpstr>
      <vt:lpstr>华文细黑</vt:lpstr>
      <vt:lpstr>思源黑体 CN Bold</vt:lpstr>
      <vt:lpstr>微软雅黑</vt:lpstr>
      <vt:lpstr>幼圆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雪 雷</dc:creator>
  <cp:lastModifiedBy>健文 姚</cp:lastModifiedBy>
  <cp:revision>101</cp:revision>
  <dcterms:created xsi:type="dcterms:W3CDTF">2021-08-22T12:17:40Z</dcterms:created>
  <dcterms:modified xsi:type="dcterms:W3CDTF">2025-03-21T17:59:56Z</dcterms:modified>
</cp:coreProperties>
</file>