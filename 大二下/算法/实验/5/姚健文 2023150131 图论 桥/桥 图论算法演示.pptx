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64" r:id="rId5"/>
    <p:sldId id="283" r:id="rId6"/>
    <p:sldId id="270" r:id="rId7"/>
    <p:sldId id="310" r:id="rId8"/>
    <p:sldId id="311" r:id="rId9"/>
    <p:sldId id="323" r:id="rId10"/>
    <p:sldId id="324" r:id="rId11"/>
    <p:sldId id="284" r:id="rId12"/>
    <p:sldId id="305" r:id="rId13"/>
    <p:sldId id="278" r:id="rId14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orient="horz" pos="368" userDrawn="1">
          <p15:clr>
            <a:srgbClr val="A4A3A4"/>
          </p15:clr>
        </p15:guide>
        <p15:guide id="4" pos="71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5C5"/>
    <a:srgbClr val="3B3838"/>
    <a:srgbClr val="767171"/>
    <a:srgbClr val="757575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88" d="100"/>
          <a:sy n="88" d="100"/>
        </p:scale>
        <p:origin x="72" y="57"/>
      </p:cViewPr>
      <p:guideLst>
        <p:guide orient="horz" pos="3974"/>
        <p:guide pos="551"/>
        <p:guide orient="horz" pos="368"/>
        <p:guide pos="71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57E82-C2C1-4F89-A614-C4BF84446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892212-D1D2-4303-8944-206AEFAF1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5212F6-9A48-430B-B9E6-DA670644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C504E-755D-4F5F-A884-BCD4DD19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E828B0-4B30-4BA2-8ADB-B8F59D36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99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457CA-DDE9-4F9F-8273-0E0264B5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85EA8C-57D9-4581-8DE3-0E42DC10E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E55DC0-E036-4261-9731-D2285871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6E2335-EF40-4FDC-A0F9-F3A875F0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DA12CF-3869-4629-8613-E2D21DCB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19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E2813-ECDC-4E85-AA4B-AC247737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4F65D-F5F8-4A34-AFE8-94231E31D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9CA55C-516B-449E-9F4A-214010C9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22D9D-E873-400F-A805-E8C9BB7A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1D8B4E-FD17-4313-BFCF-F96BCB1E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34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3533C-DA66-4D35-8252-1936C80E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758ED-7231-43C7-9BE1-F52C077C1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4871AB-4676-4339-9698-3C1C0946D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BF8AD7-435F-4016-87F8-CA2CDD9B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7EFFF-B774-47BE-8EAC-075B844B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DAA445-F7D1-4322-A39A-F748A388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72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F8ACA-0C6F-4585-BBFC-67DC1AFD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B355CF-E8C9-4F66-B7BE-AF659A2FD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D3FC60-5F48-4478-B38E-E0B42323C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6BC4FC-6846-4C6E-B5E1-5E4ED19F1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FDE226-0E96-4C39-96A0-7769CF969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FF6DC1-ECBC-4285-9059-340DE2CC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42EF3A-76A6-4A93-9250-C4ED8728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702E4D-3D66-47A5-A76F-38B0D8B9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29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83F67-3EC5-41B9-AD61-409CB3DBC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73DD6F-A3B3-40E3-8D4B-902B4EB2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B60495-4166-438A-AA08-3DFF56EF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FC8C80-8154-4157-9CFB-8CA216A8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11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41F186-51F5-45E8-925B-6658F8A5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D2ECC3-C525-4A07-85E1-4E1F647D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334DF1-DD41-42A6-9B05-0BFE177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22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9250C-2EE3-445E-9712-10B97540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B04AB1-6D3A-4BE8-B8B5-21A79ABC8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42F583-4BA2-4767-B73E-07B95F6A4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73520B-4AC8-4F8D-882F-32A6DD94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CA0CDF-248C-44A0-A591-5A05DE3B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AEAC46-2DE2-47DA-8813-3C9BA8EA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00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B3301-B061-4373-9F59-0EC727BE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5669B0-DD46-493F-9454-F44F08213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C1D14F-4F0C-4201-8D61-5C840BBF6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DD7F5E-01FC-4819-8C56-D266420F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B5C8EA-E3E6-490E-9D6B-3984C960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488420-C912-41CE-AE9C-1CBF33ED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92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ECCF2-208E-4FBA-AE00-B0A5FD50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4E9D07-D1CC-4710-9907-A01DE658B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09FB46-4707-4650-AF22-2B340970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DC8CF-D042-4A60-BA6B-A0236402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C390D-ECD5-4BA9-8119-03A79C78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06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C6E7E2-4753-49A0-8B5B-4BD8A505D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5B3755-B931-424B-A541-5425C7B5F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B126F-56CE-470F-9512-76CD4C77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4AF32-60DB-438A-8513-3D49FB21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D1D76D-0183-419D-9803-7E9B7185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54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7438AF-4DE6-4664-AA9B-01800912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5168E7-0D07-40EE-A925-11F73CC3B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C523-D268-4347-8EC0-C672D7854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4C87E-67D7-4747-B03D-6F045E1AC05D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5BFEE9-6C9A-4DC8-8CAE-7B9476393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1A4AE2-3345-48D3-BA37-72E0F9E53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84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3" Type="http://schemas.openxmlformats.org/officeDocument/2006/relationships/tags" Target="../tags/tag5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18" Type="http://schemas.openxmlformats.org/officeDocument/2006/relationships/tags" Target="../tags/tag94.xml"/><Relationship Id="rId3" Type="http://schemas.openxmlformats.org/officeDocument/2006/relationships/tags" Target="../tags/tag7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17" Type="http://schemas.openxmlformats.org/officeDocument/2006/relationships/tags" Target="../tags/tag93.xml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20" Type="http://schemas.openxmlformats.org/officeDocument/2006/relationships/tags" Target="../tags/tag96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10" Type="http://schemas.openxmlformats.org/officeDocument/2006/relationships/tags" Target="../tags/tag86.xml"/><Relationship Id="rId19" Type="http://schemas.openxmlformats.org/officeDocument/2006/relationships/tags" Target="../tags/tag95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890216" y="175048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A-圆角矩形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PA-圆角矩形 17">
            <a:extLst>
              <a:ext uri="{FF2B5EF4-FFF2-40B4-BE49-F238E27FC236}">
                <a16:creationId xmlns:a16="http://schemas.microsoft.com/office/drawing/2014/main" id="{31AF2055-48A7-4C54-A11C-925E241CAAA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384541" y="2442758"/>
            <a:ext cx="7120563" cy="210974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A-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057816" y="2921168"/>
            <a:ext cx="63409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桥 图论算法演示</a:t>
            </a:r>
          </a:p>
        </p:txBody>
      </p:sp>
      <p:sp>
        <p:nvSpPr>
          <p:cNvPr id="9" name="PA-圆角矩形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690166" y="4270737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PA-圆角矩形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381243" y="3691758"/>
            <a:ext cx="2918378" cy="2109744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A-文本框 13">
            <a:extLst>
              <a:ext uri="{FF2B5EF4-FFF2-40B4-BE49-F238E27FC236}">
                <a16:creationId xmlns:a16="http://schemas.microsoft.com/office/drawing/2014/main" id="{C682BAAE-DB0F-4A29-989A-BF7F78B4B45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627345" y="2622284"/>
            <a:ext cx="1771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en-US" altLang="zh-CN" sz="6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6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60C63D-1517-3098-692F-1E4F4A200C19}"/>
              </a:ext>
            </a:extLst>
          </p:cNvPr>
          <p:cNvSpPr txBox="1"/>
          <p:nvPr/>
        </p:nvSpPr>
        <p:spPr>
          <a:xfrm>
            <a:off x="8589818" y="4885129"/>
            <a:ext cx="2651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报告人：姚健文</a:t>
            </a:r>
            <a:endParaRPr lang="en-US" altLang="zh-CN" sz="2400" dirty="0"/>
          </a:p>
          <a:p>
            <a:r>
              <a:rPr lang="en-US" altLang="zh-CN" sz="2400" dirty="0"/>
              <a:t>2023150131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9234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4" grpId="0" animBg="1"/>
      <p:bldP spid="4" grpId="1" animBg="1"/>
      <p:bldP spid="6" grpId="0" animBg="1"/>
      <p:bldP spid="6" grpId="1" animBg="1"/>
      <p:bldP spid="8" grpId="0" animBg="1"/>
      <p:bldP spid="8" grpId="1" animBg="1"/>
      <p:bldP spid="18" grpId="0" animBg="1"/>
      <p:bldP spid="18" grpId="1" animBg="1"/>
      <p:bldP spid="14" grpId="0"/>
      <p:bldP spid="14" grpId="1"/>
      <p:bldP spid="9" grpId="0" animBg="1"/>
      <p:bldP spid="9" grpId="1" animBg="1"/>
      <p:bldP spid="19" grpId="0" animBg="1"/>
      <p:bldP spid="19" grpId="1" animBg="1"/>
      <p:bldP spid="13" grpId="0"/>
      <p:bldP spid="1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A-圆角矩形 51">
            <a:extLst>
              <a:ext uri="{FF2B5EF4-FFF2-40B4-BE49-F238E27FC236}">
                <a16:creationId xmlns:a16="http://schemas.microsoft.com/office/drawing/2014/main" id="{6612C7AD-C5D0-4CE0-8366-4DA07510C2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8" name="PA-圆角矩形 51">
            <a:extLst>
              <a:ext uri="{FF2B5EF4-FFF2-40B4-BE49-F238E27FC236}">
                <a16:creationId xmlns:a16="http://schemas.microsoft.com/office/drawing/2014/main" id="{F99DF15F-AE84-43B1-BD9B-F3B6601555A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PA-圆角矩形 51">
            <a:extLst>
              <a:ext uri="{FF2B5EF4-FFF2-40B4-BE49-F238E27FC236}">
                <a16:creationId xmlns:a16="http://schemas.microsoft.com/office/drawing/2014/main" id="{AB33F4EF-52AF-40CF-A1FA-03C32EFBBCB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PA-圆角矩形 51">
            <a:extLst>
              <a:ext uri="{FF2B5EF4-FFF2-40B4-BE49-F238E27FC236}">
                <a16:creationId xmlns:a16="http://schemas.microsoft.com/office/drawing/2014/main" id="{350BC068-2A10-4088-8935-4FEDC5F9149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890216" y="1981983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837235" y="3018471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384541" y="1268394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174801" y="482787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" name="PA-圆角矩形 14">
            <a:extLst>
              <a:ext uri="{FF2B5EF4-FFF2-40B4-BE49-F238E27FC236}">
                <a16:creationId xmlns:a16="http://schemas.microsoft.com/office/drawing/2014/main" id="{28E04C6A-65BD-4DAA-9677-E9B4128E044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350873" y="2425886"/>
            <a:ext cx="2203079" cy="220307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PA-文本框 26">
            <a:extLst>
              <a:ext uri="{FF2B5EF4-FFF2-40B4-BE49-F238E27FC236}">
                <a16:creationId xmlns:a16="http://schemas.microsoft.com/office/drawing/2014/main" id="{39FDEDFC-605C-409F-A432-538EB1677F5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575804" y="3721547"/>
            <a:ext cx="1836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PA-文本框 27">
            <a:extLst>
              <a:ext uri="{FF2B5EF4-FFF2-40B4-BE49-F238E27FC236}">
                <a16:creationId xmlns:a16="http://schemas.microsoft.com/office/drawing/2014/main" id="{DC0F587A-857A-49B1-A2AD-1305FB5B0DE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661532" y="2875344"/>
            <a:ext cx="16690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PA-圆角矩形 50">
            <a:extLst>
              <a:ext uri="{FF2B5EF4-FFF2-40B4-BE49-F238E27FC236}">
                <a16:creationId xmlns:a16="http://schemas.microsoft.com/office/drawing/2014/main" id="{CC36E74B-BA9D-453F-9CBC-559876C1A7D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881136" y="2047938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6" name="PA-圆角矩形 45">
            <a:extLst>
              <a:ext uri="{FF2B5EF4-FFF2-40B4-BE49-F238E27FC236}">
                <a16:creationId xmlns:a16="http://schemas.microsoft.com/office/drawing/2014/main" id="{604D31D0-F1BA-4DF8-80F9-516545242D5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881136" y="3452548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PA-圆角矩形 53">
            <a:extLst>
              <a:ext uri="{FF2B5EF4-FFF2-40B4-BE49-F238E27FC236}">
                <a16:creationId xmlns:a16="http://schemas.microsoft.com/office/drawing/2014/main" id="{31B1E93E-7865-4E80-A7FB-230B440DBF9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918980" y="4974465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8" name="PA-圆角矩形 67">
            <a:extLst>
              <a:ext uri="{FF2B5EF4-FFF2-40B4-BE49-F238E27FC236}">
                <a16:creationId xmlns:a16="http://schemas.microsoft.com/office/drawing/2014/main" id="{449A29ED-6222-4DCF-B5F1-3362F101C62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3" name="PA-圆角矩形 72">
            <a:extLst>
              <a:ext uri="{FF2B5EF4-FFF2-40B4-BE49-F238E27FC236}">
                <a16:creationId xmlns:a16="http://schemas.microsoft.com/office/drawing/2014/main" id="{B2BA17DA-5BBE-4519-99A1-D2733FB864D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380983" y="6572911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3" name="PA-组合 2">
            <a:extLst>
              <a:ext uri="{FF2B5EF4-FFF2-40B4-BE49-F238E27FC236}">
                <a16:creationId xmlns:a16="http://schemas.microsoft.com/office/drawing/2014/main" id="{7CF0D2C0-559A-44D5-84C5-966B08B3852C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6870579" y="1551581"/>
            <a:ext cx="3761671" cy="730157"/>
            <a:chOff x="6898350" y="739354"/>
            <a:chExt cx="2550535" cy="730157"/>
          </a:xfrm>
        </p:grpSpPr>
        <p:sp>
          <p:nvSpPr>
            <p:cNvPr id="53" name="PA-标题 1">
              <a:extLst>
                <a:ext uri="{FF2B5EF4-FFF2-40B4-BE49-F238E27FC236}">
                  <a16:creationId xmlns:a16="http://schemas.microsoft.com/office/drawing/2014/main" id="{0D8DCF9B-7B1F-4CA7-9151-00760C2CE454}"/>
                </a:ext>
              </a:extLst>
            </p:cNvPr>
            <p:cNvSpPr txBox="1">
              <a:spLocks/>
            </p:cNvSpPr>
            <p:nvPr>
              <p:custDataLst>
                <p:tags r:id="rId24"/>
              </p:custDataLst>
            </p:nvPr>
          </p:nvSpPr>
          <p:spPr>
            <a:xfrm>
              <a:off x="6898350" y="739354"/>
              <a:ext cx="916405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1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4" name="PA-标题 1">
              <a:extLst>
                <a:ext uri="{FF2B5EF4-FFF2-40B4-BE49-F238E27FC236}">
                  <a16:creationId xmlns:a16="http://schemas.microsoft.com/office/drawing/2014/main" id="{F4F6C1D8-3708-4B37-B3EB-B3B1151A48C3}"/>
                </a:ext>
              </a:extLst>
            </p:cNvPr>
            <p:cNvSpPr txBox="1">
              <a:spLocks/>
            </p:cNvSpPr>
            <p:nvPr>
              <p:custDataLst>
                <p:tags r:id="rId25"/>
              </p:custDataLst>
            </p:nvPr>
          </p:nvSpPr>
          <p:spPr>
            <a:xfrm>
              <a:off x="7726515" y="879202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蛮力法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PA-组合 4">
            <a:extLst>
              <a:ext uri="{FF2B5EF4-FFF2-40B4-BE49-F238E27FC236}">
                <a16:creationId xmlns:a16="http://schemas.microsoft.com/office/drawing/2014/main" id="{FC62D572-985F-499F-8ED0-FA5CD0799C6A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6881137" y="2955684"/>
            <a:ext cx="3751114" cy="676479"/>
            <a:chOff x="6881136" y="2147194"/>
            <a:chExt cx="2543377" cy="676479"/>
          </a:xfrm>
        </p:grpSpPr>
        <p:sp>
          <p:nvSpPr>
            <p:cNvPr id="37" name="PA-标题 1">
              <a:extLst>
                <a:ext uri="{FF2B5EF4-FFF2-40B4-BE49-F238E27FC236}">
                  <a16:creationId xmlns:a16="http://schemas.microsoft.com/office/drawing/2014/main" id="{352B812F-DC70-4CAF-85A9-A94D03B9D59F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6881136" y="2147194"/>
              <a:ext cx="916406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2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5" name="PA-标题 1">
              <a:extLst>
                <a:ext uri="{FF2B5EF4-FFF2-40B4-BE49-F238E27FC236}">
                  <a16:creationId xmlns:a16="http://schemas.microsoft.com/office/drawing/2014/main" id="{164ADDDA-31CA-4B08-9B4C-94633CB9E8F9}"/>
                </a:ext>
              </a:extLst>
            </p:cNvPr>
            <p:cNvSpPr txBox="1">
              <a:spLocks/>
            </p:cNvSpPr>
            <p:nvPr>
              <p:custDataLst>
                <p:tags r:id="rId23"/>
              </p:custDataLst>
            </p:nvPr>
          </p:nvSpPr>
          <p:spPr>
            <a:xfrm>
              <a:off x="7702143" y="2233364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高效算法与优化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PA-组合 7">
            <a:extLst>
              <a:ext uri="{FF2B5EF4-FFF2-40B4-BE49-F238E27FC236}">
                <a16:creationId xmlns:a16="http://schemas.microsoft.com/office/drawing/2014/main" id="{68AC6118-D5CF-4122-8609-96262D3D7DEB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6908424" y="4478108"/>
            <a:ext cx="3258835" cy="707471"/>
            <a:chOff x="6962718" y="3687258"/>
            <a:chExt cx="2209596" cy="707471"/>
          </a:xfrm>
        </p:grpSpPr>
        <p:sp>
          <p:nvSpPr>
            <p:cNvPr id="56" name="PA-标题 1">
              <a:extLst>
                <a:ext uri="{FF2B5EF4-FFF2-40B4-BE49-F238E27FC236}">
                  <a16:creationId xmlns:a16="http://schemas.microsoft.com/office/drawing/2014/main" id="{514CB1B8-99E4-49C8-92D8-BE392A72B719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6962718" y="3687258"/>
              <a:ext cx="916405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3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6" name="PA-标题 1">
              <a:extLst>
                <a:ext uri="{FF2B5EF4-FFF2-40B4-BE49-F238E27FC236}">
                  <a16:creationId xmlns:a16="http://schemas.microsoft.com/office/drawing/2014/main" id="{D1A0F2D1-8073-4ABF-BDC9-774823509ADB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7765224" y="3804420"/>
              <a:ext cx="140709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并查集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705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7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8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12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5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16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9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0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23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4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27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8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53" presetClass="entr" presetSubtype="16" fill="hold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4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086 -0.34491 " pathEditMode="relative" rAng="0" ptsTypes="AA">
                                          <p:cBhvr>
                                            <p:cTn id="51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36" y="-1724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7487 -0.13472 " pathEditMode="relative" rAng="0" ptsTypes="AA">
                                          <p:cBhvr>
                                            <p:cTn id="56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737" y="-67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7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0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164 0.09005 " pathEditMode="relative" rAng="0" ptsTypes="AA">
                                          <p:cBhvr>
                                            <p:cTn id="61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76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2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269 0.28912 " pathEditMode="relative" rAng="0" ptsTypes="AA">
                                          <p:cBhvr>
                                            <p:cTn id="66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128" y="144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5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1" fill="hold" nodeType="withEffect" p14:presetBounceEnd="60000">
                                      <p:stCondLst>
                                        <p:cond delay="288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79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2" presetClass="entr" presetSubtype="1" fill="hold" nodeType="withEffect" p14:presetBounceEnd="60000">
                                      <p:stCondLst>
                                        <p:cond delay="3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8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4" presetID="2" presetClass="entr" presetSubtype="1" fill="hold" nodeType="withEffect" p14:presetBounceEnd="60000">
                                      <p:stCondLst>
                                        <p:cond delay="388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86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7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animBg="1"/>
          <p:bldP spid="49" grpId="1" animBg="1"/>
          <p:bldP spid="49" grpId="2" animBg="1"/>
          <p:bldP spid="48" grpId="0" animBg="1"/>
          <p:bldP spid="48" grpId="1" animBg="1"/>
          <p:bldP spid="48" grpId="2" animBg="1"/>
          <p:bldP spid="45" grpId="0" animBg="1"/>
          <p:bldP spid="45" grpId="1" animBg="1"/>
          <p:bldP spid="45" grpId="2" animBg="1"/>
          <p:bldP spid="43" grpId="0" animBg="1"/>
          <p:bldP spid="43" grpId="1" animBg="1"/>
          <p:bldP spid="43" grpId="2" animBg="1"/>
          <p:bldP spid="7" grpId="0" animBg="1"/>
          <p:bldP spid="4" grpId="0" animBg="1"/>
          <p:bldP spid="6" grpId="0" animBg="1"/>
          <p:bldP spid="15" grpId="0" animBg="1"/>
          <p:bldP spid="27" grpId="0"/>
          <p:bldP spid="51" grpId="0" animBg="1"/>
          <p:bldP spid="46" grpId="0" animBg="1"/>
          <p:bldP spid="54" grpId="0" animBg="1"/>
          <p:bldP spid="68" grpId="0" animBg="1"/>
          <p:bldP spid="7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4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086 -0.34491 " pathEditMode="relative" rAng="0" ptsTypes="AA">
                                          <p:cBhvr>
                                            <p:cTn id="55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36" y="-1724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6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8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9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7487 -0.13472 " pathEditMode="relative" rAng="0" ptsTypes="AA">
                                          <p:cBhvr>
                                            <p:cTn id="60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737" y="-67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1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4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164 0.09005 " pathEditMode="relative" rAng="0" ptsTypes="AA">
                                          <p:cBhvr>
                                            <p:cTn id="65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76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6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8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269 0.28912 " pathEditMode="relative" rAng="0" ptsTypes="AA">
                                          <p:cBhvr>
                                            <p:cTn id="7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128" y="144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1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2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2" presetClass="entr" presetSubtype="1" fill="hold" nodeType="withEffect">
                                      <p:stCondLst>
                                        <p:cond delay="288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7" presetID="2" presetClass="entr" presetSubtype="1" fill="hold" nodeType="withEffect">
                                      <p:stCondLst>
                                        <p:cond delay="338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2" presetClass="entr" presetSubtype="1" fill="hold" nodeType="withEffect">
                                      <p:stCondLst>
                                        <p:cond delay="388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1" fill="hold" nodeType="withEffect">
                                      <p:stCondLst>
                                        <p:cond delay="438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animBg="1"/>
          <p:bldP spid="49" grpId="1" animBg="1"/>
          <p:bldP spid="49" grpId="2" animBg="1"/>
          <p:bldP spid="48" grpId="0" animBg="1"/>
          <p:bldP spid="48" grpId="1" animBg="1"/>
          <p:bldP spid="48" grpId="2" animBg="1"/>
          <p:bldP spid="45" grpId="0" animBg="1"/>
          <p:bldP spid="45" grpId="1" animBg="1"/>
          <p:bldP spid="45" grpId="2" animBg="1"/>
          <p:bldP spid="43" grpId="0" animBg="1"/>
          <p:bldP spid="43" grpId="1" animBg="1"/>
          <p:bldP spid="43" grpId="2" animBg="1"/>
          <p:bldP spid="7" grpId="0" animBg="1"/>
          <p:bldP spid="4" grpId="0" animBg="1"/>
          <p:bldP spid="6" grpId="0" animBg="1"/>
          <p:bldP spid="15" grpId="0" animBg="1"/>
          <p:bldP spid="27" grpId="0"/>
          <p:bldP spid="51" grpId="0" animBg="1"/>
          <p:bldP spid="46" grpId="0" animBg="1"/>
          <p:bldP spid="54" grpId="0" animBg="1"/>
          <p:bldP spid="57" grpId="0" animBg="1"/>
          <p:bldP spid="68" grpId="0" animBg="1"/>
          <p:bldP spid="73" grpId="0" animBg="1"/>
          <p:bldP spid="74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898397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483416" y="2240791"/>
            <a:ext cx="1225168" cy="789201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endParaRPr lang="en-US" sz="138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747074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蛮力法</a:t>
            </a: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70262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6CF72A71-887C-4846-A632-9C33C464B760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D368C49-5B4D-4B14-B48F-54229B32341E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2B6853D3-0C18-40C4-B998-068CD0F08D11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CBD1426E-1655-4623-BB5D-DE7D5EFAFAD7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34C670D-D6C4-418C-A0A8-9E167BB6B53C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蛮力法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F13F29D-C1E4-41D5-8781-6AFFF0B4A664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6C713E0-DDB0-4F9D-966F-3974E86CE85C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EC253FD-0E05-427F-8356-40EBF0BCF482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47590D7-792E-32AF-C578-822E3B2A6195}"/>
              </a:ext>
            </a:extLst>
          </p:cNvPr>
          <p:cNvSpPr txBox="1"/>
          <p:nvPr/>
        </p:nvSpPr>
        <p:spPr>
          <a:xfrm>
            <a:off x="1052187" y="1320800"/>
            <a:ext cx="41294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</a:t>
            </a:r>
            <a:endParaRPr lang="en-US" altLang="zh-CN" dirty="0"/>
          </a:p>
          <a:p>
            <a:r>
              <a:rPr lang="zh-CN" altLang="en-US" dirty="0"/>
              <a:t>对于某一条边，计算删除这条边前后的联通分量数，如果不相等，那么这条边就是桥</a:t>
            </a:r>
            <a:endParaRPr lang="en-US" altLang="zh-CN" dirty="0"/>
          </a:p>
          <a:p>
            <a:r>
              <a:rPr lang="zh-CN" altLang="en-US" dirty="0"/>
              <a:t>其中用</a:t>
            </a:r>
            <a:r>
              <a:rPr lang="en-US" altLang="zh-CN" dirty="0" err="1"/>
              <a:t>dfs</a:t>
            </a:r>
            <a:r>
              <a:rPr lang="zh-CN" altLang="en-US" dirty="0"/>
              <a:t>或</a:t>
            </a:r>
            <a:r>
              <a:rPr lang="en-US" altLang="zh-CN" dirty="0" err="1"/>
              <a:t>bfs</a:t>
            </a:r>
            <a:r>
              <a:rPr lang="zh-CN" altLang="en-US" dirty="0"/>
              <a:t>计算联通分量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803827-4E4D-6580-1D7D-F48258EBCD09}"/>
              </a:ext>
            </a:extLst>
          </p:cNvPr>
          <p:cNvSpPr txBox="1"/>
          <p:nvPr/>
        </p:nvSpPr>
        <p:spPr>
          <a:xfrm>
            <a:off x="7010402" y="1733103"/>
            <a:ext cx="3248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时间复杂度：</a:t>
            </a:r>
            <a:r>
              <a:rPr lang="en-US" altLang="zh-CN" dirty="0"/>
              <a:t>N</a:t>
            </a:r>
            <a:r>
              <a:rPr lang="zh-CN" altLang="en-US" dirty="0"/>
              <a:t>点</a:t>
            </a:r>
            <a:r>
              <a:rPr lang="en-US" altLang="zh-CN" dirty="0"/>
              <a:t>E</a:t>
            </a:r>
            <a:r>
              <a:rPr lang="zh-CN" altLang="en-US" dirty="0"/>
              <a:t>边</a:t>
            </a:r>
            <a:endParaRPr lang="en-US" altLang="zh-CN" dirty="0"/>
          </a:p>
          <a:p>
            <a:r>
              <a:rPr lang="zh-CN" altLang="en-US" dirty="0"/>
              <a:t>联通分量计算：</a:t>
            </a:r>
            <a:r>
              <a:rPr lang="en-US" altLang="zh-CN" dirty="0"/>
              <a:t>O(N+E) </a:t>
            </a:r>
          </a:p>
          <a:p>
            <a:r>
              <a:rPr lang="zh-CN" altLang="en-US" dirty="0"/>
              <a:t>遍历所有边：</a:t>
            </a:r>
            <a:r>
              <a:rPr lang="en-US" altLang="zh-CN" dirty="0"/>
              <a:t>O(N)</a:t>
            </a:r>
          </a:p>
          <a:p>
            <a:r>
              <a:rPr lang="zh-CN" altLang="en-US" dirty="0"/>
              <a:t>总复杂度：</a:t>
            </a:r>
            <a:r>
              <a:rPr lang="en-US" altLang="zh-CN" dirty="0"/>
              <a:t>O(N*(N+E))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28BB64-76A7-9949-A5B8-0F81627AC671}"/>
              </a:ext>
            </a:extLst>
          </p:cNvPr>
          <p:cNvSpPr txBox="1"/>
          <p:nvPr/>
        </p:nvSpPr>
        <p:spPr>
          <a:xfrm>
            <a:off x="7047346" y="3319068"/>
            <a:ext cx="3248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空间复杂度：</a:t>
            </a:r>
            <a:r>
              <a:rPr lang="en-US" altLang="zh-CN" dirty="0"/>
              <a:t>N</a:t>
            </a:r>
            <a:r>
              <a:rPr lang="zh-CN" altLang="en-US" dirty="0"/>
              <a:t>点</a:t>
            </a:r>
            <a:r>
              <a:rPr lang="en-US" altLang="zh-CN" dirty="0"/>
              <a:t>E</a:t>
            </a:r>
            <a:r>
              <a:rPr lang="zh-CN" altLang="en-US" dirty="0"/>
              <a:t>边</a:t>
            </a:r>
            <a:endParaRPr lang="en-US" altLang="zh-CN" dirty="0"/>
          </a:p>
          <a:p>
            <a:r>
              <a:rPr lang="zh-CN" altLang="en-US" dirty="0"/>
              <a:t>图存储：</a:t>
            </a:r>
            <a:r>
              <a:rPr lang="en-US" altLang="zh-CN" dirty="0"/>
              <a:t>O(N+E) </a:t>
            </a:r>
          </a:p>
          <a:p>
            <a:r>
              <a:rPr lang="zh-CN" altLang="en-US" dirty="0"/>
              <a:t>联通分量辅助：</a:t>
            </a:r>
            <a:r>
              <a:rPr lang="en-US" altLang="zh-CN" dirty="0"/>
              <a:t>O(N)</a:t>
            </a:r>
          </a:p>
          <a:p>
            <a:r>
              <a:rPr lang="zh-CN" altLang="en-US" dirty="0"/>
              <a:t>总复杂度：</a:t>
            </a:r>
            <a:r>
              <a:rPr lang="en-US" altLang="zh-CN" dirty="0"/>
              <a:t>O(N+E)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EAA019-EA36-82D6-3CFE-0834B4761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30" y="3111074"/>
            <a:ext cx="5343070" cy="294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8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1184626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668294" y="2268830"/>
            <a:ext cx="1225168" cy="761162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高效算法与优化</a:t>
            </a: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88907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83A330B1-4DE4-4166-9CC2-8FCCA7970594}"/>
              </a:ext>
            </a:extLst>
          </p:cNvPr>
          <p:cNvGrpSpPr/>
          <p:nvPr/>
        </p:nvGrpSpPr>
        <p:grpSpPr>
          <a:xfrm>
            <a:off x="1055266" y="634888"/>
            <a:ext cx="3467747" cy="400110"/>
            <a:chOff x="1148080" y="833460"/>
            <a:chExt cx="3467747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BC705468-A605-4090-9DAF-237608E0F93C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3DD6AAE6-7752-4CB7-88C2-5E13994BA30E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654C22CE-59C2-496D-B598-70C287E6957F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95E7B05-CC54-493F-A853-E3B338F3A4F9}"/>
                </a:ext>
              </a:extLst>
            </p:cNvPr>
            <p:cNvSpPr txBox="1"/>
            <p:nvPr/>
          </p:nvSpPr>
          <p:spPr>
            <a:xfrm>
              <a:off x="1396986" y="833460"/>
              <a:ext cx="32188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高效算法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2884699-5DFA-4BEC-8CCE-D13D269D61EE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136A69FD-B86E-4593-8837-77CBDDBAAD0D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B686100A-BEB5-4EDA-A82B-B7D7F10C459E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E0D1097-B53F-346B-A5D4-9DCC5D235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220" y="746735"/>
            <a:ext cx="2482624" cy="25617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FF8B395-1881-C0C4-713A-87F2F5D1AD16}"/>
              </a:ext>
            </a:extLst>
          </p:cNvPr>
          <p:cNvSpPr txBox="1"/>
          <p:nvPr/>
        </p:nvSpPr>
        <p:spPr>
          <a:xfrm>
            <a:off x="1481864" y="2590800"/>
            <a:ext cx="46614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桥可以被等价表述为：不在环上的边，因此可以用排除法，先找到所有环边，剩余的就是桥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A072AE-4628-2623-13EC-B9DA91151272}"/>
              </a:ext>
            </a:extLst>
          </p:cNvPr>
          <p:cNvSpPr txBox="1"/>
          <p:nvPr/>
        </p:nvSpPr>
        <p:spPr>
          <a:xfrm>
            <a:off x="1481864" y="4516040"/>
            <a:ext cx="4661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又因为树是没有环边的数据结构，任意连接两节点都会成环，因此可以考虑图的生成树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15F0F98-DA62-211E-AF25-68369AE16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758" y="4002934"/>
            <a:ext cx="3594327" cy="197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61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91196-38BA-AE54-0009-E6E9C407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091428EB-00BA-E232-D892-AD644A1CFBF6}"/>
              </a:ext>
            </a:extLst>
          </p:cNvPr>
          <p:cNvGrpSpPr/>
          <p:nvPr/>
        </p:nvGrpSpPr>
        <p:grpSpPr>
          <a:xfrm>
            <a:off x="1055266" y="634888"/>
            <a:ext cx="3348005" cy="400110"/>
            <a:chOff x="1148080" y="833460"/>
            <a:chExt cx="3348005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10D9009A-F968-6183-164E-05A34C4F99E7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631EE5AE-3F71-0209-588A-C56350D72F21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422C2066-010B-A330-75C8-361A28FC090C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F81C4AA9-3FD1-F375-4573-312F2869691D}"/>
                </a:ext>
              </a:extLst>
            </p:cNvPr>
            <p:cNvSpPr txBox="1"/>
            <p:nvPr/>
          </p:nvSpPr>
          <p:spPr>
            <a:xfrm>
              <a:off x="1396987" y="833460"/>
              <a:ext cx="30990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高效算法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DCBD9C14-ADDA-1207-704A-B48A080E2A0E}"/>
              </a:ext>
            </a:extLst>
          </p:cNvPr>
          <p:cNvSpPr txBox="1"/>
          <p:nvPr/>
        </p:nvSpPr>
        <p:spPr>
          <a:xfrm>
            <a:off x="1101782" y="1962866"/>
            <a:ext cx="42311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从生成树中可以看出，原本图上不在生成树上的边（蓝边）都不可能是桥，因为它们会与生成树成环；而生成树上与之成环的边（红边）也不是桥，因此排除这两类边就可以得到桥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16F3F64-5D06-9D08-B4A0-7AEF7BC80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50" y="508535"/>
            <a:ext cx="4479286" cy="24623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45EB8AA-415A-F8F2-1147-BA8B0F287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930" y="3477985"/>
            <a:ext cx="4448006" cy="267856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873D665-9374-00C1-059C-A4BF0E4D3F63}"/>
              </a:ext>
            </a:extLst>
          </p:cNvPr>
          <p:cNvSpPr txBox="1"/>
          <p:nvPr/>
        </p:nvSpPr>
        <p:spPr>
          <a:xfrm>
            <a:off x="1101781" y="4144905"/>
            <a:ext cx="42311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称蓝边为非树边，红边为成环边，那么桥边即为生成树边</a:t>
            </a:r>
            <a:r>
              <a:rPr lang="en-US" altLang="zh-CN" dirty="0"/>
              <a:t>-</a:t>
            </a:r>
            <a:r>
              <a:rPr lang="zh-CN" altLang="en-US" dirty="0"/>
              <a:t>成环边，下一步考虑如何从非树边获取成环边</a:t>
            </a:r>
          </a:p>
        </p:txBody>
      </p:sp>
    </p:spTree>
    <p:extLst>
      <p:ext uri="{BB962C8B-B14F-4D97-AF65-F5344CB8AC3E}">
        <p14:creationId xmlns:p14="http://schemas.microsoft.com/office/powerpoint/2010/main" val="398457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E1248-242C-BBC7-A87D-D778D24C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E1332DA9-AF94-4DE5-14C2-BE5E52E1A8D3}"/>
              </a:ext>
            </a:extLst>
          </p:cNvPr>
          <p:cNvGrpSpPr/>
          <p:nvPr/>
        </p:nvGrpSpPr>
        <p:grpSpPr>
          <a:xfrm>
            <a:off x="1055266" y="634888"/>
            <a:ext cx="3451420" cy="400110"/>
            <a:chOff x="1148080" y="833460"/>
            <a:chExt cx="3451420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E8024869-A60D-8E3D-CEAF-2AEEC121213A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6B1C85D8-91E5-F6E7-D60B-D3D07BA98E3A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31F359E4-043B-9001-7FC2-AC16301280E1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55CCE38-AF5E-8688-529F-2FC1F5A47989}"/>
                </a:ext>
              </a:extLst>
            </p:cNvPr>
            <p:cNvSpPr txBox="1"/>
            <p:nvPr/>
          </p:nvSpPr>
          <p:spPr>
            <a:xfrm>
              <a:off x="1396987" y="833460"/>
              <a:ext cx="32025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高效算法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A7446EEF-9516-6275-B698-6190E92E2DB6}"/>
              </a:ext>
            </a:extLst>
          </p:cNvPr>
          <p:cNvSpPr txBox="1"/>
          <p:nvPr/>
        </p:nvSpPr>
        <p:spPr>
          <a:xfrm>
            <a:off x="1401009" y="1971571"/>
            <a:ext cx="4563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将非树边添加进生成树会成环，从非树边的节点向上访问，直到访问到相同的节点（最近公共祖先），沿途经过的边就都是成环边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4D85E3-E685-0709-DC01-50AAB042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042" y="1644999"/>
            <a:ext cx="3396824" cy="364603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14F485-AA52-699E-49D8-67825A97D058}"/>
              </a:ext>
            </a:extLst>
          </p:cNvPr>
          <p:cNvSpPr txBox="1"/>
          <p:nvPr/>
        </p:nvSpPr>
        <p:spPr>
          <a:xfrm>
            <a:off x="1401008" y="3735057"/>
            <a:ext cx="45631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由此，得到高效算法：</a:t>
            </a:r>
            <a:endParaRPr lang="en-US" altLang="zh-CN" dirty="0"/>
          </a:p>
          <a:p>
            <a:r>
              <a:rPr lang="zh-CN" altLang="en-US" dirty="0"/>
              <a:t>得到生成树与非树边；</a:t>
            </a:r>
            <a:endParaRPr lang="en-US" altLang="zh-CN" dirty="0"/>
          </a:p>
          <a:p>
            <a:r>
              <a:rPr lang="zh-CN" altLang="en-US" dirty="0"/>
              <a:t>对每一条非树边，找到两节点的最近公共祖先，并标记沿途的成环边</a:t>
            </a:r>
            <a:endParaRPr lang="en-US" altLang="zh-CN" dirty="0"/>
          </a:p>
          <a:p>
            <a:r>
              <a:rPr lang="zh-CN" altLang="en-US" dirty="0"/>
              <a:t>排除生成树上的所有成环边，得到桥</a:t>
            </a:r>
          </a:p>
        </p:txBody>
      </p:sp>
    </p:spTree>
    <p:extLst>
      <p:ext uri="{BB962C8B-B14F-4D97-AF65-F5344CB8AC3E}">
        <p14:creationId xmlns:p14="http://schemas.microsoft.com/office/powerpoint/2010/main" val="859708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0DDC48-E958-527A-1D85-E8E6919F4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DCB9949C-5FBB-D568-A255-2A139E615638}"/>
              </a:ext>
            </a:extLst>
          </p:cNvPr>
          <p:cNvGrpSpPr/>
          <p:nvPr/>
        </p:nvGrpSpPr>
        <p:grpSpPr>
          <a:xfrm>
            <a:off x="1055266" y="634888"/>
            <a:ext cx="3451420" cy="400110"/>
            <a:chOff x="1148080" y="833460"/>
            <a:chExt cx="3451420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FC96ACE0-6FF1-9720-9787-FD0C07F2FA9A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B4E1255F-39EA-80FD-E9EF-C4DDCE52F84D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8E42DC21-5A48-36F5-B645-AF080387FAA0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CA24660-8B7D-539A-62F6-9C8721B88E34}"/>
                </a:ext>
              </a:extLst>
            </p:cNvPr>
            <p:cNvSpPr txBox="1"/>
            <p:nvPr/>
          </p:nvSpPr>
          <p:spPr>
            <a:xfrm>
              <a:off x="1396987" y="833460"/>
              <a:ext cx="32025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高效算法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22B7CF8E-CE50-CF4C-C4A8-0832D0C4D372}"/>
              </a:ext>
            </a:extLst>
          </p:cNvPr>
          <p:cNvSpPr txBox="1"/>
          <p:nvPr/>
        </p:nvSpPr>
        <p:spPr>
          <a:xfrm>
            <a:off x="1667709" y="2232828"/>
            <a:ext cx="21586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在生成树和找最近公共祖先的过程中使用并查集提高效率，且可以利用并查集以点代边表示生成树（因为每个节点只有一个父节点和一条到父节点的边）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0F4C61-A5A5-DBC8-F4E5-9DF1CC8FFA72}"/>
              </a:ext>
            </a:extLst>
          </p:cNvPr>
          <p:cNvSpPr txBox="1"/>
          <p:nvPr/>
        </p:nvSpPr>
        <p:spPr>
          <a:xfrm>
            <a:off x="6030686" y="4714771"/>
            <a:ext cx="4271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因为并查集的</a:t>
            </a:r>
            <a:r>
              <a:rPr lang="en-US" altLang="zh-CN" dirty="0"/>
              <a:t>Find</a:t>
            </a:r>
            <a:r>
              <a:rPr lang="zh-CN" altLang="en-US" dirty="0"/>
              <a:t>需要递归，故可以通过路径压缩减小深度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5E73ED-6356-44DD-EB26-CB131B86D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374" y="1643743"/>
            <a:ext cx="6243160" cy="271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44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591AE-71A6-6907-05A8-CB14F3F4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2D4012AD-D791-780E-726D-C47C19B388BB}"/>
              </a:ext>
            </a:extLst>
          </p:cNvPr>
          <p:cNvGrpSpPr/>
          <p:nvPr/>
        </p:nvGrpSpPr>
        <p:grpSpPr>
          <a:xfrm>
            <a:off x="1055266" y="634888"/>
            <a:ext cx="3451420" cy="400110"/>
            <a:chOff x="1148080" y="833460"/>
            <a:chExt cx="3451420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4EC1AE95-8FF8-4219-31A9-B7A0F9C6D188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01C5CEBB-6C75-8C30-C763-1CA742CEB735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155B4B5F-A274-7E71-8673-0AF7103988F9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10A28A3-58CC-686A-C9BA-B39BC765AEDE}"/>
                </a:ext>
              </a:extLst>
            </p:cNvPr>
            <p:cNvSpPr txBox="1"/>
            <p:nvPr/>
          </p:nvSpPr>
          <p:spPr>
            <a:xfrm>
              <a:off x="1396987" y="833460"/>
              <a:ext cx="32025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高效算法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6A6652C6-B502-DD00-B288-620BEDE7F007}"/>
              </a:ext>
            </a:extLst>
          </p:cNvPr>
          <p:cNvSpPr txBox="1"/>
          <p:nvPr/>
        </p:nvSpPr>
        <p:spPr>
          <a:xfrm>
            <a:off x="1401010" y="1971571"/>
            <a:ext cx="25668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最近公共祖先的寻找过程中，可能会存在多次访问已经访问过的成环边，因此可以在一次寻找过程后，将沿途的所有成环边的节点都设置为公共祖先的子节点，因为它们都不是桥，而且没有改变它们的子节点，因此不会影响找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380590-489C-769B-AB35-E10D244D0355}"/>
              </a:ext>
            </a:extLst>
          </p:cNvPr>
          <p:cNvSpPr txBox="1"/>
          <p:nvPr/>
        </p:nvSpPr>
        <p:spPr>
          <a:xfrm>
            <a:off x="5344887" y="4833893"/>
            <a:ext cx="5072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寻找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的公共祖先时，将沿途的节点都设置为公共祖先的子节点，后续寻找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en-US" dirty="0"/>
              <a:t>的公共祖先时减少了访问深度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BCBF650-C29B-0633-C25E-149D3FE84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075" y="1034998"/>
            <a:ext cx="3370838" cy="33708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BEAF754-8861-6F98-4FFE-5C37AE39C4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144" y="1971571"/>
            <a:ext cx="4081813" cy="252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93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1178276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711329" y="2253764"/>
            <a:ext cx="1225168" cy="789201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21394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DB8AF-9207-8CC3-02AE-4FAECD5C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91965A89-FB40-7FD7-BD58-C1A1BC3AA4C0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3BAE1A55-EFF2-9E3A-C897-B0A870D6E108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C515631E-E2B5-9593-0492-BC0A1CB6654B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FF12548-594E-886A-DAD3-DC38E0236E7C}"/>
              </a:ext>
            </a:extLst>
          </p:cNvPr>
          <p:cNvSpPr txBox="1"/>
          <p:nvPr/>
        </p:nvSpPr>
        <p:spPr>
          <a:xfrm>
            <a:off x="1304173" y="634888"/>
            <a:ext cx="3142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64C5D11-59F6-7542-4FD6-E95F168F0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403167"/>
              </p:ext>
            </p:extLst>
          </p:nvPr>
        </p:nvGraphicFramePr>
        <p:xfrm>
          <a:off x="1681843" y="1627415"/>
          <a:ext cx="8354784" cy="16056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2464">
                  <a:extLst>
                    <a:ext uri="{9D8B030D-6E8A-4147-A177-3AD203B41FA5}">
                      <a16:colId xmlns:a16="http://schemas.microsoft.com/office/drawing/2014/main" val="3172462904"/>
                    </a:ext>
                  </a:extLst>
                </a:gridCol>
                <a:gridCol w="1392464">
                  <a:extLst>
                    <a:ext uri="{9D8B030D-6E8A-4147-A177-3AD203B41FA5}">
                      <a16:colId xmlns:a16="http://schemas.microsoft.com/office/drawing/2014/main" val="3920983551"/>
                    </a:ext>
                  </a:extLst>
                </a:gridCol>
                <a:gridCol w="1392464">
                  <a:extLst>
                    <a:ext uri="{9D8B030D-6E8A-4147-A177-3AD203B41FA5}">
                      <a16:colId xmlns:a16="http://schemas.microsoft.com/office/drawing/2014/main" val="701398223"/>
                    </a:ext>
                  </a:extLst>
                </a:gridCol>
                <a:gridCol w="1392464">
                  <a:extLst>
                    <a:ext uri="{9D8B030D-6E8A-4147-A177-3AD203B41FA5}">
                      <a16:colId xmlns:a16="http://schemas.microsoft.com/office/drawing/2014/main" val="2268836331"/>
                    </a:ext>
                  </a:extLst>
                </a:gridCol>
                <a:gridCol w="1392464">
                  <a:extLst>
                    <a:ext uri="{9D8B030D-6E8A-4147-A177-3AD203B41FA5}">
                      <a16:colId xmlns:a16="http://schemas.microsoft.com/office/drawing/2014/main" val="985145495"/>
                    </a:ext>
                  </a:extLst>
                </a:gridCol>
                <a:gridCol w="1392464">
                  <a:extLst>
                    <a:ext uri="{9D8B030D-6E8A-4147-A177-3AD203B41FA5}">
                      <a16:colId xmlns:a16="http://schemas.microsoft.com/office/drawing/2014/main" val="132158640"/>
                    </a:ext>
                  </a:extLst>
                </a:gridCol>
              </a:tblGrid>
              <a:tr h="32593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单位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ms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u="none" strike="noStrike" dirty="0">
                          <a:effectLst/>
                          <a:latin typeface="+mn-ea"/>
                          <a:ea typeface="+mn-ea"/>
                        </a:rPr>
                        <a:t>小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中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zh-CN" altLang="en-US" sz="2000" u="none" strike="noStrike" dirty="0">
                          <a:effectLst/>
                          <a:latin typeface="+mn-ea"/>
                          <a:ea typeface="+mn-ea"/>
                        </a:rPr>
                        <a:t>大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10842763"/>
                  </a:ext>
                </a:extLst>
              </a:tr>
              <a:tr h="32593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基准算法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0.118017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3.42965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156103725"/>
                  </a:ext>
                </a:extLst>
              </a:tr>
              <a:tr h="32593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高效算法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0.039578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0.057221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4700.36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1356.29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522.438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68290336"/>
                  </a:ext>
                </a:extLst>
              </a:tr>
              <a:tr h="627836">
                <a:tc>
                  <a:txBody>
                    <a:bodyPr/>
                    <a:lstStyle/>
                    <a:p>
                      <a:pPr algn="l" fontAlgn="b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effectLst/>
                          <a:latin typeface="+mn-ea"/>
                          <a:ea typeface="+mn-ea"/>
                        </a:rPr>
                        <a:t>lca</a:t>
                      </a:r>
                      <a:r>
                        <a:rPr lang="zh-CN" altLang="en-US" sz="2000" u="none" strike="noStrike" dirty="0">
                          <a:effectLst/>
                          <a:latin typeface="+mn-ea"/>
                          <a:ea typeface="+mn-ea"/>
                        </a:rPr>
                        <a:t>压缩路径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  <a:latin typeface="+mn-ea"/>
                          <a:ea typeface="+mn-ea"/>
                        </a:rPr>
                        <a:t>o3</a:t>
                      </a:r>
                      <a:r>
                        <a:rPr lang="zh-CN" altLang="en-US" sz="2000" u="none" strike="noStrike" dirty="0">
                          <a:effectLst/>
                          <a:latin typeface="+mn-ea"/>
                          <a:ea typeface="+mn-ea"/>
                        </a:rPr>
                        <a:t>编译优化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18226611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B84B901-3B31-F7C9-5A37-B0944AC83714}"/>
              </a:ext>
            </a:extLst>
          </p:cNvPr>
          <p:cNvSpPr txBox="1"/>
          <p:nvPr/>
        </p:nvSpPr>
        <p:spPr>
          <a:xfrm>
            <a:off x="2509158" y="4307255"/>
            <a:ext cx="7309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图的规模越大，高效算法的性能越明显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547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/>
        </p:nvSpPr>
        <p:spPr>
          <a:xfrm>
            <a:off x="7020351" y="4291157"/>
            <a:ext cx="1950929" cy="429264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/>
        </p:nvSpPr>
        <p:spPr>
          <a:xfrm>
            <a:off x="8575040" y="3361767"/>
            <a:ext cx="2174466" cy="1571958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/>
        </p:nvSpPr>
        <p:spPr>
          <a:xfrm>
            <a:off x="3017976" y="174032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/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/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/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8E04C6A-65BD-4DAA-9677-E9B4128E044B}"/>
              </a:ext>
            </a:extLst>
          </p:cNvPr>
          <p:cNvSpPr/>
          <p:nvPr/>
        </p:nvSpPr>
        <p:spPr>
          <a:xfrm>
            <a:off x="3479328" y="2184231"/>
            <a:ext cx="5006086" cy="220307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/>
        </p:nvSpPr>
        <p:spPr>
          <a:xfrm>
            <a:off x="4410259" y="2777938"/>
            <a:ext cx="33714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THANKS</a:t>
            </a:r>
            <a:r>
              <a:rPr lang="en-US" altLang="zh-CN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</a:t>
            </a:r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358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700000" y="7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7" grpId="0" animBg="1"/>
      <p:bldP spid="4" grpId="0" animBg="1"/>
      <p:bldP spid="6" grpId="0" animBg="1"/>
      <p:bldP spid="8" grpId="0" animBg="1"/>
      <p:bldP spid="15" grpId="0" animBg="1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4267</TotalTime>
  <Words>606</Words>
  <Application>Microsoft Office PowerPoint</Application>
  <PresentationFormat>宽屏</PresentationFormat>
  <Paragraphs>67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等线</vt:lpstr>
      <vt:lpstr>等线 Light</vt:lpstr>
      <vt:lpstr>华文细黑</vt:lpstr>
      <vt:lpstr>思源黑体 CN Bold</vt:lpstr>
      <vt:lpstr>微软雅黑</vt:lpstr>
      <vt:lpstr>幼圆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雪 雷</dc:creator>
  <cp:lastModifiedBy>健文 姚</cp:lastModifiedBy>
  <cp:revision>127</cp:revision>
  <dcterms:created xsi:type="dcterms:W3CDTF">2021-08-22T12:17:40Z</dcterms:created>
  <dcterms:modified xsi:type="dcterms:W3CDTF">2025-06-05T23:27:55Z</dcterms:modified>
</cp:coreProperties>
</file>