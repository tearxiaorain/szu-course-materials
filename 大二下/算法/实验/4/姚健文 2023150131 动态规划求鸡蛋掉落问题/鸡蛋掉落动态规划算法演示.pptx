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0" r:id="rId3"/>
    <p:sldId id="262" r:id="rId4"/>
    <p:sldId id="264" r:id="rId5"/>
    <p:sldId id="315" r:id="rId6"/>
    <p:sldId id="283" r:id="rId7"/>
    <p:sldId id="270" r:id="rId8"/>
    <p:sldId id="310" r:id="rId9"/>
    <p:sldId id="311" r:id="rId10"/>
    <p:sldId id="284" r:id="rId11"/>
    <p:sldId id="305" r:id="rId12"/>
    <p:sldId id="316" r:id="rId13"/>
    <p:sldId id="321" r:id="rId14"/>
    <p:sldId id="317" r:id="rId15"/>
    <p:sldId id="320" r:id="rId16"/>
    <p:sldId id="322" r:id="rId17"/>
    <p:sldId id="278" r:id="rId18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74" userDrawn="1">
          <p15:clr>
            <a:srgbClr val="A4A3A4"/>
          </p15:clr>
        </p15:guide>
        <p15:guide id="2" pos="551" userDrawn="1">
          <p15:clr>
            <a:srgbClr val="A4A3A4"/>
          </p15:clr>
        </p15:guide>
        <p15:guide id="3" orient="horz" pos="368" userDrawn="1">
          <p15:clr>
            <a:srgbClr val="A4A3A4"/>
          </p15:clr>
        </p15:guide>
        <p15:guide id="4" pos="712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5C5"/>
    <a:srgbClr val="3B3838"/>
    <a:srgbClr val="767171"/>
    <a:srgbClr val="757575"/>
    <a:srgbClr val="5252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255" y="57"/>
      </p:cViewPr>
      <p:guideLst>
        <p:guide orient="horz" pos="3974"/>
        <p:guide pos="551"/>
        <p:guide orient="horz" pos="368"/>
        <p:guide pos="71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Yao%20Jianwen\Desktop\&#26032;&#24314;%20Microsoft%20Excel%20&#24037;&#20316;&#34920;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蛮力  </a:t>
            </a:r>
            <a:r>
              <a:rPr lang="en-US" altLang="zh-CN"/>
              <a:t>e=3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Sheet1!$DC$2:$DC$31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xVal>
          <c:yVal>
            <c:numRef>
              <c:f>Sheet1!$DE$2:$DE$31</c:f>
              <c:numCache>
                <c:formatCode>0.00E+00</c:formatCode>
                <c:ptCount val="30"/>
                <c:pt idx="0">
                  <c:v>7.1525600000000001E-7</c:v>
                </c:pt>
                <c:pt idx="1">
                  <c:v>2.3841900000000001E-7</c:v>
                </c:pt>
                <c:pt idx="2">
                  <c:v>2.3841900000000001E-7</c:v>
                </c:pt>
                <c:pt idx="3">
                  <c:v>4.76837E-7</c:v>
                </c:pt>
                <c:pt idx="4">
                  <c:v>1.1920899999999999E-6</c:v>
                </c:pt>
                <c:pt idx="5">
                  <c:v>1.43051E-6</c:v>
                </c:pt>
                <c:pt idx="6">
                  <c:v>3.33786E-6</c:v>
                </c:pt>
                <c:pt idx="7">
                  <c:v>7.8678100000000001E-6</c:v>
                </c:pt>
                <c:pt idx="8">
                  <c:v>1.6212500000000001E-5</c:v>
                </c:pt>
                <c:pt idx="9">
                  <c:v>3.67165E-5</c:v>
                </c:pt>
                <c:pt idx="10">
                  <c:v>8.0585499999999996E-5</c:v>
                </c:pt>
                <c:pt idx="11" formatCode="General">
                  <c:v>1.92881E-4</c:v>
                </c:pt>
                <c:pt idx="12" formatCode="General">
                  <c:v>3.8075400000000002E-4</c:v>
                </c:pt>
                <c:pt idx="13" formatCode="General">
                  <c:v>8.2802799999999997E-4</c:v>
                </c:pt>
                <c:pt idx="14" formatCode="General">
                  <c:v>1.7702600000000001E-3</c:v>
                </c:pt>
                <c:pt idx="15" formatCode="General">
                  <c:v>4.3353999999999997E-3</c:v>
                </c:pt>
                <c:pt idx="16" formatCode="General">
                  <c:v>8.3296299999999993E-3</c:v>
                </c:pt>
                <c:pt idx="17" formatCode="General">
                  <c:v>1.73473E-2</c:v>
                </c:pt>
                <c:pt idx="18" formatCode="General">
                  <c:v>4.0972000000000001E-2</c:v>
                </c:pt>
                <c:pt idx="19" formatCode="General">
                  <c:v>7.5616799999999998E-2</c:v>
                </c:pt>
                <c:pt idx="20" formatCode="General">
                  <c:v>0.16297900000000001</c:v>
                </c:pt>
                <c:pt idx="21" formatCode="General">
                  <c:v>0.33564899999999998</c:v>
                </c:pt>
                <c:pt idx="22" formatCode="General">
                  <c:v>0.71629799999999999</c:v>
                </c:pt>
                <c:pt idx="23" formatCode="General">
                  <c:v>1.4881899999999999</c:v>
                </c:pt>
                <c:pt idx="24" formatCode="General">
                  <c:v>3.09537</c:v>
                </c:pt>
                <c:pt idx="25" formatCode="General">
                  <c:v>6.4305700000000003</c:v>
                </c:pt>
                <c:pt idx="26" formatCode="General">
                  <c:v>13.4556</c:v>
                </c:pt>
                <c:pt idx="27" formatCode="General">
                  <c:v>28.1648</c:v>
                </c:pt>
                <c:pt idx="28" formatCode="General">
                  <c:v>59.018900000000002</c:v>
                </c:pt>
                <c:pt idx="29" formatCode="General">
                  <c:v>120.755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A23-44B9-8E66-F325485960BE}"/>
            </c:ext>
          </c:extLst>
        </c:ser>
        <c:ser>
          <c:idx val="1"/>
          <c:order val="1"/>
          <c:tx>
            <c:v>理论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Sheet1!$DC$2:$DC$31</c:f>
              <c:numCache>
                <c:formatCode>General</c:formatCode>
                <c:ptCount val="3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</c:numCache>
            </c:numRef>
          </c:xVal>
          <c:yVal>
            <c:numRef>
              <c:f>Sheet1!$DD$2:$DD$31</c:f>
              <c:numCache>
                <c:formatCode>0.00E+00</c:formatCode>
                <c:ptCount val="30"/>
                <c:pt idx="0">
                  <c:v>1.4422760009765625E-7</c:v>
                </c:pt>
                <c:pt idx="1">
                  <c:v>2.8845520019531249E-7</c:v>
                </c:pt>
                <c:pt idx="2">
                  <c:v>5.7691040039062498E-7</c:v>
                </c:pt>
                <c:pt idx="3">
                  <c:v>1.15382080078125E-6</c:v>
                </c:pt>
                <c:pt idx="4">
                  <c:v>2.3076416015624999E-6</c:v>
                </c:pt>
                <c:pt idx="5">
                  <c:v>4.6152832031249999E-6</c:v>
                </c:pt>
                <c:pt idx="6">
                  <c:v>9.2305664062499997E-6</c:v>
                </c:pt>
                <c:pt idx="7">
                  <c:v>1.8461132812499999E-5</c:v>
                </c:pt>
                <c:pt idx="8">
                  <c:v>3.6922265624999999E-5</c:v>
                </c:pt>
                <c:pt idx="9">
                  <c:v>7.3844531249999998E-5</c:v>
                </c:pt>
                <c:pt idx="10">
                  <c:v>1.476890625E-4</c:v>
                </c:pt>
                <c:pt idx="11">
                  <c:v>2.9537812499999999E-4</c:v>
                </c:pt>
                <c:pt idx="12">
                  <c:v>5.9075624999999998E-4</c:v>
                </c:pt>
                <c:pt idx="13">
                  <c:v>1.1815125E-3</c:v>
                </c:pt>
                <c:pt idx="14">
                  <c:v>2.3630249999999999E-3</c:v>
                </c:pt>
                <c:pt idx="15">
                  <c:v>4.7260499999999999E-3</c:v>
                </c:pt>
                <c:pt idx="16">
                  <c:v>9.4520999999999997E-3</c:v>
                </c:pt>
                <c:pt idx="17">
                  <c:v>1.8904199999999999E-2</c:v>
                </c:pt>
                <c:pt idx="18">
                  <c:v>3.7808399999999999E-2</c:v>
                </c:pt>
                <c:pt idx="19">
                  <c:v>7.5616799999999998E-2</c:v>
                </c:pt>
                <c:pt idx="20">
                  <c:v>0.1512336</c:v>
                </c:pt>
                <c:pt idx="21">
                  <c:v>0.30246719999999999</c:v>
                </c:pt>
                <c:pt idx="22">
                  <c:v>0.60493439999999998</c:v>
                </c:pt>
                <c:pt idx="23">
                  <c:v>1.2098688</c:v>
                </c:pt>
                <c:pt idx="24">
                  <c:v>2.4197375999999999</c:v>
                </c:pt>
                <c:pt idx="25">
                  <c:v>4.8394751999999999</c:v>
                </c:pt>
                <c:pt idx="26">
                  <c:v>9.6789503999999997</c:v>
                </c:pt>
                <c:pt idx="27">
                  <c:v>19.357900799999999</c:v>
                </c:pt>
                <c:pt idx="28">
                  <c:v>38.715801599999999</c:v>
                </c:pt>
                <c:pt idx="29">
                  <c:v>77.431603199999998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A23-44B9-8E66-F325485960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403535"/>
        <c:axId val="56405935"/>
      </c:scatterChart>
      <c:valAx>
        <c:axId val="564035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6405935"/>
        <c:crosses val="autoZero"/>
        <c:crossBetween val="midCat"/>
      </c:valAx>
      <c:valAx>
        <c:axId val="564059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640353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蛮力  </a:t>
            </a:r>
            <a:r>
              <a:rPr lang="en-US" altLang="zh-CN"/>
              <a:t>f=25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Sheet1!$DK$2:$DK$7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xVal>
          <c:yVal>
            <c:numRef>
              <c:f>Sheet1!$DM$2:$DM$7</c:f>
              <c:numCache>
                <c:formatCode>General</c:formatCode>
                <c:ptCount val="6"/>
                <c:pt idx="0" formatCode="0.00E+00">
                  <c:v>7.1525600000000001E-7</c:v>
                </c:pt>
                <c:pt idx="1">
                  <c:v>0.250664</c:v>
                </c:pt>
                <c:pt idx="2">
                  <c:v>3.17597</c:v>
                </c:pt>
                <c:pt idx="3">
                  <c:v>18.4682</c:v>
                </c:pt>
                <c:pt idx="4">
                  <c:v>70.330500000000001</c:v>
                </c:pt>
                <c:pt idx="5">
                  <c:v>200.77799999999999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D8D-411F-83ED-9CE5FE2658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4994063"/>
        <c:axId val="24985903"/>
      </c:scatterChart>
      <c:valAx>
        <c:axId val="249940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4985903"/>
        <c:crosses val="autoZero"/>
        <c:crossBetween val="midCat"/>
      </c:valAx>
      <c:valAx>
        <c:axId val="249859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4994063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定</a:t>
            </a:r>
            <a:r>
              <a:rPr lang="en-US" altLang="zh-CN" dirty="0"/>
              <a:t>f</a:t>
            </a:r>
            <a:r>
              <a:rPr lang="zh-CN" altLang="en-US" dirty="0"/>
              <a:t>变</a:t>
            </a:r>
            <a:r>
              <a:rPr lang="en-US" altLang="zh-CN" dirty="0"/>
              <a:t>e  </a:t>
            </a:r>
            <a:r>
              <a:rPr lang="zh-CN" altLang="en-US" dirty="0"/>
              <a:t>小规模对比</a:t>
            </a:r>
          </a:p>
        </c:rich>
      </c:tx>
      <c:layout>
        <c:manualLayout>
          <c:xMode val="edge"/>
          <c:yMode val="edge"/>
          <c:x val="0.37203617059549837"/>
          <c:y val="2.069857416160588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朴素dp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Sheet1!$D$2:$D$22</c:f>
              <c:numCache>
                <c:formatCode>General</c:formatCode>
                <c:ptCount val="21"/>
                <c:pt idx="0">
                  <c:v>0</c:v>
                </c:pt>
                <c:pt idx="1">
                  <c:v>1.3518300000000001E-4</c:v>
                </c:pt>
                <c:pt idx="2">
                  <c:v>2.99692E-4</c:v>
                </c:pt>
                <c:pt idx="3">
                  <c:v>3.7670100000000001E-4</c:v>
                </c:pt>
                <c:pt idx="4">
                  <c:v>4.8518200000000002E-4</c:v>
                </c:pt>
                <c:pt idx="5">
                  <c:v>5.3906400000000001E-4</c:v>
                </c:pt>
                <c:pt idx="6">
                  <c:v>6.9689800000000005E-4</c:v>
                </c:pt>
                <c:pt idx="7">
                  <c:v>8.0132499999999998E-4</c:v>
                </c:pt>
                <c:pt idx="8">
                  <c:v>9.5200500000000002E-4</c:v>
                </c:pt>
                <c:pt idx="9">
                  <c:v>1.0497600000000001E-3</c:v>
                </c:pt>
                <c:pt idx="10">
                  <c:v>1.6739400000000001E-3</c:v>
                </c:pt>
                <c:pt idx="11">
                  <c:v>1.8301000000000001E-3</c:v>
                </c:pt>
                <c:pt idx="12">
                  <c:v>1.9908E-3</c:v>
                </c:pt>
                <c:pt idx="13">
                  <c:v>2.1562600000000001E-3</c:v>
                </c:pt>
                <c:pt idx="14">
                  <c:v>2.32482E-3</c:v>
                </c:pt>
                <c:pt idx="15">
                  <c:v>2.5052999999999998E-3</c:v>
                </c:pt>
                <c:pt idx="16">
                  <c:v>2.6621800000000001E-3</c:v>
                </c:pt>
                <c:pt idx="17">
                  <c:v>2.8331300000000001E-3</c:v>
                </c:pt>
                <c:pt idx="18">
                  <c:v>3.0054999999999999E-3</c:v>
                </c:pt>
                <c:pt idx="19">
                  <c:v>3.15738E-3</c:v>
                </c:pt>
                <c:pt idx="20">
                  <c:v>3.30234E-3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BA6-4B3B-9DD6-59490CA72353}"/>
            </c:ext>
          </c:extLst>
        </c:ser>
        <c:ser>
          <c:idx val="1"/>
          <c:order val="1"/>
          <c:tx>
            <c:v>dp二分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Sheet1!$F$2:$F$22</c:f>
              <c:numCache>
                <c:formatCode>0.00E+00</c:formatCode>
                <c:ptCount val="21"/>
                <c:pt idx="0" formatCode="General">
                  <c:v>0</c:v>
                </c:pt>
                <c:pt idx="1">
                  <c:v>1.7643E-5</c:v>
                </c:pt>
                <c:pt idx="2">
                  <c:v>2.38419E-5</c:v>
                </c:pt>
                <c:pt idx="3">
                  <c:v>3.4809099999999998E-5</c:v>
                </c:pt>
                <c:pt idx="4">
                  <c:v>4.2200100000000003E-5</c:v>
                </c:pt>
                <c:pt idx="5">
                  <c:v>5.1498400000000001E-5</c:v>
                </c:pt>
                <c:pt idx="6">
                  <c:v>6.07967E-5</c:v>
                </c:pt>
                <c:pt idx="7">
                  <c:v>7.1525600000000005E-5</c:v>
                </c:pt>
                <c:pt idx="8">
                  <c:v>9.6559500000000003E-5</c:v>
                </c:pt>
                <c:pt idx="9" formatCode="General">
                  <c:v>1.46627E-4</c:v>
                </c:pt>
                <c:pt idx="10" formatCode="General">
                  <c:v>1.36852E-4</c:v>
                </c:pt>
                <c:pt idx="11" formatCode="General">
                  <c:v>1.4758100000000001E-4</c:v>
                </c:pt>
                <c:pt idx="12" formatCode="General">
                  <c:v>1.6164799999999999E-4</c:v>
                </c:pt>
                <c:pt idx="13" formatCode="General">
                  <c:v>1.7166100000000001E-4</c:v>
                </c:pt>
                <c:pt idx="14" formatCode="General">
                  <c:v>1.86682E-4</c:v>
                </c:pt>
                <c:pt idx="15" formatCode="General">
                  <c:v>1.9764899999999999E-4</c:v>
                </c:pt>
                <c:pt idx="16" formatCode="General">
                  <c:v>2.1100000000000001E-4</c:v>
                </c:pt>
                <c:pt idx="17" formatCode="General">
                  <c:v>2.2435200000000001E-4</c:v>
                </c:pt>
                <c:pt idx="18" formatCode="General">
                  <c:v>2.3794199999999999E-4</c:v>
                </c:pt>
                <c:pt idx="19" formatCode="General">
                  <c:v>2.50578E-4</c:v>
                </c:pt>
                <c:pt idx="20" formatCode="General">
                  <c:v>2.6154500000000002E-4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4BA6-4B3B-9DD6-59490CA72353}"/>
            </c:ext>
          </c:extLst>
        </c:ser>
        <c:ser>
          <c:idx val="2"/>
          <c:order val="2"/>
          <c:tx>
            <c:v>空间优化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Sheet1!$H$2:$H$22</c:f>
              <c:numCache>
                <c:formatCode>0.00E+00</c:formatCode>
                <c:ptCount val="21"/>
                <c:pt idx="0" formatCode="General">
                  <c:v>0</c:v>
                </c:pt>
                <c:pt idx="1">
                  <c:v>1.7643E-5</c:v>
                </c:pt>
                <c:pt idx="2">
                  <c:v>4.2915299999999999E-5</c:v>
                </c:pt>
                <c:pt idx="3">
                  <c:v>3.3855400000000001E-5</c:v>
                </c:pt>
                <c:pt idx="4">
                  <c:v>3.9815899999999999E-5</c:v>
                </c:pt>
                <c:pt idx="5">
                  <c:v>4.9114199999999998E-5</c:v>
                </c:pt>
                <c:pt idx="6">
                  <c:v>5.8174100000000003E-5</c:v>
                </c:pt>
                <c:pt idx="7">
                  <c:v>6.7472500000000002E-5</c:v>
                </c:pt>
                <c:pt idx="8" formatCode="General">
                  <c:v>1.09434E-4</c:v>
                </c:pt>
                <c:pt idx="9" formatCode="General">
                  <c:v>1.04904E-4</c:v>
                </c:pt>
                <c:pt idx="10" formatCode="General">
                  <c:v>1.4495799999999999E-4</c:v>
                </c:pt>
                <c:pt idx="11" formatCode="General">
                  <c:v>1.6593900000000001E-4</c:v>
                </c:pt>
                <c:pt idx="12" formatCode="General">
                  <c:v>1.68324E-4</c:v>
                </c:pt>
                <c:pt idx="13" formatCode="General">
                  <c:v>1.95026E-4</c:v>
                </c:pt>
                <c:pt idx="14" formatCode="General">
                  <c:v>1.95026E-4</c:v>
                </c:pt>
                <c:pt idx="15" formatCode="General">
                  <c:v>2.07901E-4</c:v>
                </c:pt>
                <c:pt idx="16" formatCode="General">
                  <c:v>2.39134E-4</c:v>
                </c:pt>
                <c:pt idx="17" formatCode="General">
                  <c:v>2.3651100000000001E-4</c:v>
                </c:pt>
                <c:pt idx="18" formatCode="General">
                  <c:v>2.6106799999999999E-4</c:v>
                </c:pt>
                <c:pt idx="19" formatCode="General">
                  <c:v>2.6536000000000002E-4</c:v>
                </c:pt>
                <c:pt idx="20" formatCode="General">
                  <c:v>2.77519E-4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4BA6-4B3B-9DD6-59490CA72353}"/>
            </c:ext>
          </c:extLst>
        </c:ser>
        <c:ser>
          <c:idx val="3"/>
          <c:order val="3"/>
          <c:tx>
            <c:v>逆向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Sheet1!$J$2:$J$22</c:f>
              <c:numCache>
                <c:formatCode>0.00E+00</c:formatCode>
                <c:ptCount val="21"/>
                <c:pt idx="0">
                  <c:v>4.76837E-7</c:v>
                </c:pt>
                <c:pt idx="1">
                  <c:v>2.3841900000000001E-7</c:v>
                </c:pt>
                <c:pt idx="2">
                  <c:v>7.1525600000000001E-7</c:v>
                </c:pt>
                <c:pt idx="3">
                  <c:v>4.76837E-7</c:v>
                </c:pt>
                <c:pt idx="4">
                  <c:v>7.1525600000000001E-7</c:v>
                </c:pt>
                <c:pt idx="5">
                  <c:v>9.5367399999999999E-7</c:v>
                </c:pt>
                <c:pt idx="6">
                  <c:v>7.1525600000000001E-7</c:v>
                </c:pt>
                <c:pt idx="7">
                  <c:v>1.1920899999999999E-6</c:v>
                </c:pt>
                <c:pt idx="8">
                  <c:v>1.43051E-6</c:v>
                </c:pt>
                <c:pt idx="9">
                  <c:v>1.43051E-6</c:v>
                </c:pt>
                <c:pt idx="10">
                  <c:v>2.1457699999999999E-6</c:v>
                </c:pt>
                <c:pt idx="11">
                  <c:v>2.1457699999999999E-6</c:v>
                </c:pt>
                <c:pt idx="12">
                  <c:v>2.3841900000000001E-6</c:v>
                </c:pt>
                <c:pt idx="13">
                  <c:v>2.3841900000000001E-6</c:v>
                </c:pt>
                <c:pt idx="14">
                  <c:v>2.6226000000000001E-6</c:v>
                </c:pt>
                <c:pt idx="15">
                  <c:v>2.8610199999999999E-6</c:v>
                </c:pt>
                <c:pt idx="16">
                  <c:v>2.8610199999999999E-6</c:v>
                </c:pt>
                <c:pt idx="17">
                  <c:v>2.8610199999999999E-6</c:v>
                </c:pt>
                <c:pt idx="18">
                  <c:v>3.33786E-6</c:v>
                </c:pt>
                <c:pt idx="19">
                  <c:v>3.5762799999999998E-6</c:v>
                </c:pt>
                <c:pt idx="20">
                  <c:v>3.5762799999999998E-6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4BA6-4B3B-9DD6-59490CA723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14261647"/>
        <c:axId val="1914270287"/>
      </c:scatterChart>
      <c:valAx>
        <c:axId val="1914261647"/>
        <c:scaling>
          <c:orientation val="minMax"/>
          <c:max val="1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14270287"/>
        <c:crosses val="autoZero"/>
        <c:crossBetween val="midCat"/>
      </c:valAx>
      <c:valAx>
        <c:axId val="19142702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142616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定</a:t>
            </a:r>
            <a:r>
              <a:rPr lang="en-US" alt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e</a:t>
            </a:r>
            <a:r>
              <a:rPr lang="zh-CN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变</a:t>
            </a:r>
            <a:r>
              <a:rPr lang="en-US" alt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f  </a:t>
            </a:r>
            <a:r>
              <a:rPr lang="zh-CN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小规模对比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朴素dp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Sheet1!$AB$2:$AB$22</c:f>
              <c:numCache>
                <c:formatCode>General</c:formatCode>
                <c:ptCount val="21"/>
                <c:pt idx="0">
                  <c:v>1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550</c:v>
                </c:pt>
                <c:pt idx="12">
                  <c:v>600</c:v>
                </c:pt>
                <c:pt idx="13">
                  <c:v>650</c:v>
                </c:pt>
                <c:pt idx="14">
                  <c:v>700</c:v>
                </c:pt>
                <c:pt idx="15">
                  <c:v>750</c:v>
                </c:pt>
                <c:pt idx="16">
                  <c:v>800</c:v>
                </c:pt>
                <c:pt idx="17">
                  <c:v>850</c:v>
                </c:pt>
                <c:pt idx="18">
                  <c:v>900</c:v>
                </c:pt>
                <c:pt idx="19">
                  <c:v>950</c:v>
                </c:pt>
                <c:pt idx="20">
                  <c:v>1000</c:v>
                </c:pt>
              </c:numCache>
            </c:numRef>
          </c:xVal>
          <c:yVal>
            <c:numRef>
              <c:f>Sheet1!$AD$2:$AD$22</c:f>
              <c:numCache>
                <c:formatCode>General</c:formatCode>
                <c:ptCount val="21"/>
                <c:pt idx="0">
                  <c:v>0</c:v>
                </c:pt>
                <c:pt idx="1">
                  <c:v>1.5783299999999999E-4</c:v>
                </c:pt>
                <c:pt idx="2">
                  <c:v>5.1665299999999995E-4</c:v>
                </c:pt>
                <c:pt idx="3">
                  <c:v>1.0127999999999999E-3</c:v>
                </c:pt>
                <c:pt idx="4">
                  <c:v>1.6770400000000001E-3</c:v>
                </c:pt>
                <c:pt idx="5">
                  <c:v>2.9881E-3</c:v>
                </c:pt>
                <c:pt idx="6">
                  <c:v>4.8508600000000002E-3</c:v>
                </c:pt>
                <c:pt idx="7">
                  <c:v>7.1327700000000001E-3</c:v>
                </c:pt>
                <c:pt idx="8">
                  <c:v>7.9574599999999995E-3</c:v>
                </c:pt>
                <c:pt idx="9">
                  <c:v>9.4432800000000001E-3</c:v>
                </c:pt>
                <c:pt idx="10">
                  <c:v>1.0278199999999999E-2</c:v>
                </c:pt>
                <c:pt idx="11">
                  <c:v>1.2711500000000001E-2</c:v>
                </c:pt>
                <c:pt idx="12">
                  <c:v>1.7914099999999999E-2</c:v>
                </c:pt>
                <c:pt idx="13">
                  <c:v>2.1499899999999999E-2</c:v>
                </c:pt>
                <c:pt idx="14">
                  <c:v>2.03331E-2</c:v>
                </c:pt>
                <c:pt idx="15">
                  <c:v>2.43669E-2</c:v>
                </c:pt>
                <c:pt idx="16">
                  <c:v>2.6060799999999999E-2</c:v>
                </c:pt>
                <c:pt idx="17">
                  <c:v>2.92251E-2</c:v>
                </c:pt>
                <c:pt idx="18">
                  <c:v>3.4120999999999999E-2</c:v>
                </c:pt>
                <c:pt idx="19">
                  <c:v>3.7115099999999998E-2</c:v>
                </c:pt>
                <c:pt idx="20">
                  <c:v>4.0551900000000002E-2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3DA-47EF-A476-FE5E0AB6E39F}"/>
            </c:ext>
          </c:extLst>
        </c:ser>
        <c:ser>
          <c:idx val="1"/>
          <c:order val="1"/>
          <c:tx>
            <c:v>dp二分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Sheet1!$AB$2:$AB$22</c:f>
              <c:numCache>
                <c:formatCode>General</c:formatCode>
                <c:ptCount val="21"/>
                <c:pt idx="0">
                  <c:v>1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550</c:v>
                </c:pt>
                <c:pt idx="12">
                  <c:v>600</c:v>
                </c:pt>
                <c:pt idx="13">
                  <c:v>650</c:v>
                </c:pt>
                <c:pt idx="14">
                  <c:v>700</c:v>
                </c:pt>
                <c:pt idx="15">
                  <c:v>750</c:v>
                </c:pt>
                <c:pt idx="16">
                  <c:v>800</c:v>
                </c:pt>
                <c:pt idx="17">
                  <c:v>850</c:v>
                </c:pt>
                <c:pt idx="18">
                  <c:v>900</c:v>
                </c:pt>
                <c:pt idx="19">
                  <c:v>950</c:v>
                </c:pt>
                <c:pt idx="20">
                  <c:v>1000</c:v>
                </c:pt>
              </c:numCache>
            </c:numRef>
          </c:xVal>
          <c:yVal>
            <c:numRef>
              <c:f>Sheet1!$AF$2:$AF$22</c:f>
              <c:numCache>
                <c:formatCode>0.00E+00</c:formatCode>
                <c:ptCount val="21"/>
                <c:pt idx="0">
                  <c:v>2.3841900000000001E-7</c:v>
                </c:pt>
                <c:pt idx="1">
                  <c:v>2.8610199999999999E-5</c:v>
                </c:pt>
                <c:pt idx="2">
                  <c:v>5.0306300000000003E-5</c:v>
                </c:pt>
                <c:pt idx="3">
                  <c:v>6.2227199999999999E-5</c:v>
                </c:pt>
                <c:pt idx="4">
                  <c:v>9.1314299999999994E-5</c:v>
                </c:pt>
                <c:pt idx="5">
                  <c:v>1.2898400000000001E-4</c:v>
                </c:pt>
                <c:pt idx="6">
                  <c:v>1.78099E-4</c:v>
                </c:pt>
                <c:pt idx="7">
                  <c:v>2.3007400000000001E-4</c:v>
                </c:pt>
                <c:pt idx="8">
                  <c:v>1.95503E-4</c:v>
                </c:pt>
                <c:pt idx="9" formatCode="General">
                  <c:v>1.89304E-4</c:v>
                </c:pt>
                <c:pt idx="10" formatCode="General">
                  <c:v>2.1004699999999999E-4</c:v>
                </c:pt>
                <c:pt idx="11" formatCode="General">
                  <c:v>3.3664699999999998E-4</c:v>
                </c:pt>
                <c:pt idx="12" formatCode="General">
                  <c:v>3.6764099999999999E-4</c:v>
                </c:pt>
                <c:pt idx="13" formatCode="General">
                  <c:v>2.7585000000000001E-4</c:v>
                </c:pt>
                <c:pt idx="14" formatCode="General">
                  <c:v>3.9529799999999998E-4</c:v>
                </c:pt>
                <c:pt idx="15" formatCode="General">
                  <c:v>3.2568000000000001E-4</c:v>
                </c:pt>
                <c:pt idx="16" formatCode="General">
                  <c:v>3.4427600000000002E-4</c:v>
                </c:pt>
                <c:pt idx="17" formatCode="General">
                  <c:v>3.6644899999999997E-4</c:v>
                </c:pt>
                <c:pt idx="18" formatCode="General">
                  <c:v>3.8981399999999999E-4</c:v>
                </c:pt>
                <c:pt idx="19" formatCode="General">
                  <c:v>4.1604000000000001E-4</c:v>
                </c:pt>
                <c:pt idx="20" formatCode="General">
                  <c:v>4.2676900000000002E-4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3DA-47EF-A476-FE5E0AB6E39F}"/>
            </c:ext>
          </c:extLst>
        </c:ser>
        <c:ser>
          <c:idx val="2"/>
          <c:order val="2"/>
          <c:tx>
            <c:v>空间优化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Sheet1!$AB$2:$AB$22</c:f>
              <c:numCache>
                <c:formatCode>General</c:formatCode>
                <c:ptCount val="21"/>
                <c:pt idx="0">
                  <c:v>1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550</c:v>
                </c:pt>
                <c:pt idx="12">
                  <c:v>600</c:v>
                </c:pt>
                <c:pt idx="13">
                  <c:v>650</c:v>
                </c:pt>
                <c:pt idx="14">
                  <c:v>700</c:v>
                </c:pt>
                <c:pt idx="15">
                  <c:v>750</c:v>
                </c:pt>
                <c:pt idx="16">
                  <c:v>800</c:v>
                </c:pt>
                <c:pt idx="17">
                  <c:v>850</c:v>
                </c:pt>
                <c:pt idx="18">
                  <c:v>900</c:v>
                </c:pt>
                <c:pt idx="19">
                  <c:v>950</c:v>
                </c:pt>
                <c:pt idx="20">
                  <c:v>1000</c:v>
                </c:pt>
              </c:numCache>
            </c:numRef>
          </c:xVal>
          <c:yVal>
            <c:numRef>
              <c:f>Sheet1!$AH$2:$AH$22</c:f>
              <c:numCache>
                <c:formatCode>0.00E+00</c:formatCode>
                <c:ptCount val="21"/>
                <c:pt idx="0">
                  <c:v>2.3841900000000001E-7</c:v>
                </c:pt>
                <c:pt idx="1">
                  <c:v>3.0040699999999999E-5</c:v>
                </c:pt>
                <c:pt idx="2">
                  <c:v>6.7949300000000003E-5</c:v>
                </c:pt>
                <c:pt idx="3">
                  <c:v>6.1512000000000003E-5</c:v>
                </c:pt>
                <c:pt idx="4">
                  <c:v>7.9870200000000007E-5</c:v>
                </c:pt>
                <c:pt idx="5">
                  <c:v>1.25408E-4</c:v>
                </c:pt>
                <c:pt idx="6">
                  <c:v>1.7452200000000001E-4</c:v>
                </c:pt>
                <c:pt idx="7">
                  <c:v>2.10285E-4</c:v>
                </c:pt>
                <c:pt idx="8" formatCode="General">
                  <c:v>1.6546200000000001E-4</c:v>
                </c:pt>
                <c:pt idx="9" formatCode="General">
                  <c:v>1.8501300000000001E-4</c:v>
                </c:pt>
                <c:pt idx="10" formatCode="General">
                  <c:v>2.0623199999999999E-4</c:v>
                </c:pt>
                <c:pt idx="11" formatCode="General">
                  <c:v>3.6859499999999999E-4</c:v>
                </c:pt>
                <c:pt idx="12" formatCode="General">
                  <c:v>3.6931000000000003E-4</c:v>
                </c:pt>
                <c:pt idx="13" formatCode="General">
                  <c:v>2.8753300000000003E-4</c:v>
                </c:pt>
                <c:pt idx="14" formatCode="General">
                  <c:v>3.8528400000000001E-4</c:v>
                </c:pt>
                <c:pt idx="15" formatCode="General">
                  <c:v>3.1566599999999998E-4</c:v>
                </c:pt>
                <c:pt idx="16" formatCode="General">
                  <c:v>3.4427600000000002E-4</c:v>
                </c:pt>
                <c:pt idx="17" formatCode="General">
                  <c:v>3.5667400000000002E-4</c:v>
                </c:pt>
                <c:pt idx="18" formatCode="General">
                  <c:v>3.7598599999999997E-4</c:v>
                </c:pt>
                <c:pt idx="19" formatCode="General">
                  <c:v>4.0149700000000001E-4</c:v>
                </c:pt>
                <c:pt idx="20" formatCode="General">
                  <c:v>4.3296799999999999E-4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63DA-47EF-A476-FE5E0AB6E39F}"/>
            </c:ext>
          </c:extLst>
        </c:ser>
        <c:ser>
          <c:idx val="3"/>
          <c:order val="3"/>
          <c:tx>
            <c:v>逆向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Sheet1!$AB$2:$AB$22</c:f>
              <c:numCache>
                <c:formatCode>General</c:formatCode>
                <c:ptCount val="21"/>
                <c:pt idx="0">
                  <c:v>1</c:v>
                </c:pt>
                <c:pt idx="1">
                  <c:v>50</c:v>
                </c:pt>
                <c:pt idx="2">
                  <c:v>100</c:v>
                </c:pt>
                <c:pt idx="3">
                  <c:v>150</c:v>
                </c:pt>
                <c:pt idx="4">
                  <c:v>200</c:v>
                </c:pt>
                <c:pt idx="5">
                  <c:v>250</c:v>
                </c:pt>
                <c:pt idx="6">
                  <c:v>300</c:v>
                </c:pt>
                <c:pt idx="7">
                  <c:v>350</c:v>
                </c:pt>
                <c:pt idx="8">
                  <c:v>400</c:v>
                </c:pt>
                <c:pt idx="9">
                  <c:v>450</c:v>
                </c:pt>
                <c:pt idx="10">
                  <c:v>500</c:v>
                </c:pt>
                <c:pt idx="11">
                  <c:v>550</c:v>
                </c:pt>
                <c:pt idx="12">
                  <c:v>600</c:v>
                </c:pt>
                <c:pt idx="13">
                  <c:v>650</c:v>
                </c:pt>
                <c:pt idx="14">
                  <c:v>700</c:v>
                </c:pt>
                <c:pt idx="15">
                  <c:v>750</c:v>
                </c:pt>
                <c:pt idx="16">
                  <c:v>800</c:v>
                </c:pt>
                <c:pt idx="17">
                  <c:v>850</c:v>
                </c:pt>
                <c:pt idx="18">
                  <c:v>900</c:v>
                </c:pt>
                <c:pt idx="19">
                  <c:v>950</c:v>
                </c:pt>
                <c:pt idx="20">
                  <c:v>1000</c:v>
                </c:pt>
              </c:numCache>
            </c:numRef>
          </c:xVal>
          <c:yVal>
            <c:numRef>
              <c:f>Sheet1!$AJ$2:$AJ$22</c:f>
              <c:numCache>
                <c:formatCode>0.00E+00</c:formatCode>
                <c:ptCount val="21"/>
                <c:pt idx="0">
                  <c:v>0</c:v>
                </c:pt>
                <c:pt idx="1">
                  <c:v>7.1525600000000001E-7</c:v>
                </c:pt>
                <c:pt idx="2">
                  <c:v>7.1525600000000001E-7</c:v>
                </c:pt>
                <c:pt idx="3">
                  <c:v>7.1525600000000001E-7</c:v>
                </c:pt>
                <c:pt idx="4">
                  <c:v>4.76837E-7</c:v>
                </c:pt>
                <c:pt idx="5">
                  <c:v>7.1525600000000001E-7</c:v>
                </c:pt>
                <c:pt idx="6">
                  <c:v>1.1920899999999999E-6</c:v>
                </c:pt>
                <c:pt idx="7">
                  <c:v>1.43051E-6</c:v>
                </c:pt>
                <c:pt idx="8">
                  <c:v>9.5367399999999999E-7</c:v>
                </c:pt>
                <c:pt idx="9">
                  <c:v>7.1525600000000001E-7</c:v>
                </c:pt>
                <c:pt idx="10">
                  <c:v>7.1525600000000001E-7</c:v>
                </c:pt>
                <c:pt idx="11">
                  <c:v>1.1920899999999999E-6</c:v>
                </c:pt>
                <c:pt idx="12">
                  <c:v>1.90735E-6</c:v>
                </c:pt>
                <c:pt idx="13">
                  <c:v>9.5367399999999999E-7</c:v>
                </c:pt>
                <c:pt idx="14">
                  <c:v>9.5367399999999999E-7</c:v>
                </c:pt>
                <c:pt idx="15">
                  <c:v>9.5367399999999999E-7</c:v>
                </c:pt>
                <c:pt idx="16">
                  <c:v>9.5367399999999999E-7</c:v>
                </c:pt>
                <c:pt idx="17">
                  <c:v>9.5367399999999999E-7</c:v>
                </c:pt>
                <c:pt idx="18">
                  <c:v>9.5367399999999999E-7</c:v>
                </c:pt>
                <c:pt idx="19">
                  <c:v>7.1525600000000001E-7</c:v>
                </c:pt>
                <c:pt idx="20">
                  <c:v>9.5367399999999999E-7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63DA-47EF-A476-FE5E0AB6E3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14256847"/>
        <c:axId val="1914264527"/>
      </c:scatterChart>
      <c:valAx>
        <c:axId val="1914256847"/>
        <c:scaling>
          <c:orientation val="minMax"/>
          <c:max val="1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14264527"/>
        <c:crosses val="autoZero"/>
        <c:crossBetween val="midCat"/>
      </c:valAx>
      <c:valAx>
        <c:axId val="19142645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91425684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定</a:t>
            </a:r>
            <a:r>
              <a:rPr lang="en-US" altLang="zh-CN"/>
              <a:t>f</a:t>
            </a:r>
            <a:r>
              <a:rPr lang="zh-CN" altLang="en-US"/>
              <a:t>变</a:t>
            </a:r>
            <a:r>
              <a:rPr lang="en-US" altLang="zh-CN"/>
              <a:t>e  f=10000</a:t>
            </a:r>
            <a:r>
              <a:rPr lang="zh-CN" altLang="en-US"/>
              <a:t>对比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朴素dp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Sheet1!$CB$2:$CB$22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Sheet1!$CE$2:$CE$22</c:f>
              <c:numCache>
                <c:formatCode>General</c:formatCode>
                <c:ptCount val="21"/>
                <c:pt idx="0" formatCode="0.00E+00">
                  <c:v>2.3841900000000001E-7</c:v>
                </c:pt>
                <c:pt idx="1">
                  <c:v>0.86990599999999996</c:v>
                </c:pt>
                <c:pt idx="2">
                  <c:v>1.9602900000000001</c:v>
                </c:pt>
                <c:pt idx="3">
                  <c:v>3.0309599999999999</c:v>
                </c:pt>
                <c:pt idx="4">
                  <c:v>4.1985799999999998</c:v>
                </c:pt>
                <c:pt idx="5">
                  <c:v>5.2858799999999997</c:v>
                </c:pt>
                <c:pt idx="6">
                  <c:v>6.3430299999999997</c:v>
                </c:pt>
                <c:pt idx="7">
                  <c:v>7.5034599999999996</c:v>
                </c:pt>
                <c:pt idx="8">
                  <c:v>8.6380400000000002</c:v>
                </c:pt>
                <c:pt idx="9">
                  <c:v>9.7784300000000002</c:v>
                </c:pt>
                <c:pt idx="10">
                  <c:v>10.690799999999999</c:v>
                </c:pt>
                <c:pt idx="11">
                  <c:v>12.0723</c:v>
                </c:pt>
                <c:pt idx="12">
                  <c:v>13.026400000000001</c:v>
                </c:pt>
                <c:pt idx="13">
                  <c:v>14.1075</c:v>
                </c:pt>
                <c:pt idx="14">
                  <c:v>14.959</c:v>
                </c:pt>
                <c:pt idx="15">
                  <c:v>16.347999999999999</c:v>
                </c:pt>
                <c:pt idx="16">
                  <c:v>17.359300000000001</c:v>
                </c:pt>
                <c:pt idx="17">
                  <c:v>18.614100000000001</c:v>
                </c:pt>
                <c:pt idx="18">
                  <c:v>19.661300000000001</c:v>
                </c:pt>
                <c:pt idx="19">
                  <c:v>20.843299999999999</c:v>
                </c:pt>
                <c:pt idx="20">
                  <c:v>22.077100000000002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1298-46FF-9FD5-A112200D4CA7}"/>
            </c:ext>
          </c:extLst>
        </c:ser>
        <c:ser>
          <c:idx val="1"/>
          <c:order val="1"/>
          <c:tx>
            <c:v>dp二分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Sheet1!$CB$2:$CB$22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Sheet1!$CG$2:$CG$22</c:f>
              <c:numCache>
                <c:formatCode>0.00E+00</c:formatCode>
                <c:ptCount val="21"/>
                <c:pt idx="0" formatCode="General">
                  <c:v>0</c:v>
                </c:pt>
                <c:pt idx="1">
                  <c:v>1.9779200000000002E-3</c:v>
                </c:pt>
                <c:pt idx="2">
                  <c:v>3.11875E-3</c:v>
                </c:pt>
                <c:pt idx="3">
                  <c:v>3.9377199999999996E-3</c:v>
                </c:pt>
                <c:pt idx="4">
                  <c:v>4.8522900000000004E-3</c:v>
                </c:pt>
                <c:pt idx="5">
                  <c:v>5.76138E-3</c:v>
                </c:pt>
                <c:pt idx="6">
                  <c:v>6.6842999999999998E-3</c:v>
                </c:pt>
                <c:pt idx="7">
                  <c:v>7.54523E-3</c:v>
                </c:pt>
                <c:pt idx="8">
                  <c:v>8.4707700000000007E-3</c:v>
                </c:pt>
                <c:pt idx="9" formatCode="General">
                  <c:v>9.4711799999999992E-3</c:v>
                </c:pt>
                <c:pt idx="10" formatCode="General">
                  <c:v>1.0489E-2</c:v>
                </c:pt>
                <c:pt idx="11" formatCode="General">
                  <c:v>1.58739E-2</c:v>
                </c:pt>
                <c:pt idx="12" formatCode="General">
                  <c:v>1.2085E-2</c:v>
                </c:pt>
                <c:pt idx="13" formatCode="General">
                  <c:v>1.38917E-2</c:v>
                </c:pt>
                <c:pt idx="14" formatCode="General">
                  <c:v>1.39968E-2</c:v>
                </c:pt>
                <c:pt idx="15" formatCode="General">
                  <c:v>1.48191E-2</c:v>
                </c:pt>
                <c:pt idx="16" formatCode="General">
                  <c:v>1.5646199999999999E-2</c:v>
                </c:pt>
                <c:pt idx="17" formatCode="General">
                  <c:v>1.76346E-2</c:v>
                </c:pt>
                <c:pt idx="18" formatCode="General">
                  <c:v>1.76668E-2</c:v>
                </c:pt>
                <c:pt idx="19" formatCode="General">
                  <c:v>1.92318E-2</c:v>
                </c:pt>
                <c:pt idx="20" formatCode="General">
                  <c:v>1.9226099999999999E-2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1298-46FF-9FD5-A112200D4CA7}"/>
            </c:ext>
          </c:extLst>
        </c:ser>
        <c:ser>
          <c:idx val="2"/>
          <c:order val="2"/>
          <c:tx>
            <c:v>空间优化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Sheet1!$CB$2:$CB$22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Sheet1!$CI$2:$CI$22</c:f>
              <c:numCache>
                <c:formatCode>0.00E+00</c:formatCode>
                <c:ptCount val="21"/>
                <c:pt idx="0" formatCode="General">
                  <c:v>0</c:v>
                </c:pt>
                <c:pt idx="1">
                  <c:v>2.0158300000000001E-3</c:v>
                </c:pt>
                <c:pt idx="2">
                  <c:v>2.97737E-3</c:v>
                </c:pt>
                <c:pt idx="3">
                  <c:v>3.8857499999999999E-3</c:v>
                </c:pt>
                <c:pt idx="4">
                  <c:v>4.8618300000000001E-3</c:v>
                </c:pt>
                <c:pt idx="5">
                  <c:v>5.5818600000000001E-3</c:v>
                </c:pt>
                <c:pt idx="6">
                  <c:v>6.5202699999999999E-3</c:v>
                </c:pt>
                <c:pt idx="7">
                  <c:v>7.4441400000000001E-3</c:v>
                </c:pt>
                <c:pt idx="8" formatCode="General">
                  <c:v>8.5294199999999994E-3</c:v>
                </c:pt>
                <c:pt idx="9" formatCode="General">
                  <c:v>9.2263199999999997E-3</c:v>
                </c:pt>
                <c:pt idx="10" formatCode="General">
                  <c:v>1.02804E-2</c:v>
                </c:pt>
                <c:pt idx="11" formatCode="General">
                  <c:v>1.5152499999999999E-2</c:v>
                </c:pt>
                <c:pt idx="12" formatCode="General">
                  <c:v>1.17903E-2</c:v>
                </c:pt>
                <c:pt idx="13" formatCode="General">
                  <c:v>1.29757E-2</c:v>
                </c:pt>
                <c:pt idx="14" formatCode="General">
                  <c:v>1.3676600000000001E-2</c:v>
                </c:pt>
                <c:pt idx="15" formatCode="General">
                  <c:v>1.46818E-2</c:v>
                </c:pt>
                <c:pt idx="16" formatCode="General">
                  <c:v>1.5358200000000001E-2</c:v>
                </c:pt>
                <c:pt idx="17" formatCode="General">
                  <c:v>1.6184799999999999E-2</c:v>
                </c:pt>
                <c:pt idx="18" formatCode="General">
                  <c:v>1.7223800000000001E-2</c:v>
                </c:pt>
                <c:pt idx="19" formatCode="General">
                  <c:v>1.7951499999999999E-2</c:v>
                </c:pt>
                <c:pt idx="20" formatCode="General">
                  <c:v>1.91033E-2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1298-46FF-9FD5-A112200D4CA7}"/>
            </c:ext>
          </c:extLst>
        </c:ser>
        <c:ser>
          <c:idx val="3"/>
          <c:order val="3"/>
          <c:tx>
            <c:v>逆向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Sheet1!$CB$2:$CB$22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Sheet1!$CK$2:$CK$22</c:f>
              <c:numCache>
                <c:formatCode>0.00E+00</c:formatCode>
                <c:ptCount val="21"/>
                <c:pt idx="0">
                  <c:v>2.3841900000000001E-7</c:v>
                </c:pt>
                <c:pt idx="1">
                  <c:v>7.1525600000000001E-7</c:v>
                </c:pt>
                <c:pt idx="2">
                  <c:v>1.1920899999999999E-6</c:v>
                </c:pt>
                <c:pt idx="3">
                  <c:v>1.43051E-6</c:v>
                </c:pt>
                <c:pt idx="4">
                  <c:v>1.1920899999999999E-6</c:v>
                </c:pt>
                <c:pt idx="5">
                  <c:v>1.66893E-6</c:v>
                </c:pt>
                <c:pt idx="6">
                  <c:v>1.66893E-6</c:v>
                </c:pt>
                <c:pt idx="7">
                  <c:v>1.90735E-6</c:v>
                </c:pt>
                <c:pt idx="8">
                  <c:v>2.3841900000000001E-6</c:v>
                </c:pt>
                <c:pt idx="9">
                  <c:v>2.8610199999999999E-6</c:v>
                </c:pt>
                <c:pt idx="10">
                  <c:v>3.0994400000000002E-6</c:v>
                </c:pt>
                <c:pt idx="11">
                  <c:v>4.5299499999999997E-6</c:v>
                </c:pt>
                <c:pt idx="12">
                  <c:v>3.33786E-6</c:v>
                </c:pt>
                <c:pt idx="13">
                  <c:v>4.0531199999999999E-6</c:v>
                </c:pt>
                <c:pt idx="14">
                  <c:v>4.2915299999999999E-6</c:v>
                </c:pt>
                <c:pt idx="15">
                  <c:v>4.2915299999999999E-6</c:v>
                </c:pt>
                <c:pt idx="16">
                  <c:v>4.5299499999999997E-6</c:v>
                </c:pt>
                <c:pt idx="17">
                  <c:v>5.0067900000000002E-6</c:v>
                </c:pt>
                <c:pt idx="18">
                  <c:v>5.24521E-6</c:v>
                </c:pt>
                <c:pt idx="19">
                  <c:v>7.3909800000000003E-6</c:v>
                </c:pt>
                <c:pt idx="20">
                  <c:v>5.7220499999999997E-6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1298-46FF-9FD5-A112200D4C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031487"/>
        <c:axId val="171055967"/>
      </c:scatterChart>
      <c:valAx>
        <c:axId val="1710314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055967"/>
        <c:crosses val="autoZero"/>
        <c:crossBetween val="midCat"/>
      </c:valAx>
      <c:valAx>
        <c:axId val="171055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03148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定</a:t>
            </a:r>
            <a:r>
              <a:rPr lang="en-US" alt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f</a:t>
            </a:r>
            <a:r>
              <a:rPr lang="zh-CN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变</a:t>
            </a:r>
            <a:r>
              <a:rPr lang="en-US" alt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e  f=10000</a:t>
            </a:r>
            <a:r>
              <a:rPr lang="zh-CN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对比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1"/>
          <c:tx>
            <c:v>dp二分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Sheet1!$CB$2:$CB$22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Sheet1!$CG$2:$CG$22</c:f>
              <c:numCache>
                <c:formatCode>0.00E+00</c:formatCode>
                <c:ptCount val="21"/>
                <c:pt idx="0" formatCode="General">
                  <c:v>0</c:v>
                </c:pt>
                <c:pt idx="1">
                  <c:v>1.9779200000000002E-3</c:v>
                </c:pt>
                <c:pt idx="2">
                  <c:v>3.11875E-3</c:v>
                </c:pt>
                <c:pt idx="3">
                  <c:v>3.9377199999999996E-3</c:v>
                </c:pt>
                <c:pt idx="4">
                  <c:v>4.8522900000000004E-3</c:v>
                </c:pt>
                <c:pt idx="5">
                  <c:v>5.76138E-3</c:v>
                </c:pt>
                <c:pt idx="6">
                  <c:v>6.6842999999999998E-3</c:v>
                </c:pt>
                <c:pt idx="7">
                  <c:v>7.54523E-3</c:v>
                </c:pt>
                <c:pt idx="8">
                  <c:v>8.4707700000000007E-3</c:v>
                </c:pt>
                <c:pt idx="9" formatCode="General">
                  <c:v>9.4711799999999992E-3</c:v>
                </c:pt>
                <c:pt idx="10" formatCode="General">
                  <c:v>1.0489E-2</c:v>
                </c:pt>
                <c:pt idx="11" formatCode="General">
                  <c:v>1.58739E-2</c:v>
                </c:pt>
                <c:pt idx="12" formatCode="General">
                  <c:v>1.2085E-2</c:v>
                </c:pt>
                <c:pt idx="13" formatCode="General">
                  <c:v>1.38917E-2</c:v>
                </c:pt>
                <c:pt idx="14" formatCode="General">
                  <c:v>1.39968E-2</c:v>
                </c:pt>
                <c:pt idx="15" formatCode="General">
                  <c:v>1.48191E-2</c:v>
                </c:pt>
                <c:pt idx="16" formatCode="General">
                  <c:v>1.5646199999999999E-2</c:v>
                </c:pt>
                <c:pt idx="17" formatCode="General">
                  <c:v>1.76346E-2</c:v>
                </c:pt>
                <c:pt idx="18" formatCode="General">
                  <c:v>1.76668E-2</c:v>
                </c:pt>
                <c:pt idx="19" formatCode="General">
                  <c:v>1.92318E-2</c:v>
                </c:pt>
                <c:pt idx="20" formatCode="General">
                  <c:v>1.9226099999999999E-2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FF0-4C77-847A-BCD5B0FD0C67}"/>
            </c:ext>
          </c:extLst>
        </c:ser>
        <c:ser>
          <c:idx val="2"/>
          <c:order val="2"/>
          <c:tx>
            <c:v>空间优化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Sheet1!$CB$2:$CB$22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Sheet1!$CI$2:$CI$22</c:f>
              <c:numCache>
                <c:formatCode>0.00E+00</c:formatCode>
                <c:ptCount val="21"/>
                <c:pt idx="0" formatCode="General">
                  <c:v>0</c:v>
                </c:pt>
                <c:pt idx="1">
                  <c:v>2.0158300000000001E-3</c:v>
                </c:pt>
                <c:pt idx="2">
                  <c:v>2.97737E-3</c:v>
                </c:pt>
                <c:pt idx="3">
                  <c:v>3.8857499999999999E-3</c:v>
                </c:pt>
                <c:pt idx="4">
                  <c:v>4.8618300000000001E-3</c:v>
                </c:pt>
                <c:pt idx="5">
                  <c:v>5.5818600000000001E-3</c:v>
                </c:pt>
                <c:pt idx="6">
                  <c:v>6.5202699999999999E-3</c:v>
                </c:pt>
                <c:pt idx="7">
                  <c:v>7.4441400000000001E-3</c:v>
                </c:pt>
                <c:pt idx="8" formatCode="General">
                  <c:v>8.5294199999999994E-3</c:v>
                </c:pt>
                <c:pt idx="9" formatCode="General">
                  <c:v>9.2263199999999997E-3</c:v>
                </c:pt>
                <c:pt idx="10" formatCode="General">
                  <c:v>1.02804E-2</c:v>
                </c:pt>
                <c:pt idx="11" formatCode="General">
                  <c:v>1.5152499999999999E-2</c:v>
                </c:pt>
                <c:pt idx="12" formatCode="General">
                  <c:v>1.17903E-2</c:v>
                </c:pt>
                <c:pt idx="13" formatCode="General">
                  <c:v>1.29757E-2</c:v>
                </c:pt>
                <c:pt idx="14" formatCode="General">
                  <c:v>1.3676600000000001E-2</c:v>
                </c:pt>
                <c:pt idx="15" formatCode="General">
                  <c:v>1.46818E-2</c:v>
                </c:pt>
                <c:pt idx="16" formatCode="General">
                  <c:v>1.5358200000000001E-2</c:v>
                </c:pt>
                <c:pt idx="17" formatCode="General">
                  <c:v>1.6184799999999999E-2</c:v>
                </c:pt>
                <c:pt idx="18" formatCode="General">
                  <c:v>1.7223800000000001E-2</c:v>
                </c:pt>
                <c:pt idx="19" formatCode="General">
                  <c:v>1.7951499999999999E-2</c:v>
                </c:pt>
                <c:pt idx="20" formatCode="General">
                  <c:v>1.91033E-2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FF0-4C77-847A-BCD5B0FD0C67}"/>
            </c:ext>
          </c:extLst>
        </c:ser>
        <c:ser>
          <c:idx val="3"/>
          <c:order val="3"/>
          <c:tx>
            <c:v>逆向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Sheet1!$CB$2:$CB$22</c:f>
              <c:numCache>
                <c:formatCode>General</c:formatCode>
                <c:ptCount val="21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  <c:pt idx="20">
                  <c:v>100</c:v>
                </c:pt>
              </c:numCache>
            </c:numRef>
          </c:xVal>
          <c:yVal>
            <c:numRef>
              <c:f>Sheet1!$CK$2:$CK$22</c:f>
              <c:numCache>
                <c:formatCode>0.00E+00</c:formatCode>
                <c:ptCount val="21"/>
                <c:pt idx="0">
                  <c:v>2.3841900000000001E-7</c:v>
                </c:pt>
                <c:pt idx="1">
                  <c:v>7.1525600000000001E-7</c:v>
                </c:pt>
                <c:pt idx="2">
                  <c:v>1.1920899999999999E-6</c:v>
                </c:pt>
                <c:pt idx="3">
                  <c:v>1.43051E-6</c:v>
                </c:pt>
                <c:pt idx="4">
                  <c:v>1.1920899999999999E-6</c:v>
                </c:pt>
                <c:pt idx="5">
                  <c:v>1.66893E-6</c:v>
                </c:pt>
                <c:pt idx="6">
                  <c:v>1.66893E-6</c:v>
                </c:pt>
                <c:pt idx="7">
                  <c:v>1.90735E-6</c:v>
                </c:pt>
                <c:pt idx="8">
                  <c:v>2.3841900000000001E-6</c:v>
                </c:pt>
                <c:pt idx="9">
                  <c:v>2.8610199999999999E-6</c:v>
                </c:pt>
                <c:pt idx="10">
                  <c:v>3.0994400000000002E-6</c:v>
                </c:pt>
                <c:pt idx="11">
                  <c:v>4.5299499999999997E-6</c:v>
                </c:pt>
                <c:pt idx="12">
                  <c:v>3.33786E-6</c:v>
                </c:pt>
                <c:pt idx="13">
                  <c:v>4.0531199999999999E-6</c:v>
                </c:pt>
                <c:pt idx="14">
                  <c:v>4.2915299999999999E-6</c:v>
                </c:pt>
                <c:pt idx="15">
                  <c:v>4.2915299999999999E-6</c:v>
                </c:pt>
                <c:pt idx="16">
                  <c:v>4.5299499999999997E-6</c:v>
                </c:pt>
                <c:pt idx="17">
                  <c:v>5.0067900000000002E-6</c:v>
                </c:pt>
                <c:pt idx="18">
                  <c:v>5.24521E-6</c:v>
                </c:pt>
                <c:pt idx="19">
                  <c:v>7.3909800000000003E-6</c:v>
                </c:pt>
                <c:pt idx="20">
                  <c:v>5.7220499999999997E-6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7FF0-4C77-847A-BCD5B0FD0C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031487"/>
        <c:axId val="171055967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v>朴素dp</c:v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Sheet1!$CB$2:$CB$22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1</c:v>
                      </c:pt>
                      <c:pt idx="1">
                        <c:v>5</c:v>
                      </c:pt>
                      <c:pt idx="2">
                        <c:v>10</c:v>
                      </c:pt>
                      <c:pt idx="3">
                        <c:v>15</c:v>
                      </c:pt>
                      <c:pt idx="4">
                        <c:v>20</c:v>
                      </c:pt>
                      <c:pt idx="5">
                        <c:v>25</c:v>
                      </c:pt>
                      <c:pt idx="6">
                        <c:v>30</c:v>
                      </c:pt>
                      <c:pt idx="7">
                        <c:v>35</c:v>
                      </c:pt>
                      <c:pt idx="8">
                        <c:v>40</c:v>
                      </c:pt>
                      <c:pt idx="9">
                        <c:v>45</c:v>
                      </c:pt>
                      <c:pt idx="10">
                        <c:v>50</c:v>
                      </c:pt>
                      <c:pt idx="11">
                        <c:v>55</c:v>
                      </c:pt>
                      <c:pt idx="12">
                        <c:v>60</c:v>
                      </c:pt>
                      <c:pt idx="13">
                        <c:v>65</c:v>
                      </c:pt>
                      <c:pt idx="14">
                        <c:v>70</c:v>
                      </c:pt>
                      <c:pt idx="15">
                        <c:v>75</c:v>
                      </c:pt>
                      <c:pt idx="16">
                        <c:v>80</c:v>
                      </c:pt>
                      <c:pt idx="17">
                        <c:v>85</c:v>
                      </c:pt>
                      <c:pt idx="18">
                        <c:v>90</c:v>
                      </c:pt>
                      <c:pt idx="19">
                        <c:v>95</c:v>
                      </c:pt>
                      <c:pt idx="20">
                        <c:v>100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Sheet1!$CE$2:$CE$22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 formatCode="0.00E+00">
                        <c:v>2.3841900000000001E-7</c:v>
                      </c:pt>
                      <c:pt idx="1">
                        <c:v>0.86990599999999996</c:v>
                      </c:pt>
                      <c:pt idx="2">
                        <c:v>1.9602900000000001</c:v>
                      </c:pt>
                      <c:pt idx="3">
                        <c:v>3.0309599999999999</c:v>
                      </c:pt>
                      <c:pt idx="4">
                        <c:v>4.1985799999999998</c:v>
                      </c:pt>
                      <c:pt idx="5">
                        <c:v>5.2858799999999997</c:v>
                      </c:pt>
                      <c:pt idx="6">
                        <c:v>6.3430299999999997</c:v>
                      </c:pt>
                      <c:pt idx="7">
                        <c:v>7.5034599999999996</c:v>
                      </c:pt>
                      <c:pt idx="8">
                        <c:v>8.6380400000000002</c:v>
                      </c:pt>
                      <c:pt idx="9">
                        <c:v>9.7784300000000002</c:v>
                      </c:pt>
                      <c:pt idx="10">
                        <c:v>10.690799999999999</c:v>
                      </c:pt>
                      <c:pt idx="11">
                        <c:v>12.0723</c:v>
                      </c:pt>
                      <c:pt idx="12">
                        <c:v>13.026400000000001</c:v>
                      </c:pt>
                      <c:pt idx="13">
                        <c:v>14.1075</c:v>
                      </c:pt>
                      <c:pt idx="14">
                        <c:v>14.959</c:v>
                      </c:pt>
                      <c:pt idx="15">
                        <c:v>16.347999999999999</c:v>
                      </c:pt>
                      <c:pt idx="16">
                        <c:v>17.359300000000001</c:v>
                      </c:pt>
                      <c:pt idx="17">
                        <c:v>18.614100000000001</c:v>
                      </c:pt>
                      <c:pt idx="18">
                        <c:v>19.661300000000001</c:v>
                      </c:pt>
                      <c:pt idx="19">
                        <c:v>20.843299999999999</c:v>
                      </c:pt>
                      <c:pt idx="20">
                        <c:v>22.077100000000002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3-7FF0-4C77-847A-BCD5B0FD0C67}"/>
                  </c:ext>
                </c:extLst>
              </c15:ser>
            </c15:filteredScatterSeries>
          </c:ext>
        </c:extLst>
      </c:scatterChart>
      <c:valAx>
        <c:axId val="1710314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055967"/>
        <c:crosses val="autoZero"/>
        <c:crossBetween val="midCat"/>
      </c:valAx>
      <c:valAx>
        <c:axId val="1710559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03148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定</a:t>
            </a:r>
            <a:r>
              <a:rPr lang="en-US" altLang="zh-CN"/>
              <a:t>e</a:t>
            </a:r>
            <a:r>
              <a:rPr lang="zh-CN" altLang="en-US"/>
              <a:t>变</a:t>
            </a:r>
            <a:r>
              <a:rPr lang="en-US" altLang="zh-CN"/>
              <a:t>f  1-10w</a:t>
            </a:r>
            <a:r>
              <a:rPr lang="zh-CN" altLang="en-US"/>
              <a:t>对比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朴素dp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Sheet1!$BC$2:$BC$22</c:f>
              <c:numCache>
                <c:formatCode>General</c:formatCode>
                <c:ptCount val="21"/>
                <c:pt idx="0">
                  <c:v>1</c:v>
                </c:pt>
                <c:pt idx="1">
                  <c:v>5000</c:v>
                </c:pt>
                <c:pt idx="2">
                  <c:v>10000</c:v>
                </c:pt>
                <c:pt idx="3">
                  <c:v>15000</c:v>
                </c:pt>
                <c:pt idx="4">
                  <c:v>20000</c:v>
                </c:pt>
                <c:pt idx="5">
                  <c:v>25000</c:v>
                </c:pt>
                <c:pt idx="6">
                  <c:v>30000</c:v>
                </c:pt>
                <c:pt idx="7">
                  <c:v>35000</c:v>
                </c:pt>
                <c:pt idx="8">
                  <c:v>40000</c:v>
                </c:pt>
                <c:pt idx="9">
                  <c:v>45000</c:v>
                </c:pt>
                <c:pt idx="10">
                  <c:v>50000</c:v>
                </c:pt>
                <c:pt idx="11">
                  <c:v>55000</c:v>
                </c:pt>
                <c:pt idx="12">
                  <c:v>60000</c:v>
                </c:pt>
                <c:pt idx="13">
                  <c:v>65000</c:v>
                </c:pt>
                <c:pt idx="14">
                  <c:v>70000</c:v>
                </c:pt>
                <c:pt idx="15">
                  <c:v>75000</c:v>
                </c:pt>
                <c:pt idx="16">
                  <c:v>80000</c:v>
                </c:pt>
                <c:pt idx="17">
                  <c:v>85000</c:v>
                </c:pt>
                <c:pt idx="18">
                  <c:v>90000</c:v>
                </c:pt>
                <c:pt idx="19">
                  <c:v>95000</c:v>
                </c:pt>
                <c:pt idx="20">
                  <c:v>100000</c:v>
                </c:pt>
              </c:numCache>
            </c:numRef>
          </c:xVal>
          <c:yVal>
            <c:numRef>
              <c:f>Sheet1!$BE$2:$BE$12</c:f>
              <c:numCache>
                <c:formatCode>General</c:formatCode>
                <c:ptCount val="11"/>
                <c:pt idx="0">
                  <c:v>0</c:v>
                </c:pt>
                <c:pt idx="1">
                  <c:v>1.11432</c:v>
                </c:pt>
                <c:pt idx="2">
                  <c:v>4.0424100000000003</c:v>
                </c:pt>
                <c:pt idx="3">
                  <c:v>9.4241100000000007</c:v>
                </c:pt>
                <c:pt idx="4">
                  <c:v>16.5732</c:v>
                </c:pt>
                <c:pt idx="5">
                  <c:v>26.227900000000002</c:v>
                </c:pt>
                <c:pt idx="6">
                  <c:v>37.5062</c:v>
                </c:pt>
                <c:pt idx="7">
                  <c:v>52.121699999999997</c:v>
                </c:pt>
                <c:pt idx="8">
                  <c:v>67.437799999999996</c:v>
                </c:pt>
                <c:pt idx="9">
                  <c:v>83.939099999999996</c:v>
                </c:pt>
                <c:pt idx="10">
                  <c:v>104.44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8A7-4E2F-91FC-F0C05D6F5B11}"/>
            </c:ext>
          </c:extLst>
        </c:ser>
        <c:ser>
          <c:idx val="1"/>
          <c:order val="1"/>
          <c:tx>
            <c:v>dp二分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Sheet1!$BC$2:$BC$22</c:f>
              <c:numCache>
                <c:formatCode>General</c:formatCode>
                <c:ptCount val="21"/>
                <c:pt idx="0">
                  <c:v>1</c:v>
                </c:pt>
                <c:pt idx="1">
                  <c:v>5000</c:v>
                </c:pt>
                <c:pt idx="2">
                  <c:v>10000</c:v>
                </c:pt>
                <c:pt idx="3">
                  <c:v>15000</c:v>
                </c:pt>
                <c:pt idx="4">
                  <c:v>20000</c:v>
                </c:pt>
                <c:pt idx="5">
                  <c:v>25000</c:v>
                </c:pt>
                <c:pt idx="6">
                  <c:v>30000</c:v>
                </c:pt>
                <c:pt idx="7">
                  <c:v>35000</c:v>
                </c:pt>
                <c:pt idx="8">
                  <c:v>40000</c:v>
                </c:pt>
                <c:pt idx="9">
                  <c:v>45000</c:v>
                </c:pt>
                <c:pt idx="10">
                  <c:v>50000</c:v>
                </c:pt>
                <c:pt idx="11">
                  <c:v>55000</c:v>
                </c:pt>
                <c:pt idx="12">
                  <c:v>60000</c:v>
                </c:pt>
                <c:pt idx="13">
                  <c:v>65000</c:v>
                </c:pt>
                <c:pt idx="14">
                  <c:v>70000</c:v>
                </c:pt>
                <c:pt idx="15">
                  <c:v>75000</c:v>
                </c:pt>
                <c:pt idx="16">
                  <c:v>80000</c:v>
                </c:pt>
                <c:pt idx="17">
                  <c:v>85000</c:v>
                </c:pt>
                <c:pt idx="18">
                  <c:v>90000</c:v>
                </c:pt>
                <c:pt idx="19">
                  <c:v>95000</c:v>
                </c:pt>
                <c:pt idx="20">
                  <c:v>100000</c:v>
                </c:pt>
              </c:numCache>
            </c:numRef>
          </c:xVal>
          <c:yVal>
            <c:numRef>
              <c:f>Sheet1!$BG$2:$BG$22</c:f>
              <c:numCache>
                <c:formatCode>0.00E+00</c:formatCode>
                <c:ptCount val="21"/>
                <c:pt idx="0">
                  <c:v>2.3841900000000001E-7</c:v>
                </c:pt>
                <c:pt idx="1">
                  <c:v>2.3286299999999999E-3</c:v>
                </c:pt>
                <c:pt idx="2">
                  <c:v>4.8120000000000003E-3</c:v>
                </c:pt>
                <c:pt idx="3">
                  <c:v>7.9450600000000003E-3</c:v>
                </c:pt>
                <c:pt idx="4">
                  <c:v>1.0137800000000001E-2</c:v>
                </c:pt>
                <c:pt idx="5">
                  <c:v>1.26178E-2</c:v>
                </c:pt>
                <c:pt idx="6">
                  <c:v>1.5121900000000001E-2</c:v>
                </c:pt>
                <c:pt idx="7">
                  <c:v>1.7940299999999999E-2</c:v>
                </c:pt>
                <c:pt idx="8">
                  <c:v>2.0535500000000002E-2</c:v>
                </c:pt>
                <c:pt idx="9" formatCode="General">
                  <c:v>2.3330699999999999E-2</c:v>
                </c:pt>
                <c:pt idx="10" formatCode="General">
                  <c:v>2.59595E-2</c:v>
                </c:pt>
                <c:pt idx="11" formatCode="General">
                  <c:v>2.8844600000000001E-2</c:v>
                </c:pt>
                <c:pt idx="12" formatCode="General">
                  <c:v>3.1135099999999999E-2</c:v>
                </c:pt>
                <c:pt idx="13" formatCode="General">
                  <c:v>3.4427600000000003E-2</c:v>
                </c:pt>
                <c:pt idx="14" formatCode="General">
                  <c:v>3.67725E-2</c:v>
                </c:pt>
                <c:pt idx="15" formatCode="General">
                  <c:v>4.3618900000000002E-2</c:v>
                </c:pt>
                <c:pt idx="16" formatCode="General">
                  <c:v>4.1679099999999997E-2</c:v>
                </c:pt>
                <c:pt idx="17" formatCode="General">
                  <c:v>4.4817900000000001E-2</c:v>
                </c:pt>
                <c:pt idx="18" formatCode="General">
                  <c:v>5.1695100000000001E-2</c:v>
                </c:pt>
                <c:pt idx="19" formatCode="General">
                  <c:v>5.1664599999999998E-2</c:v>
                </c:pt>
                <c:pt idx="20" formatCode="General">
                  <c:v>6.3922199999999998E-2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8A7-4E2F-91FC-F0C05D6F5B11}"/>
            </c:ext>
          </c:extLst>
        </c:ser>
        <c:ser>
          <c:idx val="2"/>
          <c:order val="2"/>
          <c:tx>
            <c:v>空间优化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Sheet1!$BC$2:$BC$22</c:f>
              <c:numCache>
                <c:formatCode>General</c:formatCode>
                <c:ptCount val="21"/>
                <c:pt idx="0">
                  <c:v>1</c:v>
                </c:pt>
                <c:pt idx="1">
                  <c:v>5000</c:v>
                </c:pt>
                <c:pt idx="2">
                  <c:v>10000</c:v>
                </c:pt>
                <c:pt idx="3">
                  <c:v>15000</c:v>
                </c:pt>
                <c:pt idx="4">
                  <c:v>20000</c:v>
                </c:pt>
                <c:pt idx="5">
                  <c:v>25000</c:v>
                </c:pt>
                <c:pt idx="6">
                  <c:v>30000</c:v>
                </c:pt>
                <c:pt idx="7">
                  <c:v>35000</c:v>
                </c:pt>
                <c:pt idx="8">
                  <c:v>40000</c:v>
                </c:pt>
                <c:pt idx="9">
                  <c:v>45000</c:v>
                </c:pt>
                <c:pt idx="10">
                  <c:v>50000</c:v>
                </c:pt>
                <c:pt idx="11">
                  <c:v>55000</c:v>
                </c:pt>
                <c:pt idx="12">
                  <c:v>60000</c:v>
                </c:pt>
                <c:pt idx="13">
                  <c:v>65000</c:v>
                </c:pt>
                <c:pt idx="14">
                  <c:v>70000</c:v>
                </c:pt>
                <c:pt idx="15">
                  <c:v>75000</c:v>
                </c:pt>
                <c:pt idx="16">
                  <c:v>80000</c:v>
                </c:pt>
                <c:pt idx="17">
                  <c:v>85000</c:v>
                </c:pt>
                <c:pt idx="18">
                  <c:v>90000</c:v>
                </c:pt>
                <c:pt idx="19">
                  <c:v>95000</c:v>
                </c:pt>
                <c:pt idx="20">
                  <c:v>100000</c:v>
                </c:pt>
              </c:numCache>
            </c:numRef>
          </c:xVal>
          <c:yVal>
            <c:numRef>
              <c:f>Sheet1!$BI$2:$BI$22</c:f>
              <c:numCache>
                <c:formatCode>0.00E+00</c:formatCode>
                <c:ptCount val="21"/>
                <c:pt idx="0">
                  <c:v>2.3841900000000001E-7</c:v>
                </c:pt>
                <c:pt idx="1">
                  <c:v>2.4416400000000001E-3</c:v>
                </c:pt>
                <c:pt idx="2">
                  <c:v>4.7941199999999998E-3</c:v>
                </c:pt>
                <c:pt idx="3">
                  <c:v>8.0063300000000007E-3</c:v>
                </c:pt>
                <c:pt idx="4">
                  <c:v>1.0071800000000001E-2</c:v>
                </c:pt>
                <c:pt idx="5">
                  <c:v>1.23906E-2</c:v>
                </c:pt>
                <c:pt idx="6">
                  <c:v>1.4984600000000001E-2</c:v>
                </c:pt>
                <c:pt idx="7">
                  <c:v>1.79267E-2</c:v>
                </c:pt>
                <c:pt idx="8" formatCode="General">
                  <c:v>2.0270300000000002E-2</c:v>
                </c:pt>
                <c:pt idx="9" formatCode="General">
                  <c:v>2.3162800000000001E-2</c:v>
                </c:pt>
                <c:pt idx="10" formatCode="General">
                  <c:v>2.5702200000000001E-2</c:v>
                </c:pt>
                <c:pt idx="11" formatCode="General">
                  <c:v>2.8552299999999999E-2</c:v>
                </c:pt>
                <c:pt idx="12" formatCode="General">
                  <c:v>3.2229899999999999E-2</c:v>
                </c:pt>
                <c:pt idx="13" formatCode="General">
                  <c:v>3.47219E-2</c:v>
                </c:pt>
                <c:pt idx="14" formatCode="General">
                  <c:v>4.0165199999999998E-2</c:v>
                </c:pt>
                <c:pt idx="15" formatCode="General">
                  <c:v>3.9528099999999997E-2</c:v>
                </c:pt>
                <c:pt idx="16" formatCode="General">
                  <c:v>4.40042E-2</c:v>
                </c:pt>
                <c:pt idx="17" formatCode="General">
                  <c:v>4.6422499999999998E-2</c:v>
                </c:pt>
                <c:pt idx="18" formatCode="General">
                  <c:v>5.0841299999999999E-2</c:v>
                </c:pt>
                <c:pt idx="19" formatCode="General">
                  <c:v>5.0821999999999999E-2</c:v>
                </c:pt>
                <c:pt idx="20" formatCode="General">
                  <c:v>5.3855399999999998E-2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8A7-4E2F-91FC-F0C05D6F5B11}"/>
            </c:ext>
          </c:extLst>
        </c:ser>
        <c:ser>
          <c:idx val="3"/>
          <c:order val="3"/>
          <c:tx>
            <c:v>逆向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Sheet1!$BC$2:$BC$22</c:f>
              <c:numCache>
                <c:formatCode>General</c:formatCode>
                <c:ptCount val="21"/>
                <c:pt idx="0">
                  <c:v>1</c:v>
                </c:pt>
                <c:pt idx="1">
                  <c:v>5000</c:v>
                </c:pt>
                <c:pt idx="2">
                  <c:v>10000</c:v>
                </c:pt>
                <c:pt idx="3">
                  <c:v>15000</c:v>
                </c:pt>
                <c:pt idx="4">
                  <c:v>20000</c:v>
                </c:pt>
                <c:pt idx="5">
                  <c:v>25000</c:v>
                </c:pt>
                <c:pt idx="6">
                  <c:v>30000</c:v>
                </c:pt>
                <c:pt idx="7">
                  <c:v>35000</c:v>
                </c:pt>
                <c:pt idx="8">
                  <c:v>40000</c:v>
                </c:pt>
                <c:pt idx="9">
                  <c:v>45000</c:v>
                </c:pt>
                <c:pt idx="10">
                  <c:v>50000</c:v>
                </c:pt>
                <c:pt idx="11">
                  <c:v>55000</c:v>
                </c:pt>
                <c:pt idx="12">
                  <c:v>60000</c:v>
                </c:pt>
                <c:pt idx="13">
                  <c:v>65000</c:v>
                </c:pt>
                <c:pt idx="14">
                  <c:v>70000</c:v>
                </c:pt>
                <c:pt idx="15">
                  <c:v>75000</c:v>
                </c:pt>
                <c:pt idx="16">
                  <c:v>80000</c:v>
                </c:pt>
                <c:pt idx="17">
                  <c:v>85000</c:v>
                </c:pt>
                <c:pt idx="18">
                  <c:v>90000</c:v>
                </c:pt>
                <c:pt idx="19">
                  <c:v>95000</c:v>
                </c:pt>
                <c:pt idx="20">
                  <c:v>100000</c:v>
                </c:pt>
              </c:numCache>
            </c:numRef>
          </c:xVal>
          <c:yVal>
            <c:numRef>
              <c:f>Sheet1!$BK$2:$BK$22</c:f>
              <c:numCache>
                <c:formatCode>0.00E+00</c:formatCode>
                <c:ptCount val="21"/>
                <c:pt idx="0">
                  <c:v>0</c:v>
                </c:pt>
                <c:pt idx="1">
                  <c:v>1.43051E-6</c:v>
                </c:pt>
                <c:pt idx="2">
                  <c:v>1.66893E-6</c:v>
                </c:pt>
                <c:pt idx="3">
                  <c:v>1.43051E-6</c:v>
                </c:pt>
                <c:pt idx="4">
                  <c:v>1.43051E-6</c:v>
                </c:pt>
                <c:pt idx="5">
                  <c:v>1.1920899999999999E-6</c:v>
                </c:pt>
                <c:pt idx="6">
                  <c:v>1.66893E-6</c:v>
                </c:pt>
                <c:pt idx="7">
                  <c:v>1.90735E-6</c:v>
                </c:pt>
                <c:pt idx="8">
                  <c:v>1.66893E-6</c:v>
                </c:pt>
                <c:pt idx="9">
                  <c:v>1.43051E-6</c:v>
                </c:pt>
                <c:pt idx="10">
                  <c:v>1.43051E-6</c:v>
                </c:pt>
                <c:pt idx="11">
                  <c:v>1.66893E-6</c:v>
                </c:pt>
                <c:pt idx="12">
                  <c:v>1.66893E-6</c:v>
                </c:pt>
                <c:pt idx="13">
                  <c:v>1.66893E-6</c:v>
                </c:pt>
                <c:pt idx="14">
                  <c:v>2.3841900000000001E-6</c:v>
                </c:pt>
                <c:pt idx="15">
                  <c:v>2.1457699999999999E-6</c:v>
                </c:pt>
                <c:pt idx="16">
                  <c:v>1.90735E-6</c:v>
                </c:pt>
                <c:pt idx="17">
                  <c:v>1.66893E-6</c:v>
                </c:pt>
                <c:pt idx="18">
                  <c:v>1.90735E-6</c:v>
                </c:pt>
                <c:pt idx="19">
                  <c:v>1.66893E-6</c:v>
                </c:pt>
                <c:pt idx="20">
                  <c:v>1.90735E-6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8A7-4E2F-91FC-F0C05D6F5B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046367"/>
        <c:axId val="171044447"/>
      </c:scatterChart>
      <c:valAx>
        <c:axId val="1710463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044447"/>
        <c:crosses val="autoZero"/>
        <c:crossBetween val="midCat"/>
      </c:valAx>
      <c:valAx>
        <c:axId val="171044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04636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定</a:t>
            </a:r>
            <a:r>
              <a:rPr lang="en-US" alt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e</a:t>
            </a:r>
            <a:r>
              <a:rPr lang="zh-CN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变</a:t>
            </a:r>
            <a:r>
              <a:rPr lang="en-US" altLang="zh-CN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f  1-10w</a:t>
            </a:r>
            <a:r>
              <a:rPr lang="zh-CN" altLang="en-US" sz="14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对比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scatterChart>
        <c:scatterStyle val="smoothMarker"/>
        <c:varyColors val="0"/>
        <c:ser>
          <c:idx val="1"/>
          <c:order val="1"/>
          <c:tx>
            <c:v>dp二分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Sheet1!$BC$2:$BC$22</c:f>
              <c:numCache>
                <c:formatCode>General</c:formatCode>
                <c:ptCount val="21"/>
                <c:pt idx="0">
                  <c:v>1</c:v>
                </c:pt>
                <c:pt idx="1">
                  <c:v>5000</c:v>
                </c:pt>
                <c:pt idx="2">
                  <c:v>10000</c:v>
                </c:pt>
                <c:pt idx="3">
                  <c:v>15000</c:v>
                </c:pt>
                <c:pt idx="4">
                  <c:v>20000</c:v>
                </c:pt>
                <c:pt idx="5">
                  <c:v>25000</c:v>
                </c:pt>
                <c:pt idx="6">
                  <c:v>30000</c:v>
                </c:pt>
                <c:pt idx="7">
                  <c:v>35000</c:v>
                </c:pt>
                <c:pt idx="8">
                  <c:v>40000</c:v>
                </c:pt>
                <c:pt idx="9">
                  <c:v>45000</c:v>
                </c:pt>
                <c:pt idx="10">
                  <c:v>50000</c:v>
                </c:pt>
                <c:pt idx="11">
                  <c:v>55000</c:v>
                </c:pt>
                <c:pt idx="12">
                  <c:v>60000</c:v>
                </c:pt>
                <c:pt idx="13">
                  <c:v>65000</c:v>
                </c:pt>
                <c:pt idx="14">
                  <c:v>70000</c:v>
                </c:pt>
                <c:pt idx="15">
                  <c:v>75000</c:v>
                </c:pt>
                <c:pt idx="16">
                  <c:v>80000</c:v>
                </c:pt>
                <c:pt idx="17">
                  <c:v>85000</c:v>
                </c:pt>
                <c:pt idx="18">
                  <c:v>90000</c:v>
                </c:pt>
                <c:pt idx="19">
                  <c:v>95000</c:v>
                </c:pt>
                <c:pt idx="20">
                  <c:v>100000</c:v>
                </c:pt>
              </c:numCache>
            </c:numRef>
          </c:xVal>
          <c:yVal>
            <c:numRef>
              <c:f>Sheet1!$BG$2:$BG$22</c:f>
              <c:numCache>
                <c:formatCode>0.00E+00</c:formatCode>
                <c:ptCount val="21"/>
                <c:pt idx="0">
                  <c:v>2.3841900000000001E-7</c:v>
                </c:pt>
                <c:pt idx="1">
                  <c:v>2.3286299999999999E-3</c:v>
                </c:pt>
                <c:pt idx="2">
                  <c:v>4.8120000000000003E-3</c:v>
                </c:pt>
                <c:pt idx="3">
                  <c:v>7.9450600000000003E-3</c:v>
                </c:pt>
                <c:pt idx="4">
                  <c:v>1.0137800000000001E-2</c:v>
                </c:pt>
                <c:pt idx="5">
                  <c:v>1.26178E-2</c:v>
                </c:pt>
                <c:pt idx="6">
                  <c:v>1.5121900000000001E-2</c:v>
                </c:pt>
                <c:pt idx="7">
                  <c:v>1.7940299999999999E-2</c:v>
                </c:pt>
                <c:pt idx="8">
                  <c:v>2.0535500000000002E-2</c:v>
                </c:pt>
                <c:pt idx="9" formatCode="General">
                  <c:v>2.3330699999999999E-2</c:v>
                </c:pt>
                <c:pt idx="10" formatCode="General">
                  <c:v>2.59595E-2</c:v>
                </c:pt>
                <c:pt idx="11" formatCode="General">
                  <c:v>2.8844600000000001E-2</c:v>
                </c:pt>
                <c:pt idx="12" formatCode="General">
                  <c:v>3.1135099999999999E-2</c:v>
                </c:pt>
                <c:pt idx="13" formatCode="General">
                  <c:v>3.4427600000000003E-2</c:v>
                </c:pt>
                <c:pt idx="14" formatCode="General">
                  <c:v>3.67725E-2</c:v>
                </c:pt>
                <c:pt idx="15" formatCode="General">
                  <c:v>4.3618900000000002E-2</c:v>
                </c:pt>
                <c:pt idx="16" formatCode="General">
                  <c:v>4.1679099999999997E-2</c:v>
                </c:pt>
                <c:pt idx="17" formatCode="General">
                  <c:v>4.4817900000000001E-2</c:v>
                </c:pt>
                <c:pt idx="18" formatCode="General">
                  <c:v>5.1695100000000001E-2</c:v>
                </c:pt>
                <c:pt idx="19" formatCode="General">
                  <c:v>5.1664599999999998E-2</c:v>
                </c:pt>
                <c:pt idx="20" formatCode="General">
                  <c:v>6.3922199999999998E-2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CEF-48E2-9059-D41FA71C2259}"/>
            </c:ext>
          </c:extLst>
        </c:ser>
        <c:ser>
          <c:idx val="2"/>
          <c:order val="2"/>
          <c:tx>
            <c:v>空间优化</c:v>
          </c:tx>
          <c:spPr>
            <a:ln w="190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Sheet1!$BC$2:$BC$22</c:f>
              <c:numCache>
                <c:formatCode>General</c:formatCode>
                <c:ptCount val="21"/>
                <c:pt idx="0">
                  <c:v>1</c:v>
                </c:pt>
                <c:pt idx="1">
                  <c:v>5000</c:v>
                </c:pt>
                <c:pt idx="2">
                  <c:v>10000</c:v>
                </c:pt>
                <c:pt idx="3">
                  <c:v>15000</c:v>
                </c:pt>
                <c:pt idx="4">
                  <c:v>20000</c:v>
                </c:pt>
                <c:pt idx="5">
                  <c:v>25000</c:v>
                </c:pt>
                <c:pt idx="6">
                  <c:v>30000</c:v>
                </c:pt>
                <c:pt idx="7">
                  <c:v>35000</c:v>
                </c:pt>
                <c:pt idx="8">
                  <c:v>40000</c:v>
                </c:pt>
                <c:pt idx="9">
                  <c:v>45000</c:v>
                </c:pt>
                <c:pt idx="10">
                  <c:v>50000</c:v>
                </c:pt>
                <c:pt idx="11">
                  <c:v>55000</c:v>
                </c:pt>
                <c:pt idx="12">
                  <c:v>60000</c:v>
                </c:pt>
                <c:pt idx="13">
                  <c:v>65000</c:v>
                </c:pt>
                <c:pt idx="14">
                  <c:v>70000</c:v>
                </c:pt>
                <c:pt idx="15">
                  <c:v>75000</c:v>
                </c:pt>
                <c:pt idx="16">
                  <c:v>80000</c:v>
                </c:pt>
                <c:pt idx="17">
                  <c:v>85000</c:v>
                </c:pt>
                <c:pt idx="18">
                  <c:v>90000</c:v>
                </c:pt>
                <c:pt idx="19">
                  <c:v>95000</c:v>
                </c:pt>
                <c:pt idx="20">
                  <c:v>100000</c:v>
                </c:pt>
              </c:numCache>
            </c:numRef>
          </c:xVal>
          <c:yVal>
            <c:numRef>
              <c:f>Sheet1!$BI$2:$BI$22</c:f>
              <c:numCache>
                <c:formatCode>0.00E+00</c:formatCode>
                <c:ptCount val="21"/>
                <c:pt idx="0">
                  <c:v>2.3841900000000001E-7</c:v>
                </c:pt>
                <c:pt idx="1">
                  <c:v>2.4416400000000001E-3</c:v>
                </c:pt>
                <c:pt idx="2">
                  <c:v>4.7941199999999998E-3</c:v>
                </c:pt>
                <c:pt idx="3">
                  <c:v>8.0063300000000007E-3</c:v>
                </c:pt>
                <c:pt idx="4">
                  <c:v>1.0071800000000001E-2</c:v>
                </c:pt>
                <c:pt idx="5">
                  <c:v>1.23906E-2</c:v>
                </c:pt>
                <c:pt idx="6">
                  <c:v>1.4984600000000001E-2</c:v>
                </c:pt>
                <c:pt idx="7">
                  <c:v>1.79267E-2</c:v>
                </c:pt>
                <c:pt idx="8" formatCode="General">
                  <c:v>2.0270300000000002E-2</c:v>
                </c:pt>
                <c:pt idx="9" formatCode="General">
                  <c:v>2.3162800000000001E-2</c:v>
                </c:pt>
                <c:pt idx="10" formatCode="General">
                  <c:v>2.5702200000000001E-2</c:v>
                </c:pt>
                <c:pt idx="11" formatCode="General">
                  <c:v>2.8552299999999999E-2</c:v>
                </c:pt>
                <c:pt idx="12" formatCode="General">
                  <c:v>3.2229899999999999E-2</c:v>
                </c:pt>
                <c:pt idx="13" formatCode="General">
                  <c:v>3.47219E-2</c:v>
                </c:pt>
                <c:pt idx="14" formatCode="General">
                  <c:v>4.0165199999999998E-2</c:v>
                </c:pt>
                <c:pt idx="15" formatCode="General">
                  <c:v>3.9528099999999997E-2</c:v>
                </c:pt>
                <c:pt idx="16" formatCode="General">
                  <c:v>4.40042E-2</c:v>
                </c:pt>
                <c:pt idx="17" formatCode="General">
                  <c:v>4.6422499999999998E-2</c:v>
                </c:pt>
                <c:pt idx="18" formatCode="General">
                  <c:v>5.0841299999999999E-2</c:v>
                </c:pt>
                <c:pt idx="19" formatCode="General">
                  <c:v>5.0821999999999999E-2</c:v>
                </c:pt>
                <c:pt idx="20" formatCode="General">
                  <c:v>5.3855399999999998E-2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CEF-48E2-9059-D41FA71C2259}"/>
            </c:ext>
          </c:extLst>
        </c:ser>
        <c:ser>
          <c:idx val="3"/>
          <c:order val="3"/>
          <c:tx>
            <c:v>逆向</c:v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Sheet1!$BC$2:$BC$22</c:f>
              <c:numCache>
                <c:formatCode>General</c:formatCode>
                <c:ptCount val="21"/>
                <c:pt idx="0">
                  <c:v>1</c:v>
                </c:pt>
                <c:pt idx="1">
                  <c:v>5000</c:v>
                </c:pt>
                <c:pt idx="2">
                  <c:v>10000</c:v>
                </c:pt>
                <c:pt idx="3">
                  <c:v>15000</c:v>
                </c:pt>
                <c:pt idx="4">
                  <c:v>20000</c:v>
                </c:pt>
                <c:pt idx="5">
                  <c:v>25000</c:v>
                </c:pt>
                <c:pt idx="6">
                  <c:v>30000</c:v>
                </c:pt>
                <c:pt idx="7">
                  <c:v>35000</c:v>
                </c:pt>
                <c:pt idx="8">
                  <c:v>40000</c:v>
                </c:pt>
                <c:pt idx="9">
                  <c:v>45000</c:v>
                </c:pt>
                <c:pt idx="10">
                  <c:v>50000</c:v>
                </c:pt>
                <c:pt idx="11">
                  <c:v>55000</c:v>
                </c:pt>
                <c:pt idx="12">
                  <c:v>60000</c:v>
                </c:pt>
                <c:pt idx="13">
                  <c:v>65000</c:v>
                </c:pt>
                <c:pt idx="14">
                  <c:v>70000</c:v>
                </c:pt>
                <c:pt idx="15">
                  <c:v>75000</c:v>
                </c:pt>
                <c:pt idx="16">
                  <c:v>80000</c:v>
                </c:pt>
                <c:pt idx="17">
                  <c:v>85000</c:v>
                </c:pt>
                <c:pt idx="18">
                  <c:v>90000</c:v>
                </c:pt>
                <c:pt idx="19">
                  <c:v>95000</c:v>
                </c:pt>
                <c:pt idx="20">
                  <c:v>100000</c:v>
                </c:pt>
              </c:numCache>
            </c:numRef>
          </c:xVal>
          <c:yVal>
            <c:numRef>
              <c:f>Sheet1!$BK$2:$BK$22</c:f>
              <c:numCache>
                <c:formatCode>0.00E+00</c:formatCode>
                <c:ptCount val="21"/>
                <c:pt idx="0">
                  <c:v>0</c:v>
                </c:pt>
                <c:pt idx="1">
                  <c:v>1.43051E-6</c:v>
                </c:pt>
                <c:pt idx="2">
                  <c:v>1.66893E-6</c:v>
                </c:pt>
                <c:pt idx="3">
                  <c:v>1.43051E-6</c:v>
                </c:pt>
                <c:pt idx="4">
                  <c:v>1.43051E-6</c:v>
                </c:pt>
                <c:pt idx="5">
                  <c:v>1.1920899999999999E-6</c:v>
                </c:pt>
                <c:pt idx="6">
                  <c:v>1.66893E-6</c:v>
                </c:pt>
                <c:pt idx="7">
                  <c:v>1.90735E-6</c:v>
                </c:pt>
                <c:pt idx="8">
                  <c:v>1.66893E-6</c:v>
                </c:pt>
                <c:pt idx="9">
                  <c:v>1.43051E-6</c:v>
                </c:pt>
                <c:pt idx="10">
                  <c:v>1.43051E-6</c:v>
                </c:pt>
                <c:pt idx="11">
                  <c:v>1.66893E-6</c:v>
                </c:pt>
                <c:pt idx="12">
                  <c:v>1.66893E-6</c:v>
                </c:pt>
                <c:pt idx="13">
                  <c:v>1.66893E-6</c:v>
                </c:pt>
                <c:pt idx="14">
                  <c:v>2.3841900000000001E-6</c:v>
                </c:pt>
                <c:pt idx="15">
                  <c:v>2.1457699999999999E-6</c:v>
                </c:pt>
                <c:pt idx="16">
                  <c:v>1.90735E-6</c:v>
                </c:pt>
                <c:pt idx="17">
                  <c:v>1.66893E-6</c:v>
                </c:pt>
                <c:pt idx="18">
                  <c:v>1.90735E-6</c:v>
                </c:pt>
                <c:pt idx="19">
                  <c:v>1.66893E-6</c:v>
                </c:pt>
                <c:pt idx="20">
                  <c:v>1.90735E-6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9CEF-48E2-9059-D41FA71C22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1046367"/>
        <c:axId val="171044447"/>
        <c:extLst>
          <c:ext xmlns:c15="http://schemas.microsoft.com/office/drawing/2012/chart" uri="{02D57815-91ED-43cb-92C2-25804820EDAC}">
            <c15:filteredScatterSeries>
              <c15:ser>
                <c:idx val="0"/>
                <c:order val="0"/>
                <c:tx>
                  <c:v>朴素dp</c:v>
                </c:tx>
                <c:spPr>
                  <a:ln w="19050" cap="rnd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circle"/>
                  <c:size val="5"/>
                  <c:spPr>
                    <a:solidFill>
                      <a:schemeClr val="accent1"/>
                    </a:solidFill>
                    <a:ln w="9525">
                      <a:solidFill>
                        <a:schemeClr val="accent1"/>
                      </a:solidFill>
                    </a:ln>
                    <a:effectLst/>
                  </c:spPr>
                </c:marker>
                <c:xVal>
                  <c:numRef>
                    <c:extLst>
                      <c:ext uri="{02D57815-91ED-43cb-92C2-25804820EDAC}">
                        <c15:formulaRef>
                          <c15:sqref>Sheet1!$BC$2:$BC$22</c15:sqref>
                        </c15:formulaRef>
                      </c:ext>
                    </c:extLst>
                    <c:numCache>
                      <c:formatCode>General</c:formatCode>
                      <c:ptCount val="21"/>
                      <c:pt idx="0">
                        <c:v>1</c:v>
                      </c:pt>
                      <c:pt idx="1">
                        <c:v>5000</c:v>
                      </c:pt>
                      <c:pt idx="2">
                        <c:v>10000</c:v>
                      </c:pt>
                      <c:pt idx="3">
                        <c:v>15000</c:v>
                      </c:pt>
                      <c:pt idx="4">
                        <c:v>20000</c:v>
                      </c:pt>
                      <c:pt idx="5">
                        <c:v>25000</c:v>
                      </c:pt>
                      <c:pt idx="6">
                        <c:v>30000</c:v>
                      </c:pt>
                      <c:pt idx="7">
                        <c:v>35000</c:v>
                      </c:pt>
                      <c:pt idx="8">
                        <c:v>40000</c:v>
                      </c:pt>
                      <c:pt idx="9">
                        <c:v>45000</c:v>
                      </c:pt>
                      <c:pt idx="10">
                        <c:v>50000</c:v>
                      </c:pt>
                      <c:pt idx="11">
                        <c:v>55000</c:v>
                      </c:pt>
                      <c:pt idx="12">
                        <c:v>60000</c:v>
                      </c:pt>
                      <c:pt idx="13">
                        <c:v>65000</c:v>
                      </c:pt>
                      <c:pt idx="14">
                        <c:v>70000</c:v>
                      </c:pt>
                      <c:pt idx="15">
                        <c:v>75000</c:v>
                      </c:pt>
                      <c:pt idx="16">
                        <c:v>80000</c:v>
                      </c:pt>
                      <c:pt idx="17">
                        <c:v>85000</c:v>
                      </c:pt>
                      <c:pt idx="18">
                        <c:v>90000</c:v>
                      </c:pt>
                      <c:pt idx="19">
                        <c:v>95000</c:v>
                      </c:pt>
                      <c:pt idx="20">
                        <c:v>100000</c:v>
                      </c:pt>
                    </c:numCache>
                  </c:numRef>
                </c:xVal>
                <c:yVal>
                  <c:numRef>
                    <c:extLst>
                      <c:ext uri="{02D57815-91ED-43cb-92C2-25804820EDAC}">
                        <c15:formulaRef>
                          <c15:sqref>Sheet1!$BE$2:$BE$12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0</c:v>
                      </c:pt>
                      <c:pt idx="1">
                        <c:v>1.11432</c:v>
                      </c:pt>
                      <c:pt idx="2">
                        <c:v>4.0424100000000003</c:v>
                      </c:pt>
                      <c:pt idx="3">
                        <c:v>9.4241100000000007</c:v>
                      </c:pt>
                      <c:pt idx="4">
                        <c:v>16.5732</c:v>
                      </c:pt>
                      <c:pt idx="5">
                        <c:v>26.227900000000002</c:v>
                      </c:pt>
                      <c:pt idx="6">
                        <c:v>37.5062</c:v>
                      </c:pt>
                      <c:pt idx="7">
                        <c:v>52.121699999999997</c:v>
                      </c:pt>
                      <c:pt idx="8">
                        <c:v>67.437799999999996</c:v>
                      </c:pt>
                      <c:pt idx="9">
                        <c:v>83.939099999999996</c:v>
                      </c:pt>
                      <c:pt idx="10">
                        <c:v>104.44</c:v>
                      </c:pt>
                    </c:numCache>
                  </c:numRef>
                </c:yVal>
                <c:smooth val="1"/>
                <c:extLst>
                  <c:ext xmlns:c16="http://schemas.microsoft.com/office/drawing/2014/chart" uri="{C3380CC4-5D6E-409C-BE32-E72D297353CC}">
                    <c16:uniqueId val="{00000003-9CEF-48E2-9059-D41FA71C2259}"/>
                  </c:ext>
                </c:extLst>
              </c15:ser>
            </c15:filteredScatterSeries>
          </c:ext>
        </c:extLst>
      </c:scatterChart>
      <c:valAx>
        <c:axId val="1710463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044447"/>
        <c:crosses val="autoZero"/>
        <c:crossBetween val="midCat"/>
      </c:valAx>
      <c:valAx>
        <c:axId val="1710444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1046367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/>
              <a:t>空间优化影响  </a:t>
            </a:r>
            <a:r>
              <a:rPr lang="en-US" altLang="zh-CN"/>
              <a:t>50w-1000w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dp二分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Sheet1!$BC$24:$BC$43</c:f>
              <c:numCache>
                <c:formatCode>General</c:formatCode>
                <c:ptCount val="20"/>
                <c:pt idx="0">
                  <c:v>500000</c:v>
                </c:pt>
                <c:pt idx="1">
                  <c:v>1000000</c:v>
                </c:pt>
                <c:pt idx="2">
                  <c:v>1500000</c:v>
                </c:pt>
                <c:pt idx="3">
                  <c:v>2000000</c:v>
                </c:pt>
                <c:pt idx="4">
                  <c:v>2500000</c:v>
                </c:pt>
                <c:pt idx="5">
                  <c:v>3000000</c:v>
                </c:pt>
                <c:pt idx="6">
                  <c:v>3500000</c:v>
                </c:pt>
                <c:pt idx="7">
                  <c:v>4000000</c:v>
                </c:pt>
                <c:pt idx="8">
                  <c:v>4500000</c:v>
                </c:pt>
                <c:pt idx="9">
                  <c:v>5000000</c:v>
                </c:pt>
                <c:pt idx="10">
                  <c:v>5500000</c:v>
                </c:pt>
                <c:pt idx="11">
                  <c:v>6000000</c:v>
                </c:pt>
                <c:pt idx="12">
                  <c:v>6500000</c:v>
                </c:pt>
                <c:pt idx="13">
                  <c:v>7000000</c:v>
                </c:pt>
                <c:pt idx="14">
                  <c:v>7500000</c:v>
                </c:pt>
                <c:pt idx="15">
                  <c:v>8000000</c:v>
                </c:pt>
                <c:pt idx="16">
                  <c:v>8500000</c:v>
                </c:pt>
                <c:pt idx="17">
                  <c:v>9000000</c:v>
                </c:pt>
                <c:pt idx="18">
                  <c:v>9500000</c:v>
                </c:pt>
                <c:pt idx="19">
                  <c:v>10000000</c:v>
                </c:pt>
              </c:numCache>
            </c:numRef>
          </c:xVal>
          <c:yVal>
            <c:numRef>
              <c:f>Sheet1!$BG$24:$BG$33</c:f>
              <c:numCache>
                <c:formatCode>General</c:formatCode>
                <c:ptCount val="10"/>
                <c:pt idx="0">
                  <c:v>0.57952199999999998</c:v>
                </c:pt>
                <c:pt idx="1">
                  <c:v>1.18</c:v>
                </c:pt>
                <c:pt idx="2">
                  <c:v>1.7570699999999999</c:v>
                </c:pt>
                <c:pt idx="3">
                  <c:v>2.4328099999999999</c:v>
                </c:pt>
                <c:pt idx="4">
                  <c:v>3</c:v>
                </c:pt>
                <c:pt idx="5">
                  <c:v>3.63503</c:v>
                </c:pt>
                <c:pt idx="6">
                  <c:v>4.1864100000000004</c:v>
                </c:pt>
                <c:pt idx="7">
                  <c:v>4.8672000000000004</c:v>
                </c:pt>
                <c:pt idx="8">
                  <c:v>5.4898800000000003</c:v>
                </c:pt>
                <c:pt idx="9">
                  <c:v>6.0472599999999996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E73-4493-B6EB-4183D59A23AC}"/>
            </c:ext>
          </c:extLst>
        </c:ser>
        <c:ser>
          <c:idx val="1"/>
          <c:order val="1"/>
          <c:tx>
            <c:v>空间优化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Sheet1!$BC$24:$BC$43</c:f>
              <c:numCache>
                <c:formatCode>General</c:formatCode>
                <c:ptCount val="20"/>
                <c:pt idx="0">
                  <c:v>500000</c:v>
                </c:pt>
                <c:pt idx="1">
                  <c:v>1000000</c:v>
                </c:pt>
                <c:pt idx="2">
                  <c:v>1500000</c:v>
                </c:pt>
                <c:pt idx="3">
                  <c:v>2000000</c:v>
                </c:pt>
                <c:pt idx="4">
                  <c:v>2500000</c:v>
                </c:pt>
                <c:pt idx="5">
                  <c:v>3000000</c:v>
                </c:pt>
                <c:pt idx="6">
                  <c:v>3500000</c:v>
                </c:pt>
                <c:pt idx="7">
                  <c:v>4000000</c:v>
                </c:pt>
                <c:pt idx="8">
                  <c:v>4500000</c:v>
                </c:pt>
                <c:pt idx="9">
                  <c:v>5000000</c:v>
                </c:pt>
                <c:pt idx="10">
                  <c:v>5500000</c:v>
                </c:pt>
                <c:pt idx="11">
                  <c:v>6000000</c:v>
                </c:pt>
                <c:pt idx="12">
                  <c:v>6500000</c:v>
                </c:pt>
                <c:pt idx="13">
                  <c:v>7000000</c:v>
                </c:pt>
                <c:pt idx="14">
                  <c:v>7500000</c:v>
                </c:pt>
                <c:pt idx="15">
                  <c:v>8000000</c:v>
                </c:pt>
                <c:pt idx="16">
                  <c:v>8500000</c:v>
                </c:pt>
                <c:pt idx="17">
                  <c:v>9000000</c:v>
                </c:pt>
                <c:pt idx="18">
                  <c:v>9500000</c:v>
                </c:pt>
                <c:pt idx="19">
                  <c:v>10000000</c:v>
                </c:pt>
              </c:numCache>
            </c:numRef>
          </c:xVal>
          <c:yVal>
            <c:numRef>
              <c:f>Sheet1!$BI$24:$BI$43</c:f>
              <c:numCache>
                <c:formatCode>General</c:formatCode>
                <c:ptCount val="20"/>
                <c:pt idx="0">
                  <c:v>0.57620499999999997</c:v>
                </c:pt>
                <c:pt idx="1">
                  <c:v>1.1687000000000001</c:v>
                </c:pt>
                <c:pt idx="2">
                  <c:v>1.76007</c:v>
                </c:pt>
                <c:pt idx="3">
                  <c:v>2.39812</c:v>
                </c:pt>
                <c:pt idx="4">
                  <c:v>2.9800200000000001</c:v>
                </c:pt>
                <c:pt idx="5">
                  <c:v>3.5238299999999998</c:v>
                </c:pt>
                <c:pt idx="6">
                  <c:v>4.1599000000000004</c:v>
                </c:pt>
                <c:pt idx="7">
                  <c:v>4.7582500000000003</c:v>
                </c:pt>
                <c:pt idx="8">
                  <c:v>5.4082299999999996</c:v>
                </c:pt>
                <c:pt idx="9">
                  <c:v>6.0092299999999996</c:v>
                </c:pt>
                <c:pt idx="10">
                  <c:v>6.63063</c:v>
                </c:pt>
                <c:pt idx="11">
                  <c:v>7.2288899999999998</c:v>
                </c:pt>
                <c:pt idx="12">
                  <c:v>7.9097600000000003</c:v>
                </c:pt>
                <c:pt idx="13">
                  <c:v>8.4548500000000004</c:v>
                </c:pt>
                <c:pt idx="14">
                  <c:v>9.1029599999999995</c:v>
                </c:pt>
                <c:pt idx="15">
                  <c:v>9.6710999999999991</c:v>
                </c:pt>
                <c:pt idx="16">
                  <c:v>10.2706</c:v>
                </c:pt>
                <c:pt idx="17">
                  <c:v>10.857100000000001</c:v>
                </c:pt>
                <c:pt idx="18">
                  <c:v>11.5023</c:v>
                </c:pt>
                <c:pt idx="19">
                  <c:v>12.188700000000001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E73-4493-B6EB-4183D59A23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39993439"/>
        <c:axId val="1839996799"/>
      </c:scatterChart>
      <c:valAx>
        <c:axId val="183999343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39996799"/>
        <c:crosses val="autoZero"/>
        <c:crossBetween val="midCat"/>
      </c:valAx>
      <c:valAx>
        <c:axId val="18399967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3999343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10^15</a:t>
            </a:r>
            <a:r>
              <a:rPr lang="zh-CN" altLang="en-US"/>
              <a:t>规模下的逆向  </a:t>
            </a:r>
            <a:r>
              <a:rPr lang="en-US" altLang="zh-CN"/>
              <a:t>e=3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实际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Sheet1!$DW$2:$DW$21</c:f>
              <c:numCache>
                <c:formatCode>General</c:formatCode>
                <c:ptCount val="2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</c:numCache>
            </c:numRef>
          </c:xVal>
          <c:yVal>
            <c:numRef>
              <c:f>Sheet1!$DY$2:$DY$21</c:f>
              <c:numCache>
                <c:formatCode>General</c:formatCode>
                <c:ptCount val="20"/>
                <c:pt idx="0" formatCode="0.00E+00">
                  <c:v>2.3841900000000001E-7</c:v>
                </c:pt>
                <c:pt idx="1">
                  <c:v>9.1304799999999998E-3</c:v>
                </c:pt>
                <c:pt idx="2">
                  <c:v>1.03879E-2</c:v>
                </c:pt>
                <c:pt idx="3">
                  <c:v>1.25349E-2</c:v>
                </c:pt>
                <c:pt idx="4">
                  <c:v>1.33977E-2</c:v>
                </c:pt>
                <c:pt idx="5">
                  <c:v>1.4873300000000001E-2</c:v>
                </c:pt>
                <c:pt idx="6">
                  <c:v>1.47645E-2</c:v>
                </c:pt>
                <c:pt idx="7">
                  <c:v>1.67992E-2</c:v>
                </c:pt>
                <c:pt idx="8">
                  <c:v>1.8876299999999999E-2</c:v>
                </c:pt>
                <c:pt idx="9">
                  <c:v>2.09827E-2</c:v>
                </c:pt>
                <c:pt idx="10">
                  <c:v>1.99177E-2</c:v>
                </c:pt>
                <c:pt idx="11">
                  <c:v>2.13163E-2</c:v>
                </c:pt>
                <c:pt idx="12">
                  <c:v>2.1231699999999999E-2</c:v>
                </c:pt>
                <c:pt idx="13">
                  <c:v>2.0315400000000001E-2</c:v>
                </c:pt>
                <c:pt idx="14">
                  <c:v>2.1981500000000001E-2</c:v>
                </c:pt>
                <c:pt idx="15">
                  <c:v>2.3875500000000001E-2</c:v>
                </c:pt>
                <c:pt idx="16">
                  <c:v>2.21703E-2</c:v>
                </c:pt>
                <c:pt idx="17">
                  <c:v>2.45662E-2</c:v>
                </c:pt>
                <c:pt idx="18">
                  <c:v>2.20022E-2</c:v>
                </c:pt>
                <c:pt idx="19">
                  <c:v>2.4695600000000002E-2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7866-43D5-A616-A646D9AF862C}"/>
            </c:ext>
          </c:extLst>
        </c:ser>
        <c:ser>
          <c:idx val="1"/>
          <c:order val="1"/>
          <c:tx>
            <c:v>理论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Sheet1!$DW$2:$DW$21</c:f>
              <c:numCache>
                <c:formatCode>General</c:formatCode>
                <c:ptCount val="2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</c:numCache>
            </c:numRef>
          </c:xVal>
          <c:yVal>
            <c:numRef>
              <c:f>Sheet1!$DX$2:$DX$21</c:f>
              <c:numCache>
                <c:formatCode>General</c:formatCode>
                <c:ptCount val="20"/>
                <c:pt idx="0">
                  <c:v>5.5194636031827525E-3</c:v>
                </c:pt>
                <c:pt idx="1">
                  <c:v>9.4381499999999993E-3</c:v>
                </c:pt>
                <c:pt idx="2">
                  <c:v>1.1891323857065298E-2</c:v>
                </c:pt>
                <c:pt idx="3">
                  <c:v>1.3612167781996868E-2</c:v>
                </c:pt>
                <c:pt idx="4">
                  <c:v>1.4982129238633662E-2</c:v>
                </c:pt>
                <c:pt idx="5">
                  <c:v>1.6139009481126666E-2</c:v>
                </c:pt>
                <c:pt idx="6">
                  <c:v>1.7150256723238659E-2</c:v>
                </c:pt>
                <c:pt idx="7">
                  <c:v>1.8054531442683219E-2</c:v>
                </c:pt>
                <c:pt idx="8">
                  <c:v>1.8876299999999999E-2</c:v>
                </c:pt>
                <c:pt idx="9">
                  <c:v>1.9632143134537323E-2</c:v>
                </c:pt>
                <c:pt idx="10">
                  <c:v>2.033387776972442E-2</c:v>
                </c:pt>
                <c:pt idx="11">
                  <c:v>2.0990257691806784E-2</c:v>
                </c:pt>
                <c:pt idx="12">
                  <c:v>2.1607969456709456E-2</c:v>
                </c:pt>
                <c:pt idx="13">
                  <c:v>2.2192249482911659E-2</c:v>
                </c:pt>
                <c:pt idx="14">
                  <c:v>2.2747284210625444E-2</c:v>
                </c:pt>
                <c:pt idx="15">
                  <c:v>2.3276479489342118E-2</c:v>
                </c:pt>
                <c:pt idx="16">
                  <c:v>2.3782647714130582E-2</c:v>
                </c:pt>
                <c:pt idx="17">
                  <c:v>2.4268141344871021E-2</c:v>
                </c:pt>
                <c:pt idx="18">
                  <c:v>2.4734950389752691E-2</c:v>
                </c:pt>
                <c:pt idx="19">
                  <c:v>2.5184775020885019E-2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7866-43D5-A616-A646D9AF86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85425744"/>
        <c:axId val="1785426704"/>
      </c:scatterChart>
      <c:valAx>
        <c:axId val="1785425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85426704"/>
        <c:crosses val="autoZero"/>
        <c:crossBetween val="midCat"/>
      </c:valAx>
      <c:valAx>
        <c:axId val="1785426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8542574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/>
              <a:t>10^13</a:t>
            </a:r>
            <a:r>
              <a:rPr lang="zh-CN" altLang="en-US"/>
              <a:t>规模下的逆向  </a:t>
            </a:r>
            <a:r>
              <a:rPr lang="en-US" altLang="zh-CN"/>
              <a:t>e=2</a:t>
            </a:r>
            <a:endParaRPr lang="zh-CN" alt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 altLang="en-US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v>实际</c:v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Sheet1!$EJ$2:$EJ$21</c:f>
              <c:numCache>
                <c:formatCode>General</c:formatCode>
                <c:ptCount val="2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</c:numCache>
            </c:numRef>
          </c:xVal>
          <c:yVal>
            <c:numRef>
              <c:f>Sheet1!$EL$2:$EL$21</c:f>
              <c:numCache>
                <c:formatCode>General</c:formatCode>
                <c:ptCount val="20"/>
                <c:pt idx="0" formatCode="0.00E+00">
                  <c:v>2.3841900000000001E-7</c:v>
                </c:pt>
                <c:pt idx="1">
                  <c:v>0.16370399999999999</c:v>
                </c:pt>
                <c:pt idx="2">
                  <c:v>0.228715</c:v>
                </c:pt>
                <c:pt idx="3">
                  <c:v>0.28959499999999999</c:v>
                </c:pt>
                <c:pt idx="4">
                  <c:v>0.34073300000000001</c:v>
                </c:pt>
                <c:pt idx="5">
                  <c:v>0.35346300000000003</c:v>
                </c:pt>
                <c:pt idx="6">
                  <c:v>0.421593</c:v>
                </c:pt>
                <c:pt idx="7">
                  <c:v>0.43076100000000001</c:v>
                </c:pt>
                <c:pt idx="8">
                  <c:v>0.457735</c:v>
                </c:pt>
                <c:pt idx="9">
                  <c:v>0.51289899999999999</c:v>
                </c:pt>
                <c:pt idx="10">
                  <c:v>0.50794600000000001</c:v>
                </c:pt>
                <c:pt idx="11">
                  <c:v>0.57227799999999995</c:v>
                </c:pt>
                <c:pt idx="12">
                  <c:v>0.63371900000000003</c:v>
                </c:pt>
                <c:pt idx="13">
                  <c:v>0.62618499999999999</c:v>
                </c:pt>
                <c:pt idx="14">
                  <c:v>0.64797199999999999</c:v>
                </c:pt>
                <c:pt idx="15">
                  <c:v>0.63751899999999995</c:v>
                </c:pt>
                <c:pt idx="16">
                  <c:v>0.67746600000000001</c:v>
                </c:pt>
                <c:pt idx="17">
                  <c:v>0.70789000000000002</c:v>
                </c:pt>
                <c:pt idx="18">
                  <c:v>0.76893299999999998</c:v>
                </c:pt>
                <c:pt idx="19">
                  <c:v>0.83837099999999998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3B0-444C-8C13-F66247994525}"/>
            </c:ext>
          </c:extLst>
        </c:ser>
        <c:ser>
          <c:idx val="1"/>
          <c:order val="1"/>
          <c:tx>
            <c:v>理论</c:v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Sheet1!$EJ$2:$EJ$21</c:f>
              <c:numCache>
                <c:formatCode>General</c:formatCode>
                <c:ptCount val="20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  <c:pt idx="9">
                  <c:v>45</c:v>
                </c:pt>
                <c:pt idx="10">
                  <c:v>50</c:v>
                </c:pt>
                <c:pt idx="11">
                  <c:v>55</c:v>
                </c:pt>
                <c:pt idx="12">
                  <c:v>60</c:v>
                </c:pt>
                <c:pt idx="13">
                  <c:v>65</c:v>
                </c:pt>
                <c:pt idx="14">
                  <c:v>70</c:v>
                </c:pt>
                <c:pt idx="15">
                  <c:v>75</c:v>
                </c:pt>
                <c:pt idx="16">
                  <c:v>80</c:v>
                </c:pt>
                <c:pt idx="17">
                  <c:v>85</c:v>
                </c:pt>
                <c:pt idx="18">
                  <c:v>90</c:v>
                </c:pt>
                <c:pt idx="19">
                  <c:v>95</c:v>
                </c:pt>
              </c:numCache>
            </c:numRef>
          </c:xVal>
          <c:yVal>
            <c:numRef>
              <c:f>Sheet1!$EK$2:$EK$21</c:f>
              <c:numCache>
                <c:formatCode>General</c:formatCode>
                <c:ptCount val="20"/>
                <c:pt idx="0">
                  <c:v>7.2374258238858652E-2</c:v>
                </c:pt>
                <c:pt idx="1">
                  <c:v>0.16183376124321217</c:v>
                </c:pt>
                <c:pt idx="2">
                  <c:v>0.2288675</c:v>
                </c:pt>
                <c:pt idx="3">
                  <c:v>0.28030429685321451</c:v>
                </c:pt>
                <c:pt idx="4">
                  <c:v>0.32366752248642433</c:v>
                </c:pt>
                <c:pt idx="5">
                  <c:v>0.36187129119429329</c:v>
                </c:pt>
                <c:pt idx="6">
                  <c:v>0.39641013820127002</c:v>
                </c:pt>
                <c:pt idx="7">
                  <c:v>0.42817188598374251</c:v>
                </c:pt>
                <c:pt idx="8">
                  <c:v>0.457735</c:v>
                </c:pt>
                <c:pt idx="9">
                  <c:v>0.48550128372963647</c:v>
                </c:pt>
                <c:pt idx="10">
                  <c:v>0.51176328784043312</c:v>
                </c:pt>
                <c:pt idx="11">
                  <c:v>0.53674186445569438</c:v>
                </c:pt>
                <c:pt idx="12">
                  <c:v>0.56060859370642901</c:v>
                </c:pt>
                <c:pt idx="13">
                  <c:v>0.58349992426359831</c:v>
                </c:pt>
                <c:pt idx="14">
                  <c:v>0.60552648818507515</c:v>
                </c:pt>
                <c:pt idx="15">
                  <c:v>0.6267794621490681</c:v>
                </c:pt>
                <c:pt idx="16">
                  <c:v>0.64733504497284866</c:v>
                </c:pt>
                <c:pt idx="17">
                  <c:v>0.66725769139675339</c:v>
                </c:pt>
                <c:pt idx="18">
                  <c:v>0.6866025</c:v>
                </c:pt>
                <c:pt idx="19">
                  <c:v>0.70541701091225106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3B0-444C-8C13-F662479945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2087296"/>
        <c:axId val="1532084896"/>
      </c:scatterChart>
      <c:valAx>
        <c:axId val="15320872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32084896"/>
        <c:crosses val="autoZero"/>
        <c:crossBetween val="midCat"/>
      </c:valAx>
      <c:valAx>
        <c:axId val="15320848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3208729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257E82-C2C1-4F89-A614-C4BF84446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892212-D1D2-4303-8944-206AEFAF12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5212F6-9A48-430B-B9E6-DA670644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AC504E-755D-4F5F-A884-BCD4DD19B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E828B0-4B30-4BA2-8ADB-B8F59D36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99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4457CA-DDE9-4F9F-8273-0E0264B5A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85EA8C-57D9-4581-8DE3-0E42DC10E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E55DC0-E036-4261-9731-D22858714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6E2335-EF40-4FDC-A0F9-F3A875F06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DA12CF-3869-4629-8613-E2D21DCB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196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E2813-ECDC-4E85-AA4B-AC247737A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54F65D-F5F8-4A34-AFE8-94231E31D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9CA55C-516B-449E-9F4A-214010C99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22D9D-E873-400F-A805-E8C9BB7A8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1D8B4E-FD17-4313-BFCF-F96BCB1E6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34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83533C-DA66-4D35-8252-1936C80E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8758ED-7231-43C7-9BE1-F52C077C1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4871AB-4676-4339-9698-3C1C0946D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BF8AD7-435F-4016-87F8-CA2CDD9B9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27EFFF-B774-47BE-8EAC-075B844B0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DAA445-F7D1-4322-A39A-F748A388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6721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F8ACA-0C6F-4585-BBFC-67DC1AFD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B355CF-E8C9-4F66-B7BE-AF659A2FD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D3FC60-5F48-4478-B38E-E0B42323C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46BC4FC-6846-4C6E-B5E1-5E4ED19F1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EFDE226-0E96-4C39-96A0-7769CF969B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1FF6DC1-ECBC-4285-9059-340DE2CC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42EF3A-76A6-4A93-9250-C4ED87283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702E4D-3D66-47A5-A76F-38B0D8B9A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2967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83F67-3EC5-41B9-AD61-409CB3DBC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73DD6F-A3B3-40E3-8D4B-902B4EB2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BB60495-4166-438A-AA08-3DFF56EF2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4FC8C80-8154-4157-9CFB-8CA216A8E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311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D41F186-51F5-45E8-925B-6658F8A5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4D2ECC3-C525-4A07-85E1-4E1F647D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334DF1-DD41-42A6-9B05-0BFE1773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1227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9250C-2EE3-445E-9712-10B97540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B04AB1-6D3A-4BE8-B8B5-21A79ABC8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42F583-4BA2-4767-B73E-07B95F6A4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273520B-4AC8-4F8D-882F-32A6DD943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CA0CDF-248C-44A0-A591-5A05DE3B5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AEAC46-2DE2-47DA-8813-3C9BA8EA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00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AB3301-B061-4373-9F59-0EC727BE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45669B0-DD46-493F-9454-F44F08213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C1D14F-4F0C-4201-8D61-5C840BBF6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DD7F5E-01FC-4819-8C56-D266420F2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B5C8EA-E3E6-490E-9D6B-3984C9600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488420-C912-41CE-AE9C-1CBF33ED8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922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ECCF2-208E-4FBA-AE00-B0A5FD508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4E9D07-D1CC-4710-9907-A01DE658B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09FB46-4707-4650-AF22-2B340970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6DC8CF-D042-4A60-BA6B-A0236402C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C390D-ECD5-4BA9-8119-03A79C78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806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C6E7E2-4753-49A0-8B5B-4BD8A505D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5B3755-B931-424B-A541-5425C7B5F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BB126F-56CE-470F-9512-76CD4C77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4C87E-67D7-4747-B03D-6F045E1AC05D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74AF32-60DB-438A-8513-3D49FB214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D1D76D-0183-419D-9803-7E9B71857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54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7438AF-4DE6-4664-AA9B-018009122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5168E7-0D07-40EE-A925-11F73CC3B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76C523-D268-4347-8EC0-C672D7854F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F4C87E-67D7-4747-B03D-6F045E1AC05D}" type="datetimeFigureOut">
              <a:rPr lang="zh-CN" altLang="en-US" smtClean="0"/>
              <a:t>2025/5/17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5BFEE9-6C9A-4DC8-8CAE-7B94763930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1A4AE2-3345-48D3-BA37-72E0F9E53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121A2-D50F-4B25-8F1A-A2545C4923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84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tags" Target="../tags/tag29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14.xml"/><Relationship Id="rId21" Type="http://schemas.openxmlformats.org/officeDocument/2006/relationships/tags" Target="../tags/tag32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tags" Target="../tags/tag28.xml"/><Relationship Id="rId25" Type="http://schemas.openxmlformats.org/officeDocument/2006/relationships/tags" Target="../tags/tag36.xml"/><Relationship Id="rId2" Type="http://schemas.openxmlformats.org/officeDocument/2006/relationships/tags" Target="../tags/tag13.xml"/><Relationship Id="rId16" Type="http://schemas.openxmlformats.org/officeDocument/2006/relationships/tags" Target="../tags/tag27.xml"/><Relationship Id="rId20" Type="http://schemas.openxmlformats.org/officeDocument/2006/relationships/tags" Target="../tags/tag31.xml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tags" Target="../tags/tag35.xml"/><Relationship Id="rId5" Type="http://schemas.openxmlformats.org/officeDocument/2006/relationships/tags" Target="../tags/tag16.xml"/><Relationship Id="rId15" Type="http://schemas.openxmlformats.org/officeDocument/2006/relationships/tags" Target="../tags/tag26.xml"/><Relationship Id="rId23" Type="http://schemas.openxmlformats.org/officeDocument/2006/relationships/tags" Target="../tags/tag34.xml"/><Relationship Id="rId10" Type="http://schemas.openxmlformats.org/officeDocument/2006/relationships/tags" Target="../tags/tag21.xml"/><Relationship Id="rId19" Type="http://schemas.openxmlformats.org/officeDocument/2006/relationships/tags" Target="../tags/tag30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tags" Target="../tags/tag25.xml"/><Relationship Id="rId22" Type="http://schemas.openxmlformats.org/officeDocument/2006/relationships/tags" Target="../tags/tag3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3" Type="http://schemas.openxmlformats.org/officeDocument/2006/relationships/tags" Target="../tags/tag3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4.xml"/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3" Type="http://schemas.openxmlformats.org/officeDocument/2006/relationships/tags" Target="../tags/tag5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63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tags" Target="../tags/tag76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10" Type="http://schemas.openxmlformats.org/officeDocument/2006/relationships/tags" Target="../tags/tag66.xml"/><Relationship Id="rId19" Type="http://schemas.openxmlformats.org/officeDocument/2006/relationships/tags" Target="../tags/tag75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18" Type="http://schemas.openxmlformats.org/officeDocument/2006/relationships/tags" Target="../tags/tag94.xml"/><Relationship Id="rId3" Type="http://schemas.openxmlformats.org/officeDocument/2006/relationships/tags" Target="../tags/tag79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17" Type="http://schemas.openxmlformats.org/officeDocument/2006/relationships/tags" Target="../tags/tag93.xml"/><Relationship Id="rId2" Type="http://schemas.openxmlformats.org/officeDocument/2006/relationships/tags" Target="../tags/tag78.xml"/><Relationship Id="rId16" Type="http://schemas.openxmlformats.org/officeDocument/2006/relationships/tags" Target="../tags/tag92.xml"/><Relationship Id="rId20" Type="http://schemas.openxmlformats.org/officeDocument/2006/relationships/tags" Target="../tags/tag96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5" Type="http://schemas.openxmlformats.org/officeDocument/2006/relationships/tags" Target="../tags/tag81.xml"/><Relationship Id="rId15" Type="http://schemas.openxmlformats.org/officeDocument/2006/relationships/tags" Target="../tags/tag91.xml"/><Relationship Id="rId10" Type="http://schemas.openxmlformats.org/officeDocument/2006/relationships/tags" Target="../tags/tag86.xml"/><Relationship Id="rId19" Type="http://schemas.openxmlformats.org/officeDocument/2006/relationships/tags" Target="../tags/tag95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chart" Target="../charts/char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-圆角矩形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890216" y="1750488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PA-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>
            <p:custDataLst>
              <p:tags r:id="rId2"/>
            </p:custDataLst>
          </p:nvPr>
        </p:nvSpPr>
        <p:spPr bwMode="auto">
          <a:xfrm>
            <a:off x="837235" y="2786976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PA-圆角矩形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84541" y="1036899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A-圆角矩形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74801" y="531179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PA-圆角矩形 7">
            <a:extLst>
              <a:ext uri="{FF2B5EF4-FFF2-40B4-BE49-F238E27FC236}">
                <a16:creationId xmlns:a16="http://schemas.microsoft.com/office/drawing/2014/main" id="{4C94711A-F1EC-48D3-B3D5-1CC00A21989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PA-圆角矩形 17">
            <a:extLst>
              <a:ext uri="{FF2B5EF4-FFF2-40B4-BE49-F238E27FC236}">
                <a16:creationId xmlns:a16="http://schemas.microsoft.com/office/drawing/2014/main" id="{31AF2055-48A7-4C54-A11C-925E241CAAAD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384541" y="2442758"/>
            <a:ext cx="7120563" cy="2109744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A-文本框 13">
            <a:extLst>
              <a:ext uri="{FF2B5EF4-FFF2-40B4-BE49-F238E27FC236}">
                <a16:creationId xmlns:a16="http://schemas.microsoft.com/office/drawing/2014/main" id="{73722EF1-500F-4A6B-B673-277906A77619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2870150" y="2613510"/>
            <a:ext cx="63409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鸡蛋掉落动态规划算法演示</a:t>
            </a:r>
          </a:p>
        </p:txBody>
      </p:sp>
      <p:sp>
        <p:nvSpPr>
          <p:cNvPr id="9" name="PA-圆角矩形 8">
            <a:extLst>
              <a:ext uri="{FF2B5EF4-FFF2-40B4-BE49-F238E27FC236}">
                <a16:creationId xmlns:a16="http://schemas.microsoft.com/office/drawing/2014/main" id="{E9D98FD9-23F9-4849-8ABD-4B3194E83D3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6690166" y="4270737"/>
            <a:ext cx="2407535" cy="529731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PA-圆角矩形 18">
            <a:extLst>
              <a:ext uri="{FF2B5EF4-FFF2-40B4-BE49-F238E27FC236}">
                <a16:creationId xmlns:a16="http://schemas.microsoft.com/office/drawing/2014/main" id="{D960B0CF-F4D4-4B1F-B9B3-B3A5012EF2C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8381243" y="3691758"/>
            <a:ext cx="2918378" cy="2109744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PA-文本框 13">
            <a:extLst>
              <a:ext uri="{FF2B5EF4-FFF2-40B4-BE49-F238E27FC236}">
                <a16:creationId xmlns:a16="http://schemas.microsoft.com/office/drawing/2014/main" id="{C682BAAE-DB0F-4A29-989A-BF7F78B4B45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627345" y="2622284"/>
            <a:ext cx="17716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  <a:r>
              <a:rPr lang="en-US" altLang="zh-CN" sz="6000" dirty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endParaRPr lang="zh-CN" altLang="en-US" sz="6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60C63D-1517-3098-692F-1E4F4A200C19}"/>
              </a:ext>
            </a:extLst>
          </p:cNvPr>
          <p:cNvSpPr txBox="1"/>
          <p:nvPr/>
        </p:nvSpPr>
        <p:spPr>
          <a:xfrm>
            <a:off x="8589818" y="4885129"/>
            <a:ext cx="2651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报告人：姚健文</a:t>
            </a:r>
            <a:endParaRPr lang="en-US" altLang="zh-CN" sz="2400" dirty="0"/>
          </a:p>
          <a:p>
            <a:r>
              <a:rPr lang="en-US" altLang="zh-CN" sz="2400" dirty="0"/>
              <a:t>2023150131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92340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3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" presetClass="exit" presetSubtype="4" accel="6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4" grpId="0" animBg="1"/>
      <p:bldP spid="4" grpId="1" animBg="1"/>
      <p:bldP spid="6" grpId="0" animBg="1"/>
      <p:bldP spid="6" grpId="1" animBg="1"/>
      <p:bldP spid="8" grpId="0" animBg="1"/>
      <p:bldP spid="8" grpId="1" animBg="1"/>
      <p:bldP spid="18" grpId="0" animBg="1"/>
      <p:bldP spid="18" grpId="1" animBg="1"/>
      <p:bldP spid="14" grpId="0"/>
      <p:bldP spid="14" grpId="1"/>
      <p:bldP spid="9" grpId="0" animBg="1"/>
      <p:bldP spid="9" grpId="1" animBg="1"/>
      <p:bldP spid="19" grpId="0" animBg="1"/>
      <p:bldP spid="19" grpId="1" animBg="1"/>
      <p:bldP spid="13" grpId="0"/>
      <p:bldP spid="1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A-圆角矩形 51">
            <a:extLst>
              <a:ext uri="{FF2B5EF4-FFF2-40B4-BE49-F238E27FC236}">
                <a16:creationId xmlns:a16="http://schemas.microsoft.com/office/drawing/2014/main" id="{6612C7AD-C5D0-4CE0-8366-4DA07510C22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8" name="PA-圆角矩形 51">
            <a:extLst>
              <a:ext uri="{FF2B5EF4-FFF2-40B4-BE49-F238E27FC236}">
                <a16:creationId xmlns:a16="http://schemas.microsoft.com/office/drawing/2014/main" id="{F99DF15F-AE84-43B1-BD9B-F3B6601555A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5" name="PA-圆角矩形 51">
            <a:extLst>
              <a:ext uri="{FF2B5EF4-FFF2-40B4-BE49-F238E27FC236}">
                <a16:creationId xmlns:a16="http://schemas.microsoft.com/office/drawing/2014/main" id="{AB33F4EF-52AF-40CF-A1FA-03C32EFBBCB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PA-圆角矩形 51">
            <a:extLst>
              <a:ext uri="{FF2B5EF4-FFF2-40B4-BE49-F238E27FC236}">
                <a16:creationId xmlns:a16="http://schemas.microsoft.com/office/drawing/2014/main" id="{350BC068-2A10-4088-8935-4FEDC5F9149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343266" y="2418285"/>
            <a:ext cx="2218292" cy="2218280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PA-圆角矩形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890216" y="1981983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2" name="PA-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>
            <p:custDataLst>
              <p:tags r:id="rId6"/>
            </p:custDataLst>
          </p:nvPr>
        </p:nvSpPr>
        <p:spPr bwMode="auto">
          <a:xfrm>
            <a:off x="837235" y="3018471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PA-圆角矩形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384541" y="1268394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" name="PA-圆角矩形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174801" y="482787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5" name="PA-圆角矩形 14">
            <a:extLst>
              <a:ext uri="{FF2B5EF4-FFF2-40B4-BE49-F238E27FC236}">
                <a16:creationId xmlns:a16="http://schemas.microsoft.com/office/drawing/2014/main" id="{28E04C6A-65BD-4DAA-9677-E9B4128E044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2350873" y="2425886"/>
            <a:ext cx="2203079" cy="220307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PA-文本框 26">
            <a:extLst>
              <a:ext uri="{FF2B5EF4-FFF2-40B4-BE49-F238E27FC236}">
                <a16:creationId xmlns:a16="http://schemas.microsoft.com/office/drawing/2014/main" id="{39FDEDFC-605C-409F-A432-538EB1677F5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2575804" y="3721547"/>
            <a:ext cx="1836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PA-文本框 27">
            <a:extLst>
              <a:ext uri="{FF2B5EF4-FFF2-40B4-BE49-F238E27FC236}">
                <a16:creationId xmlns:a16="http://schemas.microsoft.com/office/drawing/2014/main" id="{DC0F587A-857A-49B1-A2AD-1305FB5B0DE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2661532" y="2875344"/>
            <a:ext cx="16690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2800" b="1" dirty="0">
                <a:solidFill>
                  <a:schemeClr val="bg1"/>
                </a:solidFill>
              </a:rPr>
              <a:t> </a:t>
            </a:r>
            <a:endParaRPr lang="zh-CN" altLang="en-US" sz="2800" b="1" dirty="0">
              <a:solidFill>
                <a:schemeClr val="bg1"/>
              </a:solidFill>
            </a:endParaRPr>
          </a:p>
        </p:txBody>
      </p:sp>
      <p:sp>
        <p:nvSpPr>
          <p:cNvPr id="51" name="PA-圆角矩形 50">
            <a:extLst>
              <a:ext uri="{FF2B5EF4-FFF2-40B4-BE49-F238E27FC236}">
                <a16:creationId xmlns:a16="http://schemas.microsoft.com/office/drawing/2014/main" id="{CC36E74B-BA9D-453F-9CBC-559876C1A7D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881136" y="2047938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6" name="PA-圆角矩形 45">
            <a:extLst>
              <a:ext uri="{FF2B5EF4-FFF2-40B4-BE49-F238E27FC236}">
                <a16:creationId xmlns:a16="http://schemas.microsoft.com/office/drawing/2014/main" id="{604D31D0-F1BA-4DF8-80F9-516545242D58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881136" y="3452548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54" name="PA-圆角矩形 53">
            <a:extLst>
              <a:ext uri="{FF2B5EF4-FFF2-40B4-BE49-F238E27FC236}">
                <a16:creationId xmlns:a16="http://schemas.microsoft.com/office/drawing/2014/main" id="{31B1E93E-7865-4E80-A7FB-230B440DBF97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918980" y="4974465"/>
            <a:ext cx="991082" cy="241318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68" name="PA-圆角矩形 67">
            <a:extLst>
              <a:ext uri="{FF2B5EF4-FFF2-40B4-BE49-F238E27FC236}">
                <a16:creationId xmlns:a16="http://schemas.microsoft.com/office/drawing/2014/main" id="{449A29ED-6222-4DCF-B5F1-3362F101C623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73" name="PA-圆角矩形 72">
            <a:extLst>
              <a:ext uri="{FF2B5EF4-FFF2-40B4-BE49-F238E27FC236}">
                <a16:creationId xmlns:a16="http://schemas.microsoft.com/office/drawing/2014/main" id="{B2BA17DA-5BBE-4519-99A1-D2733FB864D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8380983" y="6572911"/>
            <a:ext cx="2407535" cy="529731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grpSp>
        <p:nvGrpSpPr>
          <p:cNvPr id="3" name="PA-组合 2">
            <a:extLst>
              <a:ext uri="{FF2B5EF4-FFF2-40B4-BE49-F238E27FC236}">
                <a16:creationId xmlns:a16="http://schemas.microsoft.com/office/drawing/2014/main" id="{7CF0D2C0-559A-44D5-84C5-966B08B3852C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6870579" y="1551581"/>
            <a:ext cx="3761671" cy="730157"/>
            <a:chOff x="6898350" y="739354"/>
            <a:chExt cx="2550535" cy="730157"/>
          </a:xfrm>
        </p:grpSpPr>
        <p:sp>
          <p:nvSpPr>
            <p:cNvPr id="53" name="PA-标题 1">
              <a:extLst>
                <a:ext uri="{FF2B5EF4-FFF2-40B4-BE49-F238E27FC236}">
                  <a16:creationId xmlns:a16="http://schemas.microsoft.com/office/drawing/2014/main" id="{0D8DCF9B-7B1F-4CA7-9151-00760C2CE454}"/>
                </a:ext>
              </a:extLst>
            </p:cNvPr>
            <p:cNvSpPr txBox="1">
              <a:spLocks/>
            </p:cNvSpPr>
            <p:nvPr>
              <p:custDataLst>
                <p:tags r:id="rId24"/>
              </p:custDataLst>
            </p:nvPr>
          </p:nvSpPr>
          <p:spPr>
            <a:xfrm>
              <a:off x="6898350" y="739354"/>
              <a:ext cx="916405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1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4" name="PA-标题 1">
              <a:extLst>
                <a:ext uri="{FF2B5EF4-FFF2-40B4-BE49-F238E27FC236}">
                  <a16:creationId xmlns:a16="http://schemas.microsoft.com/office/drawing/2014/main" id="{F4F6C1D8-3708-4B37-B3EB-B3B1151A48C3}"/>
                </a:ext>
              </a:extLst>
            </p:cNvPr>
            <p:cNvSpPr txBox="1">
              <a:spLocks/>
            </p:cNvSpPr>
            <p:nvPr>
              <p:custDataLst>
                <p:tags r:id="rId25"/>
              </p:custDataLst>
            </p:nvPr>
          </p:nvSpPr>
          <p:spPr>
            <a:xfrm>
              <a:off x="7726515" y="879202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 fontScale="92500" lnSpcReduction="20000"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蛮力法和</a:t>
              </a:r>
              <a:endPara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朴素动态规划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PA-组合 4">
            <a:extLst>
              <a:ext uri="{FF2B5EF4-FFF2-40B4-BE49-F238E27FC236}">
                <a16:creationId xmlns:a16="http://schemas.microsoft.com/office/drawing/2014/main" id="{FC62D572-985F-499F-8ED0-FA5CD0799C6A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6881137" y="2955684"/>
            <a:ext cx="3751114" cy="676479"/>
            <a:chOff x="6881136" y="2147194"/>
            <a:chExt cx="2543377" cy="676479"/>
          </a:xfrm>
        </p:grpSpPr>
        <p:sp>
          <p:nvSpPr>
            <p:cNvPr id="37" name="PA-标题 1">
              <a:extLst>
                <a:ext uri="{FF2B5EF4-FFF2-40B4-BE49-F238E27FC236}">
                  <a16:creationId xmlns:a16="http://schemas.microsoft.com/office/drawing/2014/main" id="{352B812F-DC70-4CAF-85A9-A94D03B9D59F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6881136" y="2147194"/>
              <a:ext cx="916406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2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5" name="PA-标题 1">
              <a:extLst>
                <a:ext uri="{FF2B5EF4-FFF2-40B4-BE49-F238E27FC236}">
                  <a16:creationId xmlns:a16="http://schemas.microsoft.com/office/drawing/2014/main" id="{164ADDDA-31CA-4B08-9B4C-94633CB9E8F9}"/>
                </a:ext>
              </a:extLst>
            </p:cNvPr>
            <p:cNvSpPr txBox="1">
              <a:spLocks/>
            </p:cNvSpPr>
            <p:nvPr>
              <p:custDataLst>
                <p:tags r:id="rId23"/>
              </p:custDataLst>
            </p:nvPr>
          </p:nvSpPr>
          <p:spPr>
            <a:xfrm>
              <a:off x="7702143" y="2233364"/>
              <a:ext cx="172237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时间与空间优化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PA-组合 7">
            <a:extLst>
              <a:ext uri="{FF2B5EF4-FFF2-40B4-BE49-F238E27FC236}">
                <a16:creationId xmlns:a16="http://schemas.microsoft.com/office/drawing/2014/main" id="{68AC6118-D5CF-4122-8609-96262D3D7DEB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6908424" y="4478108"/>
            <a:ext cx="3258835" cy="707471"/>
            <a:chOff x="6962718" y="3687258"/>
            <a:chExt cx="2209596" cy="707471"/>
          </a:xfrm>
        </p:grpSpPr>
        <p:sp>
          <p:nvSpPr>
            <p:cNvPr id="56" name="PA-标题 1">
              <a:extLst>
                <a:ext uri="{FF2B5EF4-FFF2-40B4-BE49-F238E27FC236}">
                  <a16:creationId xmlns:a16="http://schemas.microsoft.com/office/drawing/2014/main" id="{514CB1B8-99E4-49C8-92D8-BE392A72B719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6962718" y="3687258"/>
              <a:ext cx="916405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Autofit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altLang="zh-CN" sz="7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华文细黑" panose="02010600040101010101" pitchFamily="2" charset="-122"/>
                  <a:ea typeface="华文细黑" panose="02010600040101010101" pitchFamily="2" charset="-122"/>
                </a:rPr>
                <a:t>3</a:t>
              </a:r>
              <a:endParaRPr lang="en-US" sz="72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sp>
          <p:nvSpPr>
            <p:cNvPr id="66" name="PA-标题 1">
              <a:extLst>
                <a:ext uri="{FF2B5EF4-FFF2-40B4-BE49-F238E27FC236}">
                  <a16:creationId xmlns:a16="http://schemas.microsoft.com/office/drawing/2014/main" id="{D1A0F2D1-8073-4ABF-BDC9-774823509ADB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7765224" y="3804420"/>
              <a:ext cx="1407090" cy="590309"/>
            </a:xfrm>
            <a:prstGeom prst="rect">
              <a:avLst/>
            </a:prstGeom>
          </p:spPr>
          <p:txBody>
            <a:bodyPr vert="horz" lIns="121917" tIns="60958" rIns="121917" bIns="60958" rtlCol="0" anchor="ctr">
              <a:normAutofit fontScale="92500" lnSpcReduction="20000"/>
            </a:bodyPr>
            <a:lstStyle>
              <a:lvl1pPr algn="ctr" defTabSz="1219170" rtl="0" eaLnBrk="1" latinLnBrk="0" hangingPunct="1">
                <a:spcBef>
                  <a:spcPct val="0"/>
                </a:spcBef>
                <a:buNone/>
                <a:defRPr sz="59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不同规模数据性能分析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77050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7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8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1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12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5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16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19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0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23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4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 p14:presetBounceEnd="52857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857">
                                          <p:cBhvr additive="base">
                                            <p:cTn id="27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857">
                                          <p:cBhvr additive="base">
                                            <p:cTn id="28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53" presetClass="entr" presetSubtype="16" fill="hold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1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3" dur="5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8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4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0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086 -0.34491 " pathEditMode="relative" rAng="0" ptsTypes="AA">
                                          <p:cBhvr>
                                            <p:cTn id="51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36" y="-1724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2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4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5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7487 -0.13472 " pathEditMode="relative" rAng="0" ptsTypes="AA">
                                          <p:cBhvr>
                                            <p:cTn id="56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737" y="-67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7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0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164 0.09005 " pathEditMode="relative" rAng="0" ptsTypes="AA">
                                          <p:cBhvr>
                                            <p:cTn id="61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76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2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4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269 0.28912 " pathEditMode="relative" rAng="0" ptsTypes="AA">
                                          <p:cBhvr>
                                            <p:cTn id="66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128" y="1444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5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2" presetClass="entr" presetSubtype="1" fill="hold" nodeType="withEffect" p14:presetBounceEnd="60000">
                                      <p:stCondLst>
                                        <p:cond delay="288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79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0" presetID="2" presetClass="entr" presetSubtype="1" fill="hold" nodeType="withEffect" p14:presetBounceEnd="60000">
                                      <p:stCondLst>
                                        <p:cond delay="33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8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4" presetID="2" presetClass="entr" presetSubtype="1" fill="hold" nodeType="withEffect" p14:presetBounceEnd="60000">
                                      <p:stCondLst>
                                        <p:cond delay="3880"/>
                                      </p:stCondLst>
                                      <p:childTnLs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86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7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animBg="1"/>
          <p:bldP spid="49" grpId="1" animBg="1"/>
          <p:bldP spid="49" grpId="2" animBg="1"/>
          <p:bldP spid="48" grpId="0" animBg="1"/>
          <p:bldP spid="48" grpId="1" animBg="1"/>
          <p:bldP spid="48" grpId="2" animBg="1"/>
          <p:bldP spid="45" grpId="0" animBg="1"/>
          <p:bldP spid="45" grpId="1" animBg="1"/>
          <p:bldP spid="45" grpId="2" animBg="1"/>
          <p:bldP spid="43" grpId="0" animBg="1"/>
          <p:bldP spid="43" grpId="1" animBg="1"/>
          <p:bldP spid="43" grpId="2" animBg="1"/>
          <p:bldP spid="7" grpId="0" animBg="1"/>
          <p:bldP spid="4" grpId="0" animBg="1"/>
          <p:bldP spid="6" grpId="0" animBg="1"/>
          <p:bldP spid="15" grpId="0" animBg="1"/>
          <p:bldP spid="27" grpId="0"/>
          <p:bldP spid="51" grpId="0" animBg="1"/>
          <p:bldP spid="46" grpId="0" animBg="1"/>
          <p:bldP spid="54" grpId="0" animBg="1"/>
          <p:bldP spid="68" grpId="0" animBg="1"/>
          <p:bldP spid="73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00" fill="hold"/>
                                            <p:tgtEl>
                                              <p:spTgt spid="6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00" fill="hold"/>
                                            <p:tgtEl>
                                              <p:spTgt spid="7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53" presetClass="entr" presetSubtype="16" fill="hold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5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53" presetClass="entr" presetSubtype="16" fill="hold" grpId="0" nodeType="withEffect">
                                      <p:stCondLst>
                                        <p:cond delay="700"/>
                                      </p:stCondLst>
                                      <p:iterate type="lt">
                                        <p:tmPct val="5000"/>
                                      </p:iterate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42" dur="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3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" presetClass="entr" presetSubtype="0" fill="hold" grpId="2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1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3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4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086 -0.34491 " pathEditMode="relative" rAng="0" ptsTypes="AA">
                                          <p:cBhvr>
                                            <p:cTn id="55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36" y="-1724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56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58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59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7487 -0.13472 " pathEditMode="relative" rAng="0" ptsTypes="AA">
                                          <p:cBhvr>
                                            <p:cTn id="60" dur="10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3737" y="-6736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1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3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4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164 0.09005 " pathEditMode="relative" rAng="0" ptsTypes="AA">
                                          <p:cBhvr>
                                            <p:cTn id="65" dur="10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076" y="449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6" presetID="0" presetClass="entr" presetSubtype="0" fill="hold" grpId="0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Scale>
                                          <p:cBhvr>
                                            <p:cTn id="68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</p:cBhvr>
                                          <p:from x="100000" y="100000"/>
                                          <p:to x="17000" y="17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69" presetID="42" presetClass="path" presetSubtype="0" accel="50000" decel="50000" fill="hold" grpId="1" nodeType="withEffect">
                                      <p:stCondLst>
                                        <p:cond delay="1380"/>
                                      </p:stCondLst>
                                      <p:childTnLst>
                                        <p:animMotion origin="layout" path="M -2.91667E-6 -1.85185E-6 L 0.28269 0.28912 " pathEditMode="relative" rAng="0" ptsTypes="AA">
                                          <p:cBhvr>
                                            <p:cTn id="70" dur="10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4128" y="1444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1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3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6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9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22" presetClass="entr" presetSubtype="8" fill="hold" grpId="0" nodeType="withEffect">
                                      <p:stCondLst>
                                        <p:cond delay="238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82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2" presetClass="entr" presetSubtype="1" fill="hold" nodeType="withEffect">
                                      <p:stCondLst>
                                        <p:cond delay="288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5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6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7" presetID="2" presetClass="entr" presetSubtype="1" fill="hold" nodeType="withEffect">
                                      <p:stCondLst>
                                        <p:cond delay="3380"/>
                                      </p:stCondLst>
                                      <p:childTnLs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9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0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1" presetID="2" presetClass="entr" presetSubtype="1" fill="hold" nodeType="withEffect">
                                      <p:stCondLst>
                                        <p:cond delay="388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3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4" dur="7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" presetClass="entr" presetSubtype="1" fill="hold" nodeType="withEffect">
                                      <p:stCondLst>
                                        <p:cond delay="438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7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98" dur="75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9" grpId="0" animBg="1"/>
          <p:bldP spid="49" grpId="1" animBg="1"/>
          <p:bldP spid="49" grpId="2" animBg="1"/>
          <p:bldP spid="48" grpId="0" animBg="1"/>
          <p:bldP spid="48" grpId="1" animBg="1"/>
          <p:bldP spid="48" grpId="2" animBg="1"/>
          <p:bldP spid="45" grpId="0" animBg="1"/>
          <p:bldP spid="45" grpId="1" animBg="1"/>
          <p:bldP spid="45" grpId="2" animBg="1"/>
          <p:bldP spid="43" grpId="0" animBg="1"/>
          <p:bldP spid="43" grpId="1" animBg="1"/>
          <p:bldP spid="43" grpId="2" animBg="1"/>
          <p:bldP spid="7" grpId="0" animBg="1"/>
          <p:bldP spid="4" grpId="0" animBg="1"/>
          <p:bldP spid="6" grpId="0" animBg="1"/>
          <p:bldP spid="15" grpId="0" animBg="1"/>
          <p:bldP spid="27" grpId="0"/>
          <p:bldP spid="51" grpId="0" animBg="1"/>
          <p:bldP spid="46" grpId="0" animBg="1"/>
          <p:bldP spid="54" grpId="0" animBg="1"/>
          <p:bldP spid="57" grpId="0" animBg="1"/>
          <p:bldP spid="68" grpId="0" animBg="1"/>
          <p:bldP spid="73" grpId="0" animBg="1"/>
          <p:bldP spid="74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898397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483416" y="2240791"/>
            <a:ext cx="1225168" cy="789201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1</a:t>
            </a:r>
            <a:endParaRPr lang="en-US" sz="13800" dirty="0">
              <a:solidFill>
                <a:schemeClr val="tx1">
                  <a:lumMod val="75000"/>
                  <a:lumOff val="2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747074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 fontScale="92500"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蛮力法和朴素动态规划</a:t>
            </a: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702628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6CF72A71-887C-4846-A632-9C33C464B760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D368C49-5B4D-4B14-B48F-54229B32341E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2B6853D3-0C18-40C4-B998-068CD0F08D11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CBD1426E-1655-4623-BB5D-DE7D5EFAFAD7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34C670D-D6C4-418C-A0A8-9E167BB6B53C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蛮力法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FF13F29D-C1E4-41D5-8781-6AFFF0B4A664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D6C713E0-DDB0-4F9D-966F-3974E86CE85C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3EC253FD-0E05-427F-8356-40EBF0BCF482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847590D7-792E-32AF-C578-822E3B2A6195}"/>
              </a:ext>
            </a:extLst>
          </p:cNvPr>
          <p:cNvSpPr txBox="1"/>
          <p:nvPr/>
        </p:nvSpPr>
        <p:spPr>
          <a:xfrm>
            <a:off x="1052187" y="1320800"/>
            <a:ext cx="412941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算法思想：</a:t>
            </a:r>
            <a:endParaRPr lang="en-US" altLang="zh-CN" dirty="0"/>
          </a:p>
          <a:p>
            <a:r>
              <a:rPr lang="zh-CN" altLang="en-US" dirty="0"/>
              <a:t>选定一层进行实验，根据破或不破分为两种情况，解即为这两种情况的较大值加</a:t>
            </a:r>
            <a:r>
              <a:rPr lang="en-US" altLang="zh-CN" dirty="0"/>
              <a:t>1</a:t>
            </a:r>
          </a:p>
          <a:p>
            <a:r>
              <a:rPr lang="zh-CN" altLang="en-US" dirty="0"/>
              <a:t>从而将问题化为讨论子问题的解，根据递归，直到子问题为约束条件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803827-4E4D-6580-1D7D-F48258EBCD09}"/>
                  </a:ext>
                </a:extLst>
              </p:cNvPr>
              <p:cNvSpPr txBox="1"/>
              <p:nvPr/>
            </p:nvSpPr>
            <p:spPr>
              <a:xfrm>
                <a:off x="1000872" y="5309060"/>
                <a:ext cx="32488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时间复杂度：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US" altLang="zh-CN" dirty="0"/>
                  <a:t>)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9803827-4E4D-6580-1D7D-F48258EBC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872" y="5309060"/>
                <a:ext cx="3248826" cy="369332"/>
              </a:xfrm>
              <a:prstGeom prst="rect">
                <a:avLst/>
              </a:prstGeom>
              <a:blipFill>
                <a:blip r:embed="rId2"/>
                <a:stretch>
                  <a:fillRect l="-1501"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3AAAE73D-8A13-7444-A4C7-86EA213EF2B0}"/>
              </a:ext>
            </a:extLst>
          </p:cNvPr>
          <p:cNvSpPr txBox="1"/>
          <p:nvPr/>
        </p:nvSpPr>
        <p:spPr>
          <a:xfrm>
            <a:off x="957943" y="382276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状态方程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E00039-619A-75F7-A8AA-216C0F76A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605" y="1125423"/>
            <a:ext cx="4425723" cy="459635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C9C67F4-33DE-9EC8-0217-A75E5AEBE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1115" y="4192093"/>
            <a:ext cx="4223657" cy="589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08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52864-A724-EE86-DF7D-8B5C867B4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A1FBA857-6FD0-6A3C-6A59-9B461D831040}"/>
              </a:ext>
            </a:extLst>
          </p:cNvPr>
          <p:cNvGrpSpPr/>
          <p:nvPr/>
        </p:nvGrpSpPr>
        <p:grpSpPr>
          <a:xfrm>
            <a:off x="1055266" y="634888"/>
            <a:ext cx="2292274" cy="400110"/>
            <a:chOff x="1148080" y="833460"/>
            <a:chExt cx="2292274" cy="400110"/>
          </a:xfrm>
        </p:grpSpPr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5986F1F5-51B1-2316-F4B8-021528548C15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40" name="矩形: 圆角 39">
                <a:extLst>
                  <a:ext uri="{FF2B5EF4-FFF2-40B4-BE49-F238E27FC236}">
                    <a16:creationId xmlns:a16="http://schemas.microsoft.com/office/drawing/2014/main" id="{B73EB80F-35CF-0A60-79F8-878F82438253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: 圆角 40">
                <a:extLst>
                  <a:ext uri="{FF2B5EF4-FFF2-40B4-BE49-F238E27FC236}">
                    <a16:creationId xmlns:a16="http://schemas.microsoft.com/office/drawing/2014/main" id="{7669B9BF-6198-6963-EE37-D95E1DB56B68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1588536-F225-588E-8B3C-1AB629F88FA9}"/>
                </a:ext>
              </a:extLst>
            </p:cNvPr>
            <p:cNvSpPr txBox="1"/>
            <p:nvPr/>
          </p:nvSpPr>
          <p:spPr>
            <a:xfrm>
              <a:off x="1396987" y="833460"/>
              <a:ext cx="20433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朴素动态规划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D9E4EE19-9747-B325-C6D3-C88B695FD0BF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09B3E65E-B00D-5263-C819-DB16E85486F5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BC5B2954-BBEB-F6FB-7461-A8E49D93B6CC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F429B0F4-1850-1240-53EB-8CC89F1E767B}"/>
              </a:ext>
            </a:extLst>
          </p:cNvPr>
          <p:cNvSpPr txBox="1"/>
          <p:nvPr/>
        </p:nvSpPr>
        <p:spPr>
          <a:xfrm>
            <a:off x="948773" y="2026602"/>
            <a:ext cx="4129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算法思想：</a:t>
            </a:r>
            <a:endParaRPr lang="en-US" altLang="zh-CN" dirty="0"/>
          </a:p>
          <a:p>
            <a:r>
              <a:rPr lang="zh-CN" altLang="en-US" dirty="0"/>
              <a:t>从约束条件出发，记录子问题的解，递推填表到原问题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C783B16-F4B4-3CC6-1996-A15EEABA9E57}"/>
                  </a:ext>
                </a:extLst>
              </p:cNvPr>
              <p:cNvSpPr txBox="1"/>
              <p:nvPr/>
            </p:nvSpPr>
            <p:spPr>
              <a:xfrm>
                <a:off x="996042" y="3908069"/>
                <a:ext cx="36788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时间复杂度：</a:t>
                </a:r>
                <a:r>
                  <a:rPr lang="en-US" altLang="zh-CN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ef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dirty="0"/>
                  <a:t>)  e</a:t>
                </a:r>
                <a:r>
                  <a:rPr lang="zh-CN" altLang="en-US" dirty="0"/>
                  <a:t>个鸡蛋 </a:t>
                </a:r>
                <a:r>
                  <a:rPr lang="en-US" altLang="zh-CN" dirty="0"/>
                  <a:t>f</a:t>
                </a:r>
                <a:r>
                  <a:rPr lang="zh-CN" altLang="en-US" dirty="0"/>
                  <a:t>楼</a:t>
                </a:r>
                <a:r>
                  <a:rPr lang="en-US" altLang="zh-CN" b="0" i="1" dirty="0">
                    <a:solidFill>
                      <a:srgbClr val="404040"/>
                    </a:solidFill>
                    <a:effectLst/>
                    <a:latin typeface="KaTeX_Math"/>
                  </a:rPr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C783B16-F4B4-3CC6-1996-A15EEABA9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042" y="3908069"/>
                <a:ext cx="3678812" cy="369332"/>
              </a:xfrm>
              <a:prstGeom prst="rect">
                <a:avLst/>
              </a:prstGeom>
              <a:blipFill>
                <a:blip r:embed="rId2"/>
                <a:stretch>
                  <a:fillRect l="-132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BD3F51AD-33C7-07AC-6C0D-E3BDD7CABA56}"/>
              </a:ext>
            </a:extLst>
          </p:cNvPr>
          <p:cNvSpPr txBox="1"/>
          <p:nvPr/>
        </p:nvSpPr>
        <p:spPr>
          <a:xfrm>
            <a:off x="996041" y="4408812"/>
            <a:ext cx="3722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空间复杂度：</a:t>
            </a:r>
            <a:r>
              <a:rPr lang="en-US" altLang="zh-CN" dirty="0"/>
              <a:t>O(</a:t>
            </a:r>
            <a:r>
              <a:rPr lang="en-US" altLang="zh-CN" dirty="0" err="1"/>
              <a:t>ef</a:t>
            </a:r>
            <a:r>
              <a:rPr lang="en-US" altLang="zh-CN" dirty="0"/>
              <a:t>)    e</a:t>
            </a:r>
            <a:r>
              <a:rPr lang="zh-CN" altLang="en-US" dirty="0"/>
              <a:t>个鸡蛋 </a:t>
            </a:r>
            <a:r>
              <a:rPr lang="en-US" altLang="zh-CN" dirty="0"/>
              <a:t>f</a:t>
            </a:r>
            <a:r>
              <a:rPr lang="zh-CN" altLang="en-US" dirty="0"/>
              <a:t>楼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KaTeX_Math"/>
              </a:rPr>
              <a:t>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8332F7-FF5C-E66F-2B59-1DBE5903236B}"/>
              </a:ext>
            </a:extLst>
          </p:cNvPr>
          <p:cNvSpPr txBox="1"/>
          <p:nvPr/>
        </p:nvSpPr>
        <p:spPr>
          <a:xfrm>
            <a:off x="5986484" y="10349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状态方程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19AB0DB-0FB7-1970-8593-12D13FA35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059" y="3314085"/>
            <a:ext cx="5448300" cy="18573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DAF9EAC-9C73-D018-B990-830C82B49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0059" y="1437986"/>
            <a:ext cx="4578124" cy="117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22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 p14:presetBounceEnd="6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0000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0000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 p14:presetBounceEnd="38000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 p14:bounceEnd="38000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1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58" presetClass="path" presetSubtype="0" accel="66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-0.00143 0.00162 C 0.03243 0.01482 0.03737 0.12616 0.03946 0.2007 " pathEditMode="relative" rAng="0" ptsTypes="AA">
                                          <p:cBhvr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44" y="995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3" presetID="1" presetClass="exit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" presetID="1" presetClass="entr" presetSubtype="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58" presetClass="path" presetSubtype="0" accel="67000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animMotion origin="layout" path="M 4.79167E-6 2.59259E-6 C 0.14778 -0.12037 0.38645 -0.00741 0.40429 0.18727 " pathEditMode="relative" rAng="0" ptsTypes="AA">
                                          <p:cBhvr>
                                            <p:cTn id="18" dur="10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0208" y="6875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" presetClass="exit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" presetClass="entr" presetSubtype="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58" presetClass="path" presetSubtype="0" accel="36000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animMotion origin="layout" path="M -2.08333E-6 4.07407E-6 C 0.05156 -0.15741 0.1681 -0.35047 0.16836 -0.16297 " pathEditMode="relative" rAng="0" ptsTypes="AA">
                                          <p:cBhvr>
                                            <p:cTn id="24" dur="75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8411" y="-1201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6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5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22" presetClass="entr" presetSubtype="8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0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1" presetID="21" presetClass="entr" presetSubtype="1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3" dur="2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4" presetID="22" presetClass="entr" presetSubtype="2" fill="hold" nodeType="withEffect">
                                      <p:stCondLst>
                                        <p:cond delay="225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36" dur="5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7" presetID="21" presetClass="entr" presetSubtype="1" fill="hold" grpId="0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39" dur="2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0" presetID="8" presetClass="emph" presetSubtype="0" fill="hold" grpId="1" nodeType="withEffect">
                                      <p:stCondLst>
                                        <p:cond delay="2650"/>
                                      </p:stCondLst>
                                      <p:childTnLst>
                                        <p:animRot by="10800000">
                                          <p:cBhvr>
                                            <p:cTn id="41" dur="1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  <p:par>
                                    <p:cTn id="42" presetID="22" presetClass="entr" presetSubtype="8" fill="hold" nodeType="withEffect">
                                      <p:stCondLst>
                                        <p:cond delay="300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44" dur="500"/>
                                            <p:tgtEl>
                                              <p:spTgt spid="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5" presetID="21" presetClass="entr" presetSubtype="1" fill="hold" grpId="0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heel(1)">
                                          <p:cBhvr>
                                            <p:cTn id="47" dur="12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2" presetClass="entr" presetSubtype="1" fill="hold" grpId="0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0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22" presetClass="entr" presetSubtype="4" fill="hold" grpId="0" nodeType="withEffect">
                                      <p:stCondLst>
                                        <p:cond delay="270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53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22" presetClass="entr" presetSubtype="1" fill="hold" nodeType="withEffect">
                                      <p:stCondLst>
                                        <p:cond delay="340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up)">
                                          <p:cBhvr>
                                            <p:cTn id="56" dur="1000"/>
                                            <p:tgtEl>
                                              <p:spTgt spid="2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5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5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6" presetID="10" presetClass="entr" presetSubtype="0" fill="hold" grpId="0" nodeType="withEffect">
                                      <p:stCondLst>
                                        <p:cond delay="4800"/>
                                      </p:stCondLst>
                                      <p:childTnLs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8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 animBg="1"/>
          <p:bldP spid="27" grpId="0" animBg="1"/>
          <p:bldP spid="13" grpId="0" animBg="1"/>
          <p:bldP spid="13" grpId="1" animBg="1"/>
          <p:bldP spid="12" grpId="0" animBg="1"/>
          <p:bldP spid="26" grpId="0" animBg="1"/>
          <p:bldP spid="29" grpId="0" animBg="1"/>
          <p:bldP spid="30" grpId="0" animBg="1"/>
          <p:bldP spid="31" grpId="0" animBg="1"/>
          <p:bldP spid="32" grpId="0" animBg="1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1184626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668294" y="2268830"/>
            <a:ext cx="1225168" cy="761162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2</a:t>
            </a: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时间与空间优化</a:t>
            </a: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88907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83A330B1-4DE4-4166-9CC2-8FCCA7970594}"/>
              </a:ext>
            </a:extLst>
          </p:cNvPr>
          <p:cNvGrpSpPr/>
          <p:nvPr/>
        </p:nvGrpSpPr>
        <p:grpSpPr>
          <a:xfrm>
            <a:off x="1055266" y="634888"/>
            <a:ext cx="3467747" cy="400110"/>
            <a:chOff x="1148080" y="833460"/>
            <a:chExt cx="3467747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BC705468-A605-4090-9DAF-237608E0F93C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3DD6AAE6-7752-4CB7-88C2-5E13994BA30E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654C22CE-59C2-496D-B598-70C287E6957F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95E7B05-CC54-493F-A853-E3B338F3A4F9}"/>
                </a:ext>
              </a:extLst>
            </p:cNvPr>
            <p:cNvSpPr txBox="1"/>
            <p:nvPr/>
          </p:nvSpPr>
          <p:spPr>
            <a:xfrm>
              <a:off x="1396986" y="833460"/>
              <a:ext cx="32188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二分查找（优化时间）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B2884699-5DFA-4BEC-8CCE-D13D269D61EE}"/>
              </a:ext>
            </a:extLst>
          </p:cNvPr>
          <p:cNvGrpSpPr/>
          <p:nvPr/>
        </p:nvGrpSpPr>
        <p:grpSpPr>
          <a:xfrm>
            <a:off x="1052187" y="711189"/>
            <a:ext cx="213360" cy="211962"/>
            <a:chOff x="1207666" y="863589"/>
            <a:chExt cx="213360" cy="211962"/>
          </a:xfrm>
        </p:grpSpPr>
        <p:sp>
          <p:nvSpPr>
            <p:cNvPr id="55" name="矩形: 圆角 54">
              <a:extLst>
                <a:ext uri="{FF2B5EF4-FFF2-40B4-BE49-F238E27FC236}">
                  <a16:creationId xmlns:a16="http://schemas.microsoft.com/office/drawing/2014/main" id="{136A69FD-B86E-4593-8837-77CBDDBAAD0D}"/>
                </a:ext>
              </a:extLst>
            </p:cNvPr>
            <p:cNvSpPr/>
            <p:nvPr/>
          </p:nvSpPr>
          <p:spPr>
            <a:xfrm>
              <a:off x="1207666" y="863589"/>
              <a:ext cx="211963" cy="21196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B686100A-BEB5-4EDA-A82B-B7D7F10C459E}"/>
                </a:ext>
              </a:extLst>
            </p:cNvPr>
            <p:cNvSpPr/>
            <p:nvPr/>
          </p:nvSpPr>
          <p:spPr>
            <a:xfrm>
              <a:off x="1244610" y="899135"/>
              <a:ext cx="176416" cy="176416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269B6D5B-E162-4932-B953-793FE48818CE}"/>
              </a:ext>
            </a:extLst>
          </p:cNvPr>
          <p:cNvSpPr txBox="1"/>
          <p:nvPr/>
        </p:nvSpPr>
        <p:spPr>
          <a:xfrm>
            <a:off x="1009571" y="1754677"/>
            <a:ext cx="43033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如果</a:t>
            </a:r>
            <a:r>
              <a:rPr lang="en-US" altLang="zh-CN" dirty="0"/>
              <a:t>t</a:t>
            </a:r>
            <a:r>
              <a:rPr lang="zh-CN" altLang="en-US" dirty="0"/>
              <a:t>次可以解决（</a:t>
            </a:r>
            <a:r>
              <a:rPr lang="en-US" altLang="zh-CN" dirty="0"/>
              <a:t>e</a:t>
            </a:r>
            <a:r>
              <a:rPr lang="zh-CN" altLang="en-US" dirty="0"/>
              <a:t>，</a:t>
            </a:r>
            <a:r>
              <a:rPr lang="en-US" altLang="zh-CN" dirty="0"/>
              <a:t>f</a:t>
            </a:r>
            <a:r>
              <a:rPr lang="zh-CN" altLang="en-US" dirty="0"/>
              <a:t>）规模的问题，</a:t>
            </a:r>
            <a:endParaRPr lang="en-US" altLang="zh-CN" dirty="0"/>
          </a:p>
          <a:p>
            <a:r>
              <a:rPr lang="zh-CN" altLang="en-US" dirty="0"/>
              <a:t>那么</a:t>
            </a:r>
            <a:r>
              <a:rPr lang="en-US" altLang="zh-CN" dirty="0"/>
              <a:t>t</a:t>
            </a:r>
            <a:r>
              <a:rPr lang="zh-CN" altLang="en-US" dirty="0"/>
              <a:t>次一定也能解决（</a:t>
            </a:r>
            <a:r>
              <a:rPr lang="en-US" altLang="zh-CN" dirty="0"/>
              <a:t>e</a:t>
            </a:r>
            <a:r>
              <a:rPr lang="zh-CN" altLang="en-US" dirty="0"/>
              <a:t>，</a:t>
            </a:r>
            <a:r>
              <a:rPr lang="en-US" altLang="zh-CN" dirty="0"/>
              <a:t>f-1</a:t>
            </a:r>
            <a:r>
              <a:rPr lang="zh-CN" altLang="en-US" dirty="0"/>
              <a:t>）规模的问题（不一定最少）</a:t>
            </a:r>
            <a:endParaRPr lang="en-US" altLang="zh-CN" dirty="0"/>
          </a:p>
          <a:p>
            <a:r>
              <a:rPr lang="zh-CN" altLang="en-US" dirty="0"/>
              <a:t>即</a:t>
            </a:r>
            <a:r>
              <a:rPr lang="en-US" altLang="zh-CN" dirty="0" err="1"/>
              <a:t>dp</a:t>
            </a:r>
            <a:r>
              <a:rPr lang="en-US" altLang="zh-CN" dirty="0"/>
              <a:t>(e, k)</a:t>
            </a:r>
            <a:r>
              <a:rPr lang="zh-CN" altLang="en-US" dirty="0"/>
              <a:t>是随</a:t>
            </a:r>
            <a:r>
              <a:rPr lang="en-US" altLang="zh-CN" dirty="0"/>
              <a:t>k</a:t>
            </a:r>
            <a:r>
              <a:rPr lang="zh-CN" altLang="en-US" dirty="0"/>
              <a:t>单调增的</a:t>
            </a:r>
            <a:endParaRPr lang="en-US" altLang="zh-CN" dirty="0"/>
          </a:p>
          <a:p>
            <a:r>
              <a:rPr lang="zh-CN" altLang="en-US" dirty="0"/>
              <a:t>同理，</a:t>
            </a:r>
            <a:r>
              <a:rPr lang="en-US" altLang="zh-CN" dirty="0" err="1"/>
              <a:t>dp</a:t>
            </a:r>
            <a:r>
              <a:rPr lang="en-US" altLang="zh-CN" dirty="0"/>
              <a:t>(e, f-k)</a:t>
            </a:r>
            <a:r>
              <a:rPr lang="zh-CN" altLang="en-US" dirty="0"/>
              <a:t>是随</a:t>
            </a:r>
            <a:r>
              <a:rPr lang="en-US" altLang="zh-CN" dirty="0"/>
              <a:t>k</a:t>
            </a:r>
            <a:r>
              <a:rPr lang="zh-CN" altLang="en-US" dirty="0"/>
              <a:t>单调减的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那么在填表中对取到</a:t>
            </a:r>
            <a:r>
              <a:rPr lang="en-US" altLang="zh-CN" dirty="0"/>
              <a:t>min</a:t>
            </a:r>
            <a:r>
              <a:rPr lang="zh-CN" altLang="en-US" dirty="0"/>
              <a:t>的</a:t>
            </a:r>
            <a:r>
              <a:rPr lang="en-US" altLang="zh-CN" dirty="0"/>
              <a:t>k</a:t>
            </a:r>
            <a:r>
              <a:rPr lang="zh-CN" altLang="en-US" dirty="0"/>
              <a:t>值的查找可以使用二分法，不用进行遍历，查找的时间复杂度从</a:t>
            </a:r>
            <a:r>
              <a:rPr lang="en-US" altLang="zh-CN" dirty="0"/>
              <a:t>O(f)</a:t>
            </a:r>
            <a:r>
              <a:rPr lang="zh-CN" altLang="en-US" dirty="0"/>
              <a:t>变为</a:t>
            </a:r>
            <a:r>
              <a:rPr lang="en-US" altLang="zh-CN" dirty="0"/>
              <a:t>O(</a:t>
            </a:r>
            <a:r>
              <a:rPr lang="en-US" altLang="zh-CN" dirty="0" err="1"/>
              <a:t>logf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68A5CC-D7FA-9BEE-A347-326D394536CC}"/>
              </a:ext>
            </a:extLst>
          </p:cNvPr>
          <p:cNvSpPr txBox="1"/>
          <p:nvPr/>
        </p:nvSpPr>
        <p:spPr>
          <a:xfrm>
            <a:off x="1009571" y="4768040"/>
            <a:ext cx="4090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时间复杂度：</a:t>
            </a:r>
            <a:r>
              <a:rPr lang="en-US" altLang="zh-CN" dirty="0"/>
              <a:t>O(</a:t>
            </a:r>
            <a:r>
              <a:rPr lang="en-US" altLang="zh-CN" dirty="0" err="1"/>
              <a:t>eflogf</a:t>
            </a:r>
            <a:r>
              <a:rPr lang="en-US" altLang="zh-CN" dirty="0"/>
              <a:t>)  e</a:t>
            </a:r>
            <a:r>
              <a:rPr lang="zh-CN" altLang="en-US" dirty="0"/>
              <a:t>个鸡蛋 </a:t>
            </a:r>
            <a:r>
              <a:rPr lang="en-US" altLang="zh-CN" dirty="0"/>
              <a:t>f</a:t>
            </a:r>
            <a:r>
              <a:rPr lang="zh-CN" altLang="en-US" dirty="0"/>
              <a:t>楼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KaTeX_Math"/>
              </a:rPr>
              <a:t> 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CEEEDE5-EDC2-321B-F67F-7E1ED44AF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0595" y="2688622"/>
            <a:ext cx="4712834" cy="31549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58D1ED1-4058-32B8-AB16-77B512AA1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595" y="1034998"/>
            <a:ext cx="4578124" cy="117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861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C91196-38BA-AE54-0009-E6E9C407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091428EB-00BA-E232-D892-AD644A1CFBF6}"/>
              </a:ext>
            </a:extLst>
          </p:cNvPr>
          <p:cNvGrpSpPr/>
          <p:nvPr/>
        </p:nvGrpSpPr>
        <p:grpSpPr>
          <a:xfrm>
            <a:off x="1055266" y="634888"/>
            <a:ext cx="3348005" cy="400110"/>
            <a:chOff x="1148080" y="833460"/>
            <a:chExt cx="3348005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10D9009A-F968-6183-164E-05A34C4F99E7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631EE5AE-3F71-0209-588A-C56350D72F21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422C2066-010B-A330-75C8-361A28FC090C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F81C4AA9-3FD1-F375-4573-312F2869691D}"/>
                </a:ext>
              </a:extLst>
            </p:cNvPr>
            <p:cNvSpPr txBox="1"/>
            <p:nvPr/>
          </p:nvSpPr>
          <p:spPr>
            <a:xfrm>
              <a:off x="1396987" y="833460"/>
              <a:ext cx="30990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滚动数组（优化空间）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13CECC64-E042-AA32-CB89-E8A096468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602" y="2132089"/>
            <a:ext cx="4578124" cy="11772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1ACE1FD-F321-5ECF-3C90-F0C576C955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552" y="4014032"/>
            <a:ext cx="5448300" cy="242486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49B0ADA-CDC5-44CD-29CE-30DB5B33FD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52" b="24583"/>
          <a:stretch/>
        </p:blipFill>
        <p:spPr>
          <a:xfrm>
            <a:off x="3157552" y="4503415"/>
            <a:ext cx="5153208" cy="49086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36BCFBB-7DA5-14F4-A69B-099F7EA8B9C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52" b="24583"/>
          <a:stretch/>
        </p:blipFill>
        <p:spPr>
          <a:xfrm>
            <a:off x="3157552" y="4735605"/>
            <a:ext cx="5153208" cy="49086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09C2907-1DFE-925B-4825-38D7CEC800E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52" b="24583"/>
          <a:stretch/>
        </p:blipFill>
        <p:spPr>
          <a:xfrm>
            <a:off x="3157552" y="4967795"/>
            <a:ext cx="5153208" cy="49086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F8860C4-254A-4A23-925F-6EE60324DD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52" b="24583"/>
          <a:stretch/>
        </p:blipFill>
        <p:spPr>
          <a:xfrm>
            <a:off x="3157552" y="5199985"/>
            <a:ext cx="5153208" cy="49086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49AAC2C-E5E5-CACC-05E1-762883E775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52" b="24583"/>
          <a:stretch/>
        </p:blipFill>
        <p:spPr>
          <a:xfrm>
            <a:off x="3157552" y="5432175"/>
            <a:ext cx="5153208" cy="49086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785798A-6209-E461-A3A4-7EEAE6D8EA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9452" b="24583"/>
          <a:stretch/>
        </p:blipFill>
        <p:spPr>
          <a:xfrm>
            <a:off x="3157552" y="5677605"/>
            <a:ext cx="5153208" cy="49086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CBD9C14-ADDA-1207-704A-B48A080E2A0E}"/>
              </a:ext>
            </a:extLst>
          </p:cNvPr>
          <p:cNvSpPr txBox="1"/>
          <p:nvPr/>
        </p:nvSpPr>
        <p:spPr>
          <a:xfrm>
            <a:off x="950931" y="1739709"/>
            <a:ext cx="42311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从表达式中看出每次填表时，状态只与当前层与上一层有关，因此可以只维护一个</a:t>
            </a:r>
            <a:r>
              <a:rPr lang="en-US" altLang="zh-CN" dirty="0"/>
              <a:t>2</a:t>
            </a:r>
            <a:r>
              <a:rPr lang="zh-CN" altLang="en-US" dirty="0"/>
              <a:t>层的滚动数组节省空间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A446B06-3500-CE50-8ABE-F5EB709A92F9}"/>
              </a:ext>
            </a:extLst>
          </p:cNvPr>
          <p:cNvSpPr txBox="1"/>
          <p:nvPr/>
        </p:nvSpPr>
        <p:spPr>
          <a:xfrm>
            <a:off x="950931" y="2967756"/>
            <a:ext cx="4090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空间复杂度：</a:t>
            </a:r>
            <a:r>
              <a:rPr lang="en-US" altLang="zh-CN" dirty="0"/>
              <a:t>O(f)  e</a:t>
            </a:r>
            <a:r>
              <a:rPr lang="zh-CN" altLang="en-US" dirty="0"/>
              <a:t>个鸡蛋 </a:t>
            </a:r>
            <a:r>
              <a:rPr lang="en-US" altLang="zh-CN" dirty="0"/>
              <a:t>f</a:t>
            </a:r>
            <a:r>
              <a:rPr lang="zh-CN" altLang="en-US" dirty="0"/>
              <a:t>楼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KaTeX_Math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4575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00023 L 0.00026 0.03171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00023 L 0.00026 0.03171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00024 L 0.00026 0.03171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00023 L 0.00026 0.03171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00023 L 0.00026 0.03171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00023 L 0.00026 0.03171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E1248-242C-BBC7-A87D-D778D24C1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48">
            <a:extLst>
              <a:ext uri="{FF2B5EF4-FFF2-40B4-BE49-F238E27FC236}">
                <a16:creationId xmlns:a16="http://schemas.microsoft.com/office/drawing/2014/main" id="{E1332DA9-AF94-4DE5-14C2-BE5E52E1A8D3}"/>
              </a:ext>
            </a:extLst>
          </p:cNvPr>
          <p:cNvGrpSpPr/>
          <p:nvPr/>
        </p:nvGrpSpPr>
        <p:grpSpPr>
          <a:xfrm>
            <a:off x="1055266" y="634888"/>
            <a:ext cx="3451420" cy="400110"/>
            <a:chOff x="1148080" y="833460"/>
            <a:chExt cx="3451420" cy="400110"/>
          </a:xfrm>
        </p:grpSpPr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E8024869-A60D-8E3D-CEAF-2AEEC121213A}"/>
                </a:ext>
              </a:extLst>
            </p:cNvPr>
            <p:cNvGrpSpPr/>
            <p:nvPr/>
          </p:nvGrpSpPr>
          <p:grpSpPr>
            <a:xfrm>
              <a:off x="1148080" y="909761"/>
              <a:ext cx="213360" cy="211962"/>
              <a:chOff x="1890216" y="1981983"/>
              <a:chExt cx="2664431" cy="2646982"/>
            </a:xfrm>
          </p:grpSpPr>
          <p:sp>
            <p:nvSpPr>
              <p:cNvPr id="52" name="矩形: 圆角 51">
                <a:extLst>
                  <a:ext uri="{FF2B5EF4-FFF2-40B4-BE49-F238E27FC236}">
                    <a16:creationId xmlns:a16="http://schemas.microsoft.com/office/drawing/2014/main" id="{6B1C85D8-91E5-F6E7-D60B-D3D07BA98E3A}"/>
                  </a:ext>
                </a:extLst>
              </p:cNvPr>
              <p:cNvSpPr/>
              <p:nvPr/>
            </p:nvSpPr>
            <p:spPr>
              <a:xfrm>
                <a:off x="1890216" y="1981983"/>
                <a:ext cx="2646983" cy="2646982"/>
              </a:xfrm>
              <a:prstGeom prst="roundRect">
                <a:avLst/>
              </a:prstGeom>
              <a:noFill/>
              <a:ln w="190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31F359E4-043B-9001-7FC2-AC16301280E1}"/>
                  </a:ext>
                </a:extLst>
              </p:cNvPr>
              <p:cNvSpPr/>
              <p:nvPr/>
            </p:nvSpPr>
            <p:spPr>
              <a:xfrm>
                <a:off x="2351568" y="2425886"/>
                <a:ext cx="2203079" cy="2203079"/>
              </a:xfrm>
              <a:prstGeom prst="roundRect">
                <a:avLst/>
              </a:prstGeom>
              <a:solidFill>
                <a:schemeClr val="bg2">
                  <a:lumMod val="25000"/>
                </a:schemeClr>
              </a:solidFill>
              <a:ln w="381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155CCE38-AF5E-8688-529F-2FC1F5A47989}"/>
                </a:ext>
              </a:extLst>
            </p:cNvPr>
            <p:cNvSpPr txBox="1"/>
            <p:nvPr/>
          </p:nvSpPr>
          <p:spPr>
            <a:xfrm>
              <a:off x="1396987" y="833460"/>
              <a:ext cx="320251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spc="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逆向思维（优化时间）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A7446EEF-9516-6275-B698-6190E92E2DB6}"/>
              </a:ext>
            </a:extLst>
          </p:cNvPr>
          <p:cNvSpPr txBox="1"/>
          <p:nvPr/>
        </p:nvSpPr>
        <p:spPr>
          <a:xfrm>
            <a:off x="1074437" y="1378299"/>
            <a:ext cx="45631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在观察需要的实验次数后发现次数的数据量远小于</a:t>
            </a:r>
            <a:r>
              <a:rPr lang="en-US" altLang="zh-CN" dirty="0"/>
              <a:t>e</a:t>
            </a:r>
            <a:r>
              <a:rPr lang="zh-CN" altLang="en-US" dirty="0"/>
              <a:t>与</a:t>
            </a:r>
            <a:r>
              <a:rPr lang="en-US" altLang="zh-CN" dirty="0"/>
              <a:t>f</a:t>
            </a:r>
            <a:r>
              <a:rPr lang="zh-CN" altLang="en-US" dirty="0"/>
              <a:t>的规模，因此思考如果逆向思考转化问题，可以较大程度优化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4A03922-C18E-2346-83AB-CD0A3F869236}"/>
              </a:ext>
            </a:extLst>
          </p:cNvPr>
          <p:cNvSpPr txBox="1"/>
          <p:nvPr/>
        </p:nvSpPr>
        <p:spPr>
          <a:xfrm>
            <a:off x="1055266" y="2745593"/>
            <a:ext cx="44475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逆向转化：对于给定的</a:t>
            </a:r>
            <a:r>
              <a:rPr lang="en-US" altLang="zh-CN" dirty="0"/>
              <a:t>e</a:t>
            </a:r>
            <a:r>
              <a:rPr lang="zh-CN" altLang="en-US" dirty="0"/>
              <a:t>个鸡蛋，实验</a:t>
            </a:r>
            <a:r>
              <a:rPr lang="en-US" altLang="zh-CN" dirty="0"/>
              <a:t>t</a:t>
            </a:r>
            <a:r>
              <a:rPr lang="zh-CN" altLang="en-US" dirty="0"/>
              <a:t>次，最多可以测量多少层</a:t>
            </a:r>
            <a:endParaRPr lang="en-US" altLang="zh-CN" dirty="0"/>
          </a:p>
          <a:p>
            <a:r>
              <a:rPr lang="zh-CN" altLang="en-US" dirty="0"/>
              <a:t>当</a:t>
            </a:r>
            <a:r>
              <a:rPr lang="en-US" altLang="zh-CN" dirty="0"/>
              <a:t>t</a:t>
            </a:r>
            <a:r>
              <a:rPr lang="zh-CN" altLang="en-US" dirty="0"/>
              <a:t>增大时如果可以测量的层数大于等于</a:t>
            </a:r>
            <a:r>
              <a:rPr lang="en-US" altLang="zh-CN" dirty="0"/>
              <a:t>f</a:t>
            </a:r>
            <a:r>
              <a:rPr lang="zh-CN" altLang="en-US" dirty="0"/>
              <a:t>时，</a:t>
            </a:r>
            <a:r>
              <a:rPr lang="en-US" altLang="zh-CN" dirty="0"/>
              <a:t>t</a:t>
            </a:r>
            <a:r>
              <a:rPr lang="zh-CN" altLang="en-US" dirty="0"/>
              <a:t>即为最小实验次数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739A9D-9BCF-5EBA-4401-C42C7EABA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370" y="817170"/>
            <a:ext cx="4238595" cy="383005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D3AA4FF-DC38-B777-1B2A-756264336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37" y="4611910"/>
            <a:ext cx="4367884" cy="56863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BC60E9E-8DCB-DA07-4FEA-1D5E289E1355}"/>
              </a:ext>
            </a:extLst>
          </p:cNvPr>
          <p:cNvSpPr txBox="1"/>
          <p:nvPr/>
        </p:nvSpPr>
        <p:spPr>
          <a:xfrm>
            <a:off x="1055266" y="424257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状态方程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BF5EAA-475B-B413-D81B-30E9E8F9AEAF}"/>
              </a:ext>
            </a:extLst>
          </p:cNvPr>
          <p:cNvSpPr txBox="1"/>
          <p:nvPr/>
        </p:nvSpPr>
        <p:spPr>
          <a:xfrm>
            <a:off x="6958959" y="5075967"/>
            <a:ext cx="3678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时间复杂度：</a:t>
            </a:r>
            <a:r>
              <a:rPr lang="en-US" altLang="zh-CN" dirty="0"/>
              <a:t>O(</a:t>
            </a:r>
            <a:r>
              <a:rPr lang="en-US" altLang="zh-CN" dirty="0" err="1"/>
              <a:t>te</a:t>
            </a:r>
            <a:r>
              <a:rPr lang="en-US" altLang="zh-CN" dirty="0"/>
              <a:t>)  e</a:t>
            </a:r>
            <a:r>
              <a:rPr lang="zh-CN" altLang="en-US" dirty="0"/>
              <a:t>个鸡蛋 </a:t>
            </a:r>
            <a:r>
              <a:rPr lang="en-US" altLang="zh-CN" dirty="0"/>
              <a:t>f</a:t>
            </a:r>
            <a:r>
              <a:rPr lang="zh-CN" altLang="en-US" dirty="0"/>
              <a:t>楼</a:t>
            </a:r>
            <a:endParaRPr lang="en-US" altLang="zh-CN" dirty="0"/>
          </a:p>
          <a:p>
            <a:r>
              <a:rPr lang="zh-CN" altLang="en-US" dirty="0"/>
              <a:t>（查询资料发现与</a:t>
            </a:r>
            <a:r>
              <a:rPr lang="en-US" altLang="zh-CN" dirty="0"/>
              <a:t>f</a:t>
            </a:r>
            <a:r>
              <a:rPr lang="zh-CN" altLang="en-US" dirty="0"/>
              <a:t>开</a:t>
            </a:r>
            <a:r>
              <a:rPr lang="en-US" altLang="zh-CN" dirty="0"/>
              <a:t>e</a:t>
            </a:r>
            <a:r>
              <a:rPr lang="zh-CN" altLang="en-US" dirty="0"/>
              <a:t>次方有关）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KaTeX_Math"/>
              </a:rPr>
              <a:t> 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D10618-2593-3870-9111-840F4A9988DB}"/>
              </a:ext>
            </a:extLst>
          </p:cNvPr>
          <p:cNvSpPr txBox="1"/>
          <p:nvPr/>
        </p:nvSpPr>
        <p:spPr>
          <a:xfrm>
            <a:off x="6958959" y="5786852"/>
            <a:ext cx="3722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空间复杂度：</a:t>
            </a:r>
            <a:r>
              <a:rPr lang="en-US" altLang="zh-CN" dirty="0"/>
              <a:t>O(e)    e</a:t>
            </a:r>
            <a:r>
              <a:rPr lang="zh-CN" altLang="en-US" dirty="0"/>
              <a:t>个鸡蛋 </a:t>
            </a:r>
            <a:r>
              <a:rPr lang="en-US" altLang="zh-CN" dirty="0"/>
              <a:t>f</a:t>
            </a:r>
            <a:r>
              <a:rPr lang="zh-CN" altLang="en-US" dirty="0"/>
              <a:t>楼</a:t>
            </a:r>
            <a:r>
              <a:rPr lang="en-US" altLang="zh-CN" b="0" i="1" dirty="0">
                <a:solidFill>
                  <a:srgbClr val="404040"/>
                </a:solidFill>
                <a:effectLst/>
                <a:latin typeface="KaTeX_Math"/>
              </a:rPr>
              <a:t> 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0396195-3D67-3AB5-42C3-AA33CC503790}"/>
              </a:ext>
            </a:extLst>
          </p:cNvPr>
          <p:cNvSpPr txBox="1"/>
          <p:nvPr/>
        </p:nvSpPr>
        <p:spPr>
          <a:xfrm>
            <a:off x="1055266" y="5549879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根据状态方程发现也可以用滚动数组优化空间</a:t>
            </a:r>
          </a:p>
        </p:txBody>
      </p:sp>
    </p:spTree>
    <p:extLst>
      <p:ext uri="{BB962C8B-B14F-4D97-AF65-F5344CB8AC3E}">
        <p14:creationId xmlns:p14="http://schemas.microsoft.com/office/powerpoint/2010/main" val="859708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-圆角矩形 8">
            <a:extLst>
              <a:ext uri="{FF2B5EF4-FFF2-40B4-BE49-F238E27FC236}">
                <a16:creationId xmlns:a16="http://schemas.microsoft.com/office/drawing/2014/main" id="{6E6F20AA-C6E8-44BE-8D19-0D3C9BDEE11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5668294" y="3129525"/>
            <a:ext cx="1178276" cy="322625"/>
          </a:xfrm>
          <a:prstGeom prst="roundRect">
            <a:avLst/>
          </a:prstGeom>
          <a:noFill/>
          <a:ln w="381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11" name="PA-标题 1">
            <a:extLst>
              <a:ext uri="{FF2B5EF4-FFF2-40B4-BE49-F238E27FC236}">
                <a16:creationId xmlns:a16="http://schemas.microsoft.com/office/drawing/2014/main" id="{4CC0907A-1A62-48F4-9B55-9BB7DDD59158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5711329" y="2253764"/>
            <a:ext cx="1225168" cy="789201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3800" dirty="0">
                <a:solidFill>
                  <a:schemeClr val="tx1">
                    <a:lumMod val="75000"/>
                    <a:lumOff val="25000"/>
                  </a:schemeClr>
                </a:solidFill>
                <a:latin typeface="华文细黑" panose="02010600040101010101" pitchFamily="2" charset="-122"/>
                <a:ea typeface="华文细黑" panose="02010600040101010101" pitchFamily="2" charset="-122"/>
              </a:rPr>
              <a:t>3</a:t>
            </a:r>
          </a:p>
        </p:txBody>
      </p:sp>
      <p:grpSp>
        <p:nvGrpSpPr>
          <p:cNvPr id="2" name="PA-组合 1">
            <a:extLst>
              <a:ext uri="{FF2B5EF4-FFF2-40B4-BE49-F238E27FC236}">
                <a16:creationId xmlns:a16="http://schemas.microsoft.com/office/drawing/2014/main" id="{FE316119-C1FB-49B5-BFA0-52F96C18D6D6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616515" y="388374"/>
            <a:ext cx="2255157" cy="2037622"/>
            <a:chOff x="616515" y="388374"/>
            <a:chExt cx="2255157" cy="2037622"/>
          </a:xfrm>
        </p:grpSpPr>
        <p:sp>
          <p:nvSpPr>
            <p:cNvPr id="16" name="PA-圆角矩形 15">
              <a:extLst>
                <a:ext uri="{FF2B5EF4-FFF2-40B4-BE49-F238E27FC236}">
                  <a16:creationId xmlns:a16="http://schemas.microsoft.com/office/drawing/2014/main" id="{C7CD84A2-40A3-401F-A9DA-409B4ABF8718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PA-圆角矩形 16">
              <a:extLst>
                <a:ext uri="{FF2B5EF4-FFF2-40B4-BE49-F238E27FC236}">
                  <a16:creationId xmlns:a16="http://schemas.microsoft.com/office/drawing/2014/main" id="{CE925F5F-607C-407D-A2D0-44942966DD8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PA-圆角矩形 18">
              <a:extLst>
                <a:ext uri="{FF2B5EF4-FFF2-40B4-BE49-F238E27FC236}">
                  <a16:creationId xmlns:a16="http://schemas.microsoft.com/office/drawing/2014/main" id="{38A43B7E-6714-4239-A6C0-A20C9EB6EFEA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PA-圆角矩形 22">
              <a:extLst>
                <a:ext uri="{FF2B5EF4-FFF2-40B4-BE49-F238E27FC236}">
                  <a16:creationId xmlns:a16="http://schemas.microsoft.com/office/drawing/2014/main" id="{34B063C5-342C-4688-959C-C9D3F304138D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PA-标题 1">
            <a:extLst>
              <a:ext uri="{FF2B5EF4-FFF2-40B4-BE49-F238E27FC236}">
                <a16:creationId xmlns:a16="http://schemas.microsoft.com/office/drawing/2014/main" id="{4C4B8C7B-8E26-4887-A7AE-5F2964DE7283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834826" y="3692895"/>
            <a:ext cx="2565331" cy="590309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 fontScale="92500" lnSpcReduction="20000"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不同规模数据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dist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性能分析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PA-组合 1">
            <a:extLst>
              <a:ext uri="{FF2B5EF4-FFF2-40B4-BE49-F238E27FC236}">
                <a16:creationId xmlns:a16="http://schemas.microsoft.com/office/drawing/2014/main" id="{45381ABC-1EC4-4B4F-A10C-E3936D973F2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16515" y="391920"/>
            <a:ext cx="2255157" cy="2037622"/>
            <a:chOff x="616515" y="388374"/>
            <a:chExt cx="2255157" cy="2037622"/>
          </a:xfrm>
        </p:grpSpPr>
        <p:sp>
          <p:nvSpPr>
            <p:cNvPr id="24" name="PA-圆角矩形 15">
              <a:extLst>
                <a:ext uri="{FF2B5EF4-FFF2-40B4-BE49-F238E27FC236}">
                  <a16:creationId xmlns:a16="http://schemas.microsoft.com/office/drawing/2014/main" id="{6C04B470-BFEF-4F6A-A946-471B5D355C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859320" y="388374"/>
              <a:ext cx="1189399" cy="1189398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PA-圆角矩形 16">
              <a:extLst>
                <a:ext uri="{FF2B5EF4-FFF2-40B4-BE49-F238E27FC236}">
                  <a16:creationId xmlns:a16="http://schemas.microsoft.com/office/drawing/2014/main" id="{6C0F716D-B261-4372-8C3B-59CA2EBD6F6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616515" y="1940387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PA-圆角矩形 18">
              <a:extLst>
                <a:ext uri="{FF2B5EF4-FFF2-40B4-BE49-F238E27FC236}">
                  <a16:creationId xmlns:a16="http://schemas.microsoft.com/office/drawing/2014/main" id="{1C95B621-18DC-4B25-BF35-BBFB14FA14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2386063" y="473001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PA-圆角矩形 22">
              <a:extLst>
                <a:ext uri="{FF2B5EF4-FFF2-40B4-BE49-F238E27FC236}">
                  <a16:creationId xmlns:a16="http://schemas.microsoft.com/office/drawing/2014/main" id="{37E85A14-7BB4-4957-86CD-3FC71F1F1798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68410" y="983073"/>
              <a:ext cx="485609" cy="485609"/>
            </a:xfrm>
            <a:prstGeom prst="roundRect">
              <a:avLst>
                <a:gd name="adj" fmla="val 17797"/>
              </a:avLst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8" name="PA-组合 2">
            <a:extLst>
              <a:ext uri="{FF2B5EF4-FFF2-40B4-BE49-F238E27FC236}">
                <a16:creationId xmlns:a16="http://schemas.microsoft.com/office/drawing/2014/main" id="{03B04EBE-E721-4505-A5C8-558D26B631DF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29" name="PA-圆角矩形 20">
              <a:extLst>
                <a:ext uri="{FF2B5EF4-FFF2-40B4-BE49-F238E27FC236}">
                  <a16:creationId xmlns:a16="http://schemas.microsoft.com/office/drawing/2014/main" id="{9343CEE2-BF0F-480A-8A51-D0081B2B9E5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PA-圆角矩形 21">
              <a:extLst>
                <a:ext uri="{FF2B5EF4-FFF2-40B4-BE49-F238E27FC236}">
                  <a16:creationId xmlns:a16="http://schemas.microsoft.com/office/drawing/2014/main" id="{2B1389B9-66FC-45FA-8950-863C406B87B6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PA-组合 2">
            <a:extLst>
              <a:ext uri="{FF2B5EF4-FFF2-40B4-BE49-F238E27FC236}">
                <a16:creationId xmlns:a16="http://schemas.microsoft.com/office/drawing/2014/main" id="{88B89166-D218-4AE5-8CA9-5E49DAABB1F4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10808283" y="5519196"/>
            <a:ext cx="728414" cy="994593"/>
            <a:chOff x="11061001" y="5636871"/>
            <a:chExt cx="728414" cy="994593"/>
          </a:xfrm>
        </p:grpSpPr>
        <p:sp>
          <p:nvSpPr>
            <p:cNvPr id="32" name="PA-圆角矩形 20">
              <a:extLst>
                <a:ext uri="{FF2B5EF4-FFF2-40B4-BE49-F238E27FC236}">
                  <a16:creationId xmlns:a16="http://schemas.microsoft.com/office/drawing/2014/main" id="{28A80E83-1203-4740-B296-4AD1E3CE08F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061001" y="5993455"/>
              <a:ext cx="485609" cy="485609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PA-圆角矩形 21">
              <a:extLst>
                <a:ext uri="{FF2B5EF4-FFF2-40B4-BE49-F238E27FC236}">
                  <a16:creationId xmlns:a16="http://schemas.microsoft.com/office/drawing/2014/main" id="{15ED84CC-1617-4DF3-B51B-3A8B64AEAA20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03806" y="5636871"/>
              <a:ext cx="485609" cy="994593"/>
            </a:xfrm>
            <a:prstGeom prst="roundRect">
              <a:avLst/>
            </a:prstGeom>
            <a:noFill/>
            <a:ln w="19050">
              <a:solidFill>
                <a:srgbClr val="C5C5C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PA-圆角矩形 9">
            <a:extLst>
              <a:ext uri="{FF2B5EF4-FFF2-40B4-BE49-F238E27FC236}">
                <a16:creationId xmlns:a16="http://schemas.microsoft.com/office/drawing/2014/main" id="{23F784A1-6035-4AB1-9021-4A364ADDD4D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303588" y="2822003"/>
            <a:ext cx="497667" cy="497668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321394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 p14:presetBounceEnd="2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8000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8000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 p14:bounceEnd="28000"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 p14:presetBounceEnd="47000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7000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7000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9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accel="12000" decel="88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1.25E-6 -2.59259E-6 L 0.30677 0.23449 " pathEditMode="relative" rAng="0" ptsTypes="AA">
                                          <p:cBhvr>
                                            <p:cTn id="18" dur="1000" fill="hold">
                                              <p:stCondLst>
                                                <p:cond delay="333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15339" y="11713"/>
                                        </p:animMotion>
                                        <p:animScale>
                                          <p:cBhvr>
                                            <p:cTn id="19" dur="100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0" presetID="2" presetClass="entr" presetSubtype="6" accel="16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  <p:animScale>
                                          <p:cBhvr>
                                            <p:cTn id="24" dur="750" fill="hold">
                                              <p:stCondLst>
                                                <p:cond delay="50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</p:cBhvr>
                                          <p:from x="100000" y="100000"/>
                                          <p:to x="0" y="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25" presetID="42" presetClass="path" presetSubtype="0" accel="10667" decel="89333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animMotion origin="layout" path="M 3.95833E-6 -4.81481E-6 L -0.46654 -0.43541 " pathEditMode="relative" rAng="0" ptsTypes="AA">
                                          <p:cBhvr>
                                            <p:cTn id="26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23333" y="-21782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7" presetID="31" presetClass="entr" presetSubtype="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9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0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1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9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32" dur="3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22" presetClass="entr" presetSubtype="8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5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2" presetClass="entr" presetSubtype="4" accel="36000" fill="hold" grpId="0" nodeType="withEffect">
                                      <p:stCondLst>
                                        <p:cond delay="180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8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9" dur="1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0" presetID="2" presetClass="entr" presetSubtype="4" accel="40000" fill="hold" nodeType="withEffect">
                                      <p:stCondLst>
                                        <p:cond delay="260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2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3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9" grpId="0" animBg="1"/>
          <p:bldP spid="11" grpId="0"/>
          <p:bldP spid="10" grpId="0" animBg="1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5DB8AF-9207-8CC3-02AE-4FAECD5CA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91965A89-FB40-7FD7-BD58-C1A1BC3AA4C0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3BAE1A55-EFF2-9E3A-C897-B0A870D6E108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C515631E-E2B5-9593-0492-BC0A1CB6654B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FF12548-594E-886A-DAD3-DC38E0236E7C}"/>
              </a:ext>
            </a:extLst>
          </p:cNvPr>
          <p:cNvSpPr txBox="1"/>
          <p:nvPr/>
        </p:nvSpPr>
        <p:spPr>
          <a:xfrm>
            <a:off x="1304173" y="634888"/>
            <a:ext cx="3142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蛮力法小规模数据分析</a:t>
            </a:r>
          </a:p>
        </p:txBody>
      </p:sp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0EFF102E-3A71-5A62-A6FD-4DE0465AEE8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3641416"/>
              </p:ext>
            </p:extLst>
          </p:nvPr>
        </p:nvGraphicFramePr>
        <p:xfrm>
          <a:off x="6370183" y="1812471"/>
          <a:ext cx="4812847" cy="3115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5F6210DF-4985-91E3-70DB-F6245EB0F7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6235973"/>
              </p:ext>
            </p:extLst>
          </p:nvPr>
        </p:nvGraphicFramePr>
        <p:xfrm>
          <a:off x="797005" y="1871421"/>
          <a:ext cx="5087031" cy="31151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3547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EE593B-C5B5-9938-638B-F3A3244ED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C03936BF-0232-C2A4-5C25-B9BF45379BCB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79AA7135-18EA-3FB4-9B40-E85547705EDB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FD9DE122-D6EE-0396-49A9-89B9CE34D506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CA935F6-A425-2835-9443-9DB29A1D30FE}"/>
              </a:ext>
            </a:extLst>
          </p:cNvPr>
          <p:cNvSpPr txBox="1"/>
          <p:nvPr/>
        </p:nvSpPr>
        <p:spPr>
          <a:xfrm>
            <a:off x="1304173" y="634888"/>
            <a:ext cx="3142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小规模数据分析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84B1B93-5D98-6893-E9AF-3FD6B9812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903" y="243004"/>
            <a:ext cx="4972668" cy="3001454"/>
          </a:xfrm>
          <a:prstGeom prst="rect">
            <a:avLst/>
          </a:prstGeom>
        </p:spPr>
      </p:pic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5278D127-39E1-4841-0273-E4ABF5BCDC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3344053"/>
              </p:ext>
            </p:extLst>
          </p:nvPr>
        </p:nvGraphicFramePr>
        <p:xfrm>
          <a:off x="387391" y="1246724"/>
          <a:ext cx="4267849" cy="23921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0F166086-CDB7-4630-A2A2-7897E75714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7557209"/>
              </p:ext>
            </p:extLst>
          </p:nvPr>
        </p:nvGraphicFramePr>
        <p:xfrm>
          <a:off x="387391" y="4255354"/>
          <a:ext cx="4304792" cy="2265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2" name="图片 11">
            <a:extLst>
              <a:ext uri="{FF2B5EF4-FFF2-40B4-BE49-F238E27FC236}">
                <a16:creationId xmlns:a16="http://schemas.microsoft.com/office/drawing/2014/main" id="{6BF2AE59-D21B-DE95-78B6-A9A360825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8924" y="3613542"/>
            <a:ext cx="4992626" cy="300145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557813F-A62D-A416-4449-4FB9A5FDB1A4}"/>
              </a:ext>
            </a:extLst>
          </p:cNvPr>
          <p:cNvSpPr txBox="1"/>
          <p:nvPr/>
        </p:nvSpPr>
        <p:spPr>
          <a:xfrm>
            <a:off x="10075234" y="1519461"/>
            <a:ext cx="11451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：</a:t>
            </a:r>
            <a:r>
              <a:rPr lang="en-US" altLang="zh-CN" dirty="0"/>
              <a:t>100</a:t>
            </a:r>
          </a:p>
          <a:p>
            <a:r>
              <a:rPr lang="en-US" altLang="zh-CN" dirty="0"/>
              <a:t>e</a:t>
            </a:r>
            <a:r>
              <a:rPr lang="zh-CN" altLang="en-US" dirty="0"/>
              <a:t>：</a:t>
            </a:r>
            <a:r>
              <a:rPr lang="en-US" altLang="zh-CN" dirty="0"/>
              <a:t>1-100</a:t>
            </a:r>
          </a:p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EC004A1-0E6E-CE70-5BEF-29371DCC2A93}"/>
              </a:ext>
            </a:extLst>
          </p:cNvPr>
          <p:cNvSpPr txBox="1"/>
          <p:nvPr/>
        </p:nvSpPr>
        <p:spPr>
          <a:xfrm>
            <a:off x="10216748" y="4752518"/>
            <a:ext cx="15343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：</a:t>
            </a:r>
            <a:r>
              <a:rPr lang="en-US" altLang="zh-CN" dirty="0"/>
              <a:t>1-1000</a:t>
            </a:r>
          </a:p>
          <a:p>
            <a:r>
              <a:rPr lang="en-US" altLang="zh-CN" dirty="0"/>
              <a:t>e</a:t>
            </a:r>
            <a:r>
              <a:rPr lang="zh-CN" altLang="en-US" dirty="0"/>
              <a:t>：</a:t>
            </a:r>
            <a:r>
              <a:rPr lang="en-US" altLang="zh-CN" dirty="0"/>
              <a:t>20</a:t>
            </a:r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19B0A50-57B2-CD0A-D5FF-B42B3CD203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8903" y="3613542"/>
            <a:ext cx="4990237" cy="3001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678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7E7DE3-A367-00FF-31ED-9D6577598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FBFFB196-7C03-BBA0-5F6E-48EF1DC3D6DF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2BE71FB9-8C98-89BD-66AF-46B9A6E37A52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8C0D5707-34F5-7D1B-9AB8-2734FA27E121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F65E18E9-A185-CED4-EFFF-4C4D9BADCB93}"/>
              </a:ext>
            </a:extLst>
          </p:cNvPr>
          <p:cNvSpPr txBox="1"/>
          <p:nvPr/>
        </p:nvSpPr>
        <p:spPr>
          <a:xfrm>
            <a:off x="1304173" y="634888"/>
            <a:ext cx="3142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较大规模数据分析（</a:t>
            </a:r>
            <a:r>
              <a:rPr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47C59A1-63B8-67B7-7E1D-EEB8EF99416F}"/>
              </a:ext>
            </a:extLst>
          </p:cNvPr>
          <p:cNvSpPr txBox="1"/>
          <p:nvPr/>
        </p:nvSpPr>
        <p:spPr>
          <a:xfrm>
            <a:off x="8049624" y="5231564"/>
            <a:ext cx="15343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：</a:t>
            </a:r>
            <a:r>
              <a:rPr lang="en-US" altLang="zh-CN" dirty="0"/>
              <a:t>1w</a:t>
            </a:r>
          </a:p>
          <a:p>
            <a:r>
              <a:rPr lang="en-US" altLang="zh-CN" dirty="0"/>
              <a:t>e</a:t>
            </a:r>
            <a:r>
              <a:rPr lang="zh-CN" altLang="en-US" dirty="0"/>
              <a:t>：</a:t>
            </a:r>
            <a:r>
              <a:rPr lang="en-US" altLang="zh-CN" dirty="0"/>
              <a:t>1-100</a:t>
            </a:r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4131A0A-AAE5-9AEF-9D87-A894BA315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700" y="1421649"/>
            <a:ext cx="5861244" cy="3527651"/>
          </a:xfrm>
          <a:prstGeom prst="rect">
            <a:avLst/>
          </a:prstGeom>
        </p:spPr>
      </p:pic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E992C6BE-94DB-4F79-938B-AD6DD28D98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983858"/>
              </p:ext>
            </p:extLst>
          </p:nvPr>
        </p:nvGraphicFramePr>
        <p:xfrm>
          <a:off x="782688" y="1180286"/>
          <a:ext cx="4583690" cy="2694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D4E53C79-B4E2-4C5A-93E9-A8C49D86DD2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78164508"/>
              </p:ext>
            </p:extLst>
          </p:nvPr>
        </p:nvGraphicFramePr>
        <p:xfrm>
          <a:off x="782688" y="4020283"/>
          <a:ext cx="4583690" cy="26947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864698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0FD5BF-23D9-EE0D-409C-63B7876F3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A5F17C1B-2EA8-8B91-23CC-97547E3D97A3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1923651D-792A-E484-4E4C-9772FAE090CB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EC22D888-6E60-F1DA-1BD0-A7002A71F745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757032C4-1932-43A1-3549-58C7398F20A8}"/>
              </a:ext>
            </a:extLst>
          </p:cNvPr>
          <p:cNvSpPr txBox="1"/>
          <p:nvPr/>
        </p:nvSpPr>
        <p:spPr>
          <a:xfrm>
            <a:off x="1304173" y="634888"/>
            <a:ext cx="3142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较大规模数据分析（</a:t>
            </a:r>
            <a:r>
              <a:rPr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495E94-0A69-DF14-ECE7-C79DD88DA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743" y="1197428"/>
            <a:ext cx="5724153" cy="3581286"/>
          </a:xfrm>
          <a:prstGeom prst="rect">
            <a:avLst/>
          </a:prstGeom>
        </p:spPr>
      </p:pic>
      <p:graphicFrame>
        <p:nvGraphicFramePr>
          <p:cNvPr id="6" name="图表 5">
            <a:extLst>
              <a:ext uri="{FF2B5EF4-FFF2-40B4-BE49-F238E27FC236}">
                <a16:creationId xmlns:a16="http://schemas.microsoft.com/office/drawing/2014/main" id="{79F530CF-63C4-8235-2E63-18E0A741C1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8691808"/>
              </p:ext>
            </p:extLst>
          </p:nvPr>
        </p:nvGraphicFramePr>
        <p:xfrm>
          <a:off x="755877" y="1197428"/>
          <a:ext cx="4501923" cy="22914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8743D74E-F9AC-487A-A4A3-CBFAEBE305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5365321"/>
              </p:ext>
            </p:extLst>
          </p:nvPr>
        </p:nvGraphicFramePr>
        <p:xfrm>
          <a:off x="929368" y="3763148"/>
          <a:ext cx="4290331" cy="21337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673E0C7-6F3E-00FD-947B-A37FFB5B21A8}"/>
              </a:ext>
            </a:extLst>
          </p:cNvPr>
          <p:cNvSpPr txBox="1"/>
          <p:nvPr/>
        </p:nvSpPr>
        <p:spPr>
          <a:xfrm>
            <a:off x="6781438" y="5198907"/>
            <a:ext cx="15343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：</a:t>
            </a:r>
            <a:r>
              <a:rPr lang="en-US" altLang="zh-CN" dirty="0"/>
              <a:t>1-10w</a:t>
            </a:r>
          </a:p>
          <a:p>
            <a:r>
              <a:rPr lang="en-US" altLang="zh-CN" dirty="0"/>
              <a:t>e</a:t>
            </a:r>
            <a:r>
              <a:rPr lang="zh-CN" altLang="en-US" dirty="0"/>
              <a:t>：</a:t>
            </a:r>
            <a:r>
              <a:rPr lang="en-US" altLang="zh-CN" dirty="0"/>
              <a:t>20</a:t>
            </a:r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C956924-9B89-1E0F-A3EB-558B212C82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660" y="1197428"/>
            <a:ext cx="5724153" cy="3581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797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E7394C-9F86-630C-DFBF-6E26174B9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A173D20C-3E4B-1A67-0BBF-300433B81A2A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00FAD1CC-4CED-2865-5508-C796A9008675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FCDE5ECB-18BA-BB4B-30F1-C42E3FC00CC0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C8757089-7109-41D1-384D-6F7476EA7643}"/>
              </a:ext>
            </a:extLst>
          </p:cNvPr>
          <p:cNvSpPr txBox="1"/>
          <p:nvPr/>
        </p:nvSpPr>
        <p:spPr>
          <a:xfrm>
            <a:off x="1304173" y="634888"/>
            <a:ext cx="3142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较大规模数据分析（</a:t>
            </a:r>
            <a:r>
              <a:rPr lang="en-US" altLang="zh-CN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B5EA5DC-6621-F6E1-5F94-56EFB2B11C70}"/>
              </a:ext>
            </a:extLst>
          </p:cNvPr>
          <p:cNvSpPr txBox="1"/>
          <p:nvPr/>
        </p:nvSpPr>
        <p:spPr>
          <a:xfrm>
            <a:off x="3521166" y="5475846"/>
            <a:ext cx="15343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：</a:t>
            </a:r>
            <a:r>
              <a:rPr lang="en-US" altLang="zh-CN" dirty="0"/>
              <a:t>1-10w</a:t>
            </a:r>
          </a:p>
          <a:p>
            <a:r>
              <a:rPr lang="en-US" altLang="zh-CN" dirty="0"/>
              <a:t>e</a:t>
            </a:r>
            <a:r>
              <a:rPr lang="zh-CN" altLang="en-US" dirty="0"/>
              <a:t>：</a:t>
            </a:r>
            <a:r>
              <a:rPr lang="en-US" altLang="zh-CN" dirty="0"/>
              <a:t>20</a:t>
            </a:r>
          </a:p>
          <a:p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7B5F5C-B941-D6AD-4616-E3B3CC674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287" y="538843"/>
            <a:ext cx="3364308" cy="5981700"/>
          </a:xfrm>
          <a:prstGeom prst="rect">
            <a:avLst/>
          </a:prstGeom>
        </p:spPr>
      </p:pic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A90D339A-0085-0904-52B9-56EB24A5B9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0279667"/>
              </p:ext>
            </p:extLst>
          </p:nvPr>
        </p:nvGraphicFramePr>
        <p:xfrm>
          <a:off x="1004002" y="1494774"/>
          <a:ext cx="5770111" cy="3521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图片 4">
            <a:extLst>
              <a:ext uri="{FF2B5EF4-FFF2-40B4-BE49-F238E27FC236}">
                <a16:creationId xmlns:a16="http://schemas.microsoft.com/office/drawing/2014/main" id="{CA0BB60D-506A-47B4-1B41-6969B24B29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310" y="545774"/>
            <a:ext cx="3353086" cy="598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1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18A851-E6B5-E974-6C8C-36BF2E129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>
            <a:extLst>
              <a:ext uri="{FF2B5EF4-FFF2-40B4-BE49-F238E27FC236}">
                <a16:creationId xmlns:a16="http://schemas.microsoft.com/office/drawing/2014/main" id="{D1E52FCB-22C0-3DAD-39B7-2D81F28942D0}"/>
              </a:ext>
            </a:extLst>
          </p:cNvPr>
          <p:cNvGrpSpPr/>
          <p:nvPr/>
        </p:nvGrpSpPr>
        <p:grpSpPr>
          <a:xfrm>
            <a:off x="1055266" y="711189"/>
            <a:ext cx="213360" cy="211962"/>
            <a:chOff x="1890216" y="1981983"/>
            <a:chExt cx="2664431" cy="2646982"/>
          </a:xfrm>
        </p:grpSpPr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470FC07D-7AF1-625F-2B69-FAAA573E796A}"/>
                </a:ext>
              </a:extLst>
            </p:cNvPr>
            <p:cNvSpPr/>
            <p:nvPr/>
          </p:nvSpPr>
          <p:spPr>
            <a:xfrm>
              <a:off x="1890216" y="1981983"/>
              <a:ext cx="2646983" cy="2646982"/>
            </a:xfrm>
            <a:prstGeom prst="roundRect">
              <a:avLst/>
            </a:pr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F5D97D36-AC5A-9367-5104-A5E26EC93179}"/>
                </a:ext>
              </a:extLst>
            </p:cNvPr>
            <p:cNvSpPr/>
            <p:nvPr/>
          </p:nvSpPr>
          <p:spPr>
            <a:xfrm>
              <a:off x="2351568" y="2425886"/>
              <a:ext cx="2203079" cy="2203079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A3185A30-1777-B95D-39D0-79F290648C24}"/>
              </a:ext>
            </a:extLst>
          </p:cNvPr>
          <p:cNvSpPr txBox="1"/>
          <p:nvPr/>
        </p:nvSpPr>
        <p:spPr>
          <a:xfrm>
            <a:off x="1304173" y="634888"/>
            <a:ext cx="34964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spc="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极大规模数据分析（逆向）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FE2B4A7-F52F-1F4A-DCAE-AC1FDE7A2BD5}"/>
              </a:ext>
            </a:extLst>
          </p:cNvPr>
          <p:cNvSpPr txBox="1"/>
          <p:nvPr/>
        </p:nvSpPr>
        <p:spPr>
          <a:xfrm>
            <a:off x="2160454" y="4368109"/>
            <a:ext cx="21557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：</a:t>
            </a:r>
            <a:r>
              <a:rPr lang="en-US" altLang="zh-CN" dirty="0"/>
              <a:t>1-95  10^15</a:t>
            </a:r>
          </a:p>
          <a:p>
            <a:r>
              <a:rPr lang="en-US" altLang="zh-CN" dirty="0"/>
              <a:t>e</a:t>
            </a:r>
            <a:r>
              <a:rPr lang="zh-CN" altLang="en-US" dirty="0"/>
              <a:t>：</a:t>
            </a:r>
            <a:r>
              <a:rPr lang="en-US" altLang="zh-CN" dirty="0"/>
              <a:t>3</a:t>
            </a: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7599FC-7777-0E2A-A24C-468D9129C19B}"/>
              </a:ext>
            </a:extLst>
          </p:cNvPr>
          <p:cNvSpPr txBox="1"/>
          <p:nvPr/>
        </p:nvSpPr>
        <p:spPr>
          <a:xfrm>
            <a:off x="7674067" y="4342854"/>
            <a:ext cx="21557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</a:t>
            </a:r>
            <a:r>
              <a:rPr lang="zh-CN" altLang="en-US" dirty="0"/>
              <a:t>：</a:t>
            </a:r>
            <a:r>
              <a:rPr lang="en-US" altLang="zh-CN" dirty="0"/>
              <a:t>1-95  10^13</a:t>
            </a:r>
          </a:p>
          <a:p>
            <a:r>
              <a:rPr lang="en-US" altLang="zh-CN" dirty="0"/>
              <a:t>e</a:t>
            </a:r>
            <a:r>
              <a:rPr lang="zh-CN" altLang="en-US" dirty="0"/>
              <a:t>：</a:t>
            </a:r>
            <a:r>
              <a:rPr lang="en-US" altLang="zh-CN" dirty="0"/>
              <a:t>2</a:t>
            </a:r>
          </a:p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FF1476-B056-27DF-20A8-331AFA092EBB}"/>
              </a:ext>
            </a:extLst>
          </p:cNvPr>
          <p:cNvSpPr txBox="1"/>
          <p:nvPr/>
        </p:nvSpPr>
        <p:spPr>
          <a:xfrm>
            <a:off x="1180418" y="5329199"/>
            <a:ext cx="53190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分析发现鸡蛋越多，能跑的规模越大，效果越好</a:t>
            </a:r>
            <a:endParaRPr lang="en-US" altLang="zh-CN" dirty="0"/>
          </a:p>
          <a:p>
            <a:r>
              <a:rPr lang="zh-CN" altLang="en-US" dirty="0"/>
              <a:t>限制鸡蛋个数为</a:t>
            </a:r>
            <a:r>
              <a:rPr lang="en-US" altLang="zh-CN" dirty="0"/>
              <a:t>2</a:t>
            </a:r>
            <a:r>
              <a:rPr lang="zh-CN" altLang="en-US" dirty="0"/>
              <a:t>时，</a:t>
            </a:r>
            <a:r>
              <a:rPr lang="en-US" altLang="zh-CN" dirty="0"/>
              <a:t>1s</a:t>
            </a:r>
            <a:r>
              <a:rPr lang="zh-CN" altLang="en-US" dirty="0"/>
              <a:t>内跑出的最大规模为</a:t>
            </a:r>
            <a:r>
              <a:rPr lang="en-US" altLang="zh-CN" dirty="0"/>
              <a:t>10^13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77A3C51-76D5-6963-E869-157D078EB8B5}"/>
              </a:ext>
            </a:extLst>
          </p:cNvPr>
          <p:cNvSpPr txBox="1"/>
          <p:nvPr/>
        </p:nvSpPr>
        <p:spPr>
          <a:xfrm>
            <a:off x="6852986" y="5197929"/>
            <a:ext cx="45833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根据先前的数据分析，限制鸡蛋个数为</a:t>
            </a:r>
            <a:r>
              <a:rPr lang="en-US" altLang="zh-CN" dirty="0"/>
              <a:t>20</a:t>
            </a:r>
            <a:r>
              <a:rPr lang="zh-CN" altLang="en-US" dirty="0"/>
              <a:t>时</a:t>
            </a:r>
            <a:endParaRPr lang="en-US" altLang="zh-CN" dirty="0"/>
          </a:p>
          <a:p>
            <a:r>
              <a:rPr lang="en-US" altLang="zh-CN" dirty="0"/>
              <a:t>1s</a:t>
            </a:r>
            <a:r>
              <a:rPr lang="zh-CN" altLang="en-US" dirty="0"/>
              <a:t>内跑出的最大规模</a:t>
            </a:r>
            <a:endParaRPr lang="en-US" altLang="zh-CN" dirty="0"/>
          </a:p>
          <a:p>
            <a:r>
              <a:rPr lang="zh-CN" altLang="en-US" dirty="0"/>
              <a:t>朴素</a:t>
            </a:r>
            <a:r>
              <a:rPr lang="en-US" altLang="zh-CN" dirty="0" err="1"/>
              <a:t>dp</a:t>
            </a:r>
            <a:r>
              <a:rPr lang="zh-CN" altLang="en-US" dirty="0"/>
              <a:t>：</a:t>
            </a:r>
            <a:r>
              <a:rPr lang="en-US" altLang="zh-CN" dirty="0"/>
              <a:t>1w</a:t>
            </a:r>
          </a:p>
          <a:p>
            <a:r>
              <a:rPr lang="zh-CN" altLang="en-US" dirty="0"/>
              <a:t>二分、二分经过空间优化：</a:t>
            </a:r>
            <a:r>
              <a:rPr lang="en-US" altLang="zh-CN" dirty="0"/>
              <a:t>100w</a:t>
            </a:r>
            <a:endParaRPr lang="zh-CN" altLang="en-US" dirty="0"/>
          </a:p>
        </p:txBody>
      </p:sp>
      <p:graphicFrame>
        <p:nvGraphicFramePr>
          <p:cNvPr id="2" name="图表 1">
            <a:extLst>
              <a:ext uri="{FF2B5EF4-FFF2-40B4-BE49-F238E27FC236}">
                <a16:creationId xmlns:a16="http://schemas.microsoft.com/office/drawing/2014/main" id="{39F0C48A-0B78-3290-A9DA-C6F4388CA7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0878770"/>
              </p:ext>
            </p:extLst>
          </p:nvPr>
        </p:nvGraphicFramePr>
        <p:xfrm>
          <a:off x="1180418" y="1227093"/>
          <a:ext cx="4796426" cy="3029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2CA29FB7-9C2A-0178-1044-222D4ADF5D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836185"/>
              </p:ext>
            </p:extLst>
          </p:nvPr>
        </p:nvGraphicFramePr>
        <p:xfrm>
          <a:off x="6096000" y="1293728"/>
          <a:ext cx="5153611" cy="30743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204812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8">
            <a:extLst>
              <a:ext uri="{FF2B5EF4-FFF2-40B4-BE49-F238E27FC236}">
                <a16:creationId xmlns:a16="http://schemas.microsoft.com/office/drawing/2014/main" id="{E9D98FD9-23F9-4849-8ABD-4B3194E83D3E}"/>
              </a:ext>
            </a:extLst>
          </p:cNvPr>
          <p:cNvSpPr/>
          <p:nvPr/>
        </p:nvSpPr>
        <p:spPr>
          <a:xfrm>
            <a:off x="7020351" y="4291157"/>
            <a:ext cx="1950929" cy="429264"/>
          </a:xfrm>
          <a:prstGeom prst="round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D960B0CF-F4D4-4B1F-B9B3-B3A5012EF2CC}"/>
              </a:ext>
            </a:extLst>
          </p:cNvPr>
          <p:cNvSpPr/>
          <p:nvPr/>
        </p:nvSpPr>
        <p:spPr>
          <a:xfrm>
            <a:off x="8575040" y="3361767"/>
            <a:ext cx="2174466" cy="1571958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A1D04B1-561C-427F-A69C-418146F033E1}"/>
              </a:ext>
            </a:extLst>
          </p:cNvPr>
          <p:cNvSpPr/>
          <p:nvPr/>
        </p:nvSpPr>
        <p:spPr>
          <a:xfrm>
            <a:off x="3017976" y="1740328"/>
            <a:ext cx="2646983" cy="2646982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DF01370-10EF-410F-8B87-ACE304D75D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37235" y="2786976"/>
            <a:ext cx="191688" cy="19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28046FA-F4E0-4BA1-A2BB-1ED170AF322F}"/>
              </a:ext>
            </a:extLst>
          </p:cNvPr>
          <p:cNvSpPr/>
          <p:nvPr/>
        </p:nvSpPr>
        <p:spPr>
          <a:xfrm>
            <a:off x="2384541" y="1036899"/>
            <a:ext cx="485609" cy="485609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1A08D04-3124-48C1-9669-36C1BEC47014}"/>
              </a:ext>
            </a:extLst>
          </p:cNvPr>
          <p:cNvSpPr/>
          <p:nvPr/>
        </p:nvSpPr>
        <p:spPr>
          <a:xfrm>
            <a:off x="1174801" y="5311792"/>
            <a:ext cx="715415" cy="715415"/>
          </a:xfrm>
          <a:prstGeom prst="roundRect">
            <a:avLst/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C94711A-F1EC-48D3-B3D5-1CC00A21989F}"/>
              </a:ext>
            </a:extLst>
          </p:cNvPr>
          <p:cNvSpPr/>
          <p:nvPr/>
        </p:nvSpPr>
        <p:spPr>
          <a:xfrm>
            <a:off x="3453107" y="836166"/>
            <a:ext cx="715415" cy="715415"/>
          </a:xfrm>
          <a:prstGeom prst="roundRect">
            <a:avLst>
              <a:gd name="adj" fmla="val 17797"/>
            </a:avLst>
          </a:prstGeom>
          <a:noFill/>
          <a:ln w="19050">
            <a:solidFill>
              <a:srgbClr val="C5C5C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8E04C6A-65BD-4DAA-9677-E9B4128E044B}"/>
              </a:ext>
            </a:extLst>
          </p:cNvPr>
          <p:cNvSpPr/>
          <p:nvPr/>
        </p:nvSpPr>
        <p:spPr>
          <a:xfrm>
            <a:off x="3479328" y="2184231"/>
            <a:ext cx="5006086" cy="2203079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722EF1-500F-4A6B-B673-277906A77619}"/>
              </a:ext>
            </a:extLst>
          </p:cNvPr>
          <p:cNvSpPr txBox="1"/>
          <p:nvPr/>
        </p:nvSpPr>
        <p:spPr>
          <a:xfrm>
            <a:off x="4410259" y="2777938"/>
            <a:ext cx="33714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dirty="0">
                <a:solidFill>
                  <a:schemeClr val="bg1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THANKS</a:t>
            </a:r>
            <a:r>
              <a:rPr lang="en-US" altLang="zh-CN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 </a:t>
            </a:r>
            <a:r>
              <a:rPr lang="zh-CN" altLang="en-US" sz="6000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358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from x="700000" y="7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1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  <p:bldP spid="7" grpId="0" animBg="1"/>
      <p:bldP spid="4" grpId="0" animBg="1"/>
      <p:bldP spid="6" grpId="0" animBg="1"/>
      <p:bldP spid="8" grpId="0" animBg="1"/>
      <p:bldP spid="15" grpId="0" animBg="1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ne&quot;,&quot;Name&quot;:&quot;无&quot;,&quot;HeaderHeight&quot;:0.0,&quot;FooterHeight&quot;:0.0,&quot;SideMargin&quot;:0.0,&quot;TopMargin&quot;:0.0,&quot;BottomMargin&quot;:0.0,&quot;IntervalMargin&quot;:0.0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1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4152</TotalTime>
  <Words>654</Words>
  <Application>Microsoft Office PowerPoint</Application>
  <PresentationFormat>宽屏</PresentationFormat>
  <Paragraphs>90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KaTeX_Math</vt:lpstr>
      <vt:lpstr>等线</vt:lpstr>
      <vt:lpstr>等线 Light</vt:lpstr>
      <vt:lpstr>华文细黑</vt:lpstr>
      <vt:lpstr>思源黑体 CN Bold</vt:lpstr>
      <vt:lpstr>微软雅黑</vt:lpstr>
      <vt:lpstr>幼圆</vt:lpstr>
      <vt:lpstr>Arial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雪 雷</dc:creator>
  <cp:lastModifiedBy>健文 姚</cp:lastModifiedBy>
  <cp:revision>124</cp:revision>
  <dcterms:created xsi:type="dcterms:W3CDTF">2021-08-22T12:17:40Z</dcterms:created>
  <dcterms:modified xsi:type="dcterms:W3CDTF">2025-05-17T09:09:24Z</dcterms:modified>
</cp:coreProperties>
</file>