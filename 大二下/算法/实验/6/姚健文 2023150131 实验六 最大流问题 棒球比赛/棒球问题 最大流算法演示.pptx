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62" r:id="rId4"/>
    <p:sldId id="264" r:id="rId5"/>
    <p:sldId id="325" r:id="rId6"/>
    <p:sldId id="283" r:id="rId7"/>
    <p:sldId id="270" r:id="rId8"/>
    <p:sldId id="284" r:id="rId9"/>
    <p:sldId id="305" r:id="rId10"/>
    <p:sldId id="326" r:id="rId11"/>
    <p:sldId id="278" r:id="rId12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orient="horz" pos="368" userDrawn="1">
          <p15:clr>
            <a:srgbClr val="A4A3A4"/>
          </p15:clr>
        </p15:guide>
        <p15:guide id="4" pos="71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5C5"/>
    <a:srgbClr val="3B3838"/>
    <a:srgbClr val="767171"/>
    <a:srgbClr val="757575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3" y="462"/>
      </p:cViewPr>
      <p:guideLst>
        <p:guide orient="horz" pos="3974"/>
        <p:guide pos="551"/>
        <p:guide orient="horz" pos="368"/>
        <p:guide pos="71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57E82-C2C1-4F89-A614-C4BF84446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892212-D1D2-4303-8944-206AEFAF1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5212F6-9A48-430B-B9E6-DA670644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AC504E-755D-4F5F-A884-BCD4DD19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E828B0-4B30-4BA2-8ADB-B8F59D36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99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457CA-DDE9-4F9F-8273-0E0264B5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85EA8C-57D9-4581-8DE3-0E42DC10E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E55DC0-E036-4261-9731-D22858714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6E2335-EF40-4FDC-A0F9-F3A875F0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DA12CF-3869-4629-8613-E2D21DCB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19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E2813-ECDC-4E85-AA4B-AC247737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54F65D-F5F8-4A34-AFE8-94231E31D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9CA55C-516B-449E-9F4A-214010C9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22D9D-E873-400F-A805-E8C9BB7A8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1D8B4E-FD17-4313-BFCF-F96BCB1E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34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3533C-DA66-4D35-8252-1936C80E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8758ED-7231-43C7-9BE1-F52C077C1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4871AB-4676-4339-9698-3C1C0946D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BF8AD7-435F-4016-87F8-CA2CDD9B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7EFFF-B774-47BE-8EAC-075B844B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DAA445-F7D1-4322-A39A-F748A388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721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F8ACA-0C6F-4585-BBFC-67DC1AFD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B355CF-E8C9-4F66-B7BE-AF659A2FD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D3FC60-5F48-4478-B38E-E0B42323C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6BC4FC-6846-4C6E-B5E1-5E4ED19F1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FDE226-0E96-4C39-96A0-7769CF969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FF6DC1-ECBC-4285-9059-340DE2CC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42EF3A-76A6-4A93-9250-C4ED8728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702E4D-3D66-47A5-A76F-38B0D8B9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29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83F67-3EC5-41B9-AD61-409CB3DBC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73DD6F-A3B3-40E3-8D4B-902B4EB2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B60495-4166-438A-AA08-3DFF56EF2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FC8C80-8154-4157-9CFB-8CA216A8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110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41F186-51F5-45E8-925B-6658F8A5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D2ECC3-C525-4A07-85E1-4E1F647D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334DF1-DD41-42A6-9B05-0BFE1773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22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9250C-2EE3-445E-9712-10B97540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B04AB1-6D3A-4BE8-B8B5-21A79ABC8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42F583-4BA2-4767-B73E-07B95F6A4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73520B-4AC8-4F8D-882F-32A6DD94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CA0CDF-248C-44A0-A591-5A05DE3B5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AEAC46-2DE2-47DA-8813-3C9BA8EA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00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B3301-B061-4373-9F59-0EC727BE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5669B0-DD46-493F-9454-F44F08213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C1D14F-4F0C-4201-8D61-5C840BBF6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DD7F5E-01FC-4819-8C56-D266420F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B5C8EA-E3E6-490E-9D6B-3984C960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488420-C912-41CE-AE9C-1CBF33ED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92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ECCF2-208E-4FBA-AE00-B0A5FD508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4E9D07-D1CC-4710-9907-A01DE658B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09FB46-4707-4650-AF22-2B340970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6DC8CF-D042-4A60-BA6B-A0236402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EC390D-ECD5-4BA9-8119-03A79C78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06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C6E7E2-4753-49A0-8B5B-4BD8A505D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5B3755-B931-424B-A541-5425C7B5F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BB126F-56CE-470F-9512-76CD4C77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74AF32-60DB-438A-8513-3D49FB21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D1D76D-0183-419D-9803-7E9B71857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54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7438AF-4DE6-4664-AA9B-01800912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5168E7-0D07-40EE-A925-11F73CC3B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6C523-D268-4347-8EC0-C672D7854F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4C87E-67D7-4747-B03D-6F045E1AC05D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5BFEE9-6C9A-4DC8-8CAE-7B9476393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1A4AE2-3345-48D3-BA37-72E0F9E53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84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slideLayout" Target="../slideLayouts/slideLayout7.xml"/><Relationship Id="rId3" Type="http://schemas.openxmlformats.org/officeDocument/2006/relationships/tags" Target="../tags/tag14.xml"/><Relationship Id="rId21" Type="http://schemas.openxmlformats.org/officeDocument/2006/relationships/tags" Target="../tags/tag32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" Type="http://schemas.openxmlformats.org/officeDocument/2006/relationships/tags" Target="../tags/tag3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tags" Target="../tags/tag56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3" Type="http://schemas.openxmlformats.org/officeDocument/2006/relationships/tags" Target="../tags/tag5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0" Type="http://schemas.openxmlformats.org/officeDocument/2006/relationships/tags" Target="../tags/tag76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10" Type="http://schemas.openxmlformats.org/officeDocument/2006/relationships/tags" Target="../tags/tag66.xml"/><Relationship Id="rId19" Type="http://schemas.openxmlformats.org/officeDocument/2006/relationships/tags" Target="../tags/tag75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tags" Target="../tags/tag89.xml"/><Relationship Id="rId18" Type="http://schemas.openxmlformats.org/officeDocument/2006/relationships/tags" Target="../tags/tag94.xml"/><Relationship Id="rId3" Type="http://schemas.openxmlformats.org/officeDocument/2006/relationships/tags" Target="../tags/tag7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17" Type="http://schemas.openxmlformats.org/officeDocument/2006/relationships/tags" Target="../tags/tag93.xml"/><Relationship Id="rId2" Type="http://schemas.openxmlformats.org/officeDocument/2006/relationships/tags" Target="../tags/tag78.xml"/><Relationship Id="rId16" Type="http://schemas.openxmlformats.org/officeDocument/2006/relationships/tags" Target="../tags/tag92.xml"/><Relationship Id="rId20" Type="http://schemas.openxmlformats.org/officeDocument/2006/relationships/tags" Target="../tags/tag96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5" Type="http://schemas.openxmlformats.org/officeDocument/2006/relationships/tags" Target="../tags/tag81.xml"/><Relationship Id="rId15" Type="http://schemas.openxmlformats.org/officeDocument/2006/relationships/tags" Target="../tags/tag91.xml"/><Relationship Id="rId10" Type="http://schemas.openxmlformats.org/officeDocument/2006/relationships/tags" Target="../tags/tag86.xml"/><Relationship Id="rId19" Type="http://schemas.openxmlformats.org/officeDocument/2006/relationships/tags" Target="../tags/tag95.xml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tags" Target="../tags/tag9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-圆角矩形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890216" y="1750488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PA-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837235" y="2786976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PA-圆角矩形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84541" y="1036899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A-圆角矩形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174801" y="531179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A-圆角矩形 7">
            <a:extLst>
              <a:ext uri="{FF2B5EF4-FFF2-40B4-BE49-F238E27FC236}">
                <a16:creationId xmlns:a16="http://schemas.microsoft.com/office/drawing/2014/main" id="{4C94711A-F1EC-48D3-B3D5-1CC00A21989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PA-圆角矩形 17">
            <a:extLst>
              <a:ext uri="{FF2B5EF4-FFF2-40B4-BE49-F238E27FC236}">
                <a16:creationId xmlns:a16="http://schemas.microsoft.com/office/drawing/2014/main" id="{31AF2055-48A7-4C54-A11C-925E241CAAA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384541" y="2442758"/>
            <a:ext cx="7120563" cy="2109744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A-文本框 13">
            <a:extLst>
              <a:ext uri="{FF2B5EF4-FFF2-40B4-BE49-F238E27FC236}">
                <a16:creationId xmlns:a16="http://schemas.microsoft.com/office/drawing/2014/main" id="{73722EF1-500F-4A6B-B673-277906A7761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057816" y="2613510"/>
            <a:ext cx="63409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棒球问题 </a:t>
            </a:r>
            <a:endParaRPr lang="en-US" altLang="zh-CN" sz="6000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最大流算法演示</a:t>
            </a:r>
          </a:p>
        </p:txBody>
      </p:sp>
      <p:sp>
        <p:nvSpPr>
          <p:cNvPr id="9" name="PA-圆角矩形 8">
            <a:extLst>
              <a:ext uri="{FF2B5EF4-FFF2-40B4-BE49-F238E27FC236}">
                <a16:creationId xmlns:a16="http://schemas.microsoft.com/office/drawing/2014/main" id="{E9D98FD9-23F9-4849-8ABD-4B3194E83D3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690166" y="4270737"/>
            <a:ext cx="2407535" cy="529731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PA-圆角矩形 18">
            <a:extLst>
              <a:ext uri="{FF2B5EF4-FFF2-40B4-BE49-F238E27FC236}">
                <a16:creationId xmlns:a16="http://schemas.microsoft.com/office/drawing/2014/main" id="{D960B0CF-F4D4-4B1F-B9B3-B3A5012EF2C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381243" y="3691758"/>
            <a:ext cx="2918378" cy="2109744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PA-文本框 13">
            <a:extLst>
              <a:ext uri="{FF2B5EF4-FFF2-40B4-BE49-F238E27FC236}">
                <a16:creationId xmlns:a16="http://schemas.microsoft.com/office/drawing/2014/main" id="{C682BAAE-DB0F-4A29-989A-BF7F78B4B45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627345" y="2622284"/>
            <a:ext cx="1771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en-US" altLang="zh-CN" sz="6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sz="6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60C63D-1517-3098-692F-1E4F4A200C19}"/>
              </a:ext>
            </a:extLst>
          </p:cNvPr>
          <p:cNvSpPr txBox="1"/>
          <p:nvPr/>
        </p:nvSpPr>
        <p:spPr>
          <a:xfrm>
            <a:off x="8589818" y="4885129"/>
            <a:ext cx="2651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报告人：姚健文</a:t>
            </a:r>
            <a:endParaRPr lang="en-US" altLang="zh-CN" sz="2400" dirty="0"/>
          </a:p>
          <a:p>
            <a:r>
              <a:rPr lang="en-US" altLang="zh-CN" sz="2400" dirty="0"/>
              <a:t>2023150131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9234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4" grpId="0" animBg="1"/>
      <p:bldP spid="4" grpId="1" animBg="1"/>
      <p:bldP spid="6" grpId="0" animBg="1"/>
      <p:bldP spid="6" grpId="1" animBg="1"/>
      <p:bldP spid="8" grpId="0" animBg="1"/>
      <p:bldP spid="8" grpId="1" animBg="1"/>
      <p:bldP spid="18" grpId="0" animBg="1"/>
      <p:bldP spid="18" grpId="1" animBg="1"/>
      <p:bldP spid="14" grpId="0"/>
      <p:bldP spid="14" grpId="1"/>
      <p:bldP spid="9" grpId="0" animBg="1"/>
      <p:bldP spid="9" grpId="1" animBg="1"/>
      <p:bldP spid="19" grpId="0" animBg="1"/>
      <p:bldP spid="19" grpId="1" animBg="1"/>
      <p:bldP spid="13" grpId="0"/>
      <p:bldP spid="1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A-圆角矩形 51">
            <a:extLst>
              <a:ext uri="{FF2B5EF4-FFF2-40B4-BE49-F238E27FC236}">
                <a16:creationId xmlns:a16="http://schemas.microsoft.com/office/drawing/2014/main" id="{6612C7AD-C5D0-4CE0-8366-4DA07510C2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8" name="PA-圆角矩形 51">
            <a:extLst>
              <a:ext uri="{FF2B5EF4-FFF2-40B4-BE49-F238E27FC236}">
                <a16:creationId xmlns:a16="http://schemas.microsoft.com/office/drawing/2014/main" id="{F99DF15F-AE84-43B1-BD9B-F3B6601555A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5" name="PA-圆角矩形 51">
            <a:extLst>
              <a:ext uri="{FF2B5EF4-FFF2-40B4-BE49-F238E27FC236}">
                <a16:creationId xmlns:a16="http://schemas.microsoft.com/office/drawing/2014/main" id="{AB33F4EF-52AF-40CF-A1FA-03C32EFBBCB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PA-圆角矩形 51">
            <a:extLst>
              <a:ext uri="{FF2B5EF4-FFF2-40B4-BE49-F238E27FC236}">
                <a16:creationId xmlns:a16="http://schemas.microsoft.com/office/drawing/2014/main" id="{350BC068-2A10-4088-8935-4FEDC5F9149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PA-圆角矩形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890216" y="1981983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" name="PA-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837235" y="3018471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PA-圆角矩形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384541" y="1268394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" name="PA-圆角矩形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174801" y="482787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5" name="PA-圆角矩形 14">
            <a:extLst>
              <a:ext uri="{FF2B5EF4-FFF2-40B4-BE49-F238E27FC236}">
                <a16:creationId xmlns:a16="http://schemas.microsoft.com/office/drawing/2014/main" id="{28E04C6A-65BD-4DAA-9677-E9B4128E044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350873" y="2425886"/>
            <a:ext cx="2203079" cy="220307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PA-文本框 26">
            <a:extLst>
              <a:ext uri="{FF2B5EF4-FFF2-40B4-BE49-F238E27FC236}">
                <a16:creationId xmlns:a16="http://schemas.microsoft.com/office/drawing/2014/main" id="{39FDEDFC-605C-409F-A432-538EB1677F5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575804" y="3721547"/>
            <a:ext cx="1836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PA-文本框 27">
            <a:extLst>
              <a:ext uri="{FF2B5EF4-FFF2-40B4-BE49-F238E27FC236}">
                <a16:creationId xmlns:a16="http://schemas.microsoft.com/office/drawing/2014/main" id="{DC0F587A-857A-49B1-A2AD-1305FB5B0DE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2661532" y="2875344"/>
            <a:ext cx="16690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2800" b="1" dirty="0">
                <a:solidFill>
                  <a:schemeClr val="bg1"/>
                </a:solidFill>
              </a:rPr>
              <a:t> 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PA-圆角矩形 50">
            <a:extLst>
              <a:ext uri="{FF2B5EF4-FFF2-40B4-BE49-F238E27FC236}">
                <a16:creationId xmlns:a16="http://schemas.microsoft.com/office/drawing/2014/main" id="{CC36E74B-BA9D-453F-9CBC-559876C1A7D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881136" y="2047938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6" name="PA-圆角矩形 45">
            <a:extLst>
              <a:ext uri="{FF2B5EF4-FFF2-40B4-BE49-F238E27FC236}">
                <a16:creationId xmlns:a16="http://schemas.microsoft.com/office/drawing/2014/main" id="{604D31D0-F1BA-4DF8-80F9-516545242D58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881136" y="3452548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4" name="PA-圆角矩形 53">
            <a:extLst>
              <a:ext uri="{FF2B5EF4-FFF2-40B4-BE49-F238E27FC236}">
                <a16:creationId xmlns:a16="http://schemas.microsoft.com/office/drawing/2014/main" id="{31B1E93E-7865-4E80-A7FB-230B440DBF97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918980" y="4974465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8" name="PA-圆角矩形 67">
            <a:extLst>
              <a:ext uri="{FF2B5EF4-FFF2-40B4-BE49-F238E27FC236}">
                <a16:creationId xmlns:a16="http://schemas.microsoft.com/office/drawing/2014/main" id="{449A29ED-6222-4DCF-B5F1-3362F101C623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3" name="PA-圆角矩形 72">
            <a:extLst>
              <a:ext uri="{FF2B5EF4-FFF2-40B4-BE49-F238E27FC236}">
                <a16:creationId xmlns:a16="http://schemas.microsoft.com/office/drawing/2014/main" id="{B2BA17DA-5BBE-4519-99A1-D2733FB864D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8380983" y="6572911"/>
            <a:ext cx="2407535" cy="529731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3" name="PA-组合 2">
            <a:extLst>
              <a:ext uri="{FF2B5EF4-FFF2-40B4-BE49-F238E27FC236}">
                <a16:creationId xmlns:a16="http://schemas.microsoft.com/office/drawing/2014/main" id="{7CF0D2C0-559A-44D5-84C5-966B08B3852C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6870579" y="1551581"/>
            <a:ext cx="3761671" cy="730157"/>
            <a:chOff x="6898350" y="739354"/>
            <a:chExt cx="2550535" cy="730157"/>
          </a:xfrm>
        </p:grpSpPr>
        <p:sp>
          <p:nvSpPr>
            <p:cNvPr id="53" name="PA-标题 1">
              <a:extLst>
                <a:ext uri="{FF2B5EF4-FFF2-40B4-BE49-F238E27FC236}">
                  <a16:creationId xmlns:a16="http://schemas.microsoft.com/office/drawing/2014/main" id="{0D8DCF9B-7B1F-4CA7-9151-00760C2CE454}"/>
                </a:ext>
              </a:extLst>
            </p:cNvPr>
            <p:cNvSpPr txBox="1">
              <a:spLocks/>
            </p:cNvSpPr>
            <p:nvPr>
              <p:custDataLst>
                <p:tags r:id="rId24"/>
              </p:custDataLst>
            </p:nvPr>
          </p:nvSpPr>
          <p:spPr>
            <a:xfrm>
              <a:off x="6898350" y="739354"/>
              <a:ext cx="916405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1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4" name="PA-标题 1">
              <a:extLst>
                <a:ext uri="{FF2B5EF4-FFF2-40B4-BE49-F238E27FC236}">
                  <a16:creationId xmlns:a16="http://schemas.microsoft.com/office/drawing/2014/main" id="{F4F6C1D8-3708-4B37-B3EB-B3B1151A48C3}"/>
                </a:ext>
              </a:extLst>
            </p:cNvPr>
            <p:cNvSpPr txBox="1">
              <a:spLocks/>
            </p:cNvSpPr>
            <p:nvPr>
              <p:custDataLst>
                <p:tags r:id="rId25"/>
              </p:custDataLst>
            </p:nvPr>
          </p:nvSpPr>
          <p:spPr>
            <a:xfrm>
              <a:off x="7726515" y="879202"/>
              <a:ext cx="172237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FF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法与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EK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PA-组合 4">
            <a:extLst>
              <a:ext uri="{FF2B5EF4-FFF2-40B4-BE49-F238E27FC236}">
                <a16:creationId xmlns:a16="http://schemas.microsoft.com/office/drawing/2014/main" id="{FC62D572-985F-499F-8ED0-FA5CD0799C6A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6881137" y="2955684"/>
            <a:ext cx="3751114" cy="676479"/>
            <a:chOff x="6881136" y="2147194"/>
            <a:chExt cx="2543377" cy="676479"/>
          </a:xfrm>
        </p:grpSpPr>
        <p:sp>
          <p:nvSpPr>
            <p:cNvPr id="37" name="PA-标题 1">
              <a:extLst>
                <a:ext uri="{FF2B5EF4-FFF2-40B4-BE49-F238E27FC236}">
                  <a16:creationId xmlns:a16="http://schemas.microsoft.com/office/drawing/2014/main" id="{352B812F-DC70-4CAF-85A9-A94D03B9D59F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6881136" y="2147194"/>
              <a:ext cx="916406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2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5" name="PA-标题 1">
              <a:extLst>
                <a:ext uri="{FF2B5EF4-FFF2-40B4-BE49-F238E27FC236}">
                  <a16:creationId xmlns:a16="http://schemas.microsoft.com/office/drawing/2014/main" id="{164ADDDA-31CA-4B08-9B4C-94633CB9E8F9}"/>
                </a:ext>
              </a:extLst>
            </p:cNvPr>
            <p:cNvSpPr txBox="1">
              <a:spLocks/>
            </p:cNvSpPr>
            <p:nvPr>
              <p:custDataLst>
                <p:tags r:id="rId23"/>
              </p:custDataLst>
            </p:nvPr>
          </p:nvSpPr>
          <p:spPr>
            <a:xfrm>
              <a:off x="7702143" y="2233364"/>
              <a:ext cx="172237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Dinic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算法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PA-组合 7">
            <a:extLst>
              <a:ext uri="{FF2B5EF4-FFF2-40B4-BE49-F238E27FC236}">
                <a16:creationId xmlns:a16="http://schemas.microsoft.com/office/drawing/2014/main" id="{68AC6118-D5CF-4122-8609-96262D3D7DEB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6908424" y="4478108"/>
            <a:ext cx="3258835" cy="707471"/>
            <a:chOff x="6962718" y="3687258"/>
            <a:chExt cx="2209596" cy="707471"/>
          </a:xfrm>
        </p:grpSpPr>
        <p:sp>
          <p:nvSpPr>
            <p:cNvPr id="56" name="PA-标题 1">
              <a:extLst>
                <a:ext uri="{FF2B5EF4-FFF2-40B4-BE49-F238E27FC236}">
                  <a16:creationId xmlns:a16="http://schemas.microsoft.com/office/drawing/2014/main" id="{514CB1B8-99E4-49C8-92D8-BE392A72B719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6962718" y="3687258"/>
              <a:ext cx="916405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3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6" name="PA-标题 1">
              <a:extLst>
                <a:ext uri="{FF2B5EF4-FFF2-40B4-BE49-F238E27FC236}">
                  <a16:creationId xmlns:a16="http://schemas.microsoft.com/office/drawing/2014/main" id="{D1A0F2D1-8073-4ABF-BDC9-774823509ADB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7765224" y="3804420"/>
              <a:ext cx="140709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数据分析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705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7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8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1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12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5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16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9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0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23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4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27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8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53" presetClass="entr" presetSubtype="16" fill="hold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4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086 -0.34491 " pathEditMode="relative" rAng="0" ptsTypes="AA">
                                          <p:cBhvr>
                                            <p:cTn id="51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36" y="-1724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4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5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7487 -0.13472 " pathEditMode="relative" rAng="0" ptsTypes="AA">
                                          <p:cBhvr>
                                            <p:cTn id="56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737" y="-67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7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0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164 0.09005 " pathEditMode="relative" rAng="0" ptsTypes="AA">
                                          <p:cBhvr>
                                            <p:cTn id="61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76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2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4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269 0.28912 " pathEditMode="relative" rAng="0" ptsTypes="AA">
                                          <p:cBhvr>
                                            <p:cTn id="66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128" y="1444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5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2" presetClass="entr" presetSubtype="1" fill="hold" nodeType="withEffect" p14:presetBounceEnd="60000">
                                      <p:stCondLst>
                                        <p:cond delay="288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79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2" presetClass="entr" presetSubtype="1" fill="hold" nodeType="withEffect" p14:presetBounceEnd="60000">
                                      <p:stCondLst>
                                        <p:cond delay="33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8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4" presetID="2" presetClass="entr" presetSubtype="1" fill="hold" nodeType="withEffect" p14:presetBounceEnd="60000">
                                      <p:stCondLst>
                                        <p:cond delay="388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86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7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animBg="1"/>
          <p:bldP spid="49" grpId="1" animBg="1"/>
          <p:bldP spid="49" grpId="2" animBg="1"/>
          <p:bldP spid="48" grpId="0" animBg="1"/>
          <p:bldP spid="48" grpId="1" animBg="1"/>
          <p:bldP spid="48" grpId="2" animBg="1"/>
          <p:bldP spid="45" grpId="0" animBg="1"/>
          <p:bldP spid="45" grpId="1" animBg="1"/>
          <p:bldP spid="45" grpId="2" animBg="1"/>
          <p:bldP spid="43" grpId="0" animBg="1"/>
          <p:bldP spid="43" grpId="1" animBg="1"/>
          <p:bldP spid="43" grpId="2" animBg="1"/>
          <p:bldP spid="7" grpId="0" animBg="1"/>
          <p:bldP spid="4" grpId="0" animBg="1"/>
          <p:bldP spid="6" grpId="0" animBg="1"/>
          <p:bldP spid="15" grpId="0" animBg="1"/>
          <p:bldP spid="27" grpId="0"/>
          <p:bldP spid="51" grpId="0" animBg="1"/>
          <p:bldP spid="46" grpId="0" animBg="1"/>
          <p:bldP spid="54" grpId="0" animBg="1"/>
          <p:bldP spid="68" grpId="0" animBg="1"/>
          <p:bldP spid="7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1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3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4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086 -0.34491 " pathEditMode="relative" rAng="0" ptsTypes="AA">
                                          <p:cBhvr>
                                            <p:cTn id="55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36" y="-1724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6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8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9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7487 -0.13472 " pathEditMode="relative" rAng="0" ptsTypes="AA">
                                          <p:cBhvr>
                                            <p:cTn id="60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737" y="-67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1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3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4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164 0.09005 " pathEditMode="relative" rAng="0" ptsTypes="AA">
                                          <p:cBhvr>
                                            <p:cTn id="65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76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6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8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269 0.28912 " pathEditMode="relative" rAng="0" ptsTypes="AA">
                                          <p:cBhvr>
                                            <p:cTn id="7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128" y="1444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1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2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2" presetClass="entr" presetSubtype="1" fill="hold" nodeType="withEffect">
                                      <p:stCondLst>
                                        <p:cond delay="288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7" presetID="2" presetClass="entr" presetSubtype="1" fill="hold" nodeType="withEffect">
                                      <p:stCondLst>
                                        <p:cond delay="338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9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0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1" presetID="2" presetClass="entr" presetSubtype="1" fill="hold" nodeType="withEffect">
                                      <p:stCondLst>
                                        <p:cond delay="388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3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" presetClass="entr" presetSubtype="1" fill="hold" nodeType="withEffect">
                                      <p:stCondLst>
                                        <p:cond delay="438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animBg="1"/>
          <p:bldP spid="49" grpId="1" animBg="1"/>
          <p:bldP spid="49" grpId="2" animBg="1"/>
          <p:bldP spid="48" grpId="0" animBg="1"/>
          <p:bldP spid="48" grpId="1" animBg="1"/>
          <p:bldP spid="48" grpId="2" animBg="1"/>
          <p:bldP spid="45" grpId="0" animBg="1"/>
          <p:bldP spid="45" grpId="1" animBg="1"/>
          <p:bldP spid="45" grpId="2" animBg="1"/>
          <p:bldP spid="43" grpId="0" animBg="1"/>
          <p:bldP spid="43" grpId="1" animBg="1"/>
          <p:bldP spid="43" grpId="2" animBg="1"/>
          <p:bldP spid="7" grpId="0" animBg="1"/>
          <p:bldP spid="4" grpId="0" animBg="1"/>
          <p:bldP spid="6" grpId="0" animBg="1"/>
          <p:bldP spid="15" grpId="0" animBg="1"/>
          <p:bldP spid="27" grpId="0"/>
          <p:bldP spid="51" grpId="0" animBg="1"/>
          <p:bldP spid="46" grpId="0" animBg="1"/>
          <p:bldP spid="54" grpId="0" animBg="1"/>
          <p:bldP spid="57" grpId="0" animBg="1"/>
          <p:bldP spid="68" grpId="0" animBg="1"/>
          <p:bldP spid="73" grpId="0" animBg="1"/>
          <p:bldP spid="74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898397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483416" y="2240791"/>
            <a:ext cx="1225168" cy="789201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endParaRPr lang="en-US" sz="138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747074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FF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法与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EK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70262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6CF72A71-887C-4846-A632-9C33C464B760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D368C49-5B4D-4B14-B48F-54229B32341E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2B6853D3-0C18-40C4-B998-068CD0F08D11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CBD1426E-1655-4623-BB5D-DE7D5EFAFAD7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34C670D-D6C4-418C-A0A8-9E167BB6B53C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FF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法与</a:t>
              </a:r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EK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F13F29D-C1E4-41D5-8781-6AFFF0B4A664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6C713E0-DDB0-4F9D-966F-3974E86CE85C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EC253FD-0E05-427F-8356-40EBF0BCF482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847590D7-792E-32AF-C578-822E3B2A6195}"/>
              </a:ext>
            </a:extLst>
          </p:cNvPr>
          <p:cNvSpPr txBox="1"/>
          <p:nvPr/>
        </p:nvSpPr>
        <p:spPr>
          <a:xfrm>
            <a:off x="1052187" y="1320800"/>
            <a:ext cx="41294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算法思想：</a:t>
            </a:r>
            <a:endParaRPr lang="en-US" altLang="zh-CN" dirty="0"/>
          </a:p>
          <a:p>
            <a:r>
              <a:rPr lang="zh-CN" altLang="en-US" dirty="0"/>
              <a:t>对于每一条队伍，建立一个源点，表示其他队伍剩余的比赛数，建立一个汇点，表示在完成最大流计算后能分配的比赛数。将源点与比赛点相连，将比赛点与</a:t>
            </a:r>
            <a:r>
              <a:rPr lang="en-US" altLang="zh-CN" dirty="0"/>
              <a:t>2</a:t>
            </a:r>
            <a:r>
              <a:rPr lang="zh-CN" altLang="en-US" dirty="0"/>
              <a:t>支队伍相连，表示胜场的流向，最后连到汇点，通过计算最大流就可以得出能分配的胜场，进而判断是否淘汰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EA1155-71DE-9EFB-E4B0-061D3DC30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723" y="4175352"/>
            <a:ext cx="6634157" cy="176824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61658ED-C2AB-9EE8-8D97-581598B99EFC}"/>
              </a:ext>
            </a:extLst>
          </p:cNvPr>
          <p:cNvSpPr txBox="1"/>
          <p:nvPr/>
        </p:nvSpPr>
        <p:spPr>
          <a:xfrm>
            <a:off x="6026959" y="1320800"/>
            <a:ext cx="41294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对于边的容量，从源点出发的代表两队间的剩余场数，中间的二分图权值为无穷（因为没有限制），流向汇点的容量为该边的队伍最大能获胜场数（指不会让正在判断的队伍落败的情况）</a:t>
            </a:r>
          </a:p>
        </p:txBody>
      </p:sp>
    </p:spTree>
    <p:extLst>
      <p:ext uri="{BB962C8B-B14F-4D97-AF65-F5344CB8AC3E}">
        <p14:creationId xmlns:p14="http://schemas.microsoft.com/office/powerpoint/2010/main" val="125308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2B6C8-3B88-21F9-E6F1-9F464EAE3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3DABCDC4-4A8A-9EC6-0B2B-6F3E2F7C5FAE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27D72D6C-07E0-2F95-395A-7EE281DE1308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3A019449-E2F8-04A9-1EA8-E726A6604217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B6A78AAC-659C-784C-8BDD-25F0D2B4A525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BE5A06F-D860-7123-C178-F11B6270924F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FF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法与</a:t>
              </a:r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EK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73DA237-5F71-5606-07DA-4305575851FE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50C320C4-2672-B60B-85C1-48C96A88C7D7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6558D7E4-B18C-B4CB-FDD9-43183CB8F6A4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C7ED34D7-561D-B6B2-520B-ACCEDDCFD3BA}"/>
              </a:ext>
            </a:extLst>
          </p:cNvPr>
          <p:cNvSpPr txBox="1"/>
          <p:nvPr/>
        </p:nvSpPr>
        <p:spPr>
          <a:xfrm>
            <a:off x="1158168" y="2042573"/>
            <a:ext cx="4129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FF</a:t>
            </a:r>
            <a:r>
              <a:rPr lang="zh-CN" altLang="en-US" dirty="0"/>
              <a:t>思想：</a:t>
            </a:r>
            <a:endParaRPr lang="en-US" altLang="zh-CN" dirty="0"/>
          </a:p>
          <a:p>
            <a:r>
              <a:rPr lang="zh-CN" altLang="en-US" dirty="0"/>
              <a:t>在寻找增广路径时使用</a:t>
            </a:r>
            <a:r>
              <a:rPr lang="en-US" altLang="zh-CN" dirty="0" err="1"/>
              <a:t>dfs</a:t>
            </a:r>
            <a:r>
              <a:rPr lang="zh-CN" altLang="en-US" dirty="0"/>
              <a:t>搜索</a:t>
            </a:r>
            <a:endParaRPr lang="en-US" altLang="zh-CN" dirty="0"/>
          </a:p>
          <a:p>
            <a:r>
              <a:rPr lang="zh-CN" altLang="en-US" dirty="0"/>
              <a:t>可能搜索深度过深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D2B969-079E-6D21-5D14-FE14B01CAAF4}"/>
              </a:ext>
            </a:extLst>
          </p:cNvPr>
          <p:cNvSpPr txBox="1"/>
          <p:nvPr/>
        </p:nvSpPr>
        <p:spPr>
          <a:xfrm>
            <a:off x="1177339" y="4093429"/>
            <a:ext cx="4129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EK</a:t>
            </a:r>
            <a:r>
              <a:rPr lang="zh-CN" altLang="en-US" dirty="0"/>
              <a:t>思想：</a:t>
            </a:r>
            <a:endParaRPr lang="en-US" altLang="zh-CN" dirty="0"/>
          </a:p>
          <a:p>
            <a:r>
              <a:rPr lang="zh-CN" altLang="en-US" dirty="0"/>
              <a:t>在寻找增广路径时使用</a:t>
            </a:r>
            <a:r>
              <a:rPr lang="en-US" altLang="zh-CN" dirty="0" err="1"/>
              <a:t>bfs</a:t>
            </a:r>
            <a:r>
              <a:rPr lang="zh-CN" altLang="en-US" dirty="0"/>
              <a:t>搜索</a:t>
            </a:r>
            <a:endParaRPr lang="en-US" altLang="zh-CN" dirty="0"/>
          </a:p>
          <a:p>
            <a:r>
              <a:rPr lang="zh-CN" altLang="en-US" dirty="0"/>
              <a:t>比较适用于稀疏图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B8B293A-6545-EFBF-529B-9BC38BAC2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237" y="1320800"/>
            <a:ext cx="7221687" cy="411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1184626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668294" y="2268830"/>
            <a:ext cx="1225168" cy="761162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565331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Dinic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88907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83A330B1-4DE4-4166-9CC2-8FCCA7970594}"/>
              </a:ext>
            </a:extLst>
          </p:cNvPr>
          <p:cNvGrpSpPr/>
          <p:nvPr/>
        </p:nvGrpSpPr>
        <p:grpSpPr>
          <a:xfrm>
            <a:off x="1055266" y="634888"/>
            <a:ext cx="3467747" cy="400110"/>
            <a:chOff x="1148080" y="833460"/>
            <a:chExt cx="3467747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BC705468-A605-4090-9DAF-237608E0F93C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3DD6AAE6-7752-4CB7-88C2-5E13994BA30E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654C22CE-59C2-496D-B598-70C287E6957F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95E7B05-CC54-493F-A853-E3B338F3A4F9}"/>
                </a:ext>
              </a:extLst>
            </p:cNvPr>
            <p:cNvSpPr txBox="1"/>
            <p:nvPr/>
          </p:nvSpPr>
          <p:spPr>
            <a:xfrm>
              <a:off x="1396986" y="833460"/>
              <a:ext cx="32188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Dinic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算法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2884699-5DFA-4BEC-8CCE-D13D269D61EE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136A69FD-B86E-4593-8837-77CBDDBAAD0D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B686100A-BEB5-4EDA-A82B-B7D7F10C459E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C91F3D97-9FA6-9998-9FF6-3E3EF8B72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512" y="1449214"/>
            <a:ext cx="4883789" cy="304658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2768F42-4826-69B3-B26B-E43BB7E0BFD1}"/>
              </a:ext>
            </a:extLst>
          </p:cNvPr>
          <p:cNvSpPr txBox="1"/>
          <p:nvPr/>
        </p:nvSpPr>
        <p:spPr>
          <a:xfrm>
            <a:off x="1366222" y="2153409"/>
            <a:ext cx="4272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思想：</a:t>
            </a:r>
            <a:endParaRPr lang="en-US" altLang="zh-CN" dirty="0"/>
          </a:p>
          <a:p>
            <a:r>
              <a:rPr lang="zh-CN" altLang="en-US" dirty="0"/>
              <a:t>首先用</a:t>
            </a:r>
            <a:r>
              <a:rPr lang="en-US" altLang="zh-CN" dirty="0" err="1"/>
              <a:t>bfs</a:t>
            </a:r>
            <a:r>
              <a:rPr lang="zh-CN" altLang="en-US" dirty="0"/>
              <a:t>进行分层，再使用</a:t>
            </a:r>
            <a:r>
              <a:rPr lang="en-US" altLang="zh-CN" dirty="0" err="1"/>
              <a:t>dfs</a:t>
            </a:r>
            <a:r>
              <a:rPr lang="zh-CN" altLang="en-US" dirty="0"/>
              <a:t>寻找增广路径，期间只往层次更深的方向</a:t>
            </a:r>
            <a:r>
              <a:rPr lang="en-US" altLang="zh-CN" dirty="0" err="1"/>
              <a:t>dfs</a:t>
            </a:r>
            <a:r>
              <a:rPr lang="zh-CN" altLang="en-US" dirty="0"/>
              <a:t>，确保每一次都离汇点越来越近</a:t>
            </a:r>
          </a:p>
        </p:txBody>
      </p:sp>
    </p:spTree>
    <p:extLst>
      <p:ext uri="{BB962C8B-B14F-4D97-AF65-F5344CB8AC3E}">
        <p14:creationId xmlns:p14="http://schemas.microsoft.com/office/powerpoint/2010/main" val="2821861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1178276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711329" y="2253764"/>
            <a:ext cx="1225168" cy="789201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565331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21394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DB8AF-9207-8CC3-02AE-4FAECD5CA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91965A89-FB40-7FD7-BD58-C1A1BC3AA4C0}"/>
              </a:ext>
            </a:extLst>
          </p:cNvPr>
          <p:cNvGrpSpPr/>
          <p:nvPr/>
        </p:nvGrpSpPr>
        <p:grpSpPr>
          <a:xfrm>
            <a:off x="1055266" y="711189"/>
            <a:ext cx="213360" cy="211962"/>
            <a:chOff x="1890216" y="1981983"/>
            <a:chExt cx="2664431" cy="264698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3BAE1A55-EFF2-9E3A-C897-B0A870D6E108}"/>
                </a:ext>
              </a:extLst>
            </p:cNvPr>
            <p:cNvSpPr/>
            <p:nvPr/>
          </p:nvSpPr>
          <p:spPr>
            <a:xfrm>
              <a:off x="1890216" y="1981983"/>
              <a:ext cx="2646983" cy="264698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C515631E-E2B5-9593-0492-BC0A1CB6654B}"/>
                </a:ext>
              </a:extLst>
            </p:cNvPr>
            <p:cNvSpPr/>
            <p:nvPr/>
          </p:nvSpPr>
          <p:spPr>
            <a:xfrm>
              <a:off x="2351568" y="2425886"/>
              <a:ext cx="2203079" cy="220307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FF12548-594E-886A-DAD3-DC38E0236E7C}"/>
              </a:ext>
            </a:extLst>
          </p:cNvPr>
          <p:cNvSpPr txBox="1"/>
          <p:nvPr/>
        </p:nvSpPr>
        <p:spPr>
          <a:xfrm>
            <a:off x="1304173" y="634888"/>
            <a:ext cx="3142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8956D30-B317-0311-1F7F-B006BAAD4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684710"/>
              </p:ext>
            </p:extLst>
          </p:nvPr>
        </p:nvGraphicFramePr>
        <p:xfrm>
          <a:off x="1267229" y="1347150"/>
          <a:ext cx="10148922" cy="10566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4923">
                  <a:extLst>
                    <a:ext uri="{9D8B030D-6E8A-4147-A177-3AD203B41FA5}">
                      <a16:colId xmlns:a16="http://schemas.microsoft.com/office/drawing/2014/main" val="4264841067"/>
                    </a:ext>
                  </a:extLst>
                </a:gridCol>
                <a:gridCol w="724923">
                  <a:extLst>
                    <a:ext uri="{9D8B030D-6E8A-4147-A177-3AD203B41FA5}">
                      <a16:colId xmlns:a16="http://schemas.microsoft.com/office/drawing/2014/main" val="177767651"/>
                    </a:ext>
                  </a:extLst>
                </a:gridCol>
                <a:gridCol w="724923">
                  <a:extLst>
                    <a:ext uri="{9D8B030D-6E8A-4147-A177-3AD203B41FA5}">
                      <a16:colId xmlns:a16="http://schemas.microsoft.com/office/drawing/2014/main" val="1796924319"/>
                    </a:ext>
                  </a:extLst>
                </a:gridCol>
                <a:gridCol w="724923">
                  <a:extLst>
                    <a:ext uri="{9D8B030D-6E8A-4147-A177-3AD203B41FA5}">
                      <a16:colId xmlns:a16="http://schemas.microsoft.com/office/drawing/2014/main" val="1370926045"/>
                    </a:ext>
                  </a:extLst>
                </a:gridCol>
                <a:gridCol w="724923">
                  <a:extLst>
                    <a:ext uri="{9D8B030D-6E8A-4147-A177-3AD203B41FA5}">
                      <a16:colId xmlns:a16="http://schemas.microsoft.com/office/drawing/2014/main" val="147194038"/>
                    </a:ext>
                  </a:extLst>
                </a:gridCol>
                <a:gridCol w="724923">
                  <a:extLst>
                    <a:ext uri="{9D8B030D-6E8A-4147-A177-3AD203B41FA5}">
                      <a16:colId xmlns:a16="http://schemas.microsoft.com/office/drawing/2014/main" val="1470954309"/>
                    </a:ext>
                  </a:extLst>
                </a:gridCol>
                <a:gridCol w="724923">
                  <a:extLst>
                    <a:ext uri="{9D8B030D-6E8A-4147-A177-3AD203B41FA5}">
                      <a16:colId xmlns:a16="http://schemas.microsoft.com/office/drawing/2014/main" val="3554407744"/>
                    </a:ext>
                  </a:extLst>
                </a:gridCol>
                <a:gridCol w="724923">
                  <a:extLst>
                    <a:ext uri="{9D8B030D-6E8A-4147-A177-3AD203B41FA5}">
                      <a16:colId xmlns:a16="http://schemas.microsoft.com/office/drawing/2014/main" val="540982197"/>
                    </a:ext>
                  </a:extLst>
                </a:gridCol>
                <a:gridCol w="724923">
                  <a:extLst>
                    <a:ext uri="{9D8B030D-6E8A-4147-A177-3AD203B41FA5}">
                      <a16:colId xmlns:a16="http://schemas.microsoft.com/office/drawing/2014/main" val="2822244772"/>
                    </a:ext>
                  </a:extLst>
                </a:gridCol>
                <a:gridCol w="724923">
                  <a:extLst>
                    <a:ext uri="{9D8B030D-6E8A-4147-A177-3AD203B41FA5}">
                      <a16:colId xmlns:a16="http://schemas.microsoft.com/office/drawing/2014/main" val="2016843493"/>
                    </a:ext>
                  </a:extLst>
                </a:gridCol>
                <a:gridCol w="724923">
                  <a:extLst>
                    <a:ext uri="{9D8B030D-6E8A-4147-A177-3AD203B41FA5}">
                      <a16:colId xmlns:a16="http://schemas.microsoft.com/office/drawing/2014/main" val="292681877"/>
                    </a:ext>
                  </a:extLst>
                </a:gridCol>
                <a:gridCol w="724923">
                  <a:extLst>
                    <a:ext uri="{9D8B030D-6E8A-4147-A177-3AD203B41FA5}">
                      <a16:colId xmlns:a16="http://schemas.microsoft.com/office/drawing/2014/main" val="3073552274"/>
                    </a:ext>
                  </a:extLst>
                </a:gridCol>
                <a:gridCol w="724923">
                  <a:extLst>
                    <a:ext uri="{9D8B030D-6E8A-4147-A177-3AD203B41FA5}">
                      <a16:colId xmlns:a16="http://schemas.microsoft.com/office/drawing/2014/main" val="3012267299"/>
                    </a:ext>
                  </a:extLst>
                </a:gridCol>
                <a:gridCol w="724923">
                  <a:extLst>
                    <a:ext uri="{9D8B030D-6E8A-4147-A177-3AD203B41FA5}">
                      <a16:colId xmlns:a16="http://schemas.microsoft.com/office/drawing/2014/main" val="3839950490"/>
                    </a:ext>
                  </a:extLst>
                </a:gridCol>
              </a:tblGrid>
              <a:tr h="211323"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4a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4b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5a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5b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5c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12-a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384001342"/>
                  </a:ext>
                </a:extLst>
              </a:tr>
              <a:tr h="211323"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802478250"/>
                  </a:ext>
                </a:extLst>
              </a:tr>
              <a:tr h="21132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dinic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0.7785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10.5067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8.08892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2.98963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18.8063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18.4114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15.655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12.6802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34.9141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47.8353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86.1795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125.93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17.2985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273547301"/>
                  </a:ext>
                </a:extLst>
              </a:tr>
              <a:tr h="21132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0.7373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13.4245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10.2402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2.9593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37.1531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47.7592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25.9559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19.9707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104.547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80.4419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647.216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883.906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17.9695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830983046"/>
                  </a:ext>
                </a:extLst>
              </a:tr>
              <a:tr h="21132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1.8275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10.8664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10.767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3.0114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34.1481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35.0279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27.2828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21.4491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79.0913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67.7444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324.686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322.445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18.8987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62363256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98CE909-06CE-C72F-365D-4920B10CD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576759"/>
              </p:ext>
            </p:extLst>
          </p:nvPr>
        </p:nvGraphicFramePr>
        <p:xfrm>
          <a:off x="1981199" y="2410690"/>
          <a:ext cx="7309760" cy="1267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0976">
                  <a:extLst>
                    <a:ext uri="{9D8B030D-6E8A-4147-A177-3AD203B41FA5}">
                      <a16:colId xmlns:a16="http://schemas.microsoft.com/office/drawing/2014/main" val="2699254467"/>
                    </a:ext>
                  </a:extLst>
                </a:gridCol>
                <a:gridCol w="730976">
                  <a:extLst>
                    <a:ext uri="{9D8B030D-6E8A-4147-A177-3AD203B41FA5}">
                      <a16:colId xmlns:a16="http://schemas.microsoft.com/office/drawing/2014/main" val="216208245"/>
                    </a:ext>
                  </a:extLst>
                </a:gridCol>
                <a:gridCol w="730976">
                  <a:extLst>
                    <a:ext uri="{9D8B030D-6E8A-4147-A177-3AD203B41FA5}">
                      <a16:colId xmlns:a16="http://schemas.microsoft.com/office/drawing/2014/main" val="149900781"/>
                    </a:ext>
                  </a:extLst>
                </a:gridCol>
                <a:gridCol w="730976">
                  <a:extLst>
                    <a:ext uri="{9D8B030D-6E8A-4147-A177-3AD203B41FA5}">
                      <a16:colId xmlns:a16="http://schemas.microsoft.com/office/drawing/2014/main" val="1735683715"/>
                    </a:ext>
                  </a:extLst>
                </a:gridCol>
                <a:gridCol w="730976">
                  <a:extLst>
                    <a:ext uri="{9D8B030D-6E8A-4147-A177-3AD203B41FA5}">
                      <a16:colId xmlns:a16="http://schemas.microsoft.com/office/drawing/2014/main" val="3236121567"/>
                    </a:ext>
                  </a:extLst>
                </a:gridCol>
                <a:gridCol w="730976">
                  <a:extLst>
                    <a:ext uri="{9D8B030D-6E8A-4147-A177-3AD203B41FA5}">
                      <a16:colId xmlns:a16="http://schemas.microsoft.com/office/drawing/2014/main" val="3691464923"/>
                    </a:ext>
                  </a:extLst>
                </a:gridCol>
                <a:gridCol w="730976">
                  <a:extLst>
                    <a:ext uri="{9D8B030D-6E8A-4147-A177-3AD203B41FA5}">
                      <a16:colId xmlns:a16="http://schemas.microsoft.com/office/drawing/2014/main" val="1515990459"/>
                    </a:ext>
                  </a:extLst>
                </a:gridCol>
                <a:gridCol w="730976">
                  <a:extLst>
                    <a:ext uri="{9D8B030D-6E8A-4147-A177-3AD203B41FA5}">
                      <a16:colId xmlns:a16="http://schemas.microsoft.com/office/drawing/2014/main" val="1039669021"/>
                    </a:ext>
                  </a:extLst>
                </a:gridCol>
                <a:gridCol w="730976">
                  <a:extLst>
                    <a:ext uri="{9D8B030D-6E8A-4147-A177-3AD203B41FA5}">
                      <a16:colId xmlns:a16="http://schemas.microsoft.com/office/drawing/2014/main" val="2369990083"/>
                    </a:ext>
                  </a:extLst>
                </a:gridCol>
                <a:gridCol w="730976">
                  <a:extLst>
                    <a:ext uri="{9D8B030D-6E8A-4147-A177-3AD203B41FA5}">
                      <a16:colId xmlns:a16="http://schemas.microsoft.com/office/drawing/2014/main" val="4015574387"/>
                    </a:ext>
                  </a:extLst>
                </a:gridCol>
              </a:tblGrid>
              <a:tr h="25353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54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374729141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703854338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652.426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1834.17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2099.48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1978.73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3366.21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4157.39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6245.83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15050.3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9284.93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8728.33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511707808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36182.8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183969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239979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247252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606902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439903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725828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3.38E+07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1.50E+06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1.74E+06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483736521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2891.37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13777.7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11723.7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12666.4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23164.8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20484.9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39682.6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211658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60456.5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 dirty="0">
                          <a:effectLst/>
                        </a:rPr>
                        <a:t>48844.1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08825669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8BA607FD-1405-6DCC-0464-384D0E6B5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27" y="3902651"/>
            <a:ext cx="11242964" cy="224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7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FF699A-119D-BFAC-B297-9AFF4B3D3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E02DCA7B-F16C-EB4B-CFBB-2C85FBEA450C}"/>
              </a:ext>
            </a:extLst>
          </p:cNvPr>
          <p:cNvGrpSpPr/>
          <p:nvPr/>
        </p:nvGrpSpPr>
        <p:grpSpPr>
          <a:xfrm>
            <a:off x="1055266" y="711189"/>
            <a:ext cx="213360" cy="211962"/>
            <a:chOff x="1890216" y="1981983"/>
            <a:chExt cx="2664431" cy="264698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60FFB4B4-6874-7465-10F3-D1E42264F711}"/>
                </a:ext>
              </a:extLst>
            </p:cNvPr>
            <p:cNvSpPr/>
            <p:nvPr/>
          </p:nvSpPr>
          <p:spPr>
            <a:xfrm>
              <a:off x="1890216" y="1981983"/>
              <a:ext cx="2646983" cy="264698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5F89ABEF-F326-CC80-86E3-D1E7C2179A75}"/>
                </a:ext>
              </a:extLst>
            </p:cNvPr>
            <p:cNvSpPr/>
            <p:nvPr/>
          </p:nvSpPr>
          <p:spPr>
            <a:xfrm>
              <a:off x="2351568" y="2425886"/>
              <a:ext cx="2203079" cy="220307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DFD6F706-A16D-AFFC-372E-795726AF0B6B}"/>
              </a:ext>
            </a:extLst>
          </p:cNvPr>
          <p:cNvSpPr txBox="1"/>
          <p:nvPr/>
        </p:nvSpPr>
        <p:spPr>
          <a:xfrm>
            <a:off x="1304173" y="634888"/>
            <a:ext cx="3142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699E8A-B6C7-9BF4-7534-507E6D3BB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885" y="574963"/>
            <a:ext cx="4746942" cy="60198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8E87BB3-47C7-7FD5-09A8-2A02C4A26E82}"/>
              </a:ext>
            </a:extLst>
          </p:cNvPr>
          <p:cNvSpPr txBox="1"/>
          <p:nvPr/>
        </p:nvSpPr>
        <p:spPr>
          <a:xfrm>
            <a:off x="1180418" y="2104918"/>
            <a:ext cx="42725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结论：</a:t>
            </a:r>
            <a:endParaRPr lang="en-US" altLang="zh-CN" dirty="0"/>
          </a:p>
          <a:p>
            <a:r>
              <a:rPr lang="en-US" altLang="zh-CN" dirty="0" err="1"/>
              <a:t>Dinic</a:t>
            </a:r>
            <a:r>
              <a:rPr lang="zh-CN" altLang="en-US" dirty="0"/>
              <a:t>算法优势明显，</a:t>
            </a:r>
            <a:r>
              <a:rPr lang="en-US" altLang="zh-CN" dirty="0"/>
              <a:t>EK</a:t>
            </a:r>
            <a:r>
              <a:rPr lang="zh-CN" altLang="en-US" dirty="0"/>
              <a:t>算法表现最差，可能是因为该问题中落到</a:t>
            </a:r>
            <a:r>
              <a:rPr lang="en-US" altLang="zh-CN" dirty="0"/>
              <a:t>FF</a:t>
            </a:r>
            <a:r>
              <a:rPr lang="zh-CN" altLang="en-US" dirty="0"/>
              <a:t>算法的最坏情况的概率较小，同时图规模大后</a:t>
            </a:r>
            <a:r>
              <a:rPr lang="en-US" altLang="zh-CN" dirty="0"/>
              <a:t>EK</a:t>
            </a:r>
            <a:r>
              <a:rPr lang="zh-CN" altLang="en-US"/>
              <a:t>需要经常读取操作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2715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E9D98FD9-23F9-4849-8ABD-4B3194E83D3E}"/>
              </a:ext>
            </a:extLst>
          </p:cNvPr>
          <p:cNvSpPr/>
          <p:nvPr/>
        </p:nvSpPr>
        <p:spPr>
          <a:xfrm>
            <a:off x="7020351" y="4291157"/>
            <a:ext cx="1950929" cy="429264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960B0CF-F4D4-4B1F-B9B3-B3A5012EF2CC}"/>
              </a:ext>
            </a:extLst>
          </p:cNvPr>
          <p:cNvSpPr/>
          <p:nvPr/>
        </p:nvSpPr>
        <p:spPr>
          <a:xfrm>
            <a:off x="8575040" y="3361767"/>
            <a:ext cx="2174466" cy="1571958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/>
        </p:nvSpPr>
        <p:spPr>
          <a:xfrm>
            <a:off x="3017976" y="1740328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7235" y="2786976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/>
        </p:nvSpPr>
        <p:spPr>
          <a:xfrm>
            <a:off x="2384541" y="1036899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/>
        </p:nvSpPr>
        <p:spPr>
          <a:xfrm>
            <a:off x="1174801" y="531179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C94711A-F1EC-48D3-B3D5-1CC00A21989F}"/>
              </a:ext>
            </a:extLst>
          </p:cNvPr>
          <p:cNvSpPr/>
          <p:nvPr/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8E04C6A-65BD-4DAA-9677-E9B4128E044B}"/>
              </a:ext>
            </a:extLst>
          </p:cNvPr>
          <p:cNvSpPr/>
          <p:nvPr/>
        </p:nvSpPr>
        <p:spPr>
          <a:xfrm>
            <a:off x="3479328" y="2184231"/>
            <a:ext cx="5006086" cy="220307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722EF1-500F-4A6B-B673-277906A77619}"/>
              </a:ext>
            </a:extLst>
          </p:cNvPr>
          <p:cNvSpPr txBox="1"/>
          <p:nvPr/>
        </p:nvSpPr>
        <p:spPr>
          <a:xfrm>
            <a:off x="4410259" y="2777938"/>
            <a:ext cx="33714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THANKS</a:t>
            </a:r>
            <a:r>
              <a:rPr lang="en-US" altLang="zh-CN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 </a:t>
            </a:r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358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700000" y="7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animBg="1"/>
      <p:bldP spid="7" grpId="0" animBg="1"/>
      <p:bldP spid="4" grpId="0" animBg="1"/>
      <p:bldP spid="6" grpId="0" animBg="1"/>
      <p:bldP spid="8" grpId="0" animBg="1"/>
      <p:bldP spid="15" grpId="0" animBg="1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ne&quot;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4313</TotalTime>
  <Words>399</Words>
  <Application>Microsoft Office PowerPoint</Application>
  <PresentationFormat>宽屏</PresentationFormat>
  <Paragraphs>133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等线 Light</vt:lpstr>
      <vt:lpstr>华文细黑</vt:lpstr>
      <vt:lpstr>思源黑体 CN Bold</vt:lpstr>
      <vt:lpstr>微软雅黑</vt:lpstr>
      <vt:lpstr>幼圆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雪 雷</dc:creator>
  <cp:lastModifiedBy>健文 姚</cp:lastModifiedBy>
  <cp:revision>133</cp:revision>
  <dcterms:created xsi:type="dcterms:W3CDTF">2021-08-22T12:17:40Z</dcterms:created>
  <dcterms:modified xsi:type="dcterms:W3CDTF">2025-06-23T01:35:28Z</dcterms:modified>
</cp:coreProperties>
</file>