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62" r:id="rId4"/>
    <p:sldId id="264" r:id="rId5"/>
    <p:sldId id="283" r:id="rId6"/>
    <p:sldId id="270" r:id="rId7"/>
    <p:sldId id="310" r:id="rId8"/>
    <p:sldId id="311" r:id="rId9"/>
    <p:sldId id="314" r:id="rId10"/>
    <p:sldId id="313" r:id="rId11"/>
    <p:sldId id="284" r:id="rId12"/>
    <p:sldId id="305" r:id="rId13"/>
    <p:sldId id="312" r:id="rId14"/>
    <p:sldId id="278" r:id="rId15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74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orient="horz" pos="368" userDrawn="1">
          <p15:clr>
            <a:srgbClr val="A4A3A4"/>
          </p15:clr>
        </p15:guide>
        <p15:guide id="4" pos="71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5C5"/>
    <a:srgbClr val="3B3838"/>
    <a:srgbClr val="767171"/>
    <a:srgbClr val="757575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-12" y="327"/>
      </p:cViewPr>
      <p:guideLst>
        <p:guide orient="horz" pos="3974"/>
        <p:guide pos="551"/>
        <p:guide orient="horz" pos="368"/>
        <p:guide pos="71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&#26032;&#24314;%20Microsoft%20Excel%20&#24037;&#20316;&#34920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&#26032;&#24314;%20Microsoft%20Excel%20&#24037;&#20316;&#34920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&#26032;&#24314;%20Microsoft%20Excel%20&#24037;&#20316;&#34920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国家规模影响下的效率（最大度为</a:t>
            </a:r>
            <a:r>
              <a:rPr lang="en-US" altLang="zh-CN"/>
              <a:t>10</a:t>
            </a:r>
            <a:r>
              <a:rPr lang="zh-CN" altLang="en-US"/>
              <a:t>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Sheet1!$A$5</c:f>
              <c:strCache>
                <c:ptCount val="1"/>
                <c:pt idx="0">
                  <c:v>时间（ms）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Sheet1!$B$4:$X$4</c:f>
              <c:numCache>
                <c:formatCode>General</c:formatCode>
                <c:ptCount val="23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1500</c:v>
                </c:pt>
                <c:pt idx="11">
                  <c:v>2000</c:v>
                </c:pt>
                <c:pt idx="12">
                  <c:v>2500</c:v>
                </c:pt>
                <c:pt idx="13">
                  <c:v>3000</c:v>
                </c:pt>
                <c:pt idx="14">
                  <c:v>3500</c:v>
                </c:pt>
                <c:pt idx="15">
                  <c:v>4000</c:v>
                </c:pt>
                <c:pt idx="16">
                  <c:v>4500</c:v>
                </c:pt>
                <c:pt idx="17">
                  <c:v>5000</c:v>
                </c:pt>
                <c:pt idx="18">
                  <c:v>6000</c:v>
                </c:pt>
                <c:pt idx="19">
                  <c:v>7000</c:v>
                </c:pt>
                <c:pt idx="20">
                  <c:v>8000</c:v>
                </c:pt>
                <c:pt idx="21">
                  <c:v>9000</c:v>
                </c:pt>
                <c:pt idx="22">
                  <c:v>10000</c:v>
                </c:pt>
              </c:numCache>
            </c:numRef>
          </c:xVal>
          <c:yVal>
            <c:numRef>
              <c:f>Sheet1!$B$5:$X$5</c:f>
              <c:numCache>
                <c:formatCode>General</c:formatCode>
                <c:ptCount val="23"/>
                <c:pt idx="0">
                  <c:v>0.343084</c:v>
                </c:pt>
                <c:pt idx="1">
                  <c:v>0.93698499999999996</c:v>
                </c:pt>
                <c:pt idx="2">
                  <c:v>1.6629700000000001</c:v>
                </c:pt>
                <c:pt idx="3">
                  <c:v>2.64716</c:v>
                </c:pt>
                <c:pt idx="4">
                  <c:v>3.9310499999999999</c:v>
                </c:pt>
                <c:pt idx="5">
                  <c:v>6.0508300000000004</c:v>
                </c:pt>
                <c:pt idx="6">
                  <c:v>7.2350500000000002</c:v>
                </c:pt>
                <c:pt idx="7">
                  <c:v>9.6399799999999995</c:v>
                </c:pt>
                <c:pt idx="8">
                  <c:v>11.9801</c:v>
                </c:pt>
                <c:pt idx="9">
                  <c:v>21.568100000000001</c:v>
                </c:pt>
                <c:pt idx="10">
                  <c:v>35.981200000000001</c:v>
                </c:pt>
                <c:pt idx="11">
                  <c:v>63.260100000000001</c:v>
                </c:pt>
                <c:pt idx="12">
                  <c:v>106.417</c:v>
                </c:pt>
                <c:pt idx="13">
                  <c:v>136.30799999999999</c:v>
                </c:pt>
                <c:pt idx="14">
                  <c:v>187.02799999999999</c:v>
                </c:pt>
                <c:pt idx="15">
                  <c:v>239.65299999999999</c:v>
                </c:pt>
                <c:pt idx="16">
                  <c:v>309.86</c:v>
                </c:pt>
                <c:pt idx="17">
                  <c:v>426.01900000000001</c:v>
                </c:pt>
                <c:pt idx="18">
                  <c:v>527.995</c:v>
                </c:pt>
                <c:pt idx="19">
                  <c:v>699.60699999999997</c:v>
                </c:pt>
                <c:pt idx="20">
                  <c:v>887.11599999999999</c:v>
                </c:pt>
                <c:pt idx="21">
                  <c:v>1086.1400000000001</c:v>
                </c:pt>
                <c:pt idx="22">
                  <c:v>1344.63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55E-4B76-98A4-42B63CE93F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24728175"/>
        <c:axId val="1224737295"/>
      </c:scatterChart>
      <c:valAx>
        <c:axId val="12247281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24737295"/>
        <c:crosses val="autoZero"/>
        <c:crossBetween val="midCat"/>
      </c:valAx>
      <c:valAx>
        <c:axId val="12247372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2472817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国家规模影响下的效率（最大度为</a:t>
            </a:r>
            <a:r>
              <a:rPr lang="en-US" altLang="zh-CN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10</a:t>
            </a:r>
            <a:r>
              <a:rPr lang="zh-CN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Sheet1!$B$4:$K$4</c:f>
              <c:numCache>
                <c:formatCode>General</c:formatCode>
                <c:ptCount val="10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</c:numCache>
            </c:numRef>
          </c:xVal>
          <c:yVal>
            <c:numRef>
              <c:f>Sheet1!$B$5:$K$5</c:f>
              <c:numCache>
                <c:formatCode>General</c:formatCode>
                <c:ptCount val="10"/>
                <c:pt idx="0">
                  <c:v>0.343084</c:v>
                </c:pt>
                <c:pt idx="1">
                  <c:v>0.93698499999999996</c:v>
                </c:pt>
                <c:pt idx="2">
                  <c:v>1.6629700000000001</c:v>
                </c:pt>
                <c:pt idx="3">
                  <c:v>2.64716</c:v>
                </c:pt>
                <c:pt idx="4">
                  <c:v>3.9310499999999999</c:v>
                </c:pt>
                <c:pt idx="5">
                  <c:v>6.0508300000000004</c:v>
                </c:pt>
                <c:pt idx="6">
                  <c:v>7.2350500000000002</c:v>
                </c:pt>
                <c:pt idx="7">
                  <c:v>9.6399799999999995</c:v>
                </c:pt>
                <c:pt idx="8">
                  <c:v>11.9801</c:v>
                </c:pt>
                <c:pt idx="9">
                  <c:v>21.568100000000001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DEE-4B9F-8CA5-C97361A71D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24759855"/>
        <c:axId val="1224759375"/>
      </c:scatterChart>
      <c:valAx>
        <c:axId val="122475985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24759375"/>
        <c:crosses val="autoZero"/>
        <c:crossBetween val="midCat"/>
      </c:valAx>
      <c:valAx>
        <c:axId val="12247593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2475985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最大度影响下的效率（</a:t>
            </a:r>
            <a:r>
              <a:rPr lang="en-US" altLang="zh-CN"/>
              <a:t>1000</a:t>
            </a:r>
            <a:r>
              <a:rPr lang="zh-CN" altLang="en-US"/>
              <a:t>国）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Sheet1!$B$8:$J$8</c:f>
              <c:numCache>
                <c:formatCode>General</c:formatCode>
                <c:ptCount val="9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</c:numCache>
            </c:numRef>
          </c:xVal>
          <c:yVal>
            <c:numRef>
              <c:f>Sheet1!$B$9:$J$9</c:f>
              <c:numCache>
                <c:formatCode>General</c:formatCode>
                <c:ptCount val="9"/>
                <c:pt idx="0">
                  <c:v>17.446999999999999</c:v>
                </c:pt>
                <c:pt idx="1">
                  <c:v>29.561</c:v>
                </c:pt>
                <c:pt idx="2">
                  <c:v>40.548999999999999</c:v>
                </c:pt>
                <c:pt idx="3">
                  <c:v>56.589799999999997</c:v>
                </c:pt>
                <c:pt idx="4">
                  <c:v>70.951899999999995</c:v>
                </c:pt>
                <c:pt idx="5">
                  <c:v>137.79499999999999</c:v>
                </c:pt>
                <c:pt idx="6">
                  <c:v>197.601</c:v>
                </c:pt>
                <c:pt idx="7">
                  <c:v>324.70800000000003</c:v>
                </c:pt>
                <c:pt idx="8">
                  <c:v>427.74299999999999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48B-4E4A-A50A-D14472AF2A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43076303"/>
        <c:axId val="1143084943"/>
      </c:scatterChart>
      <c:valAx>
        <c:axId val="1143076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43084943"/>
        <c:crosses val="autoZero"/>
        <c:crossBetween val="midCat"/>
      </c:valAx>
      <c:valAx>
        <c:axId val="1143084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4307630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257E82-C2C1-4F89-A614-C4BF84446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892212-D1D2-4303-8944-206AEFAF12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5212F6-9A48-430B-B9E6-DA670644F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AC504E-755D-4F5F-A884-BCD4DD19B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E828B0-4B30-4BA2-8ADB-B8F59D36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99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4457CA-DDE9-4F9F-8273-0E0264B5A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85EA8C-57D9-4581-8DE3-0E42DC10E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E55DC0-E036-4261-9731-D22858714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6E2335-EF40-4FDC-A0F9-F3A875F06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DA12CF-3869-4629-8613-E2D21DCB7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196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E2813-ECDC-4E85-AA4B-AC247737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54F65D-F5F8-4A34-AFE8-94231E31D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9CA55C-516B-449E-9F4A-214010C99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22D9D-E873-400F-A805-E8C9BB7A8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1D8B4E-FD17-4313-BFCF-F96BCB1E6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347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83533C-DA66-4D35-8252-1936C80E8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8758ED-7231-43C7-9BE1-F52C077C1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4871AB-4676-4339-9698-3C1C0946D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BF8AD7-435F-4016-87F8-CA2CDD9B9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27EFFF-B774-47BE-8EAC-075B844B0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DAA445-F7D1-4322-A39A-F748A3887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721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F8ACA-0C6F-4585-BBFC-67DC1AFD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B355CF-E8C9-4F66-B7BE-AF659A2FD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D3FC60-5F48-4478-B38E-E0B42323C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46BC4FC-6846-4C6E-B5E1-5E4ED19F1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EFDE226-0E96-4C39-96A0-7769CF969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1FF6DC1-ECBC-4285-9059-340DE2CCD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042EF3A-76A6-4A93-9250-C4ED87283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5702E4D-3D66-47A5-A76F-38B0D8B9A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296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83F67-3EC5-41B9-AD61-409CB3DBC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73DD6F-A3B3-40E3-8D4B-902B4EB2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B60495-4166-438A-AA08-3DFF56EF2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FC8C80-8154-4157-9CFB-8CA216A8E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110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D41F186-51F5-45E8-925B-6658F8A5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D2ECC3-C525-4A07-85E1-4E1F647DA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334DF1-DD41-42A6-9B05-0BFE1773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227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9250C-2EE3-445E-9712-10B975409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B04AB1-6D3A-4BE8-B8B5-21A79ABC8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42F583-4BA2-4767-B73E-07B95F6A4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73520B-4AC8-4F8D-882F-32A6DD943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CA0CDF-248C-44A0-A591-5A05DE3B5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AEAC46-2DE2-47DA-8813-3C9BA8EA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004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AB3301-B061-4373-9F59-0EC727BE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45669B0-DD46-493F-9454-F44F08213D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C1D14F-4F0C-4201-8D61-5C840BBF6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DD7F5E-01FC-4819-8C56-D266420F2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B5C8EA-E3E6-490E-9D6B-3984C9600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488420-C912-41CE-AE9C-1CBF33ED8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92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1ECCF2-208E-4FBA-AE00-B0A5FD508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4E9D07-D1CC-4710-9907-A01DE658B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09FB46-4707-4650-AF22-2B3409702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6DC8CF-D042-4A60-BA6B-A0236402C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EC390D-ECD5-4BA9-8119-03A79C78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06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C6E7E2-4753-49A0-8B5B-4BD8A505D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5B3755-B931-424B-A541-5425C7B5F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BB126F-56CE-470F-9512-76CD4C778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74AF32-60DB-438A-8513-3D49FB21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D1D76D-0183-419D-9803-7E9B71857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54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C7438AF-4DE6-4664-AA9B-018009122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5168E7-0D07-40EE-A925-11F73CC3B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76C523-D268-4347-8EC0-C672D7854F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4C87E-67D7-4747-B03D-6F045E1AC05D}" type="datetimeFigureOut">
              <a:rPr lang="zh-CN" altLang="en-US" smtClean="0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5BFEE9-6C9A-4DC8-8CAE-7B9476393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1A4AE2-3345-48D3-BA37-72E0F9E53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846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26" Type="http://schemas.openxmlformats.org/officeDocument/2006/relationships/slideLayout" Target="../slideLayouts/slideLayout7.xml"/><Relationship Id="rId3" Type="http://schemas.openxmlformats.org/officeDocument/2006/relationships/tags" Target="../tags/tag14.xml"/><Relationship Id="rId21" Type="http://schemas.openxmlformats.org/officeDocument/2006/relationships/tags" Target="../tags/tag32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5" Type="http://schemas.openxmlformats.org/officeDocument/2006/relationships/tags" Target="../tags/tag36.xml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0" Type="http://schemas.openxmlformats.org/officeDocument/2006/relationships/tags" Target="../tags/tag31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24" Type="http://schemas.openxmlformats.org/officeDocument/2006/relationships/tags" Target="../tags/tag35.xml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23" Type="http://schemas.openxmlformats.org/officeDocument/2006/relationships/tags" Target="../tags/tag34.xml"/><Relationship Id="rId10" Type="http://schemas.openxmlformats.org/officeDocument/2006/relationships/tags" Target="../tags/tag21.xml"/><Relationship Id="rId19" Type="http://schemas.openxmlformats.org/officeDocument/2006/relationships/tags" Target="../tags/tag30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Relationship Id="rId22" Type="http://schemas.openxmlformats.org/officeDocument/2006/relationships/tags" Target="../tags/tag3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3" Type="http://schemas.openxmlformats.org/officeDocument/2006/relationships/tags" Target="../tags/tag39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tags" Target="../tags/tag56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10" Type="http://schemas.openxmlformats.org/officeDocument/2006/relationships/tags" Target="../tags/tag46.xml"/><Relationship Id="rId19" Type="http://schemas.openxmlformats.org/officeDocument/2006/relationships/tags" Target="../tags/tag55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tags" Target="../tags/tag69.xml"/><Relationship Id="rId18" Type="http://schemas.openxmlformats.org/officeDocument/2006/relationships/tags" Target="../tags/tag74.xml"/><Relationship Id="rId3" Type="http://schemas.openxmlformats.org/officeDocument/2006/relationships/tags" Target="../tags/tag59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17" Type="http://schemas.openxmlformats.org/officeDocument/2006/relationships/tags" Target="../tags/tag73.xml"/><Relationship Id="rId2" Type="http://schemas.openxmlformats.org/officeDocument/2006/relationships/tags" Target="../tags/tag58.xml"/><Relationship Id="rId16" Type="http://schemas.openxmlformats.org/officeDocument/2006/relationships/tags" Target="../tags/tag72.xml"/><Relationship Id="rId20" Type="http://schemas.openxmlformats.org/officeDocument/2006/relationships/tags" Target="../tags/tag76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5" Type="http://schemas.openxmlformats.org/officeDocument/2006/relationships/tags" Target="../tags/tag61.xml"/><Relationship Id="rId15" Type="http://schemas.openxmlformats.org/officeDocument/2006/relationships/tags" Target="../tags/tag71.xml"/><Relationship Id="rId10" Type="http://schemas.openxmlformats.org/officeDocument/2006/relationships/tags" Target="../tags/tag66.xml"/><Relationship Id="rId19" Type="http://schemas.openxmlformats.org/officeDocument/2006/relationships/tags" Target="../tags/tag75.xml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tags" Target="../tags/tag7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13" Type="http://schemas.openxmlformats.org/officeDocument/2006/relationships/tags" Target="../tags/tag89.xml"/><Relationship Id="rId18" Type="http://schemas.openxmlformats.org/officeDocument/2006/relationships/tags" Target="../tags/tag94.xml"/><Relationship Id="rId3" Type="http://schemas.openxmlformats.org/officeDocument/2006/relationships/tags" Target="../tags/tag79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83.xml"/><Relationship Id="rId12" Type="http://schemas.openxmlformats.org/officeDocument/2006/relationships/tags" Target="../tags/tag88.xml"/><Relationship Id="rId17" Type="http://schemas.openxmlformats.org/officeDocument/2006/relationships/tags" Target="../tags/tag93.xml"/><Relationship Id="rId2" Type="http://schemas.openxmlformats.org/officeDocument/2006/relationships/tags" Target="../tags/tag78.xml"/><Relationship Id="rId16" Type="http://schemas.openxmlformats.org/officeDocument/2006/relationships/tags" Target="../tags/tag92.xml"/><Relationship Id="rId20" Type="http://schemas.openxmlformats.org/officeDocument/2006/relationships/tags" Target="../tags/tag96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tags" Target="../tags/tag87.xml"/><Relationship Id="rId5" Type="http://schemas.openxmlformats.org/officeDocument/2006/relationships/tags" Target="../tags/tag81.xml"/><Relationship Id="rId15" Type="http://schemas.openxmlformats.org/officeDocument/2006/relationships/tags" Target="../tags/tag91.xml"/><Relationship Id="rId10" Type="http://schemas.openxmlformats.org/officeDocument/2006/relationships/tags" Target="../tags/tag86.xml"/><Relationship Id="rId19" Type="http://schemas.openxmlformats.org/officeDocument/2006/relationships/tags" Target="../tags/tag95.xml"/><Relationship Id="rId4" Type="http://schemas.openxmlformats.org/officeDocument/2006/relationships/tags" Target="../tags/tag80.xml"/><Relationship Id="rId9" Type="http://schemas.openxmlformats.org/officeDocument/2006/relationships/tags" Target="../tags/tag85.xml"/><Relationship Id="rId14" Type="http://schemas.openxmlformats.org/officeDocument/2006/relationships/tags" Target="../tags/tag9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-圆角矩形 6">
            <a:extLst>
              <a:ext uri="{FF2B5EF4-FFF2-40B4-BE49-F238E27FC236}">
                <a16:creationId xmlns:a16="http://schemas.microsoft.com/office/drawing/2014/main" id="{CA1D04B1-561C-427F-A69C-418146F033E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890216" y="1750488"/>
            <a:ext cx="2646983" cy="2646982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PA-AutoShape 2">
            <a:extLst>
              <a:ext uri="{FF2B5EF4-FFF2-40B4-BE49-F238E27FC236}">
                <a16:creationId xmlns:a16="http://schemas.microsoft.com/office/drawing/2014/main" id="{DDF01370-10EF-410F-8B87-ACE304D75DDC}"/>
              </a:ext>
            </a:extLst>
          </p:cNvPr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837235" y="2786976"/>
            <a:ext cx="191688" cy="19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PA-圆角矩形 3">
            <a:extLst>
              <a:ext uri="{FF2B5EF4-FFF2-40B4-BE49-F238E27FC236}">
                <a16:creationId xmlns:a16="http://schemas.microsoft.com/office/drawing/2014/main" id="{128046FA-F4E0-4BA1-A2BB-1ED170AF322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84541" y="1036899"/>
            <a:ext cx="485609" cy="485609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PA-圆角矩形 5">
            <a:extLst>
              <a:ext uri="{FF2B5EF4-FFF2-40B4-BE49-F238E27FC236}">
                <a16:creationId xmlns:a16="http://schemas.microsoft.com/office/drawing/2014/main" id="{11A08D04-3124-48C1-9669-36C1BEC4701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174801" y="5311792"/>
            <a:ext cx="715415" cy="715415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PA-圆角矩形 7">
            <a:extLst>
              <a:ext uri="{FF2B5EF4-FFF2-40B4-BE49-F238E27FC236}">
                <a16:creationId xmlns:a16="http://schemas.microsoft.com/office/drawing/2014/main" id="{4C94711A-F1EC-48D3-B3D5-1CC00A21989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453107" y="836166"/>
            <a:ext cx="715415" cy="715415"/>
          </a:xfrm>
          <a:prstGeom prst="roundRect">
            <a:avLst>
              <a:gd name="adj" fmla="val 17797"/>
            </a:avLst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PA-圆角矩形 17">
            <a:extLst>
              <a:ext uri="{FF2B5EF4-FFF2-40B4-BE49-F238E27FC236}">
                <a16:creationId xmlns:a16="http://schemas.microsoft.com/office/drawing/2014/main" id="{31AF2055-48A7-4C54-A11C-925E241CAAA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384541" y="2442758"/>
            <a:ext cx="7120563" cy="2109744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PA-文本框 13">
            <a:extLst>
              <a:ext uri="{FF2B5EF4-FFF2-40B4-BE49-F238E27FC236}">
                <a16:creationId xmlns:a16="http://schemas.microsoft.com/office/drawing/2014/main" id="{73722EF1-500F-4A6B-B673-277906A7761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048010" y="2528134"/>
            <a:ext cx="59636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地图填色回溯法算法演示</a:t>
            </a:r>
          </a:p>
        </p:txBody>
      </p:sp>
      <p:sp>
        <p:nvSpPr>
          <p:cNvPr id="9" name="PA-圆角矩形 8">
            <a:extLst>
              <a:ext uri="{FF2B5EF4-FFF2-40B4-BE49-F238E27FC236}">
                <a16:creationId xmlns:a16="http://schemas.microsoft.com/office/drawing/2014/main" id="{E9D98FD9-23F9-4849-8ABD-4B3194E83D3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690166" y="4270737"/>
            <a:ext cx="2407535" cy="529731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PA-圆角矩形 18">
            <a:extLst>
              <a:ext uri="{FF2B5EF4-FFF2-40B4-BE49-F238E27FC236}">
                <a16:creationId xmlns:a16="http://schemas.microsoft.com/office/drawing/2014/main" id="{D960B0CF-F4D4-4B1F-B9B3-B3A5012EF2C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8381243" y="3691758"/>
            <a:ext cx="2918378" cy="2109744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PA-文本框 13">
            <a:extLst>
              <a:ext uri="{FF2B5EF4-FFF2-40B4-BE49-F238E27FC236}">
                <a16:creationId xmlns:a16="http://schemas.microsoft.com/office/drawing/2014/main" id="{C682BAAE-DB0F-4A29-989A-BF7F78B4B45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627345" y="2622284"/>
            <a:ext cx="1771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  <a:r>
              <a:rPr lang="en-US" altLang="zh-CN" sz="60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endParaRPr lang="zh-CN" altLang="en-US" sz="6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60C63D-1517-3098-692F-1E4F4A200C19}"/>
              </a:ext>
            </a:extLst>
          </p:cNvPr>
          <p:cNvSpPr txBox="1"/>
          <p:nvPr/>
        </p:nvSpPr>
        <p:spPr>
          <a:xfrm>
            <a:off x="8589818" y="4885129"/>
            <a:ext cx="2651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报告人：姚健文</a:t>
            </a:r>
            <a:endParaRPr lang="en-US" altLang="zh-CN" sz="2400" dirty="0"/>
          </a:p>
          <a:p>
            <a:r>
              <a:rPr lang="en-US" altLang="zh-CN" sz="2400" dirty="0"/>
              <a:t>2023150131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9234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4" grpId="0" animBg="1"/>
      <p:bldP spid="4" grpId="1" animBg="1"/>
      <p:bldP spid="6" grpId="0" animBg="1"/>
      <p:bldP spid="6" grpId="1" animBg="1"/>
      <p:bldP spid="8" grpId="0" animBg="1"/>
      <p:bldP spid="8" grpId="1" animBg="1"/>
      <p:bldP spid="18" grpId="0" animBg="1"/>
      <p:bldP spid="18" grpId="1" animBg="1"/>
      <p:bldP spid="14" grpId="0"/>
      <p:bldP spid="14" grpId="1"/>
      <p:bldP spid="9" grpId="0" animBg="1"/>
      <p:bldP spid="9" grpId="1" animBg="1"/>
      <p:bldP spid="19" grpId="0" animBg="1"/>
      <p:bldP spid="19" grpId="1" animBg="1"/>
      <p:bldP spid="13" grpId="0"/>
      <p:bldP spid="1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A-圆角矩形 51">
            <a:extLst>
              <a:ext uri="{FF2B5EF4-FFF2-40B4-BE49-F238E27FC236}">
                <a16:creationId xmlns:a16="http://schemas.microsoft.com/office/drawing/2014/main" id="{6612C7AD-C5D0-4CE0-8366-4DA07510C22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343266" y="2418285"/>
            <a:ext cx="2218292" cy="221828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8" name="PA-圆角矩形 51">
            <a:extLst>
              <a:ext uri="{FF2B5EF4-FFF2-40B4-BE49-F238E27FC236}">
                <a16:creationId xmlns:a16="http://schemas.microsoft.com/office/drawing/2014/main" id="{F99DF15F-AE84-43B1-BD9B-F3B6601555A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343266" y="2418285"/>
            <a:ext cx="2218292" cy="221828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5" name="PA-圆角矩形 51">
            <a:extLst>
              <a:ext uri="{FF2B5EF4-FFF2-40B4-BE49-F238E27FC236}">
                <a16:creationId xmlns:a16="http://schemas.microsoft.com/office/drawing/2014/main" id="{AB33F4EF-52AF-40CF-A1FA-03C32EFBBCB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43266" y="2418285"/>
            <a:ext cx="2218292" cy="221828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PA-圆角矩形 51">
            <a:extLst>
              <a:ext uri="{FF2B5EF4-FFF2-40B4-BE49-F238E27FC236}">
                <a16:creationId xmlns:a16="http://schemas.microsoft.com/office/drawing/2014/main" id="{350BC068-2A10-4088-8935-4FEDC5F9149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343266" y="2418285"/>
            <a:ext cx="2218292" cy="221828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PA-圆角矩形 6">
            <a:extLst>
              <a:ext uri="{FF2B5EF4-FFF2-40B4-BE49-F238E27FC236}">
                <a16:creationId xmlns:a16="http://schemas.microsoft.com/office/drawing/2014/main" id="{CA1D04B1-561C-427F-A69C-418146F033E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890216" y="1981983"/>
            <a:ext cx="2646983" cy="2646982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" name="PA-AutoShape 2">
            <a:extLst>
              <a:ext uri="{FF2B5EF4-FFF2-40B4-BE49-F238E27FC236}">
                <a16:creationId xmlns:a16="http://schemas.microsoft.com/office/drawing/2014/main" id="{DDF01370-10EF-410F-8B87-ACE304D75DDC}"/>
              </a:ext>
            </a:extLst>
          </p:cNvPr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837235" y="3018471"/>
            <a:ext cx="191688" cy="19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PA-圆角矩形 3">
            <a:extLst>
              <a:ext uri="{FF2B5EF4-FFF2-40B4-BE49-F238E27FC236}">
                <a16:creationId xmlns:a16="http://schemas.microsoft.com/office/drawing/2014/main" id="{128046FA-F4E0-4BA1-A2BB-1ED170AF322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384541" y="1268394"/>
            <a:ext cx="485609" cy="485609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" name="PA-圆角矩形 5">
            <a:extLst>
              <a:ext uri="{FF2B5EF4-FFF2-40B4-BE49-F238E27FC236}">
                <a16:creationId xmlns:a16="http://schemas.microsoft.com/office/drawing/2014/main" id="{11A08D04-3124-48C1-9669-36C1BEC47014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174801" y="4827872"/>
            <a:ext cx="715415" cy="715415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5" name="PA-圆角矩形 14">
            <a:extLst>
              <a:ext uri="{FF2B5EF4-FFF2-40B4-BE49-F238E27FC236}">
                <a16:creationId xmlns:a16="http://schemas.microsoft.com/office/drawing/2014/main" id="{28E04C6A-65BD-4DAA-9677-E9B4128E044B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350873" y="2425886"/>
            <a:ext cx="2203079" cy="2203079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PA-文本框 26">
            <a:extLst>
              <a:ext uri="{FF2B5EF4-FFF2-40B4-BE49-F238E27FC236}">
                <a16:creationId xmlns:a16="http://schemas.microsoft.com/office/drawing/2014/main" id="{39FDEDFC-605C-409F-A432-538EB1677F5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575804" y="3721547"/>
            <a:ext cx="1836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PA-文本框 27">
            <a:extLst>
              <a:ext uri="{FF2B5EF4-FFF2-40B4-BE49-F238E27FC236}">
                <a16:creationId xmlns:a16="http://schemas.microsoft.com/office/drawing/2014/main" id="{DC0F587A-857A-49B1-A2AD-1305FB5B0DE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2661532" y="2875344"/>
            <a:ext cx="16690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2800" b="1" dirty="0">
                <a:solidFill>
                  <a:schemeClr val="bg1"/>
                </a:solidFill>
              </a:rPr>
              <a:t> 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51" name="PA-圆角矩形 50">
            <a:extLst>
              <a:ext uri="{FF2B5EF4-FFF2-40B4-BE49-F238E27FC236}">
                <a16:creationId xmlns:a16="http://schemas.microsoft.com/office/drawing/2014/main" id="{CC36E74B-BA9D-453F-9CBC-559876C1A7D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881136" y="2047938"/>
            <a:ext cx="991082" cy="241318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6" name="PA-圆角矩形 45">
            <a:extLst>
              <a:ext uri="{FF2B5EF4-FFF2-40B4-BE49-F238E27FC236}">
                <a16:creationId xmlns:a16="http://schemas.microsoft.com/office/drawing/2014/main" id="{604D31D0-F1BA-4DF8-80F9-516545242D58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6881136" y="3452548"/>
            <a:ext cx="991082" cy="241318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4" name="PA-圆角矩形 53">
            <a:extLst>
              <a:ext uri="{FF2B5EF4-FFF2-40B4-BE49-F238E27FC236}">
                <a16:creationId xmlns:a16="http://schemas.microsoft.com/office/drawing/2014/main" id="{31B1E93E-7865-4E80-A7FB-230B440DBF97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918980" y="4974465"/>
            <a:ext cx="991082" cy="241318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8" name="PA-圆角矩形 67">
            <a:extLst>
              <a:ext uri="{FF2B5EF4-FFF2-40B4-BE49-F238E27FC236}">
                <a16:creationId xmlns:a16="http://schemas.microsoft.com/office/drawing/2014/main" id="{449A29ED-6222-4DCF-B5F1-3362F101C623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3453107" y="836166"/>
            <a:ext cx="715415" cy="715415"/>
          </a:xfrm>
          <a:prstGeom prst="roundRect">
            <a:avLst>
              <a:gd name="adj" fmla="val 17797"/>
            </a:avLst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3" name="PA-圆角矩形 72">
            <a:extLst>
              <a:ext uri="{FF2B5EF4-FFF2-40B4-BE49-F238E27FC236}">
                <a16:creationId xmlns:a16="http://schemas.microsoft.com/office/drawing/2014/main" id="{B2BA17DA-5BBE-4519-99A1-D2733FB864D7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8380983" y="6572911"/>
            <a:ext cx="2407535" cy="529731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grpSp>
        <p:nvGrpSpPr>
          <p:cNvPr id="3" name="PA-组合 2">
            <a:extLst>
              <a:ext uri="{FF2B5EF4-FFF2-40B4-BE49-F238E27FC236}">
                <a16:creationId xmlns:a16="http://schemas.microsoft.com/office/drawing/2014/main" id="{7CF0D2C0-559A-44D5-84C5-966B08B3852C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6870579" y="1551581"/>
            <a:ext cx="3761671" cy="730157"/>
            <a:chOff x="6898350" y="739354"/>
            <a:chExt cx="2550535" cy="730157"/>
          </a:xfrm>
        </p:grpSpPr>
        <p:sp>
          <p:nvSpPr>
            <p:cNvPr id="53" name="PA-标题 1">
              <a:extLst>
                <a:ext uri="{FF2B5EF4-FFF2-40B4-BE49-F238E27FC236}">
                  <a16:creationId xmlns:a16="http://schemas.microsoft.com/office/drawing/2014/main" id="{0D8DCF9B-7B1F-4CA7-9151-00760C2CE454}"/>
                </a:ext>
              </a:extLst>
            </p:cNvPr>
            <p:cNvSpPr txBox="1">
              <a:spLocks/>
            </p:cNvSpPr>
            <p:nvPr>
              <p:custDataLst>
                <p:tags r:id="rId24"/>
              </p:custDataLst>
            </p:nvPr>
          </p:nvSpPr>
          <p:spPr>
            <a:xfrm>
              <a:off x="6898350" y="739354"/>
              <a:ext cx="916405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7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1</a:t>
              </a:r>
              <a:endParaRPr 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64" name="PA-标题 1">
              <a:extLst>
                <a:ext uri="{FF2B5EF4-FFF2-40B4-BE49-F238E27FC236}">
                  <a16:creationId xmlns:a16="http://schemas.microsoft.com/office/drawing/2014/main" id="{F4F6C1D8-3708-4B37-B3EB-B3B1151A48C3}"/>
                </a:ext>
              </a:extLst>
            </p:cNvPr>
            <p:cNvSpPr txBox="1">
              <a:spLocks/>
            </p:cNvSpPr>
            <p:nvPr>
              <p:custDataLst>
                <p:tags r:id="rId25"/>
              </p:custDataLst>
            </p:nvPr>
          </p:nvSpPr>
          <p:spPr>
            <a:xfrm>
              <a:off x="7726515" y="879202"/>
              <a:ext cx="1722370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rm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朴素回溯法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PA-组合 4">
            <a:extLst>
              <a:ext uri="{FF2B5EF4-FFF2-40B4-BE49-F238E27FC236}">
                <a16:creationId xmlns:a16="http://schemas.microsoft.com/office/drawing/2014/main" id="{FC62D572-985F-499F-8ED0-FA5CD0799C6A}"/>
              </a:ext>
            </a:extLst>
          </p:cNvPr>
          <p:cNvGrpSpPr/>
          <p:nvPr>
            <p:custDataLst>
              <p:tags r:id="rId18"/>
            </p:custDataLst>
          </p:nvPr>
        </p:nvGrpSpPr>
        <p:grpSpPr>
          <a:xfrm>
            <a:off x="6881137" y="2955684"/>
            <a:ext cx="3751114" cy="676479"/>
            <a:chOff x="6881136" y="2147194"/>
            <a:chExt cx="2543377" cy="676479"/>
          </a:xfrm>
        </p:grpSpPr>
        <p:sp>
          <p:nvSpPr>
            <p:cNvPr id="37" name="PA-标题 1">
              <a:extLst>
                <a:ext uri="{FF2B5EF4-FFF2-40B4-BE49-F238E27FC236}">
                  <a16:creationId xmlns:a16="http://schemas.microsoft.com/office/drawing/2014/main" id="{352B812F-DC70-4CAF-85A9-A94D03B9D59F}"/>
                </a:ext>
              </a:extLst>
            </p:cNvPr>
            <p:cNvSpPr txBox="1">
              <a:spLocks/>
            </p:cNvSpPr>
            <p:nvPr>
              <p:custDataLst>
                <p:tags r:id="rId22"/>
              </p:custDataLst>
            </p:nvPr>
          </p:nvSpPr>
          <p:spPr>
            <a:xfrm>
              <a:off x="6881136" y="2147194"/>
              <a:ext cx="916406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7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2</a:t>
              </a:r>
              <a:endParaRPr 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65" name="PA-标题 1">
              <a:extLst>
                <a:ext uri="{FF2B5EF4-FFF2-40B4-BE49-F238E27FC236}">
                  <a16:creationId xmlns:a16="http://schemas.microsoft.com/office/drawing/2014/main" id="{164ADDDA-31CA-4B08-9B4C-94633CB9E8F9}"/>
                </a:ext>
              </a:extLst>
            </p:cNvPr>
            <p:cNvSpPr txBox="1">
              <a:spLocks/>
            </p:cNvSpPr>
            <p:nvPr>
              <p:custDataLst>
                <p:tags r:id="rId23"/>
              </p:custDataLst>
            </p:nvPr>
          </p:nvSpPr>
          <p:spPr>
            <a:xfrm>
              <a:off x="7702143" y="2233364"/>
              <a:ext cx="1722370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rm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剪枝策略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PA-组合 7">
            <a:extLst>
              <a:ext uri="{FF2B5EF4-FFF2-40B4-BE49-F238E27FC236}">
                <a16:creationId xmlns:a16="http://schemas.microsoft.com/office/drawing/2014/main" id="{68AC6118-D5CF-4122-8609-96262D3D7DEB}"/>
              </a:ext>
            </a:extLst>
          </p:cNvPr>
          <p:cNvGrpSpPr/>
          <p:nvPr>
            <p:custDataLst>
              <p:tags r:id="rId19"/>
            </p:custDataLst>
          </p:nvPr>
        </p:nvGrpSpPr>
        <p:grpSpPr>
          <a:xfrm>
            <a:off x="6908424" y="4478108"/>
            <a:ext cx="3723826" cy="707471"/>
            <a:chOff x="6962718" y="3687258"/>
            <a:chExt cx="2524875" cy="707471"/>
          </a:xfrm>
        </p:grpSpPr>
        <p:sp>
          <p:nvSpPr>
            <p:cNvPr id="56" name="PA-标题 1">
              <a:extLst>
                <a:ext uri="{FF2B5EF4-FFF2-40B4-BE49-F238E27FC236}">
                  <a16:creationId xmlns:a16="http://schemas.microsoft.com/office/drawing/2014/main" id="{514CB1B8-99E4-49C8-92D8-BE392A72B719}"/>
                </a:ext>
              </a:extLst>
            </p:cNvPr>
            <p:cNvSpPr txBox="1">
              <a:spLocks/>
            </p:cNvSpPr>
            <p:nvPr>
              <p:custDataLst>
                <p:tags r:id="rId20"/>
              </p:custDataLst>
            </p:nvPr>
          </p:nvSpPr>
          <p:spPr>
            <a:xfrm>
              <a:off x="6962718" y="3687258"/>
              <a:ext cx="916405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7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3</a:t>
              </a:r>
              <a:endParaRPr 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66" name="PA-标题 1">
              <a:extLst>
                <a:ext uri="{FF2B5EF4-FFF2-40B4-BE49-F238E27FC236}">
                  <a16:creationId xmlns:a16="http://schemas.microsoft.com/office/drawing/2014/main" id="{D1A0F2D1-8073-4ABF-BDC9-774823509ADB}"/>
                </a:ext>
              </a:extLst>
            </p:cNvPr>
            <p:cNvSpPr txBox="1">
              <a:spLocks/>
            </p:cNvSpPr>
            <p:nvPr>
              <p:custDataLst>
                <p:tags r:id="rId21"/>
              </p:custDataLst>
            </p:nvPr>
          </p:nvSpPr>
          <p:spPr>
            <a:xfrm>
              <a:off x="7765223" y="3804420"/>
              <a:ext cx="1722370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rm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随机地图性能分析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705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7" dur="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8" dur="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11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12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15" dur="7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16" dur="7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19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20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23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24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27" dur="7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28" dur="7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53" presetClass="entr" presetSubtype="16" fill="hold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5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4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0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086 -0.34491 " pathEditMode="relative" rAng="0" ptsTypes="AA">
                                          <p:cBhvr>
                                            <p:cTn id="51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036" y="-1724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2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4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5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7487 -0.13472 " pathEditMode="relative" rAng="0" ptsTypes="AA">
                                          <p:cBhvr>
                                            <p:cTn id="56" dur="1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737" y="-673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7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0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164 0.09005 " pathEditMode="relative" rAng="0" ptsTypes="AA">
                                          <p:cBhvr>
                                            <p:cTn id="61" dur="1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076" y="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2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64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5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269 0.28912 " pathEditMode="relative" rAng="0" ptsTypes="AA">
                                          <p:cBhvr>
                                            <p:cTn id="66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128" y="1444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7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5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2" presetClass="entr" presetSubtype="1" fill="hold" nodeType="withEffect" p14:presetBounceEnd="60000">
                                      <p:stCondLst>
                                        <p:cond delay="288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8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79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2" presetClass="entr" presetSubtype="1" fill="hold" nodeType="withEffect" p14:presetBounceEnd="60000">
                                      <p:stCondLst>
                                        <p:cond delay="338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82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3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4" presetID="2" presetClass="entr" presetSubtype="1" fill="hold" nodeType="withEffect" p14:presetBounceEnd="60000">
                                      <p:stCondLst>
                                        <p:cond delay="388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86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7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9" grpId="0" animBg="1"/>
          <p:bldP spid="49" grpId="1" animBg="1"/>
          <p:bldP spid="49" grpId="2" animBg="1"/>
          <p:bldP spid="48" grpId="0" animBg="1"/>
          <p:bldP spid="48" grpId="1" animBg="1"/>
          <p:bldP spid="48" grpId="2" animBg="1"/>
          <p:bldP spid="45" grpId="0" animBg="1"/>
          <p:bldP spid="45" grpId="1" animBg="1"/>
          <p:bldP spid="45" grpId="2" animBg="1"/>
          <p:bldP spid="43" grpId="0" animBg="1"/>
          <p:bldP spid="43" grpId="1" animBg="1"/>
          <p:bldP spid="43" grpId="2" animBg="1"/>
          <p:bldP spid="7" grpId="0" animBg="1"/>
          <p:bldP spid="4" grpId="0" animBg="1"/>
          <p:bldP spid="6" grpId="0" animBg="1"/>
          <p:bldP spid="15" grpId="0" animBg="1"/>
          <p:bldP spid="27" grpId="0"/>
          <p:bldP spid="51" grpId="0" animBg="1"/>
          <p:bldP spid="46" grpId="0" animBg="1"/>
          <p:bldP spid="54" grpId="0" animBg="1"/>
          <p:bldP spid="68" grpId="0" animBg="1"/>
          <p:bldP spid="73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7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7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7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16" fill="hold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5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1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3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4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086 -0.34491 " pathEditMode="relative" rAng="0" ptsTypes="AA">
                                          <p:cBhvr>
                                            <p:cTn id="55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036" y="-1724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6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8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9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7487 -0.13472 " pathEditMode="relative" rAng="0" ptsTypes="AA">
                                          <p:cBhvr>
                                            <p:cTn id="60" dur="1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737" y="-673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1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63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4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164 0.09005 " pathEditMode="relative" rAng="0" ptsTypes="AA">
                                          <p:cBhvr>
                                            <p:cTn id="65" dur="1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076" y="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6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68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269 0.28912 " pathEditMode="relative" rAng="0" ptsTypes="AA">
                                          <p:cBhvr>
                                            <p:cTn id="70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128" y="1444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1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3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6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9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2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2" presetClass="entr" presetSubtype="1" fill="hold" nodeType="withEffect">
                                      <p:stCondLst>
                                        <p:cond delay="288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5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6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7" presetID="2" presetClass="entr" presetSubtype="1" fill="hold" nodeType="withEffect">
                                      <p:stCondLst>
                                        <p:cond delay="338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9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0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1" presetID="2" presetClass="entr" presetSubtype="1" fill="hold" nodeType="withEffect">
                                      <p:stCondLst>
                                        <p:cond delay="388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3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4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" presetClass="entr" presetSubtype="1" fill="hold" nodeType="withEffect">
                                      <p:stCondLst>
                                        <p:cond delay="438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7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8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9" grpId="0" animBg="1"/>
          <p:bldP spid="49" grpId="1" animBg="1"/>
          <p:bldP spid="49" grpId="2" animBg="1"/>
          <p:bldP spid="48" grpId="0" animBg="1"/>
          <p:bldP spid="48" grpId="1" animBg="1"/>
          <p:bldP spid="48" grpId="2" animBg="1"/>
          <p:bldP spid="45" grpId="0" animBg="1"/>
          <p:bldP spid="45" grpId="1" animBg="1"/>
          <p:bldP spid="45" grpId="2" animBg="1"/>
          <p:bldP spid="43" grpId="0" animBg="1"/>
          <p:bldP spid="43" grpId="1" animBg="1"/>
          <p:bldP spid="43" grpId="2" animBg="1"/>
          <p:bldP spid="7" grpId="0" animBg="1"/>
          <p:bldP spid="4" grpId="0" animBg="1"/>
          <p:bldP spid="6" grpId="0" animBg="1"/>
          <p:bldP spid="15" grpId="0" animBg="1"/>
          <p:bldP spid="27" grpId="0"/>
          <p:bldP spid="51" grpId="0" animBg="1"/>
          <p:bldP spid="46" grpId="0" animBg="1"/>
          <p:bldP spid="54" grpId="0" animBg="1"/>
          <p:bldP spid="57" grpId="0" animBg="1"/>
          <p:bldP spid="68" grpId="0" animBg="1"/>
          <p:bldP spid="73" grpId="0" animBg="1"/>
          <p:bldP spid="74" grpId="0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-圆角矩形 8">
            <a:extLst>
              <a:ext uri="{FF2B5EF4-FFF2-40B4-BE49-F238E27FC236}">
                <a16:creationId xmlns:a16="http://schemas.microsoft.com/office/drawing/2014/main" id="{6E6F20AA-C6E8-44BE-8D19-0D3C9BDEE11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668294" y="3129525"/>
            <a:ext cx="898397" cy="322625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PA-标题 1">
            <a:extLst>
              <a:ext uri="{FF2B5EF4-FFF2-40B4-BE49-F238E27FC236}">
                <a16:creationId xmlns:a16="http://schemas.microsoft.com/office/drawing/2014/main" id="{4CC0907A-1A62-48F4-9B55-9BB7DDD59158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483416" y="2240791"/>
            <a:ext cx="1225168" cy="789201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endParaRPr lang="en-US" sz="13800" dirty="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" name="PA-组合 1">
            <a:extLst>
              <a:ext uri="{FF2B5EF4-FFF2-40B4-BE49-F238E27FC236}">
                <a16:creationId xmlns:a16="http://schemas.microsoft.com/office/drawing/2014/main" id="{FE316119-C1FB-49B5-BFA0-52F96C18D6D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16515" y="388374"/>
            <a:ext cx="2255157" cy="2037622"/>
            <a:chOff x="616515" y="388374"/>
            <a:chExt cx="2255157" cy="2037622"/>
          </a:xfrm>
        </p:grpSpPr>
        <p:sp>
          <p:nvSpPr>
            <p:cNvPr id="16" name="PA-圆角矩形 15">
              <a:extLst>
                <a:ext uri="{FF2B5EF4-FFF2-40B4-BE49-F238E27FC236}">
                  <a16:creationId xmlns:a16="http://schemas.microsoft.com/office/drawing/2014/main" id="{C7CD84A2-40A3-401F-A9DA-409B4ABF871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PA-圆角矩形 16">
              <a:extLst>
                <a:ext uri="{FF2B5EF4-FFF2-40B4-BE49-F238E27FC236}">
                  <a16:creationId xmlns:a16="http://schemas.microsoft.com/office/drawing/2014/main" id="{CE925F5F-607C-407D-A2D0-44942966DD8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PA-圆角矩形 18">
              <a:extLst>
                <a:ext uri="{FF2B5EF4-FFF2-40B4-BE49-F238E27FC236}">
                  <a16:creationId xmlns:a16="http://schemas.microsoft.com/office/drawing/2014/main" id="{38A43B7E-6714-4239-A6C0-A20C9EB6EFE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PA-圆角矩形 22">
              <a:extLst>
                <a:ext uri="{FF2B5EF4-FFF2-40B4-BE49-F238E27FC236}">
                  <a16:creationId xmlns:a16="http://schemas.microsoft.com/office/drawing/2014/main" id="{34B063C5-342C-4688-959C-C9D3F304138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PA-标题 1">
            <a:extLst>
              <a:ext uri="{FF2B5EF4-FFF2-40B4-BE49-F238E27FC236}">
                <a16:creationId xmlns:a16="http://schemas.microsoft.com/office/drawing/2014/main" id="{4C4B8C7B-8E26-4887-A7AE-5F2964DE728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834826" y="3692895"/>
            <a:ext cx="2565331" cy="590309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蛮力法效率</a:t>
            </a:r>
          </a:p>
        </p:txBody>
      </p:sp>
      <p:grpSp>
        <p:nvGrpSpPr>
          <p:cNvPr id="20" name="PA-组合 1">
            <a:extLst>
              <a:ext uri="{FF2B5EF4-FFF2-40B4-BE49-F238E27FC236}">
                <a16:creationId xmlns:a16="http://schemas.microsoft.com/office/drawing/2014/main" id="{45381ABC-1EC4-4B4F-A10C-E3936D973F2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16515" y="391920"/>
            <a:ext cx="2255157" cy="2037622"/>
            <a:chOff x="616515" y="388374"/>
            <a:chExt cx="2255157" cy="2037622"/>
          </a:xfrm>
        </p:grpSpPr>
        <p:sp>
          <p:nvSpPr>
            <p:cNvPr id="24" name="PA-圆角矩形 15">
              <a:extLst>
                <a:ext uri="{FF2B5EF4-FFF2-40B4-BE49-F238E27FC236}">
                  <a16:creationId xmlns:a16="http://schemas.microsoft.com/office/drawing/2014/main" id="{6C04B470-BFEF-4F6A-A946-471B5D355C1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PA-圆角矩形 16">
              <a:extLst>
                <a:ext uri="{FF2B5EF4-FFF2-40B4-BE49-F238E27FC236}">
                  <a16:creationId xmlns:a16="http://schemas.microsoft.com/office/drawing/2014/main" id="{6C0F716D-B261-4372-8C3B-59CA2EBD6F6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PA-圆角矩形 18">
              <a:extLst>
                <a:ext uri="{FF2B5EF4-FFF2-40B4-BE49-F238E27FC236}">
                  <a16:creationId xmlns:a16="http://schemas.microsoft.com/office/drawing/2014/main" id="{1C95B621-18DC-4B25-BF35-BBFB14FA147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PA-圆角矩形 22">
              <a:extLst>
                <a:ext uri="{FF2B5EF4-FFF2-40B4-BE49-F238E27FC236}">
                  <a16:creationId xmlns:a16="http://schemas.microsoft.com/office/drawing/2014/main" id="{37E85A14-7BB4-4957-86CD-3FC71F1F179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PA-组合 2">
            <a:extLst>
              <a:ext uri="{FF2B5EF4-FFF2-40B4-BE49-F238E27FC236}">
                <a16:creationId xmlns:a16="http://schemas.microsoft.com/office/drawing/2014/main" id="{03B04EBE-E721-4505-A5C8-558D26B631D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29" name="PA-圆角矩形 20">
              <a:extLst>
                <a:ext uri="{FF2B5EF4-FFF2-40B4-BE49-F238E27FC236}">
                  <a16:creationId xmlns:a16="http://schemas.microsoft.com/office/drawing/2014/main" id="{9343CEE2-BF0F-480A-8A51-D0081B2B9E5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PA-圆角矩形 21">
              <a:extLst>
                <a:ext uri="{FF2B5EF4-FFF2-40B4-BE49-F238E27FC236}">
                  <a16:creationId xmlns:a16="http://schemas.microsoft.com/office/drawing/2014/main" id="{2B1389B9-66FC-45FA-8950-863C406B87B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PA-组合 2">
            <a:extLst>
              <a:ext uri="{FF2B5EF4-FFF2-40B4-BE49-F238E27FC236}">
                <a16:creationId xmlns:a16="http://schemas.microsoft.com/office/drawing/2014/main" id="{88B89166-D218-4AE5-8CA9-5E49DAABB1F4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32" name="PA-圆角矩形 20">
              <a:extLst>
                <a:ext uri="{FF2B5EF4-FFF2-40B4-BE49-F238E27FC236}">
                  <a16:creationId xmlns:a16="http://schemas.microsoft.com/office/drawing/2014/main" id="{28A80E83-1203-4740-B296-4AD1E3CE08F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PA-圆角矩形 21">
              <a:extLst>
                <a:ext uri="{FF2B5EF4-FFF2-40B4-BE49-F238E27FC236}">
                  <a16:creationId xmlns:a16="http://schemas.microsoft.com/office/drawing/2014/main" id="{15ED84CC-1617-4DF3-B51B-3A8B64AEAA2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PA-圆角矩形 9">
            <a:extLst>
              <a:ext uri="{FF2B5EF4-FFF2-40B4-BE49-F238E27FC236}">
                <a16:creationId xmlns:a16="http://schemas.microsoft.com/office/drawing/2014/main" id="{23F784A1-6035-4AB1-9021-4A364ADDD4D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303588" y="2822003"/>
            <a:ext cx="497667" cy="497668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702628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 p14:bounceEnd="28000"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 p14:presetBounceEnd="47000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7000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7000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4" accel="40000" fill="hold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>
            <a:extLst>
              <a:ext uri="{FF2B5EF4-FFF2-40B4-BE49-F238E27FC236}">
                <a16:creationId xmlns:a16="http://schemas.microsoft.com/office/drawing/2014/main" id="{6CF72A71-887C-4846-A632-9C33C464B760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1D368C49-5B4D-4B14-B48F-54229B32341E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2B6853D3-0C18-40C4-B998-068CD0F08D11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CBD1426E-1655-4623-BB5D-DE7D5EFAFAD7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734C670D-D6C4-418C-A0A8-9E167BB6B53C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蛮力法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F13F29D-C1E4-41D5-8781-6AFFF0B4A664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D6C713E0-DDB0-4F9D-966F-3974E86CE85C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3EC253FD-0E05-427F-8356-40EBF0BCF482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847590D7-792E-32AF-C578-822E3B2A6195}"/>
              </a:ext>
            </a:extLst>
          </p:cNvPr>
          <p:cNvSpPr txBox="1"/>
          <p:nvPr/>
        </p:nvSpPr>
        <p:spPr>
          <a:xfrm>
            <a:off x="1052187" y="1320800"/>
            <a:ext cx="41294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算法思想：每次对点进行选色，合法则选取后选定下一个点，不合法则选取下一个颜色，在该点尝试所有颜色后恢复状态回溯到上一个点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9803827-4E4D-6580-1D7D-F48258EBCD09}"/>
                  </a:ext>
                </a:extLst>
              </p:cNvPr>
              <p:cNvSpPr txBox="1"/>
              <p:nvPr/>
            </p:nvSpPr>
            <p:spPr>
              <a:xfrm>
                <a:off x="1089131" y="2918778"/>
                <a:ext cx="32488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时间复杂度：</a:t>
                </a:r>
                <a:r>
                  <a:rPr lang="en-US" altLang="zh-CN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lang="en-US" altLang="zh-CN" dirty="0"/>
                  <a:t>)  n</a:t>
                </a:r>
                <a:r>
                  <a:rPr lang="zh-CN" altLang="en-US" dirty="0"/>
                  <a:t>国</a:t>
                </a:r>
                <a:r>
                  <a:rPr lang="en-US" altLang="zh-CN" dirty="0"/>
                  <a:t>m</a:t>
                </a:r>
                <a:r>
                  <a:rPr lang="zh-CN" altLang="en-US" dirty="0"/>
                  <a:t>色</a:t>
                </a:r>
                <a:r>
                  <a:rPr lang="en-US" altLang="zh-CN" b="0" i="1" dirty="0">
                    <a:solidFill>
                      <a:srgbClr val="404040"/>
                    </a:solidFill>
                    <a:effectLst/>
                    <a:latin typeface="KaTeX_Math"/>
                  </a:rPr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9803827-4E4D-6580-1D7D-F48258EBC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131" y="2918778"/>
                <a:ext cx="3248826" cy="369332"/>
              </a:xfrm>
              <a:prstGeom prst="rect">
                <a:avLst/>
              </a:prstGeom>
              <a:blipFill>
                <a:blip r:embed="rId2"/>
                <a:stretch>
                  <a:fillRect l="-1689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7CF8896F-C596-40F7-2800-E92925F2E3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3" t="13702" r="15465" b="13659"/>
          <a:stretch/>
        </p:blipFill>
        <p:spPr>
          <a:xfrm>
            <a:off x="5328558" y="1834242"/>
            <a:ext cx="6351010" cy="377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89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 p14:presetBounceEnd="38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 p14:bounceEnd="38000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58" presetClass="path" presetSubtype="0" accel="6700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animMotion origin="layout" path="M 4.79167E-6 2.59259E-6 C 0.14778 -0.12037 0.38645 -0.00741 0.40429 0.18727 " pathEditMode="relative" rAng="0" ptsTypes="AA">
                                          <p:cBhvr>
                                            <p:cTn id="18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208" y="68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xit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58" presetClass="path" presetSubtype="0" accel="3600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animMotion origin="layout" path="M -2.08333E-6 4.07407E-6 C 0.05156 -0.15741 0.1681 -0.35047 0.16836 -0.16297 " pathEditMode="relative" rAng="0" ptsTypes="AA">
                                          <p:cBhvr>
                                            <p:cTn id="24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411" y="-120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6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5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21" presetClass="entr" presetSubtype="1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3" dur="2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2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1" presetClass="entr" presetSubtype="1" fill="hold" grpId="0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9" dur="2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8" presetClass="emph" presetSubtype="0" fill="hold" grpId="1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animRot by="10800000">
                                          <p:cBhvr>
                                            <p:cTn id="41" dur="1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2" presetID="22" presetClass="entr" presetSubtype="8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1" presetClass="entr" presetSubtype="1" fill="hold" grpId="0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47" dur="12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2" presetClass="entr" presetSubtype="1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0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22" presetClass="entr" presetSubtype="4" fill="hold" grpId="0" nodeType="withEffect">
                                      <p:stCondLst>
                                        <p:cond delay="27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3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22" presetClass="entr" presetSubtype="1" fill="hold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6" dur="10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27" grpId="0" animBg="1"/>
          <p:bldP spid="13" grpId="0" animBg="1"/>
          <p:bldP spid="13" grpId="1" animBg="1"/>
          <p:bldP spid="12" grpId="0" animBg="1"/>
          <p:bldP spid="26" grpId="0" animBg="1"/>
          <p:bldP spid="29" grpId="0" animBg="1"/>
          <p:bldP spid="30" grpId="0" animBg="1"/>
          <p:bldP spid="31" grpId="0" animBg="1"/>
          <p:bldP spid="32" grpId="0" animBg="1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-圆角矩形 8">
            <a:extLst>
              <a:ext uri="{FF2B5EF4-FFF2-40B4-BE49-F238E27FC236}">
                <a16:creationId xmlns:a16="http://schemas.microsoft.com/office/drawing/2014/main" id="{6E6F20AA-C6E8-44BE-8D19-0D3C9BDEE11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668294" y="3129525"/>
            <a:ext cx="1184626" cy="322625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PA-标题 1">
            <a:extLst>
              <a:ext uri="{FF2B5EF4-FFF2-40B4-BE49-F238E27FC236}">
                <a16:creationId xmlns:a16="http://schemas.microsoft.com/office/drawing/2014/main" id="{4CC0907A-1A62-48F4-9B55-9BB7DDD59158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668294" y="2268830"/>
            <a:ext cx="1225168" cy="761162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3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</a:p>
        </p:txBody>
      </p:sp>
      <p:grpSp>
        <p:nvGrpSpPr>
          <p:cNvPr id="2" name="PA-组合 1">
            <a:extLst>
              <a:ext uri="{FF2B5EF4-FFF2-40B4-BE49-F238E27FC236}">
                <a16:creationId xmlns:a16="http://schemas.microsoft.com/office/drawing/2014/main" id="{FE316119-C1FB-49B5-BFA0-52F96C18D6D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16515" y="388374"/>
            <a:ext cx="2255157" cy="2037622"/>
            <a:chOff x="616515" y="388374"/>
            <a:chExt cx="2255157" cy="2037622"/>
          </a:xfrm>
        </p:grpSpPr>
        <p:sp>
          <p:nvSpPr>
            <p:cNvPr id="16" name="PA-圆角矩形 15">
              <a:extLst>
                <a:ext uri="{FF2B5EF4-FFF2-40B4-BE49-F238E27FC236}">
                  <a16:creationId xmlns:a16="http://schemas.microsoft.com/office/drawing/2014/main" id="{C7CD84A2-40A3-401F-A9DA-409B4ABF871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PA-圆角矩形 16">
              <a:extLst>
                <a:ext uri="{FF2B5EF4-FFF2-40B4-BE49-F238E27FC236}">
                  <a16:creationId xmlns:a16="http://schemas.microsoft.com/office/drawing/2014/main" id="{CE925F5F-607C-407D-A2D0-44942966DD8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PA-圆角矩形 18">
              <a:extLst>
                <a:ext uri="{FF2B5EF4-FFF2-40B4-BE49-F238E27FC236}">
                  <a16:creationId xmlns:a16="http://schemas.microsoft.com/office/drawing/2014/main" id="{38A43B7E-6714-4239-A6C0-A20C9EB6EFE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PA-圆角矩形 22">
              <a:extLst>
                <a:ext uri="{FF2B5EF4-FFF2-40B4-BE49-F238E27FC236}">
                  <a16:creationId xmlns:a16="http://schemas.microsoft.com/office/drawing/2014/main" id="{34B063C5-342C-4688-959C-C9D3F304138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PA-标题 1">
            <a:extLst>
              <a:ext uri="{FF2B5EF4-FFF2-40B4-BE49-F238E27FC236}">
                <a16:creationId xmlns:a16="http://schemas.microsoft.com/office/drawing/2014/main" id="{4C4B8C7B-8E26-4887-A7AE-5F2964DE728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834826" y="3692895"/>
            <a:ext cx="2565331" cy="590309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剪枝策略</a:t>
            </a:r>
          </a:p>
        </p:txBody>
      </p:sp>
      <p:grpSp>
        <p:nvGrpSpPr>
          <p:cNvPr id="20" name="PA-组合 1">
            <a:extLst>
              <a:ext uri="{FF2B5EF4-FFF2-40B4-BE49-F238E27FC236}">
                <a16:creationId xmlns:a16="http://schemas.microsoft.com/office/drawing/2014/main" id="{45381ABC-1EC4-4B4F-A10C-E3936D973F2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16515" y="391920"/>
            <a:ext cx="2255157" cy="2037622"/>
            <a:chOff x="616515" y="388374"/>
            <a:chExt cx="2255157" cy="2037622"/>
          </a:xfrm>
        </p:grpSpPr>
        <p:sp>
          <p:nvSpPr>
            <p:cNvPr id="24" name="PA-圆角矩形 15">
              <a:extLst>
                <a:ext uri="{FF2B5EF4-FFF2-40B4-BE49-F238E27FC236}">
                  <a16:creationId xmlns:a16="http://schemas.microsoft.com/office/drawing/2014/main" id="{6C04B470-BFEF-4F6A-A946-471B5D355C1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PA-圆角矩形 16">
              <a:extLst>
                <a:ext uri="{FF2B5EF4-FFF2-40B4-BE49-F238E27FC236}">
                  <a16:creationId xmlns:a16="http://schemas.microsoft.com/office/drawing/2014/main" id="{6C0F716D-B261-4372-8C3B-59CA2EBD6F6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PA-圆角矩形 18">
              <a:extLst>
                <a:ext uri="{FF2B5EF4-FFF2-40B4-BE49-F238E27FC236}">
                  <a16:creationId xmlns:a16="http://schemas.microsoft.com/office/drawing/2014/main" id="{1C95B621-18DC-4B25-BF35-BBFB14FA147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PA-圆角矩形 22">
              <a:extLst>
                <a:ext uri="{FF2B5EF4-FFF2-40B4-BE49-F238E27FC236}">
                  <a16:creationId xmlns:a16="http://schemas.microsoft.com/office/drawing/2014/main" id="{37E85A14-7BB4-4957-86CD-3FC71F1F179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PA-组合 2">
            <a:extLst>
              <a:ext uri="{FF2B5EF4-FFF2-40B4-BE49-F238E27FC236}">
                <a16:creationId xmlns:a16="http://schemas.microsoft.com/office/drawing/2014/main" id="{03B04EBE-E721-4505-A5C8-558D26B631D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29" name="PA-圆角矩形 20">
              <a:extLst>
                <a:ext uri="{FF2B5EF4-FFF2-40B4-BE49-F238E27FC236}">
                  <a16:creationId xmlns:a16="http://schemas.microsoft.com/office/drawing/2014/main" id="{9343CEE2-BF0F-480A-8A51-D0081B2B9E5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PA-圆角矩形 21">
              <a:extLst>
                <a:ext uri="{FF2B5EF4-FFF2-40B4-BE49-F238E27FC236}">
                  <a16:creationId xmlns:a16="http://schemas.microsoft.com/office/drawing/2014/main" id="{2B1389B9-66FC-45FA-8950-863C406B87B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PA-组合 2">
            <a:extLst>
              <a:ext uri="{FF2B5EF4-FFF2-40B4-BE49-F238E27FC236}">
                <a16:creationId xmlns:a16="http://schemas.microsoft.com/office/drawing/2014/main" id="{88B89166-D218-4AE5-8CA9-5E49DAABB1F4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32" name="PA-圆角矩形 20">
              <a:extLst>
                <a:ext uri="{FF2B5EF4-FFF2-40B4-BE49-F238E27FC236}">
                  <a16:creationId xmlns:a16="http://schemas.microsoft.com/office/drawing/2014/main" id="{28A80E83-1203-4740-B296-4AD1E3CE08F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PA-圆角矩形 21">
              <a:extLst>
                <a:ext uri="{FF2B5EF4-FFF2-40B4-BE49-F238E27FC236}">
                  <a16:creationId xmlns:a16="http://schemas.microsoft.com/office/drawing/2014/main" id="{15ED84CC-1617-4DF3-B51B-3A8B64AEAA2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PA-圆角矩形 9">
            <a:extLst>
              <a:ext uri="{FF2B5EF4-FFF2-40B4-BE49-F238E27FC236}">
                <a16:creationId xmlns:a16="http://schemas.microsoft.com/office/drawing/2014/main" id="{23F784A1-6035-4AB1-9021-4A364ADDD4D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303588" y="2822003"/>
            <a:ext cx="497667" cy="497668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88907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 p14:bounceEnd="28000"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 p14:presetBounceEnd="47000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7000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7000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4" accel="40000" fill="hold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83A330B1-4DE4-4166-9CC2-8FCCA7970594}"/>
              </a:ext>
            </a:extLst>
          </p:cNvPr>
          <p:cNvGrpSpPr/>
          <p:nvPr/>
        </p:nvGrpSpPr>
        <p:grpSpPr>
          <a:xfrm>
            <a:off x="1055266" y="634888"/>
            <a:ext cx="2531577" cy="400110"/>
            <a:chOff x="1148080" y="833460"/>
            <a:chExt cx="2531577" cy="4001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BC705468-A605-4090-9DAF-237608E0F93C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3DD6AAE6-7752-4CB7-88C2-5E13994BA30E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654C22CE-59C2-496D-B598-70C287E6957F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D95E7B05-CC54-493F-A853-E3B338F3A4F9}"/>
                </a:ext>
              </a:extLst>
            </p:cNvPr>
            <p:cNvSpPr txBox="1"/>
            <p:nvPr/>
          </p:nvSpPr>
          <p:spPr>
            <a:xfrm>
              <a:off x="1396987" y="833460"/>
              <a:ext cx="22826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下一个变量选取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B2884699-5DFA-4BEC-8CCE-D13D269D61EE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136A69FD-B86E-4593-8837-77CBDDBAAD0D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B686100A-BEB5-4EDA-A82B-B7D7F10C459E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A17B31E-6E62-E643-6AD1-3111B392E6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9" t="12173" r="52952" b="7929"/>
          <a:stretch/>
        </p:blipFill>
        <p:spPr>
          <a:xfrm>
            <a:off x="7102927" y="1034998"/>
            <a:ext cx="4093029" cy="491013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69B6D5B-E162-4932-B953-793FE48818CE}"/>
              </a:ext>
            </a:extLst>
          </p:cNvPr>
          <p:cNvSpPr txBox="1"/>
          <p:nvPr/>
        </p:nvSpPr>
        <p:spPr>
          <a:xfrm>
            <a:off x="1172857" y="2146563"/>
            <a:ext cx="4700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MRV</a:t>
            </a:r>
            <a:r>
              <a:rPr lang="zh-CN" altLang="en-US" dirty="0"/>
              <a:t>：选取可选颜色最少的点，减少分支数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DF03F82-FE15-4972-5133-E9F4511909B4}"/>
              </a:ext>
            </a:extLst>
          </p:cNvPr>
          <p:cNvSpPr txBox="1"/>
          <p:nvPr/>
        </p:nvSpPr>
        <p:spPr>
          <a:xfrm>
            <a:off x="1172857" y="2958331"/>
            <a:ext cx="4196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DH</a:t>
            </a:r>
            <a:r>
              <a:rPr lang="zh-CN" altLang="en-US" dirty="0"/>
              <a:t>：选取度最大的点，该点受约束最多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B03F6C6-C432-6C29-DDDC-D1F51A41D1DD}"/>
              </a:ext>
            </a:extLst>
          </p:cNvPr>
          <p:cNvSpPr txBox="1"/>
          <p:nvPr/>
        </p:nvSpPr>
        <p:spPr>
          <a:xfrm>
            <a:off x="1172857" y="4233623"/>
            <a:ext cx="4646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通过选取有约束的点可以减少回溯的分支，更早填涂失败以回溯，避免深度过深的失败使时间过长</a:t>
            </a:r>
          </a:p>
        </p:txBody>
      </p:sp>
    </p:spTree>
    <p:extLst>
      <p:ext uri="{BB962C8B-B14F-4D97-AF65-F5344CB8AC3E}">
        <p14:creationId xmlns:p14="http://schemas.microsoft.com/office/powerpoint/2010/main" val="2821861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C91196-38BA-AE54-0009-E6E9C407B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091428EB-00BA-E232-D892-AD644A1CFBF6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10D9009A-F968-6183-164E-05A34C4F99E7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631EE5AE-3F71-0209-588A-C56350D72F21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422C2066-010B-A330-75C8-361A28FC090C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F81C4AA9-3FD1-F375-4573-312F2869691D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向前探查</a:t>
              </a:r>
            </a:p>
          </p:txBody>
        </p:sp>
      </p:grpSp>
      <p:pic>
        <p:nvPicPr>
          <p:cNvPr id="32" name="图片 31">
            <a:extLst>
              <a:ext uri="{FF2B5EF4-FFF2-40B4-BE49-F238E27FC236}">
                <a16:creationId xmlns:a16="http://schemas.microsoft.com/office/drawing/2014/main" id="{CDF78DD6-5149-0244-CA43-62A2D9C2B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8" t="27778" r="38897" b="28730"/>
          <a:stretch/>
        </p:blipFill>
        <p:spPr>
          <a:xfrm>
            <a:off x="6159655" y="2046514"/>
            <a:ext cx="5564259" cy="2982686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05582A43-98B5-0EC5-30D7-55083EAE6DD1}"/>
              </a:ext>
            </a:extLst>
          </p:cNvPr>
          <p:cNvSpPr txBox="1"/>
          <p:nvPr/>
        </p:nvSpPr>
        <p:spPr>
          <a:xfrm>
            <a:off x="1736272" y="2890157"/>
            <a:ext cx="2705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当剩余点存在无色填涂的情况时直接回溯，避免下一层无意义的探索</a:t>
            </a:r>
          </a:p>
        </p:txBody>
      </p:sp>
    </p:spTree>
    <p:extLst>
      <p:ext uri="{BB962C8B-B14F-4D97-AF65-F5344CB8AC3E}">
        <p14:creationId xmlns:p14="http://schemas.microsoft.com/office/powerpoint/2010/main" val="3984575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AE1248-242C-BBC7-A87D-D778D24C1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E1332DA9-AF94-4DE5-14C2-BE5E52E1A8D3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E8024869-A60D-8E3D-CEAF-2AEEC121213A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6B1C85D8-91E5-F6E7-D60B-D3D07BA98E3A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31F359E4-043B-9001-7FC2-AC16301280E1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155CCE38-AF5E-8688-529F-2FC1F5A47989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颜色轮询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E3AD750C-61C4-6B8E-C6B3-DA8A79F575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91" t="23017" r="2082" b="18174"/>
          <a:stretch/>
        </p:blipFill>
        <p:spPr>
          <a:xfrm>
            <a:off x="6830784" y="1412421"/>
            <a:ext cx="4775045" cy="403315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7446EEF-9516-6275-B698-6190E92E2DB6}"/>
              </a:ext>
            </a:extLst>
          </p:cNvPr>
          <p:cNvSpPr txBox="1"/>
          <p:nvPr/>
        </p:nvSpPr>
        <p:spPr>
          <a:xfrm>
            <a:off x="1304173" y="2318457"/>
            <a:ext cx="456319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为所有未填涂过的颜色都是等价的（例如第一个点所有颜色都等价），当该点填涂的颜色是其他点都没有填涂过的颜色时，可以将填涂了这个新颜色的解的个数直接乘以剩余可填新颜色数，即为这个点分支下的解的个数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优点是可以大幅优化，缺点是无法知道中途其他等价的解的具体填涂</a:t>
            </a:r>
          </a:p>
        </p:txBody>
      </p:sp>
    </p:spTree>
    <p:extLst>
      <p:ext uri="{BB962C8B-B14F-4D97-AF65-F5344CB8AC3E}">
        <p14:creationId xmlns:p14="http://schemas.microsoft.com/office/powerpoint/2010/main" val="859708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6C2536-CA77-B1E1-04FE-83CBFEDFF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785263A4-0FBA-CD3B-379F-C38BF46C33C1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97977447-6D27-0764-7907-72B1CC08CB12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5C47CD54-DAFB-1560-4BDB-E3438092DE8F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1C03D2BF-2D50-229E-1B76-93401A37BE4C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E556EF91-BE19-AD0F-9E07-C57358D66623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颜色轮询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AA89B740-EC33-875E-D91C-A120133D72D5}"/>
              </a:ext>
            </a:extLst>
          </p:cNvPr>
          <p:cNvSpPr txBox="1"/>
          <p:nvPr/>
        </p:nvSpPr>
        <p:spPr>
          <a:xfrm>
            <a:off x="1180418" y="3191294"/>
            <a:ext cx="4563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回溯树剪枝如图，每个节点都只需考虑较少的分支，因此可以较好剪枝，极大缩减耗时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9BDAF93-3FFB-DE24-F276-AE28C7869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743" y="1368243"/>
            <a:ext cx="5427438" cy="448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272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52E369-6EFF-D271-7A14-05A2D1C62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7B787399-32C5-1B68-87C7-ED9FC30F1C47}"/>
              </a:ext>
            </a:extLst>
          </p:cNvPr>
          <p:cNvGrpSpPr/>
          <p:nvPr/>
        </p:nvGrpSpPr>
        <p:grpSpPr>
          <a:xfrm>
            <a:off x="1055266" y="634888"/>
            <a:ext cx="3015991" cy="400110"/>
            <a:chOff x="1148080" y="833460"/>
            <a:chExt cx="3015991" cy="4001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C662EA59-E98C-4FCF-1438-81982697766D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B0823FE7-EE24-2D25-AEB1-D93CC6BE641F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41920164-322F-209C-B4AC-F1E8E05177C9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04DBEAD2-3F79-566F-C9D5-58EF7FB472FA}"/>
                </a:ext>
              </a:extLst>
            </p:cNvPr>
            <p:cNvSpPr txBox="1"/>
            <p:nvPr/>
          </p:nvSpPr>
          <p:spPr>
            <a:xfrm>
              <a:off x="1396987" y="833460"/>
              <a:ext cx="27670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不同剪枝策略组合</a:t>
              </a: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FE7ABBC4-A534-8B64-E48C-43A2EC71B417}"/>
              </a:ext>
            </a:extLst>
          </p:cNvPr>
          <p:cNvSpPr txBox="1"/>
          <p:nvPr/>
        </p:nvSpPr>
        <p:spPr>
          <a:xfrm>
            <a:off x="8186553" y="2095599"/>
            <a:ext cx="32628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小规模下为了剪枝产生的操作可能反而造成耗时更长，但在大规模下剪枝是必要的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A4D66F-6A54-6F57-4AE0-92B47DE070AB}"/>
              </a:ext>
            </a:extLst>
          </p:cNvPr>
          <p:cNvSpPr txBox="1"/>
          <p:nvPr/>
        </p:nvSpPr>
        <p:spPr>
          <a:xfrm>
            <a:off x="8186553" y="3729645"/>
            <a:ext cx="32628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颜色轮询的策略是剪枝效果最好的，但需要找到第一个解才能有效剪枝；</a:t>
            </a:r>
            <a:endParaRPr lang="en-US" altLang="zh-CN" dirty="0"/>
          </a:p>
          <a:p>
            <a:r>
              <a:rPr lang="zh-CN" altLang="en-US" dirty="0"/>
              <a:t>而</a:t>
            </a:r>
            <a:r>
              <a:rPr lang="en-US" altLang="zh-CN" dirty="0" err="1"/>
              <a:t>mrv</a:t>
            </a:r>
            <a:r>
              <a:rPr lang="zh-CN" altLang="en-US" dirty="0"/>
              <a:t>与</a:t>
            </a:r>
            <a:r>
              <a:rPr lang="en-US" altLang="zh-CN" dirty="0"/>
              <a:t>dh</a:t>
            </a:r>
            <a:r>
              <a:rPr lang="zh-CN" altLang="en-US" dirty="0"/>
              <a:t>的结合可以有效对第一个解进行剪枝；</a:t>
            </a:r>
            <a:endParaRPr lang="en-US" altLang="zh-CN" dirty="0"/>
          </a:p>
          <a:p>
            <a:r>
              <a:rPr lang="zh-CN" altLang="en-US" dirty="0"/>
              <a:t>向前探查对剪枝有所优化，但效果不如前两者明显</a:t>
            </a:r>
            <a:endParaRPr lang="en-US" altLang="zh-CN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BC984F9-DF7A-7D53-7476-9CA2BE423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053338"/>
              </p:ext>
            </p:extLst>
          </p:nvPr>
        </p:nvGraphicFramePr>
        <p:xfrm>
          <a:off x="544286" y="1288683"/>
          <a:ext cx="7218077" cy="53767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1155">
                  <a:extLst>
                    <a:ext uri="{9D8B030D-6E8A-4147-A177-3AD203B41FA5}">
                      <a16:colId xmlns:a16="http://schemas.microsoft.com/office/drawing/2014/main" val="3883259416"/>
                    </a:ext>
                  </a:extLst>
                </a:gridCol>
                <a:gridCol w="1591051">
                  <a:extLst>
                    <a:ext uri="{9D8B030D-6E8A-4147-A177-3AD203B41FA5}">
                      <a16:colId xmlns:a16="http://schemas.microsoft.com/office/drawing/2014/main" val="3904486466"/>
                    </a:ext>
                  </a:extLst>
                </a:gridCol>
                <a:gridCol w="1160263">
                  <a:extLst>
                    <a:ext uri="{9D8B030D-6E8A-4147-A177-3AD203B41FA5}">
                      <a16:colId xmlns:a16="http://schemas.microsoft.com/office/drawing/2014/main" val="1393865575"/>
                    </a:ext>
                  </a:extLst>
                </a:gridCol>
                <a:gridCol w="689095">
                  <a:extLst>
                    <a:ext uri="{9D8B030D-6E8A-4147-A177-3AD203B41FA5}">
                      <a16:colId xmlns:a16="http://schemas.microsoft.com/office/drawing/2014/main" val="68537221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733749856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74504286"/>
                    </a:ext>
                  </a:extLst>
                </a:gridCol>
                <a:gridCol w="923413">
                  <a:extLst>
                    <a:ext uri="{9D8B030D-6E8A-4147-A177-3AD203B41FA5}">
                      <a16:colId xmlns:a16="http://schemas.microsoft.com/office/drawing/2014/main" val="1406952659"/>
                    </a:ext>
                  </a:extLst>
                </a:gridCol>
              </a:tblGrid>
              <a:tr h="360763"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该两地图下解过多，只考虑找第一个解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extLst>
                  <a:ext uri="{0D108BD9-81ED-4DB2-BD59-A6C34878D82A}">
                    <a16:rowId xmlns:a16="http://schemas.microsoft.com/office/drawing/2014/main" val="1817297843"/>
                  </a:ext>
                </a:extLst>
              </a:tr>
              <a:tr h="18165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时间（</a:t>
                      </a:r>
                      <a:r>
                        <a:rPr lang="en-US" sz="1100" u="none" strike="noStrike" dirty="0" err="1">
                          <a:effectLst/>
                        </a:rPr>
                        <a:t>ms</a:t>
                      </a:r>
                      <a:r>
                        <a:rPr lang="en-US" sz="1100" u="none" strike="noStrike" dirty="0">
                          <a:effectLst/>
                        </a:rPr>
                        <a:t>）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u="none" strike="noStrike">
                          <a:effectLst/>
                        </a:rPr>
                        <a:t>9_4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u="none" strike="noStrike" dirty="0">
                          <a:effectLst/>
                        </a:rPr>
                        <a:t>450_5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u="none" strike="noStrike">
                          <a:effectLst/>
                        </a:rPr>
                        <a:t>450_15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u="none" strike="noStrike">
                          <a:effectLst/>
                        </a:rPr>
                        <a:t>450_15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u="none" strike="noStrike">
                          <a:effectLst/>
                        </a:rPr>
                        <a:t>450_25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extLst>
                  <a:ext uri="{0D108BD9-81ED-4DB2-BD59-A6C34878D82A}">
                    <a16:rowId xmlns:a16="http://schemas.microsoft.com/office/drawing/2014/main" val="282309252"/>
                  </a:ext>
                </a:extLst>
              </a:tr>
              <a:tr h="13585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第一个解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朴素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0.00905991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/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/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u="none" strike="noStrike" dirty="0">
                          <a:effectLst/>
                        </a:rPr>
                        <a:t>/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/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extLst>
                  <a:ext uri="{0D108BD9-81ED-4DB2-BD59-A6C34878D82A}">
                    <a16:rowId xmlns:a16="http://schemas.microsoft.com/office/drawing/2014/main" val="4126659639"/>
                  </a:ext>
                </a:extLst>
              </a:tr>
              <a:tr h="13585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全部解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1.58811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extLst>
                  <a:ext uri="{0D108BD9-81ED-4DB2-BD59-A6C34878D82A}">
                    <a16:rowId xmlns:a16="http://schemas.microsoft.com/office/drawing/2014/main" val="4002238844"/>
                  </a:ext>
                </a:extLst>
              </a:tr>
              <a:tr h="13585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第一个解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 dirty="0">
                          <a:effectLst/>
                        </a:rPr>
                        <a:t>朴素</a:t>
                      </a:r>
                      <a:r>
                        <a:rPr lang="en-US" altLang="zh-CN" sz="1100" u="none" strike="noStrike" dirty="0">
                          <a:effectLst/>
                        </a:rPr>
                        <a:t>+</a:t>
                      </a:r>
                      <a:r>
                        <a:rPr lang="zh-CN" altLang="en-US" sz="1100" u="none" strike="noStrike" dirty="0">
                          <a:effectLst/>
                        </a:rPr>
                        <a:t>探查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0.0109673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extLst>
                  <a:ext uri="{0D108BD9-81ED-4DB2-BD59-A6C34878D82A}">
                    <a16:rowId xmlns:a16="http://schemas.microsoft.com/office/drawing/2014/main" val="4204665713"/>
                  </a:ext>
                </a:extLst>
              </a:tr>
              <a:tr h="13585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全部解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1.62292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extLst>
                  <a:ext uri="{0D108BD9-81ED-4DB2-BD59-A6C34878D82A}">
                    <a16:rowId xmlns:a16="http://schemas.microsoft.com/office/drawing/2014/main" val="2612091959"/>
                  </a:ext>
                </a:extLst>
              </a:tr>
              <a:tr h="13585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第一个解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>
                          <a:effectLst/>
                        </a:rPr>
                        <a:t>朴素</a:t>
                      </a:r>
                      <a:r>
                        <a:rPr lang="en-US" altLang="zh-CN" sz="1100" u="none" strike="noStrike">
                          <a:effectLst/>
                        </a:rPr>
                        <a:t>+</a:t>
                      </a:r>
                      <a:r>
                        <a:rPr lang="zh-CN" altLang="en-US" sz="1100" u="none" strike="noStrike">
                          <a:effectLst/>
                        </a:rPr>
                        <a:t>轮询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0.00905991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extLst>
                  <a:ext uri="{0D108BD9-81ED-4DB2-BD59-A6C34878D82A}">
                    <a16:rowId xmlns:a16="http://schemas.microsoft.com/office/drawing/2014/main" val="334330868"/>
                  </a:ext>
                </a:extLst>
              </a:tr>
              <a:tr h="13585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全部解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0.124931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extLst>
                  <a:ext uri="{0D108BD9-81ED-4DB2-BD59-A6C34878D82A}">
                    <a16:rowId xmlns:a16="http://schemas.microsoft.com/office/drawing/2014/main" val="1744693299"/>
                  </a:ext>
                </a:extLst>
              </a:tr>
              <a:tr h="13585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第一个解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>
                          <a:effectLst/>
                        </a:rPr>
                        <a:t>朴素</a:t>
                      </a:r>
                      <a:r>
                        <a:rPr lang="en-US" altLang="zh-CN" sz="1100" u="none" strike="noStrike">
                          <a:effectLst/>
                        </a:rPr>
                        <a:t>+</a:t>
                      </a:r>
                      <a:r>
                        <a:rPr lang="zh-CN" altLang="en-US" sz="1100" u="none" strike="noStrike">
                          <a:effectLst/>
                        </a:rPr>
                        <a:t>探查</a:t>
                      </a:r>
                      <a:r>
                        <a:rPr lang="en-US" altLang="zh-CN" sz="1100" u="none" strike="noStrike">
                          <a:effectLst/>
                        </a:rPr>
                        <a:t>+</a:t>
                      </a:r>
                      <a:r>
                        <a:rPr lang="zh-CN" altLang="en-US" sz="1100" u="none" strike="noStrike">
                          <a:effectLst/>
                        </a:rPr>
                        <a:t>轮询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0.00810623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extLst>
                  <a:ext uri="{0D108BD9-81ED-4DB2-BD59-A6C34878D82A}">
                    <a16:rowId xmlns:a16="http://schemas.microsoft.com/office/drawing/2014/main" val="405046638"/>
                  </a:ext>
                </a:extLst>
              </a:tr>
              <a:tr h="13585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全部解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0.110149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extLst>
                  <a:ext uri="{0D108BD9-81ED-4DB2-BD59-A6C34878D82A}">
                    <a16:rowId xmlns:a16="http://schemas.microsoft.com/office/drawing/2014/main" val="4240173288"/>
                  </a:ext>
                </a:extLst>
              </a:tr>
              <a:tr h="135858"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extLst>
                  <a:ext uri="{0D108BD9-81ED-4DB2-BD59-A6C34878D82A}">
                    <a16:rowId xmlns:a16="http://schemas.microsoft.com/office/drawing/2014/main" val="4106940955"/>
                  </a:ext>
                </a:extLst>
              </a:tr>
              <a:tr h="181654"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b"/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大规模下朴素</a:t>
                      </a:r>
                      <a:r>
                        <a:rPr lang="en-US" altLang="zh-CN" sz="1100" u="none" strike="noStrike" dirty="0">
                          <a:effectLst/>
                        </a:rPr>
                        <a:t>/dh</a:t>
                      </a:r>
                      <a:r>
                        <a:rPr lang="zh-CN" altLang="en-US" sz="1100" u="none" strike="noStrike" dirty="0">
                          <a:effectLst/>
                        </a:rPr>
                        <a:t>难以找出第一个解，因此不做更深层次的优化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extLst>
                  <a:ext uri="{0D108BD9-81ED-4DB2-BD59-A6C34878D82A}">
                    <a16:rowId xmlns:a16="http://schemas.microsoft.com/office/drawing/2014/main" val="1161212304"/>
                  </a:ext>
                </a:extLst>
              </a:tr>
              <a:tr h="149914"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extLst>
                  <a:ext uri="{0D108BD9-81ED-4DB2-BD59-A6C34878D82A}">
                    <a16:rowId xmlns:a16="http://schemas.microsoft.com/office/drawing/2014/main" val="303048066"/>
                  </a:ext>
                </a:extLst>
              </a:tr>
              <a:tr h="18165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第一个解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mrv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0.0150204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5518.61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/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/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16.7608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extLst>
                  <a:ext uri="{0D108BD9-81ED-4DB2-BD59-A6C34878D82A}">
                    <a16:rowId xmlns:a16="http://schemas.microsoft.com/office/drawing/2014/main" val="3639059640"/>
                  </a:ext>
                </a:extLst>
              </a:tr>
              <a:tr h="13585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全部解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1.92618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2038860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extLst>
                  <a:ext uri="{0D108BD9-81ED-4DB2-BD59-A6C34878D82A}">
                    <a16:rowId xmlns:a16="http://schemas.microsoft.com/office/drawing/2014/main" val="3882698009"/>
                  </a:ext>
                </a:extLst>
              </a:tr>
              <a:tr h="18165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第一个解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mrv+</a:t>
                      </a:r>
                      <a:r>
                        <a:rPr lang="zh-CN" altLang="en-US" sz="1100" u="none" strike="noStrike">
                          <a:effectLst/>
                        </a:rPr>
                        <a:t>探查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0.0119209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5424.62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12.346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extLst>
                  <a:ext uri="{0D108BD9-81ED-4DB2-BD59-A6C34878D82A}">
                    <a16:rowId xmlns:a16="http://schemas.microsoft.com/office/drawing/2014/main" val="2335469411"/>
                  </a:ext>
                </a:extLst>
              </a:tr>
              <a:tr h="13585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全部解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1.52898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1994690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extLst>
                  <a:ext uri="{0D108BD9-81ED-4DB2-BD59-A6C34878D82A}">
                    <a16:rowId xmlns:a16="http://schemas.microsoft.com/office/drawing/2014/main" val="4258524015"/>
                  </a:ext>
                </a:extLst>
              </a:tr>
              <a:tr h="13585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第一个解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mrv+</a:t>
                      </a:r>
                      <a:r>
                        <a:rPr lang="zh-CN" altLang="en-US" sz="1100" u="none" strike="noStrike">
                          <a:effectLst/>
                        </a:rPr>
                        <a:t>轮询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0.0169277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5701.31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extLst>
                  <a:ext uri="{0D108BD9-81ED-4DB2-BD59-A6C34878D82A}">
                    <a16:rowId xmlns:a16="http://schemas.microsoft.com/office/drawing/2014/main" val="2418522643"/>
                  </a:ext>
                </a:extLst>
              </a:tr>
              <a:tr h="13585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全部解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0.152826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17471.4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extLst>
                  <a:ext uri="{0D108BD9-81ED-4DB2-BD59-A6C34878D82A}">
                    <a16:rowId xmlns:a16="http://schemas.microsoft.com/office/drawing/2014/main" val="1305750598"/>
                  </a:ext>
                </a:extLst>
              </a:tr>
              <a:tr h="13585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第一个解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mrv+</a:t>
                      </a:r>
                      <a:r>
                        <a:rPr lang="zh-CN" altLang="en-US" sz="1100" u="none" strike="noStrike">
                          <a:effectLst/>
                        </a:rPr>
                        <a:t>探查</a:t>
                      </a:r>
                      <a:r>
                        <a:rPr lang="en-US" altLang="zh-CN" sz="1100" u="none" strike="noStrike">
                          <a:effectLst/>
                        </a:rPr>
                        <a:t>+</a:t>
                      </a:r>
                      <a:r>
                        <a:rPr lang="zh-CN" altLang="en-US" sz="1100" u="none" strike="noStrike">
                          <a:effectLst/>
                        </a:rPr>
                        <a:t>轮询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0.0140667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5854.37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extLst>
                  <a:ext uri="{0D108BD9-81ED-4DB2-BD59-A6C34878D82A}">
                    <a16:rowId xmlns:a16="http://schemas.microsoft.com/office/drawing/2014/main" val="2096767568"/>
                  </a:ext>
                </a:extLst>
              </a:tr>
              <a:tr h="13585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全部解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0.124931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17514.4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extLst>
                  <a:ext uri="{0D108BD9-81ED-4DB2-BD59-A6C34878D82A}">
                    <a16:rowId xmlns:a16="http://schemas.microsoft.com/office/drawing/2014/main" val="1861682930"/>
                  </a:ext>
                </a:extLst>
              </a:tr>
              <a:tr h="135858"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以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为起点</a:t>
                      </a: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以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为起点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extLst>
                  <a:ext uri="{0D108BD9-81ED-4DB2-BD59-A6C34878D82A}">
                    <a16:rowId xmlns:a16="http://schemas.microsoft.com/office/drawing/2014/main" val="4104356100"/>
                  </a:ext>
                </a:extLst>
              </a:tr>
              <a:tr h="18165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第一个解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mrv+dh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0.0200272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1837.58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/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u="none" strike="noStrike">
                          <a:effectLst/>
                        </a:rPr>
                        <a:t>90402.9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14.4949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extLst>
                  <a:ext uri="{0D108BD9-81ED-4DB2-BD59-A6C34878D82A}">
                    <a16:rowId xmlns:a16="http://schemas.microsoft.com/office/drawing/2014/main" val="734792583"/>
                  </a:ext>
                </a:extLst>
              </a:tr>
              <a:tr h="13585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全部解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2.71392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261155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extLst>
                  <a:ext uri="{0D108BD9-81ED-4DB2-BD59-A6C34878D82A}">
                    <a16:rowId xmlns:a16="http://schemas.microsoft.com/office/drawing/2014/main" val="1008635179"/>
                  </a:ext>
                </a:extLst>
              </a:tr>
              <a:tr h="181654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第一个解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mrv+dh+</a:t>
                      </a:r>
                      <a:r>
                        <a:rPr lang="zh-CN" altLang="en-US" sz="1100" u="none" strike="noStrike">
                          <a:effectLst/>
                        </a:rPr>
                        <a:t>探查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0.0200272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1804.27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3442.09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87611.7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12.7621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extLst>
                  <a:ext uri="{0D108BD9-81ED-4DB2-BD59-A6C34878D82A}">
                    <a16:rowId xmlns:a16="http://schemas.microsoft.com/office/drawing/2014/main" val="3574108656"/>
                  </a:ext>
                </a:extLst>
              </a:tr>
              <a:tr h="13585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全部解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2.2912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241843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extLst>
                  <a:ext uri="{0D108BD9-81ED-4DB2-BD59-A6C34878D82A}">
                    <a16:rowId xmlns:a16="http://schemas.microsoft.com/office/drawing/2014/main" val="2526197349"/>
                  </a:ext>
                </a:extLst>
              </a:tr>
              <a:tr h="13585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第一个解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mrv+dh+</a:t>
                      </a:r>
                      <a:r>
                        <a:rPr lang="zh-CN" altLang="en-US" sz="1100" u="none" strike="noStrike">
                          <a:effectLst/>
                        </a:rPr>
                        <a:t>颜色轮询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0.015974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1398.82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extLst>
                  <a:ext uri="{0D108BD9-81ED-4DB2-BD59-A6C34878D82A}">
                    <a16:rowId xmlns:a16="http://schemas.microsoft.com/office/drawing/2014/main" val="1091586807"/>
                  </a:ext>
                </a:extLst>
              </a:tr>
              <a:tr h="13585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全部解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0.128984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2151.31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extLst>
                  <a:ext uri="{0D108BD9-81ED-4DB2-BD59-A6C34878D82A}">
                    <a16:rowId xmlns:a16="http://schemas.microsoft.com/office/drawing/2014/main" val="1498552512"/>
                  </a:ext>
                </a:extLst>
              </a:tr>
              <a:tr h="13585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第一个解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u="none" strike="noStrike">
                          <a:effectLst/>
                        </a:rPr>
                        <a:t>mrv+dh+</a:t>
                      </a:r>
                      <a:r>
                        <a:rPr lang="zh-CN" altLang="en-US" sz="1100" u="none" strike="noStrike">
                          <a:effectLst/>
                        </a:rPr>
                        <a:t>探查</a:t>
                      </a:r>
                      <a:r>
                        <a:rPr lang="en-US" altLang="zh-CN" sz="1100" u="none" strike="noStrike">
                          <a:effectLst/>
                        </a:rPr>
                        <a:t>+</a:t>
                      </a:r>
                      <a:r>
                        <a:rPr lang="zh-CN" altLang="en-US" sz="1100" u="none" strike="noStrike">
                          <a:effectLst/>
                        </a:rPr>
                        <a:t>颜色轮询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0.0200272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1321.41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extLst>
                  <a:ext uri="{0D108BD9-81ED-4DB2-BD59-A6C34878D82A}">
                    <a16:rowId xmlns:a16="http://schemas.microsoft.com/office/drawing/2014/main" val="539931212"/>
                  </a:ext>
                </a:extLst>
              </a:tr>
              <a:tr h="13585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全部解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0.195026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2097.85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059" marR="3059" marT="3059" marB="0" anchor="ctr"/>
                </a:tc>
                <a:extLst>
                  <a:ext uri="{0D108BD9-81ED-4DB2-BD59-A6C34878D82A}">
                    <a16:rowId xmlns:a16="http://schemas.microsoft.com/office/drawing/2014/main" val="3531230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405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-圆角矩形 8">
            <a:extLst>
              <a:ext uri="{FF2B5EF4-FFF2-40B4-BE49-F238E27FC236}">
                <a16:creationId xmlns:a16="http://schemas.microsoft.com/office/drawing/2014/main" id="{6E6F20AA-C6E8-44BE-8D19-0D3C9BDEE11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668294" y="3129525"/>
            <a:ext cx="1178276" cy="322625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PA-标题 1">
            <a:extLst>
              <a:ext uri="{FF2B5EF4-FFF2-40B4-BE49-F238E27FC236}">
                <a16:creationId xmlns:a16="http://schemas.microsoft.com/office/drawing/2014/main" id="{4CC0907A-1A62-48F4-9B55-9BB7DDD59158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711329" y="2253764"/>
            <a:ext cx="1225168" cy="789201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3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</a:p>
        </p:txBody>
      </p:sp>
      <p:grpSp>
        <p:nvGrpSpPr>
          <p:cNvPr id="2" name="PA-组合 1">
            <a:extLst>
              <a:ext uri="{FF2B5EF4-FFF2-40B4-BE49-F238E27FC236}">
                <a16:creationId xmlns:a16="http://schemas.microsoft.com/office/drawing/2014/main" id="{FE316119-C1FB-49B5-BFA0-52F96C18D6D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16515" y="388374"/>
            <a:ext cx="2255157" cy="2037622"/>
            <a:chOff x="616515" y="388374"/>
            <a:chExt cx="2255157" cy="2037622"/>
          </a:xfrm>
        </p:grpSpPr>
        <p:sp>
          <p:nvSpPr>
            <p:cNvPr id="16" name="PA-圆角矩形 15">
              <a:extLst>
                <a:ext uri="{FF2B5EF4-FFF2-40B4-BE49-F238E27FC236}">
                  <a16:creationId xmlns:a16="http://schemas.microsoft.com/office/drawing/2014/main" id="{C7CD84A2-40A3-401F-A9DA-409B4ABF871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PA-圆角矩形 16">
              <a:extLst>
                <a:ext uri="{FF2B5EF4-FFF2-40B4-BE49-F238E27FC236}">
                  <a16:creationId xmlns:a16="http://schemas.microsoft.com/office/drawing/2014/main" id="{CE925F5F-607C-407D-A2D0-44942966DD8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PA-圆角矩形 18">
              <a:extLst>
                <a:ext uri="{FF2B5EF4-FFF2-40B4-BE49-F238E27FC236}">
                  <a16:creationId xmlns:a16="http://schemas.microsoft.com/office/drawing/2014/main" id="{38A43B7E-6714-4239-A6C0-A20C9EB6EFE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PA-圆角矩形 22">
              <a:extLst>
                <a:ext uri="{FF2B5EF4-FFF2-40B4-BE49-F238E27FC236}">
                  <a16:creationId xmlns:a16="http://schemas.microsoft.com/office/drawing/2014/main" id="{34B063C5-342C-4688-959C-C9D3F304138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PA-标题 1">
            <a:extLst>
              <a:ext uri="{FF2B5EF4-FFF2-40B4-BE49-F238E27FC236}">
                <a16:creationId xmlns:a16="http://schemas.microsoft.com/office/drawing/2014/main" id="{4C4B8C7B-8E26-4887-A7AE-5F2964DE728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834826" y="3692895"/>
            <a:ext cx="2565331" cy="590309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随机地图性能分析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PA-组合 1">
            <a:extLst>
              <a:ext uri="{FF2B5EF4-FFF2-40B4-BE49-F238E27FC236}">
                <a16:creationId xmlns:a16="http://schemas.microsoft.com/office/drawing/2014/main" id="{45381ABC-1EC4-4B4F-A10C-E3936D973F2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16515" y="391920"/>
            <a:ext cx="2255157" cy="2037622"/>
            <a:chOff x="616515" y="388374"/>
            <a:chExt cx="2255157" cy="2037622"/>
          </a:xfrm>
        </p:grpSpPr>
        <p:sp>
          <p:nvSpPr>
            <p:cNvPr id="24" name="PA-圆角矩形 15">
              <a:extLst>
                <a:ext uri="{FF2B5EF4-FFF2-40B4-BE49-F238E27FC236}">
                  <a16:creationId xmlns:a16="http://schemas.microsoft.com/office/drawing/2014/main" id="{6C04B470-BFEF-4F6A-A946-471B5D355C1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PA-圆角矩形 16">
              <a:extLst>
                <a:ext uri="{FF2B5EF4-FFF2-40B4-BE49-F238E27FC236}">
                  <a16:creationId xmlns:a16="http://schemas.microsoft.com/office/drawing/2014/main" id="{6C0F716D-B261-4372-8C3B-59CA2EBD6F6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PA-圆角矩形 18">
              <a:extLst>
                <a:ext uri="{FF2B5EF4-FFF2-40B4-BE49-F238E27FC236}">
                  <a16:creationId xmlns:a16="http://schemas.microsoft.com/office/drawing/2014/main" id="{1C95B621-18DC-4B25-BF35-BBFB14FA147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PA-圆角矩形 22">
              <a:extLst>
                <a:ext uri="{FF2B5EF4-FFF2-40B4-BE49-F238E27FC236}">
                  <a16:creationId xmlns:a16="http://schemas.microsoft.com/office/drawing/2014/main" id="{37E85A14-7BB4-4957-86CD-3FC71F1F179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PA-组合 2">
            <a:extLst>
              <a:ext uri="{FF2B5EF4-FFF2-40B4-BE49-F238E27FC236}">
                <a16:creationId xmlns:a16="http://schemas.microsoft.com/office/drawing/2014/main" id="{03B04EBE-E721-4505-A5C8-558D26B631D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29" name="PA-圆角矩形 20">
              <a:extLst>
                <a:ext uri="{FF2B5EF4-FFF2-40B4-BE49-F238E27FC236}">
                  <a16:creationId xmlns:a16="http://schemas.microsoft.com/office/drawing/2014/main" id="{9343CEE2-BF0F-480A-8A51-D0081B2B9E5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PA-圆角矩形 21">
              <a:extLst>
                <a:ext uri="{FF2B5EF4-FFF2-40B4-BE49-F238E27FC236}">
                  <a16:creationId xmlns:a16="http://schemas.microsoft.com/office/drawing/2014/main" id="{2B1389B9-66FC-45FA-8950-863C406B87B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PA-组合 2">
            <a:extLst>
              <a:ext uri="{FF2B5EF4-FFF2-40B4-BE49-F238E27FC236}">
                <a16:creationId xmlns:a16="http://schemas.microsoft.com/office/drawing/2014/main" id="{88B89166-D218-4AE5-8CA9-5E49DAABB1F4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32" name="PA-圆角矩形 20">
              <a:extLst>
                <a:ext uri="{FF2B5EF4-FFF2-40B4-BE49-F238E27FC236}">
                  <a16:creationId xmlns:a16="http://schemas.microsoft.com/office/drawing/2014/main" id="{28A80E83-1203-4740-B296-4AD1E3CE08F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PA-圆角矩形 21">
              <a:extLst>
                <a:ext uri="{FF2B5EF4-FFF2-40B4-BE49-F238E27FC236}">
                  <a16:creationId xmlns:a16="http://schemas.microsoft.com/office/drawing/2014/main" id="{15ED84CC-1617-4DF3-B51B-3A8B64AEAA2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PA-圆角矩形 9">
            <a:extLst>
              <a:ext uri="{FF2B5EF4-FFF2-40B4-BE49-F238E27FC236}">
                <a16:creationId xmlns:a16="http://schemas.microsoft.com/office/drawing/2014/main" id="{23F784A1-6035-4AB1-9021-4A364ADDD4D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303588" y="2822003"/>
            <a:ext cx="497667" cy="497668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21394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 p14:bounceEnd="28000"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 p14:presetBounceEnd="47000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7000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7000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4" accel="40000" fill="hold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5DB8AF-9207-8CC3-02AE-4FAECD5CA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91965A89-FB40-7FD7-BD58-C1A1BC3AA4C0}"/>
              </a:ext>
            </a:extLst>
          </p:cNvPr>
          <p:cNvGrpSpPr/>
          <p:nvPr/>
        </p:nvGrpSpPr>
        <p:grpSpPr>
          <a:xfrm>
            <a:off x="1055266" y="711189"/>
            <a:ext cx="213360" cy="211962"/>
            <a:chOff x="1890216" y="1981983"/>
            <a:chExt cx="2664431" cy="2646982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3BAE1A55-EFF2-9E3A-C897-B0A870D6E108}"/>
                </a:ext>
              </a:extLst>
            </p:cNvPr>
            <p:cNvSpPr/>
            <p:nvPr/>
          </p:nvSpPr>
          <p:spPr>
            <a:xfrm>
              <a:off x="1890216" y="1981983"/>
              <a:ext cx="2646983" cy="264698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C515631E-E2B5-9593-0492-BC0A1CB6654B}"/>
                </a:ext>
              </a:extLst>
            </p:cNvPr>
            <p:cNvSpPr/>
            <p:nvPr/>
          </p:nvSpPr>
          <p:spPr>
            <a:xfrm>
              <a:off x="2351568" y="2425886"/>
              <a:ext cx="2203079" cy="2203079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0FF12548-594E-886A-DAD3-DC38E0236E7C}"/>
              </a:ext>
            </a:extLst>
          </p:cNvPr>
          <p:cNvSpPr txBox="1"/>
          <p:nvPr/>
        </p:nvSpPr>
        <p:spPr>
          <a:xfrm>
            <a:off x="1304173" y="634888"/>
            <a:ext cx="3142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随机规模地图下的性能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CF3229B-EE03-7886-AA67-1C51D344E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537951"/>
              </p:ext>
            </p:extLst>
          </p:nvPr>
        </p:nvGraphicFramePr>
        <p:xfrm>
          <a:off x="1161247" y="1570492"/>
          <a:ext cx="9539407" cy="1235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1308">
                  <a:extLst>
                    <a:ext uri="{9D8B030D-6E8A-4147-A177-3AD203B41FA5}">
                      <a16:colId xmlns:a16="http://schemas.microsoft.com/office/drawing/2014/main" val="3894133587"/>
                    </a:ext>
                  </a:extLst>
                </a:gridCol>
                <a:gridCol w="932011">
                  <a:extLst>
                    <a:ext uri="{9D8B030D-6E8A-4147-A177-3AD203B41FA5}">
                      <a16:colId xmlns:a16="http://schemas.microsoft.com/office/drawing/2014/main" val="891029576"/>
                    </a:ext>
                  </a:extLst>
                </a:gridCol>
                <a:gridCol w="932011">
                  <a:extLst>
                    <a:ext uri="{9D8B030D-6E8A-4147-A177-3AD203B41FA5}">
                      <a16:colId xmlns:a16="http://schemas.microsoft.com/office/drawing/2014/main" val="4231747011"/>
                    </a:ext>
                  </a:extLst>
                </a:gridCol>
                <a:gridCol w="932011">
                  <a:extLst>
                    <a:ext uri="{9D8B030D-6E8A-4147-A177-3AD203B41FA5}">
                      <a16:colId xmlns:a16="http://schemas.microsoft.com/office/drawing/2014/main" val="3817247413"/>
                    </a:ext>
                  </a:extLst>
                </a:gridCol>
                <a:gridCol w="932011">
                  <a:extLst>
                    <a:ext uri="{9D8B030D-6E8A-4147-A177-3AD203B41FA5}">
                      <a16:colId xmlns:a16="http://schemas.microsoft.com/office/drawing/2014/main" val="445438884"/>
                    </a:ext>
                  </a:extLst>
                </a:gridCol>
                <a:gridCol w="932011">
                  <a:extLst>
                    <a:ext uri="{9D8B030D-6E8A-4147-A177-3AD203B41FA5}">
                      <a16:colId xmlns:a16="http://schemas.microsoft.com/office/drawing/2014/main" val="2777566715"/>
                    </a:ext>
                  </a:extLst>
                </a:gridCol>
                <a:gridCol w="932011">
                  <a:extLst>
                    <a:ext uri="{9D8B030D-6E8A-4147-A177-3AD203B41FA5}">
                      <a16:colId xmlns:a16="http://schemas.microsoft.com/office/drawing/2014/main" val="3693069257"/>
                    </a:ext>
                  </a:extLst>
                </a:gridCol>
                <a:gridCol w="932011">
                  <a:extLst>
                    <a:ext uri="{9D8B030D-6E8A-4147-A177-3AD203B41FA5}">
                      <a16:colId xmlns:a16="http://schemas.microsoft.com/office/drawing/2014/main" val="1368201933"/>
                    </a:ext>
                  </a:extLst>
                </a:gridCol>
                <a:gridCol w="932011">
                  <a:extLst>
                    <a:ext uri="{9D8B030D-6E8A-4147-A177-3AD203B41FA5}">
                      <a16:colId xmlns:a16="http://schemas.microsoft.com/office/drawing/2014/main" val="788427765"/>
                    </a:ext>
                  </a:extLst>
                </a:gridCol>
                <a:gridCol w="932011">
                  <a:extLst>
                    <a:ext uri="{9D8B030D-6E8A-4147-A177-3AD203B41FA5}">
                      <a16:colId xmlns:a16="http://schemas.microsoft.com/office/drawing/2014/main" val="590364673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>
                          <a:effectLst/>
                        </a:rPr>
                        <a:t>最大度为</a:t>
                      </a:r>
                      <a:r>
                        <a:rPr lang="en-US" altLang="zh-CN" sz="1100" u="none" strike="noStrike">
                          <a:effectLst/>
                        </a:rPr>
                        <a:t>10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87784478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>
                          <a:effectLst/>
                        </a:rPr>
                        <a:t>国家数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600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700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800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900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34607235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>
                          <a:effectLst/>
                        </a:rPr>
                        <a:t>时间（</a:t>
                      </a:r>
                      <a:r>
                        <a:rPr lang="en-US" sz="1100" u="none" strike="noStrike">
                          <a:effectLst/>
                        </a:rPr>
                        <a:t>ms）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0.343084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0.936985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1.66297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2.64716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3.93105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6.05083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7.23505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9.63998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11.9801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43408275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>
                          <a:effectLst/>
                        </a:rPr>
                        <a:t>国家数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1500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2500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3500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4500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097499029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>
                          <a:effectLst/>
                        </a:rPr>
                        <a:t>时间（</a:t>
                      </a:r>
                      <a:r>
                        <a:rPr lang="en-US" sz="1100" u="none" strike="noStrike">
                          <a:effectLst/>
                        </a:rPr>
                        <a:t>ms）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21.5681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35.9812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63.2601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106.417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136.308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187.028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239.653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309.86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21215056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>
                          <a:effectLst/>
                        </a:rPr>
                        <a:t>国家数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6000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7000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8000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9000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6063394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>
                          <a:effectLst/>
                        </a:rPr>
                        <a:t>时间（</a:t>
                      </a:r>
                      <a:r>
                        <a:rPr lang="en-US" sz="1100" u="none" strike="noStrike">
                          <a:effectLst/>
                        </a:rPr>
                        <a:t>ms）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426.019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527.995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699.607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887.116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1086.14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1344.63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901310297"/>
                  </a:ext>
                </a:extLst>
              </a:tr>
            </a:tbl>
          </a:graphicData>
        </a:graphic>
      </p:graphicFrame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5CEC53AC-0715-DAB4-9B71-0C9D80EFB8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8631303"/>
              </p:ext>
            </p:extLst>
          </p:nvPr>
        </p:nvGraphicFramePr>
        <p:xfrm>
          <a:off x="6379028" y="3271047"/>
          <a:ext cx="5148943" cy="3178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710519B4-DC07-A16E-DD74-1DA9C9156E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7485915"/>
              </p:ext>
            </p:extLst>
          </p:nvPr>
        </p:nvGraphicFramePr>
        <p:xfrm>
          <a:off x="856191" y="3271047"/>
          <a:ext cx="5148943" cy="3178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3547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06AC70-AA79-74FC-E251-442FBA92B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77176FFC-D324-B239-D356-F5126BF0A1DE}"/>
              </a:ext>
            </a:extLst>
          </p:cNvPr>
          <p:cNvGrpSpPr/>
          <p:nvPr/>
        </p:nvGrpSpPr>
        <p:grpSpPr>
          <a:xfrm>
            <a:off x="1055266" y="711189"/>
            <a:ext cx="213360" cy="211962"/>
            <a:chOff x="1890216" y="1981983"/>
            <a:chExt cx="2664431" cy="2646982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5EB5A52F-D88B-C409-C9F2-5A4BAE8D9BD1}"/>
                </a:ext>
              </a:extLst>
            </p:cNvPr>
            <p:cNvSpPr/>
            <p:nvPr/>
          </p:nvSpPr>
          <p:spPr>
            <a:xfrm>
              <a:off x="1890216" y="1981983"/>
              <a:ext cx="2646983" cy="264698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204641C6-73B3-E89C-1482-C7E6188C7461}"/>
                </a:ext>
              </a:extLst>
            </p:cNvPr>
            <p:cNvSpPr/>
            <p:nvPr/>
          </p:nvSpPr>
          <p:spPr>
            <a:xfrm>
              <a:off x="2351568" y="2425886"/>
              <a:ext cx="2203079" cy="2203079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FFF0EF7D-92F5-181D-30F0-FF954E5B6ADF}"/>
              </a:ext>
            </a:extLst>
          </p:cNvPr>
          <p:cNvSpPr txBox="1"/>
          <p:nvPr/>
        </p:nvSpPr>
        <p:spPr>
          <a:xfrm>
            <a:off x="1304173" y="634888"/>
            <a:ext cx="3142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随机规模地图下的性能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8EAADE8-9A15-69BE-5711-06FECB7B78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803564"/>
              </p:ext>
            </p:extLst>
          </p:nvPr>
        </p:nvGraphicFramePr>
        <p:xfrm>
          <a:off x="1670957" y="1576161"/>
          <a:ext cx="6629400" cy="5295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3573061496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59750821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419194988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854148165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067178176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415615657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06909177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594637315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51610964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379588953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100" u="none" strike="noStrike">
                          <a:effectLst/>
                        </a:rPr>
                        <a:t>1000</a:t>
                      </a:r>
                      <a:r>
                        <a:rPr lang="zh-CN" altLang="en-US" sz="1100" u="none" strike="noStrike">
                          <a:effectLst/>
                        </a:rPr>
                        <a:t>国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61957595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>
                          <a:effectLst/>
                        </a:rPr>
                        <a:t>最大度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150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250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350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949603856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>
                          <a:effectLst/>
                        </a:rPr>
                        <a:t>时间（</a:t>
                      </a:r>
                      <a:r>
                        <a:rPr lang="en-US" sz="1100" u="none" strike="noStrike">
                          <a:effectLst/>
                        </a:rPr>
                        <a:t>ms）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17.447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29.561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40.549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56.5898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70.9519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137.795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197.601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324.708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 dirty="0">
                          <a:effectLst/>
                        </a:rPr>
                        <a:t>427.743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747695570"/>
                  </a:ext>
                </a:extLst>
              </a:tr>
            </a:tbl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1C3EE78-AAEE-D4C3-C402-1FE54B7CA5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9604093"/>
              </p:ext>
            </p:extLst>
          </p:nvPr>
        </p:nvGraphicFramePr>
        <p:xfrm>
          <a:off x="1472632" y="2547258"/>
          <a:ext cx="5597639" cy="3777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01FCD19F-F816-8201-E014-FAE730AC5A24}"/>
              </a:ext>
            </a:extLst>
          </p:cNvPr>
          <p:cNvSpPr txBox="1"/>
          <p:nvPr/>
        </p:nvSpPr>
        <p:spPr>
          <a:xfrm>
            <a:off x="7554586" y="3661756"/>
            <a:ext cx="34902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结论：</a:t>
            </a:r>
            <a:endParaRPr lang="en-US" altLang="zh-CN" dirty="0"/>
          </a:p>
          <a:p>
            <a:r>
              <a:rPr lang="zh-CN" altLang="en-US" dirty="0"/>
              <a:t>两变量下的趋势相似，可以得出：</a:t>
            </a:r>
            <a:endParaRPr lang="en-US" altLang="zh-CN" dirty="0"/>
          </a:p>
          <a:p>
            <a:r>
              <a:rPr lang="zh-CN" altLang="en-US" dirty="0"/>
              <a:t>国家数目越多，或相邻的国家越多，找出第一个填涂解的用时越长</a:t>
            </a:r>
            <a:endParaRPr lang="en-US" altLang="zh-CN" dirty="0"/>
          </a:p>
          <a:p>
            <a:r>
              <a:rPr lang="zh-CN" altLang="en-US" dirty="0"/>
              <a:t>可以看出，图越稠密越耗时</a:t>
            </a:r>
          </a:p>
        </p:txBody>
      </p:sp>
    </p:spTree>
    <p:extLst>
      <p:ext uri="{BB962C8B-B14F-4D97-AF65-F5344CB8AC3E}">
        <p14:creationId xmlns:p14="http://schemas.microsoft.com/office/powerpoint/2010/main" val="2332094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E9D98FD9-23F9-4849-8ABD-4B3194E83D3E}"/>
              </a:ext>
            </a:extLst>
          </p:cNvPr>
          <p:cNvSpPr/>
          <p:nvPr/>
        </p:nvSpPr>
        <p:spPr>
          <a:xfrm>
            <a:off x="7020351" y="4291157"/>
            <a:ext cx="1950929" cy="429264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960B0CF-F4D4-4B1F-B9B3-B3A5012EF2CC}"/>
              </a:ext>
            </a:extLst>
          </p:cNvPr>
          <p:cNvSpPr/>
          <p:nvPr/>
        </p:nvSpPr>
        <p:spPr>
          <a:xfrm>
            <a:off x="8575040" y="3361767"/>
            <a:ext cx="2174466" cy="1571958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A1D04B1-561C-427F-A69C-418146F033E1}"/>
              </a:ext>
            </a:extLst>
          </p:cNvPr>
          <p:cNvSpPr/>
          <p:nvPr/>
        </p:nvSpPr>
        <p:spPr>
          <a:xfrm>
            <a:off x="3017976" y="1740328"/>
            <a:ext cx="2646983" cy="2646982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DF01370-10EF-410F-8B87-ACE304D75D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7235" y="2786976"/>
            <a:ext cx="191688" cy="19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28046FA-F4E0-4BA1-A2BB-1ED170AF322F}"/>
              </a:ext>
            </a:extLst>
          </p:cNvPr>
          <p:cNvSpPr/>
          <p:nvPr/>
        </p:nvSpPr>
        <p:spPr>
          <a:xfrm>
            <a:off x="2384541" y="1036899"/>
            <a:ext cx="485609" cy="485609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1A08D04-3124-48C1-9669-36C1BEC47014}"/>
              </a:ext>
            </a:extLst>
          </p:cNvPr>
          <p:cNvSpPr/>
          <p:nvPr/>
        </p:nvSpPr>
        <p:spPr>
          <a:xfrm>
            <a:off x="1174801" y="5311792"/>
            <a:ext cx="715415" cy="715415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C94711A-F1EC-48D3-B3D5-1CC00A21989F}"/>
              </a:ext>
            </a:extLst>
          </p:cNvPr>
          <p:cNvSpPr/>
          <p:nvPr/>
        </p:nvSpPr>
        <p:spPr>
          <a:xfrm>
            <a:off x="3453107" y="836166"/>
            <a:ext cx="715415" cy="715415"/>
          </a:xfrm>
          <a:prstGeom prst="roundRect">
            <a:avLst>
              <a:gd name="adj" fmla="val 17797"/>
            </a:avLst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8E04C6A-65BD-4DAA-9677-E9B4128E044B}"/>
              </a:ext>
            </a:extLst>
          </p:cNvPr>
          <p:cNvSpPr/>
          <p:nvPr/>
        </p:nvSpPr>
        <p:spPr>
          <a:xfrm>
            <a:off x="3479328" y="2184231"/>
            <a:ext cx="5006086" cy="2203079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3722EF1-500F-4A6B-B673-277906A77619}"/>
              </a:ext>
            </a:extLst>
          </p:cNvPr>
          <p:cNvSpPr txBox="1"/>
          <p:nvPr/>
        </p:nvSpPr>
        <p:spPr>
          <a:xfrm>
            <a:off x="4410259" y="2777938"/>
            <a:ext cx="33714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THANKS</a:t>
            </a:r>
            <a:r>
              <a:rPr lang="en-US" altLang="zh-CN" sz="6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 </a:t>
            </a:r>
            <a:r>
              <a:rPr lang="zh-CN" altLang="en-US" sz="6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358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700000" y="7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9" grpId="0" animBg="1"/>
      <p:bldP spid="7" grpId="0" animBg="1"/>
      <p:bldP spid="4" grpId="0" animBg="1"/>
      <p:bldP spid="6" grpId="0" animBg="1"/>
      <p:bldP spid="8" grpId="0" animBg="1"/>
      <p:bldP spid="15" grpId="0" animBg="1"/>
      <p:bldP spid="15" grpId="1" animBg="1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ne&quot;,&quot;Name&quot;:&quot;无&quot;,&quot;HeaderHeight&quot;:0.0,&quot;FooterHeight&quot;:0.0,&quot;SideMargin&quot;:0.0,&quot;TopMargin&quot;:0.0,&quot;BottomMargin&quot;:0.0,&quot;IntervalMargin&quot;:0.0,&quot;SettingType&quot;:&quot;System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3772</TotalTime>
  <Words>762</Words>
  <Application>Microsoft Office PowerPoint</Application>
  <PresentationFormat>宽屏</PresentationFormat>
  <Paragraphs>222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KaTeX_Math</vt:lpstr>
      <vt:lpstr>等线</vt:lpstr>
      <vt:lpstr>等线 Light</vt:lpstr>
      <vt:lpstr>华文细黑</vt:lpstr>
      <vt:lpstr>思源黑体 CN Bold</vt:lpstr>
      <vt:lpstr>微软雅黑</vt:lpstr>
      <vt:lpstr>幼圆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雪 雷</dc:creator>
  <cp:lastModifiedBy>健文 姚</cp:lastModifiedBy>
  <cp:revision>116</cp:revision>
  <dcterms:created xsi:type="dcterms:W3CDTF">2021-08-22T12:17:40Z</dcterms:created>
  <dcterms:modified xsi:type="dcterms:W3CDTF">2025-04-28T14:26:53Z</dcterms:modified>
</cp:coreProperties>
</file>