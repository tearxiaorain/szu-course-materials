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829" r:id="rId1"/>
    <p:sldMasterId id="2147483841" r:id="rId2"/>
    <p:sldMasterId id="2147483853" r:id="rId3"/>
    <p:sldMasterId id="2147483865" r:id="rId4"/>
  </p:sldMasterIdLst>
  <p:notesMasterIdLst>
    <p:notesMasterId r:id="rId49"/>
  </p:notesMasterIdLst>
  <p:sldIdLst>
    <p:sldId id="256" r:id="rId5"/>
    <p:sldId id="257" r:id="rId6"/>
    <p:sldId id="289" r:id="rId7"/>
    <p:sldId id="290" r:id="rId8"/>
    <p:sldId id="291" r:id="rId9"/>
    <p:sldId id="292" r:id="rId10"/>
    <p:sldId id="293" r:id="rId11"/>
    <p:sldId id="313" r:id="rId12"/>
    <p:sldId id="314" r:id="rId13"/>
    <p:sldId id="315" r:id="rId14"/>
    <p:sldId id="316" r:id="rId15"/>
    <p:sldId id="317" r:id="rId16"/>
    <p:sldId id="294" r:id="rId17"/>
    <p:sldId id="295" r:id="rId18"/>
    <p:sldId id="296" r:id="rId19"/>
    <p:sldId id="297" r:id="rId20"/>
    <p:sldId id="298" r:id="rId21"/>
    <p:sldId id="299" r:id="rId22"/>
    <p:sldId id="326" r:id="rId23"/>
    <p:sldId id="318" r:id="rId24"/>
    <p:sldId id="319" r:id="rId25"/>
    <p:sldId id="320" r:id="rId26"/>
    <p:sldId id="321" r:id="rId27"/>
    <p:sldId id="322" r:id="rId28"/>
    <p:sldId id="323" r:id="rId29"/>
    <p:sldId id="324" r:id="rId30"/>
    <p:sldId id="325" r:id="rId31"/>
    <p:sldId id="302" r:id="rId32"/>
    <p:sldId id="303" r:id="rId33"/>
    <p:sldId id="353" r:id="rId34"/>
    <p:sldId id="352" r:id="rId35"/>
    <p:sldId id="301" r:id="rId36"/>
    <p:sldId id="304" r:id="rId37"/>
    <p:sldId id="305" r:id="rId38"/>
    <p:sldId id="306" r:id="rId39"/>
    <p:sldId id="307" r:id="rId40"/>
    <p:sldId id="308" r:id="rId41"/>
    <p:sldId id="309" r:id="rId42"/>
    <p:sldId id="327" r:id="rId43"/>
    <p:sldId id="328" r:id="rId44"/>
    <p:sldId id="329" r:id="rId45"/>
    <p:sldId id="330" r:id="rId46"/>
    <p:sldId id="331" r:id="rId47"/>
    <p:sldId id="332" r:id="rId48"/>
  </p:sldIdLst>
  <p:sldSz cx="12192000" cy="6858000"/>
  <p:notesSz cx="6858000" cy="9144000"/>
  <p:defaultTextStyle>
    <a:defPPr>
      <a:defRPr lang="en-GB"/>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1C1C1C"/>
    <a:srgbClr val="0066CC"/>
    <a:srgbClr val="FF3300"/>
    <a:srgbClr val="CC0000"/>
    <a:srgbClr val="003366"/>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p:cViewPr varScale="1">
        <p:scale>
          <a:sx n="113" d="100"/>
          <a:sy n="113" d="100"/>
        </p:scale>
        <p:origin x="474" y="108"/>
      </p:cViewPr>
      <p:guideLst>
        <p:guide orient="horz" pos="2160"/>
        <p:guide pos="3840"/>
      </p:guideLst>
    </p:cSldViewPr>
  </p:slideViewPr>
  <p:notesTextViewPr>
    <p:cViewPr>
      <p:scale>
        <a:sx n="100" d="100"/>
        <a:sy n="100" d="100"/>
      </p:scale>
      <p:origin x="0" y="0"/>
    </p:cViewPr>
  </p:notesTextViewPr>
  <p:gridSpacing cx="76198" cy="7619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C7DBBD64-C7E7-45B6-A9AA-F2F44210F515}"/>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noProof="1" dirty="0"/>
            </a:lvl1pPr>
          </a:lstStyle>
          <a:p>
            <a:endParaRPr/>
          </a:p>
        </p:txBody>
      </p:sp>
      <p:sp>
        <p:nvSpPr>
          <p:cNvPr id="11267" name="Rectangle 3">
            <a:extLst>
              <a:ext uri="{FF2B5EF4-FFF2-40B4-BE49-F238E27FC236}">
                <a16:creationId xmlns:a16="http://schemas.microsoft.com/office/drawing/2014/main" id="{A625CC97-11BC-415D-AFBC-366F97C781E1}"/>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noProof="1" dirty="0"/>
            </a:lvl1pPr>
          </a:lstStyle>
          <a:p>
            <a:endParaRPr/>
          </a:p>
        </p:txBody>
      </p:sp>
      <p:sp>
        <p:nvSpPr>
          <p:cNvPr id="60420" name="Rectangle 4">
            <a:extLst>
              <a:ext uri="{FF2B5EF4-FFF2-40B4-BE49-F238E27FC236}">
                <a16:creationId xmlns:a16="http://schemas.microsoft.com/office/drawing/2014/main" id="{5FE1915C-FB90-4AD8-AA84-3F97BA2CC287}"/>
              </a:ext>
            </a:extLst>
          </p:cNvPr>
          <p:cNvSpPr>
            <a:spLocks noGrp="1" noRot="1" noChangeAspect="1" noChangeArrowheads="1" noTextEdit="1"/>
          </p:cNvSpPr>
          <p:nvPr>
            <p:ph type="sldImg" idx="4294967295"/>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9" name="Rectangle 5">
            <a:extLst>
              <a:ext uri="{FF2B5EF4-FFF2-40B4-BE49-F238E27FC236}">
                <a16:creationId xmlns:a16="http://schemas.microsoft.com/office/drawing/2014/main" id="{1058318E-57C0-4E0E-ACE4-BA4FB0B7497A}"/>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1270" name="Rectangle 6">
            <a:extLst>
              <a:ext uri="{FF2B5EF4-FFF2-40B4-BE49-F238E27FC236}">
                <a16:creationId xmlns:a16="http://schemas.microsoft.com/office/drawing/2014/main" id="{684FE88D-9D98-4430-B5CA-7E5F8C9562AF}"/>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noProof="1" dirty="0"/>
            </a:lvl1pPr>
          </a:lstStyle>
          <a:p>
            <a:endParaRPr/>
          </a:p>
        </p:txBody>
      </p:sp>
      <p:sp>
        <p:nvSpPr>
          <p:cNvPr id="11271" name="Rectangle 7">
            <a:extLst>
              <a:ext uri="{FF2B5EF4-FFF2-40B4-BE49-F238E27FC236}">
                <a16:creationId xmlns:a16="http://schemas.microsoft.com/office/drawing/2014/main" id="{F26C0B88-19BD-4CA2-89A8-C4C111942F89}"/>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noProof="1" dirty="0"/>
            </a:lvl1pPr>
          </a:lstStyle>
          <a:p>
            <a:fld id="{86E75215-FD6D-453C-A98E-C4E97638348B}"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7">
            <a:extLst>
              <a:ext uri="{FF2B5EF4-FFF2-40B4-BE49-F238E27FC236}">
                <a16:creationId xmlns:a16="http://schemas.microsoft.com/office/drawing/2014/main" id="{736C621C-F063-4B8C-B28A-A4EC3828C364}"/>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a:fld id="{1C6672B2-CF72-48AE-BD0C-AC949B4CC715}" type="slidenum">
              <a:rPr lang="en-GB" altLang="en-US"/>
              <a:pPr algn="r"/>
              <a:t>3</a:t>
            </a:fld>
            <a:endParaRPr lang="en-GB" altLang="en-US"/>
          </a:p>
        </p:txBody>
      </p:sp>
      <p:sp>
        <p:nvSpPr>
          <p:cNvPr id="120834" name="Rectangle 2">
            <a:extLst>
              <a:ext uri="{FF2B5EF4-FFF2-40B4-BE49-F238E27FC236}">
                <a16:creationId xmlns:a16="http://schemas.microsoft.com/office/drawing/2014/main" id="{AC633B84-4834-4775-B260-16233B910B9A}"/>
              </a:ext>
            </a:extLst>
          </p:cNvPr>
          <p:cNvSpPr>
            <a:spLocks noGrp="1" noRot="1" noChangeAspect="1" noChangeArrowheads="1" noTextEdit="1"/>
          </p:cNvSpPr>
          <p:nvPr>
            <p:ph type="sldImg" idx="4294967295"/>
          </p:nvPr>
        </p:nvSpPr>
        <p:spPr>
          <a:xfrm>
            <a:off x="381000" y="685800"/>
            <a:ext cx="6096000" cy="3429000"/>
          </a:xfrm>
          <a:ln/>
        </p:spPr>
      </p:sp>
      <p:sp>
        <p:nvSpPr>
          <p:cNvPr id="120835" name="Rectangle 3">
            <a:extLst>
              <a:ext uri="{FF2B5EF4-FFF2-40B4-BE49-F238E27FC236}">
                <a16:creationId xmlns:a16="http://schemas.microsoft.com/office/drawing/2014/main" id="{8C406001-8BE9-484C-BA9D-AC874176DFC3}"/>
              </a:ext>
            </a:extLst>
          </p:cNvPr>
          <p:cNvSpPr>
            <a:spLocks noGrp="1" noChangeArrowheads="1"/>
          </p:cNvSpPr>
          <p:nvPr>
            <p:ph type="body" idx="4294967295"/>
          </p:nvPr>
        </p:nvSpPr>
        <p:spPr/>
        <p:txBody>
          <a:bodyPr>
            <a:prstTxWarp prst="textNoShape">
              <a:avLst/>
            </a:prstTxWarp>
          </a:bodyPr>
          <a:lstStyle/>
          <a:p>
            <a:pPr eaLnBrk="1" hangingPunct="1"/>
            <a:r>
              <a:rPr lang="en-US" altLang="en-US"/>
              <a:t>Wondering what it takes to get started with html5?</a:t>
            </a:r>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7">
            <a:extLst>
              <a:ext uri="{FF2B5EF4-FFF2-40B4-BE49-F238E27FC236}">
                <a16:creationId xmlns:a16="http://schemas.microsoft.com/office/drawing/2014/main" id="{87B1D6BA-8FDC-4C09-86A6-1750A96DBCD1}"/>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a:fld id="{1467141E-667A-407A-90CF-38E33AFDAA4C}" type="slidenum">
              <a:rPr lang="en-GB" altLang="en-US"/>
              <a:pPr algn="r"/>
              <a:t>4</a:t>
            </a:fld>
            <a:endParaRPr lang="en-GB" altLang="en-US"/>
          </a:p>
        </p:txBody>
      </p:sp>
      <p:sp>
        <p:nvSpPr>
          <p:cNvPr id="122882" name="Rectangle 2">
            <a:extLst>
              <a:ext uri="{FF2B5EF4-FFF2-40B4-BE49-F238E27FC236}">
                <a16:creationId xmlns:a16="http://schemas.microsoft.com/office/drawing/2014/main" id="{3CF54AEE-5FE4-48CA-88FE-2CC0760BEFC8}"/>
              </a:ext>
            </a:extLst>
          </p:cNvPr>
          <p:cNvSpPr>
            <a:spLocks noGrp="1" noRot="1" noChangeAspect="1" noChangeArrowheads="1" noTextEdit="1"/>
          </p:cNvSpPr>
          <p:nvPr>
            <p:ph type="sldImg" idx="4294967295"/>
          </p:nvPr>
        </p:nvSpPr>
        <p:spPr>
          <a:xfrm>
            <a:off x="381000" y="685800"/>
            <a:ext cx="6096000" cy="3429000"/>
          </a:xfrm>
          <a:ln/>
        </p:spPr>
      </p:sp>
      <p:sp>
        <p:nvSpPr>
          <p:cNvPr id="122883" name="Rectangle 3">
            <a:extLst>
              <a:ext uri="{FF2B5EF4-FFF2-40B4-BE49-F238E27FC236}">
                <a16:creationId xmlns:a16="http://schemas.microsoft.com/office/drawing/2014/main" id="{33544BE3-1E51-42B6-86E1-757C7C8BF8B5}"/>
              </a:ext>
            </a:extLst>
          </p:cNvPr>
          <p:cNvSpPr>
            <a:spLocks noGrp="1" noChangeArrowheads="1"/>
          </p:cNvSpPr>
          <p:nvPr>
            <p:ph type="body" idx="4294967295"/>
          </p:nvPr>
        </p:nvSpPr>
        <p:spPr/>
        <p:txBody>
          <a:bodyPr>
            <a:prstTxWarp prst="textNoShape">
              <a:avLst/>
            </a:prstTxWarp>
          </a:bodyPr>
          <a:lstStyle/>
          <a:p>
            <a:pPr eaLnBrk="1" hangingPunct="1"/>
            <a:r>
              <a:rPr lang="en-US" altLang="en-US"/>
              <a:t>Wondering what it takes to get started with html5?</a:t>
            </a:r>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7">
            <a:extLst>
              <a:ext uri="{FF2B5EF4-FFF2-40B4-BE49-F238E27FC236}">
                <a16:creationId xmlns:a16="http://schemas.microsoft.com/office/drawing/2014/main" id="{DCEC2E54-2B04-4C87-BB2C-529033680EE7}"/>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a:fld id="{236459A0-290C-456D-B94B-C65E4981D4FF}" type="slidenum">
              <a:rPr lang="en-GB" altLang="en-US"/>
              <a:pPr algn="r"/>
              <a:t>5</a:t>
            </a:fld>
            <a:endParaRPr lang="en-GB" altLang="en-US"/>
          </a:p>
        </p:txBody>
      </p:sp>
      <p:sp>
        <p:nvSpPr>
          <p:cNvPr id="124930" name="Rectangle 2">
            <a:extLst>
              <a:ext uri="{FF2B5EF4-FFF2-40B4-BE49-F238E27FC236}">
                <a16:creationId xmlns:a16="http://schemas.microsoft.com/office/drawing/2014/main" id="{1426EFEA-95FF-424C-971D-2642A89F51BC}"/>
              </a:ext>
            </a:extLst>
          </p:cNvPr>
          <p:cNvSpPr>
            <a:spLocks noGrp="1" noRot="1" noChangeAspect="1" noChangeArrowheads="1" noTextEdit="1"/>
          </p:cNvSpPr>
          <p:nvPr>
            <p:ph type="sldImg" idx="4294967295"/>
          </p:nvPr>
        </p:nvSpPr>
        <p:spPr>
          <a:xfrm>
            <a:off x="381000" y="685800"/>
            <a:ext cx="6096000" cy="3429000"/>
          </a:xfrm>
          <a:ln/>
        </p:spPr>
      </p:sp>
      <p:sp>
        <p:nvSpPr>
          <p:cNvPr id="124931" name="Rectangle 3">
            <a:extLst>
              <a:ext uri="{FF2B5EF4-FFF2-40B4-BE49-F238E27FC236}">
                <a16:creationId xmlns:a16="http://schemas.microsoft.com/office/drawing/2014/main" id="{84C1A6A6-F34A-4EC2-BF5A-1CC47CA4CFD4}"/>
              </a:ext>
            </a:extLst>
          </p:cNvPr>
          <p:cNvSpPr>
            <a:spLocks noGrp="1" noChangeArrowheads="1"/>
          </p:cNvSpPr>
          <p:nvPr>
            <p:ph type="body" idx="4294967295"/>
          </p:nvPr>
        </p:nvSpPr>
        <p:spPr/>
        <p:txBody>
          <a:bodyPr>
            <a:prstTxWarp prst="textNoShape">
              <a:avLst/>
            </a:prstTxWarp>
          </a:bodyPr>
          <a:lstStyle/>
          <a:p>
            <a:pPr eaLnBrk="1" hangingPunct="1"/>
            <a:r>
              <a:rPr lang="en-US" altLang="en-US"/>
              <a:t>Wondering what it takes to get started with html5?</a:t>
            </a:r>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7">
            <a:extLst>
              <a:ext uri="{FF2B5EF4-FFF2-40B4-BE49-F238E27FC236}">
                <a16:creationId xmlns:a16="http://schemas.microsoft.com/office/drawing/2014/main" id="{95A2BE52-CF90-4452-9518-C821F65C8430}"/>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a:fld id="{7F5385B0-9447-4FFF-9215-88D3E226CADF}" type="slidenum">
              <a:rPr lang="en-GB" altLang="en-US"/>
              <a:pPr algn="r"/>
              <a:t>6</a:t>
            </a:fld>
            <a:endParaRPr lang="en-GB" altLang="en-US"/>
          </a:p>
        </p:txBody>
      </p:sp>
      <p:sp>
        <p:nvSpPr>
          <p:cNvPr id="126978" name="Rectangle 2">
            <a:extLst>
              <a:ext uri="{FF2B5EF4-FFF2-40B4-BE49-F238E27FC236}">
                <a16:creationId xmlns:a16="http://schemas.microsoft.com/office/drawing/2014/main" id="{E7BC4971-08E2-470D-8BB7-85E9619204EE}"/>
              </a:ext>
            </a:extLst>
          </p:cNvPr>
          <p:cNvSpPr>
            <a:spLocks noGrp="1" noRot="1" noChangeAspect="1" noChangeArrowheads="1" noTextEdit="1"/>
          </p:cNvSpPr>
          <p:nvPr>
            <p:ph type="sldImg" idx="4294967295"/>
          </p:nvPr>
        </p:nvSpPr>
        <p:spPr>
          <a:xfrm>
            <a:off x="381000" y="685800"/>
            <a:ext cx="6096000" cy="3429000"/>
          </a:xfrm>
          <a:ln/>
        </p:spPr>
      </p:sp>
      <p:sp>
        <p:nvSpPr>
          <p:cNvPr id="126979" name="Rectangle 3">
            <a:extLst>
              <a:ext uri="{FF2B5EF4-FFF2-40B4-BE49-F238E27FC236}">
                <a16:creationId xmlns:a16="http://schemas.microsoft.com/office/drawing/2014/main" id="{11AA3681-C02E-4854-8F9A-42FB6FA85971}"/>
              </a:ext>
            </a:extLst>
          </p:cNvPr>
          <p:cNvSpPr>
            <a:spLocks noGrp="1" noChangeArrowheads="1"/>
          </p:cNvSpPr>
          <p:nvPr>
            <p:ph type="body" idx="4294967295"/>
          </p:nvPr>
        </p:nvSpPr>
        <p:spPr/>
        <p:txBody>
          <a:bodyPr>
            <a:prstTxWarp prst="textNoShape">
              <a:avLst/>
            </a:prstTxWarp>
          </a:bodyPr>
          <a:lstStyle/>
          <a:p>
            <a:pPr eaLnBrk="1" hangingPunct="1"/>
            <a:r>
              <a:rPr lang="en-US" altLang="en-US"/>
              <a:t>Wondering what it takes to get started with html5?</a:t>
            </a:r>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7">
            <a:extLst>
              <a:ext uri="{FF2B5EF4-FFF2-40B4-BE49-F238E27FC236}">
                <a16:creationId xmlns:a16="http://schemas.microsoft.com/office/drawing/2014/main" id="{97AFE81C-CFE1-4FF0-993C-8DD6E849965E}"/>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a:fld id="{595CE565-9413-4A9D-9B6C-011BFC2780D7}" type="slidenum">
              <a:rPr lang="en-GB" altLang="en-US"/>
              <a:pPr algn="r"/>
              <a:t>7</a:t>
            </a:fld>
            <a:endParaRPr lang="en-GB" altLang="en-US"/>
          </a:p>
        </p:txBody>
      </p:sp>
      <p:sp>
        <p:nvSpPr>
          <p:cNvPr id="129026" name="Rectangle 2">
            <a:extLst>
              <a:ext uri="{FF2B5EF4-FFF2-40B4-BE49-F238E27FC236}">
                <a16:creationId xmlns:a16="http://schemas.microsoft.com/office/drawing/2014/main" id="{87B774C1-31EA-439C-B5A9-4CE74F9AE23C}"/>
              </a:ext>
            </a:extLst>
          </p:cNvPr>
          <p:cNvSpPr>
            <a:spLocks noGrp="1" noRot="1" noChangeAspect="1" noChangeArrowheads="1" noTextEdit="1"/>
          </p:cNvSpPr>
          <p:nvPr>
            <p:ph type="sldImg" idx="4294967295"/>
          </p:nvPr>
        </p:nvSpPr>
        <p:spPr>
          <a:xfrm>
            <a:off x="381000" y="685800"/>
            <a:ext cx="6096000" cy="3429000"/>
          </a:xfrm>
          <a:ln/>
        </p:spPr>
      </p:sp>
      <p:sp>
        <p:nvSpPr>
          <p:cNvPr id="129027" name="Rectangle 3">
            <a:extLst>
              <a:ext uri="{FF2B5EF4-FFF2-40B4-BE49-F238E27FC236}">
                <a16:creationId xmlns:a16="http://schemas.microsoft.com/office/drawing/2014/main" id="{59C74446-70C1-4877-A52A-42BB883B9CC1}"/>
              </a:ext>
            </a:extLst>
          </p:cNvPr>
          <p:cNvSpPr>
            <a:spLocks noGrp="1" noChangeArrowheads="1"/>
          </p:cNvSpPr>
          <p:nvPr>
            <p:ph type="body" idx="4294967295"/>
          </p:nvPr>
        </p:nvSpPr>
        <p:spPr/>
        <p:txBody>
          <a:bodyPr>
            <a:prstTxWarp prst="textNoShape">
              <a:avLst/>
            </a:prstTxWarp>
          </a:bodyPr>
          <a:lstStyle/>
          <a:p>
            <a:pPr eaLnBrk="1" hangingPunct="1"/>
            <a:r>
              <a:rPr lang="en-US" altLang="en-US"/>
              <a:t>Wondering what it takes to get started with html5?</a:t>
            </a:r>
            <a:endParaRPr lang="en-GB"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7">
            <a:extLst>
              <a:ext uri="{FF2B5EF4-FFF2-40B4-BE49-F238E27FC236}">
                <a16:creationId xmlns:a16="http://schemas.microsoft.com/office/drawing/2014/main" id="{ECCC9431-4E92-4549-9EA1-2DA11595ADD2}"/>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a:fld id="{495A6B6E-3796-4D5D-A99B-8752D09CD8B0}" type="slidenum">
              <a:rPr lang="en-GB" altLang="en-US"/>
              <a:pPr algn="r"/>
              <a:t>13</a:t>
            </a:fld>
            <a:endParaRPr lang="en-GB" altLang="en-US"/>
          </a:p>
        </p:txBody>
      </p:sp>
      <p:sp>
        <p:nvSpPr>
          <p:cNvPr id="136194" name="Rectangle 2">
            <a:extLst>
              <a:ext uri="{FF2B5EF4-FFF2-40B4-BE49-F238E27FC236}">
                <a16:creationId xmlns:a16="http://schemas.microsoft.com/office/drawing/2014/main" id="{B4B5C17E-F715-432C-ADE0-578904189E27}"/>
              </a:ext>
            </a:extLst>
          </p:cNvPr>
          <p:cNvSpPr>
            <a:spLocks noGrp="1" noRot="1" noChangeAspect="1" noChangeArrowheads="1" noTextEdit="1"/>
          </p:cNvSpPr>
          <p:nvPr>
            <p:ph type="sldImg" idx="4294967295"/>
          </p:nvPr>
        </p:nvSpPr>
        <p:spPr>
          <a:xfrm>
            <a:off x="381000" y="685800"/>
            <a:ext cx="6096000" cy="3429000"/>
          </a:xfrm>
          <a:ln/>
        </p:spPr>
      </p:sp>
      <p:sp>
        <p:nvSpPr>
          <p:cNvPr id="136195" name="Rectangle 3">
            <a:extLst>
              <a:ext uri="{FF2B5EF4-FFF2-40B4-BE49-F238E27FC236}">
                <a16:creationId xmlns:a16="http://schemas.microsoft.com/office/drawing/2014/main" id="{01D818CD-C2EC-4661-AD1A-D5C319F1FA4D}"/>
              </a:ext>
            </a:extLst>
          </p:cNvPr>
          <p:cNvSpPr>
            <a:spLocks noGrp="1" noChangeArrowheads="1"/>
          </p:cNvSpPr>
          <p:nvPr>
            <p:ph type="body" idx="4294967295"/>
          </p:nvPr>
        </p:nvSpPr>
        <p:spPr/>
        <p:txBody>
          <a:bodyPr>
            <a:prstTxWarp prst="textNoShape">
              <a:avLst/>
            </a:prstTxWarp>
          </a:bodyPr>
          <a:lstStyle/>
          <a:p>
            <a:pPr eaLnBrk="1" hangingPunct="1"/>
            <a:r>
              <a:rPr lang="en-US" altLang="en-US"/>
              <a:t>Wondering what it takes to get started with html5?</a:t>
            </a:r>
            <a:endParaRPr lang="en-GB"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7">
            <a:extLst>
              <a:ext uri="{FF2B5EF4-FFF2-40B4-BE49-F238E27FC236}">
                <a16:creationId xmlns:a16="http://schemas.microsoft.com/office/drawing/2014/main" id="{90C92344-0E62-4BFE-8033-FA1144F761E3}"/>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a:fld id="{CA3CE017-007E-4562-8097-4B8F53092CCC}" type="slidenum">
              <a:rPr lang="en-GB" altLang="en-US"/>
              <a:pPr algn="r"/>
              <a:t>14</a:t>
            </a:fld>
            <a:endParaRPr lang="en-GB" altLang="en-US"/>
          </a:p>
        </p:txBody>
      </p:sp>
      <p:sp>
        <p:nvSpPr>
          <p:cNvPr id="138242" name="Rectangle 2">
            <a:extLst>
              <a:ext uri="{FF2B5EF4-FFF2-40B4-BE49-F238E27FC236}">
                <a16:creationId xmlns:a16="http://schemas.microsoft.com/office/drawing/2014/main" id="{666FA510-548B-4D90-92FF-EAAADD967A29}"/>
              </a:ext>
            </a:extLst>
          </p:cNvPr>
          <p:cNvSpPr>
            <a:spLocks noGrp="1" noRot="1" noChangeAspect="1" noChangeArrowheads="1" noTextEdit="1"/>
          </p:cNvSpPr>
          <p:nvPr>
            <p:ph type="sldImg" idx="4294967295"/>
          </p:nvPr>
        </p:nvSpPr>
        <p:spPr>
          <a:xfrm>
            <a:off x="381000" y="685800"/>
            <a:ext cx="6096000" cy="3429000"/>
          </a:xfrm>
          <a:ln/>
        </p:spPr>
      </p:sp>
      <p:sp>
        <p:nvSpPr>
          <p:cNvPr id="138243" name="Rectangle 3">
            <a:extLst>
              <a:ext uri="{FF2B5EF4-FFF2-40B4-BE49-F238E27FC236}">
                <a16:creationId xmlns:a16="http://schemas.microsoft.com/office/drawing/2014/main" id="{05B0786B-0818-4DDA-B096-EF47D5D042A1}"/>
              </a:ext>
            </a:extLst>
          </p:cNvPr>
          <p:cNvSpPr>
            <a:spLocks noGrp="1" noChangeArrowheads="1"/>
          </p:cNvSpPr>
          <p:nvPr>
            <p:ph type="body" idx="4294967295"/>
          </p:nvPr>
        </p:nvSpPr>
        <p:spPr/>
        <p:txBody>
          <a:bodyPr>
            <a:prstTxWarp prst="textNoShape">
              <a:avLst/>
            </a:prstTxWarp>
          </a:bodyPr>
          <a:lstStyle/>
          <a:p>
            <a:pPr eaLnBrk="1" hangingPunct="1"/>
            <a:r>
              <a:rPr lang="en-US" altLang="en-US"/>
              <a:t>Wondering what it takes to get started with html5?</a:t>
            </a:r>
            <a:endParaRPr lang="en-GB"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7">
            <a:extLst>
              <a:ext uri="{FF2B5EF4-FFF2-40B4-BE49-F238E27FC236}">
                <a16:creationId xmlns:a16="http://schemas.microsoft.com/office/drawing/2014/main" id="{960CFF93-2FF2-4F81-904B-F89C060D6C9D}"/>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a:fld id="{EEE31398-FF93-464B-A5A3-307C9A2FA21C}" type="slidenum">
              <a:rPr lang="en-GB" altLang="en-US"/>
              <a:pPr algn="r"/>
              <a:t>15</a:t>
            </a:fld>
            <a:endParaRPr lang="en-GB" altLang="en-US"/>
          </a:p>
        </p:txBody>
      </p:sp>
      <p:sp>
        <p:nvSpPr>
          <p:cNvPr id="140290" name="Rectangle 2">
            <a:extLst>
              <a:ext uri="{FF2B5EF4-FFF2-40B4-BE49-F238E27FC236}">
                <a16:creationId xmlns:a16="http://schemas.microsoft.com/office/drawing/2014/main" id="{0F641A40-E939-4B0D-8A05-23EF8C21D58E}"/>
              </a:ext>
            </a:extLst>
          </p:cNvPr>
          <p:cNvSpPr>
            <a:spLocks noGrp="1" noRot="1" noChangeAspect="1" noChangeArrowheads="1" noTextEdit="1"/>
          </p:cNvSpPr>
          <p:nvPr>
            <p:ph type="sldImg" idx="4294967295"/>
          </p:nvPr>
        </p:nvSpPr>
        <p:spPr>
          <a:xfrm>
            <a:off x="381000" y="685800"/>
            <a:ext cx="6096000" cy="3429000"/>
          </a:xfrm>
          <a:ln/>
        </p:spPr>
      </p:sp>
      <p:sp>
        <p:nvSpPr>
          <p:cNvPr id="140291" name="Rectangle 3">
            <a:extLst>
              <a:ext uri="{FF2B5EF4-FFF2-40B4-BE49-F238E27FC236}">
                <a16:creationId xmlns:a16="http://schemas.microsoft.com/office/drawing/2014/main" id="{CB9439B8-8B36-4AD4-8E58-E7DB18CB6EB0}"/>
              </a:ext>
            </a:extLst>
          </p:cNvPr>
          <p:cNvSpPr>
            <a:spLocks noGrp="1" noChangeArrowheads="1"/>
          </p:cNvSpPr>
          <p:nvPr>
            <p:ph type="body" idx="4294967295"/>
          </p:nvPr>
        </p:nvSpPr>
        <p:spPr/>
        <p:txBody>
          <a:bodyPr>
            <a:prstTxWarp prst="textNoShape">
              <a:avLst/>
            </a:prstTxWarp>
          </a:bodyPr>
          <a:lstStyle/>
          <a:p>
            <a:pPr eaLnBrk="1" hangingPunct="1"/>
            <a:r>
              <a:rPr lang="en-US" altLang="en-US"/>
              <a:t>Wondering what it takes to get started with html5?</a:t>
            </a:r>
            <a:endParaRPr lang="en-GB"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7">
            <a:extLst>
              <a:ext uri="{FF2B5EF4-FFF2-40B4-BE49-F238E27FC236}">
                <a16:creationId xmlns:a16="http://schemas.microsoft.com/office/drawing/2014/main" id="{0EB98DE3-25EC-40CF-BF5C-403BA24C3128}"/>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a:fld id="{2C398B0C-A252-412F-B81C-96E26F534CE4}" type="slidenum">
              <a:rPr lang="en-GB" altLang="en-US"/>
              <a:pPr algn="r"/>
              <a:t>16</a:t>
            </a:fld>
            <a:endParaRPr lang="en-GB" altLang="en-US"/>
          </a:p>
        </p:txBody>
      </p:sp>
      <p:sp>
        <p:nvSpPr>
          <p:cNvPr id="142338" name="Rectangle 2">
            <a:extLst>
              <a:ext uri="{FF2B5EF4-FFF2-40B4-BE49-F238E27FC236}">
                <a16:creationId xmlns:a16="http://schemas.microsoft.com/office/drawing/2014/main" id="{039EA78D-638D-4677-A1AB-9B4710AC2F1B}"/>
              </a:ext>
            </a:extLst>
          </p:cNvPr>
          <p:cNvSpPr>
            <a:spLocks noGrp="1" noRot="1" noChangeAspect="1" noChangeArrowheads="1" noTextEdit="1"/>
          </p:cNvSpPr>
          <p:nvPr>
            <p:ph type="sldImg" idx="4294967295"/>
          </p:nvPr>
        </p:nvSpPr>
        <p:spPr>
          <a:xfrm>
            <a:off x="381000" y="685800"/>
            <a:ext cx="6096000" cy="3429000"/>
          </a:xfrm>
          <a:ln/>
        </p:spPr>
      </p:sp>
      <p:sp>
        <p:nvSpPr>
          <p:cNvPr id="142339" name="Rectangle 3">
            <a:extLst>
              <a:ext uri="{FF2B5EF4-FFF2-40B4-BE49-F238E27FC236}">
                <a16:creationId xmlns:a16="http://schemas.microsoft.com/office/drawing/2014/main" id="{DF90CDF3-072C-4969-A9C6-5E4D83B4AA0B}"/>
              </a:ext>
            </a:extLst>
          </p:cNvPr>
          <p:cNvSpPr>
            <a:spLocks noGrp="1" noChangeArrowheads="1"/>
          </p:cNvSpPr>
          <p:nvPr>
            <p:ph type="body" idx="4294967295"/>
          </p:nvPr>
        </p:nvSpPr>
        <p:spPr/>
        <p:txBody>
          <a:bodyPr>
            <a:prstTxWarp prst="textNoShape">
              <a:avLst/>
            </a:prstTxWarp>
          </a:bodyPr>
          <a:lstStyle/>
          <a:p>
            <a:pPr eaLnBrk="1" hangingPunct="1"/>
            <a:r>
              <a:rPr lang="en-US" altLang="en-US"/>
              <a:t>Wondering what it takes to get started with html5?</a:t>
            </a:r>
            <a:endParaRPr lang="en-GB"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7">
            <a:extLst>
              <a:ext uri="{FF2B5EF4-FFF2-40B4-BE49-F238E27FC236}">
                <a16:creationId xmlns:a16="http://schemas.microsoft.com/office/drawing/2014/main" id="{DC91D633-6DCF-49E0-BC3C-BCB1959E1C78}"/>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a:fld id="{10955B18-FA39-4948-9D74-BB645AE75C41}" type="slidenum">
              <a:rPr lang="en-GB" altLang="en-US"/>
              <a:pPr algn="r"/>
              <a:t>17</a:t>
            </a:fld>
            <a:endParaRPr lang="en-GB" altLang="en-US"/>
          </a:p>
        </p:txBody>
      </p:sp>
      <p:sp>
        <p:nvSpPr>
          <p:cNvPr id="144386" name="Rectangle 2">
            <a:extLst>
              <a:ext uri="{FF2B5EF4-FFF2-40B4-BE49-F238E27FC236}">
                <a16:creationId xmlns:a16="http://schemas.microsoft.com/office/drawing/2014/main" id="{8D4D7FF8-9891-4A51-A232-B08BED1D0B30}"/>
              </a:ext>
            </a:extLst>
          </p:cNvPr>
          <p:cNvSpPr>
            <a:spLocks noGrp="1" noRot="1" noChangeAspect="1" noChangeArrowheads="1" noTextEdit="1"/>
          </p:cNvSpPr>
          <p:nvPr>
            <p:ph type="sldImg" idx="4294967295"/>
          </p:nvPr>
        </p:nvSpPr>
        <p:spPr>
          <a:xfrm>
            <a:off x="381000" y="685800"/>
            <a:ext cx="6096000" cy="3429000"/>
          </a:xfrm>
          <a:ln/>
        </p:spPr>
      </p:sp>
      <p:sp>
        <p:nvSpPr>
          <p:cNvPr id="144387" name="Rectangle 3">
            <a:extLst>
              <a:ext uri="{FF2B5EF4-FFF2-40B4-BE49-F238E27FC236}">
                <a16:creationId xmlns:a16="http://schemas.microsoft.com/office/drawing/2014/main" id="{1418BA9C-8C69-4859-AEEE-135FD2B21A89}"/>
              </a:ext>
            </a:extLst>
          </p:cNvPr>
          <p:cNvSpPr>
            <a:spLocks noGrp="1" noChangeArrowheads="1"/>
          </p:cNvSpPr>
          <p:nvPr>
            <p:ph type="body" idx="4294967295"/>
          </p:nvPr>
        </p:nvSpPr>
        <p:spPr/>
        <p:txBody>
          <a:bodyPr>
            <a:prstTxWarp prst="textNoShape">
              <a:avLst/>
            </a:prstTxWarp>
          </a:bodyPr>
          <a:lstStyle/>
          <a:p>
            <a:pPr eaLnBrk="1" hangingPunct="1"/>
            <a:r>
              <a:rPr lang="en-US" altLang="en-US"/>
              <a:t>Wondering what it takes to get started with html5?</a:t>
            </a:r>
            <a:endParaRPr lang="en-GB"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7">
            <a:extLst>
              <a:ext uri="{FF2B5EF4-FFF2-40B4-BE49-F238E27FC236}">
                <a16:creationId xmlns:a16="http://schemas.microsoft.com/office/drawing/2014/main" id="{FC2B0F1B-75E4-4854-9F9A-2DB4524F9600}"/>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a:fld id="{EF73B287-8F69-4C6A-8358-EB0E75F7CD3C}" type="slidenum">
              <a:rPr lang="en-GB" altLang="en-US"/>
              <a:pPr algn="r"/>
              <a:t>18</a:t>
            </a:fld>
            <a:endParaRPr lang="en-GB" altLang="en-US"/>
          </a:p>
        </p:txBody>
      </p:sp>
      <p:sp>
        <p:nvSpPr>
          <p:cNvPr id="146434" name="Rectangle 2">
            <a:extLst>
              <a:ext uri="{FF2B5EF4-FFF2-40B4-BE49-F238E27FC236}">
                <a16:creationId xmlns:a16="http://schemas.microsoft.com/office/drawing/2014/main" id="{6E0F8545-9BDC-4F71-B347-B24D949B9FE0}"/>
              </a:ext>
            </a:extLst>
          </p:cNvPr>
          <p:cNvSpPr>
            <a:spLocks noGrp="1" noRot="1" noChangeAspect="1" noChangeArrowheads="1" noTextEdit="1"/>
          </p:cNvSpPr>
          <p:nvPr>
            <p:ph type="sldImg" idx="4294967295"/>
          </p:nvPr>
        </p:nvSpPr>
        <p:spPr>
          <a:xfrm>
            <a:off x="381000" y="685800"/>
            <a:ext cx="6096000" cy="3429000"/>
          </a:xfrm>
          <a:ln/>
        </p:spPr>
      </p:sp>
      <p:sp>
        <p:nvSpPr>
          <p:cNvPr id="146435" name="Rectangle 3">
            <a:extLst>
              <a:ext uri="{FF2B5EF4-FFF2-40B4-BE49-F238E27FC236}">
                <a16:creationId xmlns:a16="http://schemas.microsoft.com/office/drawing/2014/main" id="{276EDFCB-CA42-4136-9EBE-F806775E4DA3}"/>
              </a:ext>
            </a:extLst>
          </p:cNvPr>
          <p:cNvSpPr>
            <a:spLocks noGrp="1" noChangeArrowheads="1"/>
          </p:cNvSpPr>
          <p:nvPr>
            <p:ph type="body" idx="4294967295"/>
          </p:nvPr>
        </p:nvSpPr>
        <p:spPr/>
        <p:txBody>
          <a:bodyPr>
            <a:prstTxWarp prst="textNoShape">
              <a:avLst/>
            </a:prstTxWarp>
          </a:bodyPr>
          <a:lstStyle/>
          <a:p>
            <a:pPr eaLnBrk="1" hangingPunct="1"/>
            <a:r>
              <a:rPr lang="en-US" altLang="en-US"/>
              <a:t>Wondering what it takes to get started with html5?</a:t>
            </a:r>
            <a:endParaRPr lang="en-GB"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7">
            <a:extLst>
              <a:ext uri="{FF2B5EF4-FFF2-40B4-BE49-F238E27FC236}">
                <a16:creationId xmlns:a16="http://schemas.microsoft.com/office/drawing/2014/main" id="{9BE20C39-F58B-4ADB-89B7-68BFA29333B8}"/>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a:fld id="{1C4D1C1C-7DFF-495D-AEB0-D14833957794}" type="slidenum">
              <a:rPr lang="en-GB" altLang="en-US"/>
              <a:pPr algn="r"/>
              <a:t>19</a:t>
            </a:fld>
            <a:endParaRPr lang="en-GB" altLang="en-US"/>
          </a:p>
        </p:txBody>
      </p:sp>
      <p:sp>
        <p:nvSpPr>
          <p:cNvPr id="148482" name="Rectangle 2">
            <a:extLst>
              <a:ext uri="{FF2B5EF4-FFF2-40B4-BE49-F238E27FC236}">
                <a16:creationId xmlns:a16="http://schemas.microsoft.com/office/drawing/2014/main" id="{229AB605-ECF6-4370-8798-78B83317125F}"/>
              </a:ext>
            </a:extLst>
          </p:cNvPr>
          <p:cNvSpPr>
            <a:spLocks noGrp="1" noRot="1" noChangeAspect="1" noChangeArrowheads="1" noTextEdit="1"/>
          </p:cNvSpPr>
          <p:nvPr>
            <p:ph type="sldImg" idx="4294967295"/>
          </p:nvPr>
        </p:nvSpPr>
        <p:spPr>
          <a:xfrm>
            <a:off x="381000" y="685800"/>
            <a:ext cx="6096000" cy="3429000"/>
          </a:xfrm>
          <a:ln/>
        </p:spPr>
      </p:sp>
      <p:sp>
        <p:nvSpPr>
          <p:cNvPr id="148483" name="Rectangle 3">
            <a:extLst>
              <a:ext uri="{FF2B5EF4-FFF2-40B4-BE49-F238E27FC236}">
                <a16:creationId xmlns:a16="http://schemas.microsoft.com/office/drawing/2014/main" id="{A1ABBD39-1270-4C20-A039-36D10F13BB21}"/>
              </a:ext>
            </a:extLst>
          </p:cNvPr>
          <p:cNvSpPr>
            <a:spLocks noGrp="1" noChangeArrowheads="1"/>
          </p:cNvSpPr>
          <p:nvPr>
            <p:ph type="body" idx="4294967295"/>
          </p:nvPr>
        </p:nvSpPr>
        <p:spPr/>
        <p:txBody>
          <a:bodyPr>
            <a:prstTxWarp prst="textNoShape">
              <a:avLst/>
            </a:prstTxWarp>
          </a:bodyPr>
          <a:lstStyle/>
          <a:p>
            <a:pPr eaLnBrk="1" hangingPunct="1"/>
            <a:r>
              <a:rPr lang="en-US" altLang="en-US"/>
              <a:t>Wondering what it takes to get started with html5?</a:t>
            </a:r>
            <a:endParaRPr lang="en-GB"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7">
            <a:extLst>
              <a:ext uri="{FF2B5EF4-FFF2-40B4-BE49-F238E27FC236}">
                <a16:creationId xmlns:a16="http://schemas.microsoft.com/office/drawing/2014/main" id="{94EB6F56-E47B-4B12-A58A-675E03C3FC77}"/>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a:fld id="{745AC0E6-1158-48D6-8FE1-35469246365B}" type="slidenum">
              <a:rPr lang="en-GB" altLang="en-US"/>
              <a:pPr algn="r"/>
              <a:t>28</a:t>
            </a:fld>
            <a:endParaRPr lang="en-GB" altLang="en-US"/>
          </a:p>
        </p:txBody>
      </p:sp>
      <p:sp>
        <p:nvSpPr>
          <p:cNvPr id="158722" name="Rectangle 2">
            <a:extLst>
              <a:ext uri="{FF2B5EF4-FFF2-40B4-BE49-F238E27FC236}">
                <a16:creationId xmlns:a16="http://schemas.microsoft.com/office/drawing/2014/main" id="{DC73008A-B7B4-49D9-BD69-10F11210AF02}"/>
              </a:ext>
            </a:extLst>
          </p:cNvPr>
          <p:cNvSpPr>
            <a:spLocks noGrp="1" noRot="1" noChangeAspect="1" noChangeArrowheads="1" noTextEdit="1"/>
          </p:cNvSpPr>
          <p:nvPr>
            <p:ph type="sldImg" idx="4294967295"/>
          </p:nvPr>
        </p:nvSpPr>
        <p:spPr>
          <a:xfrm>
            <a:off x="381000" y="685800"/>
            <a:ext cx="6096000" cy="3429000"/>
          </a:xfrm>
          <a:ln/>
        </p:spPr>
      </p:sp>
      <p:sp>
        <p:nvSpPr>
          <p:cNvPr id="158723" name="Rectangle 3">
            <a:extLst>
              <a:ext uri="{FF2B5EF4-FFF2-40B4-BE49-F238E27FC236}">
                <a16:creationId xmlns:a16="http://schemas.microsoft.com/office/drawing/2014/main" id="{E09C431F-630C-4854-A3E5-2A09F4B41288}"/>
              </a:ext>
            </a:extLst>
          </p:cNvPr>
          <p:cNvSpPr>
            <a:spLocks noGrp="1" noChangeArrowheads="1"/>
          </p:cNvSpPr>
          <p:nvPr>
            <p:ph type="body" idx="4294967295"/>
          </p:nvPr>
        </p:nvSpPr>
        <p:spPr/>
        <p:txBody>
          <a:bodyPr>
            <a:prstTxWarp prst="textNoShape">
              <a:avLst/>
            </a:prstTxWarp>
          </a:bodyPr>
          <a:lstStyle/>
          <a:p>
            <a:pPr eaLnBrk="1" hangingPunct="1"/>
            <a:r>
              <a:rPr lang="en-US" altLang="en-US" dirty="0"/>
              <a:t>Wondering what it takes to get started with html5?</a:t>
            </a:r>
            <a:endParaRPr lang="en-GB"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7">
            <a:extLst>
              <a:ext uri="{FF2B5EF4-FFF2-40B4-BE49-F238E27FC236}">
                <a16:creationId xmlns:a16="http://schemas.microsoft.com/office/drawing/2014/main" id="{F013710E-5EA7-4DD2-A2C4-DB24DC146B59}"/>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a:fld id="{C281E755-397A-4FAB-B7C9-369C64B670F2}" type="slidenum">
              <a:rPr lang="en-GB" altLang="en-US"/>
              <a:pPr algn="r"/>
              <a:t>29</a:t>
            </a:fld>
            <a:endParaRPr lang="en-GB" altLang="en-US"/>
          </a:p>
        </p:txBody>
      </p:sp>
      <p:sp>
        <p:nvSpPr>
          <p:cNvPr id="160770" name="Rectangle 2">
            <a:extLst>
              <a:ext uri="{FF2B5EF4-FFF2-40B4-BE49-F238E27FC236}">
                <a16:creationId xmlns:a16="http://schemas.microsoft.com/office/drawing/2014/main" id="{C4501F2D-B40C-47D9-A982-D13055543C3E}"/>
              </a:ext>
            </a:extLst>
          </p:cNvPr>
          <p:cNvSpPr>
            <a:spLocks noGrp="1" noRot="1" noChangeAspect="1" noChangeArrowheads="1" noTextEdit="1"/>
          </p:cNvSpPr>
          <p:nvPr>
            <p:ph type="sldImg" idx="4294967295"/>
          </p:nvPr>
        </p:nvSpPr>
        <p:spPr>
          <a:xfrm>
            <a:off x="381000" y="685800"/>
            <a:ext cx="6096000" cy="3429000"/>
          </a:xfrm>
          <a:ln/>
        </p:spPr>
      </p:sp>
      <p:sp>
        <p:nvSpPr>
          <p:cNvPr id="160771" name="Rectangle 3">
            <a:extLst>
              <a:ext uri="{FF2B5EF4-FFF2-40B4-BE49-F238E27FC236}">
                <a16:creationId xmlns:a16="http://schemas.microsoft.com/office/drawing/2014/main" id="{978B1947-79CA-43B6-883E-9132F2C088C1}"/>
              </a:ext>
            </a:extLst>
          </p:cNvPr>
          <p:cNvSpPr>
            <a:spLocks noGrp="1" noChangeArrowheads="1"/>
          </p:cNvSpPr>
          <p:nvPr>
            <p:ph type="body" idx="4294967295"/>
          </p:nvPr>
        </p:nvSpPr>
        <p:spPr/>
        <p:txBody>
          <a:bodyPr>
            <a:prstTxWarp prst="textNoShape">
              <a:avLst/>
            </a:prstTxWarp>
          </a:bodyPr>
          <a:lstStyle/>
          <a:p>
            <a:pPr eaLnBrk="1" hangingPunct="1"/>
            <a:r>
              <a:rPr lang="en-US" altLang="en-US"/>
              <a:t>Wondering what it takes to get started with html5?</a:t>
            </a:r>
            <a:endParaRPr lang="en-GB"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7">
            <a:extLst>
              <a:ext uri="{FF2B5EF4-FFF2-40B4-BE49-F238E27FC236}">
                <a16:creationId xmlns:a16="http://schemas.microsoft.com/office/drawing/2014/main" id="{469B0FE9-14AF-4992-99EA-6447FA1D4BB8}"/>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a:fld id="{50AD96DC-FA2D-43FD-A37E-38B7F255D2B2}" type="slidenum">
              <a:rPr lang="en-GB" altLang="en-US"/>
              <a:pPr algn="r"/>
              <a:t>32</a:t>
            </a:fld>
            <a:endParaRPr lang="en-GB" altLang="en-US"/>
          </a:p>
        </p:txBody>
      </p:sp>
      <p:sp>
        <p:nvSpPr>
          <p:cNvPr id="164866" name="Rectangle 2">
            <a:extLst>
              <a:ext uri="{FF2B5EF4-FFF2-40B4-BE49-F238E27FC236}">
                <a16:creationId xmlns:a16="http://schemas.microsoft.com/office/drawing/2014/main" id="{7E5A081E-AF0B-412B-B84A-2DC654DA1AE3}"/>
              </a:ext>
            </a:extLst>
          </p:cNvPr>
          <p:cNvSpPr>
            <a:spLocks noGrp="1" noRot="1" noChangeAspect="1" noChangeArrowheads="1" noTextEdit="1"/>
          </p:cNvSpPr>
          <p:nvPr>
            <p:ph type="sldImg" idx="4294967295"/>
          </p:nvPr>
        </p:nvSpPr>
        <p:spPr>
          <a:xfrm>
            <a:off x="381000" y="685800"/>
            <a:ext cx="6096000" cy="3429000"/>
          </a:xfrm>
          <a:ln/>
        </p:spPr>
      </p:sp>
      <p:sp>
        <p:nvSpPr>
          <p:cNvPr id="164867" name="Rectangle 3">
            <a:extLst>
              <a:ext uri="{FF2B5EF4-FFF2-40B4-BE49-F238E27FC236}">
                <a16:creationId xmlns:a16="http://schemas.microsoft.com/office/drawing/2014/main" id="{FF03C9B8-C6B3-4A6A-95DE-33FDC098017B}"/>
              </a:ext>
            </a:extLst>
          </p:cNvPr>
          <p:cNvSpPr>
            <a:spLocks noGrp="1" noChangeArrowheads="1"/>
          </p:cNvSpPr>
          <p:nvPr>
            <p:ph type="body" idx="4294967295"/>
          </p:nvPr>
        </p:nvSpPr>
        <p:spPr/>
        <p:txBody>
          <a:bodyPr>
            <a:prstTxWarp prst="textNoShape">
              <a:avLst/>
            </a:prstTxWarp>
          </a:bodyPr>
          <a:lstStyle/>
          <a:p>
            <a:pPr eaLnBrk="1" hangingPunct="1"/>
            <a:r>
              <a:rPr lang="en-US" altLang="en-US"/>
              <a:t>Wondering what it takes to get started with html5?</a:t>
            </a:r>
            <a:endParaRPr lang="en-GB"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7">
            <a:extLst>
              <a:ext uri="{FF2B5EF4-FFF2-40B4-BE49-F238E27FC236}">
                <a16:creationId xmlns:a16="http://schemas.microsoft.com/office/drawing/2014/main" id="{117880A9-32FA-4725-977E-1CA0BA553A5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a:fld id="{D80C636D-0F9D-4037-B0E0-0EBB41AFEA2F}" type="slidenum">
              <a:rPr lang="en-GB" altLang="en-US"/>
              <a:pPr algn="r"/>
              <a:t>33</a:t>
            </a:fld>
            <a:endParaRPr lang="en-GB" altLang="en-US"/>
          </a:p>
        </p:txBody>
      </p:sp>
      <p:sp>
        <p:nvSpPr>
          <p:cNvPr id="166914" name="Rectangle 2">
            <a:extLst>
              <a:ext uri="{FF2B5EF4-FFF2-40B4-BE49-F238E27FC236}">
                <a16:creationId xmlns:a16="http://schemas.microsoft.com/office/drawing/2014/main" id="{2B25074D-2AED-455F-99EB-536DC33C83EC}"/>
              </a:ext>
            </a:extLst>
          </p:cNvPr>
          <p:cNvSpPr>
            <a:spLocks noGrp="1" noRot="1" noChangeAspect="1" noChangeArrowheads="1" noTextEdit="1"/>
          </p:cNvSpPr>
          <p:nvPr>
            <p:ph type="sldImg" idx="4294967295"/>
          </p:nvPr>
        </p:nvSpPr>
        <p:spPr>
          <a:xfrm>
            <a:off x="381000" y="685800"/>
            <a:ext cx="6096000" cy="3429000"/>
          </a:xfrm>
          <a:ln/>
        </p:spPr>
      </p:sp>
      <p:sp>
        <p:nvSpPr>
          <p:cNvPr id="166915" name="Rectangle 3">
            <a:extLst>
              <a:ext uri="{FF2B5EF4-FFF2-40B4-BE49-F238E27FC236}">
                <a16:creationId xmlns:a16="http://schemas.microsoft.com/office/drawing/2014/main" id="{576369D3-7218-40F1-8CFE-2DCFAB9F1278}"/>
              </a:ext>
            </a:extLst>
          </p:cNvPr>
          <p:cNvSpPr>
            <a:spLocks noGrp="1" noChangeArrowheads="1"/>
          </p:cNvSpPr>
          <p:nvPr>
            <p:ph type="body" idx="4294967295"/>
          </p:nvPr>
        </p:nvSpPr>
        <p:spPr/>
        <p:txBody>
          <a:bodyPr>
            <a:prstTxWarp prst="textNoShape">
              <a:avLst/>
            </a:prstTxWarp>
          </a:bodyPr>
          <a:lstStyle/>
          <a:p>
            <a:pPr eaLnBrk="1" hangingPunct="1"/>
            <a:r>
              <a:rPr lang="en-US" altLang="en-US"/>
              <a:t>Rounds of even there is no enough space </a:t>
            </a:r>
            <a:endParaRPr lang="en-GB"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7">
            <a:extLst>
              <a:ext uri="{FF2B5EF4-FFF2-40B4-BE49-F238E27FC236}">
                <a16:creationId xmlns:a16="http://schemas.microsoft.com/office/drawing/2014/main" id="{287913D1-0F31-4317-AA8A-C03987F61809}"/>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a:fld id="{BC5781A0-414B-4EA0-B2D8-9769B20BDBCE}" type="slidenum">
              <a:rPr lang="en-GB" altLang="en-US"/>
              <a:pPr algn="r"/>
              <a:t>34</a:t>
            </a:fld>
            <a:endParaRPr lang="en-GB" altLang="en-US"/>
          </a:p>
        </p:txBody>
      </p:sp>
      <p:sp>
        <p:nvSpPr>
          <p:cNvPr id="168962" name="Rectangle 2">
            <a:extLst>
              <a:ext uri="{FF2B5EF4-FFF2-40B4-BE49-F238E27FC236}">
                <a16:creationId xmlns:a16="http://schemas.microsoft.com/office/drawing/2014/main" id="{42292A2B-CFDB-45B0-BBF6-FCAF701B3BF0}"/>
              </a:ext>
            </a:extLst>
          </p:cNvPr>
          <p:cNvSpPr>
            <a:spLocks noGrp="1" noRot="1" noChangeAspect="1" noChangeArrowheads="1" noTextEdit="1"/>
          </p:cNvSpPr>
          <p:nvPr>
            <p:ph type="sldImg" idx="4294967295"/>
          </p:nvPr>
        </p:nvSpPr>
        <p:spPr>
          <a:xfrm>
            <a:off x="381000" y="685800"/>
            <a:ext cx="6096000" cy="3429000"/>
          </a:xfrm>
          <a:ln/>
        </p:spPr>
      </p:sp>
      <p:sp>
        <p:nvSpPr>
          <p:cNvPr id="168963" name="Rectangle 3">
            <a:extLst>
              <a:ext uri="{FF2B5EF4-FFF2-40B4-BE49-F238E27FC236}">
                <a16:creationId xmlns:a16="http://schemas.microsoft.com/office/drawing/2014/main" id="{C4529E6F-B37C-45FC-9B15-7EB45708BF21}"/>
              </a:ext>
            </a:extLst>
          </p:cNvPr>
          <p:cNvSpPr>
            <a:spLocks noGrp="1" noChangeArrowheads="1"/>
          </p:cNvSpPr>
          <p:nvPr>
            <p:ph type="body" idx="4294967295"/>
          </p:nvPr>
        </p:nvSpPr>
        <p:spPr/>
        <p:txBody>
          <a:bodyPr>
            <a:prstTxWarp prst="textNoShape">
              <a:avLst/>
            </a:prstTxWarp>
          </a:bodyPr>
          <a:lstStyle/>
          <a:p>
            <a:pPr eaLnBrk="1" hangingPunct="1"/>
            <a:r>
              <a:rPr lang="en-US" altLang="en-US"/>
              <a:t>Rounds of even there is no enough space </a:t>
            </a:r>
            <a:endParaRPr lang="en-GB"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Rectangle 7">
            <a:extLst>
              <a:ext uri="{FF2B5EF4-FFF2-40B4-BE49-F238E27FC236}">
                <a16:creationId xmlns:a16="http://schemas.microsoft.com/office/drawing/2014/main" id="{BDEB80BB-666D-4E05-A458-371D9DB96891}"/>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a:fld id="{6A06BD78-FF81-4ED6-833E-5E46D7FAB2D3}" type="slidenum">
              <a:rPr lang="en-GB" altLang="en-US"/>
              <a:pPr algn="r"/>
              <a:t>35</a:t>
            </a:fld>
            <a:endParaRPr lang="en-GB" altLang="en-US"/>
          </a:p>
        </p:txBody>
      </p:sp>
      <p:sp>
        <p:nvSpPr>
          <p:cNvPr id="171010" name="Rectangle 2">
            <a:extLst>
              <a:ext uri="{FF2B5EF4-FFF2-40B4-BE49-F238E27FC236}">
                <a16:creationId xmlns:a16="http://schemas.microsoft.com/office/drawing/2014/main" id="{787DD956-EB42-4CA6-B4FD-97E84DA3CC7C}"/>
              </a:ext>
            </a:extLst>
          </p:cNvPr>
          <p:cNvSpPr>
            <a:spLocks noGrp="1" noRot="1" noChangeAspect="1" noChangeArrowheads="1" noTextEdit="1"/>
          </p:cNvSpPr>
          <p:nvPr>
            <p:ph type="sldImg" idx="4294967295"/>
          </p:nvPr>
        </p:nvSpPr>
        <p:spPr>
          <a:xfrm>
            <a:off x="381000" y="685800"/>
            <a:ext cx="6096000" cy="3429000"/>
          </a:xfrm>
          <a:ln/>
        </p:spPr>
      </p:sp>
      <p:sp>
        <p:nvSpPr>
          <p:cNvPr id="171011" name="Rectangle 3">
            <a:extLst>
              <a:ext uri="{FF2B5EF4-FFF2-40B4-BE49-F238E27FC236}">
                <a16:creationId xmlns:a16="http://schemas.microsoft.com/office/drawing/2014/main" id="{07641C8B-5586-44F4-AE80-44DBCEE5A354}"/>
              </a:ext>
            </a:extLst>
          </p:cNvPr>
          <p:cNvSpPr>
            <a:spLocks noGrp="1" noChangeArrowheads="1"/>
          </p:cNvSpPr>
          <p:nvPr>
            <p:ph type="body" idx="4294967295"/>
          </p:nvPr>
        </p:nvSpPr>
        <p:spPr/>
        <p:txBody>
          <a:bodyPr>
            <a:prstTxWarp prst="textNoShape">
              <a:avLst/>
            </a:prstTxWarp>
          </a:bodyPr>
          <a:lstStyle/>
          <a:p>
            <a:pPr eaLnBrk="1" hangingPunct="1"/>
            <a:r>
              <a:rPr lang="en-US" altLang="en-US"/>
              <a:t>Rounds of even there is no enough space </a:t>
            </a:r>
            <a:endParaRPr lang="en-GB"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Rectangle 7">
            <a:extLst>
              <a:ext uri="{FF2B5EF4-FFF2-40B4-BE49-F238E27FC236}">
                <a16:creationId xmlns:a16="http://schemas.microsoft.com/office/drawing/2014/main" id="{78102C87-8B3D-4160-9603-E975025E544A}"/>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a:fld id="{8F1A2701-CADD-40D3-ADFB-6C055C7CF535}" type="slidenum">
              <a:rPr lang="en-GB" altLang="en-US"/>
              <a:pPr algn="r"/>
              <a:t>36</a:t>
            </a:fld>
            <a:endParaRPr lang="en-GB" altLang="en-US"/>
          </a:p>
        </p:txBody>
      </p:sp>
      <p:sp>
        <p:nvSpPr>
          <p:cNvPr id="173058" name="Rectangle 2">
            <a:extLst>
              <a:ext uri="{FF2B5EF4-FFF2-40B4-BE49-F238E27FC236}">
                <a16:creationId xmlns:a16="http://schemas.microsoft.com/office/drawing/2014/main" id="{C871B1E2-0A86-4CEA-8A93-E29354FB3848}"/>
              </a:ext>
            </a:extLst>
          </p:cNvPr>
          <p:cNvSpPr>
            <a:spLocks noGrp="1" noRot="1" noChangeAspect="1" noChangeArrowheads="1" noTextEdit="1"/>
          </p:cNvSpPr>
          <p:nvPr>
            <p:ph type="sldImg" idx="4294967295"/>
          </p:nvPr>
        </p:nvSpPr>
        <p:spPr>
          <a:xfrm>
            <a:off x="381000" y="685800"/>
            <a:ext cx="6096000" cy="3429000"/>
          </a:xfrm>
          <a:ln/>
        </p:spPr>
      </p:sp>
      <p:sp>
        <p:nvSpPr>
          <p:cNvPr id="173059" name="Rectangle 3">
            <a:extLst>
              <a:ext uri="{FF2B5EF4-FFF2-40B4-BE49-F238E27FC236}">
                <a16:creationId xmlns:a16="http://schemas.microsoft.com/office/drawing/2014/main" id="{3FA11453-E94F-47B7-9C9D-89C8AA7ED881}"/>
              </a:ext>
            </a:extLst>
          </p:cNvPr>
          <p:cNvSpPr>
            <a:spLocks noGrp="1" noChangeArrowheads="1"/>
          </p:cNvSpPr>
          <p:nvPr>
            <p:ph type="body" idx="4294967295"/>
          </p:nvPr>
        </p:nvSpPr>
        <p:spPr/>
        <p:txBody>
          <a:bodyPr>
            <a:prstTxWarp prst="textNoShape">
              <a:avLst/>
            </a:prstTxWarp>
          </a:bodyPr>
          <a:lstStyle/>
          <a:p>
            <a:pPr eaLnBrk="1" hangingPunct="1"/>
            <a:r>
              <a:rPr lang="en-US" altLang="en-US"/>
              <a:t>Rounds of even there is no enough space </a:t>
            </a:r>
            <a:endParaRPr lang="en-GB"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Rectangle 7">
            <a:extLst>
              <a:ext uri="{FF2B5EF4-FFF2-40B4-BE49-F238E27FC236}">
                <a16:creationId xmlns:a16="http://schemas.microsoft.com/office/drawing/2014/main" id="{BE29BC43-283C-4C67-9A12-EB94E79069DF}"/>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a:fld id="{B50FB0A5-F582-425E-BAD0-AC825F60F23C}" type="slidenum">
              <a:rPr lang="en-GB" altLang="en-US"/>
              <a:pPr algn="r"/>
              <a:t>37</a:t>
            </a:fld>
            <a:endParaRPr lang="en-GB" altLang="en-US"/>
          </a:p>
        </p:txBody>
      </p:sp>
      <p:sp>
        <p:nvSpPr>
          <p:cNvPr id="175106" name="Rectangle 2">
            <a:extLst>
              <a:ext uri="{FF2B5EF4-FFF2-40B4-BE49-F238E27FC236}">
                <a16:creationId xmlns:a16="http://schemas.microsoft.com/office/drawing/2014/main" id="{309031A2-8075-4CD6-8E91-4AB6BE6D95AB}"/>
              </a:ext>
            </a:extLst>
          </p:cNvPr>
          <p:cNvSpPr>
            <a:spLocks noGrp="1" noRot="1" noChangeAspect="1" noChangeArrowheads="1" noTextEdit="1"/>
          </p:cNvSpPr>
          <p:nvPr>
            <p:ph type="sldImg" idx="4294967295"/>
          </p:nvPr>
        </p:nvSpPr>
        <p:spPr>
          <a:xfrm>
            <a:off x="381000" y="685800"/>
            <a:ext cx="6096000" cy="3429000"/>
          </a:xfrm>
          <a:ln/>
        </p:spPr>
      </p:sp>
      <p:sp>
        <p:nvSpPr>
          <p:cNvPr id="175107" name="Rectangle 3">
            <a:extLst>
              <a:ext uri="{FF2B5EF4-FFF2-40B4-BE49-F238E27FC236}">
                <a16:creationId xmlns:a16="http://schemas.microsoft.com/office/drawing/2014/main" id="{9AAF5F1E-F9B3-4397-8176-1BD3675D56D6}"/>
              </a:ext>
            </a:extLst>
          </p:cNvPr>
          <p:cNvSpPr>
            <a:spLocks noGrp="1" noChangeArrowheads="1"/>
          </p:cNvSpPr>
          <p:nvPr>
            <p:ph type="body" idx="4294967295"/>
          </p:nvPr>
        </p:nvSpPr>
        <p:spPr/>
        <p:txBody>
          <a:bodyPr>
            <a:prstTxWarp prst="textNoShape">
              <a:avLst/>
            </a:prstTxWarp>
          </a:bodyPr>
          <a:lstStyle/>
          <a:p>
            <a:pPr eaLnBrk="1" hangingPunct="1"/>
            <a:r>
              <a:rPr lang="en-US" altLang="en-US"/>
              <a:t>Rounds of even there is no enough space </a:t>
            </a:r>
            <a:endParaRPr lang="en-GB"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Rectangle 7">
            <a:extLst>
              <a:ext uri="{FF2B5EF4-FFF2-40B4-BE49-F238E27FC236}">
                <a16:creationId xmlns:a16="http://schemas.microsoft.com/office/drawing/2014/main" id="{04C115E0-BD36-4339-8CFD-CA963BA59F66}"/>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a:fld id="{8898C9C6-B479-483C-9CEB-C2409D8B9DDF}" type="slidenum">
              <a:rPr lang="en-GB" altLang="en-US"/>
              <a:pPr algn="r"/>
              <a:t>38</a:t>
            </a:fld>
            <a:endParaRPr lang="en-GB" altLang="en-US"/>
          </a:p>
        </p:txBody>
      </p:sp>
      <p:sp>
        <p:nvSpPr>
          <p:cNvPr id="177154" name="Rectangle 2">
            <a:extLst>
              <a:ext uri="{FF2B5EF4-FFF2-40B4-BE49-F238E27FC236}">
                <a16:creationId xmlns:a16="http://schemas.microsoft.com/office/drawing/2014/main" id="{A95CCBBD-8B3B-49C6-BF36-C89F3598228F}"/>
              </a:ext>
            </a:extLst>
          </p:cNvPr>
          <p:cNvSpPr>
            <a:spLocks noGrp="1" noRot="1" noChangeAspect="1" noChangeArrowheads="1" noTextEdit="1"/>
          </p:cNvSpPr>
          <p:nvPr>
            <p:ph type="sldImg" idx="4294967295"/>
          </p:nvPr>
        </p:nvSpPr>
        <p:spPr>
          <a:xfrm>
            <a:off x="381000" y="685800"/>
            <a:ext cx="6096000" cy="3429000"/>
          </a:xfrm>
          <a:ln/>
        </p:spPr>
      </p:sp>
      <p:sp>
        <p:nvSpPr>
          <p:cNvPr id="177155" name="Rectangle 3">
            <a:extLst>
              <a:ext uri="{FF2B5EF4-FFF2-40B4-BE49-F238E27FC236}">
                <a16:creationId xmlns:a16="http://schemas.microsoft.com/office/drawing/2014/main" id="{81B36130-2A95-4220-85F6-04B69B6AAB71}"/>
              </a:ext>
            </a:extLst>
          </p:cNvPr>
          <p:cNvSpPr>
            <a:spLocks noGrp="1" noChangeArrowheads="1"/>
          </p:cNvSpPr>
          <p:nvPr>
            <p:ph type="body" idx="4294967295"/>
          </p:nvPr>
        </p:nvSpPr>
        <p:spPr/>
        <p:txBody>
          <a:bodyPr>
            <a:prstTxWarp prst="textNoShape">
              <a:avLst/>
            </a:prstTxWarp>
          </a:bodyPr>
          <a:lstStyle/>
          <a:p>
            <a:pPr eaLnBrk="1" hangingPunct="1"/>
            <a:r>
              <a:rPr lang="en-US" altLang="en-US"/>
              <a:t>Rounds of even there is no enough space </a:t>
            </a:r>
            <a:endParaRPr lang="en-GB"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Slide Image Placeholder 1">
            <a:extLst>
              <a:ext uri="{FF2B5EF4-FFF2-40B4-BE49-F238E27FC236}">
                <a16:creationId xmlns:a16="http://schemas.microsoft.com/office/drawing/2014/main" id="{1228E70D-1CC4-44DE-81D2-83F82DC7DA6F}"/>
              </a:ext>
            </a:extLst>
          </p:cNvPr>
          <p:cNvSpPr>
            <a:spLocks noGrp="1" noRot="1" noChangeAspect="1" noChangeArrowheads="1" noTextEdit="1"/>
          </p:cNvSpPr>
          <p:nvPr>
            <p:ph type="sldImg" idx="4294967295"/>
          </p:nvPr>
        </p:nvSpPr>
        <p:spPr>
          <a:xfrm>
            <a:off x="381000" y="685800"/>
            <a:ext cx="6096000" cy="3429000"/>
          </a:xfrm>
          <a:ln/>
        </p:spPr>
      </p:sp>
      <p:sp>
        <p:nvSpPr>
          <p:cNvPr id="188418" name="Notes Placeholder 2">
            <a:extLst>
              <a:ext uri="{FF2B5EF4-FFF2-40B4-BE49-F238E27FC236}">
                <a16:creationId xmlns:a16="http://schemas.microsoft.com/office/drawing/2014/main" id="{A3E94D3D-1959-490C-AA93-3FED29FA2C47}"/>
              </a:ext>
            </a:extLst>
          </p:cNvPr>
          <p:cNvSpPr>
            <a:spLocks noGrp="1" noChangeArrowheads="1"/>
          </p:cNvSpPr>
          <p:nvPr>
            <p:ph type="body" idx="4294967295"/>
          </p:nvPr>
        </p:nvSpPr>
        <p:spPr/>
        <p:txBody>
          <a:bodyPr>
            <a:prstTxWarp prst="textNoShape">
              <a:avLst/>
            </a:prstTxWarp>
          </a:bodyPr>
          <a:lstStyle/>
          <a:p>
            <a:endParaRPr lang="en-US" altLang="en-US"/>
          </a:p>
        </p:txBody>
      </p:sp>
      <p:sp>
        <p:nvSpPr>
          <p:cNvPr id="188419" name="Slide Number Placeholder 3">
            <a:extLst>
              <a:ext uri="{FF2B5EF4-FFF2-40B4-BE49-F238E27FC236}">
                <a16:creationId xmlns:a16="http://schemas.microsoft.com/office/drawing/2014/main" id="{4DC58575-EA1B-4904-A441-F9FF5E3A69E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defTabSz="966788">
              <a:defRPr>
                <a:solidFill>
                  <a:schemeClr val="tx1"/>
                </a:solidFill>
                <a:latin typeface="Arial" panose="020B0604020202020204" pitchFamily="34" charset="0"/>
              </a:defRPr>
            </a:lvl1pPr>
            <a:lvl2pPr defTabSz="966788">
              <a:defRPr>
                <a:solidFill>
                  <a:schemeClr val="tx1"/>
                </a:solidFill>
                <a:latin typeface="Arial" panose="020B0604020202020204" pitchFamily="34" charset="0"/>
              </a:defRPr>
            </a:lvl2pPr>
            <a:lvl3pPr defTabSz="966788">
              <a:defRPr>
                <a:solidFill>
                  <a:schemeClr val="tx1"/>
                </a:solidFill>
                <a:latin typeface="Arial" panose="020B0604020202020204" pitchFamily="34" charset="0"/>
              </a:defRPr>
            </a:lvl3pPr>
            <a:lvl4pPr defTabSz="966788">
              <a:defRPr>
                <a:solidFill>
                  <a:schemeClr val="tx1"/>
                </a:solidFill>
                <a:latin typeface="Arial" panose="020B0604020202020204" pitchFamily="34" charset="0"/>
              </a:defRPr>
            </a:lvl4pPr>
            <a:lvl5pPr defTabSz="966788">
              <a:defRPr>
                <a:solidFill>
                  <a:schemeClr val="tx1"/>
                </a:solidFill>
                <a:latin typeface="Arial" panose="020B0604020202020204" pitchFamily="34" charset="0"/>
              </a:defRPr>
            </a:lvl5pPr>
            <a:lvl6pPr defTabSz="966788" fontAlgn="base">
              <a:spcBef>
                <a:spcPct val="0"/>
              </a:spcBef>
              <a:spcAft>
                <a:spcPct val="0"/>
              </a:spcAft>
              <a:defRPr>
                <a:solidFill>
                  <a:schemeClr val="tx1"/>
                </a:solidFill>
                <a:latin typeface="Arial" panose="020B0604020202020204" pitchFamily="34" charset="0"/>
              </a:defRPr>
            </a:lvl6pPr>
            <a:lvl7pPr defTabSz="966788" fontAlgn="base">
              <a:spcBef>
                <a:spcPct val="0"/>
              </a:spcBef>
              <a:spcAft>
                <a:spcPct val="0"/>
              </a:spcAft>
              <a:defRPr>
                <a:solidFill>
                  <a:schemeClr val="tx1"/>
                </a:solidFill>
                <a:latin typeface="Arial" panose="020B0604020202020204" pitchFamily="34" charset="0"/>
              </a:defRPr>
            </a:lvl7pPr>
            <a:lvl8pPr defTabSz="966788" fontAlgn="base">
              <a:spcBef>
                <a:spcPct val="0"/>
              </a:spcBef>
              <a:spcAft>
                <a:spcPct val="0"/>
              </a:spcAft>
              <a:defRPr>
                <a:solidFill>
                  <a:schemeClr val="tx1"/>
                </a:solidFill>
                <a:latin typeface="Arial" panose="020B0604020202020204" pitchFamily="34" charset="0"/>
              </a:defRPr>
            </a:lvl8pPr>
            <a:lvl9pPr defTabSz="966788" fontAlgn="base">
              <a:spcBef>
                <a:spcPct val="0"/>
              </a:spcBef>
              <a:spcAft>
                <a:spcPct val="0"/>
              </a:spcAft>
              <a:defRPr>
                <a:solidFill>
                  <a:schemeClr val="tx1"/>
                </a:solidFill>
                <a:latin typeface="Arial" panose="020B0604020202020204" pitchFamily="34" charset="0"/>
              </a:defRPr>
            </a:lvl9pPr>
          </a:lstStyle>
          <a:p>
            <a:fld id="{BCCB3F99-E7E2-4FF9-810E-2C59AF5CA21D}" type="slidenum">
              <a:rPr lang="en-US" altLang="en-US" sz="1300" smtClean="0">
                <a:latin typeface="Verdana" panose="020B0604030504040204" pitchFamily="34" charset="0"/>
              </a:rPr>
              <a:pPr/>
              <a:t>44</a:t>
            </a:fld>
            <a:endParaRPr lang="en-US" altLang="en-US" sz="1300">
              <a:latin typeface="Verdana" panose="020B0604030504040204" pitchFamily="34" charset="0"/>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FB0C6A-9E13-4EE0-8C38-6E327050537B}" type="slidenum">
              <a:rPr lang="en-GB" altLang="en-US" smtClean="0"/>
              <a:pPr/>
              <a:t>‹#›</a:t>
            </a:fld>
            <a:endParaRPr lang="en-GB" altLang="en-US"/>
          </a:p>
        </p:txBody>
      </p:sp>
    </p:spTree>
    <p:extLst>
      <p:ext uri="{BB962C8B-B14F-4D97-AF65-F5344CB8AC3E}">
        <p14:creationId xmlns:p14="http://schemas.microsoft.com/office/powerpoint/2010/main" val="1367757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5D5F49-2E60-470B-B49B-154F64C6E6EA}" type="slidenum">
              <a:rPr lang="en-GB" altLang="en-US" smtClean="0"/>
              <a:pPr/>
              <a:t>‹#›</a:t>
            </a:fld>
            <a:endParaRPr lang="en-GB" altLang="en-US"/>
          </a:p>
        </p:txBody>
      </p:sp>
    </p:spTree>
    <p:extLst>
      <p:ext uri="{BB962C8B-B14F-4D97-AF65-F5344CB8AC3E}">
        <p14:creationId xmlns:p14="http://schemas.microsoft.com/office/powerpoint/2010/main" val="1980850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7F1182-9D06-44FF-907F-129ACBC6D42F}" type="slidenum">
              <a:rPr lang="en-GB" altLang="en-US" smtClean="0"/>
              <a:pPr/>
              <a:t>‹#›</a:t>
            </a:fld>
            <a:endParaRPr lang="en-GB" altLang="en-US"/>
          </a:p>
        </p:txBody>
      </p:sp>
    </p:spTree>
    <p:extLst>
      <p:ext uri="{BB962C8B-B14F-4D97-AF65-F5344CB8AC3E}">
        <p14:creationId xmlns:p14="http://schemas.microsoft.com/office/powerpoint/2010/main" val="1708817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5077C4-F330-45C8-882D-1DEF3EEDA209}" type="slidenum">
              <a:rPr lang="en-GB" altLang="en-US" smtClean="0"/>
              <a:pPr/>
              <a:t>‹#›</a:t>
            </a:fld>
            <a:endParaRPr lang="en-GB" altLang="en-US"/>
          </a:p>
        </p:txBody>
      </p:sp>
    </p:spTree>
    <p:extLst>
      <p:ext uri="{BB962C8B-B14F-4D97-AF65-F5344CB8AC3E}">
        <p14:creationId xmlns:p14="http://schemas.microsoft.com/office/powerpoint/2010/main" val="631308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BB77757-C64B-4613-A62A-2189BAC68968}" type="slidenum">
              <a:rPr lang="en-GB" altLang="en-US" smtClean="0"/>
              <a:pPr/>
              <a:t>‹#›</a:t>
            </a:fld>
            <a:endParaRPr lang="en-GB" altLang="en-US"/>
          </a:p>
        </p:txBody>
      </p:sp>
    </p:spTree>
    <p:extLst>
      <p:ext uri="{BB962C8B-B14F-4D97-AF65-F5344CB8AC3E}">
        <p14:creationId xmlns:p14="http://schemas.microsoft.com/office/powerpoint/2010/main" val="240645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8AA48E-AED6-4C03-A852-CEC1766673BE}" type="slidenum">
              <a:rPr lang="en-GB" altLang="en-US" smtClean="0"/>
              <a:pPr/>
              <a:t>‹#›</a:t>
            </a:fld>
            <a:endParaRPr lang="en-GB" altLang="en-US"/>
          </a:p>
        </p:txBody>
      </p:sp>
    </p:spTree>
    <p:extLst>
      <p:ext uri="{BB962C8B-B14F-4D97-AF65-F5344CB8AC3E}">
        <p14:creationId xmlns:p14="http://schemas.microsoft.com/office/powerpoint/2010/main" val="3386007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FA9D270-DF37-459C-9BB9-350C39EF9B52}" type="slidenum">
              <a:rPr lang="en-GB" altLang="en-US" smtClean="0"/>
              <a:pPr/>
              <a:t>‹#›</a:t>
            </a:fld>
            <a:endParaRPr lang="en-GB" altLang="en-US"/>
          </a:p>
        </p:txBody>
      </p:sp>
    </p:spTree>
    <p:extLst>
      <p:ext uri="{BB962C8B-B14F-4D97-AF65-F5344CB8AC3E}">
        <p14:creationId xmlns:p14="http://schemas.microsoft.com/office/powerpoint/2010/main" val="481316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FBE1AF-F86A-4C16-9E24-96876F8CD70E}" type="slidenum">
              <a:rPr lang="en-GB" altLang="en-US" smtClean="0"/>
              <a:pPr/>
              <a:t>‹#›</a:t>
            </a:fld>
            <a:endParaRPr lang="en-GB" altLang="en-US"/>
          </a:p>
        </p:txBody>
      </p:sp>
    </p:spTree>
    <p:extLst>
      <p:ext uri="{BB962C8B-B14F-4D97-AF65-F5344CB8AC3E}">
        <p14:creationId xmlns:p14="http://schemas.microsoft.com/office/powerpoint/2010/main" val="1946307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B29A0-ECE4-40F6-B28D-1A9D378B9D34}" type="slidenum">
              <a:rPr lang="en-GB" altLang="en-US" smtClean="0"/>
              <a:pPr/>
              <a:t>‹#›</a:t>
            </a:fld>
            <a:endParaRPr lang="en-GB" altLang="en-US"/>
          </a:p>
        </p:txBody>
      </p:sp>
    </p:spTree>
    <p:extLst>
      <p:ext uri="{BB962C8B-B14F-4D97-AF65-F5344CB8AC3E}">
        <p14:creationId xmlns:p14="http://schemas.microsoft.com/office/powerpoint/2010/main" val="3462972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D29E47-ACD3-4875-B8DE-1C8A7F382F6C}" type="slidenum">
              <a:rPr lang="en-GB" altLang="en-US" smtClean="0"/>
              <a:pPr/>
              <a:t>‹#›</a:t>
            </a:fld>
            <a:endParaRPr lang="en-GB" altLang="en-US"/>
          </a:p>
        </p:txBody>
      </p:sp>
    </p:spTree>
    <p:extLst>
      <p:ext uri="{BB962C8B-B14F-4D97-AF65-F5344CB8AC3E}">
        <p14:creationId xmlns:p14="http://schemas.microsoft.com/office/powerpoint/2010/main" val="3262555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2970B1-1304-48DF-9695-71520F178B36}" type="slidenum">
              <a:rPr lang="en-GB" altLang="en-US" smtClean="0"/>
              <a:pPr/>
              <a:t>‹#›</a:t>
            </a:fld>
            <a:endParaRPr lang="en-GB" altLang="en-US"/>
          </a:p>
        </p:txBody>
      </p:sp>
    </p:spTree>
    <p:extLst>
      <p:ext uri="{BB962C8B-B14F-4D97-AF65-F5344CB8AC3E}">
        <p14:creationId xmlns:p14="http://schemas.microsoft.com/office/powerpoint/2010/main" val="1512882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ltLang="x-none"/>
          </a:p>
        </p:txBody>
      </p:sp>
      <p:sp>
        <p:nvSpPr>
          <p:cNvPr id="5" name="Footer Placeholder 4"/>
          <p:cNvSpPr>
            <a:spLocks noGrp="1"/>
          </p:cNvSpPr>
          <p:nvPr>
            <p:ph type="ftr" sz="quarter" idx="11"/>
          </p:nvPr>
        </p:nvSpPr>
        <p:spPr/>
        <p:txBody>
          <a:bodyPr/>
          <a:lstStyle/>
          <a:p>
            <a:pPr>
              <a:defRPr/>
            </a:pPr>
            <a:r>
              <a:rPr lang="en-US" altLang="en-US"/>
              <a:t>Copyright © 2016 Pearson Education, Inc., Hoboken NJ</a:t>
            </a:r>
          </a:p>
        </p:txBody>
      </p:sp>
      <p:sp>
        <p:nvSpPr>
          <p:cNvPr id="6" name="Slide Number Placeholder 5"/>
          <p:cNvSpPr>
            <a:spLocks noGrp="1"/>
          </p:cNvSpPr>
          <p:nvPr>
            <p:ph type="sldNum" sz="quarter" idx="12"/>
          </p:nvPr>
        </p:nvSpPr>
        <p:spPr/>
        <p:txBody>
          <a:bodyPr/>
          <a:lstStyle/>
          <a:p>
            <a:fld id="{25C120DD-0C63-45F7-B1BA-BF345AAD3D3D}"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6310763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ltLang="x-none"/>
          </a:p>
        </p:txBody>
      </p:sp>
      <p:sp>
        <p:nvSpPr>
          <p:cNvPr id="5" name="Footer Placeholder 4"/>
          <p:cNvSpPr>
            <a:spLocks noGrp="1"/>
          </p:cNvSpPr>
          <p:nvPr>
            <p:ph type="ftr" sz="quarter" idx="11"/>
          </p:nvPr>
        </p:nvSpPr>
        <p:spPr/>
        <p:txBody>
          <a:bodyPr/>
          <a:lstStyle/>
          <a:p>
            <a:pPr>
              <a:defRPr/>
            </a:pPr>
            <a:r>
              <a:rPr lang="en-US" altLang="en-US"/>
              <a:t>Copyright © 2016 Pearson Education, Inc., Hoboken NJ</a:t>
            </a:r>
          </a:p>
        </p:txBody>
      </p:sp>
      <p:sp>
        <p:nvSpPr>
          <p:cNvPr id="6" name="Slide Number Placeholder 5"/>
          <p:cNvSpPr>
            <a:spLocks noGrp="1"/>
          </p:cNvSpPr>
          <p:nvPr>
            <p:ph type="sldNum" sz="quarter" idx="12"/>
          </p:nvPr>
        </p:nvSpPr>
        <p:spPr/>
        <p:txBody>
          <a:bodyPr/>
          <a:lstStyle/>
          <a:p>
            <a:fld id="{DBBA97AA-97EC-4E05-9718-534124F36962}"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23105594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ltLang="x-none"/>
          </a:p>
        </p:txBody>
      </p:sp>
      <p:sp>
        <p:nvSpPr>
          <p:cNvPr id="5" name="Footer Placeholder 4"/>
          <p:cNvSpPr>
            <a:spLocks noGrp="1"/>
          </p:cNvSpPr>
          <p:nvPr>
            <p:ph type="ftr" sz="quarter" idx="11"/>
          </p:nvPr>
        </p:nvSpPr>
        <p:spPr/>
        <p:txBody>
          <a:bodyPr/>
          <a:lstStyle/>
          <a:p>
            <a:pPr>
              <a:defRPr/>
            </a:pPr>
            <a:r>
              <a:rPr lang="en-US" altLang="en-US"/>
              <a:t>Copyright © 2016 Pearson Education, Inc., Hoboken NJ</a:t>
            </a:r>
          </a:p>
        </p:txBody>
      </p:sp>
      <p:sp>
        <p:nvSpPr>
          <p:cNvPr id="6" name="Slide Number Placeholder 5"/>
          <p:cNvSpPr>
            <a:spLocks noGrp="1"/>
          </p:cNvSpPr>
          <p:nvPr>
            <p:ph type="sldNum" sz="quarter" idx="12"/>
          </p:nvPr>
        </p:nvSpPr>
        <p:spPr/>
        <p:txBody>
          <a:bodyPr/>
          <a:lstStyle/>
          <a:p>
            <a:fld id="{8F5908F4-2647-40AC-91CC-F7CA8E4B7CDF}"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9507350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ltLang="x-none"/>
          </a:p>
        </p:txBody>
      </p:sp>
      <p:sp>
        <p:nvSpPr>
          <p:cNvPr id="6" name="Footer Placeholder 5"/>
          <p:cNvSpPr>
            <a:spLocks noGrp="1"/>
          </p:cNvSpPr>
          <p:nvPr>
            <p:ph type="ftr" sz="quarter" idx="11"/>
          </p:nvPr>
        </p:nvSpPr>
        <p:spPr/>
        <p:txBody>
          <a:bodyPr/>
          <a:lstStyle/>
          <a:p>
            <a:pPr>
              <a:defRPr/>
            </a:pPr>
            <a:r>
              <a:rPr lang="en-US" altLang="en-US"/>
              <a:t>Copyright © 2016 Pearson Education, Inc., Hoboken NJ</a:t>
            </a:r>
          </a:p>
        </p:txBody>
      </p:sp>
      <p:sp>
        <p:nvSpPr>
          <p:cNvPr id="7" name="Slide Number Placeholder 6"/>
          <p:cNvSpPr>
            <a:spLocks noGrp="1"/>
          </p:cNvSpPr>
          <p:nvPr>
            <p:ph type="sldNum" sz="quarter" idx="12"/>
          </p:nvPr>
        </p:nvSpPr>
        <p:spPr/>
        <p:txBody>
          <a:bodyPr/>
          <a:lstStyle/>
          <a:p>
            <a:fld id="{00C8D794-43BB-420D-BA9B-0A5E4F6BCCFC}"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19010775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ltLang="x-none"/>
          </a:p>
        </p:txBody>
      </p:sp>
      <p:sp>
        <p:nvSpPr>
          <p:cNvPr id="8" name="Footer Placeholder 7"/>
          <p:cNvSpPr>
            <a:spLocks noGrp="1"/>
          </p:cNvSpPr>
          <p:nvPr>
            <p:ph type="ftr" sz="quarter" idx="11"/>
          </p:nvPr>
        </p:nvSpPr>
        <p:spPr/>
        <p:txBody>
          <a:bodyPr/>
          <a:lstStyle/>
          <a:p>
            <a:pPr>
              <a:defRPr/>
            </a:pPr>
            <a:r>
              <a:rPr lang="en-US" altLang="en-US"/>
              <a:t>Copyright © 2016 Pearson Education, Inc., Hoboken NJ</a:t>
            </a:r>
          </a:p>
        </p:txBody>
      </p:sp>
      <p:sp>
        <p:nvSpPr>
          <p:cNvPr id="9" name="Slide Number Placeholder 8"/>
          <p:cNvSpPr>
            <a:spLocks noGrp="1"/>
          </p:cNvSpPr>
          <p:nvPr>
            <p:ph type="sldNum" sz="quarter" idx="12"/>
          </p:nvPr>
        </p:nvSpPr>
        <p:spPr/>
        <p:txBody>
          <a:bodyPr/>
          <a:lstStyle/>
          <a:p>
            <a:fld id="{67FC74B0-878C-4D60-9D43-36CB18CA8417}"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35221873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ltLang="x-none"/>
          </a:p>
        </p:txBody>
      </p:sp>
      <p:sp>
        <p:nvSpPr>
          <p:cNvPr id="4" name="Footer Placeholder 3"/>
          <p:cNvSpPr>
            <a:spLocks noGrp="1"/>
          </p:cNvSpPr>
          <p:nvPr>
            <p:ph type="ftr" sz="quarter" idx="11"/>
          </p:nvPr>
        </p:nvSpPr>
        <p:spPr/>
        <p:txBody>
          <a:bodyPr/>
          <a:lstStyle/>
          <a:p>
            <a:pPr>
              <a:defRPr/>
            </a:pPr>
            <a:r>
              <a:rPr lang="en-US" altLang="en-US"/>
              <a:t>Copyright © 2016 Pearson Education, Inc., Hoboken NJ</a:t>
            </a:r>
          </a:p>
        </p:txBody>
      </p:sp>
      <p:sp>
        <p:nvSpPr>
          <p:cNvPr id="5" name="Slide Number Placeholder 4"/>
          <p:cNvSpPr>
            <a:spLocks noGrp="1"/>
          </p:cNvSpPr>
          <p:nvPr>
            <p:ph type="sldNum" sz="quarter" idx="12"/>
          </p:nvPr>
        </p:nvSpPr>
        <p:spPr/>
        <p:txBody>
          <a:bodyPr/>
          <a:lstStyle/>
          <a:p>
            <a:fld id="{AF436E32-4A0A-4029-B9C3-C4F6225C1A01}"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24595994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ltLang="x-none"/>
          </a:p>
        </p:txBody>
      </p:sp>
      <p:sp>
        <p:nvSpPr>
          <p:cNvPr id="3" name="Footer Placeholder 2"/>
          <p:cNvSpPr>
            <a:spLocks noGrp="1"/>
          </p:cNvSpPr>
          <p:nvPr>
            <p:ph type="ftr" sz="quarter" idx="11"/>
          </p:nvPr>
        </p:nvSpPr>
        <p:spPr/>
        <p:txBody>
          <a:bodyPr/>
          <a:lstStyle/>
          <a:p>
            <a:pPr>
              <a:defRPr/>
            </a:pPr>
            <a:r>
              <a:rPr lang="en-US" altLang="en-US"/>
              <a:t>Copyright © 2016 Pearson Education, Inc., Hoboken NJ</a:t>
            </a:r>
          </a:p>
        </p:txBody>
      </p:sp>
      <p:sp>
        <p:nvSpPr>
          <p:cNvPr id="4" name="Slide Number Placeholder 3"/>
          <p:cNvSpPr>
            <a:spLocks noGrp="1"/>
          </p:cNvSpPr>
          <p:nvPr>
            <p:ph type="sldNum" sz="quarter" idx="12"/>
          </p:nvPr>
        </p:nvSpPr>
        <p:spPr/>
        <p:txBody>
          <a:bodyPr/>
          <a:lstStyle/>
          <a:p>
            <a:fld id="{65FB63CE-7EB4-437B-B996-59832F41C8BE}"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36204514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ltLang="x-none"/>
          </a:p>
        </p:txBody>
      </p:sp>
      <p:sp>
        <p:nvSpPr>
          <p:cNvPr id="6" name="Footer Placeholder 5"/>
          <p:cNvSpPr>
            <a:spLocks noGrp="1"/>
          </p:cNvSpPr>
          <p:nvPr>
            <p:ph type="ftr" sz="quarter" idx="11"/>
          </p:nvPr>
        </p:nvSpPr>
        <p:spPr/>
        <p:txBody>
          <a:bodyPr/>
          <a:lstStyle/>
          <a:p>
            <a:pPr>
              <a:defRPr/>
            </a:pPr>
            <a:r>
              <a:rPr lang="en-US" altLang="en-US"/>
              <a:t>Copyright © 2016 Pearson Education, Inc., Hoboken NJ</a:t>
            </a:r>
          </a:p>
        </p:txBody>
      </p:sp>
      <p:sp>
        <p:nvSpPr>
          <p:cNvPr id="7" name="Slide Number Placeholder 6"/>
          <p:cNvSpPr>
            <a:spLocks noGrp="1"/>
          </p:cNvSpPr>
          <p:nvPr>
            <p:ph type="sldNum" sz="quarter" idx="12"/>
          </p:nvPr>
        </p:nvSpPr>
        <p:spPr/>
        <p:txBody>
          <a:bodyPr/>
          <a:lstStyle/>
          <a:p>
            <a:fld id="{200CF5D6-590A-4CEA-B736-32E9B95A2BFC}"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40019376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ltLang="x-none"/>
          </a:p>
        </p:txBody>
      </p:sp>
      <p:sp>
        <p:nvSpPr>
          <p:cNvPr id="6" name="Footer Placeholder 5"/>
          <p:cNvSpPr>
            <a:spLocks noGrp="1"/>
          </p:cNvSpPr>
          <p:nvPr>
            <p:ph type="ftr" sz="quarter" idx="11"/>
          </p:nvPr>
        </p:nvSpPr>
        <p:spPr/>
        <p:txBody>
          <a:bodyPr/>
          <a:lstStyle/>
          <a:p>
            <a:pPr>
              <a:defRPr/>
            </a:pPr>
            <a:r>
              <a:rPr lang="en-US" altLang="en-US"/>
              <a:t>Copyright © 2016 Pearson Education, Inc., Hoboken NJ</a:t>
            </a:r>
          </a:p>
        </p:txBody>
      </p:sp>
      <p:sp>
        <p:nvSpPr>
          <p:cNvPr id="7" name="Slide Number Placeholder 6"/>
          <p:cNvSpPr>
            <a:spLocks noGrp="1"/>
          </p:cNvSpPr>
          <p:nvPr>
            <p:ph type="sldNum" sz="quarter" idx="12"/>
          </p:nvPr>
        </p:nvSpPr>
        <p:spPr/>
        <p:txBody>
          <a:bodyPr/>
          <a:lstStyle/>
          <a:p>
            <a:fld id="{D0E6F3A5-04DF-4999-9848-B8C1AD589B60}"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5597739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ltLang="x-none"/>
          </a:p>
        </p:txBody>
      </p:sp>
      <p:sp>
        <p:nvSpPr>
          <p:cNvPr id="5" name="Footer Placeholder 4"/>
          <p:cNvSpPr>
            <a:spLocks noGrp="1"/>
          </p:cNvSpPr>
          <p:nvPr>
            <p:ph type="ftr" sz="quarter" idx="11"/>
          </p:nvPr>
        </p:nvSpPr>
        <p:spPr/>
        <p:txBody>
          <a:bodyPr/>
          <a:lstStyle/>
          <a:p>
            <a:pPr>
              <a:defRPr/>
            </a:pPr>
            <a:r>
              <a:rPr lang="en-US" altLang="en-US"/>
              <a:t>Copyright © 2016 Pearson Education, Inc., Hoboken NJ</a:t>
            </a:r>
          </a:p>
        </p:txBody>
      </p:sp>
      <p:sp>
        <p:nvSpPr>
          <p:cNvPr id="6" name="Slide Number Placeholder 5"/>
          <p:cNvSpPr>
            <a:spLocks noGrp="1"/>
          </p:cNvSpPr>
          <p:nvPr>
            <p:ph type="sldNum" sz="quarter" idx="12"/>
          </p:nvPr>
        </p:nvSpPr>
        <p:spPr/>
        <p:txBody>
          <a:bodyPr/>
          <a:lstStyle/>
          <a:p>
            <a:fld id="{943476F2-3C93-4F58-8B38-DD3F14494CBB}"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192776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ltLang="x-none"/>
          </a:p>
        </p:txBody>
      </p:sp>
      <p:sp>
        <p:nvSpPr>
          <p:cNvPr id="5" name="Footer Placeholder 4"/>
          <p:cNvSpPr>
            <a:spLocks noGrp="1"/>
          </p:cNvSpPr>
          <p:nvPr>
            <p:ph type="ftr" sz="quarter" idx="11"/>
          </p:nvPr>
        </p:nvSpPr>
        <p:spPr/>
        <p:txBody>
          <a:bodyPr/>
          <a:lstStyle/>
          <a:p>
            <a:pPr>
              <a:defRPr/>
            </a:pPr>
            <a:r>
              <a:rPr lang="en-US" altLang="en-US"/>
              <a:t>Copyright © 2016 Pearson Education, Inc., Hoboken NJ</a:t>
            </a:r>
          </a:p>
        </p:txBody>
      </p:sp>
      <p:sp>
        <p:nvSpPr>
          <p:cNvPr id="6" name="Slide Number Placeholder 5"/>
          <p:cNvSpPr>
            <a:spLocks noGrp="1"/>
          </p:cNvSpPr>
          <p:nvPr>
            <p:ph type="sldNum" sz="quarter" idx="12"/>
          </p:nvPr>
        </p:nvSpPr>
        <p:spPr/>
        <p:txBody>
          <a:bodyPr/>
          <a:lstStyle/>
          <a:p>
            <a:fld id="{815A7109-2B4D-4B91-AD9C-3BB811225CD8}"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33570096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3" name="Date Placeholder 3">
            <a:extLst>
              <a:ext uri="{FF2B5EF4-FFF2-40B4-BE49-F238E27FC236}">
                <a16:creationId xmlns:a16="http://schemas.microsoft.com/office/drawing/2014/main" id="{A3CAEAC8-C88E-4E46-BB9E-20E998F44239}"/>
              </a:ext>
            </a:extLst>
          </p:cNvPr>
          <p:cNvSpPr>
            <a:spLocks noGrp="1"/>
          </p:cNvSpPr>
          <p:nvPr>
            <p:ph type="dt" sz="half" idx="10"/>
          </p:nvPr>
        </p:nvSpPr>
        <p:spPr/>
        <p:txBody>
          <a:bodyPr/>
          <a:lstStyle>
            <a:lvl1pPr>
              <a:defRPr/>
            </a:lvl1pPr>
          </a:lstStyle>
          <a:p>
            <a:endParaRPr lang="en-US" altLang="x-none"/>
          </a:p>
        </p:txBody>
      </p:sp>
      <p:sp>
        <p:nvSpPr>
          <p:cNvPr id="4" name="Slide Number Placeholder 5">
            <a:extLst>
              <a:ext uri="{FF2B5EF4-FFF2-40B4-BE49-F238E27FC236}">
                <a16:creationId xmlns:a16="http://schemas.microsoft.com/office/drawing/2014/main" id="{8DF52D1F-21DD-404B-9F24-C058E4E4C918}"/>
              </a:ext>
            </a:extLst>
          </p:cNvPr>
          <p:cNvSpPr>
            <a:spLocks noGrp="1"/>
          </p:cNvSpPr>
          <p:nvPr>
            <p:ph type="sldNum" sz="quarter" idx="11"/>
          </p:nvPr>
        </p:nvSpPr>
        <p:spPr/>
        <p:txBody>
          <a:bodyPr/>
          <a:lstStyle>
            <a:lvl1pPr>
              <a:defRPr>
                <a:cs typeface="+mn-cs"/>
              </a:defRPr>
            </a:lvl1pPr>
          </a:lstStyle>
          <a:p>
            <a:fld id="{852BDE6F-B12B-4F55-B86B-AF2E695014F7}" type="slidenum">
              <a:rPr lang="en-US" altLang="en-US"/>
              <a:pPr/>
              <a:t>‹#›</a:t>
            </a:fld>
            <a:endParaRPr lang="en-US" altLang="en-US">
              <a:cs typeface="Arial" panose="020B0604020202020204" pitchFamily="34" charset="0"/>
            </a:endParaRPr>
          </a:p>
        </p:txBody>
      </p:sp>
      <p:sp>
        <p:nvSpPr>
          <p:cNvPr id="5" name="Footer Placeholder 1">
            <a:extLst>
              <a:ext uri="{FF2B5EF4-FFF2-40B4-BE49-F238E27FC236}">
                <a16:creationId xmlns:a16="http://schemas.microsoft.com/office/drawing/2014/main" id="{02D1FFEA-3477-4D84-B696-6D6498BA1F19}"/>
              </a:ext>
            </a:extLst>
          </p:cNvPr>
          <p:cNvSpPr>
            <a:spLocks noGrp="1"/>
          </p:cNvSpPr>
          <p:nvPr>
            <p:ph type="ftr" sz="quarter" idx="12"/>
          </p:nvPr>
        </p:nvSpPr>
        <p:spPr/>
        <p:txBody>
          <a:bodyPr/>
          <a:lstStyle>
            <a:lvl1pPr eaLnBrk="1" hangingPunct="1">
              <a:defRPr/>
            </a:lvl1pPr>
          </a:lstStyle>
          <a:p>
            <a:pPr>
              <a:defRPr/>
            </a:pPr>
            <a:r>
              <a:rPr lang="en-US" altLang="en-US"/>
              <a:t>Copyright © 2016 Pearson Education, Inc., Hoboken NJ</a:t>
            </a:r>
          </a:p>
        </p:txBody>
      </p:sp>
    </p:spTree>
    <p:extLst>
      <p:ext uri="{BB962C8B-B14F-4D97-AF65-F5344CB8AC3E}">
        <p14:creationId xmlns:p14="http://schemas.microsoft.com/office/powerpoint/2010/main" val="28400957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ltLang="x-none"/>
          </a:p>
        </p:txBody>
      </p:sp>
      <p:sp>
        <p:nvSpPr>
          <p:cNvPr id="5" name="Footer Placeholder 4"/>
          <p:cNvSpPr>
            <a:spLocks noGrp="1"/>
          </p:cNvSpPr>
          <p:nvPr>
            <p:ph type="ftr" sz="quarter" idx="11"/>
          </p:nvPr>
        </p:nvSpPr>
        <p:spPr/>
        <p:txBody>
          <a:bodyPr/>
          <a:lstStyle/>
          <a:p>
            <a:pPr>
              <a:defRPr/>
            </a:pPr>
            <a:r>
              <a:rPr lang="en-US" altLang="en-US"/>
              <a:t>Copyright © 2016 Pearson Education, Inc., Hoboken NJ</a:t>
            </a:r>
          </a:p>
        </p:txBody>
      </p:sp>
      <p:sp>
        <p:nvSpPr>
          <p:cNvPr id="6" name="Slide Number Placeholder 5"/>
          <p:cNvSpPr>
            <a:spLocks noGrp="1"/>
          </p:cNvSpPr>
          <p:nvPr>
            <p:ph type="sldNum" sz="quarter" idx="12"/>
          </p:nvPr>
        </p:nvSpPr>
        <p:spPr/>
        <p:txBody>
          <a:bodyPr/>
          <a:lstStyle/>
          <a:p>
            <a:fld id="{B0AE3EBB-1AAF-4AF8-8A8E-9953F9E19427}"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22087016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ltLang="x-none"/>
          </a:p>
        </p:txBody>
      </p:sp>
      <p:sp>
        <p:nvSpPr>
          <p:cNvPr id="5" name="Footer Placeholder 4"/>
          <p:cNvSpPr>
            <a:spLocks noGrp="1"/>
          </p:cNvSpPr>
          <p:nvPr>
            <p:ph type="ftr" sz="quarter" idx="11"/>
          </p:nvPr>
        </p:nvSpPr>
        <p:spPr/>
        <p:txBody>
          <a:bodyPr/>
          <a:lstStyle/>
          <a:p>
            <a:pPr>
              <a:defRPr/>
            </a:pPr>
            <a:r>
              <a:rPr lang="en-US" altLang="en-US"/>
              <a:t>Copyright © 2016 Pearson Education, Inc., Hoboken NJ</a:t>
            </a:r>
          </a:p>
        </p:txBody>
      </p:sp>
      <p:sp>
        <p:nvSpPr>
          <p:cNvPr id="6" name="Slide Number Placeholder 5"/>
          <p:cNvSpPr>
            <a:spLocks noGrp="1"/>
          </p:cNvSpPr>
          <p:nvPr>
            <p:ph type="sldNum" sz="quarter" idx="12"/>
          </p:nvPr>
        </p:nvSpPr>
        <p:spPr/>
        <p:txBody>
          <a:bodyPr/>
          <a:lstStyle/>
          <a:p>
            <a:fld id="{FD2595F5-6AF5-4984-85B3-F1526A8846F7}"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8828249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ltLang="x-none"/>
          </a:p>
        </p:txBody>
      </p:sp>
      <p:sp>
        <p:nvSpPr>
          <p:cNvPr id="5" name="Footer Placeholder 4"/>
          <p:cNvSpPr>
            <a:spLocks noGrp="1"/>
          </p:cNvSpPr>
          <p:nvPr>
            <p:ph type="ftr" sz="quarter" idx="11"/>
          </p:nvPr>
        </p:nvSpPr>
        <p:spPr/>
        <p:txBody>
          <a:bodyPr/>
          <a:lstStyle/>
          <a:p>
            <a:pPr>
              <a:defRPr/>
            </a:pPr>
            <a:r>
              <a:rPr lang="en-US" altLang="en-US"/>
              <a:t>Copyright © 2016 Pearson Education, Inc., Hoboken NJ</a:t>
            </a:r>
          </a:p>
        </p:txBody>
      </p:sp>
      <p:sp>
        <p:nvSpPr>
          <p:cNvPr id="6" name="Slide Number Placeholder 5"/>
          <p:cNvSpPr>
            <a:spLocks noGrp="1"/>
          </p:cNvSpPr>
          <p:nvPr>
            <p:ph type="sldNum" sz="quarter" idx="12"/>
          </p:nvPr>
        </p:nvSpPr>
        <p:spPr/>
        <p:txBody>
          <a:bodyPr/>
          <a:lstStyle/>
          <a:p>
            <a:fld id="{E242D64B-80E2-470E-AD57-A8FAD9B966F6}"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29144852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ltLang="x-none"/>
          </a:p>
        </p:txBody>
      </p:sp>
      <p:sp>
        <p:nvSpPr>
          <p:cNvPr id="6" name="Footer Placeholder 5"/>
          <p:cNvSpPr>
            <a:spLocks noGrp="1"/>
          </p:cNvSpPr>
          <p:nvPr>
            <p:ph type="ftr" sz="quarter" idx="11"/>
          </p:nvPr>
        </p:nvSpPr>
        <p:spPr/>
        <p:txBody>
          <a:bodyPr/>
          <a:lstStyle/>
          <a:p>
            <a:pPr>
              <a:defRPr/>
            </a:pPr>
            <a:r>
              <a:rPr lang="en-US" altLang="en-US"/>
              <a:t>Copyright © 2016 Pearson Education, Inc., Hoboken NJ</a:t>
            </a:r>
          </a:p>
        </p:txBody>
      </p:sp>
      <p:sp>
        <p:nvSpPr>
          <p:cNvPr id="7" name="Slide Number Placeholder 6"/>
          <p:cNvSpPr>
            <a:spLocks noGrp="1"/>
          </p:cNvSpPr>
          <p:nvPr>
            <p:ph type="sldNum" sz="quarter" idx="12"/>
          </p:nvPr>
        </p:nvSpPr>
        <p:spPr/>
        <p:txBody>
          <a:bodyPr/>
          <a:lstStyle/>
          <a:p>
            <a:fld id="{5163109D-4DF2-4B97-B81D-A64A9399F4FD}"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31929180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ltLang="x-none"/>
          </a:p>
        </p:txBody>
      </p:sp>
      <p:sp>
        <p:nvSpPr>
          <p:cNvPr id="8" name="Footer Placeholder 7"/>
          <p:cNvSpPr>
            <a:spLocks noGrp="1"/>
          </p:cNvSpPr>
          <p:nvPr>
            <p:ph type="ftr" sz="quarter" idx="11"/>
          </p:nvPr>
        </p:nvSpPr>
        <p:spPr/>
        <p:txBody>
          <a:bodyPr/>
          <a:lstStyle/>
          <a:p>
            <a:pPr>
              <a:defRPr/>
            </a:pPr>
            <a:r>
              <a:rPr lang="en-US" altLang="en-US"/>
              <a:t>Copyright © 2016 Pearson Education, Inc., Hoboken NJ</a:t>
            </a:r>
          </a:p>
        </p:txBody>
      </p:sp>
      <p:sp>
        <p:nvSpPr>
          <p:cNvPr id="9" name="Slide Number Placeholder 8"/>
          <p:cNvSpPr>
            <a:spLocks noGrp="1"/>
          </p:cNvSpPr>
          <p:nvPr>
            <p:ph type="sldNum" sz="quarter" idx="12"/>
          </p:nvPr>
        </p:nvSpPr>
        <p:spPr/>
        <p:txBody>
          <a:bodyPr/>
          <a:lstStyle/>
          <a:p>
            <a:fld id="{875E392C-B63F-4B58-AD48-7FAC49562C4F}"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20820475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ltLang="x-none"/>
          </a:p>
        </p:txBody>
      </p:sp>
      <p:sp>
        <p:nvSpPr>
          <p:cNvPr id="4" name="Footer Placeholder 3"/>
          <p:cNvSpPr>
            <a:spLocks noGrp="1"/>
          </p:cNvSpPr>
          <p:nvPr>
            <p:ph type="ftr" sz="quarter" idx="11"/>
          </p:nvPr>
        </p:nvSpPr>
        <p:spPr/>
        <p:txBody>
          <a:bodyPr/>
          <a:lstStyle/>
          <a:p>
            <a:pPr>
              <a:defRPr/>
            </a:pPr>
            <a:r>
              <a:rPr lang="en-US" altLang="en-US"/>
              <a:t>Copyright © 2016 Pearson Education, Inc., Hoboken NJ</a:t>
            </a:r>
          </a:p>
        </p:txBody>
      </p:sp>
      <p:sp>
        <p:nvSpPr>
          <p:cNvPr id="5" name="Slide Number Placeholder 4"/>
          <p:cNvSpPr>
            <a:spLocks noGrp="1"/>
          </p:cNvSpPr>
          <p:nvPr>
            <p:ph type="sldNum" sz="quarter" idx="12"/>
          </p:nvPr>
        </p:nvSpPr>
        <p:spPr/>
        <p:txBody>
          <a:bodyPr/>
          <a:lstStyle/>
          <a:p>
            <a:fld id="{48A16615-E8F9-4E60-AB49-E5794D6311B7}"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35181363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ltLang="x-none"/>
          </a:p>
        </p:txBody>
      </p:sp>
      <p:sp>
        <p:nvSpPr>
          <p:cNvPr id="3" name="Footer Placeholder 2"/>
          <p:cNvSpPr>
            <a:spLocks noGrp="1"/>
          </p:cNvSpPr>
          <p:nvPr>
            <p:ph type="ftr" sz="quarter" idx="11"/>
          </p:nvPr>
        </p:nvSpPr>
        <p:spPr/>
        <p:txBody>
          <a:bodyPr/>
          <a:lstStyle/>
          <a:p>
            <a:pPr>
              <a:defRPr/>
            </a:pPr>
            <a:r>
              <a:rPr lang="en-US" altLang="en-US"/>
              <a:t>Copyright © 2016 Pearson Education, Inc., Hoboken NJ</a:t>
            </a:r>
          </a:p>
        </p:txBody>
      </p:sp>
      <p:sp>
        <p:nvSpPr>
          <p:cNvPr id="4" name="Slide Number Placeholder 3"/>
          <p:cNvSpPr>
            <a:spLocks noGrp="1"/>
          </p:cNvSpPr>
          <p:nvPr>
            <p:ph type="sldNum" sz="quarter" idx="12"/>
          </p:nvPr>
        </p:nvSpPr>
        <p:spPr/>
        <p:txBody>
          <a:bodyPr/>
          <a:lstStyle/>
          <a:p>
            <a:fld id="{B6B3E187-5BD7-44B4-AD93-2AB093513CE2}"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219456310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ltLang="x-none"/>
          </a:p>
        </p:txBody>
      </p:sp>
      <p:sp>
        <p:nvSpPr>
          <p:cNvPr id="6" name="Footer Placeholder 5"/>
          <p:cNvSpPr>
            <a:spLocks noGrp="1"/>
          </p:cNvSpPr>
          <p:nvPr>
            <p:ph type="ftr" sz="quarter" idx="11"/>
          </p:nvPr>
        </p:nvSpPr>
        <p:spPr/>
        <p:txBody>
          <a:bodyPr/>
          <a:lstStyle/>
          <a:p>
            <a:pPr>
              <a:defRPr/>
            </a:pPr>
            <a:r>
              <a:rPr lang="en-US" altLang="en-US"/>
              <a:t>Copyright © 2016 Pearson Education, Inc., Hoboken NJ</a:t>
            </a:r>
          </a:p>
        </p:txBody>
      </p:sp>
      <p:sp>
        <p:nvSpPr>
          <p:cNvPr id="7" name="Slide Number Placeholder 6"/>
          <p:cNvSpPr>
            <a:spLocks noGrp="1"/>
          </p:cNvSpPr>
          <p:nvPr>
            <p:ph type="sldNum" sz="quarter" idx="12"/>
          </p:nvPr>
        </p:nvSpPr>
        <p:spPr/>
        <p:txBody>
          <a:bodyPr/>
          <a:lstStyle/>
          <a:p>
            <a:fld id="{60BF3193-A943-4D0E-AE65-1B375ED5E40D}"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25406460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ltLang="x-none"/>
          </a:p>
        </p:txBody>
      </p:sp>
      <p:sp>
        <p:nvSpPr>
          <p:cNvPr id="6" name="Footer Placeholder 5"/>
          <p:cNvSpPr>
            <a:spLocks noGrp="1"/>
          </p:cNvSpPr>
          <p:nvPr>
            <p:ph type="ftr" sz="quarter" idx="11"/>
          </p:nvPr>
        </p:nvSpPr>
        <p:spPr/>
        <p:txBody>
          <a:bodyPr/>
          <a:lstStyle/>
          <a:p>
            <a:pPr>
              <a:defRPr/>
            </a:pPr>
            <a:r>
              <a:rPr lang="en-US" altLang="en-US"/>
              <a:t>Copyright © 2016 Pearson Education, Inc., Hoboken NJ</a:t>
            </a:r>
          </a:p>
        </p:txBody>
      </p:sp>
      <p:sp>
        <p:nvSpPr>
          <p:cNvPr id="7" name="Slide Number Placeholder 6"/>
          <p:cNvSpPr>
            <a:spLocks noGrp="1"/>
          </p:cNvSpPr>
          <p:nvPr>
            <p:ph type="sldNum" sz="quarter" idx="12"/>
          </p:nvPr>
        </p:nvSpPr>
        <p:spPr/>
        <p:txBody>
          <a:bodyPr/>
          <a:lstStyle/>
          <a:p>
            <a:fld id="{5AD55FDB-A324-45CC-9291-8041897F8776}"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29540450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ltLang="x-none"/>
          </a:p>
        </p:txBody>
      </p:sp>
      <p:sp>
        <p:nvSpPr>
          <p:cNvPr id="5" name="Footer Placeholder 4"/>
          <p:cNvSpPr>
            <a:spLocks noGrp="1"/>
          </p:cNvSpPr>
          <p:nvPr>
            <p:ph type="ftr" sz="quarter" idx="11"/>
          </p:nvPr>
        </p:nvSpPr>
        <p:spPr/>
        <p:txBody>
          <a:bodyPr/>
          <a:lstStyle/>
          <a:p>
            <a:pPr>
              <a:defRPr/>
            </a:pPr>
            <a:r>
              <a:rPr lang="en-US" altLang="en-US"/>
              <a:t>Copyright © 2016 Pearson Education, Inc., Hoboken NJ</a:t>
            </a:r>
          </a:p>
        </p:txBody>
      </p:sp>
      <p:sp>
        <p:nvSpPr>
          <p:cNvPr id="6" name="Slide Number Placeholder 5"/>
          <p:cNvSpPr>
            <a:spLocks noGrp="1"/>
          </p:cNvSpPr>
          <p:nvPr>
            <p:ph type="sldNum" sz="quarter" idx="12"/>
          </p:nvPr>
        </p:nvSpPr>
        <p:spPr/>
        <p:txBody>
          <a:bodyPr/>
          <a:lstStyle/>
          <a:p>
            <a:fld id="{0BB35D83-3235-4966-B1F3-03F083324BD3}"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723987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ltLang="x-none"/>
          </a:p>
        </p:txBody>
      </p:sp>
      <p:sp>
        <p:nvSpPr>
          <p:cNvPr id="5" name="Footer Placeholder 4"/>
          <p:cNvSpPr>
            <a:spLocks noGrp="1"/>
          </p:cNvSpPr>
          <p:nvPr>
            <p:ph type="ftr" sz="quarter" idx="11"/>
          </p:nvPr>
        </p:nvSpPr>
        <p:spPr/>
        <p:txBody>
          <a:bodyPr/>
          <a:lstStyle/>
          <a:p>
            <a:pPr>
              <a:defRPr/>
            </a:pPr>
            <a:r>
              <a:rPr lang="en-US" altLang="en-US"/>
              <a:t>Copyright © 2016 Pearson Education, Inc., Hoboken NJ</a:t>
            </a:r>
          </a:p>
        </p:txBody>
      </p:sp>
      <p:sp>
        <p:nvSpPr>
          <p:cNvPr id="6" name="Slide Number Placeholder 5"/>
          <p:cNvSpPr>
            <a:spLocks noGrp="1"/>
          </p:cNvSpPr>
          <p:nvPr>
            <p:ph type="sldNum" sz="quarter" idx="12"/>
          </p:nvPr>
        </p:nvSpPr>
        <p:spPr/>
        <p:txBody>
          <a:bodyPr/>
          <a:lstStyle/>
          <a:p>
            <a:fld id="{C4AC583C-AB7A-4340-84BD-4B36B8F7FAF3}"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17745239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3" name="Date Placeholder 3">
            <a:extLst>
              <a:ext uri="{FF2B5EF4-FFF2-40B4-BE49-F238E27FC236}">
                <a16:creationId xmlns:a16="http://schemas.microsoft.com/office/drawing/2014/main" id="{ACF4BC7C-6FD0-489F-9980-35BE9420A117}"/>
              </a:ext>
            </a:extLst>
          </p:cNvPr>
          <p:cNvSpPr>
            <a:spLocks noGrp="1"/>
          </p:cNvSpPr>
          <p:nvPr>
            <p:ph type="dt" sz="half" idx="10"/>
          </p:nvPr>
        </p:nvSpPr>
        <p:spPr/>
        <p:txBody>
          <a:bodyPr/>
          <a:lstStyle>
            <a:lvl1pPr>
              <a:defRPr/>
            </a:lvl1pPr>
          </a:lstStyle>
          <a:p>
            <a:endParaRPr lang="en-US" altLang="x-none"/>
          </a:p>
        </p:txBody>
      </p:sp>
      <p:sp>
        <p:nvSpPr>
          <p:cNvPr id="4" name="Slide Number Placeholder 5">
            <a:extLst>
              <a:ext uri="{FF2B5EF4-FFF2-40B4-BE49-F238E27FC236}">
                <a16:creationId xmlns:a16="http://schemas.microsoft.com/office/drawing/2014/main" id="{247C51E0-1557-4D30-BF66-9803ABC4317A}"/>
              </a:ext>
            </a:extLst>
          </p:cNvPr>
          <p:cNvSpPr>
            <a:spLocks noGrp="1"/>
          </p:cNvSpPr>
          <p:nvPr>
            <p:ph type="sldNum" sz="quarter" idx="11"/>
          </p:nvPr>
        </p:nvSpPr>
        <p:spPr/>
        <p:txBody>
          <a:bodyPr/>
          <a:lstStyle>
            <a:lvl1pPr>
              <a:defRPr>
                <a:cs typeface="+mn-cs"/>
              </a:defRPr>
            </a:lvl1pPr>
          </a:lstStyle>
          <a:p>
            <a:fld id="{3D9A7AF7-0D0B-42B5-B495-A98293F0FF5A}" type="slidenum">
              <a:rPr lang="en-US" altLang="en-US"/>
              <a:pPr/>
              <a:t>‹#›</a:t>
            </a:fld>
            <a:endParaRPr lang="en-US" altLang="en-US">
              <a:cs typeface="Arial" panose="020B0604020202020204" pitchFamily="34" charset="0"/>
            </a:endParaRPr>
          </a:p>
        </p:txBody>
      </p:sp>
      <p:sp>
        <p:nvSpPr>
          <p:cNvPr id="5" name="Footer Placeholder 1">
            <a:extLst>
              <a:ext uri="{FF2B5EF4-FFF2-40B4-BE49-F238E27FC236}">
                <a16:creationId xmlns:a16="http://schemas.microsoft.com/office/drawing/2014/main" id="{551340A9-D8B7-40D0-B31C-105899FBDE24}"/>
              </a:ext>
            </a:extLst>
          </p:cNvPr>
          <p:cNvSpPr>
            <a:spLocks noGrp="1"/>
          </p:cNvSpPr>
          <p:nvPr>
            <p:ph type="ftr" sz="quarter" idx="12"/>
          </p:nvPr>
        </p:nvSpPr>
        <p:spPr/>
        <p:txBody>
          <a:bodyPr/>
          <a:lstStyle>
            <a:lvl1pPr eaLnBrk="1" hangingPunct="1">
              <a:defRPr/>
            </a:lvl1pPr>
          </a:lstStyle>
          <a:p>
            <a:pPr>
              <a:defRPr/>
            </a:pPr>
            <a:r>
              <a:rPr lang="en-US" altLang="en-US"/>
              <a:t>Copyright © 2016 Pearson Education, Inc., Hoboken NJ</a:t>
            </a:r>
          </a:p>
        </p:txBody>
      </p:sp>
    </p:spTree>
    <p:extLst>
      <p:ext uri="{BB962C8B-B14F-4D97-AF65-F5344CB8AC3E}">
        <p14:creationId xmlns:p14="http://schemas.microsoft.com/office/powerpoint/2010/main" val="231899312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ltLang="x-none"/>
          </a:p>
        </p:txBody>
      </p:sp>
      <p:sp>
        <p:nvSpPr>
          <p:cNvPr id="5" name="Footer Placeholder 4"/>
          <p:cNvSpPr>
            <a:spLocks noGrp="1"/>
          </p:cNvSpPr>
          <p:nvPr>
            <p:ph type="ftr" sz="quarter" idx="11"/>
          </p:nvPr>
        </p:nvSpPr>
        <p:spPr/>
        <p:txBody>
          <a:bodyPr/>
          <a:lstStyle/>
          <a:p>
            <a:pPr>
              <a:defRPr/>
            </a:pPr>
            <a:r>
              <a:rPr lang="en-US" altLang="en-US"/>
              <a:t>Copyright © 2016 Pearson Education, Inc., Hoboken NJ</a:t>
            </a:r>
          </a:p>
        </p:txBody>
      </p:sp>
      <p:sp>
        <p:nvSpPr>
          <p:cNvPr id="6" name="Slide Number Placeholder 5"/>
          <p:cNvSpPr>
            <a:spLocks noGrp="1"/>
          </p:cNvSpPr>
          <p:nvPr>
            <p:ph type="sldNum" sz="quarter" idx="12"/>
          </p:nvPr>
        </p:nvSpPr>
        <p:spPr/>
        <p:txBody>
          <a:bodyPr/>
          <a:lstStyle/>
          <a:p>
            <a:fld id="{4259ECEC-9EA1-46E8-90A7-961592C482E2}"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119570371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ltLang="x-none"/>
          </a:p>
        </p:txBody>
      </p:sp>
      <p:sp>
        <p:nvSpPr>
          <p:cNvPr id="5" name="Footer Placeholder 4"/>
          <p:cNvSpPr>
            <a:spLocks noGrp="1"/>
          </p:cNvSpPr>
          <p:nvPr>
            <p:ph type="ftr" sz="quarter" idx="11"/>
          </p:nvPr>
        </p:nvSpPr>
        <p:spPr/>
        <p:txBody>
          <a:bodyPr/>
          <a:lstStyle/>
          <a:p>
            <a:pPr>
              <a:defRPr/>
            </a:pPr>
            <a:r>
              <a:rPr lang="en-US" altLang="en-US"/>
              <a:t>Copyright © 2016 Pearson Education, Inc., Hoboken NJ</a:t>
            </a:r>
          </a:p>
        </p:txBody>
      </p:sp>
      <p:sp>
        <p:nvSpPr>
          <p:cNvPr id="6" name="Slide Number Placeholder 5"/>
          <p:cNvSpPr>
            <a:spLocks noGrp="1"/>
          </p:cNvSpPr>
          <p:nvPr>
            <p:ph type="sldNum" sz="quarter" idx="12"/>
          </p:nvPr>
        </p:nvSpPr>
        <p:spPr/>
        <p:txBody>
          <a:bodyPr/>
          <a:lstStyle/>
          <a:p>
            <a:fld id="{01BC5DDE-5243-4FB0-A664-4A077F153E8F}"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21588762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ltLang="x-none"/>
          </a:p>
        </p:txBody>
      </p:sp>
      <p:sp>
        <p:nvSpPr>
          <p:cNvPr id="5" name="Footer Placeholder 4"/>
          <p:cNvSpPr>
            <a:spLocks noGrp="1"/>
          </p:cNvSpPr>
          <p:nvPr>
            <p:ph type="ftr" sz="quarter" idx="11"/>
          </p:nvPr>
        </p:nvSpPr>
        <p:spPr/>
        <p:txBody>
          <a:bodyPr/>
          <a:lstStyle/>
          <a:p>
            <a:pPr>
              <a:defRPr/>
            </a:pPr>
            <a:r>
              <a:rPr lang="en-US" altLang="en-US"/>
              <a:t>Copyright © 2016 Pearson Education, Inc., Hoboken NJ</a:t>
            </a:r>
          </a:p>
        </p:txBody>
      </p:sp>
      <p:sp>
        <p:nvSpPr>
          <p:cNvPr id="6" name="Slide Number Placeholder 5"/>
          <p:cNvSpPr>
            <a:spLocks noGrp="1"/>
          </p:cNvSpPr>
          <p:nvPr>
            <p:ph type="sldNum" sz="quarter" idx="12"/>
          </p:nvPr>
        </p:nvSpPr>
        <p:spPr/>
        <p:txBody>
          <a:bodyPr/>
          <a:lstStyle/>
          <a:p>
            <a:fld id="{54804F31-CBCA-42BF-8A06-1F6D579C80B4}"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127561549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ltLang="x-none"/>
          </a:p>
        </p:txBody>
      </p:sp>
      <p:sp>
        <p:nvSpPr>
          <p:cNvPr id="6" name="Footer Placeholder 5"/>
          <p:cNvSpPr>
            <a:spLocks noGrp="1"/>
          </p:cNvSpPr>
          <p:nvPr>
            <p:ph type="ftr" sz="quarter" idx="11"/>
          </p:nvPr>
        </p:nvSpPr>
        <p:spPr/>
        <p:txBody>
          <a:bodyPr/>
          <a:lstStyle/>
          <a:p>
            <a:pPr>
              <a:defRPr/>
            </a:pPr>
            <a:r>
              <a:rPr lang="en-US" altLang="en-US"/>
              <a:t>Copyright © 2016 Pearson Education, Inc., Hoboken NJ</a:t>
            </a:r>
          </a:p>
        </p:txBody>
      </p:sp>
      <p:sp>
        <p:nvSpPr>
          <p:cNvPr id="7" name="Slide Number Placeholder 6"/>
          <p:cNvSpPr>
            <a:spLocks noGrp="1"/>
          </p:cNvSpPr>
          <p:nvPr>
            <p:ph type="sldNum" sz="quarter" idx="12"/>
          </p:nvPr>
        </p:nvSpPr>
        <p:spPr/>
        <p:txBody>
          <a:bodyPr/>
          <a:lstStyle/>
          <a:p>
            <a:fld id="{E698ACB0-3530-46F5-B0F8-A0D376F9E3D3}"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75698288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ltLang="x-none"/>
          </a:p>
        </p:txBody>
      </p:sp>
      <p:sp>
        <p:nvSpPr>
          <p:cNvPr id="8" name="Footer Placeholder 7"/>
          <p:cNvSpPr>
            <a:spLocks noGrp="1"/>
          </p:cNvSpPr>
          <p:nvPr>
            <p:ph type="ftr" sz="quarter" idx="11"/>
          </p:nvPr>
        </p:nvSpPr>
        <p:spPr/>
        <p:txBody>
          <a:bodyPr/>
          <a:lstStyle/>
          <a:p>
            <a:pPr>
              <a:defRPr/>
            </a:pPr>
            <a:r>
              <a:rPr lang="en-US" altLang="en-US"/>
              <a:t>Copyright © 2016 Pearson Education, Inc., Hoboken NJ</a:t>
            </a:r>
          </a:p>
        </p:txBody>
      </p:sp>
      <p:sp>
        <p:nvSpPr>
          <p:cNvPr id="9" name="Slide Number Placeholder 8"/>
          <p:cNvSpPr>
            <a:spLocks noGrp="1"/>
          </p:cNvSpPr>
          <p:nvPr>
            <p:ph type="sldNum" sz="quarter" idx="12"/>
          </p:nvPr>
        </p:nvSpPr>
        <p:spPr/>
        <p:txBody>
          <a:bodyPr/>
          <a:lstStyle/>
          <a:p>
            <a:fld id="{8861628E-4DBC-44C0-9A51-89A8509F4CF7}"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315352494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ltLang="x-none"/>
          </a:p>
        </p:txBody>
      </p:sp>
      <p:sp>
        <p:nvSpPr>
          <p:cNvPr id="4" name="Footer Placeholder 3"/>
          <p:cNvSpPr>
            <a:spLocks noGrp="1"/>
          </p:cNvSpPr>
          <p:nvPr>
            <p:ph type="ftr" sz="quarter" idx="11"/>
          </p:nvPr>
        </p:nvSpPr>
        <p:spPr/>
        <p:txBody>
          <a:bodyPr/>
          <a:lstStyle/>
          <a:p>
            <a:pPr>
              <a:defRPr/>
            </a:pPr>
            <a:r>
              <a:rPr lang="en-US" altLang="en-US"/>
              <a:t>Copyright © 2016 Pearson Education, Inc., Hoboken NJ</a:t>
            </a:r>
          </a:p>
        </p:txBody>
      </p:sp>
      <p:sp>
        <p:nvSpPr>
          <p:cNvPr id="5" name="Slide Number Placeholder 4"/>
          <p:cNvSpPr>
            <a:spLocks noGrp="1"/>
          </p:cNvSpPr>
          <p:nvPr>
            <p:ph type="sldNum" sz="quarter" idx="12"/>
          </p:nvPr>
        </p:nvSpPr>
        <p:spPr/>
        <p:txBody>
          <a:bodyPr/>
          <a:lstStyle/>
          <a:p>
            <a:fld id="{3551A02D-AA12-4511-BB7A-B3EF70777AF5}"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47766013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ltLang="x-none"/>
          </a:p>
        </p:txBody>
      </p:sp>
      <p:sp>
        <p:nvSpPr>
          <p:cNvPr id="3" name="Footer Placeholder 2"/>
          <p:cNvSpPr>
            <a:spLocks noGrp="1"/>
          </p:cNvSpPr>
          <p:nvPr>
            <p:ph type="ftr" sz="quarter" idx="11"/>
          </p:nvPr>
        </p:nvSpPr>
        <p:spPr/>
        <p:txBody>
          <a:bodyPr/>
          <a:lstStyle/>
          <a:p>
            <a:pPr>
              <a:defRPr/>
            </a:pPr>
            <a:r>
              <a:rPr lang="en-US" altLang="en-US"/>
              <a:t>Copyright © 2016 Pearson Education, Inc., Hoboken NJ</a:t>
            </a:r>
          </a:p>
        </p:txBody>
      </p:sp>
      <p:sp>
        <p:nvSpPr>
          <p:cNvPr id="4" name="Slide Number Placeholder 3"/>
          <p:cNvSpPr>
            <a:spLocks noGrp="1"/>
          </p:cNvSpPr>
          <p:nvPr>
            <p:ph type="sldNum" sz="quarter" idx="12"/>
          </p:nvPr>
        </p:nvSpPr>
        <p:spPr/>
        <p:txBody>
          <a:bodyPr/>
          <a:lstStyle/>
          <a:p>
            <a:fld id="{57905C40-03FC-4954-9982-E15693F8E009}"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178860841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ltLang="x-none"/>
          </a:p>
        </p:txBody>
      </p:sp>
      <p:sp>
        <p:nvSpPr>
          <p:cNvPr id="6" name="Footer Placeholder 5"/>
          <p:cNvSpPr>
            <a:spLocks noGrp="1"/>
          </p:cNvSpPr>
          <p:nvPr>
            <p:ph type="ftr" sz="quarter" idx="11"/>
          </p:nvPr>
        </p:nvSpPr>
        <p:spPr/>
        <p:txBody>
          <a:bodyPr/>
          <a:lstStyle/>
          <a:p>
            <a:pPr>
              <a:defRPr/>
            </a:pPr>
            <a:r>
              <a:rPr lang="en-US" altLang="en-US"/>
              <a:t>Copyright © 2016 Pearson Education, Inc., Hoboken NJ</a:t>
            </a:r>
          </a:p>
        </p:txBody>
      </p:sp>
      <p:sp>
        <p:nvSpPr>
          <p:cNvPr id="7" name="Slide Number Placeholder 6"/>
          <p:cNvSpPr>
            <a:spLocks noGrp="1"/>
          </p:cNvSpPr>
          <p:nvPr>
            <p:ph type="sldNum" sz="quarter" idx="12"/>
          </p:nvPr>
        </p:nvSpPr>
        <p:spPr/>
        <p:txBody>
          <a:bodyPr/>
          <a:lstStyle/>
          <a:p>
            <a:fld id="{0FC9575C-8F67-4DCD-A556-1EDFBDC09404}"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184413129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ltLang="x-none"/>
          </a:p>
        </p:txBody>
      </p:sp>
      <p:sp>
        <p:nvSpPr>
          <p:cNvPr id="6" name="Footer Placeholder 5"/>
          <p:cNvSpPr>
            <a:spLocks noGrp="1"/>
          </p:cNvSpPr>
          <p:nvPr>
            <p:ph type="ftr" sz="quarter" idx="11"/>
          </p:nvPr>
        </p:nvSpPr>
        <p:spPr/>
        <p:txBody>
          <a:bodyPr/>
          <a:lstStyle/>
          <a:p>
            <a:pPr>
              <a:defRPr/>
            </a:pPr>
            <a:r>
              <a:rPr lang="en-US" altLang="en-US"/>
              <a:t>Copyright © 2016 Pearson Education, Inc., Hoboken NJ</a:t>
            </a:r>
          </a:p>
        </p:txBody>
      </p:sp>
      <p:sp>
        <p:nvSpPr>
          <p:cNvPr id="7" name="Slide Number Placeholder 6"/>
          <p:cNvSpPr>
            <a:spLocks noGrp="1"/>
          </p:cNvSpPr>
          <p:nvPr>
            <p:ph type="sldNum" sz="quarter" idx="12"/>
          </p:nvPr>
        </p:nvSpPr>
        <p:spPr/>
        <p:txBody>
          <a:bodyPr/>
          <a:lstStyle/>
          <a:p>
            <a:fld id="{90CC1C42-ADFA-4B52-98F9-68B7EF290DB9}"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17989748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ltLang="x-none"/>
          </a:p>
        </p:txBody>
      </p:sp>
      <p:sp>
        <p:nvSpPr>
          <p:cNvPr id="5" name="Footer Placeholder 4"/>
          <p:cNvSpPr>
            <a:spLocks noGrp="1"/>
          </p:cNvSpPr>
          <p:nvPr>
            <p:ph type="ftr" sz="quarter" idx="11"/>
          </p:nvPr>
        </p:nvSpPr>
        <p:spPr/>
        <p:txBody>
          <a:bodyPr/>
          <a:lstStyle/>
          <a:p>
            <a:pPr>
              <a:defRPr/>
            </a:pPr>
            <a:r>
              <a:rPr lang="en-US" altLang="en-US"/>
              <a:t>Copyright © 2016 Pearson Education, Inc., Hoboken NJ</a:t>
            </a:r>
          </a:p>
        </p:txBody>
      </p:sp>
      <p:sp>
        <p:nvSpPr>
          <p:cNvPr id="6" name="Slide Number Placeholder 5"/>
          <p:cNvSpPr>
            <a:spLocks noGrp="1"/>
          </p:cNvSpPr>
          <p:nvPr>
            <p:ph type="sldNum" sz="quarter" idx="12"/>
          </p:nvPr>
        </p:nvSpPr>
        <p:spPr/>
        <p:txBody>
          <a:bodyPr/>
          <a:lstStyle/>
          <a:p>
            <a:fld id="{89988672-D333-4D81-874B-227F2D506F8F}"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194216420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ltLang="x-none"/>
          </a:p>
        </p:txBody>
      </p:sp>
      <p:sp>
        <p:nvSpPr>
          <p:cNvPr id="5" name="Footer Placeholder 4"/>
          <p:cNvSpPr>
            <a:spLocks noGrp="1"/>
          </p:cNvSpPr>
          <p:nvPr>
            <p:ph type="ftr" sz="quarter" idx="11"/>
          </p:nvPr>
        </p:nvSpPr>
        <p:spPr/>
        <p:txBody>
          <a:bodyPr/>
          <a:lstStyle/>
          <a:p>
            <a:pPr>
              <a:defRPr/>
            </a:pPr>
            <a:r>
              <a:rPr lang="en-US" altLang="en-US"/>
              <a:t>Copyright © 2016 Pearson Education, Inc., Hoboken NJ</a:t>
            </a:r>
          </a:p>
        </p:txBody>
      </p:sp>
      <p:sp>
        <p:nvSpPr>
          <p:cNvPr id="6" name="Slide Number Placeholder 5"/>
          <p:cNvSpPr>
            <a:spLocks noGrp="1"/>
          </p:cNvSpPr>
          <p:nvPr>
            <p:ph type="sldNum" sz="quarter" idx="12"/>
          </p:nvPr>
        </p:nvSpPr>
        <p:spPr/>
        <p:txBody>
          <a:bodyPr/>
          <a:lstStyle/>
          <a:p>
            <a:fld id="{0C27C3C3-F248-4F52-B41B-12598342ED57}" type="slidenum">
              <a:rPr lang="en-US" altLang="en-US" smtClean="0"/>
              <a:pPr/>
              <a:t>‹#›</a:t>
            </a:fld>
            <a:endParaRPr lang="en-US" altLang="en-US">
              <a:cs typeface="Arial" panose="020B0604020202020204" pitchFamily="34" charset="0"/>
            </a:endParaRPr>
          </a:p>
        </p:txBody>
      </p:sp>
    </p:spTree>
    <p:extLst>
      <p:ext uri="{BB962C8B-B14F-4D97-AF65-F5344CB8AC3E}">
        <p14:creationId xmlns:p14="http://schemas.microsoft.com/office/powerpoint/2010/main" val="2729084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p>
        </p:txBody>
      </p:sp>
      <p:sp>
        <p:nvSpPr>
          <p:cNvPr id="3" name="Date Placeholder 3">
            <a:extLst>
              <a:ext uri="{FF2B5EF4-FFF2-40B4-BE49-F238E27FC236}">
                <a16:creationId xmlns:a16="http://schemas.microsoft.com/office/drawing/2014/main" id="{6E22E150-A41F-4581-88B7-4BB064137DE3}"/>
              </a:ext>
            </a:extLst>
          </p:cNvPr>
          <p:cNvSpPr>
            <a:spLocks noGrp="1"/>
          </p:cNvSpPr>
          <p:nvPr>
            <p:ph type="dt" sz="half" idx="10"/>
          </p:nvPr>
        </p:nvSpPr>
        <p:spPr/>
        <p:txBody>
          <a:bodyPr/>
          <a:lstStyle>
            <a:lvl1pPr>
              <a:defRPr/>
            </a:lvl1pPr>
          </a:lstStyle>
          <a:p>
            <a:endParaRPr lang="en-US" altLang="x-none"/>
          </a:p>
        </p:txBody>
      </p:sp>
      <p:sp>
        <p:nvSpPr>
          <p:cNvPr id="4" name="Slide Number Placeholder 5">
            <a:extLst>
              <a:ext uri="{FF2B5EF4-FFF2-40B4-BE49-F238E27FC236}">
                <a16:creationId xmlns:a16="http://schemas.microsoft.com/office/drawing/2014/main" id="{4646F42C-9F31-4DC8-A78B-FB419A035D87}"/>
              </a:ext>
            </a:extLst>
          </p:cNvPr>
          <p:cNvSpPr>
            <a:spLocks noGrp="1"/>
          </p:cNvSpPr>
          <p:nvPr>
            <p:ph type="sldNum" sz="quarter" idx="11"/>
          </p:nvPr>
        </p:nvSpPr>
        <p:spPr/>
        <p:txBody>
          <a:bodyPr/>
          <a:lstStyle>
            <a:lvl1pPr>
              <a:defRPr>
                <a:cs typeface="+mn-cs"/>
              </a:defRPr>
            </a:lvl1pPr>
          </a:lstStyle>
          <a:p>
            <a:fld id="{CE023F2B-59D6-4E29-B74D-CE5D08124A17}" type="slidenum">
              <a:rPr lang="en-US" altLang="en-US"/>
              <a:pPr/>
              <a:t>‹#›</a:t>
            </a:fld>
            <a:endParaRPr lang="en-US" altLang="en-US">
              <a:cs typeface="Arial" panose="020B0604020202020204" pitchFamily="34" charset="0"/>
            </a:endParaRPr>
          </a:p>
        </p:txBody>
      </p:sp>
      <p:sp>
        <p:nvSpPr>
          <p:cNvPr id="5" name="Footer Placeholder 1">
            <a:extLst>
              <a:ext uri="{FF2B5EF4-FFF2-40B4-BE49-F238E27FC236}">
                <a16:creationId xmlns:a16="http://schemas.microsoft.com/office/drawing/2014/main" id="{AF3663D0-7B6A-4D74-99AD-0D67B6F404F5}"/>
              </a:ext>
            </a:extLst>
          </p:cNvPr>
          <p:cNvSpPr>
            <a:spLocks noGrp="1"/>
          </p:cNvSpPr>
          <p:nvPr>
            <p:ph type="ftr" sz="quarter" idx="12"/>
          </p:nvPr>
        </p:nvSpPr>
        <p:spPr/>
        <p:txBody>
          <a:bodyPr/>
          <a:lstStyle>
            <a:lvl1pPr eaLnBrk="1" hangingPunct="1">
              <a:defRPr/>
            </a:lvl1pPr>
          </a:lstStyle>
          <a:p>
            <a:pPr>
              <a:defRPr/>
            </a:pPr>
            <a:r>
              <a:rPr lang="en-US" altLang="en-US"/>
              <a:t>Copyright © 2016 Pearson Education, Inc., Hoboken NJ</a:t>
            </a:r>
          </a:p>
        </p:txBody>
      </p:sp>
    </p:spTree>
    <p:extLst>
      <p:ext uri="{BB962C8B-B14F-4D97-AF65-F5344CB8AC3E}">
        <p14:creationId xmlns:p14="http://schemas.microsoft.com/office/powerpoint/2010/main" val="2031462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theme" Target="../theme/theme4.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C4A144-67C0-42C5-94BE-625588641AD3}" type="slidenum">
              <a:rPr lang="en-GB" altLang="en-US" smtClean="0"/>
              <a:pPr/>
              <a:t>‹#›</a:t>
            </a:fld>
            <a:endParaRPr lang="en-GB" altLang="en-US"/>
          </a:p>
        </p:txBody>
      </p:sp>
    </p:spTree>
    <p:extLst>
      <p:ext uri="{BB962C8B-B14F-4D97-AF65-F5344CB8AC3E}">
        <p14:creationId xmlns:p14="http://schemas.microsoft.com/office/powerpoint/2010/main" val="3334471401"/>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ltLang="x-non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ltLang="en-US"/>
              <a:t>Copyright © 2016 Pearson Education, Inc., Hoboken NJ</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9B44B0-780E-4CAF-9ACA-A8B2BAFEBE9A}" type="slidenum">
              <a:rPr lang="en-US" altLang="en-US" smtClean="0"/>
              <a:pPr/>
              <a:t>‹#›</a:t>
            </a:fld>
            <a:endParaRPr lang="en-US" altLang="en-US">
              <a:latin typeface="Arial" panose="020B0604020202020204" pitchFamily="34" charset="0"/>
            </a:endParaRPr>
          </a:p>
        </p:txBody>
      </p:sp>
    </p:spTree>
    <p:extLst>
      <p:ext uri="{BB962C8B-B14F-4D97-AF65-F5344CB8AC3E}">
        <p14:creationId xmlns:p14="http://schemas.microsoft.com/office/powerpoint/2010/main" val="3062231351"/>
      </p:ext>
    </p:extLst>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79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ltLang="x-non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ltLang="en-US"/>
              <a:t>Copyright © 2016 Pearson Education, Inc., Hoboken NJ</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A015C5-F2E8-4FDD-82B1-06EA8F6849BC}" type="slidenum">
              <a:rPr lang="en-US" altLang="en-US" smtClean="0"/>
              <a:pPr/>
              <a:t>‹#›</a:t>
            </a:fld>
            <a:endParaRPr lang="en-US" altLang="en-US">
              <a:latin typeface="Arial" panose="020B0604020202020204" pitchFamily="34" charset="0"/>
            </a:endParaRPr>
          </a:p>
        </p:txBody>
      </p:sp>
    </p:spTree>
    <p:extLst>
      <p:ext uri="{BB962C8B-B14F-4D97-AF65-F5344CB8AC3E}">
        <p14:creationId xmlns:p14="http://schemas.microsoft.com/office/powerpoint/2010/main" val="134927759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 id="2147483859" r:id="rId6"/>
    <p:sldLayoutId id="2147483860" r:id="rId7"/>
    <p:sldLayoutId id="2147483861" r:id="rId8"/>
    <p:sldLayoutId id="2147483862" r:id="rId9"/>
    <p:sldLayoutId id="2147483863" r:id="rId10"/>
    <p:sldLayoutId id="2147483864" r:id="rId11"/>
    <p:sldLayoutId id="214748381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ltLang="x-non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ltLang="en-US"/>
              <a:t>Copyright © 2016 Pearson Education, Inc., Hoboken NJ</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60BF4A-2CDB-4707-932C-1BC928000578}" type="slidenum">
              <a:rPr lang="en-US" altLang="en-US" smtClean="0"/>
              <a:pPr/>
              <a:t>‹#›</a:t>
            </a:fld>
            <a:endParaRPr lang="en-US" altLang="en-US">
              <a:latin typeface="Arial" panose="020B0604020202020204" pitchFamily="34" charset="0"/>
            </a:endParaRPr>
          </a:p>
        </p:txBody>
      </p:sp>
    </p:spTree>
    <p:extLst>
      <p:ext uri="{BB962C8B-B14F-4D97-AF65-F5344CB8AC3E}">
        <p14:creationId xmlns:p14="http://schemas.microsoft.com/office/powerpoint/2010/main" val="3824760292"/>
      </p:ext>
    </p:extLst>
  </p:cSld>
  <p:clrMap bg1="lt1" tx1="dk1" bg2="lt2" tx2="dk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 id="2147483876" r:id="rId11"/>
    <p:sldLayoutId id="214748382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hyperlink" Target="https://robots.thoughtbot.com/transitions-and-transforms" TargetMode="Externa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css-tricks.com/almanac/properties/b/background-color/" TargetMode="External"/><Relationship Id="rId2" Type="http://schemas.openxmlformats.org/officeDocument/2006/relationships/hyperlink" Target="https://css-tricks.com/almanac/properties/c/color/" TargetMode="External"/><Relationship Id="rId1" Type="http://schemas.openxmlformats.org/officeDocument/2006/relationships/slideLayout" Target="../slideLayouts/slideLayout37.xml"/><Relationship Id="rId6" Type="http://schemas.openxmlformats.org/officeDocument/2006/relationships/hyperlink" Target="https://css-tricks.com/at-rule-css/" TargetMode="External"/><Relationship Id="rId5" Type="http://schemas.openxmlformats.org/officeDocument/2006/relationships/hyperlink" Target="https://css-tricks.com/almanac/properties/w/width/" TargetMode="External"/><Relationship Id="rId4" Type="http://schemas.openxmlformats.org/officeDocument/2006/relationships/hyperlink" Target="https://css-tricks.com/almanac/properties/h/height/"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2" Type="http://schemas.openxmlformats.org/officeDocument/2006/relationships/hyperlink" Target="http://www.html5rocks.com/en/tutorials/speed/high-performance-animations/" TargetMode="External"/><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2" Type="http://schemas.openxmlformats.org/officeDocument/2006/relationships/hyperlink" Target="https://robots.thoughtbot.com/css-animation-for-beginners" TargetMode="External"/><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html5demos.com/geo" TargetMode="External"/><Relationship Id="rId2" Type="http://schemas.openxmlformats.org/officeDocument/2006/relationships/hyperlink" Target="http://webdevfoundations.net/geo"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html5demos.com/storage" TargetMode="External"/><Relationship Id="rId2" Type="http://schemas.openxmlformats.org/officeDocument/2006/relationships/hyperlink" Target="http://webdevfoundations.net/storage"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www.w3schools.com/html/html5_app_cache.asp" TargetMode="External"/><Relationship Id="rId2" Type="http://schemas.openxmlformats.org/officeDocument/2006/relationships/hyperlink" Target="http://html5demos.com/offlineapp"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57DCF3F9-79C4-4CFE-AFF0-0FCA4143DBF0}"/>
              </a:ext>
            </a:extLst>
          </p:cNvPr>
          <p:cNvSpPr>
            <a:spLocks noGrp="1" noChangeArrowheads="1"/>
          </p:cNvSpPr>
          <p:nvPr>
            <p:ph type="ctrTitle"/>
          </p:nvPr>
        </p:nvSpPr>
        <p:spPr/>
        <p:txBody>
          <a:bodyPr/>
          <a:lstStyle/>
          <a:p>
            <a:pPr eaLnBrk="1" hangingPunct="1"/>
            <a:r>
              <a:rPr lang="en-GB" altLang="en-US" sz="3600" dirty="0">
                <a:solidFill>
                  <a:srgbClr val="FF3300"/>
                </a:solidFill>
                <a:latin typeface="Georgia" panose="02040502050405020303" pitchFamily="18" charset="0"/>
              </a:rPr>
              <a:t>HTML5 Animations</a:t>
            </a:r>
          </a:p>
        </p:txBody>
      </p:sp>
      <p:sp>
        <p:nvSpPr>
          <p:cNvPr id="61442" name="Rectangle 3">
            <a:extLst>
              <a:ext uri="{FF2B5EF4-FFF2-40B4-BE49-F238E27FC236}">
                <a16:creationId xmlns:a16="http://schemas.microsoft.com/office/drawing/2014/main" id="{E6C84032-BAD1-4B20-A0F9-2D07B7384F04}"/>
              </a:ext>
            </a:extLst>
          </p:cNvPr>
          <p:cNvSpPr>
            <a:spLocks noGrp="1" noChangeArrowheads="1"/>
          </p:cNvSpPr>
          <p:nvPr>
            <p:ph type="subTitle" idx="1"/>
          </p:nvPr>
        </p:nvSpPr>
        <p:spPr/>
        <p:txBody>
          <a:bodyPr/>
          <a:lstStyle/>
          <a:p>
            <a:pPr eaLnBrk="1" hangingPunct="1"/>
            <a:r>
              <a:rPr lang="en-US" altLang="en-US" dirty="0"/>
              <a:t>                                       -</a:t>
            </a:r>
            <a:r>
              <a:rPr lang="en-US" altLang="en-US" sz="1800" i="1" dirty="0">
                <a:latin typeface="Impact" panose="020B0806030902050204" pitchFamily="34" charset="0"/>
              </a:rPr>
              <a:t>By Basker George</a:t>
            </a:r>
            <a:endParaRPr lang="en-GB" altLang="en-US" sz="1800" i="1" dirty="0">
              <a:latin typeface="Impact" panose="020B080603090205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8DB2DFD0-9A88-4DE0-9D38-BDC2CAA3C69B}"/>
              </a:ext>
            </a:extLst>
          </p:cNvPr>
          <p:cNvSpPr>
            <a:spLocks noGrp="1" noChangeArrowheads="1"/>
          </p:cNvSpPr>
          <p:nvPr>
            <p:ph type="title"/>
          </p:nvPr>
        </p:nvSpPr>
        <p:spPr/>
        <p:txBody>
          <a:bodyPr/>
          <a:lstStyle/>
          <a:p>
            <a:pPr algn="l" eaLnBrk="1" hangingPunct="1"/>
            <a:r>
              <a:rPr lang="en-US" altLang="en-US" sz="3600">
                <a:solidFill>
                  <a:srgbClr val="FF3300"/>
                </a:solidFill>
                <a:latin typeface="Georgia" panose="02040502050405020303" pitchFamily="18" charset="0"/>
              </a:rPr>
              <a:t>Agenda</a:t>
            </a:r>
            <a:endParaRPr lang="en-GB" altLang="en-US" sz="3600">
              <a:solidFill>
                <a:srgbClr val="FF3300"/>
              </a:solidFill>
              <a:latin typeface="Georgia" panose="02040502050405020303" pitchFamily="18" charset="0"/>
            </a:endParaRPr>
          </a:p>
        </p:txBody>
      </p:sp>
      <p:sp>
        <p:nvSpPr>
          <p:cNvPr id="62466" name="Rectangle 3">
            <a:extLst>
              <a:ext uri="{FF2B5EF4-FFF2-40B4-BE49-F238E27FC236}">
                <a16:creationId xmlns:a16="http://schemas.microsoft.com/office/drawing/2014/main" id="{5235F19C-0B7A-41BE-87FC-FE043EFA569D}"/>
              </a:ext>
            </a:extLst>
          </p:cNvPr>
          <p:cNvSpPr>
            <a:spLocks noGrp="1" noChangeArrowheads="1"/>
          </p:cNvSpPr>
          <p:nvPr>
            <p:ph idx="1"/>
          </p:nvPr>
        </p:nvSpPr>
        <p:spPr>
          <a:xfrm>
            <a:off x="1981200" y="1600201"/>
            <a:ext cx="8229600" cy="3886146"/>
          </a:xfrm>
        </p:spPr>
        <p:txBody>
          <a:bodyPr/>
          <a:lstStyle/>
          <a:p>
            <a:pPr marL="609600" indent="-609600"/>
            <a:r>
              <a:rPr lang="en-US" altLang="en-US" b="1" dirty="0">
                <a:latin typeface="Georgia" panose="02040502050405020303" pitchFamily="18" charset="0"/>
              </a:rPr>
              <a:t>CSS3 2D Transforms</a:t>
            </a:r>
          </a:p>
          <a:p>
            <a:pPr marL="609600" indent="-609600"/>
            <a:r>
              <a:rPr lang="en-US" altLang="en-US" b="1" dirty="0">
                <a:latin typeface="Georgia" panose="02040502050405020303" pitchFamily="18" charset="0"/>
              </a:rPr>
              <a:t>CSS3 3D Transforms</a:t>
            </a:r>
          </a:p>
          <a:p>
            <a:pPr marL="609600" indent="-609600"/>
            <a:r>
              <a:rPr lang="en-US" altLang="en-US" b="1" dirty="0">
                <a:latin typeface="Georgia" panose="02040502050405020303" pitchFamily="18" charset="0"/>
              </a:rPr>
              <a:t>CSS3 Transitions</a:t>
            </a:r>
          </a:p>
          <a:p>
            <a:pPr marL="609600" indent="-609600"/>
            <a:r>
              <a:rPr lang="en-US" altLang="en-US" b="1" dirty="0">
                <a:latin typeface="Georgia" panose="02040502050405020303" pitchFamily="18" charset="0"/>
              </a:rPr>
              <a:t>CSS3 Animations</a:t>
            </a:r>
          </a:p>
          <a:p>
            <a:pPr marL="609600" indent="-609600"/>
            <a:r>
              <a:rPr lang="en-US" altLang="en-US" b="1" dirty="0">
                <a:latin typeface="Georgia" panose="02040502050405020303" pitchFamily="18" charset="0"/>
              </a:rPr>
              <a:t>CSS3 Multiple columns</a:t>
            </a:r>
          </a:p>
          <a:p>
            <a:pPr marL="609600" indent="-609600"/>
            <a:r>
              <a:rPr lang="en-US" altLang="en-US" b="1" dirty="0">
                <a:latin typeface="Georgia" panose="02040502050405020303" pitchFamily="18" charset="0"/>
              </a:rPr>
              <a:t>CSS3 selectors</a:t>
            </a:r>
            <a:endParaRPr lang="en-GB" altLang="en-US" b="1" dirty="0">
              <a:latin typeface="Georgia" panose="02040502050405020303"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a:extLst>
              <a:ext uri="{FF2B5EF4-FFF2-40B4-BE49-F238E27FC236}">
                <a16:creationId xmlns:a16="http://schemas.microsoft.com/office/drawing/2014/main" id="{7D289F7E-2952-4CA0-B2BD-E2F54E6B9739}"/>
              </a:ext>
            </a:extLst>
          </p:cNvPr>
          <p:cNvSpPr>
            <a:spLocks noGrp="1" noChangeArrowheads="1"/>
          </p:cNvSpPr>
          <p:nvPr>
            <p:ph type="title" idx="4294967295"/>
          </p:nvPr>
        </p:nvSpPr>
        <p:spPr>
          <a:xfrm>
            <a:off x="0" y="0"/>
            <a:ext cx="8229600" cy="609600"/>
          </a:xfrm>
        </p:spPr>
        <p:txBody>
          <a:bodyPr/>
          <a:lstStyle/>
          <a:p>
            <a:pPr algn="l" eaLnBrk="1" hangingPunct="1"/>
            <a:r>
              <a:rPr lang="en-US" altLang="en-US" sz="3200">
                <a:solidFill>
                  <a:srgbClr val="FF3300"/>
                </a:solidFill>
                <a:latin typeface="Georgia" panose="02040502050405020303" pitchFamily="18" charset="0"/>
              </a:rPr>
              <a:t>6. CSS3 Transforms &amp; Transitions</a:t>
            </a:r>
            <a:endParaRPr lang="en-GB" altLang="en-US" sz="3200">
              <a:solidFill>
                <a:srgbClr val="FF3300"/>
              </a:solidFill>
              <a:latin typeface="Georgia" panose="02040502050405020303" pitchFamily="18" charset="0"/>
            </a:endParaRPr>
          </a:p>
        </p:txBody>
      </p:sp>
      <p:sp>
        <p:nvSpPr>
          <p:cNvPr id="119810" name="Rectangle 3">
            <a:extLst>
              <a:ext uri="{FF2B5EF4-FFF2-40B4-BE49-F238E27FC236}">
                <a16:creationId xmlns:a16="http://schemas.microsoft.com/office/drawing/2014/main" id="{51560F5D-F7F7-49CA-9AAB-A599AC3793AD}"/>
              </a:ext>
            </a:extLst>
          </p:cNvPr>
          <p:cNvSpPr>
            <a:spLocks noGrp="1" noChangeArrowheads="1"/>
          </p:cNvSpPr>
          <p:nvPr>
            <p:ph type="body" idx="4294967295"/>
          </p:nvPr>
        </p:nvSpPr>
        <p:spPr>
          <a:xfrm>
            <a:off x="304952" y="592683"/>
            <a:ext cx="11410565" cy="6036633"/>
          </a:xfrm>
        </p:spPr>
        <p:txBody>
          <a:bodyPr>
            <a:normAutofit fontScale="85000" lnSpcReduction="20000"/>
          </a:bodyPr>
          <a:lstStyle/>
          <a:p>
            <a:pPr>
              <a:buFontTx/>
              <a:buNone/>
            </a:pPr>
            <a:r>
              <a:rPr lang="en-US" altLang="en-US" sz="1900" dirty="0">
                <a:solidFill>
                  <a:srgbClr val="0066CC"/>
                </a:solidFill>
                <a:latin typeface="Georgia" panose="02040502050405020303" pitchFamily="18" charset="0"/>
              </a:rPr>
              <a:t>Transforms</a:t>
            </a:r>
            <a:endParaRPr lang="en-GB" altLang="en-US" sz="1900" dirty="0">
              <a:solidFill>
                <a:srgbClr val="0066CC"/>
              </a:solidFill>
              <a:latin typeface="Georgia" panose="02040502050405020303" pitchFamily="18" charset="0"/>
            </a:endParaRPr>
          </a:p>
          <a:p>
            <a:pPr>
              <a:buFontTx/>
              <a:buNone/>
            </a:pPr>
            <a:r>
              <a:rPr lang="en-GB" altLang="en-US" sz="1600" dirty="0">
                <a:latin typeface="Georgia" panose="02040502050405020303" pitchFamily="18" charset="0"/>
              </a:rPr>
              <a:t>CSS3 transform property lets you </a:t>
            </a:r>
            <a:r>
              <a:rPr lang="en-GB" altLang="en-US" sz="1600" dirty="0">
                <a:solidFill>
                  <a:srgbClr val="0066CC"/>
                </a:solidFill>
                <a:latin typeface="Georgia" panose="02040502050405020303" pitchFamily="18" charset="0"/>
              </a:rPr>
              <a:t>translate</a:t>
            </a:r>
            <a:r>
              <a:rPr lang="en-GB" altLang="en-US" sz="1600" dirty="0">
                <a:latin typeface="Georgia" panose="02040502050405020303" pitchFamily="18" charset="0"/>
              </a:rPr>
              <a:t>, </a:t>
            </a:r>
            <a:r>
              <a:rPr lang="en-GB" altLang="en-US" sz="1600" dirty="0">
                <a:solidFill>
                  <a:srgbClr val="0066CC"/>
                </a:solidFill>
                <a:latin typeface="Georgia" panose="02040502050405020303" pitchFamily="18" charset="0"/>
              </a:rPr>
              <a:t>rotate, scale, or skew any element on the page</a:t>
            </a:r>
            <a:r>
              <a:rPr lang="en-GB" altLang="en-US" sz="1600" dirty="0">
                <a:latin typeface="Georgia" panose="02040502050405020303" pitchFamily="18" charset="0"/>
              </a:rPr>
              <a:t>. </a:t>
            </a:r>
          </a:p>
          <a:p>
            <a:pPr>
              <a:buFontTx/>
              <a:buNone/>
            </a:pPr>
            <a:r>
              <a:rPr lang="en-GB" altLang="en-US" sz="1600" dirty="0">
                <a:latin typeface="Georgia" panose="02040502050405020303" pitchFamily="18" charset="0"/>
              </a:rPr>
              <a:t>While some of these effects were possible using previously existing CSS features</a:t>
            </a:r>
          </a:p>
          <a:p>
            <a:pPr>
              <a:buFontTx/>
              <a:buNone/>
            </a:pPr>
            <a:r>
              <a:rPr lang="en-GB" altLang="en-US" sz="1600" dirty="0">
                <a:latin typeface="Georgia" panose="02040502050405020303" pitchFamily="18" charset="0"/>
              </a:rPr>
              <a:t>(like relative and absolute positioning), CSS3 gives you unprecedented control over many more aspects</a:t>
            </a:r>
          </a:p>
          <a:p>
            <a:pPr>
              <a:buFontTx/>
              <a:buNone/>
            </a:pPr>
            <a:r>
              <a:rPr lang="en-GB" altLang="en-US" sz="1600" dirty="0">
                <a:latin typeface="Georgia" panose="02040502050405020303" pitchFamily="18" charset="0"/>
              </a:rPr>
              <a:t>of an element’s appearance.</a:t>
            </a:r>
          </a:p>
          <a:p>
            <a:pPr>
              <a:buFontTx/>
              <a:buNone/>
            </a:pPr>
            <a:endParaRPr lang="en-GB" altLang="en-US" sz="1600" dirty="0">
              <a:latin typeface="Georgia" panose="02040502050405020303" pitchFamily="18" charset="0"/>
            </a:endParaRPr>
          </a:p>
          <a:p>
            <a:pPr>
              <a:spcBef>
                <a:spcPct val="0"/>
              </a:spcBef>
              <a:buFontTx/>
              <a:buNone/>
            </a:pPr>
            <a:r>
              <a:rPr lang="en-GB" altLang="en-US" sz="1900" dirty="0">
                <a:solidFill>
                  <a:srgbClr val="0066CC"/>
                </a:solidFill>
                <a:latin typeface="Georgia" panose="02040502050405020303" pitchFamily="18" charset="0"/>
              </a:rPr>
              <a:t>Transform-origin: </a:t>
            </a:r>
            <a:r>
              <a:rPr lang="en-GB" altLang="en-US" sz="1600" dirty="0">
                <a:solidFill>
                  <a:srgbClr val="000000"/>
                </a:solidFill>
                <a:ea typeface="Source Sans Pro" panose="020B0503030403020204" pitchFamily="34" charset="0"/>
                <a:cs typeface="Source Sans Pro" panose="020B0503030403020204" pitchFamily="34" charset="0"/>
              </a:rPr>
              <a:t>By default, the origin of a transform is "50% 50%", which is exactly in the </a:t>
            </a:r>
            <a:r>
              <a:rPr lang="en-GB" altLang="en-US" sz="1600" dirty="0" err="1">
                <a:solidFill>
                  <a:srgbClr val="000000"/>
                </a:solidFill>
                <a:ea typeface="Source Sans Pro" panose="020B0503030403020204" pitchFamily="34" charset="0"/>
                <a:cs typeface="Source Sans Pro" panose="020B0503030403020204" pitchFamily="34" charset="0"/>
              </a:rPr>
              <a:t>center</a:t>
            </a:r>
            <a:r>
              <a:rPr lang="en-GB" altLang="en-US" sz="1600" dirty="0">
                <a:solidFill>
                  <a:srgbClr val="000000"/>
                </a:solidFill>
                <a:ea typeface="Source Sans Pro" panose="020B0503030403020204" pitchFamily="34" charset="0"/>
                <a:cs typeface="Source Sans Pro" panose="020B0503030403020204" pitchFamily="34" charset="0"/>
              </a:rPr>
              <a:t> of any given element. Changing the origin to "top left" causes the element to use the top left corner of the element as a rotation point. Values can be lengths, percentages or the keywords </a:t>
            </a:r>
            <a:r>
              <a:rPr lang="en-GB" altLang="en-US" sz="1200" dirty="0">
                <a:solidFill>
                  <a:srgbClr val="000000"/>
                </a:solidFill>
                <a:latin typeface="Arial Unicode MS" panose="020B0604020202020204" pitchFamily="34" charset="-128"/>
                <a:ea typeface="Source Sans Pro" panose="020B0503030403020204" pitchFamily="34" charset="0"/>
                <a:cs typeface="Source Sans Pro" panose="020B0503030403020204" pitchFamily="34" charset="0"/>
              </a:rPr>
              <a:t>top</a:t>
            </a:r>
            <a:r>
              <a:rPr lang="en-GB" altLang="en-US" sz="1600" dirty="0">
                <a:solidFill>
                  <a:srgbClr val="000000"/>
                </a:solidFill>
                <a:ea typeface="Source Sans Pro" panose="020B0503030403020204" pitchFamily="34" charset="0"/>
                <a:cs typeface="Source Sans Pro" panose="020B0503030403020204" pitchFamily="34" charset="0"/>
              </a:rPr>
              <a:t>, </a:t>
            </a:r>
            <a:r>
              <a:rPr lang="en-GB" altLang="en-US" sz="1200" dirty="0">
                <a:solidFill>
                  <a:srgbClr val="000000"/>
                </a:solidFill>
                <a:latin typeface="Arial Unicode MS" panose="020B0604020202020204" pitchFamily="34" charset="-128"/>
                <a:ea typeface="Source Sans Pro" panose="020B0503030403020204" pitchFamily="34" charset="0"/>
                <a:cs typeface="Source Sans Pro" panose="020B0503030403020204" pitchFamily="34" charset="0"/>
              </a:rPr>
              <a:t>left</a:t>
            </a:r>
            <a:r>
              <a:rPr lang="en-GB" altLang="en-US" sz="1600" dirty="0">
                <a:solidFill>
                  <a:srgbClr val="000000"/>
                </a:solidFill>
                <a:ea typeface="Source Sans Pro" panose="020B0503030403020204" pitchFamily="34" charset="0"/>
                <a:cs typeface="Source Sans Pro" panose="020B0503030403020204" pitchFamily="34" charset="0"/>
              </a:rPr>
              <a:t>, </a:t>
            </a:r>
            <a:r>
              <a:rPr lang="en-GB" altLang="en-US" sz="1200" dirty="0">
                <a:solidFill>
                  <a:srgbClr val="000000"/>
                </a:solidFill>
                <a:latin typeface="Arial Unicode MS" panose="020B0604020202020204" pitchFamily="34" charset="-128"/>
                <a:ea typeface="Source Sans Pro" panose="020B0503030403020204" pitchFamily="34" charset="0"/>
                <a:cs typeface="Source Sans Pro" panose="020B0503030403020204" pitchFamily="34" charset="0"/>
              </a:rPr>
              <a:t>right</a:t>
            </a:r>
            <a:r>
              <a:rPr lang="en-GB" altLang="en-US" sz="1600" dirty="0">
                <a:solidFill>
                  <a:srgbClr val="000000"/>
                </a:solidFill>
                <a:ea typeface="Source Sans Pro" panose="020B0503030403020204" pitchFamily="34" charset="0"/>
                <a:cs typeface="Source Sans Pro" panose="020B0503030403020204" pitchFamily="34" charset="0"/>
              </a:rPr>
              <a:t>, </a:t>
            </a:r>
            <a:r>
              <a:rPr lang="en-GB" altLang="en-US" sz="1200" dirty="0">
                <a:solidFill>
                  <a:srgbClr val="000000"/>
                </a:solidFill>
                <a:latin typeface="Arial Unicode MS" panose="020B0604020202020204" pitchFamily="34" charset="-128"/>
                <a:ea typeface="Source Sans Pro" panose="020B0503030403020204" pitchFamily="34" charset="0"/>
                <a:cs typeface="Source Sans Pro" panose="020B0503030403020204" pitchFamily="34" charset="0"/>
              </a:rPr>
              <a:t>bottom</a:t>
            </a:r>
            <a:r>
              <a:rPr lang="en-GB" altLang="en-US" sz="1600" dirty="0">
                <a:solidFill>
                  <a:srgbClr val="000000"/>
                </a:solidFill>
                <a:ea typeface="Source Sans Pro" panose="020B0503030403020204" pitchFamily="34" charset="0"/>
                <a:cs typeface="Source Sans Pro" panose="020B0503030403020204" pitchFamily="34" charset="0"/>
              </a:rPr>
              <a:t>, and </a:t>
            </a:r>
            <a:r>
              <a:rPr lang="en-GB" altLang="en-US" sz="1200" dirty="0" err="1">
                <a:solidFill>
                  <a:srgbClr val="000000"/>
                </a:solidFill>
                <a:latin typeface="Arial Unicode MS" panose="020B0604020202020204" pitchFamily="34" charset="-128"/>
                <a:ea typeface="Source Sans Pro" panose="020B0503030403020204" pitchFamily="34" charset="0"/>
                <a:cs typeface="Source Sans Pro" panose="020B0503030403020204" pitchFamily="34" charset="0"/>
              </a:rPr>
              <a:t>center</a:t>
            </a:r>
            <a:r>
              <a:rPr lang="en-GB" altLang="en-US" sz="1600" dirty="0">
                <a:solidFill>
                  <a:srgbClr val="000000"/>
                </a:solidFill>
                <a:ea typeface="Source Sans Pro" panose="020B0503030403020204" pitchFamily="34" charset="0"/>
                <a:cs typeface="Source Sans Pro" panose="020B0503030403020204" pitchFamily="34" charset="0"/>
              </a:rPr>
              <a:t>. The first value is the horizontal position, the second value is the vertical, and the third value represents the position on the Z axis. The third value will only work if you are using 3D transforms, and it cannot be a percentage.</a:t>
            </a:r>
            <a:endParaRPr lang="en-GB" altLang="en-US" sz="1900" dirty="0"/>
          </a:p>
          <a:p>
            <a:pPr>
              <a:buFontTx/>
              <a:buNone/>
            </a:pPr>
            <a:endParaRPr lang="en-US" altLang="en-US" sz="1600" dirty="0">
              <a:latin typeface="Georgia" panose="02040502050405020303" pitchFamily="18" charset="0"/>
            </a:endParaRPr>
          </a:p>
          <a:p>
            <a:pPr eaLnBrk="1" hangingPunct="1">
              <a:buFontTx/>
              <a:buNone/>
            </a:pPr>
            <a:r>
              <a:rPr lang="en-US" altLang="en-US" sz="1900" dirty="0">
                <a:solidFill>
                  <a:srgbClr val="0066CC"/>
                </a:solidFill>
                <a:latin typeface="Georgia" panose="02040502050405020303" pitchFamily="18" charset="0"/>
              </a:rPr>
              <a:t>Translation</a:t>
            </a:r>
          </a:p>
          <a:p>
            <a:pPr>
              <a:buFontTx/>
              <a:buNone/>
            </a:pPr>
            <a:r>
              <a:rPr lang="en-GB" altLang="en-US" sz="1600" dirty="0">
                <a:latin typeface="Georgia" panose="02040502050405020303" pitchFamily="18" charset="0"/>
              </a:rPr>
              <a:t>Translation functions allow you to move elements </a:t>
            </a:r>
            <a:r>
              <a:rPr lang="en-GB" altLang="en-US" sz="1600" dirty="0">
                <a:solidFill>
                  <a:srgbClr val="0066CC"/>
                </a:solidFill>
                <a:latin typeface="Georgia" panose="02040502050405020303" pitchFamily="18" charset="0"/>
              </a:rPr>
              <a:t>left, right, up, or down</a:t>
            </a:r>
            <a:r>
              <a:rPr lang="en-GB" altLang="en-US" sz="1600" dirty="0">
                <a:latin typeface="Georgia" panose="02040502050405020303" pitchFamily="18" charset="0"/>
              </a:rPr>
              <a:t>.  </a:t>
            </a:r>
          </a:p>
          <a:p>
            <a:pPr>
              <a:buFontTx/>
              <a:buNone/>
            </a:pPr>
            <a:r>
              <a:rPr lang="en-GB" altLang="en-US" sz="1600" dirty="0">
                <a:latin typeface="Georgia" panose="02040502050405020303" pitchFamily="18" charset="0"/>
              </a:rPr>
              <a:t>These functions are similar to the behaviour of position: relative; where you declare top and left. </a:t>
            </a:r>
          </a:p>
          <a:p>
            <a:pPr>
              <a:buFontTx/>
              <a:buNone/>
            </a:pPr>
            <a:r>
              <a:rPr lang="en-GB" altLang="en-US" sz="1600" dirty="0">
                <a:latin typeface="Georgia" panose="02040502050405020303" pitchFamily="18" charset="0"/>
              </a:rPr>
              <a:t>When you employ a translation function, you’re moving elements </a:t>
            </a:r>
            <a:r>
              <a:rPr lang="en-GB" altLang="en-US" sz="1600" dirty="0">
                <a:solidFill>
                  <a:srgbClr val="0066CC"/>
                </a:solidFill>
                <a:latin typeface="Georgia" panose="02040502050405020303" pitchFamily="18" charset="0"/>
              </a:rPr>
              <a:t>without impacting the flow of the</a:t>
            </a:r>
          </a:p>
          <a:p>
            <a:pPr>
              <a:buFontTx/>
              <a:buNone/>
            </a:pPr>
            <a:r>
              <a:rPr lang="en-GB" altLang="en-US" sz="1600" dirty="0">
                <a:solidFill>
                  <a:srgbClr val="0066CC"/>
                </a:solidFill>
                <a:latin typeface="Georgia" panose="02040502050405020303" pitchFamily="18" charset="0"/>
              </a:rPr>
              <a:t>document</a:t>
            </a:r>
            <a:r>
              <a:rPr lang="en-GB" altLang="en-US" sz="1600" dirty="0">
                <a:latin typeface="Georgia" panose="02040502050405020303" pitchFamily="18" charset="0"/>
              </a:rPr>
              <a:t>.</a:t>
            </a:r>
          </a:p>
          <a:p>
            <a:pPr>
              <a:buFontTx/>
              <a:buNone/>
            </a:pPr>
            <a:endParaRPr lang="en-GB" altLang="en-US" sz="1600" dirty="0">
              <a:latin typeface="Georgia" panose="02040502050405020303" pitchFamily="18" charset="0"/>
            </a:endParaRPr>
          </a:p>
          <a:p>
            <a:pPr>
              <a:buFontTx/>
              <a:buNone/>
            </a:pPr>
            <a:r>
              <a:rPr lang="en-GB" altLang="en-US" sz="1600" dirty="0">
                <a:latin typeface="Georgia" panose="02040502050405020303" pitchFamily="18" charset="0"/>
              </a:rPr>
              <a:t>Unlike position: relative, which allows you to position an element either against its current position or</a:t>
            </a:r>
          </a:p>
          <a:p>
            <a:pPr>
              <a:buFontTx/>
              <a:buNone/>
            </a:pPr>
            <a:r>
              <a:rPr lang="en-GB" altLang="en-US" sz="1600" dirty="0">
                <a:latin typeface="Georgia" panose="02040502050405020303" pitchFamily="18" charset="0"/>
              </a:rPr>
              <a:t>against a parent or other ancestor, a </a:t>
            </a:r>
            <a:r>
              <a:rPr lang="en-GB" altLang="en-US" sz="1600" dirty="0">
                <a:solidFill>
                  <a:srgbClr val="0066CC"/>
                </a:solidFill>
                <a:latin typeface="Georgia" panose="02040502050405020303" pitchFamily="18" charset="0"/>
              </a:rPr>
              <a:t>translated element can only be moved relative to its current</a:t>
            </a:r>
          </a:p>
          <a:p>
            <a:pPr>
              <a:buFontTx/>
              <a:buNone/>
            </a:pPr>
            <a:r>
              <a:rPr lang="en-GB" altLang="en-US" sz="1600" dirty="0">
                <a:solidFill>
                  <a:srgbClr val="0066CC"/>
                </a:solidFill>
                <a:latin typeface="Georgia" panose="02040502050405020303" pitchFamily="18" charset="0"/>
              </a:rPr>
              <a:t>position</a:t>
            </a:r>
            <a:r>
              <a:rPr lang="en-GB" altLang="en-US" sz="1600" dirty="0">
                <a:latin typeface="Georgia" panose="02040502050405020303" pitchFamily="18" charset="0"/>
              </a:rPr>
              <a:t>.</a:t>
            </a:r>
            <a:br>
              <a:rPr lang="en-GB" altLang="en-US" sz="1600" dirty="0">
                <a:latin typeface="Georgia" panose="02040502050405020303" pitchFamily="18" charset="0"/>
              </a:rPr>
            </a:br>
            <a:endParaRPr lang="en-GB" altLang="en-US" sz="1600" dirty="0">
              <a:latin typeface="Georgia" panose="02040502050405020303" pitchFamily="18" charset="0"/>
            </a:endParaRPr>
          </a:p>
          <a:p>
            <a:pPr>
              <a:buFontTx/>
              <a:buNone/>
            </a:pPr>
            <a:r>
              <a:rPr lang="en-GB" altLang="en-US" sz="1600" dirty="0">
                <a:latin typeface="Georgia" panose="02040502050405020303" pitchFamily="18" charset="0"/>
              </a:rPr>
              <a:t>The translate(</a:t>
            </a:r>
            <a:r>
              <a:rPr lang="en-GB" altLang="en-US" sz="1600" dirty="0" err="1">
                <a:latin typeface="Georgia" panose="02040502050405020303" pitchFamily="18" charset="0"/>
              </a:rPr>
              <a:t>x,y</a:t>
            </a:r>
            <a:r>
              <a:rPr lang="en-GB" altLang="en-US" sz="1600" dirty="0">
                <a:latin typeface="Georgia" panose="02040502050405020303" pitchFamily="18" charset="0"/>
              </a:rPr>
              <a:t>) function moves an element by </a:t>
            </a:r>
            <a:r>
              <a:rPr lang="en-GB" altLang="en-US" sz="1600" dirty="0">
                <a:solidFill>
                  <a:srgbClr val="0066CC"/>
                </a:solidFill>
                <a:latin typeface="Georgia" panose="02040502050405020303" pitchFamily="18" charset="0"/>
              </a:rPr>
              <a:t>x from the left, and y from the top</a:t>
            </a:r>
            <a:r>
              <a:rPr lang="en-GB" altLang="en-US" sz="1600" dirty="0">
                <a:latin typeface="Georgia" panose="02040502050405020303" pitchFamily="18" charset="0"/>
              </a:rPr>
              <a:t>:</a:t>
            </a:r>
            <a:br>
              <a:rPr lang="en-GB" altLang="en-US" sz="1600" dirty="0">
                <a:solidFill>
                  <a:srgbClr val="0066CC"/>
                </a:solidFill>
                <a:latin typeface="Georgia" panose="02040502050405020303" pitchFamily="18" charset="0"/>
              </a:rPr>
            </a:br>
            <a:endParaRPr lang="en-US" altLang="en-US" sz="1600" dirty="0">
              <a:solidFill>
                <a:srgbClr val="0066CC"/>
              </a:solidFill>
              <a:latin typeface="Georgia" panose="02040502050405020303" pitchFamily="18" charset="0"/>
            </a:endParaRPr>
          </a:p>
        </p:txBody>
      </p:sp>
      <p:sp>
        <p:nvSpPr>
          <p:cNvPr id="119811" name="Rectangle 5">
            <a:extLst>
              <a:ext uri="{FF2B5EF4-FFF2-40B4-BE49-F238E27FC236}">
                <a16:creationId xmlns:a16="http://schemas.microsoft.com/office/drawing/2014/main" id="{57E58DA8-E745-4EF1-9AC0-09EC73C59DC0}"/>
              </a:ext>
            </a:extLst>
          </p:cNvPr>
          <p:cNvSpPr>
            <a:spLocks noChangeArrowheads="1"/>
          </p:cNvSpPr>
          <p:nvPr/>
        </p:nvSpPr>
        <p:spPr bwMode="auto">
          <a:xfrm>
            <a:off x="1524000" y="90102"/>
            <a:ext cx="19295" cy="276999"/>
          </a:xfrm>
          <a:prstGeom prst="rect">
            <a:avLst/>
          </a:prstGeom>
          <a:solidFill>
            <a:srgbClr val="EEEEE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761" tIns="0" rIns="14283" bIns="0" anchor="ctr">
            <a:spAutoFit/>
          </a:bodyPr>
          <a:lstStyle/>
          <a:p>
            <a:pPr eaLnBrk="0" hangingPunct="0"/>
            <a:endParaRPr lang="en-GB"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a:extLst>
              <a:ext uri="{FF2B5EF4-FFF2-40B4-BE49-F238E27FC236}">
                <a16:creationId xmlns:a16="http://schemas.microsoft.com/office/drawing/2014/main" id="{27D7E3F2-58FE-4C8C-BF95-A2CEE13D8191}"/>
              </a:ext>
            </a:extLst>
          </p:cNvPr>
          <p:cNvSpPr>
            <a:spLocks noGrp="1" noChangeArrowheads="1"/>
          </p:cNvSpPr>
          <p:nvPr>
            <p:ph type="title" idx="4294967295"/>
          </p:nvPr>
        </p:nvSpPr>
        <p:spPr>
          <a:xfrm>
            <a:off x="0" y="0"/>
            <a:ext cx="8229600" cy="1143000"/>
          </a:xfrm>
        </p:spPr>
        <p:txBody>
          <a:bodyPr/>
          <a:lstStyle/>
          <a:p>
            <a:pPr algn="l" eaLnBrk="1" hangingPunct="1"/>
            <a:r>
              <a:rPr lang="en-US" altLang="en-US" sz="3200">
                <a:solidFill>
                  <a:srgbClr val="FF3300"/>
                </a:solidFill>
                <a:latin typeface="Georgia" panose="02040502050405020303" pitchFamily="18" charset="0"/>
              </a:rPr>
              <a:t>6. CSS3 Transforms &amp; Transitions</a:t>
            </a:r>
            <a:endParaRPr lang="en-GB" altLang="en-US" sz="3200">
              <a:solidFill>
                <a:srgbClr val="FF3300"/>
              </a:solidFill>
              <a:latin typeface="Georgia" panose="02040502050405020303" pitchFamily="18" charset="0"/>
            </a:endParaRPr>
          </a:p>
        </p:txBody>
      </p:sp>
      <p:sp>
        <p:nvSpPr>
          <p:cNvPr id="121858" name="Rectangle 3">
            <a:extLst>
              <a:ext uri="{FF2B5EF4-FFF2-40B4-BE49-F238E27FC236}">
                <a16:creationId xmlns:a16="http://schemas.microsoft.com/office/drawing/2014/main" id="{EF83C3F4-3EE2-4C0B-BC45-0E9B34F35222}"/>
              </a:ext>
            </a:extLst>
          </p:cNvPr>
          <p:cNvSpPr>
            <a:spLocks noGrp="1" noChangeArrowheads="1"/>
          </p:cNvSpPr>
          <p:nvPr>
            <p:ph type="body" idx="4294967295"/>
          </p:nvPr>
        </p:nvSpPr>
        <p:spPr>
          <a:xfrm>
            <a:off x="3810000" y="1143000"/>
            <a:ext cx="8382000" cy="4876800"/>
          </a:xfrm>
        </p:spPr>
        <p:txBody>
          <a:bodyPr/>
          <a:lstStyle/>
          <a:p>
            <a:pPr>
              <a:buFontTx/>
              <a:buNone/>
            </a:pPr>
            <a:endParaRPr lang="en-GB" altLang="en-US" sz="1400">
              <a:latin typeface="Georgia" panose="02040502050405020303" pitchFamily="18" charset="0"/>
            </a:endParaRPr>
          </a:p>
          <a:p>
            <a:pPr>
              <a:buFontTx/>
              <a:buNone/>
            </a:pPr>
            <a:r>
              <a:rPr lang="en-US" altLang="en-US" sz="1600">
                <a:solidFill>
                  <a:srgbClr val="0066CC"/>
                </a:solidFill>
                <a:latin typeface="Georgia" panose="02040502050405020303" pitchFamily="18" charset="0"/>
              </a:rPr>
              <a:t>Examples</a:t>
            </a:r>
            <a:endParaRPr lang="en-GB" altLang="en-US" sz="1600">
              <a:solidFill>
                <a:srgbClr val="0066CC"/>
              </a:solidFill>
              <a:latin typeface="Georgia" panose="02040502050405020303" pitchFamily="18" charset="0"/>
            </a:endParaRPr>
          </a:p>
          <a:p>
            <a:pPr>
              <a:buFontTx/>
              <a:buNone/>
            </a:pPr>
            <a:endParaRPr lang="en-GB" altLang="en-US" sz="1400">
              <a:latin typeface="Georgia" panose="02040502050405020303" pitchFamily="18" charset="0"/>
            </a:endParaRPr>
          </a:p>
          <a:p>
            <a:pPr eaLnBrk="1" hangingPunct="1">
              <a:buFontTx/>
              <a:buNone/>
            </a:pPr>
            <a:endParaRPr lang="en-GB" altLang="en-US"/>
          </a:p>
          <a:p>
            <a:pPr eaLnBrk="1" hangingPunct="1">
              <a:buFontTx/>
              <a:buNone/>
            </a:pPr>
            <a:br>
              <a:rPr lang="en-GB" altLang="en-US" sz="2000">
                <a:solidFill>
                  <a:srgbClr val="0066CC"/>
                </a:solidFill>
                <a:latin typeface="Georgia" panose="02040502050405020303" pitchFamily="18" charset="0"/>
              </a:rPr>
            </a:br>
            <a:endParaRPr lang="en-US" altLang="en-US" sz="2000">
              <a:solidFill>
                <a:srgbClr val="0066CC"/>
              </a:solidFill>
              <a:latin typeface="Georgia" panose="02040502050405020303" pitchFamily="18" charset="0"/>
            </a:endParaRPr>
          </a:p>
        </p:txBody>
      </p:sp>
      <p:pic>
        <p:nvPicPr>
          <p:cNvPr id="121859" name="Picture 4">
            <a:extLst>
              <a:ext uri="{FF2B5EF4-FFF2-40B4-BE49-F238E27FC236}">
                <a16:creationId xmlns:a16="http://schemas.microsoft.com/office/drawing/2014/main" id="{6126494D-A460-46BD-A7FB-5A4CBA1A8B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828801"/>
            <a:ext cx="2362200" cy="134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0" name="Text Box 5">
            <a:extLst>
              <a:ext uri="{FF2B5EF4-FFF2-40B4-BE49-F238E27FC236}">
                <a16:creationId xmlns:a16="http://schemas.microsoft.com/office/drawing/2014/main" id="{9C1196CE-DB13-418B-BAEB-30AC427F3D2B}"/>
              </a:ext>
            </a:extLst>
          </p:cNvPr>
          <p:cNvSpPr txBox="1">
            <a:spLocks noChangeArrowheads="1"/>
          </p:cNvSpPr>
          <p:nvPr/>
        </p:nvSpPr>
        <p:spPr bwMode="auto">
          <a:xfrm>
            <a:off x="4572000" y="1828800"/>
            <a:ext cx="566052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GB" altLang="en-US" sz="1400">
                <a:latin typeface="Georgia" panose="02040502050405020303" pitchFamily="18" charset="0"/>
              </a:rPr>
              <a:t>let’s say we want to move the word “dukes” over to the right when the</a:t>
            </a:r>
          </a:p>
          <a:p>
            <a:r>
              <a:rPr lang="en-GB" altLang="en-US" sz="1400">
                <a:latin typeface="Georgia" panose="02040502050405020303" pitchFamily="18" charset="0"/>
              </a:rPr>
              <a:t>user hovers over it,</a:t>
            </a:r>
          </a:p>
        </p:txBody>
      </p:sp>
      <p:sp>
        <p:nvSpPr>
          <p:cNvPr id="121861" name="Text Box 6">
            <a:extLst>
              <a:ext uri="{FF2B5EF4-FFF2-40B4-BE49-F238E27FC236}">
                <a16:creationId xmlns:a16="http://schemas.microsoft.com/office/drawing/2014/main" id="{3B086857-639D-4803-97FA-946A850E9985}"/>
              </a:ext>
            </a:extLst>
          </p:cNvPr>
          <p:cNvSpPr txBox="1">
            <a:spLocks noChangeArrowheads="1"/>
          </p:cNvSpPr>
          <p:nvPr/>
        </p:nvSpPr>
        <p:spPr bwMode="auto">
          <a:xfrm>
            <a:off x="4632326" y="2449513"/>
            <a:ext cx="3169457"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GB" altLang="en-US" sz="1400">
                <a:latin typeface="Georgia" panose="02040502050405020303" pitchFamily="18" charset="0"/>
              </a:rPr>
              <a:t>#ourExample h1:hover span {</a:t>
            </a:r>
          </a:p>
          <a:p>
            <a:r>
              <a:rPr lang="en-GB" altLang="en-US" sz="1400">
                <a:latin typeface="Georgia" panose="02040502050405020303" pitchFamily="18" charset="0"/>
              </a:rPr>
              <a:t>color: #484848;</a:t>
            </a:r>
          </a:p>
          <a:p>
            <a:r>
              <a:rPr lang="en-GB" altLang="en-US" sz="1400">
                <a:latin typeface="Georgia" panose="02040502050405020303" pitchFamily="18" charset="0"/>
              </a:rPr>
              <a:t>-webkit-transform: translateX(40px);</a:t>
            </a:r>
          </a:p>
          <a:p>
            <a:r>
              <a:rPr lang="en-GB" altLang="en-US" sz="1400">
                <a:latin typeface="Georgia" panose="02040502050405020303" pitchFamily="18" charset="0"/>
              </a:rPr>
              <a:t>-moz-transform: translateX(40px);</a:t>
            </a:r>
          </a:p>
          <a:p>
            <a:r>
              <a:rPr lang="en-GB" altLang="en-US" sz="1400">
                <a:latin typeface="Georgia" panose="02040502050405020303" pitchFamily="18" charset="0"/>
              </a:rPr>
              <a:t>-ms-transform: translateX(40px);</a:t>
            </a:r>
          </a:p>
          <a:p>
            <a:r>
              <a:rPr lang="en-GB" altLang="en-US" sz="1400">
                <a:latin typeface="Georgia" panose="02040502050405020303" pitchFamily="18" charset="0"/>
              </a:rPr>
              <a:t>-o-transform:translateX(40px);</a:t>
            </a:r>
          </a:p>
          <a:p>
            <a:r>
              <a:rPr lang="en-GB" altLang="en-US" sz="1400">
                <a:latin typeface="Georgia" panose="02040502050405020303" pitchFamily="18" charset="0"/>
              </a:rPr>
              <a:t>transform: translateX(40px);</a:t>
            </a:r>
          </a:p>
          <a:p>
            <a:r>
              <a:rPr lang="en-GB" altLang="en-US" sz="1400">
                <a:latin typeface="Georgia" panose="02040502050405020303" pitchFamily="18" charset="0"/>
              </a:rPr>
              <a:t>}</a:t>
            </a:r>
          </a:p>
        </p:txBody>
      </p:sp>
      <p:pic>
        <p:nvPicPr>
          <p:cNvPr id="121862" name="Picture 7">
            <a:extLst>
              <a:ext uri="{FF2B5EF4-FFF2-40B4-BE49-F238E27FC236}">
                <a16:creationId xmlns:a16="http://schemas.microsoft.com/office/drawing/2014/main" id="{C3E1F83E-68D3-4E4C-864B-6909C969ED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4419600"/>
            <a:ext cx="3276600" cy="165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2">
            <a:extLst>
              <a:ext uri="{FF2B5EF4-FFF2-40B4-BE49-F238E27FC236}">
                <a16:creationId xmlns:a16="http://schemas.microsoft.com/office/drawing/2014/main" id="{87027EC1-3157-49F3-A362-48FCB98BDBF5}"/>
              </a:ext>
            </a:extLst>
          </p:cNvPr>
          <p:cNvSpPr>
            <a:spLocks noGrp="1" noChangeArrowheads="1"/>
          </p:cNvSpPr>
          <p:nvPr>
            <p:ph type="title" idx="4294967295"/>
          </p:nvPr>
        </p:nvSpPr>
        <p:spPr>
          <a:xfrm>
            <a:off x="0" y="0"/>
            <a:ext cx="8229600" cy="1143000"/>
          </a:xfrm>
        </p:spPr>
        <p:txBody>
          <a:bodyPr/>
          <a:lstStyle/>
          <a:p>
            <a:pPr algn="l" eaLnBrk="1" hangingPunct="1"/>
            <a:r>
              <a:rPr lang="en-US" altLang="en-US" sz="3200">
                <a:solidFill>
                  <a:srgbClr val="FF3300"/>
                </a:solidFill>
                <a:latin typeface="Georgia" panose="02040502050405020303" pitchFamily="18" charset="0"/>
              </a:rPr>
              <a:t>6. CSS3 Transforms &amp; Transitions</a:t>
            </a:r>
            <a:endParaRPr lang="en-GB" altLang="en-US" sz="3200">
              <a:solidFill>
                <a:srgbClr val="FF3300"/>
              </a:solidFill>
              <a:latin typeface="Georgia" panose="02040502050405020303" pitchFamily="18" charset="0"/>
            </a:endParaRPr>
          </a:p>
        </p:txBody>
      </p:sp>
      <p:sp>
        <p:nvSpPr>
          <p:cNvPr id="123906" name="Rectangle 3">
            <a:extLst>
              <a:ext uri="{FF2B5EF4-FFF2-40B4-BE49-F238E27FC236}">
                <a16:creationId xmlns:a16="http://schemas.microsoft.com/office/drawing/2014/main" id="{DCD98468-B727-4647-B2DD-C4648C2B2C9D}"/>
              </a:ext>
            </a:extLst>
          </p:cNvPr>
          <p:cNvSpPr>
            <a:spLocks noGrp="1" noChangeArrowheads="1"/>
          </p:cNvSpPr>
          <p:nvPr>
            <p:ph type="body" idx="4294967295"/>
          </p:nvPr>
        </p:nvSpPr>
        <p:spPr>
          <a:xfrm>
            <a:off x="3810000" y="1143000"/>
            <a:ext cx="8382000" cy="5562600"/>
          </a:xfrm>
        </p:spPr>
        <p:txBody>
          <a:bodyPr/>
          <a:lstStyle/>
          <a:p>
            <a:pPr>
              <a:buFontTx/>
              <a:buNone/>
            </a:pPr>
            <a:endParaRPr lang="en-GB" altLang="en-US" sz="1400">
              <a:latin typeface="Georgia" panose="02040502050405020303" pitchFamily="18" charset="0"/>
            </a:endParaRPr>
          </a:p>
          <a:p>
            <a:pPr>
              <a:buFontTx/>
              <a:buNone/>
            </a:pPr>
            <a:r>
              <a:rPr lang="en-US" altLang="en-US" sz="1600">
                <a:solidFill>
                  <a:srgbClr val="0066CC"/>
                </a:solidFill>
                <a:latin typeface="Georgia" panose="02040502050405020303" pitchFamily="18" charset="0"/>
              </a:rPr>
              <a:t>Scaling</a:t>
            </a:r>
            <a:endParaRPr lang="en-GB" altLang="en-US" sz="1600">
              <a:solidFill>
                <a:srgbClr val="0066CC"/>
              </a:solidFill>
              <a:latin typeface="Georgia" panose="02040502050405020303" pitchFamily="18" charset="0"/>
            </a:endParaRPr>
          </a:p>
          <a:p>
            <a:pPr>
              <a:buFontTx/>
              <a:buNone/>
            </a:pPr>
            <a:endParaRPr lang="en-GB" altLang="en-US" sz="1400">
              <a:latin typeface="Georgia" panose="02040502050405020303" pitchFamily="18" charset="0"/>
            </a:endParaRPr>
          </a:p>
          <a:p>
            <a:pPr eaLnBrk="1" hangingPunct="1">
              <a:buFontTx/>
              <a:buNone/>
            </a:pPr>
            <a:endParaRPr lang="en-GB" altLang="en-US"/>
          </a:p>
          <a:p>
            <a:pPr eaLnBrk="1" hangingPunct="1">
              <a:buFontTx/>
              <a:buNone/>
            </a:pPr>
            <a:br>
              <a:rPr lang="en-GB" altLang="en-US" sz="2000">
                <a:solidFill>
                  <a:srgbClr val="0066CC"/>
                </a:solidFill>
                <a:latin typeface="Georgia" panose="02040502050405020303" pitchFamily="18" charset="0"/>
              </a:rPr>
            </a:br>
            <a:endParaRPr lang="en-US" altLang="en-US" sz="2000">
              <a:solidFill>
                <a:srgbClr val="0066CC"/>
              </a:solidFill>
              <a:latin typeface="Georgia" panose="02040502050405020303" pitchFamily="18" charset="0"/>
            </a:endParaRPr>
          </a:p>
        </p:txBody>
      </p:sp>
      <p:pic>
        <p:nvPicPr>
          <p:cNvPr id="123907" name="Picture 4">
            <a:extLst>
              <a:ext uri="{FF2B5EF4-FFF2-40B4-BE49-F238E27FC236}">
                <a16:creationId xmlns:a16="http://schemas.microsoft.com/office/drawing/2014/main" id="{4EF96486-3A1A-477D-AE97-097F33E8DB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2514601"/>
            <a:ext cx="2362200" cy="134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08" name="Text Box 5">
            <a:extLst>
              <a:ext uri="{FF2B5EF4-FFF2-40B4-BE49-F238E27FC236}">
                <a16:creationId xmlns:a16="http://schemas.microsoft.com/office/drawing/2014/main" id="{8819EAC5-1A34-4300-882C-6E65373F84EC}"/>
              </a:ext>
            </a:extLst>
          </p:cNvPr>
          <p:cNvSpPr txBox="1">
            <a:spLocks noChangeArrowheads="1"/>
          </p:cNvSpPr>
          <p:nvPr/>
        </p:nvSpPr>
        <p:spPr bwMode="auto">
          <a:xfrm>
            <a:off x="2057400" y="1752600"/>
            <a:ext cx="8229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GB" altLang="en-US" sz="1400">
                <a:latin typeface="Georgia" panose="02040502050405020303" pitchFamily="18" charset="0"/>
              </a:rPr>
              <a:t>The scale(x,y) function scales an element by the defined factors horizontally and vertically, espectively. If only one value is provided, it will be used for both the x and y scaling.</a:t>
            </a:r>
          </a:p>
        </p:txBody>
      </p:sp>
      <p:sp>
        <p:nvSpPr>
          <p:cNvPr id="123909" name="Text Box 6">
            <a:extLst>
              <a:ext uri="{FF2B5EF4-FFF2-40B4-BE49-F238E27FC236}">
                <a16:creationId xmlns:a16="http://schemas.microsoft.com/office/drawing/2014/main" id="{D187B80C-078F-4BFD-BD03-9EE5EC11AA88}"/>
              </a:ext>
            </a:extLst>
          </p:cNvPr>
          <p:cNvSpPr txBox="1">
            <a:spLocks noChangeArrowheads="1"/>
          </p:cNvSpPr>
          <p:nvPr/>
        </p:nvSpPr>
        <p:spPr bwMode="auto">
          <a:xfrm>
            <a:off x="4572001" y="3200400"/>
            <a:ext cx="4087979"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GB" altLang="en-US" sz="1400">
                <a:latin typeface="Georgia" panose="02040502050405020303" pitchFamily="18" charset="0"/>
              </a:rPr>
              <a:t>#ourExample h1:hover span {</a:t>
            </a:r>
          </a:p>
          <a:p>
            <a:r>
              <a:rPr lang="en-GB" altLang="en-US" sz="1400">
                <a:latin typeface="Georgia" panose="02040502050405020303" pitchFamily="18" charset="0"/>
              </a:rPr>
              <a:t>color: #484848;</a:t>
            </a:r>
          </a:p>
          <a:p>
            <a:r>
              <a:rPr lang="en-GB" altLang="en-US" sz="1400">
                <a:latin typeface="Georgia" panose="02040502050405020303" pitchFamily="18" charset="0"/>
              </a:rPr>
              <a:t>-webkit-transform: translateX(40px) </a:t>
            </a:r>
            <a:r>
              <a:rPr lang="en-GB" altLang="en-US" sz="1400" b="1">
                <a:latin typeface="Georgia" panose="02040502050405020303" pitchFamily="18" charset="0"/>
              </a:rPr>
              <a:t>scale(1.5)</a:t>
            </a:r>
            <a:r>
              <a:rPr lang="en-GB" altLang="en-US" sz="1400">
                <a:latin typeface="Georgia" panose="02040502050405020303" pitchFamily="18" charset="0"/>
              </a:rPr>
              <a:t>;</a:t>
            </a:r>
          </a:p>
          <a:p>
            <a:r>
              <a:rPr lang="en-GB" altLang="en-US" sz="1400">
                <a:latin typeface="Georgia" panose="02040502050405020303" pitchFamily="18" charset="0"/>
              </a:rPr>
              <a:t>-moz-transform: translateX(40px) </a:t>
            </a:r>
            <a:r>
              <a:rPr lang="en-GB" altLang="en-US" sz="1400" b="1">
                <a:latin typeface="Georgia" panose="02040502050405020303" pitchFamily="18" charset="0"/>
              </a:rPr>
              <a:t>scale(1.5)</a:t>
            </a:r>
            <a:r>
              <a:rPr lang="en-GB" altLang="en-US" sz="1400">
                <a:latin typeface="Georgia" panose="02040502050405020303" pitchFamily="18" charset="0"/>
              </a:rPr>
              <a:t>;</a:t>
            </a:r>
          </a:p>
          <a:p>
            <a:r>
              <a:rPr lang="en-GB" altLang="en-US" sz="1400">
                <a:latin typeface="Georgia" panose="02040502050405020303" pitchFamily="18" charset="0"/>
              </a:rPr>
              <a:t>-ms-transform: translateX(40px) </a:t>
            </a:r>
            <a:r>
              <a:rPr lang="en-GB" altLang="en-US" sz="1400" b="1">
                <a:latin typeface="Georgia" panose="02040502050405020303" pitchFamily="18" charset="0"/>
              </a:rPr>
              <a:t>scale(1.5)</a:t>
            </a:r>
            <a:r>
              <a:rPr lang="en-GB" altLang="en-US" sz="1400">
                <a:latin typeface="Georgia" panose="02040502050405020303" pitchFamily="18" charset="0"/>
              </a:rPr>
              <a:t>;</a:t>
            </a:r>
          </a:p>
          <a:p>
            <a:r>
              <a:rPr lang="en-GB" altLang="en-US" sz="1400">
                <a:latin typeface="Georgia" panose="02040502050405020303" pitchFamily="18" charset="0"/>
              </a:rPr>
              <a:t>-o-transform:translateX(40px) </a:t>
            </a:r>
            <a:r>
              <a:rPr lang="en-GB" altLang="en-US" sz="1400" b="1">
                <a:latin typeface="Georgia" panose="02040502050405020303" pitchFamily="18" charset="0"/>
              </a:rPr>
              <a:t>scale(1.5)</a:t>
            </a:r>
            <a:r>
              <a:rPr lang="en-GB" altLang="en-US" sz="1400">
                <a:latin typeface="Georgia" panose="02040502050405020303" pitchFamily="18" charset="0"/>
              </a:rPr>
              <a:t>;</a:t>
            </a:r>
          </a:p>
          <a:p>
            <a:r>
              <a:rPr lang="en-GB" altLang="en-US" sz="1400">
                <a:latin typeface="Georgia" panose="02040502050405020303" pitchFamily="18" charset="0"/>
              </a:rPr>
              <a:t>transform: translateX(40px) </a:t>
            </a:r>
            <a:r>
              <a:rPr lang="en-GB" altLang="en-US" sz="1400" b="1">
                <a:latin typeface="Georgia" panose="02040502050405020303" pitchFamily="18" charset="0"/>
              </a:rPr>
              <a:t>scale(1.5)</a:t>
            </a:r>
            <a:r>
              <a:rPr lang="en-GB" altLang="en-US" sz="1400">
                <a:latin typeface="Georgia" panose="02040502050405020303" pitchFamily="18" charset="0"/>
              </a:rPr>
              <a:t>;</a:t>
            </a:r>
          </a:p>
          <a:p>
            <a:r>
              <a:rPr lang="en-GB" altLang="en-US" sz="1400">
                <a:latin typeface="Georgia" panose="02040502050405020303" pitchFamily="18" charset="0"/>
              </a:rPr>
              <a:t>}</a:t>
            </a:r>
          </a:p>
        </p:txBody>
      </p:sp>
      <p:sp>
        <p:nvSpPr>
          <p:cNvPr id="123910" name="Text Box 8">
            <a:extLst>
              <a:ext uri="{FF2B5EF4-FFF2-40B4-BE49-F238E27FC236}">
                <a16:creationId xmlns:a16="http://schemas.microsoft.com/office/drawing/2014/main" id="{D4839A5F-9C22-4CAB-96BE-2737EB1B3408}"/>
              </a:ext>
            </a:extLst>
          </p:cNvPr>
          <p:cNvSpPr txBox="1">
            <a:spLocks noChangeArrowheads="1"/>
          </p:cNvSpPr>
          <p:nvPr/>
        </p:nvSpPr>
        <p:spPr bwMode="auto">
          <a:xfrm>
            <a:off x="4708525" y="2525713"/>
            <a:ext cx="24320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en-US" sz="1400">
                <a:latin typeface="Georgia" panose="02040502050405020303" pitchFamily="18" charset="0"/>
              </a:rPr>
              <a:t>Lets  scale the same example</a:t>
            </a:r>
            <a:endParaRPr lang="en-GB" altLang="en-US" sz="1400">
              <a:latin typeface="Georgia" panose="02040502050405020303" pitchFamily="18" charset="0"/>
            </a:endParaRPr>
          </a:p>
        </p:txBody>
      </p:sp>
      <p:pic>
        <p:nvPicPr>
          <p:cNvPr id="123911" name="Picture 9">
            <a:extLst>
              <a:ext uri="{FF2B5EF4-FFF2-40B4-BE49-F238E27FC236}">
                <a16:creationId xmlns:a16="http://schemas.microsoft.com/office/drawing/2014/main" id="{81AF7FEE-0BD3-42B5-BBD0-75EBC41234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5029201"/>
            <a:ext cx="3581400" cy="16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a:extLst>
              <a:ext uri="{FF2B5EF4-FFF2-40B4-BE49-F238E27FC236}">
                <a16:creationId xmlns:a16="http://schemas.microsoft.com/office/drawing/2014/main" id="{A287F8AB-C791-4809-B125-34D7E086A40E}"/>
              </a:ext>
            </a:extLst>
          </p:cNvPr>
          <p:cNvSpPr>
            <a:spLocks noGrp="1" noChangeArrowheads="1"/>
          </p:cNvSpPr>
          <p:nvPr>
            <p:ph type="title" idx="4294967295"/>
          </p:nvPr>
        </p:nvSpPr>
        <p:spPr>
          <a:xfrm>
            <a:off x="0" y="0"/>
            <a:ext cx="8229600" cy="1143000"/>
          </a:xfrm>
        </p:spPr>
        <p:txBody>
          <a:bodyPr/>
          <a:lstStyle/>
          <a:p>
            <a:pPr algn="l" eaLnBrk="1" hangingPunct="1"/>
            <a:r>
              <a:rPr lang="en-US" altLang="en-US" sz="3200">
                <a:solidFill>
                  <a:srgbClr val="FF3300"/>
                </a:solidFill>
                <a:latin typeface="Georgia" panose="02040502050405020303" pitchFamily="18" charset="0"/>
              </a:rPr>
              <a:t>6. CSS3 Transforms &amp; Transitions</a:t>
            </a:r>
            <a:endParaRPr lang="en-GB" altLang="en-US" sz="3200">
              <a:solidFill>
                <a:srgbClr val="FF3300"/>
              </a:solidFill>
              <a:latin typeface="Georgia" panose="02040502050405020303" pitchFamily="18" charset="0"/>
            </a:endParaRPr>
          </a:p>
        </p:txBody>
      </p:sp>
      <p:sp>
        <p:nvSpPr>
          <p:cNvPr id="125954" name="Rectangle 3">
            <a:extLst>
              <a:ext uri="{FF2B5EF4-FFF2-40B4-BE49-F238E27FC236}">
                <a16:creationId xmlns:a16="http://schemas.microsoft.com/office/drawing/2014/main" id="{21D2DC9A-8715-458A-8DA2-3A73356F6F6A}"/>
              </a:ext>
            </a:extLst>
          </p:cNvPr>
          <p:cNvSpPr>
            <a:spLocks noGrp="1" noChangeArrowheads="1"/>
          </p:cNvSpPr>
          <p:nvPr>
            <p:ph type="body" idx="4294967295"/>
          </p:nvPr>
        </p:nvSpPr>
        <p:spPr>
          <a:xfrm>
            <a:off x="3810000" y="1143000"/>
            <a:ext cx="8382000" cy="5562600"/>
          </a:xfrm>
        </p:spPr>
        <p:txBody>
          <a:bodyPr/>
          <a:lstStyle/>
          <a:p>
            <a:pPr>
              <a:buFontTx/>
              <a:buNone/>
            </a:pPr>
            <a:endParaRPr lang="en-GB" altLang="en-US" sz="1400">
              <a:latin typeface="Georgia" panose="02040502050405020303" pitchFamily="18" charset="0"/>
            </a:endParaRPr>
          </a:p>
          <a:p>
            <a:pPr>
              <a:buFontTx/>
              <a:buNone/>
            </a:pPr>
            <a:r>
              <a:rPr lang="en-US" altLang="en-US" sz="1600">
                <a:solidFill>
                  <a:srgbClr val="0066CC"/>
                </a:solidFill>
                <a:latin typeface="Georgia" panose="02040502050405020303" pitchFamily="18" charset="0"/>
              </a:rPr>
              <a:t>Rotation</a:t>
            </a:r>
            <a:endParaRPr lang="en-GB" altLang="en-US" sz="1600">
              <a:solidFill>
                <a:srgbClr val="0066CC"/>
              </a:solidFill>
              <a:latin typeface="Georgia" panose="02040502050405020303" pitchFamily="18" charset="0"/>
            </a:endParaRPr>
          </a:p>
          <a:p>
            <a:pPr>
              <a:buFontTx/>
              <a:buNone/>
            </a:pPr>
            <a:endParaRPr lang="en-GB" altLang="en-US" sz="1400">
              <a:latin typeface="Georgia" panose="02040502050405020303" pitchFamily="18" charset="0"/>
            </a:endParaRPr>
          </a:p>
          <a:p>
            <a:pPr eaLnBrk="1" hangingPunct="1">
              <a:buFontTx/>
              <a:buNone/>
            </a:pPr>
            <a:endParaRPr lang="en-GB" altLang="en-US"/>
          </a:p>
          <a:p>
            <a:pPr eaLnBrk="1" hangingPunct="1">
              <a:buFontTx/>
              <a:buNone/>
            </a:pPr>
            <a:br>
              <a:rPr lang="en-GB" altLang="en-US" sz="2000">
                <a:solidFill>
                  <a:srgbClr val="0066CC"/>
                </a:solidFill>
                <a:latin typeface="Georgia" panose="02040502050405020303" pitchFamily="18" charset="0"/>
              </a:rPr>
            </a:br>
            <a:endParaRPr lang="en-US" altLang="en-US" sz="2000">
              <a:solidFill>
                <a:srgbClr val="0066CC"/>
              </a:solidFill>
              <a:latin typeface="Georgia" panose="02040502050405020303" pitchFamily="18" charset="0"/>
            </a:endParaRPr>
          </a:p>
        </p:txBody>
      </p:sp>
      <p:pic>
        <p:nvPicPr>
          <p:cNvPr id="125955" name="Picture 4">
            <a:extLst>
              <a:ext uri="{FF2B5EF4-FFF2-40B4-BE49-F238E27FC236}">
                <a16:creationId xmlns:a16="http://schemas.microsoft.com/office/drawing/2014/main" id="{71B57E0C-DA68-4031-B6C9-29373EADD2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2514601"/>
            <a:ext cx="2362200" cy="134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956" name="Text Box 5">
            <a:extLst>
              <a:ext uri="{FF2B5EF4-FFF2-40B4-BE49-F238E27FC236}">
                <a16:creationId xmlns:a16="http://schemas.microsoft.com/office/drawing/2014/main" id="{FEA134AF-2A3F-4C1B-A8D2-3A69A7A94BB5}"/>
              </a:ext>
            </a:extLst>
          </p:cNvPr>
          <p:cNvSpPr txBox="1">
            <a:spLocks noChangeArrowheads="1"/>
          </p:cNvSpPr>
          <p:nvPr/>
        </p:nvSpPr>
        <p:spPr bwMode="auto">
          <a:xfrm>
            <a:off x="2057400" y="1752600"/>
            <a:ext cx="82296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GB" altLang="en-US" sz="1400">
                <a:latin typeface="Georgia" panose="02040502050405020303" pitchFamily="18" charset="0"/>
              </a:rPr>
              <a:t>The rotate() function rotates an element around the point of origin (as with scale,by default this is the element’s center), by a specified angle value. Generally, angles are declared in degrees, with positive degrees moving clockwise and negativemoving counter-clockwise.</a:t>
            </a:r>
          </a:p>
        </p:txBody>
      </p:sp>
      <p:sp>
        <p:nvSpPr>
          <p:cNvPr id="125957" name="Text Box 6">
            <a:extLst>
              <a:ext uri="{FF2B5EF4-FFF2-40B4-BE49-F238E27FC236}">
                <a16:creationId xmlns:a16="http://schemas.microsoft.com/office/drawing/2014/main" id="{D297B123-FAAA-49E7-8CA3-746DDF9AED3F}"/>
              </a:ext>
            </a:extLst>
          </p:cNvPr>
          <p:cNvSpPr txBox="1">
            <a:spLocks noChangeArrowheads="1"/>
          </p:cNvSpPr>
          <p:nvPr/>
        </p:nvSpPr>
        <p:spPr bwMode="auto">
          <a:xfrm>
            <a:off x="4572001" y="3200400"/>
            <a:ext cx="5216493"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GB" altLang="en-US" sz="1400">
                <a:latin typeface="Georgia" panose="02040502050405020303" pitchFamily="18" charset="0"/>
              </a:rPr>
              <a:t>#ourExample h1:hover span {</a:t>
            </a:r>
          </a:p>
          <a:p>
            <a:r>
              <a:rPr lang="en-GB" altLang="en-US" sz="1400">
                <a:latin typeface="Georgia" panose="02040502050405020303" pitchFamily="18" charset="0"/>
              </a:rPr>
              <a:t>color: #484848;</a:t>
            </a:r>
          </a:p>
          <a:p>
            <a:r>
              <a:rPr lang="en-GB" altLang="en-US" sz="1400">
                <a:latin typeface="Georgia" panose="02040502050405020303" pitchFamily="18" charset="0"/>
              </a:rPr>
              <a:t>-webkit-transform:</a:t>
            </a:r>
            <a:r>
              <a:rPr lang="en-GB" altLang="en-US" sz="1400" b="1">
                <a:latin typeface="Georgia" panose="02040502050405020303" pitchFamily="18" charset="0"/>
              </a:rPr>
              <a:t>rotate(10deg) </a:t>
            </a:r>
            <a:r>
              <a:rPr lang="en-GB" altLang="en-US" sz="1400">
                <a:latin typeface="Georgia" panose="02040502050405020303" pitchFamily="18" charset="0"/>
              </a:rPr>
              <a:t>translateX(40px) scale(1.5);</a:t>
            </a:r>
          </a:p>
          <a:p>
            <a:r>
              <a:rPr lang="en-GB" altLang="en-US" sz="1400">
                <a:latin typeface="Georgia" panose="02040502050405020303" pitchFamily="18" charset="0"/>
              </a:rPr>
              <a:t>-moz-transform:</a:t>
            </a:r>
            <a:r>
              <a:rPr lang="en-GB" altLang="en-US" sz="1400" b="1">
                <a:latin typeface="Georgia" panose="02040502050405020303" pitchFamily="18" charset="0"/>
              </a:rPr>
              <a:t>rotate(10deg) </a:t>
            </a:r>
            <a:r>
              <a:rPr lang="en-GB" altLang="en-US" sz="1400">
                <a:latin typeface="Georgia" panose="02040502050405020303" pitchFamily="18" charset="0"/>
              </a:rPr>
              <a:t>translateX(40px) scale(1.5);</a:t>
            </a:r>
          </a:p>
          <a:p>
            <a:r>
              <a:rPr lang="en-GB" altLang="en-US" sz="1400">
                <a:latin typeface="Georgia" panose="02040502050405020303" pitchFamily="18" charset="0"/>
              </a:rPr>
              <a:t>-ms-transform:</a:t>
            </a:r>
            <a:r>
              <a:rPr lang="en-GB" altLang="en-US" sz="1400" b="1">
                <a:latin typeface="Georgia" panose="02040502050405020303" pitchFamily="18" charset="0"/>
              </a:rPr>
              <a:t>rotate(10deg) </a:t>
            </a:r>
            <a:r>
              <a:rPr lang="en-GB" altLang="en-US" sz="1400">
                <a:latin typeface="Georgia" panose="02040502050405020303" pitchFamily="18" charset="0"/>
              </a:rPr>
              <a:t>translateX(40px) scale(1.5);</a:t>
            </a:r>
          </a:p>
          <a:p>
            <a:r>
              <a:rPr lang="en-GB" altLang="en-US" sz="1400">
                <a:latin typeface="Georgia" panose="02040502050405020303" pitchFamily="18" charset="0"/>
              </a:rPr>
              <a:t>-o-transform:</a:t>
            </a:r>
            <a:r>
              <a:rPr lang="en-GB" altLang="en-US" sz="1400" b="1">
                <a:latin typeface="Georgia" panose="02040502050405020303" pitchFamily="18" charset="0"/>
              </a:rPr>
              <a:t>rotate(10deg) </a:t>
            </a:r>
            <a:r>
              <a:rPr lang="en-GB" altLang="en-US" sz="1400">
                <a:latin typeface="Georgia" panose="02040502050405020303" pitchFamily="18" charset="0"/>
              </a:rPr>
              <a:t>translateX(40px) scale(1.5);</a:t>
            </a:r>
          </a:p>
          <a:p>
            <a:r>
              <a:rPr lang="en-GB" altLang="en-US" sz="1400">
                <a:latin typeface="Georgia" panose="02040502050405020303" pitchFamily="18" charset="0"/>
              </a:rPr>
              <a:t>transform:</a:t>
            </a:r>
            <a:r>
              <a:rPr lang="en-GB" altLang="en-US" sz="1400" b="1">
                <a:latin typeface="Georgia" panose="02040502050405020303" pitchFamily="18" charset="0"/>
              </a:rPr>
              <a:t>rotate(10deg) </a:t>
            </a:r>
            <a:r>
              <a:rPr lang="en-GB" altLang="en-US" sz="1400">
                <a:latin typeface="Georgia" panose="02040502050405020303" pitchFamily="18" charset="0"/>
              </a:rPr>
              <a:t>translateX(40px) scale(1.5);</a:t>
            </a:r>
          </a:p>
          <a:p>
            <a:r>
              <a:rPr lang="en-GB" altLang="en-US" sz="1400">
                <a:latin typeface="Georgia" panose="02040502050405020303" pitchFamily="18" charset="0"/>
              </a:rPr>
              <a:t>}</a:t>
            </a:r>
          </a:p>
        </p:txBody>
      </p:sp>
      <p:sp>
        <p:nvSpPr>
          <p:cNvPr id="125958" name="Text Box 7">
            <a:extLst>
              <a:ext uri="{FF2B5EF4-FFF2-40B4-BE49-F238E27FC236}">
                <a16:creationId xmlns:a16="http://schemas.microsoft.com/office/drawing/2014/main" id="{E65F5DC8-DF87-4EB2-9AB7-5D9C24013542}"/>
              </a:ext>
            </a:extLst>
          </p:cNvPr>
          <p:cNvSpPr txBox="1">
            <a:spLocks noChangeArrowheads="1"/>
          </p:cNvSpPr>
          <p:nvPr/>
        </p:nvSpPr>
        <p:spPr bwMode="auto">
          <a:xfrm>
            <a:off x="4708525" y="2525713"/>
            <a:ext cx="24320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en-US" sz="1400">
                <a:latin typeface="Georgia" panose="02040502050405020303" pitchFamily="18" charset="0"/>
              </a:rPr>
              <a:t>Lets  scale the same example</a:t>
            </a:r>
            <a:endParaRPr lang="en-GB" altLang="en-US" sz="1400">
              <a:latin typeface="Georgia" panose="02040502050405020303" pitchFamily="18" charset="0"/>
            </a:endParaRPr>
          </a:p>
        </p:txBody>
      </p:sp>
      <p:pic>
        <p:nvPicPr>
          <p:cNvPr id="125959" name="Picture 9">
            <a:extLst>
              <a:ext uri="{FF2B5EF4-FFF2-40B4-BE49-F238E27FC236}">
                <a16:creationId xmlns:a16="http://schemas.microsoft.com/office/drawing/2014/main" id="{60B5A82E-F0A0-4F67-BE8C-2D729A5C7C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5105400"/>
            <a:ext cx="3429000" cy="155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a:extLst>
              <a:ext uri="{FF2B5EF4-FFF2-40B4-BE49-F238E27FC236}">
                <a16:creationId xmlns:a16="http://schemas.microsoft.com/office/drawing/2014/main" id="{955BE42C-F10D-4FB5-B73E-0848EFEF00D7}"/>
              </a:ext>
            </a:extLst>
          </p:cNvPr>
          <p:cNvSpPr>
            <a:spLocks noGrp="1" noChangeArrowheads="1"/>
          </p:cNvSpPr>
          <p:nvPr>
            <p:ph type="title" idx="4294967295"/>
          </p:nvPr>
        </p:nvSpPr>
        <p:spPr>
          <a:xfrm>
            <a:off x="0" y="0"/>
            <a:ext cx="8229600" cy="1143000"/>
          </a:xfrm>
        </p:spPr>
        <p:txBody>
          <a:bodyPr/>
          <a:lstStyle/>
          <a:p>
            <a:pPr algn="l" eaLnBrk="1" hangingPunct="1"/>
            <a:r>
              <a:rPr lang="en-US" altLang="en-US" sz="3200">
                <a:solidFill>
                  <a:srgbClr val="FF3300"/>
                </a:solidFill>
                <a:latin typeface="Georgia" panose="02040502050405020303" pitchFamily="18" charset="0"/>
              </a:rPr>
              <a:t>6. CSS3 Transforms &amp; Transitions</a:t>
            </a:r>
            <a:endParaRPr lang="en-GB" altLang="en-US" sz="3200">
              <a:solidFill>
                <a:srgbClr val="FF3300"/>
              </a:solidFill>
              <a:latin typeface="Georgia" panose="02040502050405020303" pitchFamily="18" charset="0"/>
            </a:endParaRPr>
          </a:p>
        </p:txBody>
      </p:sp>
      <p:sp>
        <p:nvSpPr>
          <p:cNvPr id="128002" name="Rectangle 3">
            <a:extLst>
              <a:ext uri="{FF2B5EF4-FFF2-40B4-BE49-F238E27FC236}">
                <a16:creationId xmlns:a16="http://schemas.microsoft.com/office/drawing/2014/main" id="{DC8E5F7B-9317-4E4A-AA83-41A98FA69365}"/>
              </a:ext>
            </a:extLst>
          </p:cNvPr>
          <p:cNvSpPr>
            <a:spLocks noGrp="1" noChangeArrowheads="1"/>
          </p:cNvSpPr>
          <p:nvPr>
            <p:ph type="body" idx="4294967295"/>
          </p:nvPr>
        </p:nvSpPr>
        <p:spPr>
          <a:xfrm>
            <a:off x="3810000" y="1143000"/>
            <a:ext cx="8382000" cy="5562600"/>
          </a:xfrm>
        </p:spPr>
        <p:txBody>
          <a:bodyPr/>
          <a:lstStyle/>
          <a:p>
            <a:pPr>
              <a:buFontTx/>
              <a:buNone/>
            </a:pPr>
            <a:endParaRPr lang="en-GB" altLang="en-US" sz="1400">
              <a:latin typeface="Georgia" panose="02040502050405020303" pitchFamily="18" charset="0"/>
            </a:endParaRPr>
          </a:p>
          <a:p>
            <a:pPr>
              <a:buFontTx/>
              <a:buNone/>
            </a:pPr>
            <a:r>
              <a:rPr lang="en-US" altLang="en-US" sz="1600">
                <a:solidFill>
                  <a:srgbClr val="0066CC"/>
                </a:solidFill>
                <a:latin typeface="Georgia" panose="02040502050405020303" pitchFamily="18" charset="0"/>
              </a:rPr>
              <a:t>Skew</a:t>
            </a:r>
            <a:endParaRPr lang="en-GB" altLang="en-US" sz="1600">
              <a:solidFill>
                <a:srgbClr val="0066CC"/>
              </a:solidFill>
              <a:latin typeface="Georgia" panose="02040502050405020303" pitchFamily="18" charset="0"/>
            </a:endParaRPr>
          </a:p>
          <a:p>
            <a:pPr>
              <a:buFontTx/>
              <a:buNone/>
            </a:pPr>
            <a:endParaRPr lang="en-GB" altLang="en-US" sz="1400">
              <a:latin typeface="Georgia" panose="02040502050405020303" pitchFamily="18" charset="0"/>
            </a:endParaRPr>
          </a:p>
          <a:p>
            <a:pPr eaLnBrk="1" hangingPunct="1">
              <a:buFontTx/>
              <a:buNone/>
            </a:pPr>
            <a:endParaRPr lang="en-GB" altLang="en-US"/>
          </a:p>
          <a:p>
            <a:pPr eaLnBrk="1" hangingPunct="1">
              <a:buFontTx/>
              <a:buNone/>
            </a:pPr>
            <a:br>
              <a:rPr lang="en-GB" altLang="en-US" sz="2000">
                <a:solidFill>
                  <a:srgbClr val="0066CC"/>
                </a:solidFill>
                <a:latin typeface="Georgia" panose="02040502050405020303" pitchFamily="18" charset="0"/>
              </a:rPr>
            </a:br>
            <a:endParaRPr lang="en-US" altLang="en-US" sz="2000">
              <a:solidFill>
                <a:srgbClr val="0066CC"/>
              </a:solidFill>
              <a:latin typeface="Georgia" panose="02040502050405020303" pitchFamily="18" charset="0"/>
            </a:endParaRPr>
          </a:p>
        </p:txBody>
      </p:sp>
      <p:sp>
        <p:nvSpPr>
          <p:cNvPr id="128003" name="Text Box 5">
            <a:extLst>
              <a:ext uri="{FF2B5EF4-FFF2-40B4-BE49-F238E27FC236}">
                <a16:creationId xmlns:a16="http://schemas.microsoft.com/office/drawing/2014/main" id="{FAB68AAF-0732-49CC-9967-ECBE6D9A43B8}"/>
              </a:ext>
            </a:extLst>
          </p:cNvPr>
          <p:cNvSpPr txBox="1">
            <a:spLocks noChangeArrowheads="1"/>
          </p:cNvSpPr>
          <p:nvPr/>
        </p:nvSpPr>
        <p:spPr bwMode="auto">
          <a:xfrm>
            <a:off x="2057400" y="1752601"/>
            <a:ext cx="82296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GB" altLang="en-US" sz="1400">
                <a:latin typeface="Georgia" panose="02040502050405020303" pitchFamily="18" charset="0"/>
              </a:rPr>
              <a:t>The skew(x,y) function specifies a skew along the X and Y axes. As you’d expect, the x specifies the skew on the X axis, and the y specifies the skew on the Y axis.</a:t>
            </a:r>
            <a:br>
              <a:rPr lang="en-GB" altLang="en-US" sz="1400">
                <a:latin typeface="Georgia" panose="02040502050405020303" pitchFamily="18" charset="0"/>
              </a:rPr>
            </a:br>
            <a:endParaRPr lang="en-GB" altLang="en-US" sz="1400">
              <a:latin typeface="Georgia" panose="02040502050405020303" pitchFamily="18" charset="0"/>
            </a:endParaRPr>
          </a:p>
          <a:p>
            <a:r>
              <a:rPr lang="en-GB" altLang="en-US" sz="1400">
                <a:latin typeface="Georgia" panose="02040502050405020303" pitchFamily="18" charset="0"/>
              </a:rPr>
              <a:t>If the second parameter is omitted, the skew will only occur on the X axis:</a:t>
            </a:r>
          </a:p>
        </p:txBody>
      </p:sp>
      <p:pic>
        <p:nvPicPr>
          <p:cNvPr id="128004" name="Picture 10">
            <a:extLst>
              <a:ext uri="{FF2B5EF4-FFF2-40B4-BE49-F238E27FC236}">
                <a16:creationId xmlns:a16="http://schemas.microsoft.com/office/drawing/2014/main" id="{D59E57C9-8DB8-44F6-8D9C-B995F183CC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2743201"/>
            <a:ext cx="6248400" cy="406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DA384-97A5-41FA-898D-B51AE6F685AA}"/>
              </a:ext>
            </a:extLst>
          </p:cNvPr>
          <p:cNvSpPr>
            <a:spLocks noGrp="1"/>
          </p:cNvSpPr>
          <p:nvPr>
            <p:ph type="title"/>
          </p:nvPr>
        </p:nvSpPr>
        <p:spPr>
          <a:xfrm>
            <a:off x="2152650" y="365126"/>
            <a:ext cx="8134350" cy="930275"/>
          </a:xfrm>
        </p:spPr>
        <p:txBody>
          <a:bodyPr/>
          <a:lstStyle/>
          <a:p>
            <a:pPr>
              <a:defRPr/>
            </a:pPr>
            <a:r>
              <a:rPr lang="en-US" b="1" dirty="0"/>
              <a:t>CSS transitions: An introduction</a:t>
            </a:r>
            <a:endParaRPr lang="en-US" dirty="0"/>
          </a:p>
        </p:txBody>
      </p:sp>
      <p:sp>
        <p:nvSpPr>
          <p:cNvPr id="3" name="Content Placeholder 2">
            <a:extLst>
              <a:ext uri="{FF2B5EF4-FFF2-40B4-BE49-F238E27FC236}">
                <a16:creationId xmlns:a16="http://schemas.microsoft.com/office/drawing/2014/main" id="{95E77D93-80D3-4740-80BA-C2D56DCAC580}"/>
              </a:ext>
            </a:extLst>
          </p:cNvPr>
          <p:cNvSpPr>
            <a:spLocks noGrp="1"/>
          </p:cNvSpPr>
          <p:nvPr>
            <p:ph idx="1"/>
          </p:nvPr>
        </p:nvSpPr>
        <p:spPr>
          <a:xfrm>
            <a:off x="457348" y="1295400"/>
            <a:ext cx="11429700" cy="4953000"/>
          </a:xfrm>
        </p:spPr>
        <p:txBody>
          <a:bodyPr>
            <a:normAutofit fontScale="92500" lnSpcReduction="10000"/>
          </a:bodyPr>
          <a:lstStyle/>
          <a:p>
            <a:pPr>
              <a:defRPr/>
            </a:pPr>
            <a:r>
              <a:rPr lang="en-US" dirty="0"/>
              <a:t>Let’s start with CSS transitions. Transitions are the grease in the wheel of CSS transforms. </a:t>
            </a:r>
          </a:p>
          <a:p>
            <a:pPr>
              <a:defRPr/>
            </a:pPr>
            <a:r>
              <a:rPr lang="en-US" dirty="0"/>
              <a:t>Without a transition, an element being transformed would change abruptly from one state to another. </a:t>
            </a:r>
          </a:p>
          <a:p>
            <a:pPr>
              <a:defRPr/>
            </a:pPr>
            <a:r>
              <a:rPr lang="en-US" dirty="0"/>
              <a:t>By applying a transition you can control the change, making it smooth and gradual.</a:t>
            </a:r>
          </a:p>
          <a:p>
            <a:pPr>
              <a:defRPr/>
            </a:pPr>
            <a:r>
              <a:rPr lang="en-US" dirty="0"/>
              <a:t>There are two properties that are required in order for the transition to take effect and two optional property</a:t>
            </a:r>
          </a:p>
          <a:p>
            <a:pPr>
              <a:buFont typeface="Arial" panose="020B0604020202020204" pitchFamily="34" charset="0"/>
              <a:buNone/>
              <a:defRPr/>
            </a:pPr>
            <a:r>
              <a:rPr lang="en-US" b="1" dirty="0"/>
              <a:t>1. transition-property (required)</a:t>
            </a:r>
            <a:endParaRPr lang="en-US" dirty="0"/>
          </a:p>
          <a:p>
            <a:pPr>
              <a:buFont typeface="Arial" panose="020B0604020202020204" pitchFamily="34" charset="0"/>
              <a:buNone/>
              <a:defRPr/>
            </a:pPr>
            <a:r>
              <a:rPr lang="en-US" b="1" dirty="0"/>
              <a:t>2. transition-duration (required)</a:t>
            </a:r>
          </a:p>
          <a:p>
            <a:pPr>
              <a:buFont typeface="Arial" panose="020B0604020202020204" pitchFamily="34" charset="0"/>
              <a:buNone/>
              <a:defRPr/>
            </a:pPr>
            <a:r>
              <a:rPr lang="en-US" b="1" dirty="0"/>
              <a:t>3. transition-timing </a:t>
            </a:r>
            <a:r>
              <a:rPr lang="en-US" b="1" i="1" dirty="0"/>
              <a:t>(optional)</a:t>
            </a:r>
          </a:p>
          <a:p>
            <a:pPr>
              <a:buFont typeface="Arial" panose="020B0604020202020204" pitchFamily="34" charset="0"/>
              <a:buNone/>
              <a:defRPr/>
            </a:pPr>
            <a:r>
              <a:rPr lang="en-US" b="1" i="1" dirty="0"/>
              <a:t>4. </a:t>
            </a:r>
            <a:r>
              <a:rPr lang="en-US" b="1" dirty="0"/>
              <a:t>transition-delay </a:t>
            </a:r>
            <a:r>
              <a:rPr lang="en-US" b="1" i="1" dirty="0"/>
              <a:t>(optional)</a:t>
            </a:r>
            <a:endParaRPr lang="en-US" b="1" dirty="0"/>
          </a:p>
          <a:p>
            <a:pPr>
              <a:defRPr/>
            </a:pPr>
            <a:endParaRPr lang="en-US" dirty="0"/>
          </a:p>
          <a:p>
            <a:pPr>
              <a:defRPr/>
            </a:pPr>
            <a:endParaRPr lang="en-US" dirty="0"/>
          </a:p>
        </p:txBody>
      </p:sp>
      <p:sp>
        <p:nvSpPr>
          <p:cNvPr id="130052" name="Footer Placeholder 4">
            <a:extLst>
              <a:ext uri="{FF2B5EF4-FFF2-40B4-BE49-F238E27FC236}">
                <a16:creationId xmlns:a16="http://schemas.microsoft.com/office/drawing/2014/main" id="{7514BC28-C5BD-4F46-A6F7-8DFC60BB221A}"/>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en-US">
                <a:solidFill>
                  <a:srgbClr val="FFFFFF"/>
                </a:solidFill>
              </a:rPr>
              <a:t>Copyright © 2016 Pearson Education, Inc., Hoboken NJ</a:t>
            </a:r>
          </a:p>
        </p:txBody>
      </p:sp>
      <p:sp>
        <p:nvSpPr>
          <p:cNvPr id="130051" name="Slide Number Placeholder 3">
            <a:extLst>
              <a:ext uri="{FF2B5EF4-FFF2-40B4-BE49-F238E27FC236}">
                <a16:creationId xmlns:a16="http://schemas.microsoft.com/office/drawing/2014/main" id="{727B8210-3501-4FAB-ABE4-29C04830915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30AD0699-F4F7-4126-A984-54CCBC2CEF18}" type="slidenum">
              <a:rPr lang="en-US" altLang="en-US" smtClean="0"/>
              <a:pPr/>
              <a:t>8</a:t>
            </a:fld>
            <a:endParaRPr lang="en-US" altLang="en-US">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7F0220-F99B-4473-B74A-F35E9D84973D}"/>
              </a:ext>
            </a:extLst>
          </p:cNvPr>
          <p:cNvSpPr>
            <a:spLocks noGrp="1"/>
          </p:cNvSpPr>
          <p:nvPr>
            <p:ph idx="1"/>
          </p:nvPr>
        </p:nvSpPr>
        <p:spPr>
          <a:xfrm>
            <a:off x="381150" y="304800"/>
            <a:ext cx="11429700" cy="5943600"/>
          </a:xfrm>
        </p:spPr>
        <p:txBody>
          <a:bodyPr>
            <a:normAutofit fontScale="85000" lnSpcReduction="20000"/>
          </a:bodyPr>
          <a:lstStyle/>
          <a:p>
            <a:pPr>
              <a:defRPr/>
            </a:pPr>
            <a:r>
              <a:rPr lang="en-US" dirty="0"/>
              <a:t>Note: Each transition property can be defined individually, but for cleaner and faster code, it’s recommended that you use the transition shorthand.</a:t>
            </a:r>
          </a:p>
          <a:p>
            <a:pPr>
              <a:defRPr/>
            </a:pPr>
            <a:r>
              <a:rPr lang="en-US" dirty="0"/>
              <a:t>div {</a:t>
            </a:r>
          </a:p>
          <a:p>
            <a:pPr>
              <a:buFont typeface="Arial" panose="020B0604020202020204" pitchFamily="34" charset="0"/>
              <a:buNone/>
              <a:defRPr/>
            </a:pPr>
            <a:r>
              <a:rPr lang="en-US" dirty="0"/>
              <a:t> transition: [property] [duration] [timing-function] [delay]; </a:t>
            </a:r>
          </a:p>
          <a:p>
            <a:pPr>
              <a:buFont typeface="Arial" panose="020B0604020202020204" pitchFamily="34" charset="0"/>
              <a:buNone/>
              <a:defRPr/>
            </a:pPr>
            <a:r>
              <a:rPr lang="en-US" dirty="0"/>
              <a:t>}</a:t>
            </a:r>
          </a:p>
          <a:p>
            <a:pPr algn="just">
              <a:defRPr/>
            </a:pPr>
            <a:r>
              <a:rPr lang="en-US" dirty="0"/>
              <a:t>The transition-property specifies the CSS property where the transition will be applied. You may apply a transition to an individual property (e.g., background-color or transform) or to all properties in the rule-set (i.e., all).</a:t>
            </a:r>
          </a:p>
          <a:p>
            <a:pPr algn="just">
              <a:defRPr/>
            </a:pPr>
            <a:r>
              <a:rPr lang="en-US" dirty="0"/>
              <a:t>The transition-duration property specifies the time span of the transition. You can specify in seconds or milliseconds.</a:t>
            </a:r>
          </a:p>
          <a:p>
            <a:pPr algn="just">
              <a:defRPr/>
            </a:pPr>
            <a:r>
              <a:rPr lang="en-US" dirty="0"/>
              <a:t>The transition-timing-function property allows you to define the speed of the transition over the duration. The default timing is ease, which starts out slow, quickly speeds up, and then slows down at the end. The other timing options are: linear, </a:t>
            </a:r>
            <a:r>
              <a:rPr lang="en-US" dirty="0" err="1"/>
              <a:t>ease,ease</a:t>
            </a:r>
            <a:r>
              <a:rPr lang="en-US" dirty="0"/>
              <a:t>-in, ease-out, and ease-in-out.</a:t>
            </a:r>
          </a:p>
          <a:p>
            <a:pPr algn="just">
              <a:defRPr/>
            </a:pPr>
            <a:r>
              <a:rPr lang="en-US" dirty="0"/>
              <a:t>The transition-delay property allows you to specify when the transform will start. By default, the transition starts as soon as it is triggered (e.g., on mouse hover). However, if you want to transition to start after it is triggered you can use the transition delay property.</a:t>
            </a:r>
          </a:p>
        </p:txBody>
      </p:sp>
      <p:sp>
        <p:nvSpPr>
          <p:cNvPr id="131075" name="Footer Placeholder 4">
            <a:extLst>
              <a:ext uri="{FF2B5EF4-FFF2-40B4-BE49-F238E27FC236}">
                <a16:creationId xmlns:a16="http://schemas.microsoft.com/office/drawing/2014/main" id="{8DDA9EF7-9417-44C8-9730-E299AAD33E41}"/>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en-US">
                <a:solidFill>
                  <a:srgbClr val="FFFFFF"/>
                </a:solidFill>
              </a:rPr>
              <a:t>Copyright © 2016 Pearson Education, Inc., Hoboken NJ</a:t>
            </a:r>
          </a:p>
        </p:txBody>
      </p:sp>
      <p:sp>
        <p:nvSpPr>
          <p:cNvPr id="131074" name="Slide Number Placeholder 3">
            <a:extLst>
              <a:ext uri="{FF2B5EF4-FFF2-40B4-BE49-F238E27FC236}">
                <a16:creationId xmlns:a16="http://schemas.microsoft.com/office/drawing/2014/main" id="{33F20D2E-FACB-44AE-A3CE-6E0D9D1F6F5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64932DD3-60B6-4CF8-80BD-BEA244615DF6}" type="slidenum">
              <a:rPr lang="en-US" altLang="en-US" smtClean="0"/>
              <a:pPr/>
              <a:t>9</a:t>
            </a:fld>
            <a:endParaRPr lang="en-US" altLang="en-US">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F9CBB6-04A6-415C-8A2E-2BEAE955D1E1}"/>
              </a:ext>
            </a:extLst>
          </p:cNvPr>
          <p:cNvSpPr>
            <a:spLocks noGrp="1"/>
          </p:cNvSpPr>
          <p:nvPr>
            <p:ph idx="1"/>
          </p:nvPr>
        </p:nvSpPr>
        <p:spPr>
          <a:xfrm>
            <a:off x="457348" y="1828800"/>
            <a:ext cx="10743918" cy="2590800"/>
          </a:xfrm>
        </p:spPr>
        <p:txBody>
          <a:bodyPr>
            <a:normAutofit/>
          </a:bodyPr>
          <a:lstStyle/>
          <a:p>
            <a:pPr>
              <a:defRPr/>
            </a:pPr>
            <a:r>
              <a:rPr lang="en-US" dirty="0"/>
              <a:t>Linear: same speed</a:t>
            </a:r>
          </a:p>
          <a:p>
            <a:pPr>
              <a:defRPr/>
            </a:pPr>
            <a:r>
              <a:rPr lang="en-US" dirty="0"/>
              <a:t>Ease: increase speed at beginning and slowdown at end</a:t>
            </a:r>
          </a:p>
          <a:p>
            <a:pPr>
              <a:defRPr/>
            </a:pPr>
            <a:r>
              <a:rPr lang="en-US" dirty="0"/>
              <a:t>Ease-in: increase speed gradually</a:t>
            </a:r>
          </a:p>
          <a:p>
            <a:pPr>
              <a:defRPr/>
            </a:pPr>
            <a:r>
              <a:rPr lang="en-US" dirty="0"/>
              <a:t>Ease-out: decrease speed gradually</a:t>
            </a:r>
          </a:p>
          <a:p>
            <a:pPr>
              <a:defRPr/>
            </a:pPr>
            <a:r>
              <a:rPr lang="en-US" dirty="0"/>
              <a:t>Ease-in-out: combination of ease-in + ease-out</a:t>
            </a:r>
          </a:p>
          <a:p>
            <a:pPr>
              <a:buFont typeface="Arial" panose="020B0604020202020204" pitchFamily="34" charset="0"/>
              <a:buNone/>
              <a:defRPr/>
            </a:pPr>
            <a:endParaRPr lang="en-US" dirty="0"/>
          </a:p>
        </p:txBody>
      </p:sp>
      <p:sp>
        <p:nvSpPr>
          <p:cNvPr id="132099" name="Footer Placeholder 4">
            <a:extLst>
              <a:ext uri="{FF2B5EF4-FFF2-40B4-BE49-F238E27FC236}">
                <a16:creationId xmlns:a16="http://schemas.microsoft.com/office/drawing/2014/main" id="{78D814DA-F50F-4779-8BFF-B6A645F913BD}"/>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en-US">
                <a:solidFill>
                  <a:srgbClr val="FFFFFF"/>
                </a:solidFill>
              </a:rPr>
              <a:t>Copyright © 2016 Pearson Education, Inc., Hoboken NJ</a:t>
            </a:r>
          </a:p>
        </p:txBody>
      </p:sp>
      <p:sp>
        <p:nvSpPr>
          <p:cNvPr id="132098" name="Slide Number Placeholder 3">
            <a:extLst>
              <a:ext uri="{FF2B5EF4-FFF2-40B4-BE49-F238E27FC236}">
                <a16:creationId xmlns:a16="http://schemas.microsoft.com/office/drawing/2014/main" id="{47328AD6-BACD-4A9A-8210-4098FFC4071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AC6E08F-2708-4989-A795-172B085C44DB}" type="slidenum">
              <a:rPr lang="en-US" altLang="en-US" smtClean="0"/>
              <a:pPr/>
              <a:t>10</a:t>
            </a:fld>
            <a:endParaRPr lang="en-US" altLang="en-US">
              <a:cs typeface="Arial" panose="020B0604020202020204" pitchFamily="34" charset="0"/>
            </a:endParaRPr>
          </a:p>
        </p:txBody>
      </p:sp>
      <p:sp>
        <p:nvSpPr>
          <p:cNvPr id="132100" name="TextBox 5">
            <a:extLst>
              <a:ext uri="{FF2B5EF4-FFF2-40B4-BE49-F238E27FC236}">
                <a16:creationId xmlns:a16="http://schemas.microsoft.com/office/drawing/2014/main" id="{8B89A1AC-E9EB-4D53-92E5-2738BAF152CC}"/>
              </a:ext>
            </a:extLst>
          </p:cNvPr>
          <p:cNvSpPr txBox="1">
            <a:spLocks noChangeArrowheads="1"/>
          </p:cNvSpPr>
          <p:nvPr/>
        </p:nvSpPr>
        <p:spPr bwMode="auto">
          <a:xfrm>
            <a:off x="2590800" y="457200"/>
            <a:ext cx="5791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en-US" sz="3200" b="1">
                <a:solidFill>
                  <a:srgbClr val="FFFFFF"/>
                </a:solidFill>
                <a:latin typeface="Times New Roman" panose="02020603050405020304" pitchFamily="18" charset="0"/>
              </a:rPr>
              <a:t>transition-timing-function</a:t>
            </a:r>
            <a:endParaRPr lang="en-US" altLang="en-US" sz="3200" b="1">
              <a:solidFill>
                <a:srgbClr val="FFFFFF"/>
              </a:solidFill>
              <a:latin typeface="Times New Roman" panose="02020603050405020304" pitchFamily="18"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Footer Placeholder 4">
            <a:extLst>
              <a:ext uri="{FF2B5EF4-FFF2-40B4-BE49-F238E27FC236}">
                <a16:creationId xmlns:a16="http://schemas.microsoft.com/office/drawing/2014/main" id="{ABEC1FB8-36CB-4C6C-BE5A-6C1459E57332}"/>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en-US">
                <a:solidFill>
                  <a:srgbClr val="FFFFFF"/>
                </a:solidFill>
              </a:rPr>
              <a:t>Copyright © 2016 Pearson Education, Inc., Hoboken NJ</a:t>
            </a:r>
          </a:p>
        </p:txBody>
      </p:sp>
      <p:sp>
        <p:nvSpPr>
          <p:cNvPr id="133121" name="Slide Number Placeholder 3">
            <a:extLst>
              <a:ext uri="{FF2B5EF4-FFF2-40B4-BE49-F238E27FC236}">
                <a16:creationId xmlns:a16="http://schemas.microsoft.com/office/drawing/2014/main" id="{15559504-8760-44DB-ABD1-60AADAA5D57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4787ED2B-FA6D-4215-A4A7-6C85AF9A783E}" type="slidenum">
              <a:rPr lang="en-US" altLang="en-US" smtClean="0"/>
              <a:pPr/>
              <a:t>11</a:t>
            </a:fld>
            <a:endParaRPr lang="en-US" altLang="en-US">
              <a:cs typeface="Arial" panose="020B0604020202020204" pitchFamily="34" charset="0"/>
            </a:endParaRPr>
          </a:p>
        </p:txBody>
      </p:sp>
      <p:sp>
        <p:nvSpPr>
          <p:cNvPr id="133123" name="TextBox 6">
            <a:extLst>
              <a:ext uri="{FF2B5EF4-FFF2-40B4-BE49-F238E27FC236}">
                <a16:creationId xmlns:a16="http://schemas.microsoft.com/office/drawing/2014/main" id="{2F09192D-7D64-41A1-97CC-A08C0B05DD50}"/>
              </a:ext>
            </a:extLst>
          </p:cNvPr>
          <p:cNvSpPr txBox="1">
            <a:spLocks noChangeArrowheads="1"/>
          </p:cNvSpPr>
          <p:nvPr/>
        </p:nvSpPr>
        <p:spPr bwMode="auto">
          <a:xfrm>
            <a:off x="381150" y="609600"/>
            <a:ext cx="11201106" cy="600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en-US" altLang="en-US" sz="1600" b="1" dirty="0">
                <a:latin typeface="Times New Roman" panose="02020603050405020304" pitchFamily="18" charset="0"/>
              </a:rPr>
              <a:t>&lt;!doctype html&gt;</a:t>
            </a:r>
          </a:p>
          <a:p>
            <a:pPr eaLnBrk="0" hangingPunct="0"/>
            <a:r>
              <a:rPr lang="en-US" altLang="en-US" sz="1600" b="1" dirty="0">
                <a:latin typeface="Times New Roman" panose="02020603050405020304" pitchFamily="18" charset="0"/>
              </a:rPr>
              <a:t>&lt;html&gt;</a:t>
            </a:r>
          </a:p>
          <a:p>
            <a:pPr eaLnBrk="0" hangingPunct="0"/>
            <a:r>
              <a:rPr lang="en-US" altLang="en-US" sz="1600" b="1" dirty="0">
                <a:latin typeface="Times New Roman" panose="02020603050405020304" pitchFamily="18" charset="0"/>
              </a:rPr>
              <a:t>&lt;head&gt;</a:t>
            </a:r>
          </a:p>
          <a:p>
            <a:pPr eaLnBrk="0" hangingPunct="0"/>
            <a:r>
              <a:rPr lang="en-US" altLang="en-US" sz="1600" b="1" dirty="0">
                <a:latin typeface="Times New Roman" panose="02020603050405020304" pitchFamily="18" charset="0"/>
              </a:rPr>
              <a:t>&lt;meta charset="utf-8"&gt;</a:t>
            </a:r>
          </a:p>
          <a:p>
            <a:pPr eaLnBrk="0" hangingPunct="0"/>
            <a:r>
              <a:rPr lang="en-US" altLang="en-US" sz="1600" b="1" dirty="0">
                <a:latin typeface="Times New Roman" panose="02020603050405020304" pitchFamily="18" charset="0"/>
              </a:rPr>
              <a:t>&lt;title&gt;Untitled Document&lt;/title&gt;</a:t>
            </a:r>
          </a:p>
          <a:p>
            <a:pPr eaLnBrk="0" hangingPunct="0"/>
            <a:r>
              <a:rPr lang="en-US" altLang="en-US" sz="1600" b="1" dirty="0">
                <a:latin typeface="Times New Roman" panose="02020603050405020304" pitchFamily="18" charset="0"/>
              </a:rPr>
              <a:t>&lt;style&gt;</a:t>
            </a:r>
          </a:p>
          <a:p>
            <a:pPr eaLnBrk="0" hangingPunct="0"/>
            <a:r>
              <a:rPr lang="en-US" altLang="en-US" sz="1600" b="1" dirty="0">
                <a:latin typeface="Times New Roman" panose="02020603050405020304" pitchFamily="18" charset="0"/>
              </a:rPr>
              <a:t>h1:hover { </a:t>
            </a:r>
          </a:p>
          <a:p>
            <a:pPr eaLnBrk="0" hangingPunct="0"/>
            <a:r>
              <a:rPr lang="en-US" altLang="en-US" sz="1600" b="1" dirty="0">
                <a:latin typeface="Times New Roman" panose="02020603050405020304" pitchFamily="18" charset="0"/>
              </a:rPr>
              <a:t>	</a:t>
            </a:r>
          </a:p>
          <a:p>
            <a:pPr eaLnBrk="0" hangingPunct="0"/>
            <a:r>
              <a:rPr lang="en-US" altLang="en-US" sz="1600" b="1" dirty="0">
                <a:latin typeface="Times New Roman" panose="02020603050405020304" pitchFamily="18" charset="0"/>
              </a:rPr>
              <a:t>	border: solid red;</a:t>
            </a:r>
          </a:p>
          <a:p>
            <a:pPr eaLnBrk="0" hangingPunct="0"/>
            <a:r>
              <a:rPr lang="en-US" altLang="en-US" sz="1600" b="1" dirty="0">
                <a:latin typeface="Times New Roman" panose="02020603050405020304" pitchFamily="18" charset="0"/>
              </a:rPr>
              <a:t>	width:300px;</a:t>
            </a:r>
          </a:p>
          <a:p>
            <a:pPr eaLnBrk="0" hangingPunct="0"/>
            <a:r>
              <a:rPr lang="en-US" altLang="en-US" sz="1600" b="1" dirty="0">
                <a:latin typeface="Times New Roman" panose="02020603050405020304" pitchFamily="18" charset="0"/>
              </a:rPr>
              <a:t>	</a:t>
            </a:r>
            <a:r>
              <a:rPr lang="en-US" altLang="en-US" sz="1600" b="1" dirty="0" err="1">
                <a:latin typeface="Times New Roman" panose="02020603050405020304" pitchFamily="18" charset="0"/>
              </a:rPr>
              <a:t>background-color:blue</a:t>
            </a:r>
            <a:r>
              <a:rPr lang="en-US" altLang="en-US" sz="1600" b="1" dirty="0">
                <a:latin typeface="Times New Roman" panose="02020603050405020304" pitchFamily="18" charset="0"/>
              </a:rPr>
              <a:t>;</a:t>
            </a:r>
          </a:p>
          <a:p>
            <a:pPr eaLnBrk="0" hangingPunct="0"/>
            <a:r>
              <a:rPr lang="en-US" altLang="en-US" sz="1600" b="1" dirty="0">
                <a:latin typeface="Times New Roman" panose="02020603050405020304" pitchFamily="18" charset="0"/>
              </a:rPr>
              <a:t>	transform-origin: 0 0;</a:t>
            </a:r>
          </a:p>
          <a:p>
            <a:pPr eaLnBrk="0" hangingPunct="0"/>
            <a:r>
              <a:rPr lang="en-US" altLang="en-US" sz="1600" b="1" dirty="0">
                <a:latin typeface="Times New Roman" panose="02020603050405020304" pitchFamily="18" charset="0"/>
              </a:rPr>
              <a:t>	transform: </a:t>
            </a:r>
            <a:r>
              <a:rPr lang="en-US" altLang="en-US" sz="1600" b="1" dirty="0" err="1">
                <a:latin typeface="Times New Roman" panose="02020603050405020304" pitchFamily="18" charset="0"/>
              </a:rPr>
              <a:t>translateX</a:t>
            </a:r>
            <a:r>
              <a:rPr lang="en-US" altLang="en-US" sz="1600" b="1" dirty="0">
                <a:latin typeface="Times New Roman" panose="02020603050405020304" pitchFamily="18" charset="0"/>
              </a:rPr>
              <a:t>(50px)rotate(45deg) scale(2.0) skew(15deg, 4deg);</a:t>
            </a:r>
          </a:p>
          <a:p>
            <a:pPr eaLnBrk="0" hangingPunct="0"/>
            <a:r>
              <a:rPr lang="en-US" altLang="en-US" sz="1600" b="1" dirty="0">
                <a:latin typeface="Times New Roman" panose="02020603050405020304" pitchFamily="18" charset="0"/>
              </a:rPr>
              <a:t>	transition: all 4s ease-in; </a:t>
            </a:r>
          </a:p>
          <a:p>
            <a:pPr eaLnBrk="0" hangingPunct="0"/>
            <a:r>
              <a:rPr lang="en-US" altLang="en-US" sz="1600" b="1" dirty="0">
                <a:latin typeface="Times New Roman" panose="02020603050405020304" pitchFamily="18" charset="0"/>
              </a:rPr>
              <a:t>}</a:t>
            </a:r>
          </a:p>
          <a:p>
            <a:pPr eaLnBrk="0" hangingPunct="0"/>
            <a:endParaRPr lang="en-US" altLang="en-US" sz="1600" b="1" dirty="0">
              <a:latin typeface="Times New Roman" panose="02020603050405020304" pitchFamily="18" charset="0"/>
            </a:endParaRPr>
          </a:p>
          <a:p>
            <a:pPr eaLnBrk="0" hangingPunct="0"/>
            <a:endParaRPr lang="en-US" altLang="en-US" sz="1600" b="1" dirty="0">
              <a:latin typeface="Times New Roman" panose="02020603050405020304" pitchFamily="18" charset="0"/>
            </a:endParaRPr>
          </a:p>
          <a:p>
            <a:pPr eaLnBrk="0" hangingPunct="0"/>
            <a:r>
              <a:rPr lang="en-US" altLang="en-US" sz="1600" b="1" dirty="0">
                <a:latin typeface="Times New Roman" panose="02020603050405020304" pitchFamily="18" charset="0"/>
              </a:rPr>
              <a:t>&lt;/style&gt;</a:t>
            </a:r>
          </a:p>
          <a:p>
            <a:pPr eaLnBrk="0" hangingPunct="0"/>
            <a:r>
              <a:rPr lang="en-US" altLang="en-US" sz="1600" b="1" dirty="0">
                <a:latin typeface="Times New Roman" panose="02020603050405020304" pitchFamily="18" charset="0"/>
              </a:rPr>
              <a:t>&lt;/head&gt;</a:t>
            </a:r>
          </a:p>
          <a:p>
            <a:pPr eaLnBrk="0" hangingPunct="0"/>
            <a:endParaRPr lang="en-US" altLang="en-US" sz="1600" b="1" dirty="0">
              <a:latin typeface="Times New Roman" panose="02020603050405020304" pitchFamily="18" charset="0"/>
            </a:endParaRPr>
          </a:p>
          <a:p>
            <a:pPr eaLnBrk="0" hangingPunct="0"/>
            <a:r>
              <a:rPr lang="en-US" altLang="en-US" sz="1600" b="1" dirty="0">
                <a:latin typeface="Times New Roman" panose="02020603050405020304" pitchFamily="18" charset="0"/>
              </a:rPr>
              <a:t>&lt;body&gt;</a:t>
            </a:r>
          </a:p>
          <a:p>
            <a:pPr eaLnBrk="0" hangingPunct="0"/>
            <a:r>
              <a:rPr lang="en-US" altLang="en-US" sz="1600" b="1" dirty="0">
                <a:latin typeface="Times New Roman" panose="02020603050405020304" pitchFamily="18" charset="0"/>
              </a:rPr>
              <a:t>&lt;p&gt; &lt;h1&gt;This is an paragraph &lt;/h1&gt;&lt;/p&gt;</a:t>
            </a:r>
          </a:p>
          <a:p>
            <a:pPr eaLnBrk="0" hangingPunct="0"/>
            <a:r>
              <a:rPr lang="en-US" altLang="en-US" sz="1600" b="1" dirty="0">
                <a:latin typeface="Times New Roman" panose="02020603050405020304" pitchFamily="18" charset="0"/>
              </a:rPr>
              <a:t>&lt;/body&gt;</a:t>
            </a:r>
          </a:p>
          <a:p>
            <a:pPr eaLnBrk="0" hangingPunct="0"/>
            <a:r>
              <a:rPr lang="en-US" altLang="en-US" sz="1600" b="1" dirty="0">
                <a:latin typeface="Times New Roman" panose="02020603050405020304" pitchFamily="18" charset="0"/>
              </a:rPr>
              <a:t>&lt;/html&gt;</a:t>
            </a:r>
            <a:endParaRPr lang="en-US" altLang="en-US" sz="1600" b="1" dirty="0">
              <a:latin typeface="Times New Roman" panose="02020603050405020304" pitchFamily="18"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D39AE2D4-87CE-4D8A-993F-95B0596BE15B}"/>
              </a:ext>
            </a:extLst>
          </p:cNvPr>
          <p:cNvSpPr>
            <a:spLocks noGrp="1"/>
          </p:cNvSpPr>
          <p:nvPr>
            <p:ph type="title"/>
          </p:nvPr>
        </p:nvSpPr>
        <p:spPr>
          <a:xfrm>
            <a:off x="2158935" y="-15711"/>
            <a:ext cx="7886700" cy="1325562"/>
          </a:xfrm>
        </p:spPr>
        <p:txBody>
          <a:bodyPr/>
          <a:lstStyle/>
          <a:p>
            <a:pPr eaLnBrk="1" fontAlgn="auto" hangingPunct="1">
              <a:spcAft>
                <a:spcPts val="0"/>
              </a:spcAft>
              <a:defRPr/>
            </a:pPr>
            <a:r>
              <a:rPr lang="en-US" altLang="en-US" dirty="0"/>
              <a:t>CSS3 Transition Property</a:t>
            </a:r>
          </a:p>
        </p:txBody>
      </p:sp>
      <p:sp>
        <p:nvSpPr>
          <p:cNvPr id="3" name="Content Placeholder 2">
            <a:extLst>
              <a:ext uri="{FF2B5EF4-FFF2-40B4-BE49-F238E27FC236}">
                <a16:creationId xmlns:a16="http://schemas.microsoft.com/office/drawing/2014/main" id="{85FF85C8-168E-48B4-9CA4-2AC6A1E53C24}"/>
              </a:ext>
            </a:extLst>
          </p:cNvPr>
          <p:cNvSpPr>
            <a:spLocks noGrp="1"/>
          </p:cNvSpPr>
          <p:nvPr>
            <p:ph idx="1"/>
          </p:nvPr>
        </p:nvSpPr>
        <p:spPr>
          <a:xfrm>
            <a:off x="304952" y="1371600"/>
            <a:ext cx="11505898" cy="4572000"/>
          </a:xfrm>
        </p:spPr>
        <p:txBody>
          <a:bodyPr/>
          <a:lstStyle/>
          <a:p>
            <a:pPr eaLnBrk="1" fontAlgn="auto" hangingPunct="1">
              <a:spcAft>
                <a:spcPts val="0"/>
              </a:spcAft>
              <a:defRPr/>
            </a:pPr>
            <a:r>
              <a:rPr lang="en-US" b="1" dirty="0"/>
              <a:t>Provides for changes in property values to display in a smoother manner over a specified time. </a:t>
            </a:r>
            <a:br>
              <a:rPr lang="en-US" b="1" dirty="0"/>
            </a:br>
            <a:r>
              <a:rPr lang="en-US" b="1" dirty="0"/>
              <a:t>Example:</a:t>
            </a:r>
            <a:br>
              <a:rPr lang="en-US" b="1" dirty="0"/>
            </a:br>
            <a:endParaRPr lang="en-US" b="1" dirty="0"/>
          </a:p>
          <a:p>
            <a:pPr marL="36195" indent="0" eaLnBrk="1" fontAlgn="auto" hangingPunct="1">
              <a:spcAft>
                <a:spcPts val="0"/>
              </a:spcAft>
              <a:buNone/>
              <a:defRPr/>
            </a:pPr>
            <a:r>
              <a:rPr lang="en-US" sz="1800" b="1" dirty="0">
                <a:latin typeface="Courier New" panose="02070309020205020404" pitchFamily="49" charset="0"/>
                <a:cs typeface="Courier New" panose="02070309020205020404" pitchFamily="49" charset="0"/>
              </a:rPr>
              <a:t>nav a:hover { color: #869dc7; background-color: #</a:t>
            </a:r>
            <a:r>
              <a:rPr lang="en-US" sz="1800" b="1" dirty="0" err="1">
                <a:latin typeface="Courier New" panose="02070309020205020404" pitchFamily="49" charset="0"/>
                <a:cs typeface="Courier New" panose="02070309020205020404" pitchFamily="49" charset="0"/>
              </a:rPr>
              <a:t>eaeaea</a:t>
            </a:r>
            <a:r>
              <a:rPr lang="en-US" sz="1800" b="1" dirty="0">
                <a:latin typeface="Courier New" panose="02070309020205020404" pitchFamily="49" charset="0"/>
                <a:cs typeface="Courier New" panose="02070309020205020404" pitchFamily="49" charset="0"/>
              </a:rPr>
              <a:t>;</a:t>
            </a:r>
          </a:p>
          <a:p>
            <a:pPr marL="36195" indent="0" eaLnBrk="1" fontAlgn="auto" hangingPunct="1">
              <a:spcAft>
                <a:spcPts val="0"/>
              </a:spcAft>
              <a:buNone/>
              <a:defRPr/>
            </a:pPr>
            <a:r>
              <a:rPr lang="en-US" sz="1800" b="1" dirty="0">
                <a:latin typeface="Courier New" panose="02070309020205020404" pitchFamily="49" charset="0"/>
                <a:cs typeface="Courier New" panose="02070309020205020404" pitchFamily="49" charset="0"/>
              </a:rPr>
              <a:t>transition: background-color 2s linear; }</a:t>
            </a:r>
          </a:p>
          <a:p>
            <a:pPr marL="36195" indent="0" eaLnBrk="1" fontAlgn="auto" hangingPunct="1">
              <a:spcAft>
                <a:spcPts val="0"/>
              </a:spcAft>
              <a:buNone/>
              <a:defRPr/>
            </a:pPr>
            <a:endParaRPr lang="en-US" sz="1800" b="1" dirty="0">
              <a:latin typeface="Courier New" panose="02070309020205020404" pitchFamily="49" charset="0"/>
              <a:cs typeface="Courier New" panose="02070309020205020404" pitchFamily="49" charset="0"/>
            </a:endParaRPr>
          </a:p>
          <a:p>
            <a:pPr marL="36195" indent="0" eaLnBrk="1" fontAlgn="auto" hangingPunct="1">
              <a:spcAft>
                <a:spcPts val="0"/>
              </a:spcAft>
              <a:buNone/>
              <a:defRPr/>
            </a:pPr>
            <a:r>
              <a:rPr lang="en-US" sz="1800" b="1" dirty="0">
                <a:latin typeface="Courier New" panose="02070309020205020404" pitchFamily="49" charset="0"/>
                <a:cs typeface="Courier New" panose="02070309020205020404" pitchFamily="49" charset="0"/>
              </a:rPr>
              <a:t>Online Example:</a:t>
            </a:r>
            <a:br>
              <a:rPr lang="en-US" sz="1800" b="1" dirty="0">
                <a:latin typeface="Courier New" panose="02070309020205020404" pitchFamily="49" charset="0"/>
                <a:cs typeface="Courier New" panose="02070309020205020404" pitchFamily="49" charset="0"/>
              </a:rPr>
            </a:br>
            <a:r>
              <a:rPr lang="en-US" sz="1800" b="1" dirty="0">
                <a:latin typeface="Courier New" panose="02070309020205020404" pitchFamily="49" charset="0"/>
                <a:cs typeface="Courier New" panose="02070309020205020404" pitchFamily="49" charset="0"/>
                <a:hlinkClick r:id="rId2"/>
              </a:rPr>
              <a:t>https://robots.thoughtbot.com/transitions-and-transforms</a:t>
            </a:r>
            <a:endParaRPr lang="en-US" sz="1800" b="1" dirty="0">
              <a:latin typeface="Courier New" panose="02070309020205020404" pitchFamily="49" charset="0"/>
              <a:cs typeface="Courier New" panose="02070309020205020404" pitchFamily="49" charset="0"/>
            </a:endParaRPr>
          </a:p>
          <a:p>
            <a:pPr marL="36195" indent="0" eaLnBrk="1" fontAlgn="auto" hangingPunct="1">
              <a:spcAft>
                <a:spcPts val="0"/>
              </a:spcAft>
              <a:buNone/>
              <a:defRPr/>
            </a:pPr>
            <a:endParaRPr lang="en-US" sz="1600" b="1" dirty="0">
              <a:latin typeface="Courier New" panose="02070309020205020404" pitchFamily="49" charset="0"/>
              <a:cs typeface="Courier New" panose="02070309020205020404" pitchFamily="49" charset="0"/>
            </a:endParaRPr>
          </a:p>
        </p:txBody>
      </p:sp>
      <p:sp>
        <p:nvSpPr>
          <p:cNvPr id="134148" name="Footer Placeholder 1">
            <a:extLst>
              <a:ext uri="{FF2B5EF4-FFF2-40B4-BE49-F238E27FC236}">
                <a16:creationId xmlns:a16="http://schemas.microsoft.com/office/drawing/2014/main" id="{E40C7ED8-5FEC-4FFC-9812-EF10572261CB}"/>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en-US">
                <a:solidFill>
                  <a:srgbClr val="FFFFFF"/>
                </a:solidFill>
              </a:rPr>
              <a:t>Copyright © 2016 Pearson Education, Inc., Hoboken NJ</a:t>
            </a:r>
          </a:p>
        </p:txBody>
      </p:sp>
      <p:sp>
        <p:nvSpPr>
          <p:cNvPr id="134147" name="Slide Number Placeholder 3">
            <a:extLst>
              <a:ext uri="{FF2B5EF4-FFF2-40B4-BE49-F238E27FC236}">
                <a16:creationId xmlns:a16="http://schemas.microsoft.com/office/drawing/2014/main" id="{CBF97A1E-7154-466E-9C4A-21B1CAD8003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D3CB4F86-FEB7-4F49-A83F-307781B9A062}" type="slidenum">
              <a:rPr lang="en-US" altLang="en-US" sz="1200"/>
              <a:pPr/>
              <a:t>12</a:t>
            </a:fld>
            <a:endParaRPr lang="en-US" altLang="en-US" sz="120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a:extLst>
              <a:ext uri="{FF2B5EF4-FFF2-40B4-BE49-F238E27FC236}">
                <a16:creationId xmlns:a16="http://schemas.microsoft.com/office/drawing/2014/main" id="{1D4FBD47-89EC-4DC2-91C9-62C757CD6C0C}"/>
              </a:ext>
            </a:extLst>
          </p:cNvPr>
          <p:cNvSpPr>
            <a:spLocks noGrp="1" noChangeArrowheads="1"/>
          </p:cNvSpPr>
          <p:nvPr>
            <p:ph type="title" idx="4294967295"/>
          </p:nvPr>
        </p:nvSpPr>
        <p:spPr>
          <a:xfrm>
            <a:off x="0" y="0"/>
            <a:ext cx="8229600" cy="1143000"/>
          </a:xfrm>
        </p:spPr>
        <p:txBody>
          <a:bodyPr/>
          <a:lstStyle/>
          <a:p>
            <a:pPr algn="l" eaLnBrk="1" hangingPunct="1"/>
            <a:r>
              <a:rPr lang="en-US" altLang="en-US" sz="3200">
                <a:solidFill>
                  <a:srgbClr val="FF3300"/>
                </a:solidFill>
                <a:latin typeface="Georgia" panose="02040502050405020303" pitchFamily="18" charset="0"/>
              </a:rPr>
              <a:t>6. CSS3 Transforms &amp; Transitions</a:t>
            </a:r>
            <a:endParaRPr lang="en-GB" altLang="en-US" sz="3200">
              <a:solidFill>
                <a:srgbClr val="FF3300"/>
              </a:solidFill>
              <a:latin typeface="Georgia" panose="02040502050405020303" pitchFamily="18" charset="0"/>
            </a:endParaRPr>
          </a:p>
        </p:txBody>
      </p:sp>
      <p:sp>
        <p:nvSpPr>
          <p:cNvPr id="135170" name="Rectangle 3">
            <a:extLst>
              <a:ext uri="{FF2B5EF4-FFF2-40B4-BE49-F238E27FC236}">
                <a16:creationId xmlns:a16="http://schemas.microsoft.com/office/drawing/2014/main" id="{0805263E-5A0B-44FD-A1AE-D6CF0596402E}"/>
              </a:ext>
            </a:extLst>
          </p:cNvPr>
          <p:cNvSpPr>
            <a:spLocks noGrp="1" noChangeArrowheads="1"/>
          </p:cNvSpPr>
          <p:nvPr>
            <p:ph type="body" idx="4294967295"/>
          </p:nvPr>
        </p:nvSpPr>
        <p:spPr>
          <a:xfrm>
            <a:off x="381150" y="838268"/>
            <a:ext cx="11582096" cy="5791048"/>
          </a:xfrm>
        </p:spPr>
        <p:txBody>
          <a:bodyPr>
            <a:normAutofit/>
          </a:bodyPr>
          <a:lstStyle/>
          <a:p>
            <a:pPr>
              <a:buFontTx/>
              <a:buNone/>
            </a:pPr>
            <a:r>
              <a:rPr lang="en-US" altLang="en-US" sz="1600" b="1" dirty="0">
                <a:solidFill>
                  <a:srgbClr val="0066CC"/>
                </a:solidFill>
                <a:latin typeface="Georgia" panose="02040502050405020303" pitchFamily="18" charset="0"/>
              </a:rPr>
              <a:t>Transitions</a:t>
            </a:r>
            <a:endParaRPr lang="en-GB" altLang="en-US" sz="1600" b="1" dirty="0">
              <a:solidFill>
                <a:srgbClr val="0066CC"/>
              </a:solidFill>
              <a:latin typeface="Georgia" panose="02040502050405020303" pitchFamily="18" charset="0"/>
            </a:endParaRPr>
          </a:p>
          <a:p>
            <a:pPr>
              <a:buFontTx/>
              <a:buNone/>
            </a:pPr>
            <a:r>
              <a:rPr lang="en-GB" altLang="en-US" sz="1400" b="1" dirty="0">
                <a:latin typeface="Georgia" panose="02040502050405020303" pitchFamily="18" charset="0"/>
              </a:rPr>
              <a:t>Transitions allow the values of CSS properties to </a:t>
            </a:r>
            <a:r>
              <a:rPr lang="en-GB" altLang="en-US" sz="1400" b="1" dirty="0">
                <a:solidFill>
                  <a:srgbClr val="0066CC"/>
                </a:solidFill>
                <a:latin typeface="Georgia" panose="02040502050405020303" pitchFamily="18" charset="0"/>
              </a:rPr>
              <a:t>change over time, essentially providing simple</a:t>
            </a:r>
          </a:p>
          <a:p>
            <a:pPr>
              <a:buFontTx/>
              <a:buNone/>
            </a:pPr>
            <a:r>
              <a:rPr lang="en-GB" altLang="en-US" sz="1400" b="1" dirty="0">
                <a:solidFill>
                  <a:srgbClr val="0066CC"/>
                </a:solidFill>
                <a:latin typeface="Georgia" panose="02040502050405020303" pitchFamily="18" charset="0"/>
              </a:rPr>
              <a:t>animations</a:t>
            </a:r>
            <a:r>
              <a:rPr lang="en-GB" altLang="en-US" sz="1400" b="1" dirty="0">
                <a:latin typeface="Georgia" panose="02040502050405020303" pitchFamily="18" charset="0"/>
              </a:rPr>
              <a:t>. For example, if a link changes </a:t>
            </a:r>
            <a:r>
              <a:rPr lang="en-GB" altLang="en-US" sz="1400" b="1" dirty="0" err="1">
                <a:latin typeface="Georgia" panose="02040502050405020303" pitchFamily="18" charset="0"/>
              </a:rPr>
              <a:t>color</a:t>
            </a:r>
            <a:r>
              <a:rPr lang="en-GB" altLang="en-US" sz="1400" b="1" dirty="0">
                <a:latin typeface="Georgia" panose="02040502050405020303" pitchFamily="18" charset="0"/>
              </a:rPr>
              <a:t> on hover, you can have it gradually fade from one </a:t>
            </a:r>
            <a:r>
              <a:rPr lang="en-GB" altLang="en-US" sz="1400" b="1" dirty="0" err="1">
                <a:latin typeface="Georgia" panose="02040502050405020303" pitchFamily="18" charset="0"/>
              </a:rPr>
              <a:t>color</a:t>
            </a:r>
            <a:endParaRPr lang="en-GB" altLang="en-US" sz="1400" b="1" dirty="0">
              <a:latin typeface="Georgia" panose="02040502050405020303" pitchFamily="18" charset="0"/>
            </a:endParaRPr>
          </a:p>
          <a:p>
            <a:pPr>
              <a:buFontTx/>
              <a:buNone/>
            </a:pPr>
            <a:r>
              <a:rPr lang="en-GB" altLang="en-US" sz="1400" b="1" dirty="0">
                <a:latin typeface="Georgia" panose="02040502050405020303" pitchFamily="18" charset="0"/>
              </a:rPr>
              <a:t>to the other, instead of a sudden change</a:t>
            </a:r>
            <a:br>
              <a:rPr lang="en-GB" altLang="en-US" sz="1400" b="1" dirty="0">
                <a:latin typeface="Georgia" panose="02040502050405020303" pitchFamily="18" charset="0"/>
              </a:rPr>
            </a:br>
            <a:endParaRPr lang="en-GB" altLang="en-US" sz="1400" b="1" dirty="0">
              <a:latin typeface="Georgia" panose="02040502050405020303" pitchFamily="18" charset="0"/>
            </a:endParaRPr>
          </a:p>
          <a:p>
            <a:pPr eaLnBrk="1" hangingPunct="1">
              <a:buFontTx/>
              <a:buNone/>
            </a:pPr>
            <a:r>
              <a:rPr lang="en-GB" altLang="en-US" sz="1400" b="1" dirty="0">
                <a:solidFill>
                  <a:srgbClr val="0066CC"/>
                </a:solidFill>
                <a:latin typeface="Georgia" panose="02040502050405020303" pitchFamily="18" charset="0"/>
              </a:rPr>
              <a:t>Here are the steps to create a simple transition using only CSS:</a:t>
            </a:r>
          </a:p>
          <a:p>
            <a:pPr>
              <a:buFontTx/>
              <a:buNone/>
            </a:pPr>
            <a:r>
              <a:rPr lang="en-US" altLang="en-US" sz="1400" b="1" dirty="0">
                <a:latin typeface="Georgia" panose="02040502050405020303" pitchFamily="18" charset="0"/>
              </a:rPr>
              <a:t>1. Declare the original state of the element in the default style declaration.</a:t>
            </a:r>
          </a:p>
          <a:p>
            <a:pPr>
              <a:buFontTx/>
              <a:buNone/>
            </a:pPr>
            <a:r>
              <a:rPr lang="en-US" altLang="en-US" sz="1400" b="1" dirty="0">
                <a:latin typeface="Georgia" panose="02040502050405020303" pitchFamily="18" charset="0"/>
              </a:rPr>
              <a:t>2. Declare the final state of your transitioned element; for example, in a hover state.</a:t>
            </a:r>
          </a:p>
          <a:p>
            <a:pPr>
              <a:buFontTx/>
              <a:buNone/>
            </a:pPr>
            <a:r>
              <a:rPr lang="en-US" altLang="en-US" sz="1400" b="1" dirty="0">
                <a:latin typeface="Georgia" panose="02040502050405020303" pitchFamily="18" charset="0"/>
              </a:rPr>
              <a:t>3. Include the transition functions in your default style declaration, using a few different properties:</a:t>
            </a:r>
          </a:p>
          <a:p>
            <a:pPr>
              <a:buFontTx/>
              <a:buNone/>
            </a:pPr>
            <a:r>
              <a:rPr lang="en-US" altLang="en-US" sz="1400" b="1" dirty="0">
                <a:latin typeface="Georgia" panose="02040502050405020303" pitchFamily="18" charset="0"/>
              </a:rPr>
              <a:t>    transition-property, transition-</a:t>
            </a:r>
            <a:r>
              <a:rPr lang="en-US" altLang="en-US" sz="1400" b="1" dirty="0" err="1">
                <a:latin typeface="Georgia" panose="02040502050405020303" pitchFamily="18" charset="0"/>
              </a:rPr>
              <a:t>duration,transition</a:t>
            </a:r>
            <a:r>
              <a:rPr lang="en-US" altLang="en-US" sz="1400" b="1" dirty="0">
                <a:latin typeface="Georgia" panose="02040502050405020303" pitchFamily="18" charset="0"/>
              </a:rPr>
              <a:t>-timing-function, and transition-delay. </a:t>
            </a:r>
          </a:p>
          <a:p>
            <a:pPr>
              <a:buFontTx/>
              <a:buNone/>
            </a:pPr>
            <a:endParaRPr lang="en-US" altLang="en-US" sz="1400" b="1" dirty="0">
              <a:latin typeface="Georgia" panose="02040502050405020303" pitchFamily="18" charset="0"/>
            </a:endParaRPr>
          </a:p>
          <a:p>
            <a:pPr>
              <a:buFontTx/>
              <a:buNone/>
            </a:pPr>
            <a:r>
              <a:rPr lang="en-US" altLang="en-US" sz="1400" b="1" dirty="0">
                <a:solidFill>
                  <a:srgbClr val="0066CC"/>
                </a:solidFill>
                <a:latin typeface="Georgia" panose="02040502050405020303" pitchFamily="18" charset="0"/>
              </a:rPr>
              <a:t>list of properties that can be transitioned</a:t>
            </a:r>
          </a:p>
          <a:p>
            <a:pPr>
              <a:buFontTx/>
              <a:buNone/>
            </a:pPr>
            <a:r>
              <a:rPr lang="en-US" altLang="en-US" sz="1400" b="1" dirty="0">
                <a:latin typeface="Georgia" panose="02040502050405020303" pitchFamily="18" charset="0"/>
              </a:rPr>
              <a:t>■ background-color and background-position ■ border-color, border-spacing, and border-width</a:t>
            </a:r>
          </a:p>
          <a:p>
            <a:pPr>
              <a:buFontTx/>
              <a:buNone/>
            </a:pPr>
            <a:r>
              <a:rPr lang="en-US" altLang="en-US" sz="1400" b="1" dirty="0">
                <a:latin typeface="Georgia" panose="02040502050405020303" pitchFamily="18" charset="0"/>
              </a:rPr>
              <a:t>■ bottom, top, left, and right ■ clip ■ color ■ crop ■ font-size and font-weight ■ height and width</a:t>
            </a:r>
          </a:p>
          <a:p>
            <a:pPr>
              <a:buFontTx/>
              <a:buNone/>
            </a:pPr>
            <a:r>
              <a:rPr lang="en-US" altLang="en-US" sz="1400" b="1" dirty="0">
                <a:latin typeface="Georgia" panose="02040502050405020303" pitchFamily="18" charset="0"/>
              </a:rPr>
              <a:t>■ letter-spacing ■ line-height ■ margin ■ max-height, max-width, min-height, and min-width</a:t>
            </a:r>
          </a:p>
          <a:p>
            <a:pPr>
              <a:buFontTx/>
              <a:buNone/>
            </a:pPr>
            <a:r>
              <a:rPr lang="en-US" altLang="en-US" sz="1400" b="1" dirty="0">
                <a:latin typeface="Georgia" panose="02040502050405020303" pitchFamily="18" charset="0"/>
              </a:rPr>
              <a:t>■ opacity ■ outline-color, outline-offset, and outline-width ■ padding ■ text-indent ■ text-shadow</a:t>
            </a:r>
          </a:p>
          <a:p>
            <a:pPr>
              <a:buFontTx/>
              <a:buNone/>
            </a:pPr>
            <a:r>
              <a:rPr lang="en-US" altLang="en-US" sz="1400" b="1" dirty="0">
                <a:latin typeface="Georgia" panose="02040502050405020303" pitchFamily="18" charset="0"/>
              </a:rPr>
              <a:t>■ vertical-align ■ visibility ■ word-spacing ■ z-index</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2">
            <a:extLst>
              <a:ext uri="{FF2B5EF4-FFF2-40B4-BE49-F238E27FC236}">
                <a16:creationId xmlns:a16="http://schemas.microsoft.com/office/drawing/2014/main" id="{4D074DF6-B856-4DF8-9EC8-23B59898D7EB}"/>
              </a:ext>
            </a:extLst>
          </p:cNvPr>
          <p:cNvSpPr>
            <a:spLocks noGrp="1" noChangeArrowheads="1"/>
          </p:cNvSpPr>
          <p:nvPr>
            <p:ph type="title" idx="4294967295"/>
          </p:nvPr>
        </p:nvSpPr>
        <p:spPr>
          <a:xfrm>
            <a:off x="0" y="0"/>
            <a:ext cx="8229600" cy="1143000"/>
          </a:xfrm>
        </p:spPr>
        <p:txBody>
          <a:bodyPr/>
          <a:lstStyle/>
          <a:p>
            <a:pPr algn="l" eaLnBrk="1" hangingPunct="1"/>
            <a:r>
              <a:rPr lang="en-US" altLang="en-US" sz="3200">
                <a:solidFill>
                  <a:srgbClr val="FF3300"/>
                </a:solidFill>
                <a:latin typeface="Georgia" panose="02040502050405020303" pitchFamily="18" charset="0"/>
              </a:rPr>
              <a:t>6. CSS3 Transforms &amp; Transitions</a:t>
            </a:r>
            <a:endParaRPr lang="en-GB" altLang="en-US" sz="3200">
              <a:solidFill>
                <a:srgbClr val="FF3300"/>
              </a:solidFill>
              <a:latin typeface="Georgia" panose="02040502050405020303" pitchFamily="18" charset="0"/>
            </a:endParaRPr>
          </a:p>
        </p:txBody>
      </p:sp>
      <p:sp>
        <p:nvSpPr>
          <p:cNvPr id="137218" name="Rectangle 3">
            <a:extLst>
              <a:ext uri="{FF2B5EF4-FFF2-40B4-BE49-F238E27FC236}">
                <a16:creationId xmlns:a16="http://schemas.microsoft.com/office/drawing/2014/main" id="{CACC8EF4-25F7-4A76-8FB9-86E20551018D}"/>
              </a:ext>
            </a:extLst>
          </p:cNvPr>
          <p:cNvSpPr>
            <a:spLocks noGrp="1" noChangeArrowheads="1"/>
          </p:cNvSpPr>
          <p:nvPr>
            <p:ph type="body" idx="4294967295"/>
          </p:nvPr>
        </p:nvSpPr>
        <p:spPr>
          <a:xfrm>
            <a:off x="304952" y="1143000"/>
            <a:ext cx="10972512" cy="2514594"/>
          </a:xfrm>
        </p:spPr>
        <p:txBody>
          <a:bodyPr/>
          <a:lstStyle/>
          <a:p>
            <a:pPr>
              <a:buFontTx/>
              <a:buNone/>
            </a:pPr>
            <a:endParaRPr lang="en-GB" altLang="en-US" sz="1400" dirty="0">
              <a:latin typeface="Georgia" panose="02040502050405020303" pitchFamily="18" charset="0"/>
            </a:endParaRPr>
          </a:p>
          <a:p>
            <a:pPr>
              <a:buFontTx/>
              <a:buNone/>
            </a:pPr>
            <a:r>
              <a:rPr lang="en-US" altLang="en-US" sz="1600" dirty="0">
                <a:solidFill>
                  <a:srgbClr val="0066CC"/>
                </a:solidFill>
                <a:latin typeface="Georgia" panose="02040502050405020303" pitchFamily="18" charset="0"/>
              </a:rPr>
              <a:t>Transition-duration</a:t>
            </a:r>
            <a:endParaRPr lang="en-GB" altLang="en-US" sz="1600" dirty="0">
              <a:solidFill>
                <a:srgbClr val="0066CC"/>
              </a:solidFill>
              <a:latin typeface="Georgia" panose="02040502050405020303" pitchFamily="18" charset="0"/>
            </a:endParaRPr>
          </a:p>
          <a:p>
            <a:pPr>
              <a:buFontTx/>
              <a:buNone/>
            </a:pPr>
            <a:r>
              <a:rPr lang="en-GB" altLang="en-US" sz="1400" dirty="0">
                <a:latin typeface="Georgia" panose="02040502050405020303" pitchFamily="18" charset="0"/>
              </a:rPr>
              <a:t>The transition-duration property sets how long the transition will take. You can specify this either in seconds (s) or milliseconds (</a:t>
            </a:r>
            <a:r>
              <a:rPr lang="en-GB" altLang="en-US" sz="1400" dirty="0" err="1">
                <a:latin typeface="Georgia" panose="02040502050405020303" pitchFamily="18" charset="0"/>
              </a:rPr>
              <a:t>ms</a:t>
            </a:r>
            <a:r>
              <a:rPr lang="en-GB" altLang="en-US" sz="1400" dirty="0">
                <a:latin typeface="Georgia" panose="02040502050405020303" pitchFamily="18" charset="0"/>
              </a:rPr>
              <a:t>).</a:t>
            </a:r>
          </a:p>
          <a:p>
            <a:pPr>
              <a:buFontTx/>
              <a:buNone/>
            </a:pPr>
            <a:r>
              <a:rPr lang="en-GB" altLang="en-US" sz="1400" dirty="0">
                <a:latin typeface="Georgia" panose="02040502050405020303" pitchFamily="18" charset="0"/>
              </a:rPr>
              <a:t>We’d like our animation to be fairly quick, so we’ll specify 0.2 seconds,</a:t>
            </a:r>
          </a:p>
          <a:p>
            <a:pPr>
              <a:buFontTx/>
              <a:buNone/>
            </a:pPr>
            <a:r>
              <a:rPr lang="en-GB" altLang="en-US" sz="1400" dirty="0">
                <a:latin typeface="Georgia" panose="02040502050405020303" pitchFamily="18" charset="0"/>
              </a:rPr>
              <a:t>or 200 milliseconds:</a:t>
            </a:r>
            <a:endParaRPr lang="en-US" altLang="en-US" sz="1400" dirty="0">
              <a:latin typeface="Georgia" panose="02040502050405020303" pitchFamily="18" charset="0"/>
            </a:endParaRPr>
          </a:p>
        </p:txBody>
      </p:sp>
      <p:pic>
        <p:nvPicPr>
          <p:cNvPr id="137219" name="Picture 4">
            <a:extLst>
              <a:ext uri="{FF2B5EF4-FFF2-40B4-BE49-F238E27FC236}">
                <a16:creationId xmlns:a16="http://schemas.microsoft.com/office/drawing/2014/main" id="{4855DA22-F105-4AE8-A988-D26EBD9095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100" y="3809990"/>
            <a:ext cx="428625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2">
            <a:extLst>
              <a:ext uri="{FF2B5EF4-FFF2-40B4-BE49-F238E27FC236}">
                <a16:creationId xmlns:a16="http://schemas.microsoft.com/office/drawing/2014/main" id="{058362CD-C0EB-4239-82FE-3DDA7279E902}"/>
              </a:ext>
            </a:extLst>
          </p:cNvPr>
          <p:cNvSpPr>
            <a:spLocks noGrp="1" noChangeArrowheads="1"/>
          </p:cNvSpPr>
          <p:nvPr>
            <p:ph type="title" idx="4294967295"/>
          </p:nvPr>
        </p:nvSpPr>
        <p:spPr>
          <a:xfrm>
            <a:off x="0" y="0"/>
            <a:ext cx="8229600" cy="1143000"/>
          </a:xfrm>
        </p:spPr>
        <p:txBody>
          <a:bodyPr/>
          <a:lstStyle/>
          <a:p>
            <a:pPr algn="l" eaLnBrk="1" hangingPunct="1"/>
            <a:r>
              <a:rPr lang="en-US" altLang="en-US" sz="3200">
                <a:solidFill>
                  <a:srgbClr val="FF3300"/>
                </a:solidFill>
                <a:latin typeface="Georgia" panose="02040502050405020303" pitchFamily="18" charset="0"/>
              </a:rPr>
              <a:t>6. CSS3 Transforms &amp; Transitions</a:t>
            </a:r>
            <a:endParaRPr lang="en-GB" altLang="en-US" sz="3200">
              <a:solidFill>
                <a:srgbClr val="FF3300"/>
              </a:solidFill>
              <a:latin typeface="Georgia" panose="02040502050405020303" pitchFamily="18" charset="0"/>
            </a:endParaRPr>
          </a:p>
        </p:txBody>
      </p:sp>
      <p:sp>
        <p:nvSpPr>
          <p:cNvPr id="139266" name="Rectangle 3">
            <a:extLst>
              <a:ext uri="{FF2B5EF4-FFF2-40B4-BE49-F238E27FC236}">
                <a16:creationId xmlns:a16="http://schemas.microsoft.com/office/drawing/2014/main" id="{77A28BEE-C84D-4BD2-88A8-55034F51768A}"/>
              </a:ext>
            </a:extLst>
          </p:cNvPr>
          <p:cNvSpPr>
            <a:spLocks noGrp="1" noChangeArrowheads="1"/>
          </p:cNvSpPr>
          <p:nvPr>
            <p:ph type="body" idx="4294967295"/>
          </p:nvPr>
        </p:nvSpPr>
        <p:spPr>
          <a:xfrm>
            <a:off x="533546" y="1143000"/>
            <a:ext cx="10286730" cy="2895584"/>
          </a:xfrm>
        </p:spPr>
        <p:txBody>
          <a:bodyPr/>
          <a:lstStyle/>
          <a:p>
            <a:pPr>
              <a:buFontTx/>
              <a:buNone/>
            </a:pPr>
            <a:endParaRPr lang="en-GB" altLang="en-US" sz="1400" dirty="0">
              <a:latin typeface="Georgia" panose="02040502050405020303" pitchFamily="18" charset="0"/>
            </a:endParaRPr>
          </a:p>
          <a:p>
            <a:pPr>
              <a:buFontTx/>
              <a:buNone/>
            </a:pPr>
            <a:r>
              <a:rPr lang="en-US" altLang="en-US" sz="1600" dirty="0">
                <a:solidFill>
                  <a:srgbClr val="0066CC"/>
                </a:solidFill>
                <a:latin typeface="Georgia" panose="02040502050405020303" pitchFamily="18" charset="0"/>
              </a:rPr>
              <a:t>Transition-timing-function</a:t>
            </a:r>
            <a:endParaRPr lang="en-GB" altLang="en-US" sz="1600" dirty="0">
              <a:solidFill>
                <a:srgbClr val="0066CC"/>
              </a:solidFill>
              <a:latin typeface="Georgia" panose="02040502050405020303" pitchFamily="18" charset="0"/>
            </a:endParaRPr>
          </a:p>
          <a:p>
            <a:pPr>
              <a:buFontTx/>
              <a:buNone/>
            </a:pPr>
            <a:r>
              <a:rPr lang="en-GB" altLang="en-US" sz="1400" dirty="0">
                <a:latin typeface="Georgia" panose="02040502050405020303" pitchFamily="18" charset="0"/>
              </a:rPr>
              <a:t>The transition-timing-function lets you control the pace of the transition in even more granular detail.</a:t>
            </a:r>
          </a:p>
          <a:p>
            <a:pPr>
              <a:buFontTx/>
              <a:buNone/>
            </a:pPr>
            <a:r>
              <a:rPr lang="en-GB" altLang="en-US" sz="1400" dirty="0">
                <a:latin typeface="Georgia" panose="02040502050405020303" pitchFamily="18" charset="0"/>
              </a:rPr>
              <a:t>Do you want your animation to start off slow and get faster, start off fast and end slower</a:t>
            </a:r>
          </a:p>
          <a:p>
            <a:pPr>
              <a:buFontTx/>
              <a:buNone/>
            </a:pPr>
            <a:r>
              <a:rPr lang="en-GB" altLang="en-US" sz="1400" dirty="0">
                <a:latin typeface="Georgia" panose="02040502050405020303" pitchFamily="18" charset="0"/>
              </a:rPr>
              <a:t>You can specify one of the key terms ease, linear, ease-in, ease-out, or ease in-out. </a:t>
            </a:r>
          </a:p>
          <a:p>
            <a:pPr>
              <a:buFontTx/>
              <a:buNone/>
            </a:pPr>
            <a:r>
              <a:rPr lang="en-GB" altLang="en-US" sz="1400" dirty="0">
                <a:latin typeface="Georgia" panose="02040502050405020303" pitchFamily="18" charset="0"/>
              </a:rPr>
              <a:t>The best way to familiarize yourself with them is to play around and try them all.</a:t>
            </a:r>
            <a:endParaRPr lang="en-US" altLang="en-US" sz="1400" dirty="0">
              <a:latin typeface="Georgia" panose="02040502050405020303" pitchFamily="18" charset="0"/>
            </a:endParaRPr>
          </a:p>
        </p:txBody>
      </p:sp>
      <p:pic>
        <p:nvPicPr>
          <p:cNvPr id="139267" name="Picture 5">
            <a:extLst>
              <a:ext uri="{FF2B5EF4-FFF2-40B4-BE49-F238E27FC236}">
                <a16:creationId xmlns:a16="http://schemas.microsoft.com/office/drawing/2014/main" id="{FF4669C7-58C4-4ADD-A1A8-DA0283FFBE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902" y="4114782"/>
            <a:ext cx="5153025"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2">
            <a:extLst>
              <a:ext uri="{FF2B5EF4-FFF2-40B4-BE49-F238E27FC236}">
                <a16:creationId xmlns:a16="http://schemas.microsoft.com/office/drawing/2014/main" id="{C2F4EE6E-1255-494C-915A-AECF33197968}"/>
              </a:ext>
            </a:extLst>
          </p:cNvPr>
          <p:cNvSpPr>
            <a:spLocks noGrp="1" noChangeArrowheads="1"/>
          </p:cNvSpPr>
          <p:nvPr>
            <p:ph type="title" idx="4294967295"/>
          </p:nvPr>
        </p:nvSpPr>
        <p:spPr>
          <a:xfrm>
            <a:off x="0" y="0"/>
            <a:ext cx="8229600" cy="1143000"/>
          </a:xfrm>
        </p:spPr>
        <p:txBody>
          <a:bodyPr/>
          <a:lstStyle/>
          <a:p>
            <a:pPr algn="l" eaLnBrk="1" hangingPunct="1"/>
            <a:r>
              <a:rPr lang="en-US" altLang="en-US" sz="3200">
                <a:solidFill>
                  <a:srgbClr val="FF3300"/>
                </a:solidFill>
                <a:latin typeface="Georgia" panose="02040502050405020303" pitchFamily="18" charset="0"/>
              </a:rPr>
              <a:t>6. CSS3 Transforms &amp; Transitions</a:t>
            </a:r>
            <a:endParaRPr lang="en-GB" altLang="en-US" sz="3200">
              <a:solidFill>
                <a:srgbClr val="FF3300"/>
              </a:solidFill>
              <a:latin typeface="Georgia" panose="02040502050405020303" pitchFamily="18" charset="0"/>
            </a:endParaRPr>
          </a:p>
        </p:txBody>
      </p:sp>
      <p:sp>
        <p:nvSpPr>
          <p:cNvPr id="141314" name="Rectangle 3">
            <a:extLst>
              <a:ext uri="{FF2B5EF4-FFF2-40B4-BE49-F238E27FC236}">
                <a16:creationId xmlns:a16="http://schemas.microsoft.com/office/drawing/2014/main" id="{05F252B2-4F9C-44C3-82B5-97D27F27DDB9}"/>
              </a:ext>
            </a:extLst>
          </p:cNvPr>
          <p:cNvSpPr>
            <a:spLocks noGrp="1" noChangeArrowheads="1"/>
          </p:cNvSpPr>
          <p:nvPr>
            <p:ph type="body" idx="4294967295"/>
          </p:nvPr>
        </p:nvSpPr>
        <p:spPr>
          <a:xfrm>
            <a:off x="753860" y="703791"/>
            <a:ext cx="10752198" cy="5562600"/>
          </a:xfrm>
        </p:spPr>
        <p:txBody>
          <a:bodyPr/>
          <a:lstStyle/>
          <a:p>
            <a:pPr>
              <a:buFontTx/>
              <a:buNone/>
            </a:pPr>
            <a:endParaRPr lang="en-GB" altLang="en-US" sz="1400" b="1" dirty="0">
              <a:latin typeface="Georgia" panose="02040502050405020303" pitchFamily="18" charset="0"/>
            </a:endParaRPr>
          </a:p>
          <a:p>
            <a:pPr>
              <a:buFontTx/>
              <a:buNone/>
            </a:pPr>
            <a:r>
              <a:rPr lang="en-US" altLang="en-US" sz="1600" b="1" dirty="0">
                <a:solidFill>
                  <a:srgbClr val="0066CC"/>
                </a:solidFill>
                <a:latin typeface="Georgia" panose="02040502050405020303" pitchFamily="18" charset="0"/>
              </a:rPr>
              <a:t>Transition-delay</a:t>
            </a:r>
            <a:endParaRPr lang="en-GB" altLang="en-US" sz="1600" b="1" dirty="0">
              <a:solidFill>
                <a:srgbClr val="0066CC"/>
              </a:solidFill>
              <a:latin typeface="Georgia" panose="02040502050405020303" pitchFamily="18" charset="0"/>
            </a:endParaRPr>
          </a:p>
          <a:p>
            <a:pPr>
              <a:buFontTx/>
              <a:buNone/>
            </a:pPr>
            <a:r>
              <a:rPr lang="en-GB" altLang="en-US" sz="1400" b="1" dirty="0">
                <a:latin typeface="Georgia" panose="02040502050405020303" pitchFamily="18" charset="0"/>
              </a:rPr>
              <a:t>Finally, by using the transition-delay property, it’s also possible to introduce a delay before the animation begins.</a:t>
            </a:r>
          </a:p>
          <a:p>
            <a:pPr>
              <a:buFontTx/>
              <a:buNone/>
            </a:pPr>
            <a:r>
              <a:rPr lang="en-GB" altLang="en-US" sz="1400" b="1" dirty="0">
                <a:latin typeface="Georgia" panose="02040502050405020303" pitchFamily="18" charset="0"/>
              </a:rPr>
              <a:t>Normally, a transition begins immediately, so the default is 0. Include the number of milliseconds (</a:t>
            </a:r>
            <a:r>
              <a:rPr lang="en-GB" altLang="en-US" sz="1400" b="1" dirty="0" err="1">
                <a:latin typeface="Georgia" panose="02040502050405020303" pitchFamily="18" charset="0"/>
              </a:rPr>
              <a:t>ms</a:t>
            </a:r>
            <a:r>
              <a:rPr lang="en-GB" altLang="en-US" sz="1400" b="1" dirty="0">
                <a:latin typeface="Georgia" panose="02040502050405020303" pitchFamily="18" charset="0"/>
              </a:rPr>
              <a:t>) or seconds(s) to delay the transition:</a:t>
            </a:r>
            <a:endParaRPr lang="en-US" altLang="en-US" sz="1400" b="1" dirty="0">
              <a:latin typeface="Georgia" panose="02040502050405020303" pitchFamily="18" charset="0"/>
            </a:endParaRPr>
          </a:p>
        </p:txBody>
      </p:sp>
      <p:pic>
        <p:nvPicPr>
          <p:cNvPr id="141315" name="Picture 5">
            <a:extLst>
              <a:ext uri="{FF2B5EF4-FFF2-40B4-BE49-F238E27FC236}">
                <a16:creationId xmlns:a16="http://schemas.microsoft.com/office/drawing/2014/main" id="{4B955DC7-3358-431B-A8A5-1AE3A87054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1" y="2819401"/>
            <a:ext cx="7256463" cy="334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2">
            <a:extLst>
              <a:ext uri="{FF2B5EF4-FFF2-40B4-BE49-F238E27FC236}">
                <a16:creationId xmlns:a16="http://schemas.microsoft.com/office/drawing/2014/main" id="{6B7B3842-88E7-4627-A953-021F250DD2B5}"/>
              </a:ext>
            </a:extLst>
          </p:cNvPr>
          <p:cNvSpPr>
            <a:spLocks noGrp="1" noChangeArrowheads="1"/>
          </p:cNvSpPr>
          <p:nvPr>
            <p:ph type="title" idx="4294967295"/>
          </p:nvPr>
        </p:nvSpPr>
        <p:spPr>
          <a:xfrm>
            <a:off x="0" y="0"/>
            <a:ext cx="8229600" cy="1143000"/>
          </a:xfrm>
        </p:spPr>
        <p:txBody>
          <a:bodyPr/>
          <a:lstStyle/>
          <a:p>
            <a:pPr algn="l" eaLnBrk="1" hangingPunct="1"/>
            <a:r>
              <a:rPr lang="en-US" altLang="en-US" sz="3200">
                <a:solidFill>
                  <a:srgbClr val="FF3300"/>
                </a:solidFill>
                <a:latin typeface="Georgia" panose="02040502050405020303" pitchFamily="18" charset="0"/>
              </a:rPr>
              <a:t>6. CSS3 Transforms &amp; Transitions</a:t>
            </a:r>
            <a:endParaRPr lang="en-GB" altLang="en-US" sz="3200">
              <a:solidFill>
                <a:srgbClr val="FF3300"/>
              </a:solidFill>
              <a:latin typeface="Georgia" panose="02040502050405020303" pitchFamily="18" charset="0"/>
            </a:endParaRPr>
          </a:p>
        </p:txBody>
      </p:sp>
      <p:sp>
        <p:nvSpPr>
          <p:cNvPr id="143362" name="Rectangle 3">
            <a:extLst>
              <a:ext uri="{FF2B5EF4-FFF2-40B4-BE49-F238E27FC236}">
                <a16:creationId xmlns:a16="http://schemas.microsoft.com/office/drawing/2014/main" id="{EAA33D7A-6D02-48AA-8195-ACBB7FE999EF}"/>
              </a:ext>
            </a:extLst>
          </p:cNvPr>
          <p:cNvSpPr>
            <a:spLocks noGrp="1" noChangeArrowheads="1"/>
          </p:cNvSpPr>
          <p:nvPr>
            <p:ph type="body" idx="4294967295"/>
          </p:nvPr>
        </p:nvSpPr>
        <p:spPr>
          <a:xfrm>
            <a:off x="762140" y="914466"/>
            <a:ext cx="10515324" cy="5562600"/>
          </a:xfrm>
        </p:spPr>
        <p:txBody>
          <a:bodyPr/>
          <a:lstStyle/>
          <a:p>
            <a:pPr>
              <a:buFontTx/>
              <a:buNone/>
            </a:pPr>
            <a:r>
              <a:rPr lang="en-US" altLang="en-US" sz="1600" dirty="0">
                <a:solidFill>
                  <a:srgbClr val="0066CC"/>
                </a:solidFill>
                <a:latin typeface="Georgia" panose="02040502050405020303" pitchFamily="18" charset="0"/>
              </a:rPr>
              <a:t>Transition-shorthand property</a:t>
            </a:r>
            <a:endParaRPr lang="en-GB" altLang="en-US" sz="1600" dirty="0">
              <a:solidFill>
                <a:srgbClr val="0066CC"/>
              </a:solidFill>
              <a:latin typeface="Georgia" panose="02040502050405020303" pitchFamily="18" charset="0"/>
            </a:endParaRPr>
          </a:p>
          <a:p>
            <a:pPr>
              <a:buFontTx/>
              <a:buNone/>
            </a:pPr>
            <a:r>
              <a:rPr lang="en-GB" altLang="en-US" sz="1400" dirty="0">
                <a:latin typeface="Georgia" panose="02040502050405020303" pitchFamily="18" charset="0"/>
              </a:rPr>
              <a:t>With four transition properties and three vendor prefixes, you could wind up with 16 lines of CSS for a single transition.</a:t>
            </a:r>
          </a:p>
          <a:p>
            <a:pPr>
              <a:buFontTx/>
              <a:buNone/>
            </a:pPr>
            <a:r>
              <a:rPr lang="en-GB" altLang="en-US" sz="1400" dirty="0">
                <a:latin typeface="Georgia" panose="02040502050405020303" pitchFamily="18" charset="0"/>
              </a:rPr>
              <a:t>Fortunately, as with other properties, there’s a shorthand available. The transition property is shorthand for the four transition</a:t>
            </a:r>
          </a:p>
          <a:p>
            <a:pPr>
              <a:buFontTx/>
              <a:buNone/>
            </a:pPr>
            <a:r>
              <a:rPr lang="en-GB" altLang="en-US" sz="1400" dirty="0">
                <a:latin typeface="Georgia" panose="02040502050405020303" pitchFamily="18" charset="0"/>
              </a:rPr>
              <a:t>functions described above. Let’s take another look at our transition so far:</a:t>
            </a:r>
            <a:endParaRPr lang="en-US" altLang="en-US" sz="1400" dirty="0">
              <a:latin typeface="Georgia" panose="02040502050405020303" pitchFamily="18" charset="0"/>
            </a:endParaRPr>
          </a:p>
        </p:txBody>
      </p:sp>
      <p:pic>
        <p:nvPicPr>
          <p:cNvPr id="143363" name="Picture 5">
            <a:extLst>
              <a:ext uri="{FF2B5EF4-FFF2-40B4-BE49-F238E27FC236}">
                <a16:creationId xmlns:a16="http://schemas.microsoft.com/office/drawing/2014/main" id="{F9BDCD04-A523-4768-883C-BAC05AF209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2895601"/>
            <a:ext cx="4267200" cy="236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364" name="Picture 6">
            <a:extLst>
              <a:ext uri="{FF2B5EF4-FFF2-40B4-BE49-F238E27FC236}">
                <a16:creationId xmlns:a16="http://schemas.microsoft.com/office/drawing/2014/main" id="{16213308-7BFB-45B3-BA30-7382E55E10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3733800"/>
            <a:ext cx="3962400" cy="133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65" name="Text Box 7">
            <a:extLst>
              <a:ext uri="{FF2B5EF4-FFF2-40B4-BE49-F238E27FC236}">
                <a16:creationId xmlns:a16="http://schemas.microsoft.com/office/drawing/2014/main" id="{FF017C38-46B0-4C5D-8E0E-E2E7FA13056E}"/>
              </a:ext>
            </a:extLst>
          </p:cNvPr>
          <p:cNvSpPr txBox="1">
            <a:spLocks noChangeArrowheads="1"/>
          </p:cNvSpPr>
          <p:nvPr/>
        </p:nvSpPr>
        <p:spPr bwMode="auto">
          <a:xfrm>
            <a:off x="6537325" y="3109913"/>
            <a:ext cx="11128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en-US" sz="1600">
                <a:solidFill>
                  <a:srgbClr val="0066CC"/>
                </a:solidFill>
                <a:latin typeface="Georgia" panose="02040502050405020303" pitchFamily="18" charset="0"/>
              </a:rPr>
              <a:t>shorthand</a:t>
            </a:r>
            <a:endParaRPr lang="en-GB" altLang="en-US" sz="1600">
              <a:solidFill>
                <a:srgbClr val="0066CC"/>
              </a:solidFill>
              <a:latin typeface="Georgia" panose="02040502050405020303" pitchFamily="18" charset="0"/>
            </a:endParaRPr>
          </a:p>
        </p:txBody>
      </p:sp>
      <p:sp>
        <p:nvSpPr>
          <p:cNvPr id="143366" name="Text Box 8">
            <a:extLst>
              <a:ext uri="{FF2B5EF4-FFF2-40B4-BE49-F238E27FC236}">
                <a16:creationId xmlns:a16="http://schemas.microsoft.com/office/drawing/2014/main" id="{6DABEE7D-E52F-4FF5-A728-82211E6C8CF4}"/>
              </a:ext>
            </a:extLst>
          </p:cNvPr>
          <p:cNvSpPr txBox="1">
            <a:spLocks noChangeArrowheads="1"/>
          </p:cNvSpPr>
          <p:nvPr/>
        </p:nvSpPr>
        <p:spPr bwMode="auto">
          <a:xfrm>
            <a:off x="2041526" y="5334001"/>
            <a:ext cx="8321675"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GB" altLang="en-US" sz="1400">
                <a:latin typeface="Georgia" panose="02040502050405020303" pitchFamily="18" charset="0"/>
              </a:rPr>
              <a:t>Note that order of the values is important and must be as follows (though you don’t need to specify all four values):</a:t>
            </a:r>
          </a:p>
          <a:p>
            <a:r>
              <a:rPr lang="en-GB" altLang="en-US" sz="1400">
                <a:latin typeface="Georgia" panose="02040502050405020303" pitchFamily="18" charset="0"/>
              </a:rPr>
              <a:t>1. transition-property</a:t>
            </a:r>
          </a:p>
          <a:p>
            <a:r>
              <a:rPr lang="en-GB" altLang="en-US" sz="1400">
                <a:latin typeface="Georgia" panose="02040502050405020303" pitchFamily="18" charset="0"/>
              </a:rPr>
              <a:t>2. transition-duration</a:t>
            </a:r>
          </a:p>
          <a:p>
            <a:r>
              <a:rPr lang="en-GB" altLang="en-US" sz="1400">
                <a:latin typeface="Georgia" panose="02040502050405020303" pitchFamily="18" charset="0"/>
              </a:rPr>
              <a:t>3. transition-function</a:t>
            </a:r>
          </a:p>
          <a:p>
            <a:r>
              <a:rPr lang="en-GB" altLang="en-US" sz="1400">
                <a:latin typeface="Georgia" panose="02040502050405020303" pitchFamily="18" charset="0"/>
              </a:rPr>
              <a:t>4. transition-delay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2">
            <a:extLst>
              <a:ext uri="{FF2B5EF4-FFF2-40B4-BE49-F238E27FC236}">
                <a16:creationId xmlns:a16="http://schemas.microsoft.com/office/drawing/2014/main" id="{0154F1F3-6A59-489A-A8BD-145C7131D599}"/>
              </a:ext>
            </a:extLst>
          </p:cNvPr>
          <p:cNvSpPr>
            <a:spLocks noGrp="1" noChangeArrowheads="1"/>
          </p:cNvSpPr>
          <p:nvPr>
            <p:ph type="title" idx="4294967295"/>
          </p:nvPr>
        </p:nvSpPr>
        <p:spPr>
          <a:xfrm>
            <a:off x="0" y="0"/>
            <a:ext cx="8229600" cy="1143000"/>
          </a:xfrm>
        </p:spPr>
        <p:txBody>
          <a:bodyPr/>
          <a:lstStyle/>
          <a:p>
            <a:pPr algn="l" eaLnBrk="1" hangingPunct="1"/>
            <a:r>
              <a:rPr lang="en-US" altLang="en-US" sz="3200">
                <a:solidFill>
                  <a:srgbClr val="FF3300"/>
                </a:solidFill>
                <a:latin typeface="Georgia" panose="02040502050405020303" pitchFamily="18" charset="0"/>
              </a:rPr>
              <a:t>6. CSS3 Transforms &amp; Transitions</a:t>
            </a:r>
            <a:endParaRPr lang="en-GB" altLang="en-US" sz="3200">
              <a:solidFill>
                <a:srgbClr val="FF3300"/>
              </a:solidFill>
              <a:latin typeface="Georgia" panose="02040502050405020303" pitchFamily="18" charset="0"/>
            </a:endParaRPr>
          </a:p>
        </p:txBody>
      </p:sp>
      <p:sp>
        <p:nvSpPr>
          <p:cNvPr id="145410" name="Rectangle 3">
            <a:extLst>
              <a:ext uri="{FF2B5EF4-FFF2-40B4-BE49-F238E27FC236}">
                <a16:creationId xmlns:a16="http://schemas.microsoft.com/office/drawing/2014/main" id="{446815B1-BC09-4337-A9E8-80202962071A}"/>
              </a:ext>
            </a:extLst>
          </p:cNvPr>
          <p:cNvSpPr>
            <a:spLocks noGrp="1" noChangeArrowheads="1"/>
          </p:cNvSpPr>
          <p:nvPr>
            <p:ph type="body" idx="4294967295"/>
          </p:nvPr>
        </p:nvSpPr>
        <p:spPr>
          <a:xfrm>
            <a:off x="381150" y="914466"/>
            <a:ext cx="11353502" cy="5562600"/>
          </a:xfrm>
        </p:spPr>
        <p:txBody>
          <a:bodyPr/>
          <a:lstStyle/>
          <a:p>
            <a:pPr>
              <a:buFontTx/>
              <a:buNone/>
            </a:pPr>
            <a:endParaRPr lang="en-GB" altLang="en-US" sz="1400" dirty="0">
              <a:latin typeface="Georgia" panose="02040502050405020303" pitchFamily="18" charset="0"/>
            </a:endParaRPr>
          </a:p>
          <a:p>
            <a:pPr>
              <a:buFontTx/>
              <a:buNone/>
            </a:pPr>
            <a:r>
              <a:rPr lang="en-US" altLang="en-US" sz="1600" dirty="0">
                <a:solidFill>
                  <a:srgbClr val="0066CC"/>
                </a:solidFill>
                <a:latin typeface="Georgia" panose="02040502050405020303" pitchFamily="18" charset="0"/>
              </a:rPr>
              <a:t>Multiple transition</a:t>
            </a:r>
            <a:endParaRPr lang="en-GB" altLang="en-US" sz="1600" dirty="0">
              <a:solidFill>
                <a:srgbClr val="0066CC"/>
              </a:solidFill>
              <a:latin typeface="Georgia" panose="02040502050405020303" pitchFamily="18" charset="0"/>
            </a:endParaRPr>
          </a:p>
          <a:p>
            <a:pPr>
              <a:buFontTx/>
              <a:buNone/>
            </a:pPr>
            <a:r>
              <a:rPr lang="en-GB" altLang="en-US" sz="1400" dirty="0">
                <a:latin typeface="Georgia" panose="02040502050405020303" pitchFamily="18" charset="0"/>
              </a:rPr>
              <a:t>With four transition properties and three vendor prefixes, you could wind up with 16 lines of CSS for a single transition. </a:t>
            </a:r>
          </a:p>
          <a:p>
            <a:pPr>
              <a:buFontTx/>
              <a:buNone/>
            </a:pPr>
            <a:r>
              <a:rPr lang="en-GB" altLang="en-US" sz="1400" dirty="0">
                <a:latin typeface="Georgia" panose="02040502050405020303" pitchFamily="18" charset="0"/>
              </a:rPr>
              <a:t>Fortunately, as with other properties, there’s a shorthand available. </a:t>
            </a:r>
          </a:p>
          <a:p>
            <a:pPr>
              <a:buFontTx/>
              <a:buNone/>
            </a:pPr>
            <a:r>
              <a:rPr lang="en-GB" altLang="en-US" sz="1400" dirty="0">
                <a:latin typeface="Georgia" panose="02040502050405020303" pitchFamily="18" charset="0"/>
              </a:rPr>
              <a:t>The transition property is shorthand for the four transition functions described above. </a:t>
            </a:r>
          </a:p>
          <a:p>
            <a:pPr>
              <a:buFontTx/>
              <a:buNone/>
            </a:pPr>
            <a:r>
              <a:rPr lang="en-GB" altLang="en-US" sz="1400" dirty="0">
                <a:latin typeface="Georgia" panose="02040502050405020303" pitchFamily="18" charset="0"/>
              </a:rPr>
              <a:t>Let’s take another look at our transition so far:</a:t>
            </a:r>
            <a:endParaRPr lang="en-US" altLang="en-US" sz="1400" dirty="0">
              <a:latin typeface="Georgia" panose="02040502050405020303" pitchFamily="18" charset="0"/>
            </a:endParaRPr>
          </a:p>
        </p:txBody>
      </p:sp>
      <p:pic>
        <p:nvPicPr>
          <p:cNvPr id="145411" name="Picture 8">
            <a:extLst>
              <a:ext uri="{FF2B5EF4-FFF2-40B4-BE49-F238E27FC236}">
                <a16:creationId xmlns:a16="http://schemas.microsoft.com/office/drawing/2014/main" id="{0063274D-1910-4240-A516-4D6B824CBC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3048000"/>
            <a:ext cx="7392988"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2">
            <a:extLst>
              <a:ext uri="{FF2B5EF4-FFF2-40B4-BE49-F238E27FC236}">
                <a16:creationId xmlns:a16="http://schemas.microsoft.com/office/drawing/2014/main" id="{D44806C8-AA9E-4AF0-B413-28EEB63DAA2E}"/>
              </a:ext>
            </a:extLst>
          </p:cNvPr>
          <p:cNvSpPr>
            <a:spLocks noGrp="1" noChangeArrowheads="1"/>
          </p:cNvSpPr>
          <p:nvPr>
            <p:ph type="title" idx="4294967295"/>
          </p:nvPr>
        </p:nvSpPr>
        <p:spPr>
          <a:xfrm>
            <a:off x="0" y="0"/>
            <a:ext cx="8229600" cy="1143000"/>
          </a:xfrm>
        </p:spPr>
        <p:txBody>
          <a:bodyPr/>
          <a:lstStyle/>
          <a:p>
            <a:pPr algn="l" eaLnBrk="1" hangingPunct="1"/>
            <a:r>
              <a:rPr lang="en-US" altLang="en-US" sz="3200">
                <a:solidFill>
                  <a:srgbClr val="FF3300"/>
                </a:solidFill>
                <a:latin typeface="Georgia" panose="02040502050405020303" pitchFamily="18" charset="0"/>
              </a:rPr>
              <a:t>6. CSS3 Animation</a:t>
            </a:r>
            <a:endParaRPr lang="en-GB" altLang="en-US" sz="3200">
              <a:solidFill>
                <a:srgbClr val="FF3300"/>
              </a:solidFill>
              <a:latin typeface="Georgia" panose="02040502050405020303" pitchFamily="18" charset="0"/>
            </a:endParaRPr>
          </a:p>
        </p:txBody>
      </p:sp>
      <p:sp>
        <p:nvSpPr>
          <p:cNvPr id="147458" name="Rectangle 3">
            <a:extLst>
              <a:ext uri="{FF2B5EF4-FFF2-40B4-BE49-F238E27FC236}">
                <a16:creationId xmlns:a16="http://schemas.microsoft.com/office/drawing/2014/main" id="{E4A7DA91-D216-4029-B143-35B4C8250F49}"/>
              </a:ext>
            </a:extLst>
          </p:cNvPr>
          <p:cNvSpPr>
            <a:spLocks noGrp="1" noChangeArrowheads="1"/>
          </p:cNvSpPr>
          <p:nvPr>
            <p:ph type="body" idx="4294967295"/>
          </p:nvPr>
        </p:nvSpPr>
        <p:spPr>
          <a:xfrm>
            <a:off x="381150" y="1109133"/>
            <a:ext cx="10896314" cy="5562600"/>
          </a:xfrm>
        </p:spPr>
        <p:txBody>
          <a:bodyPr>
            <a:normAutofit lnSpcReduction="10000"/>
          </a:bodyPr>
          <a:lstStyle/>
          <a:p>
            <a:pPr>
              <a:buFontTx/>
              <a:buNone/>
            </a:pPr>
            <a:r>
              <a:rPr lang="en-US" altLang="en-US" sz="1400" dirty="0">
                <a:latin typeface="Georgia" panose="02040502050405020303" pitchFamily="18" charset="0"/>
              </a:rPr>
              <a:t>Transitions animate elements over time; however, they’re </a:t>
            </a:r>
            <a:r>
              <a:rPr lang="en-US" altLang="en-US" sz="1400" dirty="0">
                <a:solidFill>
                  <a:srgbClr val="0066CC"/>
                </a:solidFill>
                <a:latin typeface="Georgia" panose="02040502050405020303" pitchFamily="18" charset="0"/>
              </a:rPr>
              <a:t>limited in what they can do</a:t>
            </a:r>
            <a:r>
              <a:rPr lang="en-US" altLang="en-US" sz="1400" dirty="0">
                <a:latin typeface="Georgia" panose="02040502050405020303" pitchFamily="18" charset="0"/>
              </a:rPr>
              <a:t>.</a:t>
            </a:r>
          </a:p>
          <a:p>
            <a:pPr>
              <a:buFontTx/>
              <a:buNone/>
            </a:pPr>
            <a:r>
              <a:rPr lang="en-US" altLang="en-US" sz="1400" dirty="0">
                <a:latin typeface="Georgia" panose="02040502050405020303" pitchFamily="18" charset="0"/>
              </a:rPr>
              <a:t>You can define starting and ending states, but there’s </a:t>
            </a:r>
            <a:r>
              <a:rPr lang="en-US" altLang="en-US" sz="1400" dirty="0">
                <a:solidFill>
                  <a:srgbClr val="0066CC"/>
                </a:solidFill>
                <a:latin typeface="Georgia" panose="02040502050405020303" pitchFamily="18" charset="0"/>
              </a:rPr>
              <a:t>no fine-grained control over any intermediate states</a:t>
            </a:r>
            <a:r>
              <a:rPr lang="en-US" altLang="en-US" sz="1400" dirty="0">
                <a:latin typeface="Georgia" panose="02040502050405020303" pitchFamily="18" charset="0"/>
              </a:rPr>
              <a:t>. </a:t>
            </a:r>
          </a:p>
          <a:p>
            <a:pPr>
              <a:buFontTx/>
              <a:buNone/>
            </a:pPr>
            <a:r>
              <a:rPr lang="en-US" altLang="en-US" sz="1400" dirty="0">
                <a:latin typeface="Georgia" panose="02040502050405020303" pitchFamily="18" charset="0"/>
              </a:rPr>
              <a:t>CSS animations, unlike transitions, allow you to control each step of an animation via </a:t>
            </a:r>
            <a:r>
              <a:rPr lang="en-US" altLang="en-US" sz="1400" b="1" dirty="0">
                <a:latin typeface="Georgia" panose="02040502050405020303" pitchFamily="18" charset="0"/>
              </a:rPr>
              <a:t>keyframes</a:t>
            </a:r>
            <a:r>
              <a:rPr lang="en-US" altLang="en-US" sz="1400" dirty="0">
                <a:latin typeface="Georgia" panose="02040502050405020303" pitchFamily="18" charset="0"/>
              </a:rPr>
              <a:t>. </a:t>
            </a:r>
          </a:p>
          <a:p>
            <a:pPr>
              <a:buFontTx/>
              <a:buNone/>
            </a:pPr>
            <a:r>
              <a:rPr lang="en-US" altLang="en-US" sz="1400" dirty="0">
                <a:latin typeface="Georgia" panose="02040502050405020303" pitchFamily="18" charset="0"/>
              </a:rPr>
              <a:t>If you’ve ever worked with Flash, you’re likely very familiar with the concept of keyframes;</a:t>
            </a:r>
          </a:p>
          <a:p>
            <a:pPr>
              <a:buFontTx/>
              <a:buNone/>
            </a:pPr>
            <a:r>
              <a:rPr lang="en-US" altLang="en-US" sz="1400" dirty="0">
                <a:latin typeface="Georgia" panose="02040502050405020303" pitchFamily="18" charset="0"/>
              </a:rPr>
              <a:t>if not, don’t worry, it’s fairly straightforward. </a:t>
            </a:r>
          </a:p>
          <a:p>
            <a:pPr>
              <a:buFontTx/>
              <a:buNone/>
            </a:pPr>
            <a:endParaRPr lang="en-US" altLang="en-US" sz="1400" dirty="0">
              <a:latin typeface="Georgia" panose="02040502050405020303" pitchFamily="18" charset="0"/>
            </a:endParaRPr>
          </a:p>
          <a:p>
            <a:pPr>
              <a:buFontTx/>
              <a:buNone/>
            </a:pPr>
            <a:r>
              <a:rPr lang="en-US" altLang="en-US" sz="1400" dirty="0">
                <a:latin typeface="Georgia" panose="02040502050405020303" pitchFamily="18" charset="0"/>
              </a:rPr>
              <a:t>A keyframe is a snapshot that defines a starting or end point of any smooth transition. </a:t>
            </a:r>
          </a:p>
          <a:p>
            <a:pPr>
              <a:buFontTx/>
              <a:buNone/>
            </a:pPr>
            <a:r>
              <a:rPr lang="en-US" altLang="en-US" sz="1400" dirty="0">
                <a:latin typeface="Georgia" panose="02040502050405020303" pitchFamily="18" charset="0"/>
              </a:rPr>
              <a:t>With CSS transitions, we’re essentially limited to defining the first and last keyframes. CSS animations</a:t>
            </a:r>
          </a:p>
          <a:p>
            <a:pPr>
              <a:buFontTx/>
              <a:buNone/>
            </a:pPr>
            <a:r>
              <a:rPr lang="en-US" altLang="en-US" sz="1400" dirty="0">
                <a:latin typeface="Georgia" panose="02040502050405020303" pitchFamily="18" charset="0"/>
              </a:rPr>
              <a:t>allow us to add any number of keyframes in between, to guide our animation in more complex ways.</a:t>
            </a:r>
          </a:p>
          <a:p>
            <a:pPr>
              <a:buFontTx/>
              <a:buNone/>
            </a:pPr>
            <a:endParaRPr lang="en-US" altLang="en-US" sz="1400" dirty="0">
              <a:latin typeface="Georgia" panose="02040502050405020303" pitchFamily="18" charset="0"/>
            </a:endParaRPr>
          </a:p>
          <a:p>
            <a:pPr>
              <a:buFontTx/>
              <a:buNone/>
            </a:pPr>
            <a:r>
              <a:rPr lang="en-US" altLang="en-US" sz="1600" dirty="0">
                <a:latin typeface="Georgia" panose="02040502050405020303" pitchFamily="18" charset="0"/>
              </a:rPr>
              <a:t>Animation properties:</a:t>
            </a:r>
          </a:p>
          <a:p>
            <a:pPr>
              <a:buFontTx/>
              <a:buNone/>
            </a:pPr>
            <a:r>
              <a:rPr lang="en-US" altLang="en-US" sz="1400" dirty="0">
                <a:solidFill>
                  <a:srgbClr val="0066CC"/>
                </a:solidFill>
                <a:latin typeface="Georgia" panose="02040502050405020303" pitchFamily="18" charset="0"/>
              </a:rPr>
              <a:t>animation-name</a:t>
            </a:r>
          </a:p>
          <a:p>
            <a:pPr>
              <a:buFontTx/>
              <a:buNone/>
            </a:pPr>
            <a:r>
              <a:rPr lang="en-US" altLang="en-US" sz="1400" dirty="0">
                <a:solidFill>
                  <a:srgbClr val="0066CC"/>
                </a:solidFill>
                <a:latin typeface="Georgia" panose="02040502050405020303" pitchFamily="18" charset="0"/>
              </a:rPr>
              <a:t>animation-duration</a:t>
            </a:r>
          </a:p>
          <a:p>
            <a:pPr>
              <a:buFontTx/>
              <a:buNone/>
            </a:pPr>
            <a:r>
              <a:rPr lang="en-US" altLang="en-US" sz="1400" dirty="0">
                <a:solidFill>
                  <a:srgbClr val="0066CC"/>
                </a:solidFill>
                <a:latin typeface="Georgia" panose="02040502050405020303" pitchFamily="18" charset="0"/>
              </a:rPr>
              <a:t>animation-timing-function</a:t>
            </a:r>
          </a:p>
          <a:p>
            <a:pPr>
              <a:buFontTx/>
              <a:buNone/>
            </a:pPr>
            <a:r>
              <a:rPr lang="en-US" altLang="en-US" sz="1400" dirty="0">
                <a:solidFill>
                  <a:srgbClr val="0066CC"/>
                </a:solidFill>
                <a:latin typeface="Georgia" panose="02040502050405020303" pitchFamily="18" charset="0"/>
              </a:rPr>
              <a:t>animation-iteration-count</a:t>
            </a:r>
          </a:p>
          <a:p>
            <a:pPr>
              <a:buFontTx/>
              <a:buNone/>
            </a:pPr>
            <a:r>
              <a:rPr lang="en-US" altLang="en-US" sz="1400" dirty="0">
                <a:solidFill>
                  <a:srgbClr val="0066CC"/>
                </a:solidFill>
                <a:latin typeface="Georgia" panose="02040502050405020303" pitchFamily="18" charset="0"/>
              </a:rPr>
              <a:t>animation-direction</a:t>
            </a:r>
          </a:p>
          <a:p>
            <a:pPr>
              <a:buFontTx/>
              <a:buNone/>
            </a:pPr>
            <a:r>
              <a:rPr lang="en-US" altLang="en-US" sz="1400" dirty="0">
                <a:solidFill>
                  <a:srgbClr val="0066CC"/>
                </a:solidFill>
                <a:latin typeface="Georgia" panose="02040502050405020303" pitchFamily="18" charset="0"/>
              </a:rPr>
              <a:t>animation-delay</a:t>
            </a:r>
          </a:p>
          <a:p>
            <a:pPr>
              <a:buFontTx/>
              <a:buNone/>
            </a:pPr>
            <a:r>
              <a:rPr lang="en-US" altLang="en-US" sz="1400" dirty="0">
                <a:solidFill>
                  <a:srgbClr val="0066CC"/>
                </a:solidFill>
                <a:latin typeface="Georgia" panose="02040502050405020303" pitchFamily="18" charset="0"/>
              </a:rPr>
              <a:t>animation-fill-mode</a:t>
            </a:r>
          </a:p>
          <a:p>
            <a:pPr>
              <a:buFontTx/>
              <a:buNone/>
            </a:pPr>
            <a:endParaRPr lang="en-US" altLang="en-US" sz="1400" dirty="0">
              <a:latin typeface="Georgia" panose="02040502050405020303"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45FD9-8C75-46F8-8313-C192CB4108A4}"/>
              </a:ext>
            </a:extLst>
          </p:cNvPr>
          <p:cNvSpPr>
            <a:spLocks noGrp="1"/>
          </p:cNvSpPr>
          <p:nvPr>
            <p:ph type="title"/>
          </p:nvPr>
        </p:nvSpPr>
        <p:spPr>
          <a:xfrm>
            <a:off x="2152650" y="365125"/>
            <a:ext cx="7886700" cy="1325562"/>
          </a:xfrm>
        </p:spPr>
        <p:txBody>
          <a:bodyPr/>
          <a:lstStyle/>
          <a:p>
            <a:pPr>
              <a:defRPr/>
            </a:pPr>
            <a:r>
              <a:rPr lang="en-US" b="1" dirty="0"/>
              <a:t>Animation</a:t>
            </a:r>
            <a:endParaRPr lang="en-US" dirty="0"/>
          </a:p>
        </p:txBody>
      </p:sp>
      <p:sp>
        <p:nvSpPr>
          <p:cNvPr id="3" name="Content Placeholder 2">
            <a:extLst>
              <a:ext uri="{FF2B5EF4-FFF2-40B4-BE49-F238E27FC236}">
                <a16:creationId xmlns:a16="http://schemas.microsoft.com/office/drawing/2014/main" id="{42B0F45A-5ED6-4B23-B9A5-68FB39E2A8FA}"/>
              </a:ext>
            </a:extLst>
          </p:cNvPr>
          <p:cNvSpPr>
            <a:spLocks noGrp="1"/>
          </p:cNvSpPr>
          <p:nvPr>
            <p:ph idx="1"/>
          </p:nvPr>
        </p:nvSpPr>
        <p:spPr>
          <a:xfrm>
            <a:off x="609744" y="1690687"/>
            <a:ext cx="11048710" cy="4351337"/>
          </a:xfrm>
        </p:spPr>
        <p:txBody>
          <a:bodyPr>
            <a:normAutofit fontScale="92500" lnSpcReduction="20000"/>
          </a:bodyPr>
          <a:lstStyle/>
          <a:p>
            <a:pPr>
              <a:defRPr/>
            </a:pPr>
            <a:r>
              <a:rPr lang="en-US" dirty="0"/>
              <a:t>The animation property in CSS can be used to animate many other CSS properties such as </a:t>
            </a:r>
            <a:r>
              <a:rPr lang="en-US" dirty="0">
                <a:hlinkClick r:id="rId2"/>
              </a:rPr>
              <a:t>color</a:t>
            </a:r>
            <a:r>
              <a:rPr lang="en-US" dirty="0"/>
              <a:t>, </a:t>
            </a:r>
            <a:r>
              <a:rPr lang="en-US" dirty="0">
                <a:hlinkClick r:id="rId3"/>
              </a:rPr>
              <a:t>background-color</a:t>
            </a:r>
            <a:r>
              <a:rPr lang="en-US" dirty="0"/>
              <a:t>, </a:t>
            </a:r>
            <a:r>
              <a:rPr lang="en-US" dirty="0">
                <a:hlinkClick r:id="rId4"/>
              </a:rPr>
              <a:t>height</a:t>
            </a:r>
            <a:r>
              <a:rPr lang="en-US" dirty="0"/>
              <a:t>, or </a:t>
            </a:r>
            <a:r>
              <a:rPr lang="en-US" dirty="0">
                <a:hlinkClick r:id="rId5"/>
              </a:rPr>
              <a:t>width</a:t>
            </a:r>
            <a:r>
              <a:rPr lang="en-US" dirty="0"/>
              <a:t>. </a:t>
            </a:r>
          </a:p>
          <a:p>
            <a:pPr>
              <a:defRPr/>
            </a:pPr>
            <a:r>
              <a:rPr lang="en-US" dirty="0"/>
              <a:t>Each animation needs to be defined with the @keyframes   </a:t>
            </a:r>
            <a:r>
              <a:rPr lang="en-US" dirty="0">
                <a:hlinkClick r:id="rId6"/>
              </a:rPr>
              <a:t>at-rule</a:t>
            </a:r>
            <a:r>
              <a:rPr lang="en-US" dirty="0"/>
              <a:t>  which is then called with the animation property:</a:t>
            </a:r>
          </a:p>
          <a:p>
            <a:pPr>
              <a:defRPr/>
            </a:pPr>
            <a:r>
              <a:rPr lang="en-US" dirty="0"/>
              <a:t>For Example</a:t>
            </a:r>
          </a:p>
          <a:p>
            <a:pPr>
              <a:buFont typeface="Arial" panose="020B0604020202020204" pitchFamily="34" charset="0"/>
              <a:buNone/>
              <a:defRPr/>
            </a:pPr>
            <a:r>
              <a:rPr lang="en-US" dirty="0"/>
              <a:t>&lt;div class="element"&gt;&lt;/div&gt;</a:t>
            </a:r>
          </a:p>
          <a:p>
            <a:pPr>
              <a:buFont typeface="Arial" panose="020B0604020202020204" pitchFamily="34" charset="0"/>
              <a:buNone/>
              <a:defRPr/>
            </a:pPr>
            <a:r>
              <a:rPr lang="en-US" dirty="0"/>
              <a:t>.element { animation: </a:t>
            </a:r>
            <a:r>
              <a:rPr lang="en-US" dirty="0" err="1"/>
              <a:t>change_color</a:t>
            </a:r>
            <a:r>
              <a:rPr lang="en-US" dirty="0"/>
              <a:t> 5s infinite; } </a:t>
            </a:r>
          </a:p>
          <a:p>
            <a:pPr>
              <a:buFont typeface="Arial" panose="020B0604020202020204" pitchFamily="34" charset="0"/>
              <a:buNone/>
              <a:defRPr/>
            </a:pPr>
            <a:r>
              <a:rPr lang="en-US" dirty="0"/>
              <a:t>@keyframes  </a:t>
            </a:r>
            <a:r>
              <a:rPr lang="en-US" dirty="0" err="1"/>
              <a:t>change_color</a:t>
            </a:r>
            <a:r>
              <a:rPr lang="en-US" dirty="0"/>
              <a:t> { </a:t>
            </a:r>
          </a:p>
          <a:p>
            <a:pPr>
              <a:buFont typeface="Arial" panose="020B0604020202020204" pitchFamily="34" charset="0"/>
              <a:buNone/>
              <a:defRPr/>
            </a:pPr>
            <a:r>
              <a:rPr lang="en-US" dirty="0"/>
              <a:t>0% { background-color: #001F3F; } </a:t>
            </a:r>
          </a:p>
          <a:p>
            <a:pPr>
              <a:buFont typeface="Arial" panose="020B0604020202020204" pitchFamily="34" charset="0"/>
              <a:buNone/>
              <a:defRPr/>
            </a:pPr>
            <a:r>
              <a:rPr lang="en-US" dirty="0"/>
              <a:t>100% { background-color: #FF4136; }</a:t>
            </a:r>
          </a:p>
          <a:p>
            <a:pPr>
              <a:buFont typeface="Arial" panose="020B0604020202020204" pitchFamily="34" charset="0"/>
              <a:buNone/>
              <a:defRPr/>
            </a:pPr>
            <a:r>
              <a:rPr lang="en-US" dirty="0"/>
              <a:t> }</a:t>
            </a:r>
          </a:p>
        </p:txBody>
      </p:sp>
      <p:sp>
        <p:nvSpPr>
          <p:cNvPr id="149508" name="Footer Placeholder 4">
            <a:extLst>
              <a:ext uri="{FF2B5EF4-FFF2-40B4-BE49-F238E27FC236}">
                <a16:creationId xmlns:a16="http://schemas.microsoft.com/office/drawing/2014/main" id="{D274F391-107A-48C9-B301-6531899D69C6}"/>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en-US">
                <a:solidFill>
                  <a:srgbClr val="FFFFFF"/>
                </a:solidFill>
              </a:rPr>
              <a:t>Copyright © 2016 Pearson Education, Inc., Hoboken NJ</a:t>
            </a:r>
          </a:p>
        </p:txBody>
      </p:sp>
      <p:sp>
        <p:nvSpPr>
          <p:cNvPr id="149507" name="Slide Number Placeholder 3">
            <a:extLst>
              <a:ext uri="{FF2B5EF4-FFF2-40B4-BE49-F238E27FC236}">
                <a16:creationId xmlns:a16="http://schemas.microsoft.com/office/drawing/2014/main" id="{73BF6813-D56A-476C-AD21-9B70E6C909B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C91436A0-8E09-4773-8E32-92E25278AE2B}" type="slidenum">
              <a:rPr lang="en-US" altLang="en-US" smtClean="0"/>
              <a:pPr/>
              <a:t>20</a:t>
            </a:fld>
            <a:endParaRPr lang="en-US" altLang="en-US">
              <a:cs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7499E-ED8C-4761-B7E3-CFA2E17EB7D5}"/>
              </a:ext>
            </a:extLst>
          </p:cNvPr>
          <p:cNvSpPr>
            <a:spLocks noGrp="1"/>
          </p:cNvSpPr>
          <p:nvPr>
            <p:ph type="title"/>
          </p:nvPr>
        </p:nvSpPr>
        <p:spPr>
          <a:xfrm>
            <a:off x="2152650" y="365125"/>
            <a:ext cx="7886700" cy="1325562"/>
          </a:xfrm>
        </p:spPr>
        <p:txBody>
          <a:bodyPr/>
          <a:lstStyle/>
          <a:p>
            <a:pPr>
              <a:defRPr/>
            </a:pPr>
            <a:r>
              <a:rPr lang="en-US" b="1" dirty="0"/>
              <a:t>Animation</a:t>
            </a:r>
            <a:endParaRPr lang="en-US" dirty="0"/>
          </a:p>
        </p:txBody>
      </p:sp>
      <p:sp>
        <p:nvSpPr>
          <p:cNvPr id="3" name="Content Placeholder 2">
            <a:extLst>
              <a:ext uri="{FF2B5EF4-FFF2-40B4-BE49-F238E27FC236}">
                <a16:creationId xmlns:a16="http://schemas.microsoft.com/office/drawing/2014/main" id="{B4A61550-5FF7-4768-9823-10E1E4DB5F3B}"/>
              </a:ext>
            </a:extLst>
          </p:cNvPr>
          <p:cNvSpPr>
            <a:spLocks noGrp="1"/>
          </p:cNvSpPr>
          <p:nvPr>
            <p:ph idx="1"/>
          </p:nvPr>
        </p:nvSpPr>
        <p:spPr>
          <a:xfrm>
            <a:off x="457348" y="1825626"/>
            <a:ext cx="11201106" cy="4351337"/>
          </a:xfrm>
        </p:spPr>
        <p:txBody>
          <a:bodyPr/>
          <a:lstStyle/>
          <a:p>
            <a:pPr>
              <a:defRPr/>
            </a:pPr>
            <a:r>
              <a:rPr lang="en-US" dirty="0"/>
              <a:t>Each @keyframes at-rule defines what should happen at specific moments during the animation. </a:t>
            </a:r>
          </a:p>
          <a:p>
            <a:pPr>
              <a:defRPr/>
            </a:pPr>
            <a:r>
              <a:rPr lang="en-US" dirty="0"/>
              <a:t>For example, 0% is the beginning of the animation and 100% is the end. </a:t>
            </a:r>
          </a:p>
          <a:p>
            <a:pPr>
              <a:defRPr/>
            </a:pPr>
            <a:r>
              <a:rPr lang="en-US" dirty="0"/>
              <a:t>These keyframes can then be controlled either by the shorthand animation property, or its eight sub-properties, to give more control over how those keyframes should be manipulated.</a:t>
            </a:r>
          </a:p>
        </p:txBody>
      </p:sp>
      <p:sp>
        <p:nvSpPr>
          <p:cNvPr id="150532" name="Footer Placeholder 4">
            <a:extLst>
              <a:ext uri="{FF2B5EF4-FFF2-40B4-BE49-F238E27FC236}">
                <a16:creationId xmlns:a16="http://schemas.microsoft.com/office/drawing/2014/main" id="{14095DD9-E0D7-4683-86FF-E0B2FA08BDB0}"/>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en-US">
                <a:solidFill>
                  <a:srgbClr val="FFFFFF"/>
                </a:solidFill>
              </a:rPr>
              <a:t>Copyright © 2016 Pearson Education, Inc., Hoboken NJ</a:t>
            </a:r>
          </a:p>
        </p:txBody>
      </p:sp>
      <p:sp>
        <p:nvSpPr>
          <p:cNvPr id="150531" name="Slide Number Placeholder 3">
            <a:extLst>
              <a:ext uri="{FF2B5EF4-FFF2-40B4-BE49-F238E27FC236}">
                <a16:creationId xmlns:a16="http://schemas.microsoft.com/office/drawing/2014/main" id="{1C80C967-CF9A-43CB-BEFF-BE75B199EA0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CBA96550-A25F-4FB2-B3C7-FDD65E0C6ABC}" type="slidenum">
              <a:rPr lang="en-US" altLang="en-US" smtClean="0"/>
              <a:pPr/>
              <a:t>21</a:t>
            </a:fld>
            <a:endParaRPr lang="en-US" altLang="en-US">
              <a:cs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E4174-FF68-4D4D-B4EF-643960AE0788}"/>
              </a:ext>
            </a:extLst>
          </p:cNvPr>
          <p:cNvSpPr>
            <a:spLocks noGrp="1"/>
          </p:cNvSpPr>
          <p:nvPr>
            <p:ph type="title"/>
          </p:nvPr>
        </p:nvSpPr>
        <p:spPr>
          <a:xfrm>
            <a:off x="2152650" y="365127"/>
            <a:ext cx="7886700" cy="549340"/>
          </a:xfrm>
        </p:spPr>
        <p:txBody>
          <a:bodyPr>
            <a:normAutofit fontScale="90000"/>
          </a:bodyPr>
          <a:lstStyle/>
          <a:p>
            <a:pPr>
              <a:defRPr/>
            </a:pPr>
            <a:r>
              <a:rPr lang="en-US" b="1" dirty="0"/>
              <a:t>Sub-properties</a:t>
            </a:r>
            <a:endParaRPr lang="en-US" dirty="0"/>
          </a:p>
        </p:txBody>
      </p:sp>
      <p:sp>
        <p:nvSpPr>
          <p:cNvPr id="3" name="Content Placeholder 2">
            <a:extLst>
              <a:ext uri="{FF2B5EF4-FFF2-40B4-BE49-F238E27FC236}">
                <a16:creationId xmlns:a16="http://schemas.microsoft.com/office/drawing/2014/main" id="{AA765ED2-49DD-4FBE-99B5-C404149E3C20}"/>
              </a:ext>
            </a:extLst>
          </p:cNvPr>
          <p:cNvSpPr>
            <a:spLocks noGrp="1"/>
          </p:cNvSpPr>
          <p:nvPr>
            <p:ph idx="1"/>
          </p:nvPr>
        </p:nvSpPr>
        <p:spPr>
          <a:xfrm>
            <a:off x="381150" y="1066862"/>
            <a:ext cx="11658294" cy="5426011"/>
          </a:xfrm>
        </p:spPr>
        <p:txBody>
          <a:bodyPr>
            <a:noAutofit/>
          </a:bodyPr>
          <a:lstStyle/>
          <a:p>
            <a:pPr>
              <a:defRPr/>
            </a:pPr>
            <a:r>
              <a:rPr lang="en-US" sz="2400" dirty="0"/>
              <a:t>animation-name: declares the name of the @keyframes at-rule to manipulate.</a:t>
            </a:r>
          </a:p>
          <a:p>
            <a:pPr>
              <a:defRPr/>
            </a:pPr>
            <a:r>
              <a:rPr lang="en-US" sz="2400" dirty="0"/>
              <a:t>animation-duration: the length of time it takes for an animation to complete one cycle.</a:t>
            </a:r>
          </a:p>
          <a:p>
            <a:pPr>
              <a:defRPr/>
            </a:pPr>
            <a:r>
              <a:rPr lang="en-US" sz="2400" dirty="0"/>
              <a:t>animation-timing-function: establishes preset acceleration curves such as ease or linear.</a:t>
            </a:r>
          </a:p>
          <a:p>
            <a:pPr>
              <a:defRPr/>
            </a:pPr>
            <a:r>
              <a:rPr lang="en-US" sz="2400" dirty="0"/>
              <a:t>animation-delay: the time between the element being loaded and the start of the animation sequence.</a:t>
            </a:r>
          </a:p>
          <a:p>
            <a:pPr>
              <a:defRPr/>
            </a:pPr>
            <a:r>
              <a:rPr lang="en-US" sz="2400" dirty="0"/>
              <a:t>animation-direction: sets the direction of the animation after the cycle. Its default resets on each cycle.</a:t>
            </a:r>
          </a:p>
          <a:p>
            <a:pPr>
              <a:defRPr/>
            </a:pPr>
            <a:r>
              <a:rPr lang="en-US" sz="2400" dirty="0"/>
              <a:t>animation-iteration-count: the number of times the animation should be performed.</a:t>
            </a:r>
          </a:p>
          <a:p>
            <a:pPr>
              <a:defRPr/>
            </a:pPr>
            <a:r>
              <a:rPr lang="en-US" sz="2400" dirty="0"/>
              <a:t>animation-fill-mode: sets which values are applied before/after the animation.</a:t>
            </a:r>
            <a:br>
              <a:rPr lang="en-US" sz="2400" dirty="0"/>
            </a:br>
            <a:r>
              <a:rPr lang="en-US" sz="2400" dirty="0"/>
              <a:t>For example, you can set the last state of the animation to remain on screen, or you can set it to switch back to before when the animation began.</a:t>
            </a:r>
          </a:p>
          <a:p>
            <a:pPr>
              <a:defRPr/>
            </a:pPr>
            <a:r>
              <a:rPr lang="en-US" sz="2400" dirty="0"/>
              <a:t>animation-play-state: pause/play the animation.</a:t>
            </a:r>
          </a:p>
        </p:txBody>
      </p:sp>
      <p:sp>
        <p:nvSpPr>
          <p:cNvPr id="151555" name="Slide Number Placeholder 3">
            <a:extLst>
              <a:ext uri="{FF2B5EF4-FFF2-40B4-BE49-F238E27FC236}">
                <a16:creationId xmlns:a16="http://schemas.microsoft.com/office/drawing/2014/main" id="{0BB7515B-9017-417E-B852-C7FB14B2465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44CCE70F-427F-4BA5-8E78-1CBEAC5BD166}" type="slidenum">
              <a:rPr lang="en-US" altLang="en-US" smtClean="0"/>
              <a:pPr/>
              <a:t>22</a:t>
            </a:fld>
            <a:endParaRPr lang="en-US" altLang="en-US">
              <a:cs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Footer Placeholder 4">
            <a:extLst>
              <a:ext uri="{FF2B5EF4-FFF2-40B4-BE49-F238E27FC236}">
                <a16:creationId xmlns:a16="http://schemas.microsoft.com/office/drawing/2014/main" id="{3B6766B0-5B37-4472-A4E8-8D04D67956E2}"/>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en-US">
                <a:solidFill>
                  <a:srgbClr val="FFFFFF"/>
                </a:solidFill>
              </a:rPr>
              <a:t>Copyright © 2016 Pearson Education, Inc., Hoboken NJ</a:t>
            </a:r>
          </a:p>
        </p:txBody>
      </p:sp>
      <p:sp>
        <p:nvSpPr>
          <p:cNvPr id="152577" name="Slide Number Placeholder 3">
            <a:extLst>
              <a:ext uri="{FF2B5EF4-FFF2-40B4-BE49-F238E27FC236}">
                <a16:creationId xmlns:a16="http://schemas.microsoft.com/office/drawing/2014/main" id="{C4936540-2E3B-4784-A0AF-D69DBCFB0E4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1945D15-B95C-4BF4-AA15-7E05A7772793}" type="slidenum">
              <a:rPr lang="en-US" altLang="en-US" smtClean="0"/>
              <a:pPr/>
              <a:t>23</a:t>
            </a:fld>
            <a:endParaRPr lang="en-US" altLang="en-US">
              <a:cs typeface="Arial" panose="020B0604020202020204" pitchFamily="34" charset="0"/>
            </a:endParaRPr>
          </a:p>
        </p:txBody>
      </p:sp>
      <p:pic>
        <p:nvPicPr>
          <p:cNvPr id="152579" name="Picture 2">
            <a:extLst>
              <a:ext uri="{FF2B5EF4-FFF2-40B4-BE49-F238E27FC236}">
                <a16:creationId xmlns:a16="http://schemas.microsoft.com/office/drawing/2014/main" id="{6675BF28-B95B-46BB-BFB9-DE6F9D301D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52400"/>
            <a:ext cx="7696200" cy="611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FA594-86B3-4923-8F71-CFB6FB2DFFFE}"/>
              </a:ext>
            </a:extLst>
          </p:cNvPr>
          <p:cNvSpPr>
            <a:spLocks noGrp="1"/>
          </p:cNvSpPr>
          <p:nvPr>
            <p:ph type="title"/>
          </p:nvPr>
        </p:nvSpPr>
        <p:spPr>
          <a:xfrm>
            <a:off x="2152650" y="365126"/>
            <a:ext cx="7886700" cy="701675"/>
          </a:xfrm>
        </p:spPr>
        <p:txBody>
          <a:bodyPr/>
          <a:lstStyle/>
          <a:p>
            <a:pPr algn="ctr">
              <a:defRPr/>
            </a:pPr>
            <a:r>
              <a:rPr lang="en-US" b="1" dirty="0"/>
              <a:t>Multiple animations</a:t>
            </a:r>
            <a:endParaRPr lang="en-US" dirty="0"/>
          </a:p>
        </p:txBody>
      </p:sp>
      <p:sp>
        <p:nvSpPr>
          <p:cNvPr id="153603" name="Footer Placeholder 4">
            <a:extLst>
              <a:ext uri="{FF2B5EF4-FFF2-40B4-BE49-F238E27FC236}">
                <a16:creationId xmlns:a16="http://schemas.microsoft.com/office/drawing/2014/main" id="{16C492D5-3581-4B2A-9E95-F210E61C1200}"/>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en-US">
                <a:solidFill>
                  <a:schemeClr val="tx1"/>
                </a:solidFill>
              </a:rPr>
              <a:t>Copyright © 2016 Pearson Education, Inc., Hoboken NJ</a:t>
            </a:r>
          </a:p>
        </p:txBody>
      </p:sp>
      <p:sp>
        <p:nvSpPr>
          <p:cNvPr id="153602" name="Slide Number Placeholder 3">
            <a:extLst>
              <a:ext uri="{FF2B5EF4-FFF2-40B4-BE49-F238E27FC236}">
                <a16:creationId xmlns:a16="http://schemas.microsoft.com/office/drawing/2014/main" id="{BCA4BE36-902D-4800-8B0A-2E3095F992A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BD3ADA0-C99F-4100-91D3-ACC251AAF963}" type="slidenum">
              <a:rPr lang="en-US" altLang="en-US" smtClean="0">
                <a:solidFill>
                  <a:schemeClr val="tx1"/>
                </a:solidFill>
              </a:rPr>
              <a:pPr/>
              <a:t>24</a:t>
            </a:fld>
            <a:endParaRPr lang="en-US" altLang="en-US">
              <a:solidFill>
                <a:schemeClr val="tx1"/>
              </a:solidFill>
              <a:cs typeface="Arial" panose="020B0604020202020204" pitchFamily="34" charset="0"/>
            </a:endParaRPr>
          </a:p>
        </p:txBody>
      </p:sp>
      <p:sp>
        <p:nvSpPr>
          <p:cNvPr id="153604" name="TextBox 6">
            <a:extLst>
              <a:ext uri="{FF2B5EF4-FFF2-40B4-BE49-F238E27FC236}">
                <a16:creationId xmlns:a16="http://schemas.microsoft.com/office/drawing/2014/main" id="{3A65D0E5-16C3-4AC4-9842-6D39521F81BE}"/>
              </a:ext>
            </a:extLst>
          </p:cNvPr>
          <p:cNvSpPr txBox="1">
            <a:spLocks noChangeArrowheads="1"/>
          </p:cNvSpPr>
          <p:nvPr/>
        </p:nvSpPr>
        <p:spPr bwMode="auto">
          <a:xfrm>
            <a:off x="1828800" y="1676400"/>
            <a:ext cx="3886200"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en-US" sz="2400" dirty="0">
                <a:latin typeface="Times New Roman" panose="02020603050405020304" pitchFamily="18" charset="0"/>
              </a:rPr>
              <a:t>.element {</a:t>
            </a:r>
            <a:br>
              <a:rPr lang="en-US" altLang="en-US" sz="2400" dirty="0">
                <a:latin typeface="Times New Roman" panose="02020603050405020304" pitchFamily="18" charset="0"/>
              </a:rPr>
            </a:br>
            <a:r>
              <a:rPr lang="en-US" altLang="en-US" sz="2400" dirty="0">
                <a:latin typeface="Times New Roman" panose="02020603050405020304" pitchFamily="18" charset="0"/>
              </a:rPr>
              <a:t>height: 400px;</a:t>
            </a:r>
            <a:br>
              <a:rPr lang="en-US" altLang="en-US" sz="2400" dirty="0">
                <a:latin typeface="Times New Roman" panose="02020603050405020304" pitchFamily="18" charset="0"/>
              </a:rPr>
            </a:br>
            <a:r>
              <a:rPr lang="en-US" altLang="en-US" sz="2400" dirty="0">
                <a:latin typeface="Times New Roman" panose="02020603050405020304" pitchFamily="18" charset="0"/>
              </a:rPr>
              <a:t>width: 400px;</a:t>
            </a:r>
            <a:br>
              <a:rPr lang="en-US" altLang="en-US" sz="2400" dirty="0">
                <a:latin typeface="Times New Roman" panose="02020603050405020304" pitchFamily="18" charset="0"/>
              </a:rPr>
            </a:br>
            <a:r>
              <a:rPr lang="en-US" altLang="en-US" sz="2400" dirty="0">
                <a:latin typeface="Times New Roman" panose="02020603050405020304" pitchFamily="18" charset="0"/>
              </a:rPr>
              <a:t>background-color: red;</a:t>
            </a:r>
            <a:br>
              <a:rPr lang="en-US" altLang="en-US" sz="2400" dirty="0">
                <a:latin typeface="Times New Roman" panose="02020603050405020304" pitchFamily="18" charset="0"/>
              </a:rPr>
            </a:br>
            <a:r>
              <a:rPr lang="en-US" altLang="en-US" sz="2400" dirty="0">
                <a:latin typeface="Times New Roman" panose="02020603050405020304" pitchFamily="18" charset="0"/>
              </a:rPr>
              <a:t>animation: </a:t>
            </a:r>
            <a:br>
              <a:rPr lang="en-US" altLang="en-US" sz="2400" dirty="0">
                <a:latin typeface="Times New Roman" panose="02020603050405020304" pitchFamily="18" charset="0"/>
              </a:rPr>
            </a:br>
            <a:r>
              <a:rPr lang="en-US" altLang="en-US" sz="2400" dirty="0" err="1">
                <a:latin typeface="Times New Roman" panose="02020603050405020304" pitchFamily="18" charset="0"/>
              </a:rPr>
              <a:t>change_color</a:t>
            </a:r>
            <a:r>
              <a:rPr lang="en-US" altLang="en-US" sz="2400" dirty="0">
                <a:latin typeface="Times New Roman" panose="02020603050405020304" pitchFamily="18" charset="0"/>
              </a:rPr>
              <a:t> 3s ease infinite alternate, </a:t>
            </a:r>
            <a:br>
              <a:rPr lang="en-US" altLang="en-US" sz="2400" dirty="0">
                <a:latin typeface="Times New Roman" panose="02020603050405020304" pitchFamily="18" charset="0"/>
              </a:rPr>
            </a:br>
            <a:r>
              <a:rPr lang="en-US" altLang="en-US" sz="2400" dirty="0">
                <a:latin typeface="Times New Roman" panose="02020603050405020304" pitchFamily="18" charset="0"/>
              </a:rPr>
              <a:t>nudge 5s linear infinite alternate;</a:t>
            </a:r>
            <a:br>
              <a:rPr lang="en-US" altLang="en-US" sz="2400" dirty="0">
                <a:latin typeface="Times New Roman" panose="02020603050405020304" pitchFamily="18" charset="0"/>
              </a:rPr>
            </a:br>
            <a:r>
              <a:rPr lang="en-US" altLang="en-US" sz="2400" dirty="0">
                <a:latin typeface="Times New Roman" panose="02020603050405020304" pitchFamily="18" charset="0"/>
              </a:rPr>
              <a:t>border-radius: 100%;</a:t>
            </a:r>
            <a:br>
              <a:rPr lang="en-US" altLang="en-US" sz="2400" dirty="0">
                <a:latin typeface="Times New Roman" panose="02020603050405020304" pitchFamily="18" charset="0"/>
              </a:rPr>
            </a:br>
            <a:r>
              <a:rPr lang="en-US" altLang="en-US" sz="2400" dirty="0">
                <a:latin typeface="Times New Roman" panose="02020603050405020304" pitchFamily="18" charset="0"/>
              </a:rPr>
              <a:t>}</a:t>
            </a:r>
            <a:endParaRPr lang="en-US" altLang="en-US" sz="2400" dirty="0">
              <a:latin typeface="Times New Roman" panose="02020603050405020304" pitchFamily="18" charset="0"/>
              <a:cs typeface="Arial" panose="020B0604020202020204" pitchFamily="34" charset="0"/>
            </a:endParaRPr>
          </a:p>
        </p:txBody>
      </p:sp>
      <p:sp>
        <p:nvSpPr>
          <p:cNvPr id="153605" name="TextBox 7">
            <a:extLst>
              <a:ext uri="{FF2B5EF4-FFF2-40B4-BE49-F238E27FC236}">
                <a16:creationId xmlns:a16="http://schemas.microsoft.com/office/drawing/2014/main" id="{48822A84-6604-404A-B346-CD3E3FB717B1}"/>
              </a:ext>
            </a:extLst>
          </p:cNvPr>
          <p:cNvSpPr txBox="1">
            <a:spLocks noChangeArrowheads="1"/>
          </p:cNvSpPr>
          <p:nvPr/>
        </p:nvSpPr>
        <p:spPr bwMode="auto">
          <a:xfrm>
            <a:off x="5334000" y="1219201"/>
            <a:ext cx="4572000" cy="489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en-US" sz="2400" dirty="0">
                <a:latin typeface="Times New Roman" panose="02020603050405020304" pitchFamily="18" charset="0"/>
              </a:rPr>
              <a:t>@keyframes </a:t>
            </a:r>
            <a:r>
              <a:rPr lang="en-US" altLang="en-US" sz="2400" dirty="0" err="1">
                <a:latin typeface="Times New Roman" panose="02020603050405020304" pitchFamily="18" charset="0"/>
              </a:rPr>
              <a:t>change_color</a:t>
            </a:r>
            <a:r>
              <a:rPr lang="en-US" altLang="en-US" sz="2400" dirty="0">
                <a:latin typeface="Times New Roman" panose="02020603050405020304" pitchFamily="18" charset="0"/>
              </a:rPr>
              <a:t> {</a:t>
            </a:r>
            <a:br>
              <a:rPr lang="en-US" altLang="en-US" sz="2400" dirty="0">
                <a:latin typeface="Times New Roman" panose="02020603050405020304" pitchFamily="18" charset="0"/>
              </a:rPr>
            </a:br>
            <a:r>
              <a:rPr lang="en-US" altLang="en-US" sz="2400" dirty="0">
                <a:latin typeface="Times New Roman" panose="02020603050405020304" pitchFamily="18" charset="0"/>
              </a:rPr>
              <a:t>	0%, 100% {</a:t>
            </a:r>
            <a:br>
              <a:rPr lang="en-US" altLang="en-US" sz="2400" dirty="0">
                <a:latin typeface="Times New Roman" panose="02020603050405020304" pitchFamily="18" charset="0"/>
              </a:rPr>
            </a:br>
            <a:r>
              <a:rPr lang="en-US" altLang="en-US" sz="2400" dirty="0">
                <a:latin typeface="Times New Roman" panose="02020603050405020304" pitchFamily="18" charset="0"/>
              </a:rPr>
              <a:t>	background-color: red;</a:t>
            </a:r>
            <a:br>
              <a:rPr lang="en-US" altLang="en-US" sz="2400" dirty="0">
                <a:latin typeface="Times New Roman" panose="02020603050405020304" pitchFamily="18" charset="0"/>
              </a:rPr>
            </a:br>
            <a:r>
              <a:rPr lang="en-US" altLang="en-US" sz="2400" dirty="0">
                <a:latin typeface="Times New Roman" panose="02020603050405020304" pitchFamily="18" charset="0"/>
              </a:rPr>
              <a:t>	}</a:t>
            </a:r>
            <a:br>
              <a:rPr lang="en-US" altLang="en-US" sz="2400" dirty="0">
                <a:latin typeface="Times New Roman" panose="02020603050405020304" pitchFamily="18" charset="0"/>
              </a:rPr>
            </a:br>
            <a:r>
              <a:rPr lang="en-US" altLang="en-US" sz="2400" dirty="0">
                <a:latin typeface="Times New Roman" panose="02020603050405020304" pitchFamily="18" charset="0"/>
              </a:rPr>
              <a:t>	50% {</a:t>
            </a:r>
            <a:br>
              <a:rPr lang="en-US" altLang="en-US" sz="2400" dirty="0">
                <a:latin typeface="Times New Roman" panose="02020603050405020304" pitchFamily="18" charset="0"/>
              </a:rPr>
            </a:br>
            <a:r>
              <a:rPr lang="en-US" altLang="en-US" sz="2400" dirty="0">
                <a:latin typeface="Times New Roman" panose="02020603050405020304" pitchFamily="18" charset="0"/>
              </a:rPr>
              <a:t>	background-color: orange;</a:t>
            </a:r>
            <a:br>
              <a:rPr lang="en-US" altLang="en-US" sz="2400" dirty="0">
                <a:latin typeface="Times New Roman" panose="02020603050405020304" pitchFamily="18" charset="0"/>
              </a:rPr>
            </a:br>
            <a:r>
              <a:rPr lang="en-US" altLang="en-US" sz="2400" dirty="0">
                <a:latin typeface="Times New Roman" panose="02020603050405020304" pitchFamily="18" charset="0"/>
              </a:rPr>
              <a:t>	}</a:t>
            </a:r>
            <a:br>
              <a:rPr lang="en-US" altLang="en-US" sz="2400" dirty="0">
                <a:latin typeface="Times New Roman" panose="02020603050405020304" pitchFamily="18" charset="0"/>
              </a:rPr>
            </a:br>
            <a:r>
              <a:rPr lang="en-US" altLang="en-US" sz="2400" dirty="0">
                <a:latin typeface="Times New Roman" panose="02020603050405020304" pitchFamily="18" charset="0"/>
              </a:rPr>
              <a:t>}</a:t>
            </a:r>
            <a:br>
              <a:rPr lang="en-US" altLang="en-US" sz="2400" dirty="0">
                <a:latin typeface="Times New Roman" panose="02020603050405020304" pitchFamily="18" charset="0"/>
              </a:rPr>
            </a:br>
            <a:endParaRPr lang="en-US" altLang="en-US" sz="2400" dirty="0">
              <a:latin typeface="Times New Roman" panose="02020603050405020304" pitchFamily="18" charset="0"/>
            </a:endParaRPr>
          </a:p>
          <a:p>
            <a:pPr eaLnBrk="0" hangingPunct="0"/>
            <a:r>
              <a:rPr lang="en-US" altLang="en-US" sz="2400" dirty="0">
                <a:latin typeface="Times New Roman" panose="02020603050405020304" pitchFamily="18" charset="0"/>
              </a:rPr>
              <a:t>@keyframes nudge {</a:t>
            </a:r>
            <a:br>
              <a:rPr lang="en-US" altLang="en-US" sz="2400" dirty="0">
                <a:latin typeface="Times New Roman" panose="02020603050405020304" pitchFamily="18" charset="0"/>
              </a:rPr>
            </a:br>
            <a:r>
              <a:rPr lang="en-US" altLang="en-US" sz="2400" dirty="0">
                <a:latin typeface="Times New Roman" panose="02020603050405020304" pitchFamily="18" charset="0"/>
              </a:rPr>
              <a:t>0%, 100% {</a:t>
            </a:r>
            <a:br>
              <a:rPr lang="en-US" altLang="en-US" sz="2400" dirty="0">
                <a:latin typeface="Times New Roman" panose="02020603050405020304" pitchFamily="18" charset="0"/>
              </a:rPr>
            </a:br>
            <a:r>
              <a:rPr lang="en-US" altLang="en-US" sz="2400" dirty="0">
                <a:latin typeface="Times New Roman" panose="02020603050405020304" pitchFamily="18" charset="0"/>
              </a:rPr>
              <a:t>transform: translate(0, 0);</a:t>
            </a:r>
            <a:br>
              <a:rPr lang="en-US" altLang="en-US" sz="2400" dirty="0">
                <a:latin typeface="Times New Roman" panose="02020603050405020304" pitchFamily="18" charset="0"/>
              </a:rPr>
            </a:br>
            <a:r>
              <a:rPr lang="en-US" altLang="en-US" sz="2400" dirty="0">
                <a:latin typeface="Times New Roman" panose="02020603050405020304" pitchFamily="18" charset="0"/>
              </a:rPr>
              <a:t>}</a:t>
            </a:r>
            <a:endParaRPr lang="en-US" altLang="en-US" sz="2400" dirty="0">
              <a:latin typeface="Times New Roman" panose="02020603050405020304" pitchFamily="18" charset="0"/>
              <a:cs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FFCBB-DA50-4204-B268-3A4E52F0E5BE}"/>
              </a:ext>
            </a:extLst>
          </p:cNvPr>
          <p:cNvSpPr>
            <a:spLocks noGrp="1"/>
          </p:cNvSpPr>
          <p:nvPr>
            <p:ph type="title"/>
          </p:nvPr>
        </p:nvSpPr>
        <p:spPr>
          <a:xfrm>
            <a:off x="2152650" y="365125"/>
            <a:ext cx="7886700" cy="1325562"/>
          </a:xfrm>
        </p:spPr>
        <p:txBody>
          <a:bodyPr/>
          <a:lstStyle/>
          <a:p>
            <a:pPr>
              <a:defRPr/>
            </a:pPr>
            <a:r>
              <a:rPr lang="en-US" b="1" dirty="0"/>
              <a:t>Performance</a:t>
            </a:r>
            <a:endParaRPr lang="en-US" dirty="0"/>
          </a:p>
        </p:txBody>
      </p:sp>
      <p:sp>
        <p:nvSpPr>
          <p:cNvPr id="3" name="Content Placeholder 2">
            <a:extLst>
              <a:ext uri="{FF2B5EF4-FFF2-40B4-BE49-F238E27FC236}">
                <a16:creationId xmlns:a16="http://schemas.microsoft.com/office/drawing/2014/main" id="{C4BC4211-CBB3-4141-99BD-DD58F8160614}"/>
              </a:ext>
            </a:extLst>
          </p:cNvPr>
          <p:cNvSpPr>
            <a:spLocks noGrp="1"/>
          </p:cNvSpPr>
          <p:nvPr>
            <p:ph idx="1"/>
          </p:nvPr>
        </p:nvSpPr>
        <p:spPr>
          <a:xfrm>
            <a:off x="457348" y="1600200"/>
            <a:ext cx="11277304" cy="4953000"/>
          </a:xfrm>
        </p:spPr>
        <p:txBody>
          <a:bodyPr>
            <a:noAutofit/>
          </a:bodyPr>
          <a:lstStyle/>
          <a:p>
            <a:pPr>
              <a:defRPr/>
            </a:pPr>
            <a:r>
              <a:rPr lang="en-US" sz="3200" dirty="0"/>
              <a:t>Animating most properties </a:t>
            </a:r>
            <a:r>
              <a:rPr lang="en-US" sz="3200" dirty="0">
                <a:hlinkClick r:id="rId2"/>
              </a:rPr>
              <a:t>is a performance concern</a:t>
            </a:r>
            <a:r>
              <a:rPr lang="en-US" sz="3200" dirty="0"/>
              <a:t>, so we should proceed with caution before animating any property. </a:t>
            </a:r>
          </a:p>
          <a:p>
            <a:pPr>
              <a:defRPr/>
            </a:pPr>
            <a:r>
              <a:rPr lang="en-US" sz="3200" dirty="0"/>
              <a:t>However, there are certain combinations that can be animated safely:</a:t>
            </a:r>
          </a:p>
          <a:p>
            <a:pPr lvl="1">
              <a:defRPr/>
            </a:pPr>
            <a:r>
              <a:rPr lang="en-US" sz="2800" dirty="0"/>
              <a:t>transform: translate()</a:t>
            </a:r>
          </a:p>
          <a:p>
            <a:pPr lvl="1">
              <a:defRPr/>
            </a:pPr>
            <a:r>
              <a:rPr lang="en-US" sz="2800" dirty="0"/>
              <a:t>transform: scale()</a:t>
            </a:r>
          </a:p>
          <a:p>
            <a:pPr lvl="1">
              <a:defRPr/>
            </a:pPr>
            <a:r>
              <a:rPr lang="en-US" sz="2800" dirty="0"/>
              <a:t>transform: rotate()</a:t>
            </a:r>
          </a:p>
          <a:p>
            <a:pPr lvl="1">
              <a:defRPr/>
            </a:pPr>
            <a:r>
              <a:rPr lang="en-US" sz="2800" dirty="0"/>
              <a:t>Opacity</a:t>
            </a:r>
          </a:p>
        </p:txBody>
      </p:sp>
      <p:sp>
        <p:nvSpPr>
          <p:cNvPr id="154627" name="Slide Number Placeholder 3">
            <a:extLst>
              <a:ext uri="{FF2B5EF4-FFF2-40B4-BE49-F238E27FC236}">
                <a16:creationId xmlns:a16="http://schemas.microsoft.com/office/drawing/2014/main" id="{03B13C6E-82B7-48CB-ACD6-F73F222F583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62973941-F41F-4430-83D2-B8E921BB56B9}" type="slidenum">
              <a:rPr lang="en-US" altLang="en-US" smtClean="0"/>
              <a:pPr/>
              <a:t>25</a:t>
            </a:fld>
            <a:endParaRPr lang="en-US" altLang="en-US">
              <a:cs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61D43-320F-4A5E-8C00-777E82E12E13}"/>
              </a:ext>
            </a:extLst>
          </p:cNvPr>
          <p:cNvSpPr>
            <a:spLocks noGrp="1"/>
          </p:cNvSpPr>
          <p:nvPr>
            <p:ph type="title"/>
          </p:nvPr>
        </p:nvSpPr>
        <p:spPr>
          <a:xfrm>
            <a:off x="228754" y="106363"/>
            <a:ext cx="11505898" cy="1325562"/>
          </a:xfrm>
        </p:spPr>
        <p:txBody>
          <a:bodyPr>
            <a:noAutofit/>
          </a:bodyPr>
          <a:lstStyle/>
          <a:p>
            <a:pPr algn="just">
              <a:defRPr/>
            </a:pPr>
            <a:r>
              <a:rPr lang="en-US" sz="2400" dirty="0"/>
              <a:t>Although browser support is quite good for this property in modern browsers, we might want to support as many older browsers as we can. In that case we'd need to use vendor prefixes:</a:t>
            </a:r>
          </a:p>
        </p:txBody>
      </p:sp>
      <p:sp>
        <p:nvSpPr>
          <p:cNvPr id="155650" name="Slide Number Placeholder 3">
            <a:extLst>
              <a:ext uri="{FF2B5EF4-FFF2-40B4-BE49-F238E27FC236}">
                <a16:creationId xmlns:a16="http://schemas.microsoft.com/office/drawing/2014/main" id="{CB52A356-B3F9-4CD8-B0D7-1B3F9F6177D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6E23496-4563-44DE-8BCF-2708195B31F7}" type="slidenum">
              <a:rPr lang="en-US" altLang="en-US" smtClean="0"/>
              <a:pPr/>
              <a:t>26</a:t>
            </a:fld>
            <a:endParaRPr lang="en-US" altLang="en-US">
              <a:cs typeface="Arial" panose="020B0604020202020204" pitchFamily="34" charset="0"/>
            </a:endParaRPr>
          </a:p>
        </p:txBody>
      </p:sp>
      <p:pic>
        <p:nvPicPr>
          <p:cNvPr id="155651" name="Picture 2">
            <a:extLst>
              <a:ext uri="{FF2B5EF4-FFF2-40B4-BE49-F238E27FC236}">
                <a16:creationId xmlns:a16="http://schemas.microsoft.com/office/drawing/2014/main" id="{9BEACA12-64A2-495A-88E3-5666D3731D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120" y="1447800"/>
            <a:ext cx="952475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Footer Placeholder 4">
            <a:extLst>
              <a:ext uri="{FF2B5EF4-FFF2-40B4-BE49-F238E27FC236}">
                <a16:creationId xmlns:a16="http://schemas.microsoft.com/office/drawing/2014/main" id="{2EB6ACE8-C483-4CA5-9887-7FE9EFB4855F}"/>
              </a:ext>
            </a:extLst>
          </p:cNvPr>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en-US">
                <a:solidFill>
                  <a:srgbClr val="FFFFFF"/>
                </a:solidFill>
              </a:rPr>
              <a:t>Copyright © 2016 Pearson Education, Inc., Hoboken NJ</a:t>
            </a:r>
          </a:p>
        </p:txBody>
      </p:sp>
      <p:sp>
        <p:nvSpPr>
          <p:cNvPr id="156673" name="Slide Number Placeholder 3">
            <a:extLst>
              <a:ext uri="{FF2B5EF4-FFF2-40B4-BE49-F238E27FC236}">
                <a16:creationId xmlns:a16="http://schemas.microsoft.com/office/drawing/2014/main" id="{0988E315-F928-459D-878F-0AC2FF3B122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69AC8DC5-2280-4166-9207-50C86A2A32DB}" type="slidenum">
              <a:rPr lang="en-US" altLang="en-US" smtClean="0"/>
              <a:pPr/>
              <a:t>27</a:t>
            </a:fld>
            <a:endParaRPr lang="en-US" altLang="en-US">
              <a:cs typeface="Arial" panose="020B0604020202020204" pitchFamily="34" charset="0"/>
            </a:endParaRPr>
          </a:p>
        </p:txBody>
      </p:sp>
      <p:sp>
        <p:nvSpPr>
          <p:cNvPr id="156675" name="Rectangle 5">
            <a:extLst>
              <a:ext uri="{FF2B5EF4-FFF2-40B4-BE49-F238E27FC236}">
                <a16:creationId xmlns:a16="http://schemas.microsoft.com/office/drawing/2014/main" id="{24312E1E-9249-4DA5-ABDA-08CB2D45CFCF}"/>
              </a:ext>
            </a:extLst>
          </p:cNvPr>
          <p:cNvSpPr>
            <a:spLocks noChangeArrowheads="1"/>
          </p:cNvSpPr>
          <p:nvPr/>
        </p:nvSpPr>
        <p:spPr bwMode="auto">
          <a:xfrm>
            <a:off x="1752600" y="2951164"/>
            <a:ext cx="8458200"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lvl="1" eaLnBrk="0" hangingPunct="0"/>
            <a:endParaRPr lang="en-US" altLang="en-US" sz="2800" dirty="0">
              <a:solidFill>
                <a:srgbClr val="FFFFFF"/>
              </a:solidFill>
              <a:latin typeface="Times New Roman" panose="02020603050405020304" pitchFamily="18" charset="0"/>
            </a:endParaRPr>
          </a:p>
          <a:p>
            <a:pPr lvl="1" eaLnBrk="0" hangingPunct="0"/>
            <a:r>
              <a:rPr lang="en-US" altLang="en-US" sz="2800" dirty="0">
                <a:solidFill>
                  <a:srgbClr val="FFFFFF"/>
                </a:solidFill>
                <a:latin typeface="Times New Roman" panose="02020603050405020304" pitchFamily="18" charset="0"/>
              </a:rPr>
              <a:t>Online Animation Example:</a:t>
            </a:r>
          </a:p>
          <a:p>
            <a:pPr lvl="1" eaLnBrk="0" hangingPunct="0"/>
            <a:r>
              <a:rPr lang="en-US" altLang="en-US" sz="2400" dirty="0">
                <a:solidFill>
                  <a:srgbClr val="FFFFFF"/>
                </a:solidFill>
                <a:latin typeface="Times New Roman" panose="02020603050405020304" pitchFamily="18" charset="0"/>
                <a:hlinkClick r:id="rId2"/>
              </a:rPr>
              <a:t>https://robots.thoughtbot.com/css-animation-for-beginners</a:t>
            </a:r>
            <a:endParaRPr lang="en-US" altLang="en-US" sz="2400" dirty="0">
              <a:solidFill>
                <a:srgbClr val="FFFFFF"/>
              </a:solidFill>
              <a:latin typeface="Times New Roman" panose="02020603050405020304" pitchFamily="18" charset="0"/>
            </a:endParaRPr>
          </a:p>
          <a:p>
            <a:pPr lvl="1" eaLnBrk="0" hangingPunct="0"/>
            <a:endParaRPr lang="en-US" altLang="en-US" sz="2400" dirty="0">
              <a:solidFill>
                <a:srgbClr val="FFFFFF"/>
              </a:solidFill>
              <a:latin typeface="Times New Roman" panose="02020603050405020304" pitchFamily="18" charset="0"/>
              <a:cs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2">
            <a:extLst>
              <a:ext uri="{FF2B5EF4-FFF2-40B4-BE49-F238E27FC236}">
                <a16:creationId xmlns:a16="http://schemas.microsoft.com/office/drawing/2014/main" id="{9C8D8D8E-553C-40E2-A50D-6C11BE9CFB38}"/>
              </a:ext>
            </a:extLst>
          </p:cNvPr>
          <p:cNvSpPr>
            <a:spLocks noGrp="1" noChangeArrowheads="1"/>
          </p:cNvSpPr>
          <p:nvPr>
            <p:ph type="title" idx="4294967295"/>
          </p:nvPr>
        </p:nvSpPr>
        <p:spPr>
          <a:xfrm>
            <a:off x="0" y="0"/>
            <a:ext cx="8229600" cy="1143000"/>
          </a:xfrm>
        </p:spPr>
        <p:txBody>
          <a:bodyPr/>
          <a:lstStyle/>
          <a:p>
            <a:pPr algn="l" eaLnBrk="1" hangingPunct="1"/>
            <a:r>
              <a:rPr lang="en-US" altLang="en-US" sz="3200" dirty="0">
                <a:solidFill>
                  <a:srgbClr val="FF3300"/>
                </a:solidFill>
                <a:latin typeface="Georgia" panose="02040502050405020303" pitchFamily="18" charset="0"/>
              </a:rPr>
              <a:t>6. CSS3 Animation</a:t>
            </a:r>
            <a:endParaRPr lang="en-GB" altLang="en-US" sz="3200" dirty="0">
              <a:solidFill>
                <a:srgbClr val="FF3300"/>
              </a:solidFill>
              <a:latin typeface="Georgia" panose="02040502050405020303" pitchFamily="18" charset="0"/>
            </a:endParaRPr>
          </a:p>
        </p:txBody>
      </p:sp>
      <p:sp>
        <p:nvSpPr>
          <p:cNvPr id="157698" name="Rectangle 3">
            <a:extLst>
              <a:ext uri="{FF2B5EF4-FFF2-40B4-BE49-F238E27FC236}">
                <a16:creationId xmlns:a16="http://schemas.microsoft.com/office/drawing/2014/main" id="{EB79B488-E461-4BED-88DC-6252E025414A}"/>
              </a:ext>
            </a:extLst>
          </p:cNvPr>
          <p:cNvSpPr>
            <a:spLocks noGrp="1" noChangeArrowheads="1"/>
          </p:cNvSpPr>
          <p:nvPr>
            <p:ph type="body" idx="4294967295"/>
          </p:nvPr>
        </p:nvSpPr>
        <p:spPr>
          <a:xfrm>
            <a:off x="152556" y="838268"/>
            <a:ext cx="11201106" cy="5562600"/>
          </a:xfrm>
        </p:spPr>
        <p:txBody>
          <a:bodyPr/>
          <a:lstStyle/>
          <a:p>
            <a:pPr>
              <a:buFontTx/>
              <a:buNone/>
            </a:pPr>
            <a:r>
              <a:rPr lang="en-GB" altLang="en-US" sz="1400" dirty="0">
                <a:latin typeface="Georgia" panose="02040502050405020303" pitchFamily="18" charset="0"/>
              </a:rPr>
              <a:t>To animate an element in CSS, you first create a named animation, then attach it to an element in that element’s property declaration block.</a:t>
            </a:r>
          </a:p>
          <a:p>
            <a:pPr>
              <a:buFontTx/>
              <a:buNone/>
            </a:pPr>
            <a:r>
              <a:rPr lang="en-GB" altLang="en-US" sz="1400" dirty="0">
                <a:latin typeface="Georgia" panose="02040502050405020303" pitchFamily="18" charset="0"/>
              </a:rPr>
              <a:t> Animations in themselves don’t do anything; in order to animate an element, you will need to associate the animation with that element. </a:t>
            </a:r>
          </a:p>
          <a:p>
            <a:pPr>
              <a:buFontTx/>
              <a:buNone/>
            </a:pPr>
            <a:r>
              <a:rPr lang="en-GB" altLang="en-US" sz="1400" dirty="0">
                <a:latin typeface="Georgia" panose="02040502050405020303" pitchFamily="18" charset="0"/>
              </a:rPr>
              <a:t>To create an animation, use the @keyframes</a:t>
            </a:r>
            <a:endParaRPr lang="en-US" altLang="en-US" sz="1400" dirty="0">
              <a:latin typeface="Georgia" panose="02040502050405020303" pitchFamily="18" charset="0"/>
            </a:endParaRPr>
          </a:p>
        </p:txBody>
      </p:sp>
      <p:pic>
        <p:nvPicPr>
          <p:cNvPr id="157699" name="Picture 4">
            <a:extLst>
              <a:ext uri="{FF2B5EF4-FFF2-40B4-BE49-F238E27FC236}">
                <a16:creationId xmlns:a16="http://schemas.microsoft.com/office/drawing/2014/main" id="{0E573A5A-9D44-4119-A5F1-9053633498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32" y="1828842"/>
            <a:ext cx="4648200" cy="1371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7700" name="Picture 6">
            <a:extLst>
              <a:ext uri="{FF2B5EF4-FFF2-40B4-BE49-F238E27FC236}">
                <a16:creationId xmlns:a16="http://schemas.microsoft.com/office/drawing/2014/main" id="{02950D83-CCB3-4837-B21A-EE57DD30EB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952" y="3200406"/>
            <a:ext cx="4571880" cy="3505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701" name="Text Box 7">
            <a:extLst>
              <a:ext uri="{FF2B5EF4-FFF2-40B4-BE49-F238E27FC236}">
                <a16:creationId xmlns:a16="http://schemas.microsoft.com/office/drawing/2014/main" id="{FDD3F188-903B-4D1D-AE5A-F13A53ADCD22}"/>
              </a:ext>
            </a:extLst>
          </p:cNvPr>
          <p:cNvSpPr txBox="1">
            <a:spLocks noChangeArrowheads="1"/>
          </p:cNvSpPr>
          <p:nvPr/>
        </p:nvSpPr>
        <p:spPr bwMode="auto">
          <a:xfrm>
            <a:off x="5410378" y="2286030"/>
            <a:ext cx="6324274"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GB" altLang="en-US" dirty="0">
                <a:latin typeface="Georgia" panose="02040502050405020303" pitchFamily="18" charset="0"/>
              </a:rPr>
              <a:t>The last animation is worth paying extra attention to: we’ve applied the same styles to 0% and 100%, and to 20% and 80%. </a:t>
            </a:r>
          </a:p>
          <a:p>
            <a:r>
              <a:rPr lang="en-GB" altLang="en-US" dirty="0">
                <a:latin typeface="Georgia" panose="02040502050405020303" pitchFamily="18" charset="0"/>
              </a:rPr>
              <a:t>In this case, it means the element will start out invisible (opacity: 0;), fade in to visible by 20% of the way through the duration, remain visible until 80%, then fade out.</a:t>
            </a:r>
            <a:br>
              <a:rPr lang="en-GB" altLang="en-US" dirty="0">
                <a:latin typeface="Georgia" panose="02040502050405020303" pitchFamily="18" charset="0"/>
              </a:rPr>
            </a:br>
            <a:endParaRPr lang="en-GB" altLang="en-US" dirty="0">
              <a:latin typeface="Georgia" panose="02040502050405020303" pitchFamily="18" charset="0"/>
            </a:endParaRPr>
          </a:p>
          <a:p>
            <a:r>
              <a:rPr lang="en-GB" altLang="en-US" dirty="0">
                <a:latin typeface="Georgia" panose="02040502050405020303" pitchFamily="18" charset="0"/>
              </a:rPr>
              <a:t>We’ve created three animations, but they aren’t attached to any elements. Once we have defined an animation, the next step is to apply it to one or more elements using the various animation properties.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2">
            <a:extLst>
              <a:ext uri="{FF2B5EF4-FFF2-40B4-BE49-F238E27FC236}">
                <a16:creationId xmlns:a16="http://schemas.microsoft.com/office/drawing/2014/main" id="{9D1771A0-ED18-4169-AF46-8576CC6764AB}"/>
              </a:ext>
            </a:extLst>
          </p:cNvPr>
          <p:cNvSpPr>
            <a:spLocks noGrp="1" noChangeArrowheads="1"/>
          </p:cNvSpPr>
          <p:nvPr>
            <p:ph type="title" idx="4294967295"/>
          </p:nvPr>
        </p:nvSpPr>
        <p:spPr>
          <a:xfrm>
            <a:off x="0" y="0"/>
            <a:ext cx="8229600" cy="1143000"/>
          </a:xfrm>
        </p:spPr>
        <p:txBody>
          <a:bodyPr/>
          <a:lstStyle/>
          <a:p>
            <a:pPr algn="l" eaLnBrk="1" hangingPunct="1"/>
            <a:r>
              <a:rPr lang="en-US" altLang="en-US" sz="3200">
                <a:solidFill>
                  <a:srgbClr val="FF3300"/>
                </a:solidFill>
                <a:latin typeface="Georgia" panose="02040502050405020303" pitchFamily="18" charset="0"/>
              </a:rPr>
              <a:t>6. CSS3 Animation</a:t>
            </a:r>
            <a:endParaRPr lang="en-GB" altLang="en-US" sz="3200">
              <a:solidFill>
                <a:srgbClr val="FF3300"/>
              </a:solidFill>
              <a:latin typeface="Georgia" panose="02040502050405020303" pitchFamily="18" charset="0"/>
            </a:endParaRPr>
          </a:p>
        </p:txBody>
      </p:sp>
      <p:sp>
        <p:nvSpPr>
          <p:cNvPr id="159746" name="Rectangle 3">
            <a:extLst>
              <a:ext uri="{FF2B5EF4-FFF2-40B4-BE49-F238E27FC236}">
                <a16:creationId xmlns:a16="http://schemas.microsoft.com/office/drawing/2014/main" id="{B0A6D801-49FE-4CCE-BDF6-DF056443558D}"/>
              </a:ext>
            </a:extLst>
          </p:cNvPr>
          <p:cNvSpPr>
            <a:spLocks noGrp="1" noChangeArrowheads="1"/>
          </p:cNvSpPr>
          <p:nvPr>
            <p:ph type="body" idx="4294967295"/>
          </p:nvPr>
        </p:nvSpPr>
        <p:spPr>
          <a:xfrm>
            <a:off x="381000" y="914466"/>
            <a:ext cx="11201256" cy="1523960"/>
          </a:xfrm>
        </p:spPr>
        <p:txBody>
          <a:bodyPr>
            <a:normAutofit/>
          </a:bodyPr>
          <a:lstStyle/>
          <a:p>
            <a:pPr>
              <a:buFontTx/>
              <a:buNone/>
            </a:pPr>
            <a:r>
              <a:rPr lang="en-US" altLang="en-US" sz="1800" dirty="0">
                <a:latin typeface="Georgia" panose="02040502050405020303" pitchFamily="18" charset="0"/>
              </a:rPr>
              <a:t>Shorthand</a:t>
            </a:r>
            <a:endParaRPr lang="en-US" altLang="en-US" sz="1800" dirty="0">
              <a:solidFill>
                <a:srgbClr val="0066CC"/>
              </a:solidFill>
              <a:latin typeface="Georgia" panose="02040502050405020303" pitchFamily="18" charset="0"/>
            </a:endParaRPr>
          </a:p>
          <a:p>
            <a:pPr>
              <a:buFontTx/>
              <a:buNone/>
            </a:pPr>
            <a:r>
              <a:rPr lang="en-US" altLang="en-US" sz="1600" dirty="0">
                <a:latin typeface="Georgia" panose="02040502050405020303" pitchFamily="18" charset="0"/>
              </a:rPr>
              <a:t>The animation property takes as its value a space-separated list of values for the longhand animation name, </a:t>
            </a:r>
          </a:p>
          <a:p>
            <a:pPr>
              <a:buFontTx/>
              <a:buNone/>
            </a:pPr>
            <a:r>
              <a:rPr lang="en-US" altLang="en-US" sz="1600" dirty="0">
                <a:latin typeface="Georgia" panose="02040502050405020303" pitchFamily="18" charset="0"/>
              </a:rPr>
              <a:t>animation-duration, animation-timing-function, animation-delay, animation-iteration-count, animation-direction,</a:t>
            </a:r>
          </a:p>
          <a:p>
            <a:pPr>
              <a:buFontTx/>
              <a:buNone/>
            </a:pPr>
            <a:r>
              <a:rPr lang="en-US" altLang="en-US" sz="1600" dirty="0">
                <a:latin typeface="Georgia" panose="02040502050405020303" pitchFamily="18" charset="0"/>
              </a:rPr>
              <a:t>and animation-fill-mode properties:</a:t>
            </a:r>
          </a:p>
        </p:txBody>
      </p:sp>
      <p:pic>
        <p:nvPicPr>
          <p:cNvPr id="159747" name="Picture 4">
            <a:extLst>
              <a:ext uri="{FF2B5EF4-FFF2-40B4-BE49-F238E27FC236}">
                <a16:creationId xmlns:a16="http://schemas.microsoft.com/office/drawing/2014/main" id="{E615EC11-C3AE-4BCD-B4B3-E436DFE8C4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2590801"/>
            <a:ext cx="4876800" cy="248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9748" name="Picture 5">
            <a:extLst>
              <a:ext uri="{FF2B5EF4-FFF2-40B4-BE49-F238E27FC236}">
                <a16:creationId xmlns:a16="http://schemas.microsoft.com/office/drawing/2014/main" id="{5B382A5C-5002-4556-B7F0-313410698F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5181601"/>
            <a:ext cx="52578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Text Box 1">
            <a:extLst>
              <a:ext uri="{FF2B5EF4-FFF2-40B4-BE49-F238E27FC236}">
                <a16:creationId xmlns:a16="http://schemas.microsoft.com/office/drawing/2014/main" id="{D4C0245E-27D2-4386-B471-963186C9EB80}"/>
              </a:ext>
            </a:extLst>
          </p:cNvPr>
          <p:cNvSpPr txBox="1">
            <a:spLocks noChangeArrowheads="1"/>
          </p:cNvSpPr>
          <p:nvPr/>
        </p:nvSpPr>
        <p:spPr bwMode="auto">
          <a:xfrm>
            <a:off x="1857375" y="3357564"/>
            <a:ext cx="8477250"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a:ea typeface="SimSun" panose="02010600030101010101" pitchFamily="2" charset="-122"/>
              </a:rPr>
              <a:t>Definition and Usage</a:t>
            </a:r>
          </a:p>
          <a:p>
            <a:pPr eaLnBrk="0" hangingPunct="0"/>
            <a:r>
              <a:rPr lang="en-US" altLang="zh-CN">
                <a:ea typeface="SimSun" panose="02010600030101010101" pitchFamily="2" charset="-122"/>
              </a:rPr>
              <a:t>The cubic-bezier() function defines a Cubic Bezier curve.</a:t>
            </a:r>
          </a:p>
          <a:p>
            <a:pPr eaLnBrk="0" hangingPunct="0"/>
            <a:endParaRPr lang="en-US" altLang="zh-CN">
              <a:ea typeface="SimSun" panose="02010600030101010101" pitchFamily="2" charset="-122"/>
            </a:endParaRPr>
          </a:p>
          <a:p>
            <a:pPr eaLnBrk="0" hangingPunct="0"/>
            <a:r>
              <a:rPr lang="en-US" altLang="zh-CN">
                <a:ea typeface="SimSun" panose="02010600030101010101" pitchFamily="2" charset="-122"/>
              </a:rPr>
              <a:t>A Cubic Bezier curve is defined by four points P0, P1, P2, and P3. P0 and P3 are the start and the end of the curve and, in CSS these points are fixed as the coordinates are ratios. P0 is (0, 0) and represents the initial time and the initial state, P3 is (1, 1) and represents the final time and the final state.</a:t>
            </a:r>
          </a:p>
          <a:p>
            <a:pPr eaLnBrk="0" hangingPunct="0"/>
            <a:endParaRPr lang="en-US" altLang="zh-CN">
              <a:ea typeface="SimSun" panose="02010600030101010101" pitchFamily="2" charset="-122"/>
            </a:endParaRPr>
          </a:p>
          <a:p>
            <a:pPr eaLnBrk="0" hangingPunct="0"/>
            <a:r>
              <a:rPr lang="en-US" altLang="zh-CN">
                <a:ea typeface="SimSun" panose="02010600030101010101" pitchFamily="2" charset="-122"/>
              </a:rPr>
              <a:t>The cubic-bezier() function can be used with the animation-timing-function property and the transition-timing-function property. </a:t>
            </a:r>
          </a:p>
        </p:txBody>
      </p:sp>
      <p:sp>
        <p:nvSpPr>
          <p:cNvPr id="161794" name="Text Box 2">
            <a:extLst>
              <a:ext uri="{FF2B5EF4-FFF2-40B4-BE49-F238E27FC236}">
                <a16:creationId xmlns:a16="http://schemas.microsoft.com/office/drawing/2014/main" id="{1F4405B1-4247-4FC8-92C1-2B84B2F257BB}"/>
              </a:ext>
            </a:extLst>
          </p:cNvPr>
          <p:cNvSpPr txBox="1">
            <a:spLocks noChangeArrowheads="1"/>
          </p:cNvSpPr>
          <p:nvPr/>
        </p:nvSpPr>
        <p:spPr bwMode="auto">
          <a:xfrm>
            <a:off x="2046289" y="349251"/>
            <a:ext cx="7666037"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a:ea typeface="SimSun" panose="02010600030101010101" pitchFamily="2" charset="-122"/>
              </a:rPr>
              <a:t>Example</a:t>
            </a:r>
          </a:p>
          <a:p>
            <a:pPr eaLnBrk="0" hangingPunct="0"/>
            <a:r>
              <a:rPr lang="en-US" altLang="zh-CN">
                <a:ea typeface="SimSun" panose="02010600030101010101" pitchFamily="2" charset="-122"/>
              </a:rPr>
              <a:t>A transition effect with variable speed from start to end:</a:t>
            </a:r>
          </a:p>
          <a:p>
            <a:pPr eaLnBrk="0" hangingPunct="0"/>
            <a:endParaRPr lang="en-US" altLang="zh-CN">
              <a:ea typeface="SimSun" panose="02010600030101010101" pitchFamily="2" charset="-122"/>
            </a:endParaRPr>
          </a:p>
          <a:p>
            <a:pPr eaLnBrk="0" hangingPunct="0"/>
            <a:r>
              <a:rPr lang="en-US" altLang="zh-CN">
                <a:ea typeface="SimSun" panose="02010600030101010101" pitchFamily="2" charset="-122"/>
              </a:rPr>
              <a:t>div {</a:t>
            </a:r>
          </a:p>
          <a:p>
            <a:pPr eaLnBrk="0" hangingPunct="0"/>
            <a:r>
              <a:rPr lang="en-US" altLang="zh-CN">
                <a:ea typeface="SimSun" panose="02010600030101010101" pitchFamily="2" charset="-122"/>
              </a:rPr>
              <a:t>  width: 100px;</a:t>
            </a:r>
          </a:p>
          <a:p>
            <a:pPr eaLnBrk="0" hangingPunct="0"/>
            <a:r>
              <a:rPr lang="en-US" altLang="zh-CN">
                <a:ea typeface="SimSun" panose="02010600030101010101" pitchFamily="2" charset="-122"/>
              </a:rPr>
              <a:t>  height: 100px;</a:t>
            </a:r>
          </a:p>
          <a:p>
            <a:pPr eaLnBrk="0" hangingPunct="0"/>
            <a:r>
              <a:rPr lang="en-US" altLang="zh-CN">
                <a:ea typeface="SimSun" panose="02010600030101010101" pitchFamily="2" charset="-122"/>
              </a:rPr>
              <a:t>  background: red;</a:t>
            </a:r>
          </a:p>
          <a:p>
            <a:pPr eaLnBrk="0" hangingPunct="0"/>
            <a:r>
              <a:rPr lang="en-US" altLang="zh-CN">
                <a:ea typeface="SimSun" panose="02010600030101010101" pitchFamily="2" charset="-122"/>
              </a:rPr>
              <a:t>  transition: width 2s;</a:t>
            </a:r>
          </a:p>
          <a:p>
            <a:pPr eaLnBrk="0" hangingPunct="0"/>
            <a:r>
              <a:rPr lang="en-US" altLang="zh-CN">
                <a:ea typeface="SimSun" panose="02010600030101010101" pitchFamily="2" charset="-122"/>
              </a:rPr>
              <a:t>  transition-timing-function: cubic-bezier(0.1, 0.7, 1.0, 0.1);</a:t>
            </a:r>
          </a:p>
          <a:p>
            <a:pPr eaLnBrk="0" hangingPunct="0"/>
            <a:r>
              <a:rPr lang="en-US" altLang="zh-CN">
                <a:ea typeface="SimSun" panose="02010600030101010101" pitchFamily="2" charset="-122"/>
              </a:rPr>
              <a:t>}</a:t>
            </a:r>
          </a:p>
        </p:txBody>
      </p:sp>
      <p:pic>
        <p:nvPicPr>
          <p:cNvPr id="161795" name="Picture 1">
            <a:extLst>
              <a:ext uri="{FF2B5EF4-FFF2-40B4-BE49-F238E27FC236}">
                <a16:creationId xmlns:a16="http://schemas.microsoft.com/office/drawing/2014/main" id="{F8B36603-0D95-4EFD-97F5-F43F0DF9F5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2100" y="168275"/>
            <a:ext cx="2635250" cy="224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Text Box 1">
            <a:extLst>
              <a:ext uri="{FF2B5EF4-FFF2-40B4-BE49-F238E27FC236}">
                <a16:creationId xmlns:a16="http://schemas.microsoft.com/office/drawing/2014/main" id="{F0C0A175-229D-4A38-9414-706ADCD47FD0}"/>
              </a:ext>
            </a:extLst>
          </p:cNvPr>
          <p:cNvSpPr txBox="1">
            <a:spLocks noChangeArrowheads="1"/>
          </p:cNvSpPr>
          <p:nvPr/>
        </p:nvSpPr>
        <p:spPr bwMode="auto">
          <a:xfrm>
            <a:off x="1885951" y="398463"/>
            <a:ext cx="8518525" cy="544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200" dirty="0">
                <a:ea typeface="SimSun" panose="02010600030101010101" pitchFamily="2" charset="-122"/>
              </a:rPr>
              <a:t>&lt;!DOCTYPE html&gt;</a:t>
            </a:r>
          </a:p>
          <a:p>
            <a:pPr eaLnBrk="0" hangingPunct="0"/>
            <a:r>
              <a:rPr lang="en-US" altLang="zh-CN" sz="1200" dirty="0">
                <a:ea typeface="SimSun" panose="02010600030101010101" pitchFamily="2" charset="-122"/>
              </a:rPr>
              <a:t>&lt;html&gt;</a:t>
            </a:r>
          </a:p>
          <a:p>
            <a:pPr eaLnBrk="0" hangingPunct="0"/>
            <a:r>
              <a:rPr lang="en-US" altLang="zh-CN" sz="1200" dirty="0">
                <a:ea typeface="SimSun" panose="02010600030101010101" pitchFamily="2" charset="-122"/>
              </a:rPr>
              <a:t>&lt;head&gt;</a:t>
            </a:r>
          </a:p>
          <a:p>
            <a:pPr eaLnBrk="0" hangingPunct="0"/>
            <a:r>
              <a:rPr lang="en-US" altLang="zh-CN" sz="1200" dirty="0">
                <a:ea typeface="SimSun" panose="02010600030101010101" pitchFamily="2" charset="-122"/>
              </a:rPr>
              <a:t>&lt;style&gt; </a:t>
            </a:r>
          </a:p>
          <a:p>
            <a:pPr eaLnBrk="0" hangingPunct="0"/>
            <a:r>
              <a:rPr lang="en-US" altLang="zh-CN" sz="1200" dirty="0">
                <a:ea typeface="SimSun" panose="02010600030101010101" pitchFamily="2" charset="-122"/>
              </a:rPr>
              <a:t>div {</a:t>
            </a:r>
          </a:p>
          <a:p>
            <a:pPr eaLnBrk="0" hangingPunct="0"/>
            <a:r>
              <a:rPr lang="en-US" altLang="zh-CN" sz="1200" dirty="0">
                <a:ea typeface="SimSun" panose="02010600030101010101" pitchFamily="2" charset="-122"/>
              </a:rPr>
              <a:t>  width: 100px;</a:t>
            </a:r>
          </a:p>
          <a:p>
            <a:pPr eaLnBrk="0" hangingPunct="0"/>
            <a:r>
              <a:rPr lang="en-US" altLang="zh-CN" sz="1200" dirty="0">
                <a:ea typeface="SimSun" panose="02010600030101010101" pitchFamily="2" charset="-122"/>
              </a:rPr>
              <a:t>  height: 100px;</a:t>
            </a:r>
          </a:p>
          <a:p>
            <a:pPr eaLnBrk="0" hangingPunct="0"/>
            <a:r>
              <a:rPr lang="en-US" altLang="zh-CN" sz="1200" dirty="0">
                <a:ea typeface="SimSun" panose="02010600030101010101" pitchFamily="2" charset="-122"/>
              </a:rPr>
              <a:t>  background: red;</a:t>
            </a:r>
          </a:p>
          <a:p>
            <a:pPr eaLnBrk="0" hangingPunct="0"/>
            <a:r>
              <a:rPr lang="en-US" altLang="zh-CN" sz="1200" dirty="0">
                <a:ea typeface="SimSun" panose="02010600030101010101" pitchFamily="2" charset="-122"/>
              </a:rPr>
              <a:t>  transition: width 2s;</a:t>
            </a:r>
          </a:p>
          <a:p>
            <a:pPr eaLnBrk="0" hangingPunct="0"/>
            <a:r>
              <a:rPr lang="en-US" altLang="zh-CN" sz="1200" dirty="0">
                <a:ea typeface="SimSun" panose="02010600030101010101" pitchFamily="2" charset="-122"/>
              </a:rPr>
              <a:t>  transition-timing-function: cubic-</a:t>
            </a:r>
            <a:r>
              <a:rPr lang="en-US" altLang="zh-CN" sz="1200" dirty="0" err="1">
                <a:ea typeface="SimSun" panose="02010600030101010101" pitchFamily="2" charset="-122"/>
              </a:rPr>
              <a:t>bezier</a:t>
            </a:r>
            <a:r>
              <a:rPr lang="en-US" altLang="zh-CN" sz="1200" dirty="0">
                <a:ea typeface="SimSun" panose="02010600030101010101" pitchFamily="2" charset="-122"/>
              </a:rPr>
              <a:t>(0.1, 0.7, 1.0, 0.1);</a:t>
            </a:r>
          </a:p>
          <a:p>
            <a:pPr eaLnBrk="0" hangingPunct="0"/>
            <a:r>
              <a:rPr lang="en-US" altLang="zh-CN" sz="1200" dirty="0">
                <a:ea typeface="SimSun" panose="02010600030101010101" pitchFamily="2" charset="-122"/>
              </a:rPr>
              <a:t>}</a:t>
            </a:r>
          </a:p>
          <a:p>
            <a:pPr eaLnBrk="0" hangingPunct="0"/>
            <a:endParaRPr lang="en-US" altLang="zh-CN" sz="1200" dirty="0">
              <a:ea typeface="SimSun" panose="02010600030101010101" pitchFamily="2" charset="-122"/>
            </a:endParaRPr>
          </a:p>
          <a:p>
            <a:pPr eaLnBrk="0" hangingPunct="0"/>
            <a:r>
              <a:rPr lang="en-US" altLang="zh-CN" sz="1200" dirty="0" err="1">
                <a:ea typeface="SimSun" panose="02010600030101010101" pitchFamily="2" charset="-122"/>
              </a:rPr>
              <a:t>div:hover</a:t>
            </a:r>
            <a:r>
              <a:rPr lang="en-US" altLang="zh-CN" sz="1200" dirty="0">
                <a:ea typeface="SimSun" panose="02010600030101010101" pitchFamily="2" charset="-122"/>
              </a:rPr>
              <a:t> {</a:t>
            </a:r>
          </a:p>
          <a:p>
            <a:pPr eaLnBrk="0" hangingPunct="0"/>
            <a:r>
              <a:rPr lang="en-US" altLang="zh-CN" sz="1200" dirty="0">
                <a:ea typeface="SimSun" panose="02010600030101010101" pitchFamily="2" charset="-122"/>
              </a:rPr>
              <a:t>  width:300px;</a:t>
            </a:r>
          </a:p>
          <a:p>
            <a:pPr eaLnBrk="0" hangingPunct="0"/>
            <a:r>
              <a:rPr lang="en-US" altLang="zh-CN" sz="1200" dirty="0">
                <a:ea typeface="SimSun" panose="02010600030101010101" pitchFamily="2" charset="-122"/>
              </a:rPr>
              <a:t>}</a:t>
            </a:r>
          </a:p>
          <a:p>
            <a:pPr eaLnBrk="0" hangingPunct="0"/>
            <a:r>
              <a:rPr lang="en-US" altLang="zh-CN" sz="1200" dirty="0">
                <a:ea typeface="SimSun" panose="02010600030101010101" pitchFamily="2" charset="-122"/>
              </a:rPr>
              <a:t>&lt;/style&gt;</a:t>
            </a:r>
          </a:p>
          <a:p>
            <a:pPr eaLnBrk="0" hangingPunct="0"/>
            <a:r>
              <a:rPr lang="en-US" altLang="zh-CN" sz="1200" dirty="0">
                <a:ea typeface="SimSun" panose="02010600030101010101" pitchFamily="2" charset="-122"/>
              </a:rPr>
              <a:t>&lt;/head&gt;</a:t>
            </a:r>
          </a:p>
          <a:p>
            <a:pPr eaLnBrk="0" hangingPunct="0"/>
            <a:r>
              <a:rPr lang="en-US" altLang="zh-CN" sz="1200" dirty="0">
                <a:ea typeface="SimSun" panose="02010600030101010101" pitchFamily="2" charset="-122"/>
              </a:rPr>
              <a:t>&lt;body&gt;</a:t>
            </a:r>
          </a:p>
          <a:p>
            <a:pPr eaLnBrk="0" hangingPunct="0"/>
            <a:endParaRPr lang="en-US" altLang="zh-CN" sz="1200" dirty="0">
              <a:ea typeface="SimSun" panose="02010600030101010101" pitchFamily="2" charset="-122"/>
            </a:endParaRPr>
          </a:p>
          <a:p>
            <a:pPr eaLnBrk="0" hangingPunct="0"/>
            <a:r>
              <a:rPr lang="en-US" altLang="zh-CN" sz="1200" dirty="0">
                <a:ea typeface="SimSun" panose="02010600030101010101" pitchFamily="2" charset="-122"/>
              </a:rPr>
              <a:t>&lt;h1&gt;The cubic-</a:t>
            </a:r>
            <a:r>
              <a:rPr lang="en-US" altLang="zh-CN" sz="1200" dirty="0" err="1">
                <a:ea typeface="SimSun" panose="02010600030101010101" pitchFamily="2" charset="-122"/>
              </a:rPr>
              <a:t>bezier</a:t>
            </a:r>
            <a:r>
              <a:rPr lang="en-US" altLang="zh-CN" sz="1200" dirty="0">
                <a:ea typeface="SimSun" panose="02010600030101010101" pitchFamily="2" charset="-122"/>
              </a:rPr>
              <a:t>() Function&lt;/h1&gt;</a:t>
            </a:r>
          </a:p>
          <a:p>
            <a:pPr eaLnBrk="0" hangingPunct="0"/>
            <a:endParaRPr lang="en-US" altLang="zh-CN" sz="1200" dirty="0">
              <a:ea typeface="SimSun" panose="02010600030101010101" pitchFamily="2" charset="-122"/>
            </a:endParaRPr>
          </a:p>
          <a:p>
            <a:pPr eaLnBrk="0" hangingPunct="0"/>
            <a:r>
              <a:rPr lang="en-US" altLang="zh-CN" sz="1200" dirty="0">
                <a:ea typeface="SimSun" panose="02010600030101010101" pitchFamily="2" charset="-122"/>
              </a:rPr>
              <a:t>&lt;p&gt;Hover over the div element below, to see the transition effect.&lt;/p&gt;</a:t>
            </a:r>
          </a:p>
          <a:p>
            <a:pPr eaLnBrk="0" hangingPunct="0"/>
            <a:endParaRPr lang="en-US" altLang="zh-CN" sz="1200" dirty="0">
              <a:ea typeface="SimSun" panose="02010600030101010101" pitchFamily="2" charset="-122"/>
            </a:endParaRPr>
          </a:p>
          <a:p>
            <a:pPr eaLnBrk="0" hangingPunct="0"/>
            <a:r>
              <a:rPr lang="en-US" altLang="zh-CN" sz="1200" dirty="0">
                <a:ea typeface="SimSun" panose="02010600030101010101" pitchFamily="2" charset="-122"/>
              </a:rPr>
              <a:t>&lt;div&gt;&lt;/div&gt;</a:t>
            </a:r>
          </a:p>
          <a:p>
            <a:pPr eaLnBrk="0" hangingPunct="0"/>
            <a:endParaRPr lang="en-US" altLang="zh-CN" sz="1200" dirty="0">
              <a:ea typeface="SimSun" panose="02010600030101010101" pitchFamily="2" charset="-122"/>
            </a:endParaRPr>
          </a:p>
          <a:p>
            <a:pPr eaLnBrk="0" hangingPunct="0"/>
            <a:r>
              <a:rPr lang="en-US" altLang="zh-CN" sz="1200" dirty="0">
                <a:ea typeface="SimSun" panose="02010600030101010101" pitchFamily="2" charset="-122"/>
              </a:rPr>
              <a:t>&lt;p&gt;&lt;b&gt;Note:&lt;/b&gt; This example does not work in Internet Explorer 9 and earlier versions.&lt;/p&gt;</a:t>
            </a:r>
          </a:p>
          <a:p>
            <a:pPr eaLnBrk="0" hangingPunct="0"/>
            <a:endParaRPr lang="en-US" altLang="zh-CN" sz="1200" dirty="0">
              <a:ea typeface="SimSun" panose="02010600030101010101" pitchFamily="2" charset="-122"/>
            </a:endParaRPr>
          </a:p>
          <a:p>
            <a:pPr eaLnBrk="0" hangingPunct="0"/>
            <a:r>
              <a:rPr lang="en-US" altLang="zh-CN" sz="1200" dirty="0">
                <a:ea typeface="SimSun" panose="02010600030101010101" pitchFamily="2" charset="-122"/>
              </a:rPr>
              <a:t>&lt;/body&gt;</a:t>
            </a:r>
          </a:p>
          <a:p>
            <a:pPr eaLnBrk="0" hangingPunct="0"/>
            <a:r>
              <a:rPr lang="en-US" altLang="zh-CN" sz="1200" dirty="0">
                <a:ea typeface="SimSun" panose="02010600030101010101" pitchFamily="2" charset="-122"/>
              </a:rPr>
              <a:t>&lt;/html&gt;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2">
            <a:extLst>
              <a:ext uri="{FF2B5EF4-FFF2-40B4-BE49-F238E27FC236}">
                <a16:creationId xmlns:a16="http://schemas.microsoft.com/office/drawing/2014/main" id="{42F15CF1-42F4-45AB-A1AD-81EE65503DC1}"/>
              </a:ext>
            </a:extLst>
          </p:cNvPr>
          <p:cNvSpPr>
            <a:spLocks noGrp="1" noChangeArrowheads="1"/>
          </p:cNvSpPr>
          <p:nvPr>
            <p:ph type="title" idx="4294967295"/>
          </p:nvPr>
        </p:nvSpPr>
        <p:spPr>
          <a:xfrm>
            <a:off x="0" y="0"/>
            <a:ext cx="8229600" cy="1143000"/>
          </a:xfrm>
        </p:spPr>
        <p:txBody>
          <a:bodyPr/>
          <a:lstStyle/>
          <a:p>
            <a:pPr algn="l" eaLnBrk="1" hangingPunct="1"/>
            <a:r>
              <a:rPr lang="en-US" altLang="en-US" sz="3200">
                <a:solidFill>
                  <a:srgbClr val="FF3300"/>
                </a:solidFill>
                <a:latin typeface="Georgia" panose="02040502050405020303" pitchFamily="18" charset="0"/>
              </a:rPr>
              <a:t>6. CSS3 multiple columns</a:t>
            </a:r>
            <a:endParaRPr lang="en-GB" altLang="en-US" sz="3200">
              <a:solidFill>
                <a:srgbClr val="FF3300"/>
              </a:solidFill>
              <a:latin typeface="Georgia" panose="02040502050405020303" pitchFamily="18" charset="0"/>
            </a:endParaRPr>
          </a:p>
        </p:txBody>
      </p:sp>
      <p:sp>
        <p:nvSpPr>
          <p:cNvPr id="163842" name="Rectangle 3">
            <a:extLst>
              <a:ext uri="{FF2B5EF4-FFF2-40B4-BE49-F238E27FC236}">
                <a16:creationId xmlns:a16="http://schemas.microsoft.com/office/drawing/2014/main" id="{AE7EFE36-C02F-42A7-80B8-237B6CEA615A}"/>
              </a:ext>
            </a:extLst>
          </p:cNvPr>
          <p:cNvSpPr>
            <a:spLocks noGrp="1" noChangeArrowheads="1"/>
          </p:cNvSpPr>
          <p:nvPr>
            <p:ph type="body" idx="4294967295"/>
          </p:nvPr>
        </p:nvSpPr>
        <p:spPr>
          <a:xfrm>
            <a:off x="304952" y="838268"/>
            <a:ext cx="11582096" cy="5562600"/>
          </a:xfrm>
        </p:spPr>
        <p:txBody>
          <a:bodyPr>
            <a:normAutofit/>
          </a:bodyPr>
          <a:lstStyle/>
          <a:p>
            <a:pPr>
              <a:buFontTx/>
              <a:buNone/>
            </a:pPr>
            <a:r>
              <a:rPr lang="en-US" altLang="en-US" sz="1600" dirty="0">
                <a:latin typeface="Georgia" panose="02040502050405020303" pitchFamily="18" charset="0"/>
              </a:rPr>
              <a:t>Newspaper-style columns have been close to impossible to accomplish with CSS and HTML without forcing column breaks at</a:t>
            </a:r>
          </a:p>
          <a:p>
            <a:pPr>
              <a:buFontTx/>
              <a:buNone/>
            </a:pPr>
            <a:r>
              <a:rPr lang="en-US" altLang="en-US" sz="1600" dirty="0">
                <a:latin typeface="Georgia" panose="02040502050405020303" pitchFamily="18" charset="0"/>
              </a:rPr>
              <a:t>fixed positions</a:t>
            </a:r>
          </a:p>
          <a:p>
            <a:pPr>
              <a:buFontTx/>
              <a:buNone/>
            </a:pPr>
            <a:endParaRPr lang="en-US" altLang="en-US" sz="1600" dirty="0">
              <a:latin typeface="Georgia" panose="02040502050405020303" pitchFamily="18" charset="0"/>
            </a:endParaRPr>
          </a:p>
          <a:p>
            <a:pPr>
              <a:buFontTx/>
              <a:buNone/>
            </a:pPr>
            <a:r>
              <a:rPr lang="en-US" altLang="en-US" sz="1600" dirty="0">
                <a:latin typeface="Georgia" panose="02040502050405020303" pitchFamily="18" charset="0"/>
              </a:rPr>
              <a:t>With CSS3 columns, the browser determines when to end one column and begin the next without requiring any extra markup. </a:t>
            </a:r>
          </a:p>
          <a:p>
            <a:pPr>
              <a:buFontTx/>
              <a:buNone/>
            </a:pPr>
            <a:r>
              <a:rPr lang="en-US" altLang="en-US" sz="1600" dirty="0">
                <a:latin typeface="Georgia" panose="02040502050405020303" pitchFamily="18" charset="0"/>
              </a:rPr>
              <a:t>You retain the flexibility to change the number of columns as well as their width, without having to go back in and alter the </a:t>
            </a:r>
          </a:p>
          <a:p>
            <a:pPr>
              <a:buFontTx/>
              <a:buNone/>
            </a:pPr>
            <a:r>
              <a:rPr lang="en-US" altLang="en-US" sz="1600" dirty="0">
                <a:latin typeface="Georgia" panose="02040502050405020303" pitchFamily="18" charset="0"/>
              </a:rPr>
              <a:t>page’s markup.</a:t>
            </a:r>
          </a:p>
          <a:p>
            <a:pPr>
              <a:buFontTx/>
              <a:buNone/>
            </a:pPr>
            <a:endParaRPr lang="en-US" altLang="en-US" sz="1600" dirty="0">
              <a:latin typeface="Georgia" panose="02040502050405020303" pitchFamily="18" charset="0"/>
            </a:endParaRPr>
          </a:p>
          <a:p>
            <a:pPr>
              <a:buFontTx/>
              <a:buNone/>
            </a:pPr>
            <a:r>
              <a:rPr lang="en-US" altLang="en-US" sz="1800" dirty="0">
                <a:solidFill>
                  <a:srgbClr val="0066CC"/>
                </a:solidFill>
                <a:latin typeface="Georgia" panose="02040502050405020303" pitchFamily="18" charset="0"/>
              </a:rPr>
              <a:t>The column-count-property</a:t>
            </a:r>
          </a:p>
          <a:p>
            <a:pPr>
              <a:buFontTx/>
              <a:buNone/>
            </a:pPr>
            <a:r>
              <a:rPr lang="en-US" altLang="en-US" sz="1600" dirty="0">
                <a:latin typeface="Georgia" panose="02040502050405020303" pitchFamily="18" charset="0"/>
              </a:rPr>
              <a:t>The column-count property specifies the number of </a:t>
            </a:r>
            <a:r>
              <a:rPr lang="en-US" altLang="en-US" sz="1600" dirty="0">
                <a:solidFill>
                  <a:srgbClr val="0066CC"/>
                </a:solidFill>
                <a:latin typeface="Georgia" panose="02040502050405020303" pitchFamily="18" charset="0"/>
              </a:rPr>
              <a:t>columns desired</a:t>
            </a:r>
            <a:r>
              <a:rPr lang="en-US" altLang="en-US" sz="1600" dirty="0">
                <a:latin typeface="Georgia" panose="02040502050405020303" pitchFamily="18" charset="0"/>
              </a:rPr>
              <a:t>, and the maximum number of columns allowed. </a:t>
            </a:r>
          </a:p>
          <a:p>
            <a:pPr>
              <a:buFontTx/>
              <a:buNone/>
            </a:pPr>
            <a:r>
              <a:rPr lang="en-US" altLang="en-US" sz="1600" dirty="0">
                <a:latin typeface="Georgia" panose="02040502050405020303" pitchFamily="18" charset="0"/>
              </a:rPr>
              <a:t>The default value of </a:t>
            </a:r>
            <a:r>
              <a:rPr lang="en-US" altLang="en-US" sz="1600" dirty="0">
                <a:solidFill>
                  <a:srgbClr val="0066CC"/>
                </a:solidFill>
                <a:latin typeface="Georgia" panose="02040502050405020303" pitchFamily="18" charset="0"/>
              </a:rPr>
              <a:t>auto</a:t>
            </a:r>
            <a:r>
              <a:rPr lang="en-US" altLang="en-US" sz="1600" dirty="0">
                <a:latin typeface="Georgia" panose="02040502050405020303" pitchFamily="18" charset="0"/>
              </a:rPr>
              <a:t> means that the element has </a:t>
            </a:r>
            <a:r>
              <a:rPr lang="en-US" altLang="en-US" sz="1600" dirty="0">
                <a:solidFill>
                  <a:srgbClr val="0066CC"/>
                </a:solidFill>
                <a:latin typeface="Georgia" panose="02040502050405020303" pitchFamily="18" charset="0"/>
              </a:rPr>
              <a:t>one column</a:t>
            </a:r>
            <a:r>
              <a:rPr lang="en-US" altLang="en-US" sz="1600" dirty="0">
                <a:latin typeface="Georgia" panose="02040502050405020303" pitchFamily="18" charset="0"/>
              </a:rPr>
              <a:t>.</a:t>
            </a:r>
          </a:p>
          <a:p>
            <a:pPr>
              <a:buFontTx/>
              <a:buNone/>
            </a:pPr>
            <a:endParaRPr lang="en-US" altLang="en-US" sz="1600" dirty="0">
              <a:latin typeface="Georgia" panose="02040502050405020303" pitchFamily="18" charset="0"/>
            </a:endParaRPr>
          </a:p>
          <a:p>
            <a:pPr>
              <a:buFontTx/>
              <a:buNone/>
            </a:pPr>
            <a:r>
              <a:rPr lang="en-US" altLang="en-US" sz="1600" dirty="0">
                <a:latin typeface="Georgia" panose="02040502050405020303" pitchFamily="18" charset="0"/>
              </a:rPr>
              <a:t>Ex: </a:t>
            </a:r>
            <a:r>
              <a:rPr lang="en-US" altLang="en-US" sz="1600" dirty="0">
                <a:solidFill>
                  <a:srgbClr val="1C1C1C"/>
                </a:solidFill>
                <a:latin typeface="Georgia" panose="02040502050405020303" pitchFamily="18" charset="0"/>
              </a:rPr>
              <a:t>#primary article .content</a:t>
            </a:r>
            <a:r>
              <a:rPr lang="en-US" altLang="en-US" sz="1600" dirty="0">
                <a:latin typeface="Georgia" panose="02040502050405020303" pitchFamily="18" charset="0"/>
              </a:rPr>
              <a:t> {</a:t>
            </a:r>
          </a:p>
          <a:p>
            <a:pPr lvl="1">
              <a:buFontTx/>
              <a:buNone/>
            </a:pPr>
            <a:r>
              <a:rPr lang="en-US" altLang="en-US" sz="1600" dirty="0">
                <a:solidFill>
                  <a:srgbClr val="0066CC"/>
                </a:solidFill>
                <a:latin typeface="Georgia" panose="02040502050405020303" pitchFamily="18" charset="0"/>
              </a:rPr>
              <a:t>-</a:t>
            </a:r>
            <a:r>
              <a:rPr lang="en-US" altLang="en-US" sz="1600" dirty="0" err="1">
                <a:solidFill>
                  <a:srgbClr val="0066CC"/>
                </a:solidFill>
                <a:latin typeface="Georgia" panose="02040502050405020303" pitchFamily="18" charset="0"/>
              </a:rPr>
              <a:t>webkit</a:t>
            </a:r>
            <a:r>
              <a:rPr lang="en-US" altLang="en-US" sz="1600" dirty="0">
                <a:solidFill>
                  <a:srgbClr val="0066CC"/>
                </a:solidFill>
                <a:latin typeface="Georgia" panose="02040502050405020303" pitchFamily="18" charset="0"/>
              </a:rPr>
              <a:t>-column-count</a:t>
            </a:r>
            <a:r>
              <a:rPr lang="en-US" altLang="en-US" sz="1600" dirty="0">
                <a:latin typeface="Georgia" panose="02040502050405020303" pitchFamily="18" charset="0"/>
              </a:rPr>
              <a:t>: 3;</a:t>
            </a:r>
          </a:p>
          <a:p>
            <a:pPr lvl="1">
              <a:buFontTx/>
              <a:buNone/>
            </a:pPr>
            <a:r>
              <a:rPr lang="en-US" altLang="en-US" sz="1600" dirty="0">
                <a:latin typeface="Georgia" panose="02040502050405020303" pitchFamily="18" charset="0"/>
              </a:rPr>
              <a:t>-</a:t>
            </a:r>
            <a:r>
              <a:rPr lang="en-US" altLang="en-US" sz="1600" dirty="0" err="1">
                <a:solidFill>
                  <a:srgbClr val="0066CC"/>
                </a:solidFill>
                <a:latin typeface="Georgia" panose="02040502050405020303" pitchFamily="18" charset="0"/>
              </a:rPr>
              <a:t>moz</a:t>
            </a:r>
            <a:r>
              <a:rPr lang="en-US" altLang="en-US" sz="1600" dirty="0">
                <a:solidFill>
                  <a:srgbClr val="0066CC"/>
                </a:solidFill>
                <a:latin typeface="Georgia" panose="02040502050405020303" pitchFamily="18" charset="0"/>
              </a:rPr>
              <a:t>-column-count</a:t>
            </a:r>
            <a:r>
              <a:rPr lang="en-US" altLang="en-US" sz="1600" dirty="0">
                <a:latin typeface="Georgia" panose="02040502050405020303" pitchFamily="18" charset="0"/>
              </a:rPr>
              <a:t>: 3;</a:t>
            </a:r>
          </a:p>
          <a:p>
            <a:pPr lvl="1">
              <a:buFontTx/>
              <a:buNone/>
            </a:pPr>
            <a:r>
              <a:rPr lang="en-US" altLang="en-US" sz="1600" dirty="0">
                <a:solidFill>
                  <a:srgbClr val="0066CC"/>
                </a:solidFill>
                <a:latin typeface="Georgia" panose="02040502050405020303" pitchFamily="18" charset="0"/>
              </a:rPr>
              <a:t>column-count:</a:t>
            </a:r>
            <a:r>
              <a:rPr lang="en-US" altLang="en-US" sz="1600" dirty="0">
                <a:latin typeface="Georgia" panose="02040502050405020303" pitchFamily="18" charset="0"/>
              </a:rPr>
              <a:t> 3;</a:t>
            </a:r>
          </a:p>
          <a:p>
            <a:pPr>
              <a:buFontTx/>
              <a:buNone/>
            </a:pPr>
            <a:r>
              <a:rPr lang="en-US" altLang="en-US" sz="1600" dirty="0">
                <a:latin typeface="Georgia" panose="02040502050405020303" pitchFamily="18" charset="0"/>
              </a:rPr>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2">
            <a:extLst>
              <a:ext uri="{FF2B5EF4-FFF2-40B4-BE49-F238E27FC236}">
                <a16:creationId xmlns:a16="http://schemas.microsoft.com/office/drawing/2014/main" id="{3849FEAC-7FED-43B0-BD7F-B6402D38DFE8}"/>
              </a:ext>
            </a:extLst>
          </p:cNvPr>
          <p:cNvSpPr>
            <a:spLocks noGrp="1" noChangeArrowheads="1"/>
          </p:cNvSpPr>
          <p:nvPr>
            <p:ph type="title" idx="4294967295"/>
          </p:nvPr>
        </p:nvSpPr>
        <p:spPr>
          <a:xfrm>
            <a:off x="0" y="0"/>
            <a:ext cx="8229600" cy="1143000"/>
          </a:xfrm>
        </p:spPr>
        <p:txBody>
          <a:bodyPr/>
          <a:lstStyle/>
          <a:p>
            <a:pPr algn="l" eaLnBrk="1" hangingPunct="1"/>
            <a:r>
              <a:rPr lang="en-US" altLang="en-US" sz="3200" dirty="0">
                <a:solidFill>
                  <a:srgbClr val="FF3300"/>
                </a:solidFill>
                <a:latin typeface="Georgia" panose="02040502050405020303" pitchFamily="18" charset="0"/>
              </a:rPr>
              <a:t>6. CSS3 multiple columns</a:t>
            </a:r>
            <a:endParaRPr lang="en-GB" altLang="en-US" sz="3200" dirty="0">
              <a:solidFill>
                <a:srgbClr val="FF3300"/>
              </a:solidFill>
              <a:latin typeface="Georgia" panose="02040502050405020303" pitchFamily="18" charset="0"/>
            </a:endParaRPr>
          </a:p>
        </p:txBody>
      </p:sp>
      <p:sp>
        <p:nvSpPr>
          <p:cNvPr id="165890" name="Rectangle 3">
            <a:extLst>
              <a:ext uri="{FF2B5EF4-FFF2-40B4-BE49-F238E27FC236}">
                <a16:creationId xmlns:a16="http://schemas.microsoft.com/office/drawing/2014/main" id="{028E2795-ED8B-4DBA-BA42-9B2B8E9F7A32}"/>
              </a:ext>
            </a:extLst>
          </p:cNvPr>
          <p:cNvSpPr>
            <a:spLocks noGrp="1" noChangeArrowheads="1"/>
          </p:cNvSpPr>
          <p:nvPr>
            <p:ph type="body" idx="4294967295"/>
          </p:nvPr>
        </p:nvSpPr>
        <p:spPr>
          <a:xfrm>
            <a:off x="304952" y="914466"/>
            <a:ext cx="10667720" cy="5562600"/>
          </a:xfrm>
        </p:spPr>
        <p:txBody>
          <a:bodyPr>
            <a:normAutofit fontScale="85000" lnSpcReduction="20000"/>
          </a:bodyPr>
          <a:lstStyle/>
          <a:p>
            <a:pPr>
              <a:lnSpc>
                <a:spcPct val="80000"/>
              </a:lnSpc>
              <a:buFontTx/>
              <a:buNone/>
            </a:pPr>
            <a:r>
              <a:rPr lang="en-US" altLang="en-US" sz="1400" dirty="0">
                <a:solidFill>
                  <a:srgbClr val="0066CC"/>
                </a:solidFill>
                <a:latin typeface="Georgia" panose="02040502050405020303" pitchFamily="18" charset="0"/>
              </a:rPr>
              <a:t>The column-gap-property</a:t>
            </a:r>
          </a:p>
          <a:p>
            <a:pPr>
              <a:lnSpc>
                <a:spcPct val="80000"/>
              </a:lnSpc>
              <a:buFontTx/>
              <a:buNone/>
            </a:pPr>
            <a:r>
              <a:rPr lang="en-US" altLang="en-US" sz="1400" dirty="0">
                <a:latin typeface="Georgia" panose="02040502050405020303" pitchFamily="18" charset="0"/>
              </a:rPr>
              <a:t>The column-gap property specifies the width of the space between columns:</a:t>
            </a:r>
          </a:p>
          <a:p>
            <a:pPr>
              <a:lnSpc>
                <a:spcPct val="80000"/>
              </a:lnSpc>
              <a:buFontTx/>
              <a:buNone/>
            </a:pPr>
            <a:r>
              <a:rPr lang="en-US" altLang="en-US" sz="1400" dirty="0">
                <a:latin typeface="Georgia" panose="02040502050405020303" pitchFamily="18" charset="0"/>
              </a:rPr>
              <a:t>Ex: </a:t>
            </a:r>
            <a:r>
              <a:rPr lang="en-US" altLang="en-US" sz="1400" dirty="0">
                <a:solidFill>
                  <a:srgbClr val="1C1C1C"/>
                </a:solidFill>
                <a:latin typeface="Georgia" panose="02040502050405020303" pitchFamily="18" charset="0"/>
              </a:rPr>
              <a:t>#primary article .content</a:t>
            </a:r>
            <a:r>
              <a:rPr lang="en-US" altLang="en-US" sz="1400" dirty="0">
                <a:latin typeface="Georgia" panose="02040502050405020303" pitchFamily="18" charset="0"/>
              </a:rPr>
              <a:t> {</a:t>
            </a:r>
          </a:p>
          <a:p>
            <a:pPr lvl="1">
              <a:lnSpc>
                <a:spcPct val="80000"/>
              </a:lnSpc>
              <a:buFontTx/>
              <a:buNone/>
            </a:pPr>
            <a:r>
              <a:rPr lang="en-US" altLang="en-US" sz="1400" dirty="0">
                <a:solidFill>
                  <a:srgbClr val="0066CC"/>
                </a:solidFill>
                <a:latin typeface="Georgia" panose="02040502050405020303" pitchFamily="18" charset="0"/>
              </a:rPr>
              <a:t>-</a:t>
            </a:r>
            <a:r>
              <a:rPr lang="en-US" altLang="en-US" sz="1400" dirty="0" err="1">
                <a:solidFill>
                  <a:srgbClr val="0066CC"/>
                </a:solidFill>
                <a:latin typeface="Georgia" panose="02040502050405020303" pitchFamily="18" charset="0"/>
              </a:rPr>
              <a:t>webkit</a:t>
            </a:r>
            <a:r>
              <a:rPr lang="en-US" altLang="en-US" sz="1400" dirty="0">
                <a:solidFill>
                  <a:srgbClr val="0066CC"/>
                </a:solidFill>
                <a:latin typeface="Georgia" panose="02040502050405020303" pitchFamily="18" charset="0"/>
              </a:rPr>
              <a:t>-column-gap</a:t>
            </a:r>
            <a:r>
              <a:rPr lang="en-US" altLang="en-US" sz="1400" dirty="0">
                <a:latin typeface="Georgia" panose="02040502050405020303" pitchFamily="18" charset="0"/>
              </a:rPr>
              <a:t>: 10px;</a:t>
            </a:r>
          </a:p>
          <a:p>
            <a:pPr lvl="1">
              <a:lnSpc>
                <a:spcPct val="80000"/>
              </a:lnSpc>
              <a:buFontTx/>
              <a:buNone/>
            </a:pPr>
            <a:r>
              <a:rPr lang="en-US" altLang="en-US" sz="1400" dirty="0">
                <a:latin typeface="Georgia" panose="02040502050405020303" pitchFamily="18" charset="0"/>
              </a:rPr>
              <a:t>-</a:t>
            </a:r>
            <a:r>
              <a:rPr lang="en-US" altLang="en-US" sz="1400" dirty="0" err="1">
                <a:solidFill>
                  <a:srgbClr val="0066CC"/>
                </a:solidFill>
                <a:latin typeface="Georgia" panose="02040502050405020303" pitchFamily="18" charset="0"/>
              </a:rPr>
              <a:t>moz</a:t>
            </a:r>
            <a:r>
              <a:rPr lang="en-US" altLang="en-US" sz="1400" dirty="0">
                <a:solidFill>
                  <a:srgbClr val="0066CC"/>
                </a:solidFill>
                <a:latin typeface="Georgia" panose="02040502050405020303" pitchFamily="18" charset="0"/>
              </a:rPr>
              <a:t>-column-gap</a:t>
            </a:r>
            <a:r>
              <a:rPr lang="en-US" altLang="en-US" sz="1400" dirty="0">
                <a:latin typeface="Georgia" panose="02040502050405020303" pitchFamily="18" charset="0"/>
              </a:rPr>
              <a:t>: 10px;</a:t>
            </a:r>
          </a:p>
          <a:p>
            <a:pPr lvl="1">
              <a:lnSpc>
                <a:spcPct val="80000"/>
              </a:lnSpc>
              <a:buFontTx/>
              <a:buNone/>
            </a:pPr>
            <a:r>
              <a:rPr lang="en-US" altLang="en-US" sz="1400" dirty="0">
                <a:solidFill>
                  <a:srgbClr val="0066CC"/>
                </a:solidFill>
                <a:latin typeface="Georgia" panose="02040502050405020303" pitchFamily="18" charset="0"/>
              </a:rPr>
              <a:t>column-gap:</a:t>
            </a:r>
            <a:r>
              <a:rPr lang="en-US" altLang="en-US" sz="1400" dirty="0">
                <a:latin typeface="Georgia" panose="02040502050405020303" pitchFamily="18" charset="0"/>
              </a:rPr>
              <a:t> 10px;</a:t>
            </a:r>
          </a:p>
          <a:p>
            <a:pPr>
              <a:lnSpc>
                <a:spcPct val="80000"/>
              </a:lnSpc>
              <a:buFontTx/>
              <a:buNone/>
            </a:pPr>
            <a:r>
              <a:rPr lang="en-US" altLang="en-US" sz="1400" dirty="0">
                <a:latin typeface="Georgia" panose="02040502050405020303" pitchFamily="18" charset="0"/>
              </a:rPr>
              <a:t>       }</a:t>
            </a:r>
          </a:p>
          <a:p>
            <a:pPr>
              <a:lnSpc>
                <a:spcPct val="80000"/>
              </a:lnSpc>
              <a:buFontTx/>
              <a:buNone/>
            </a:pPr>
            <a:endParaRPr lang="en-US" altLang="en-US" sz="1400" dirty="0">
              <a:latin typeface="Georgia" panose="02040502050405020303" pitchFamily="18" charset="0"/>
            </a:endParaRPr>
          </a:p>
          <a:p>
            <a:pPr>
              <a:lnSpc>
                <a:spcPct val="80000"/>
              </a:lnSpc>
              <a:buFontTx/>
              <a:buNone/>
            </a:pPr>
            <a:r>
              <a:rPr lang="en-US" altLang="en-US" sz="1400" dirty="0">
                <a:solidFill>
                  <a:srgbClr val="0066CC"/>
                </a:solidFill>
                <a:latin typeface="Georgia" panose="02040502050405020303" pitchFamily="18" charset="0"/>
              </a:rPr>
              <a:t>The column-width-property</a:t>
            </a:r>
          </a:p>
          <a:p>
            <a:pPr>
              <a:lnSpc>
                <a:spcPct val="80000"/>
              </a:lnSpc>
              <a:buFontTx/>
              <a:buNone/>
            </a:pPr>
            <a:r>
              <a:rPr lang="en-US" altLang="en-US" sz="1400" dirty="0">
                <a:latin typeface="Georgia" panose="02040502050405020303" pitchFamily="18" charset="0"/>
              </a:rPr>
              <a:t>The column-width property is like having a min-width for your columns. </a:t>
            </a:r>
          </a:p>
          <a:p>
            <a:pPr>
              <a:lnSpc>
                <a:spcPct val="80000"/>
              </a:lnSpc>
              <a:buFontTx/>
              <a:buNone/>
            </a:pPr>
            <a:r>
              <a:rPr lang="en-US" altLang="en-US" sz="1400" dirty="0">
                <a:latin typeface="Georgia" panose="02040502050405020303" pitchFamily="18" charset="0"/>
              </a:rPr>
              <a:t>The browser will include as many columns of at least the given width as it can to fill up the element</a:t>
            </a:r>
          </a:p>
          <a:p>
            <a:pPr>
              <a:lnSpc>
                <a:spcPct val="80000"/>
              </a:lnSpc>
              <a:buFontTx/>
              <a:buNone/>
            </a:pPr>
            <a:endParaRPr lang="en-US" altLang="en-US" sz="1400" dirty="0">
              <a:latin typeface="Georgia" panose="02040502050405020303" pitchFamily="18" charset="0"/>
            </a:endParaRPr>
          </a:p>
          <a:p>
            <a:pPr>
              <a:lnSpc>
                <a:spcPct val="80000"/>
              </a:lnSpc>
              <a:buFontTx/>
              <a:buNone/>
            </a:pPr>
            <a:r>
              <a:rPr lang="en-US" altLang="en-US" sz="1400" dirty="0">
                <a:latin typeface="Georgia" panose="02040502050405020303" pitchFamily="18" charset="0"/>
              </a:rPr>
              <a:t>For example, if we have a parent that is 400 pixels wide, a 10-pixel column gap, and the column-width is declared as 150px, </a:t>
            </a:r>
          </a:p>
          <a:p>
            <a:pPr>
              <a:lnSpc>
                <a:spcPct val="80000"/>
              </a:lnSpc>
              <a:buFontTx/>
              <a:buNone/>
            </a:pPr>
            <a:r>
              <a:rPr lang="en-US" altLang="en-US" sz="1400" dirty="0">
                <a:latin typeface="Georgia" panose="02040502050405020303" pitchFamily="18" charset="0"/>
              </a:rPr>
              <a:t>the browser can fit two columns:(400px width – 10px column gap) ÷ 150px width  2.6 </a:t>
            </a:r>
          </a:p>
          <a:p>
            <a:pPr>
              <a:lnSpc>
                <a:spcPct val="80000"/>
              </a:lnSpc>
              <a:buFontTx/>
              <a:buNone/>
            </a:pPr>
            <a:r>
              <a:rPr lang="en-US" altLang="en-US" sz="1400" dirty="0">
                <a:latin typeface="Georgia" panose="02040502050405020303" pitchFamily="18" charset="0"/>
              </a:rPr>
              <a:t>The browser rounds down to two columns, making columns that are as large as possible in the allotted space; </a:t>
            </a:r>
          </a:p>
          <a:p>
            <a:pPr>
              <a:lnSpc>
                <a:spcPct val="80000"/>
              </a:lnSpc>
              <a:buFontTx/>
              <a:buNone/>
            </a:pPr>
            <a:r>
              <a:rPr lang="en-US" altLang="en-US" sz="1400" dirty="0">
                <a:latin typeface="Georgia" panose="02040502050405020303" pitchFamily="18" charset="0"/>
              </a:rPr>
              <a:t>in this case that’s 195px for each column—the total width minus the gap, divided by the number of columns. </a:t>
            </a:r>
          </a:p>
          <a:p>
            <a:pPr>
              <a:lnSpc>
                <a:spcPct val="80000"/>
              </a:lnSpc>
              <a:buFontTx/>
              <a:buNone/>
            </a:pPr>
            <a:r>
              <a:rPr lang="en-US" altLang="en-US" sz="1400" dirty="0">
                <a:latin typeface="Georgia" panose="02040502050405020303" pitchFamily="18" charset="0"/>
              </a:rPr>
              <a:t>Even if the column-count were set to 3, there would still only be two columns, as there’s not enough space to include three columns of the specified width. </a:t>
            </a:r>
          </a:p>
          <a:p>
            <a:pPr>
              <a:lnSpc>
                <a:spcPct val="80000"/>
              </a:lnSpc>
              <a:buFontTx/>
              <a:buNone/>
            </a:pPr>
            <a:r>
              <a:rPr lang="en-US" altLang="en-US" sz="1400" dirty="0">
                <a:latin typeface="Georgia" panose="02040502050405020303" pitchFamily="18" charset="0"/>
              </a:rPr>
              <a:t>In other words, you can think  of the column-count property as specifying the </a:t>
            </a:r>
            <a:r>
              <a:rPr lang="en-US" altLang="en-US" sz="1400" i="1" dirty="0">
                <a:latin typeface="Georgia" panose="02040502050405020303" pitchFamily="18" charset="0"/>
              </a:rPr>
              <a:t>maximum </a:t>
            </a:r>
            <a:r>
              <a:rPr lang="en-US" altLang="en-US" sz="1400" dirty="0">
                <a:latin typeface="Georgia" panose="02040502050405020303" pitchFamily="18" charset="0"/>
              </a:rPr>
              <a:t>column count.</a:t>
            </a:r>
            <a:br>
              <a:rPr lang="en-US" altLang="en-US" sz="1400" dirty="0">
                <a:latin typeface="Georgia" panose="02040502050405020303" pitchFamily="18" charset="0"/>
              </a:rPr>
            </a:br>
            <a:endParaRPr lang="en-US" altLang="en-US" sz="1400" dirty="0">
              <a:latin typeface="Georgia" panose="02040502050405020303" pitchFamily="18" charset="0"/>
            </a:endParaRPr>
          </a:p>
          <a:p>
            <a:pPr>
              <a:lnSpc>
                <a:spcPct val="80000"/>
              </a:lnSpc>
              <a:buFontTx/>
              <a:buNone/>
            </a:pPr>
            <a:r>
              <a:rPr lang="en-US" altLang="en-US" sz="1400" dirty="0">
                <a:latin typeface="Georgia" panose="02040502050405020303" pitchFamily="18" charset="0"/>
              </a:rPr>
              <a:t>Ex: </a:t>
            </a:r>
            <a:r>
              <a:rPr lang="en-US" altLang="en-US" sz="1400" dirty="0">
                <a:solidFill>
                  <a:srgbClr val="1C1C1C"/>
                </a:solidFill>
                <a:latin typeface="Georgia" panose="02040502050405020303" pitchFamily="18" charset="0"/>
              </a:rPr>
              <a:t>#primary article .content</a:t>
            </a:r>
            <a:r>
              <a:rPr lang="en-US" altLang="en-US" sz="1400" dirty="0">
                <a:latin typeface="Georgia" panose="02040502050405020303" pitchFamily="18" charset="0"/>
              </a:rPr>
              <a:t> {</a:t>
            </a:r>
          </a:p>
          <a:p>
            <a:pPr lvl="1">
              <a:lnSpc>
                <a:spcPct val="80000"/>
              </a:lnSpc>
              <a:buFontTx/>
              <a:buNone/>
            </a:pPr>
            <a:r>
              <a:rPr lang="en-US" altLang="en-US" sz="1400" dirty="0">
                <a:solidFill>
                  <a:srgbClr val="0066CC"/>
                </a:solidFill>
                <a:latin typeface="Georgia" panose="02040502050405020303" pitchFamily="18" charset="0"/>
              </a:rPr>
              <a:t>-</a:t>
            </a:r>
            <a:r>
              <a:rPr lang="en-US" altLang="en-US" sz="1400" dirty="0" err="1">
                <a:solidFill>
                  <a:srgbClr val="0066CC"/>
                </a:solidFill>
                <a:latin typeface="Georgia" panose="02040502050405020303" pitchFamily="18" charset="0"/>
              </a:rPr>
              <a:t>webkit</a:t>
            </a:r>
            <a:r>
              <a:rPr lang="en-US" altLang="en-US" sz="1400" dirty="0">
                <a:solidFill>
                  <a:srgbClr val="0066CC"/>
                </a:solidFill>
                <a:latin typeface="Georgia" panose="02040502050405020303" pitchFamily="18" charset="0"/>
              </a:rPr>
              <a:t>-column-width</a:t>
            </a:r>
            <a:r>
              <a:rPr lang="en-US" altLang="en-US" sz="1400" dirty="0">
                <a:latin typeface="Georgia" panose="02040502050405020303" pitchFamily="18" charset="0"/>
              </a:rPr>
              <a:t>: 150px;</a:t>
            </a:r>
          </a:p>
          <a:p>
            <a:pPr lvl="1">
              <a:lnSpc>
                <a:spcPct val="80000"/>
              </a:lnSpc>
              <a:buFontTx/>
              <a:buNone/>
            </a:pPr>
            <a:r>
              <a:rPr lang="en-US" altLang="en-US" sz="1400" dirty="0">
                <a:latin typeface="Georgia" panose="02040502050405020303" pitchFamily="18" charset="0"/>
              </a:rPr>
              <a:t>-</a:t>
            </a:r>
            <a:r>
              <a:rPr lang="en-US" altLang="en-US" sz="1400" dirty="0" err="1">
                <a:solidFill>
                  <a:srgbClr val="0066CC"/>
                </a:solidFill>
                <a:latin typeface="Georgia" panose="02040502050405020303" pitchFamily="18" charset="0"/>
              </a:rPr>
              <a:t>moz</a:t>
            </a:r>
            <a:r>
              <a:rPr lang="en-US" altLang="en-US" sz="1400" dirty="0">
                <a:solidFill>
                  <a:srgbClr val="0066CC"/>
                </a:solidFill>
                <a:latin typeface="Georgia" panose="02040502050405020303" pitchFamily="18" charset="0"/>
              </a:rPr>
              <a:t>-column-width</a:t>
            </a:r>
            <a:r>
              <a:rPr lang="en-US" altLang="en-US" sz="1400" dirty="0">
                <a:latin typeface="Georgia" panose="02040502050405020303" pitchFamily="18" charset="0"/>
              </a:rPr>
              <a:t>: 150px;</a:t>
            </a:r>
          </a:p>
          <a:p>
            <a:pPr lvl="1">
              <a:lnSpc>
                <a:spcPct val="80000"/>
              </a:lnSpc>
              <a:buFontTx/>
              <a:buNone/>
            </a:pPr>
            <a:r>
              <a:rPr lang="en-US" altLang="en-US" sz="1400" dirty="0">
                <a:solidFill>
                  <a:srgbClr val="0066CC"/>
                </a:solidFill>
                <a:latin typeface="Georgia" panose="02040502050405020303" pitchFamily="18" charset="0"/>
              </a:rPr>
              <a:t>column-width:</a:t>
            </a:r>
            <a:r>
              <a:rPr lang="en-US" altLang="en-US" sz="1400" dirty="0">
                <a:latin typeface="Georgia" panose="02040502050405020303" pitchFamily="18" charset="0"/>
              </a:rPr>
              <a:t> 150px;</a:t>
            </a:r>
          </a:p>
          <a:p>
            <a:pPr>
              <a:lnSpc>
                <a:spcPct val="80000"/>
              </a:lnSpc>
              <a:buFontTx/>
              <a:buNone/>
            </a:pPr>
            <a:r>
              <a:rPr lang="en-US" altLang="en-US" sz="1400" dirty="0">
                <a:latin typeface="Georgia" panose="02040502050405020303" pitchFamily="18" charset="0"/>
              </a:rPr>
              <a:t>       }</a:t>
            </a:r>
          </a:p>
          <a:p>
            <a:pPr>
              <a:lnSpc>
                <a:spcPct val="80000"/>
              </a:lnSpc>
              <a:buFontTx/>
              <a:buNone/>
            </a:pPr>
            <a:endParaRPr lang="en-US" altLang="en-US" sz="1400" dirty="0">
              <a:latin typeface="Georgia" panose="02040502050405020303"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2">
            <a:extLst>
              <a:ext uri="{FF2B5EF4-FFF2-40B4-BE49-F238E27FC236}">
                <a16:creationId xmlns:a16="http://schemas.microsoft.com/office/drawing/2014/main" id="{B81E0EEF-BC4A-43C1-8E61-504335860309}"/>
              </a:ext>
            </a:extLst>
          </p:cNvPr>
          <p:cNvSpPr>
            <a:spLocks noGrp="1" noChangeArrowheads="1"/>
          </p:cNvSpPr>
          <p:nvPr>
            <p:ph type="title" idx="4294967295"/>
          </p:nvPr>
        </p:nvSpPr>
        <p:spPr>
          <a:xfrm>
            <a:off x="0" y="0"/>
            <a:ext cx="8229600" cy="1143000"/>
          </a:xfrm>
        </p:spPr>
        <p:txBody>
          <a:bodyPr/>
          <a:lstStyle/>
          <a:p>
            <a:pPr algn="l" eaLnBrk="1" hangingPunct="1"/>
            <a:r>
              <a:rPr lang="en-US" altLang="en-US" sz="3200">
                <a:solidFill>
                  <a:srgbClr val="FF3300"/>
                </a:solidFill>
                <a:latin typeface="Georgia" panose="02040502050405020303" pitchFamily="18" charset="0"/>
              </a:rPr>
              <a:t>6. CSS3 multiple columns</a:t>
            </a:r>
            <a:endParaRPr lang="en-GB" altLang="en-US" sz="3200">
              <a:solidFill>
                <a:srgbClr val="FF3300"/>
              </a:solidFill>
              <a:latin typeface="Georgia" panose="02040502050405020303" pitchFamily="18" charset="0"/>
            </a:endParaRPr>
          </a:p>
        </p:txBody>
      </p:sp>
      <p:sp>
        <p:nvSpPr>
          <p:cNvPr id="167938" name="Rectangle 3">
            <a:extLst>
              <a:ext uri="{FF2B5EF4-FFF2-40B4-BE49-F238E27FC236}">
                <a16:creationId xmlns:a16="http://schemas.microsoft.com/office/drawing/2014/main" id="{B06F0400-DB67-4149-8DDF-FECA37CAB105}"/>
              </a:ext>
            </a:extLst>
          </p:cNvPr>
          <p:cNvSpPr>
            <a:spLocks noGrp="1" noChangeArrowheads="1"/>
          </p:cNvSpPr>
          <p:nvPr>
            <p:ph type="body" idx="4294967295"/>
          </p:nvPr>
        </p:nvSpPr>
        <p:spPr>
          <a:xfrm>
            <a:off x="3810000" y="1143000"/>
            <a:ext cx="8382000" cy="5562600"/>
          </a:xfrm>
        </p:spPr>
        <p:txBody>
          <a:bodyPr/>
          <a:lstStyle/>
          <a:p>
            <a:pPr>
              <a:lnSpc>
                <a:spcPct val="80000"/>
              </a:lnSpc>
              <a:buFontTx/>
              <a:buNone/>
            </a:pPr>
            <a:endParaRPr lang="en-GB" altLang="en-US" sz="1400">
              <a:latin typeface="Georgia" panose="02040502050405020303" pitchFamily="18" charset="0"/>
            </a:endParaRPr>
          </a:p>
          <a:p>
            <a:pPr>
              <a:lnSpc>
                <a:spcPct val="80000"/>
              </a:lnSpc>
              <a:buFontTx/>
              <a:buNone/>
            </a:pPr>
            <a:r>
              <a:rPr lang="en-US" altLang="en-US" sz="1400">
                <a:solidFill>
                  <a:srgbClr val="0066CC"/>
                </a:solidFill>
                <a:latin typeface="Georgia" panose="02040502050405020303" pitchFamily="18" charset="0"/>
              </a:rPr>
              <a:t>The column-rule-property</a:t>
            </a:r>
          </a:p>
          <a:p>
            <a:pPr>
              <a:lnSpc>
                <a:spcPct val="80000"/>
              </a:lnSpc>
              <a:buFontTx/>
              <a:buNone/>
            </a:pPr>
            <a:r>
              <a:rPr lang="en-US" altLang="en-US" sz="1400">
                <a:latin typeface="Georgia" panose="02040502050405020303" pitchFamily="18" charset="0"/>
              </a:rPr>
              <a:t>Column </a:t>
            </a:r>
            <a:r>
              <a:rPr lang="en-US" altLang="en-US" sz="1400" b="1">
                <a:latin typeface="Georgia" panose="02040502050405020303" pitchFamily="18" charset="0"/>
              </a:rPr>
              <a:t>rules </a:t>
            </a:r>
            <a:r>
              <a:rPr lang="en-US" altLang="en-US" sz="1400">
                <a:latin typeface="Georgia" panose="02040502050405020303" pitchFamily="18" charset="0"/>
              </a:rPr>
              <a:t>are essentially borders between each column. The column-rule property specifies the</a:t>
            </a:r>
          </a:p>
          <a:p>
            <a:pPr>
              <a:lnSpc>
                <a:spcPct val="80000"/>
              </a:lnSpc>
              <a:buFontTx/>
              <a:buNone/>
            </a:pPr>
            <a:r>
              <a:rPr lang="en-US" altLang="en-US" sz="1400">
                <a:latin typeface="Georgia" panose="02040502050405020303" pitchFamily="18" charset="0"/>
              </a:rPr>
              <a:t>color, style, and width of the column rules. The rule will appear in the middle of the column gap</a:t>
            </a:r>
            <a:br>
              <a:rPr lang="en-US" altLang="en-US" sz="1400">
                <a:latin typeface="Georgia" panose="02040502050405020303" pitchFamily="18" charset="0"/>
              </a:rPr>
            </a:br>
            <a:br>
              <a:rPr lang="en-US" altLang="en-US" sz="1400">
                <a:latin typeface="Georgia" panose="02040502050405020303" pitchFamily="18" charset="0"/>
              </a:rPr>
            </a:br>
            <a:r>
              <a:rPr lang="en-US" altLang="en-US" sz="1400">
                <a:latin typeface="Georgia" panose="02040502050405020303" pitchFamily="18" charset="0"/>
              </a:rPr>
              <a:t>Ex: </a:t>
            </a:r>
            <a:r>
              <a:rPr lang="en-US" altLang="en-US" sz="1400">
                <a:solidFill>
                  <a:srgbClr val="1C1C1C"/>
                </a:solidFill>
                <a:latin typeface="Georgia" panose="02040502050405020303" pitchFamily="18" charset="0"/>
              </a:rPr>
              <a:t>#primary article .content</a:t>
            </a:r>
            <a:r>
              <a:rPr lang="en-US" altLang="en-US" sz="1400">
                <a:latin typeface="Georgia" panose="02040502050405020303" pitchFamily="18" charset="0"/>
              </a:rPr>
              <a:t> {</a:t>
            </a:r>
          </a:p>
          <a:p>
            <a:pPr lvl="1">
              <a:lnSpc>
                <a:spcPct val="80000"/>
              </a:lnSpc>
              <a:buFontTx/>
              <a:buNone/>
            </a:pPr>
            <a:r>
              <a:rPr lang="en-US" altLang="en-US" sz="1400">
                <a:solidFill>
                  <a:srgbClr val="0066CC"/>
                </a:solidFill>
                <a:latin typeface="Georgia" panose="02040502050405020303" pitchFamily="18" charset="0"/>
              </a:rPr>
              <a:t>-webkit-column-rule</a:t>
            </a:r>
            <a:r>
              <a:rPr lang="en-US" altLang="en-US" sz="1400">
                <a:latin typeface="Georgia" panose="02040502050405020303" pitchFamily="18" charset="0"/>
              </a:rPr>
              <a:t>: 1px solid #ccc;</a:t>
            </a:r>
          </a:p>
          <a:p>
            <a:pPr lvl="1">
              <a:lnSpc>
                <a:spcPct val="80000"/>
              </a:lnSpc>
              <a:buFontTx/>
              <a:buNone/>
            </a:pPr>
            <a:r>
              <a:rPr lang="en-US" altLang="en-US" sz="1400">
                <a:latin typeface="Georgia" panose="02040502050405020303" pitchFamily="18" charset="0"/>
              </a:rPr>
              <a:t>-</a:t>
            </a:r>
            <a:r>
              <a:rPr lang="en-US" altLang="en-US" sz="1400">
                <a:solidFill>
                  <a:srgbClr val="0066CC"/>
                </a:solidFill>
                <a:latin typeface="Georgia" panose="02040502050405020303" pitchFamily="18" charset="0"/>
              </a:rPr>
              <a:t>moz-column-rule</a:t>
            </a:r>
            <a:r>
              <a:rPr lang="en-US" altLang="en-US" sz="1400">
                <a:latin typeface="Georgia" panose="02040502050405020303" pitchFamily="18" charset="0"/>
              </a:rPr>
              <a:t>: 1px solid #ccc;</a:t>
            </a:r>
          </a:p>
          <a:p>
            <a:pPr lvl="1">
              <a:lnSpc>
                <a:spcPct val="80000"/>
              </a:lnSpc>
              <a:buFontTx/>
              <a:buNone/>
            </a:pPr>
            <a:r>
              <a:rPr lang="en-US" altLang="en-US" sz="1400">
                <a:solidFill>
                  <a:srgbClr val="0066CC"/>
                </a:solidFill>
                <a:latin typeface="Georgia" panose="02040502050405020303" pitchFamily="18" charset="0"/>
              </a:rPr>
              <a:t>column-gap:</a:t>
            </a:r>
            <a:r>
              <a:rPr lang="en-US" altLang="en-US" sz="1400">
                <a:latin typeface="Georgia" panose="02040502050405020303" pitchFamily="18" charset="0"/>
              </a:rPr>
              <a:t> 1px solid #ccc;</a:t>
            </a:r>
          </a:p>
          <a:p>
            <a:pPr>
              <a:lnSpc>
                <a:spcPct val="80000"/>
              </a:lnSpc>
              <a:buFontTx/>
              <a:buNone/>
            </a:pPr>
            <a:r>
              <a:rPr lang="en-US" altLang="en-US" sz="1400">
                <a:latin typeface="Georgia" panose="02040502050405020303" pitchFamily="18" charset="0"/>
              </a:rPr>
              <a:t>       }</a:t>
            </a:r>
          </a:p>
          <a:p>
            <a:pPr>
              <a:lnSpc>
                <a:spcPct val="80000"/>
              </a:lnSpc>
              <a:buFontTx/>
              <a:buNone/>
            </a:pPr>
            <a:endParaRPr lang="en-US" altLang="en-US" sz="1400">
              <a:latin typeface="Georgia" panose="02040502050405020303" pitchFamily="18" charset="0"/>
            </a:endParaRPr>
          </a:p>
          <a:p>
            <a:pPr>
              <a:lnSpc>
                <a:spcPct val="80000"/>
              </a:lnSpc>
              <a:buFontTx/>
              <a:buNone/>
            </a:pPr>
            <a:endParaRPr lang="en-US" altLang="en-US" sz="1400">
              <a:latin typeface="Georgia" panose="02040502050405020303"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Rectangle 2">
            <a:extLst>
              <a:ext uri="{FF2B5EF4-FFF2-40B4-BE49-F238E27FC236}">
                <a16:creationId xmlns:a16="http://schemas.microsoft.com/office/drawing/2014/main" id="{16FDDC4A-DF53-4F67-ADD8-12918AFF709D}"/>
              </a:ext>
            </a:extLst>
          </p:cNvPr>
          <p:cNvSpPr>
            <a:spLocks noGrp="1" noChangeArrowheads="1"/>
          </p:cNvSpPr>
          <p:nvPr>
            <p:ph type="title" idx="4294967295"/>
          </p:nvPr>
        </p:nvSpPr>
        <p:spPr>
          <a:xfrm>
            <a:off x="0" y="0"/>
            <a:ext cx="8229600" cy="1143000"/>
          </a:xfrm>
        </p:spPr>
        <p:txBody>
          <a:bodyPr/>
          <a:lstStyle/>
          <a:p>
            <a:pPr algn="l" eaLnBrk="1" hangingPunct="1"/>
            <a:r>
              <a:rPr lang="en-US" altLang="en-US" sz="3200">
                <a:solidFill>
                  <a:srgbClr val="FF3300"/>
                </a:solidFill>
                <a:latin typeface="Georgia" panose="02040502050405020303" pitchFamily="18" charset="0"/>
              </a:rPr>
              <a:t>6. CSS3 selectors</a:t>
            </a:r>
            <a:endParaRPr lang="en-GB" altLang="en-US" sz="3200">
              <a:solidFill>
                <a:srgbClr val="FF3300"/>
              </a:solidFill>
              <a:latin typeface="Georgia" panose="02040502050405020303" pitchFamily="18" charset="0"/>
            </a:endParaRPr>
          </a:p>
        </p:txBody>
      </p:sp>
      <p:sp>
        <p:nvSpPr>
          <p:cNvPr id="169986" name="Rectangle 3">
            <a:extLst>
              <a:ext uri="{FF2B5EF4-FFF2-40B4-BE49-F238E27FC236}">
                <a16:creationId xmlns:a16="http://schemas.microsoft.com/office/drawing/2014/main" id="{436D5B04-50AE-4C3D-80D0-64F60B6DFB82}"/>
              </a:ext>
            </a:extLst>
          </p:cNvPr>
          <p:cNvSpPr>
            <a:spLocks noGrp="1" noChangeArrowheads="1"/>
          </p:cNvSpPr>
          <p:nvPr>
            <p:ph type="body" idx="4294967295"/>
          </p:nvPr>
        </p:nvSpPr>
        <p:spPr>
          <a:xfrm>
            <a:off x="2819486" y="914466"/>
            <a:ext cx="8382000" cy="5562600"/>
          </a:xfrm>
        </p:spPr>
        <p:txBody>
          <a:bodyPr>
            <a:normAutofit fontScale="77500" lnSpcReduction="20000"/>
          </a:bodyPr>
          <a:lstStyle/>
          <a:p>
            <a:pPr>
              <a:lnSpc>
                <a:spcPct val="80000"/>
              </a:lnSpc>
              <a:buFontTx/>
              <a:buNone/>
            </a:pPr>
            <a:endParaRPr lang="en-GB" altLang="en-US" sz="1400" dirty="0">
              <a:latin typeface="Georgia" panose="02040502050405020303" pitchFamily="18" charset="0"/>
            </a:endParaRPr>
          </a:p>
          <a:p>
            <a:pPr>
              <a:lnSpc>
                <a:spcPct val="80000"/>
              </a:lnSpc>
              <a:buFontTx/>
              <a:buNone/>
            </a:pPr>
            <a:r>
              <a:rPr lang="en-US" altLang="en-US" sz="1400" dirty="0">
                <a:latin typeface="Georgia" panose="02040502050405020303" pitchFamily="18" charset="0"/>
              </a:rPr>
              <a:t>Selectors are at the heart of CSS. Without selectors to target elements on the page,</a:t>
            </a:r>
          </a:p>
          <a:p>
            <a:pPr>
              <a:lnSpc>
                <a:spcPct val="80000"/>
              </a:lnSpc>
              <a:buFontTx/>
              <a:buNone/>
            </a:pPr>
            <a:r>
              <a:rPr lang="en-US" altLang="en-US" sz="1400" dirty="0">
                <a:latin typeface="Georgia" panose="02040502050405020303" pitchFamily="18" charset="0"/>
              </a:rPr>
              <a:t>the only way to modify the CSS properties of an element would be to use the element’s</a:t>
            </a:r>
          </a:p>
          <a:p>
            <a:pPr>
              <a:lnSpc>
                <a:spcPct val="80000"/>
              </a:lnSpc>
              <a:buFontTx/>
              <a:buNone/>
            </a:pPr>
            <a:r>
              <a:rPr lang="en-US" altLang="en-US" sz="1400" dirty="0">
                <a:latin typeface="Georgia" panose="02040502050405020303" pitchFamily="18" charset="0"/>
              </a:rPr>
              <a:t>style attribute and declare the styles inline. This, of course, is ugly, awkward,</a:t>
            </a:r>
          </a:p>
          <a:p>
            <a:pPr>
              <a:lnSpc>
                <a:spcPct val="80000"/>
              </a:lnSpc>
              <a:buFontTx/>
              <a:buNone/>
            </a:pPr>
            <a:r>
              <a:rPr lang="en-US" altLang="en-US" sz="1400" dirty="0">
                <a:latin typeface="Georgia" panose="02040502050405020303" pitchFamily="18" charset="0"/>
              </a:rPr>
              <a:t>and unmaintainable. So we use selectors.</a:t>
            </a:r>
          </a:p>
          <a:p>
            <a:pPr>
              <a:lnSpc>
                <a:spcPct val="80000"/>
              </a:lnSpc>
              <a:buFontTx/>
              <a:buNone/>
            </a:pPr>
            <a:endParaRPr lang="en-US" altLang="en-US" sz="1400" dirty="0">
              <a:latin typeface="Georgia" panose="02040502050405020303" pitchFamily="18" charset="0"/>
            </a:endParaRPr>
          </a:p>
          <a:p>
            <a:pPr>
              <a:lnSpc>
                <a:spcPct val="80000"/>
              </a:lnSpc>
              <a:buFontTx/>
              <a:buNone/>
            </a:pPr>
            <a:r>
              <a:rPr lang="en-US" altLang="en-US" sz="1600" dirty="0">
                <a:solidFill>
                  <a:srgbClr val="0066CC"/>
                </a:solidFill>
                <a:latin typeface="Georgia" panose="02040502050405020303" pitchFamily="18" charset="0"/>
              </a:rPr>
              <a:t>Relational selectors</a:t>
            </a:r>
          </a:p>
          <a:p>
            <a:pPr>
              <a:lnSpc>
                <a:spcPct val="80000"/>
              </a:lnSpc>
              <a:buFontTx/>
              <a:buNone/>
            </a:pPr>
            <a:endParaRPr lang="en-US" altLang="en-US" sz="1600" dirty="0">
              <a:solidFill>
                <a:srgbClr val="0066CC"/>
              </a:solidFill>
              <a:latin typeface="Georgia" panose="02040502050405020303" pitchFamily="18" charset="0"/>
            </a:endParaRPr>
          </a:p>
          <a:p>
            <a:pPr>
              <a:lnSpc>
                <a:spcPct val="80000"/>
              </a:lnSpc>
              <a:buFontTx/>
              <a:buNone/>
            </a:pPr>
            <a:r>
              <a:rPr lang="en-US" altLang="en-US" sz="1400" dirty="0">
                <a:solidFill>
                  <a:srgbClr val="0066CC"/>
                </a:solidFill>
                <a:latin typeface="Georgia" panose="02040502050405020303" pitchFamily="18" charset="0"/>
              </a:rPr>
              <a:t>Descendant (E F)</a:t>
            </a:r>
          </a:p>
          <a:p>
            <a:pPr>
              <a:lnSpc>
                <a:spcPct val="80000"/>
              </a:lnSpc>
              <a:buFontTx/>
              <a:buNone/>
            </a:pPr>
            <a:r>
              <a:rPr lang="en-US" altLang="en-US" sz="1400" dirty="0">
                <a:latin typeface="Georgia" panose="02040502050405020303" pitchFamily="18" charset="0"/>
              </a:rPr>
              <a:t>You should definitely be familiar with this one. The descendant selector targets any element F that is a</a:t>
            </a:r>
          </a:p>
          <a:p>
            <a:pPr>
              <a:lnSpc>
                <a:spcPct val="80000"/>
              </a:lnSpc>
              <a:buFontTx/>
              <a:buNone/>
            </a:pPr>
            <a:r>
              <a:rPr lang="en-US" altLang="en-US" sz="1400" dirty="0">
                <a:latin typeface="Georgia" panose="02040502050405020303" pitchFamily="18" charset="0"/>
              </a:rPr>
              <a:t>descendant (child, grandchild, great grandchild, and so on) of an element E. </a:t>
            </a:r>
          </a:p>
          <a:p>
            <a:pPr>
              <a:lnSpc>
                <a:spcPct val="80000"/>
              </a:lnSpc>
              <a:buFontTx/>
              <a:buNone/>
            </a:pPr>
            <a:endParaRPr lang="en-US" altLang="en-US" sz="1400" dirty="0">
              <a:latin typeface="Georgia" panose="02040502050405020303" pitchFamily="18" charset="0"/>
            </a:endParaRPr>
          </a:p>
          <a:p>
            <a:pPr>
              <a:lnSpc>
                <a:spcPct val="80000"/>
              </a:lnSpc>
              <a:buFontTx/>
              <a:buNone/>
            </a:pPr>
            <a:r>
              <a:rPr lang="en-US" altLang="en-US" sz="1400" dirty="0">
                <a:solidFill>
                  <a:srgbClr val="0066CC"/>
                </a:solidFill>
                <a:latin typeface="Georgia" panose="02040502050405020303" pitchFamily="18" charset="0"/>
              </a:rPr>
              <a:t>Child (E &gt; F)</a:t>
            </a:r>
          </a:p>
          <a:p>
            <a:pPr>
              <a:lnSpc>
                <a:spcPct val="80000"/>
              </a:lnSpc>
              <a:buFontTx/>
              <a:buNone/>
            </a:pPr>
            <a:r>
              <a:rPr lang="en-US" altLang="en-US" sz="1400" dirty="0">
                <a:latin typeface="Georgia" panose="02040502050405020303" pitchFamily="18" charset="0"/>
              </a:rPr>
              <a:t>This selector matches any element F that is a </a:t>
            </a:r>
            <a:r>
              <a:rPr lang="en-US" altLang="en-US" sz="1400" i="1" dirty="0">
                <a:latin typeface="Georgia" panose="02040502050405020303" pitchFamily="18" charset="0"/>
              </a:rPr>
              <a:t>direct child </a:t>
            </a:r>
            <a:r>
              <a:rPr lang="en-US" altLang="en-US" sz="1400" dirty="0">
                <a:latin typeface="Georgia" panose="02040502050405020303" pitchFamily="18" charset="0"/>
              </a:rPr>
              <a:t>of element E—any further nested elements will</a:t>
            </a:r>
          </a:p>
          <a:p>
            <a:pPr>
              <a:lnSpc>
                <a:spcPct val="80000"/>
              </a:lnSpc>
              <a:buFontTx/>
              <a:buNone/>
            </a:pPr>
            <a:r>
              <a:rPr lang="en-US" altLang="en-US" sz="1400" dirty="0">
                <a:latin typeface="Georgia" panose="02040502050405020303" pitchFamily="18" charset="0"/>
              </a:rPr>
              <a:t>be ignored. Continuing the above example, </a:t>
            </a:r>
            <a:r>
              <a:rPr lang="en-US" altLang="en-US" sz="1400" dirty="0" err="1">
                <a:latin typeface="Georgia" panose="02040502050405020303" pitchFamily="18" charset="0"/>
              </a:rPr>
              <a:t>ol</a:t>
            </a:r>
            <a:r>
              <a:rPr lang="en-US" altLang="en-US" sz="1400" dirty="0">
                <a:latin typeface="Georgia" panose="02040502050405020303" pitchFamily="18" charset="0"/>
              </a:rPr>
              <a:t> &gt; li would only target li elements directly inside the </a:t>
            </a:r>
            <a:r>
              <a:rPr lang="en-US" altLang="en-US" sz="1400" dirty="0" err="1">
                <a:latin typeface="Georgia" panose="02040502050405020303" pitchFamily="18" charset="0"/>
              </a:rPr>
              <a:t>ol</a:t>
            </a:r>
            <a:r>
              <a:rPr lang="en-US" altLang="en-US" sz="1400" dirty="0">
                <a:latin typeface="Georgia" panose="02040502050405020303" pitchFamily="18" charset="0"/>
              </a:rPr>
              <a:t>, and</a:t>
            </a:r>
          </a:p>
          <a:p>
            <a:pPr>
              <a:lnSpc>
                <a:spcPct val="80000"/>
              </a:lnSpc>
              <a:buFontTx/>
              <a:buNone/>
            </a:pPr>
            <a:r>
              <a:rPr lang="en-US" altLang="en-US" sz="1400" dirty="0">
                <a:latin typeface="Georgia" panose="02040502050405020303" pitchFamily="18" charset="0"/>
              </a:rPr>
              <a:t>would omit those nested inside a ul.</a:t>
            </a:r>
            <a:br>
              <a:rPr lang="en-US" altLang="en-US" sz="1400" dirty="0">
                <a:latin typeface="Georgia" panose="02040502050405020303" pitchFamily="18" charset="0"/>
              </a:rPr>
            </a:br>
            <a:endParaRPr lang="en-US" altLang="en-US" sz="1400" dirty="0">
              <a:latin typeface="Georgia" panose="02040502050405020303" pitchFamily="18" charset="0"/>
            </a:endParaRPr>
          </a:p>
          <a:p>
            <a:pPr>
              <a:lnSpc>
                <a:spcPct val="80000"/>
              </a:lnSpc>
              <a:buFontTx/>
              <a:buNone/>
            </a:pPr>
            <a:r>
              <a:rPr lang="en-US" altLang="en-US" sz="1400" dirty="0">
                <a:solidFill>
                  <a:srgbClr val="0066CC"/>
                </a:solidFill>
                <a:latin typeface="Georgia" panose="02040502050405020303" pitchFamily="18" charset="0"/>
              </a:rPr>
              <a:t>Adjacent Sibling (E + F)</a:t>
            </a:r>
          </a:p>
          <a:p>
            <a:pPr>
              <a:lnSpc>
                <a:spcPct val="80000"/>
              </a:lnSpc>
              <a:buFontTx/>
              <a:buNone/>
            </a:pPr>
            <a:r>
              <a:rPr lang="en-US" altLang="en-US" sz="1400" dirty="0">
                <a:latin typeface="Georgia" panose="02040502050405020303" pitchFamily="18" charset="0"/>
              </a:rPr>
              <a:t>This will match any element F that shares the same parent as E, and comes </a:t>
            </a:r>
            <a:r>
              <a:rPr lang="en-US" altLang="en-US" sz="1400" i="1" dirty="0">
                <a:latin typeface="Georgia" panose="02040502050405020303" pitchFamily="18" charset="0"/>
              </a:rPr>
              <a:t>directly after </a:t>
            </a:r>
            <a:r>
              <a:rPr lang="en-US" altLang="en-US" sz="1400" dirty="0">
                <a:latin typeface="Georgia" panose="02040502050405020303" pitchFamily="18" charset="0"/>
              </a:rPr>
              <a:t>E in the</a:t>
            </a:r>
          </a:p>
          <a:p>
            <a:pPr>
              <a:lnSpc>
                <a:spcPct val="80000"/>
              </a:lnSpc>
              <a:buFontTx/>
              <a:buNone/>
            </a:pPr>
            <a:r>
              <a:rPr lang="en-US" altLang="en-US" sz="1400" dirty="0">
                <a:latin typeface="Georgia" panose="02040502050405020303" pitchFamily="18" charset="0"/>
              </a:rPr>
              <a:t>markup. For example, li + li will target all li elements except the first li in a given container.</a:t>
            </a:r>
          </a:p>
          <a:p>
            <a:pPr>
              <a:lnSpc>
                <a:spcPct val="80000"/>
              </a:lnSpc>
              <a:buFontTx/>
              <a:buNone/>
            </a:pPr>
            <a:endParaRPr lang="en-US" altLang="en-US" sz="1400" dirty="0">
              <a:latin typeface="Georgia" panose="02040502050405020303" pitchFamily="18" charset="0"/>
            </a:endParaRPr>
          </a:p>
          <a:p>
            <a:pPr>
              <a:lnSpc>
                <a:spcPct val="80000"/>
              </a:lnSpc>
              <a:buFontTx/>
              <a:buNone/>
            </a:pPr>
            <a:r>
              <a:rPr lang="en-US" altLang="en-US" sz="1400" dirty="0">
                <a:solidFill>
                  <a:srgbClr val="0066CC"/>
                </a:solidFill>
                <a:latin typeface="Georgia" panose="02040502050405020303" pitchFamily="18" charset="0"/>
              </a:rPr>
              <a:t>General Sibling (E ~ F)</a:t>
            </a:r>
          </a:p>
          <a:p>
            <a:pPr>
              <a:lnSpc>
                <a:spcPct val="80000"/>
              </a:lnSpc>
              <a:buFontTx/>
              <a:buNone/>
            </a:pPr>
            <a:r>
              <a:rPr lang="en-US" altLang="en-US" sz="1400" dirty="0">
                <a:latin typeface="Georgia" panose="02040502050405020303" pitchFamily="18" charset="0"/>
              </a:rPr>
              <a:t>This one’s a little trickier. It will match any element F that shares the same parent as any E and comes</a:t>
            </a:r>
          </a:p>
          <a:p>
            <a:pPr>
              <a:lnSpc>
                <a:spcPct val="80000"/>
              </a:lnSpc>
              <a:buFontTx/>
              <a:buNone/>
            </a:pPr>
            <a:r>
              <a:rPr lang="en-US" altLang="en-US" sz="1400" dirty="0">
                <a:latin typeface="Georgia" panose="02040502050405020303" pitchFamily="18" charset="0"/>
              </a:rPr>
              <a:t>after it in the markup. So, h1~h2 will match any h2 that follows an h1, as long as they both share the</a:t>
            </a:r>
          </a:p>
          <a:p>
            <a:pPr>
              <a:lnSpc>
                <a:spcPct val="80000"/>
              </a:lnSpc>
              <a:buFontTx/>
              <a:buNone/>
            </a:pPr>
            <a:r>
              <a:rPr lang="en-US" altLang="en-US" sz="1400" dirty="0">
                <a:latin typeface="Georgia" panose="02040502050405020303" pitchFamily="18" charset="0"/>
              </a:rPr>
              <a:t>same direct parent—that is, as long as the h2 is not nested in any other element.</a:t>
            </a:r>
            <a:endParaRPr lang="en-US" altLang="en-US" sz="1400" dirty="0">
              <a:solidFill>
                <a:srgbClr val="0066CC"/>
              </a:solidFill>
              <a:latin typeface="Georgia" panose="02040502050405020303" pitchFamily="18" charset="0"/>
            </a:endParaRPr>
          </a:p>
          <a:p>
            <a:pPr>
              <a:lnSpc>
                <a:spcPct val="80000"/>
              </a:lnSpc>
              <a:buFontTx/>
              <a:buNone/>
            </a:pPr>
            <a:endParaRPr lang="en-US" altLang="en-US" sz="1400" dirty="0">
              <a:latin typeface="Georgia" panose="02040502050405020303"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2">
            <a:extLst>
              <a:ext uri="{FF2B5EF4-FFF2-40B4-BE49-F238E27FC236}">
                <a16:creationId xmlns:a16="http://schemas.microsoft.com/office/drawing/2014/main" id="{147FFE25-C939-47BE-B632-E44E6AFABA6F}"/>
              </a:ext>
            </a:extLst>
          </p:cNvPr>
          <p:cNvSpPr>
            <a:spLocks noGrp="1" noChangeArrowheads="1"/>
          </p:cNvSpPr>
          <p:nvPr>
            <p:ph type="title" idx="4294967295"/>
          </p:nvPr>
        </p:nvSpPr>
        <p:spPr>
          <a:xfrm>
            <a:off x="0" y="0"/>
            <a:ext cx="8229600" cy="1143000"/>
          </a:xfrm>
        </p:spPr>
        <p:txBody>
          <a:bodyPr/>
          <a:lstStyle/>
          <a:p>
            <a:pPr algn="l" eaLnBrk="1" hangingPunct="1"/>
            <a:r>
              <a:rPr lang="en-US" altLang="en-US" sz="3200">
                <a:solidFill>
                  <a:srgbClr val="FF3300"/>
                </a:solidFill>
                <a:latin typeface="Georgia" panose="02040502050405020303" pitchFamily="18" charset="0"/>
              </a:rPr>
              <a:t>6. CSS3 selectors</a:t>
            </a:r>
            <a:endParaRPr lang="en-GB" altLang="en-US" sz="3200">
              <a:solidFill>
                <a:srgbClr val="FF3300"/>
              </a:solidFill>
              <a:latin typeface="Georgia" panose="02040502050405020303" pitchFamily="18" charset="0"/>
            </a:endParaRPr>
          </a:p>
        </p:txBody>
      </p:sp>
      <p:sp>
        <p:nvSpPr>
          <p:cNvPr id="172034" name="Rectangle 3">
            <a:extLst>
              <a:ext uri="{FF2B5EF4-FFF2-40B4-BE49-F238E27FC236}">
                <a16:creationId xmlns:a16="http://schemas.microsoft.com/office/drawing/2014/main" id="{3C3B8353-8E2A-4C8F-99C4-24F9E62DF7B7}"/>
              </a:ext>
            </a:extLst>
          </p:cNvPr>
          <p:cNvSpPr>
            <a:spLocks noGrp="1" noChangeArrowheads="1"/>
          </p:cNvSpPr>
          <p:nvPr>
            <p:ph type="body" idx="4294967295"/>
          </p:nvPr>
        </p:nvSpPr>
        <p:spPr>
          <a:xfrm>
            <a:off x="1676516" y="1066862"/>
            <a:ext cx="8382000" cy="5562600"/>
          </a:xfrm>
        </p:spPr>
        <p:txBody>
          <a:bodyPr/>
          <a:lstStyle/>
          <a:p>
            <a:pPr>
              <a:lnSpc>
                <a:spcPct val="80000"/>
              </a:lnSpc>
              <a:buFontTx/>
              <a:buNone/>
            </a:pPr>
            <a:endParaRPr lang="en-GB" altLang="en-US" sz="1400">
              <a:latin typeface="Georgia" panose="02040502050405020303" pitchFamily="18" charset="0"/>
            </a:endParaRPr>
          </a:p>
          <a:p>
            <a:pPr>
              <a:lnSpc>
                <a:spcPct val="80000"/>
              </a:lnSpc>
              <a:buFontTx/>
              <a:buNone/>
            </a:pPr>
            <a:r>
              <a:rPr lang="en-US" altLang="en-US" sz="1600">
                <a:solidFill>
                  <a:srgbClr val="0066CC"/>
                </a:solidFill>
                <a:latin typeface="Georgia" panose="02040502050405020303" pitchFamily="18" charset="0"/>
              </a:rPr>
              <a:t>Attribute selectors</a:t>
            </a:r>
          </a:p>
          <a:p>
            <a:pPr>
              <a:lnSpc>
                <a:spcPct val="80000"/>
              </a:lnSpc>
              <a:buFontTx/>
              <a:buNone/>
            </a:pPr>
            <a:endParaRPr lang="en-US" altLang="en-US" sz="1600">
              <a:solidFill>
                <a:srgbClr val="0066CC"/>
              </a:solidFill>
              <a:latin typeface="Georgia" panose="02040502050405020303" pitchFamily="18" charset="0"/>
            </a:endParaRPr>
          </a:p>
          <a:p>
            <a:pPr>
              <a:lnSpc>
                <a:spcPct val="80000"/>
              </a:lnSpc>
              <a:buFontTx/>
              <a:buNone/>
            </a:pPr>
            <a:r>
              <a:rPr lang="en-US" altLang="en-US" sz="1400">
                <a:solidFill>
                  <a:srgbClr val="0066CC"/>
                </a:solidFill>
                <a:latin typeface="Georgia" panose="02040502050405020303" pitchFamily="18" charset="0"/>
              </a:rPr>
              <a:t>E[attr$=val]</a:t>
            </a:r>
            <a:r>
              <a:rPr lang="en-US" altLang="en-US" sz="1400">
                <a:latin typeface="Georgia" panose="02040502050405020303" pitchFamily="18" charset="0"/>
              </a:rPr>
              <a:t> (IE8+, WebKit, Opera, Mozilla)</a:t>
            </a:r>
          </a:p>
          <a:p>
            <a:pPr>
              <a:lnSpc>
                <a:spcPct val="80000"/>
              </a:lnSpc>
              <a:buFontTx/>
              <a:buNone/>
            </a:pPr>
            <a:r>
              <a:rPr lang="en-US" altLang="en-US" sz="1400">
                <a:latin typeface="Georgia" panose="02040502050405020303" pitchFamily="18" charset="0"/>
              </a:rPr>
              <a:t>Matches any element E whose attribute attr ends in val. In other words, the val matches the end of the</a:t>
            </a:r>
          </a:p>
          <a:p>
            <a:pPr>
              <a:lnSpc>
                <a:spcPct val="80000"/>
              </a:lnSpc>
              <a:buFontTx/>
              <a:buNone/>
            </a:pPr>
            <a:r>
              <a:rPr lang="en-US" altLang="en-US" sz="1400">
                <a:latin typeface="Georgia" panose="02040502050405020303" pitchFamily="18" charset="0"/>
              </a:rPr>
              <a:t>attribute value.</a:t>
            </a:r>
            <a:br>
              <a:rPr lang="en-US" altLang="en-US" sz="1400">
                <a:latin typeface="Georgia" panose="02040502050405020303" pitchFamily="18" charset="0"/>
              </a:rPr>
            </a:br>
            <a:endParaRPr lang="en-US" altLang="en-US" sz="1400">
              <a:latin typeface="Georgia" panose="02040502050405020303" pitchFamily="18" charset="0"/>
            </a:endParaRPr>
          </a:p>
          <a:p>
            <a:pPr>
              <a:lnSpc>
                <a:spcPct val="80000"/>
              </a:lnSpc>
              <a:buFontTx/>
              <a:buNone/>
            </a:pPr>
            <a:r>
              <a:rPr lang="en-US" altLang="en-US" sz="1400">
                <a:solidFill>
                  <a:srgbClr val="0066CC"/>
                </a:solidFill>
                <a:latin typeface="Georgia" panose="02040502050405020303" pitchFamily="18" charset="0"/>
              </a:rPr>
              <a:t>E[attr*=val]</a:t>
            </a:r>
            <a:r>
              <a:rPr lang="en-US" altLang="en-US" sz="1400">
                <a:latin typeface="Georgia" panose="02040502050405020303" pitchFamily="18" charset="0"/>
              </a:rPr>
              <a:t> (IE8+, WebKit, Opera, Mozilla)</a:t>
            </a:r>
          </a:p>
          <a:p>
            <a:pPr>
              <a:lnSpc>
                <a:spcPct val="80000"/>
              </a:lnSpc>
              <a:buFontTx/>
              <a:buNone/>
            </a:pPr>
            <a:r>
              <a:rPr lang="en-US" altLang="en-US" sz="1400">
                <a:latin typeface="Georgia" panose="02040502050405020303" pitchFamily="18" charset="0"/>
              </a:rPr>
              <a:t>Matches any element E whose attribute attr matches val anywhere within the attribute. In other words,</a:t>
            </a:r>
          </a:p>
          <a:p>
            <a:pPr>
              <a:lnSpc>
                <a:spcPct val="80000"/>
              </a:lnSpc>
              <a:buFontTx/>
              <a:buNone/>
            </a:pPr>
            <a:r>
              <a:rPr lang="en-US" altLang="en-US" sz="1400">
                <a:latin typeface="Georgia" panose="02040502050405020303" pitchFamily="18" charset="0"/>
              </a:rPr>
              <a:t>the string val is matched anywhere in the attribute value. It is similar to E[attr~=val] above, except the</a:t>
            </a:r>
          </a:p>
          <a:p>
            <a:pPr>
              <a:lnSpc>
                <a:spcPct val="80000"/>
              </a:lnSpc>
              <a:buFontTx/>
              <a:buNone/>
            </a:pPr>
            <a:r>
              <a:rPr lang="en-US" altLang="en-US" sz="1400">
                <a:latin typeface="Georgia" panose="02040502050405020303" pitchFamily="18" charset="0"/>
              </a:rPr>
              <a:t>val can be part of a word. </a:t>
            </a:r>
            <a:br>
              <a:rPr lang="en-US" altLang="en-US" sz="1400">
                <a:latin typeface="Georgia" panose="02040502050405020303" pitchFamily="18" charset="0"/>
              </a:rPr>
            </a:br>
            <a:endParaRPr lang="en-US" altLang="en-US" sz="1400">
              <a:latin typeface="Georgia" panose="02040502050405020303" pitchFamily="18" charset="0"/>
            </a:endParaRPr>
          </a:p>
          <a:p>
            <a:pPr>
              <a:lnSpc>
                <a:spcPct val="80000"/>
              </a:lnSpc>
              <a:buFontTx/>
              <a:buNone/>
            </a:pPr>
            <a:r>
              <a:rPr lang="en-US" altLang="en-US" sz="1400">
                <a:latin typeface="Georgia" panose="02040502050405020303" pitchFamily="18" charset="0"/>
              </a:rPr>
              <a:t>Using the same example as above, .fakelink[title~=info] {} would match any element with the class</a:t>
            </a:r>
          </a:p>
          <a:p>
            <a:pPr>
              <a:lnSpc>
                <a:spcPct val="80000"/>
              </a:lnSpc>
              <a:buFontTx/>
              <a:buNone/>
            </a:pPr>
            <a:r>
              <a:rPr lang="en-US" altLang="en-US" sz="1400">
                <a:latin typeface="Georgia" panose="02040502050405020303" pitchFamily="18" charset="0"/>
              </a:rPr>
              <a:t>fakelink that has a title attribute containing the string info, such as "Click here for more information."</a:t>
            </a:r>
          </a:p>
          <a:p>
            <a:pPr>
              <a:lnSpc>
                <a:spcPct val="80000"/>
              </a:lnSpc>
              <a:buFontTx/>
              <a:buNone/>
            </a:pPr>
            <a:endParaRPr lang="en-US" altLang="en-US" sz="1400">
              <a:latin typeface="Georgia" panose="02040502050405020303" pitchFamily="18" charset="0"/>
            </a:endParaRPr>
          </a:p>
          <a:p>
            <a:pPr>
              <a:lnSpc>
                <a:spcPct val="80000"/>
              </a:lnSpc>
              <a:buFontTx/>
              <a:buNone/>
            </a:pPr>
            <a:endParaRPr lang="en-US" altLang="en-US" sz="1400">
              <a:latin typeface="Georgia" panose="02040502050405020303" pitchFamily="18" charset="0"/>
            </a:endParaRPr>
          </a:p>
          <a:p>
            <a:pPr>
              <a:lnSpc>
                <a:spcPct val="80000"/>
              </a:lnSpc>
              <a:buFontTx/>
              <a:buNone/>
            </a:pPr>
            <a:br>
              <a:rPr lang="en-US" altLang="en-US" sz="1400">
                <a:latin typeface="Georgia" panose="02040502050405020303" pitchFamily="18" charset="0"/>
              </a:rPr>
            </a:br>
            <a:endParaRPr lang="en-US" altLang="en-US" sz="1400">
              <a:latin typeface="Georgia" panose="02040502050405020303"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2">
            <a:extLst>
              <a:ext uri="{FF2B5EF4-FFF2-40B4-BE49-F238E27FC236}">
                <a16:creationId xmlns:a16="http://schemas.microsoft.com/office/drawing/2014/main" id="{2D450701-6DEF-45E4-A65A-11D7F9043646}"/>
              </a:ext>
            </a:extLst>
          </p:cNvPr>
          <p:cNvSpPr>
            <a:spLocks noGrp="1" noChangeArrowheads="1"/>
          </p:cNvSpPr>
          <p:nvPr>
            <p:ph type="title" idx="4294967295"/>
          </p:nvPr>
        </p:nvSpPr>
        <p:spPr>
          <a:xfrm>
            <a:off x="0" y="0"/>
            <a:ext cx="8229600" cy="1143000"/>
          </a:xfrm>
        </p:spPr>
        <p:txBody>
          <a:bodyPr/>
          <a:lstStyle/>
          <a:p>
            <a:pPr algn="l" eaLnBrk="1" hangingPunct="1"/>
            <a:r>
              <a:rPr lang="en-US" altLang="en-US" sz="3200">
                <a:solidFill>
                  <a:srgbClr val="FF3300"/>
                </a:solidFill>
                <a:latin typeface="Georgia" panose="02040502050405020303" pitchFamily="18" charset="0"/>
              </a:rPr>
              <a:t>6. CSS3 selectors</a:t>
            </a:r>
            <a:endParaRPr lang="en-GB" altLang="en-US" sz="3200">
              <a:solidFill>
                <a:srgbClr val="FF3300"/>
              </a:solidFill>
              <a:latin typeface="Georgia" panose="02040502050405020303" pitchFamily="18" charset="0"/>
            </a:endParaRPr>
          </a:p>
        </p:txBody>
      </p:sp>
      <p:sp>
        <p:nvSpPr>
          <p:cNvPr id="2" name="Rectangle 1">
            <a:extLst>
              <a:ext uri="{FF2B5EF4-FFF2-40B4-BE49-F238E27FC236}">
                <a16:creationId xmlns:a16="http://schemas.microsoft.com/office/drawing/2014/main" id="{2FA06A84-3E0C-4928-8DBF-FA7768294AE9}"/>
              </a:ext>
            </a:extLst>
          </p:cNvPr>
          <p:cNvSpPr/>
          <p:nvPr/>
        </p:nvSpPr>
        <p:spPr>
          <a:xfrm>
            <a:off x="5562614" y="1176897"/>
            <a:ext cx="6096000" cy="4801314"/>
          </a:xfrm>
          <a:prstGeom prst="rect">
            <a:avLst/>
          </a:prstGeom>
        </p:spPr>
        <p:txBody>
          <a:bodyPr>
            <a:spAutoFit/>
          </a:bodyPr>
          <a:lstStyle/>
          <a:p>
            <a:r>
              <a:rPr lang="en-US" dirty="0"/>
              <a:t>:out-of-range</a:t>
            </a:r>
          </a:p>
          <a:p>
            <a:r>
              <a:rPr lang="en-US" dirty="0"/>
              <a:t>The opposite of :in-range: elements whose value is outside the limitations of their range.</a:t>
            </a:r>
          </a:p>
          <a:p>
            <a:r>
              <a:rPr lang="en-US" dirty="0"/>
              <a:t>:required</a:t>
            </a:r>
          </a:p>
          <a:p>
            <a:r>
              <a:rPr lang="en-US" dirty="0"/>
              <a:t>Applies to form controls that have the required attribute set.</a:t>
            </a:r>
          </a:p>
          <a:p>
            <a:r>
              <a:rPr lang="en-US" dirty="0"/>
              <a:t>:optional</a:t>
            </a:r>
          </a:p>
          <a:p>
            <a:r>
              <a:rPr lang="en-US" dirty="0"/>
              <a:t>Applies to all form controls that do not have the required attribute.</a:t>
            </a:r>
          </a:p>
          <a:p>
            <a:r>
              <a:rPr lang="en-US" dirty="0"/>
              <a:t>:read-only</a:t>
            </a:r>
          </a:p>
          <a:p>
            <a:r>
              <a:rPr lang="en-US" dirty="0"/>
              <a:t>Applies to elements whose contents are unable to be altered by the user. This is usually most elements other than form fields.</a:t>
            </a:r>
          </a:p>
          <a:p>
            <a:r>
              <a:rPr lang="en-US" dirty="0"/>
              <a:t>:read-write</a:t>
            </a:r>
          </a:p>
          <a:p>
            <a:r>
              <a:rPr lang="en-US" dirty="0"/>
              <a:t>Applies to elements whose contents are user-alterable, such as text input fields</a:t>
            </a:r>
          </a:p>
          <a:p>
            <a:endParaRPr lang="en-US" dirty="0"/>
          </a:p>
        </p:txBody>
      </p:sp>
      <p:sp>
        <p:nvSpPr>
          <p:cNvPr id="3" name="Rectangle 2">
            <a:extLst>
              <a:ext uri="{FF2B5EF4-FFF2-40B4-BE49-F238E27FC236}">
                <a16:creationId xmlns:a16="http://schemas.microsoft.com/office/drawing/2014/main" id="{E379F1CD-70BA-4A79-86C3-D635D14F90CE}"/>
              </a:ext>
            </a:extLst>
          </p:cNvPr>
          <p:cNvSpPr/>
          <p:nvPr/>
        </p:nvSpPr>
        <p:spPr>
          <a:xfrm>
            <a:off x="304952" y="1176897"/>
            <a:ext cx="4800474" cy="5318379"/>
          </a:xfrm>
          <a:prstGeom prst="rect">
            <a:avLst/>
          </a:prstGeom>
        </p:spPr>
        <p:txBody>
          <a:bodyPr wrap="square">
            <a:spAutoFit/>
          </a:bodyPr>
          <a:lstStyle/>
          <a:p>
            <a:pPr>
              <a:lnSpc>
                <a:spcPct val="80000"/>
              </a:lnSpc>
              <a:buFontTx/>
              <a:buNone/>
            </a:pPr>
            <a:r>
              <a:rPr lang="en-US" altLang="en-US" sz="2400" dirty="0">
                <a:solidFill>
                  <a:srgbClr val="0066CC"/>
                </a:solidFill>
                <a:latin typeface="Georgia" panose="02040502050405020303" pitchFamily="18" charset="0"/>
              </a:rPr>
              <a:t>Pseudo-classes</a:t>
            </a:r>
          </a:p>
          <a:p>
            <a:pPr>
              <a:lnSpc>
                <a:spcPct val="80000"/>
              </a:lnSpc>
              <a:buFontTx/>
              <a:buNone/>
            </a:pPr>
            <a:endParaRPr lang="en-US" altLang="en-US" sz="1800" b="1" dirty="0">
              <a:latin typeface="Georgia" panose="02040502050405020303" pitchFamily="18" charset="0"/>
            </a:endParaRPr>
          </a:p>
          <a:p>
            <a:pPr>
              <a:lnSpc>
                <a:spcPct val="80000"/>
              </a:lnSpc>
              <a:buFontTx/>
              <a:buNone/>
            </a:pPr>
            <a:r>
              <a:rPr lang="en-US" altLang="en-US" sz="1800" b="1" dirty="0">
                <a:latin typeface="Georgia" panose="02040502050405020303" pitchFamily="18" charset="0"/>
              </a:rPr>
              <a:t>:enabled</a:t>
            </a:r>
          </a:p>
          <a:p>
            <a:pPr>
              <a:lnSpc>
                <a:spcPct val="80000"/>
              </a:lnSpc>
              <a:buFontTx/>
              <a:buNone/>
            </a:pPr>
            <a:r>
              <a:rPr lang="en-US" altLang="en-US" sz="1800" dirty="0">
                <a:latin typeface="Georgia" panose="02040502050405020303" pitchFamily="18" charset="0"/>
              </a:rPr>
              <a:t>A user interface element that’s enabled.</a:t>
            </a:r>
          </a:p>
          <a:p>
            <a:pPr>
              <a:lnSpc>
                <a:spcPct val="80000"/>
              </a:lnSpc>
              <a:buFontTx/>
              <a:buNone/>
            </a:pPr>
            <a:r>
              <a:rPr lang="en-US" altLang="en-US" sz="1800" b="1" dirty="0">
                <a:latin typeface="Georgia" panose="02040502050405020303" pitchFamily="18" charset="0"/>
              </a:rPr>
              <a:t>:disabled</a:t>
            </a:r>
          </a:p>
          <a:p>
            <a:pPr>
              <a:lnSpc>
                <a:spcPct val="80000"/>
              </a:lnSpc>
              <a:buFontTx/>
              <a:buNone/>
            </a:pPr>
            <a:r>
              <a:rPr lang="en-US" altLang="en-US" sz="1800" dirty="0">
                <a:latin typeface="Georgia" panose="02040502050405020303" pitchFamily="18" charset="0"/>
              </a:rPr>
              <a:t>Conversely, a user interface element that’s disabled.</a:t>
            </a:r>
          </a:p>
          <a:p>
            <a:pPr>
              <a:lnSpc>
                <a:spcPct val="80000"/>
              </a:lnSpc>
              <a:buFontTx/>
              <a:buNone/>
            </a:pPr>
            <a:r>
              <a:rPr lang="en-US" altLang="en-US" sz="1800" b="1" dirty="0">
                <a:latin typeface="Georgia" panose="02040502050405020303" pitchFamily="18" charset="0"/>
              </a:rPr>
              <a:t>:checked</a:t>
            </a:r>
          </a:p>
          <a:p>
            <a:pPr>
              <a:lnSpc>
                <a:spcPct val="80000"/>
              </a:lnSpc>
              <a:buFontTx/>
              <a:buNone/>
            </a:pPr>
            <a:r>
              <a:rPr lang="en-US" altLang="en-US" sz="1800" dirty="0">
                <a:latin typeface="Georgia" panose="02040502050405020303" pitchFamily="18" charset="0"/>
              </a:rPr>
              <a:t>Radio buttons or checkboxes that are selected or ticked.</a:t>
            </a:r>
          </a:p>
          <a:p>
            <a:pPr>
              <a:lnSpc>
                <a:spcPct val="80000"/>
              </a:lnSpc>
              <a:buFontTx/>
              <a:buNone/>
            </a:pPr>
            <a:r>
              <a:rPr lang="en-US" altLang="en-US" sz="1800" b="1" dirty="0">
                <a:latin typeface="Georgia" panose="02040502050405020303" pitchFamily="18" charset="0"/>
              </a:rPr>
              <a:t>:valid</a:t>
            </a:r>
          </a:p>
          <a:p>
            <a:pPr>
              <a:lnSpc>
                <a:spcPct val="80000"/>
              </a:lnSpc>
              <a:buFontTx/>
              <a:buNone/>
            </a:pPr>
            <a:r>
              <a:rPr lang="en-US" altLang="en-US" sz="1800" dirty="0">
                <a:latin typeface="Georgia" panose="02040502050405020303" pitchFamily="18" charset="0"/>
              </a:rPr>
              <a:t>Applies to elements that are valid, based on the type or pattern attributes </a:t>
            </a:r>
          </a:p>
          <a:p>
            <a:pPr>
              <a:lnSpc>
                <a:spcPct val="80000"/>
              </a:lnSpc>
              <a:buFontTx/>
              <a:buNone/>
            </a:pPr>
            <a:r>
              <a:rPr lang="en-US" altLang="en-US" sz="1800" b="1" dirty="0">
                <a:latin typeface="Georgia" panose="02040502050405020303" pitchFamily="18" charset="0"/>
              </a:rPr>
              <a:t>:invalid</a:t>
            </a:r>
          </a:p>
          <a:p>
            <a:pPr>
              <a:lnSpc>
                <a:spcPct val="80000"/>
              </a:lnSpc>
              <a:buFontTx/>
              <a:buNone/>
            </a:pPr>
            <a:r>
              <a:rPr lang="en-US" altLang="en-US" sz="1800" dirty="0">
                <a:latin typeface="Georgia" panose="02040502050405020303" pitchFamily="18" charset="0"/>
              </a:rPr>
              <a:t>Applies to empty required elements, and elements failing to match the requirements defined by the type or pattern attributes.</a:t>
            </a:r>
          </a:p>
          <a:p>
            <a:r>
              <a:rPr lang="en-US" dirty="0"/>
              <a:t>:in-range</a:t>
            </a:r>
          </a:p>
          <a:p>
            <a:r>
              <a:rPr lang="en-US" dirty="0"/>
              <a:t>Applies to elements with range limitations, where the value is within those limitations. This applies, for example, to number and range input types with min and max attributes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2">
            <a:extLst>
              <a:ext uri="{FF2B5EF4-FFF2-40B4-BE49-F238E27FC236}">
                <a16:creationId xmlns:a16="http://schemas.microsoft.com/office/drawing/2014/main" id="{C7BBA32D-F476-4464-8DEE-54474A24020F}"/>
              </a:ext>
            </a:extLst>
          </p:cNvPr>
          <p:cNvSpPr>
            <a:spLocks noGrp="1" noChangeArrowheads="1"/>
          </p:cNvSpPr>
          <p:nvPr>
            <p:ph type="title" idx="4294967295"/>
          </p:nvPr>
        </p:nvSpPr>
        <p:spPr>
          <a:xfrm>
            <a:off x="0" y="0"/>
            <a:ext cx="8229600" cy="1143000"/>
          </a:xfrm>
        </p:spPr>
        <p:txBody>
          <a:bodyPr/>
          <a:lstStyle/>
          <a:p>
            <a:pPr algn="l" eaLnBrk="1" hangingPunct="1"/>
            <a:r>
              <a:rPr lang="en-US" altLang="en-US" sz="3200">
                <a:solidFill>
                  <a:srgbClr val="FF3300"/>
                </a:solidFill>
                <a:latin typeface="Georgia" panose="02040502050405020303" pitchFamily="18" charset="0"/>
              </a:rPr>
              <a:t>6. CSS3 selectors</a:t>
            </a:r>
            <a:endParaRPr lang="en-GB" altLang="en-US" sz="3200">
              <a:solidFill>
                <a:srgbClr val="FF3300"/>
              </a:solidFill>
              <a:latin typeface="Georgia" panose="02040502050405020303" pitchFamily="18" charset="0"/>
            </a:endParaRPr>
          </a:p>
        </p:txBody>
      </p:sp>
      <p:sp>
        <p:nvSpPr>
          <p:cNvPr id="176130" name="Rectangle 3">
            <a:extLst>
              <a:ext uri="{FF2B5EF4-FFF2-40B4-BE49-F238E27FC236}">
                <a16:creationId xmlns:a16="http://schemas.microsoft.com/office/drawing/2014/main" id="{69E908F3-D04E-48EB-AF58-E74A9D1610F7}"/>
              </a:ext>
            </a:extLst>
          </p:cNvPr>
          <p:cNvSpPr>
            <a:spLocks noGrp="1" noChangeArrowheads="1"/>
          </p:cNvSpPr>
          <p:nvPr>
            <p:ph type="body" idx="4294967295"/>
          </p:nvPr>
        </p:nvSpPr>
        <p:spPr>
          <a:xfrm>
            <a:off x="533546" y="990664"/>
            <a:ext cx="5791048" cy="5562600"/>
          </a:xfrm>
        </p:spPr>
        <p:txBody>
          <a:bodyPr>
            <a:normAutofit/>
          </a:bodyPr>
          <a:lstStyle/>
          <a:p>
            <a:pPr>
              <a:lnSpc>
                <a:spcPct val="80000"/>
              </a:lnSpc>
              <a:buFontTx/>
              <a:buNone/>
            </a:pPr>
            <a:endParaRPr lang="en-GB" altLang="en-US" sz="1400" dirty="0">
              <a:latin typeface="Georgia" panose="02040502050405020303" pitchFamily="18" charset="0"/>
            </a:endParaRPr>
          </a:p>
          <a:p>
            <a:pPr>
              <a:lnSpc>
                <a:spcPct val="80000"/>
              </a:lnSpc>
              <a:buFontTx/>
              <a:buNone/>
            </a:pPr>
            <a:r>
              <a:rPr lang="en-US" altLang="en-US" sz="1600" dirty="0">
                <a:solidFill>
                  <a:srgbClr val="0066CC"/>
                </a:solidFill>
                <a:latin typeface="Georgia" panose="02040502050405020303" pitchFamily="18" charset="0"/>
              </a:rPr>
              <a:t>Structural Pseudo-classes</a:t>
            </a:r>
            <a:endParaRPr lang="en-US" altLang="en-US" sz="1200" b="1" dirty="0">
              <a:latin typeface="Georgia" panose="02040502050405020303" pitchFamily="18" charset="0"/>
            </a:endParaRPr>
          </a:p>
          <a:p>
            <a:pPr>
              <a:lnSpc>
                <a:spcPct val="80000"/>
              </a:lnSpc>
              <a:buFontTx/>
              <a:buNone/>
            </a:pPr>
            <a:r>
              <a:rPr lang="en-US" altLang="en-US" sz="1200" b="1" dirty="0">
                <a:latin typeface="Georgia" panose="02040502050405020303" pitchFamily="18" charset="0"/>
              </a:rPr>
              <a:t>:root</a:t>
            </a:r>
          </a:p>
          <a:p>
            <a:pPr>
              <a:lnSpc>
                <a:spcPct val="80000"/>
              </a:lnSpc>
              <a:buFontTx/>
              <a:buNone/>
            </a:pPr>
            <a:r>
              <a:rPr lang="en-US" altLang="en-US" sz="1200" dirty="0">
                <a:latin typeface="Georgia" panose="02040502050405020303" pitchFamily="18" charset="0"/>
              </a:rPr>
              <a:t>The root element, which is always the html element.</a:t>
            </a:r>
          </a:p>
          <a:p>
            <a:pPr>
              <a:lnSpc>
                <a:spcPct val="80000"/>
              </a:lnSpc>
              <a:buFontTx/>
              <a:buNone/>
            </a:pPr>
            <a:r>
              <a:rPr lang="en-US" altLang="en-US" sz="1200" b="1" dirty="0">
                <a:latin typeface="Georgia" panose="02040502050405020303" pitchFamily="18" charset="0"/>
              </a:rPr>
              <a:t>E F:nth-child(n)</a:t>
            </a:r>
          </a:p>
          <a:p>
            <a:pPr>
              <a:lnSpc>
                <a:spcPct val="80000"/>
              </a:lnSpc>
              <a:buFontTx/>
              <a:buNone/>
            </a:pPr>
            <a:r>
              <a:rPr lang="en-US" altLang="en-US" sz="1200" dirty="0">
                <a:latin typeface="Georgia" panose="02040502050405020303" pitchFamily="18" charset="0"/>
              </a:rPr>
              <a:t>The element F that is the nth child of its parent E.</a:t>
            </a:r>
          </a:p>
          <a:p>
            <a:pPr>
              <a:lnSpc>
                <a:spcPct val="80000"/>
              </a:lnSpc>
              <a:buFontTx/>
              <a:buNone/>
            </a:pPr>
            <a:r>
              <a:rPr lang="en-US" altLang="en-US" sz="1200" b="1" dirty="0">
                <a:latin typeface="Georgia" panose="02040502050405020303" pitchFamily="18" charset="0"/>
              </a:rPr>
              <a:t>E F:nth-last-child(n)</a:t>
            </a:r>
          </a:p>
          <a:p>
            <a:pPr>
              <a:lnSpc>
                <a:spcPct val="80000"/>
              </a:lnSpc>
              <a:buFontTx/>
              <a:buNone/>
            </a:pPr>
            <a:r>
              <a:rPr lang="en-US" altLang="en-US" sz="1200" dirty="0">
                <a:latin typeface="Georgia" panose="02040502050405020303" pitchFamily="18" charset="0"/>
              </a:rPr>
              <a:t>The element F that is the nth child of its parent E, counting backwards from the last one. </a:t>
            </a:r>
            <a:r>
              <a:rPr lang="en-US" altLang="en-US" sz="1200" dirty="0" err="1">
                <a:latin typeface="Georgia" panose="02040502050405020303" pitchFamily="18" charset="0"/>
              </a:rPr>
              <a:t>li:nth-last-child</a:t>
            </a:r>
            <a:r>
              <a:rPr lang="en-US" altLang="en-US" sz="1200" dirty="0">
                <a:latin typeface="Georgia" panose="02040502050405020303" pitchFamily="18" charset="0"/>
              </a:rPr>
              <a:t>(1) would match the </a:t>
            </a:r>
          </a:p>
          <a:p>
            <a:pPr>
              <a:lnSpc>
                <a:spcPct val="80000"/>
              </a:lnSpc>
              <a:buFontTx/>
              <a:buNone/>
            </a:pPr>
            <a:r>
              <a:rPr lang="en-US" altLang="en-US" sz="1200" dirty="0">
                <a:latin typeface="Georgia" panose="02040502050405020303" pitchFamily="18" charset="0"/>
              </a:rPr>
              <a:t>last item in any list—this is the same as </a:t>
            </a:r>
            <a:r>
              <a:rPr lang="en-US" altLang="en-US" sz="1200" dirty="0" err="1">
                <a:latin typeface="Georgia" panose="02040502050405020303" pitchFamily="18" charset="0"/>
              </a:rPr>
              <a:t>li:last-child</a:t>
            </a:r>
            <a:r>
              <a:rPr lang="en-US" altLang="en-US" sz="1200" dirty="0">
                <a:latin typeface="Georgia" panose="02040502050405020303" pitchFamily="18" charset="0"/>
              </a:rPr>
              <a:t> (see below).</a:t>
            </a:r>
          </a:p>
          <a:p>
            <a:pPr>
              <a:lnSpc>
                <a:spcPct val="80000"/>
              </a:lnSpc>
              <a:buFontTx/>
              <a:buNone/>
            </a:pPr>
            <a:r>
              <a:rPr lang="en-US" altLang="en-US" sz="1200" b="1" dirty="0">
                <a:latin typeface="Georgia" panose="02040502050405020303" pitchFamily="18" charset="0"/>
              </a:rPr>
              <a:t>E:nth-of-type(n)</a:t>
            </a:r>
          </a:p>
          <a:p>
            <a:pPr>
              <a:lnSpc>
                <a:spcPct val="80000"/>
              </a:lnSpc>
              <a:buFontTx/>
              <a:buNone/>
            </a:pPr>
            <a:r>
              <a:rPr lang="en-US" altLang="en-US" sz="1200" dirty="0">
                <a:latin typeface="Georgia" panose="02040502050405020303" pitchFamily="18" charset="0"/>
              </a:rPr>
              <a:t>The element that is the nth element of its type in a given parent element.</a:t>
            </a:r>
          </a:p>
          <a:p>
            <a:pPr>
              <a:lnSpc>
                <a:spcPct val="80000"/>
              </a:lnSpc>
              <a:buFontTx/>
              <a:buNone/>
            </a:pPr>
            <a:r>
              <a:rPr lang="en-US" altLang="en-US" sz="1200" b="1" dirty="0">
                <a:latin typeface="Georgia" panose="02040502050405020303" pitchFamily="18" charset="0"/>
              </a:rPr>
              <a:t>E:nth-last-of-type(n)</a:t>
            </a:r>
          </a:p>
          <a:p>
            <a:pPr>
              <a:lnSpc>
                <a:spcPct val="80000"/>
              </a:lnSpc>
              <a:buFontTx/>
              <a:buNone/>
            </a:pPr>
            <a:r>
              <a:rPr lang="en-US" altLang="en-US" sz="1200" dirty="0">
                <a:latin typeface="Georgia" panose="02040502050405020303" pitchFamily="18" charset="0"/>
              </a:rPr>
              <a:t>Like nth-of-type(n), except counting backwards from the last element in a parent.</a:t>
            </a:r>
          </a:p>
          <a:p>
            <a:pPr>
              <a:lnSpc>
                <a:spcPct val="80000"/>
              </a:lnSpc>
              <a:buFontTx/>
              <a:buNone/>
            </a:pPr>
            <a:r>
              <a:rPr lang="en-US" altLang="en-US" sz="1200" b="1" dirty="0">
                <a:latin typeface="Georgia" panose="02040502050405020303" pitchFamily="18" charset="0"/>
              </a:rPr>
              <a:t>E:first-child</a:t>
            </a:r>
          </a:p>
          <a:p>
            <a:pPr>
              <a:lnSpc>
                <a:spcPct val="80000"/>
              </a:lnSpc>
              <a:buFontTx/>
              <a:buNone/>
            </a:pPr>
            <a:r>
              <a:rPr lang="en-US" altLang="en-US" sz="1200" dirty="0">
                <a:latin typeface="Georgia" panose="02040502050405020303" pitchFamily="18" charset="0"/>
              </a:rPr>
              <a:t>The element E that is the first child E of its parent. This is the same as :</a:t>
            </a:r>
            <a:r>
              <a:rPr lang="en-US" altLang="en-US" sz="1200" dirty="0" err="1">
                <a:latin typeface="Georgia" panose="02040502050405020303" pitchFamily="18" charset="0"/>
              </a:rPr>
              <a:t>nthchild</a:t>
            </a:r>
            <a:r>
              <a:rPr lang="en-US" altLang="en-US" sz="1200" dirty="0">
                <a:latin typeface="Georgia" panose="02040502050405020303" pitchFamily="18" charset="0"/>
              </a:rPr>
              <a:t>(1).</a:t>
            </a:r>
          </a:p>
          <a:p>
            <a:pPr>
              <a:lnSpc>
                <a:spcPct val="80000"/>
              </a:lnSpc>
              <a:buFontTx/>
              <a:buNone/>
            </a:pPr>
            <a:r>
              <a:rPr lang="en-US" altLang="en-US" sz="1200" b="1" dirty="0">
                <a:latin typeface="Georgia" panose="02040502050405020303" pitchFamily="18" charset="0"/>
              </a:rPr>
              <a:t>E:last-child</a:t>
            </a:r>
          </a:p>
          <a:p>
            <a:pPr>
              <a:lnSpc>
                <a:spcPct val="80000"/>
              </a:lnSpc>
              <a:buFontTx/>
              <a:buNone/>
            </a:pPr>
            <a:r>
              <a:rPr lang="en-US" altLang="en-US" sz="1200" dirty="0">
                <a:latin typeface="Georgia" panose="02040502050405020303" pitchFamily="18" charset="0"/>
              </a:rPr>
              <a:t>The element E that is the last child E of its parent, same as :nth-last-child(1).</a:t>
            </a:r>
          </a:p>
          <a:p>
            <a:pPr>
              <a:lnSpc>
                <a:spcPct val="80000"/>
              </a:lnSpc>
              <a:buFontTx/>
              <a:buNone/>
            </a:pPr>
            <a:br>
              <a:rPr lang="en-US" altLang="en-US" sz="1400" dirty="0">
                <a:latin typeface="Georgia" panose="02040502050405020303" pitchFamily="18" charset="0"/>
              </a:rPr>
            </a:br>
            <a:endParaRPr lang="en-US" altLang="en-US" sz="1400" dirty="0">
              <a:latin typeface="Georgia" panose="02040502050405020303" pitchFamily="18" charset="0"/>
            </a:endParaRPr>
          </a:p>
        </p:txBody>
      </p:sp>
      <p:sp>
        <p:nvSpPr>
          <p:cNvPr id="2" name="Rectangle 1">
            <a:extLst>
              <a:ext uri="{FF2B5EF4-FFF2-40B4-BE49-F238E27FC236}">
                <a16:creationId xmlns:a16="http://schemas.microsoft.com/office/drawing/2014/main" id="{94E80496-8ADE-4F21-ADE7-8EA1FA596501}"/>
              </a:ext>
            </a:extLst>
          </p:cNvPr>
          <p:cNvSpPr/>
          <p:nvPr/>
        </p:nvSpPr>
        <p:spPr>
          <a:xfrm>
            <a:off x="6506612" y="1040496"/>
            <a:ext cx="5334020" cy="5138843"/>
          </a:xfrm>
          <a:prstGeom prst="rect">
            <a:avLst/>
          </a:prstGeom>
        </p:spPr>
        <p:txBody>
          <a:bodyPr wrap="square">
            <a:spAutoFit/>
          </a:bodyPr>
          <a:lstStyle/>
          <a:p>
            <a:pPr marL="228600" indent="-228600">
              <a:lnSpc>
                <a:spcPct val="80000"/>
              </a:lnSpc>
              <a:spcBef>
                <a:spcPts val="1000"/>
              </a:spcBef>
            </a:pPr>
            <a:r>
              <a:rPr lang="en-US" sz="1400" dirty="0">
                <a:latin typeface="Georgia" panose="02040502050405020303" pitchFamily="18" charset="0"/>
              </a:rPr>
              <a:t>E:first-of-type</a:t>
            </a:r>
          </a:p>
          <a:p>
            <a:pPr marL="228600" indent="-228600">
              <a:lnSpc>
                <a:spcPct val="80000"/>
              </a:lnSpc>
              <a:spcBef>
                <a:spcPts val="1000"/>
              </a:spcBef>
            </a:pPr>
            <a:r>
              <a:rPr lang="en-US" sz="1400" dirty="0">
                <a:latin typeface="Georgia" panose="02040502050405020303" pitchFamily="18" charset="0"/>
              </a:rPr>
              <a:t>Same as :nth-of-type(1).</a:t>
            </a:r>
          </a:p>
          <a:p>
            <a:pPr marL="228600" indent="-228600">
              <a:lnSpc>
                <a:spcPct val="80000"/>
              </a:lnSpc>
              <a:spcBef>
                <a:spcPts val="1000"/>
              </a:spcBef>
            </a:pPr>
            <a:r>
              <a:rPr lang="en-US" sz="1400" dirty="0">
                <a:latin typeface="Georgia" panose="02040502050405020303" pitchFamily="18" charset="0"/>
              </a:rPr>
              <a:t>E:last-of-type</a:t>
            </a:r>
          </a:p>
          <a:p>
            <a:pPr marL="228600" indent="-228600">
              <a:lnSpc>
                <a:spcPct val="80000"/>
              </a:lnSpc>
              <a:spcBef>
                <a:spcPts val="1000"/>
              </a:spcBef>
            </a:pPr>
            <a:r>
              <a:rPr lang="en-US" sz="1400" dirty="0">
                <a:latin typeface="Georgia" panose="02040502050405020303" pitchFamily="18" charset="0"/>
              </a:rPr>
              <a:t>Same as :nth-last-of-type(1).</a:t>
            </a:r>
          </a:p>
          <a:p>
            <a:pPr marL="228600" indent="-228600">
              <a:lnSpc>
                <a:spcPct val="80000"/>
              </a:lnSpc>
              <a:spcBef>
                <a:spcPts val="1000"/>
              </a:spcBef>
            </a:pPr>
            <a:r>
              <a:rPr lang="en-US" sz="1400" dirty="0">
                <a:latin typeface="Georgia" panose="02040502050405020303" pitchFamily="18" charset="0"/>
              </a:rPr>
              <a:t>E:only-child</a:t>
            </a:r>
          </a:p>
          <a:p>
            <a:pPr marL="228600" indent="-228600">
              <a:lnSpc>
                <a:spcPct val="80000"/>
              </a:lnSpc>
              <a:spcBef>
                <a:spcPts val="1000"/>
              </a:spcBef>
            </a:pPr>
            <a:r>
              <a:rPr lang="en-US" sz="1400" dirty="0">
                <a:latin typeface="Georgia" panose="02040502050405020303" pitchFamily="18" charset="0"/>
              </a:rPr>
              <a:t>An element that’s the only child of its parent.</a:t>
            </a:r>
          </a:p>
          <a:p>
            <a:pPr marL="228600" indent="-228600">
              <a:lnSpc>
                <a:spcPct val="80000"/>
              </a:lnSpc>
              <a:spcBef>
                <a:spcPts val="1000"/>
              </a:spcBef>
            </a:pPr>
            <a:r>
              <a:rPr lang="en-US" sz="1400" dirty="0">
                <a:latin typeface="Georgia" panose="02040502050405020303" pitchFamily="18" charset="0"/>
              </a:rPr>
              <a:t>E:only-of-type</a:t>
            </a:r>
          </a:p>
          <a:p>
            <a:pPr marL="228600" indent="-228600">
              <a:lnSpc>
                <a:spcPct val="80000"/>
              </a:lnSpc>
              <a:spcBef>
                <a:spcPts val="1000"/>
              </a:spcBef>
            </a:pPr>
            <a:r>
              <a:rPr lang="en-US" sz="1400" dirty="0">
                <a:latin typeface="Georgia" panose="02040502050405020303" pitchFamily="18" charset="0"/>
              </a:rPr>
              <a:t>An element that’s the only one of its type inside its parent element.</a:t>
            </a:r>
          </a:p>
          <a:p>
            <a:pPr marL="228600" indent="-228600">
              <a:lnSpc>
                <a:spcPct val="80000"/>
              </a:lnSpc>
              <a:spcBef>
                <a:spcPts val="1000"/>
              </a:spcBef>
            </a:pPr>
            <a:r>
              <a:rPr lang="en-US" sz="1400" dirty="0">
                <a:latin typeface="Georgia" panose="02040502050405020303" pitchFamily="18" charset="0"/>
              </a:rPr>
              <a:t>E:empty</a:t>
            </a:r>
          </a:p>
          <a:p>
            <a:pPr marL="228600" indent="-228600">
              <a:lnSpc>
                <a:spcPct val="80000"/>
              </a:lnSpc>
              <a:spcBef>
                <a:spcPts val="1000"/>
              </a:spcBef>
            </a:pPr>
            <a:r>
              <a:rPr lang="en-US" sz="1400" dirty="0">
                <a:latin typeface="Georgia" panose="02040502050405020303" pitchFamily="18" charset="0"/>
              </a:rPr>
              <a:t>An element that has no children; this includes text nodes, so &lt;p&gt;hello&lt;/p&gt;  will not be matched. </a:t>
            </a:r>
          </a:p>
          <a:p>
            <a:pPr marL="228600" indent="-228600">
              <a:lnSpc>
                <a:spcPct val="80000"/>
              </a:lnSpc>
              <a:spcBef>
                <a:spcPts val="1000"/>
              </a:spcBef>
            </a:pPr>
            <a:r>
              <a:rPr lang="en-US" sz="1400" dirty="0">
                <a:latin typeface="Georgia" panose="02040502050405020303" pitchFamily="18" charset="0"/>
              </a:rPr>
              <a:t>E:lang(en)</a:t>
            </a:r>
          </a:p>
          <a:p>
            <a:pPr marL="228600" indent="-228600">
              <a:lnSpc>
                <a:spcPct val="80000"/>
              </a:lnSpc>
              <a:spcBef>
                <a:spcPts val="1000"/>
              </a:spcBef>
            </a:pPr>
            <a:r>
              <a:rPr lang="en-US" sz="1400" dirty="0">
                <a:latin typeface="Georgia" panose="02040502050405020303" pitchFamily="18" charset="0"/>
              </a:rPr>
              <a:t>An element in the language denoted by the two-letter abbreviation (</a:t>
            </a:r>
            <a:r>
              <a:rPr lang="en-US" sz="1400" dirty="0" err="1">
                <a:latin typeface="Georgia" panose="02040502050405020303" pitchFamily="18" charset="0"/>
              </a:rPr>
              <a:t>en</a:t>
            </a:r>
            <a:r>
              <a:rPr lang="en-US" sz="1400" dirty="0">
                <a:latin typeface="Georgia" panose="02040502050405020303" pitchFamily="18" charset="0"/>
              </a:rPr>
              <a:t>).</a:t>
            </a:r>
          </a:p>
          <a:p>
            <a:pPr marL="228600" indent="-228600">
              <a:lnSpc>
                <a:spcPct val="80000"/>
              </a:lnSpc>
              <a:spcBef>
                <a:spcPts val="1000"/>
              </a:spcBef>
            </a:pPr>
            <a:r>
              <a:rPr lang="en-US" sz="1400" dirty="0">
                <a:latin typeface="Georgia" panose="02040502050405020303" pitchFamily="18" charset="0"/>
              </a:rPr>
              <a:t>E:not(exception)</a:t>
            </a:r>
          </a:p>
          <a:p>
            <a:pPr marL="228600" indent="-228600">
              <a:lnSpc>
                <a:spcPct val="80000"/>
              </a:lnSpc>
              <a:spcBef>
                <a:spcPts val="1000"/>
              </a:spcBef>
            </a:pPr>
            <a:r>
              <a:rPr lang="en-US" sz="1400" dirty="0">
                <a:latin typeface="Georgia" panose="02040502050405020303" pitchFamily="18" charset="0"/>
              </a:rPr>
              <a:t>This is a particularly useful one: it will select elements that don’t match the selector in the parentheses.</a:t>
            </a:r>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Title 1">
            <a:extLst>
              <a:ext uri="{FF2B5EF4-FFF2-40B4-BE49-F238E27FC236}">
                <a16:creationId xmlns:a16="http://schemas.microsoft.com/office/drawing/2014/main" id="{88B771D2-A809-4C36-9B75-C38BAFC3275F}"/>
              </a:ext>
            </a:extLst>
          </p:cNvPr>
          <p:cNvSpPr>
            <a:spLocks noGrp="1" noChangeArrowheads="1"/>
          </p:cNvSpPr>
          <p:nvPr>
            <p:ph type="title"/>
          </p:nvPr>
        </p:nvSpPr>
        <p:spPr>
          <a:xfrm>
            <a:off x="2152650" y="365126"/>
            <a:ext cx="7886700" cy="1325563"/>
          </a:xfrm>
        </p:spPr>
        <p:txBody>
          <a:bodyPr/>
          <a:lstStyle/>
          <a:p>
            <a:pPr eaLnBrk="1" hangingPunct="1"/>
            <a:r>
              <a:rPr lang="en-US" altLang="en-US"/>
              <a:t>HTML5 APIs</a:t>
            </a:r>
          </a:p>
        </p:txBody>
      </p:sp>
      <p:sp>
        <p:nvSpPr>
          <p:cNvPr id="182274" name="Content Placeholder 2">
            <a:extLst>
              <a:ext uri="{FF2B5EF4-FFF2-40B4-BE49-F238E27FC236}">
                <a16:creationId xmlns:a16="http://schemas.microsoft.com/office/drawing/2014/main" id="{C446608E-BF71-4288-8E35-1BCDA9313902}"/>
              </a:ext>
            </a:extLst>
          </p:cNvPr>
          <p:cNvSpPr>
            <a:spLocks noGrp="1" noChangeArrowheads="1"/>
          </p:cNvSpPr>
          <p:nvPr>
            <p:ph idx="1"/>
          </p:nvPr>
        </p:nvSpPr>
        <p:spPr>
          <a:xfrm>
            <a:off x="2286000" y="1371600"/>
            <a:ext cx="7772400" cy="4800600"/>
          </a:xfrm>
        </p:spPr>
        <p:txBody>
          <a:bodyPr/>
          <a:lstStyle/>
          <a:p>
            <a:pPr eaLnBrk="1" hangingPunct="1"/>
            <a:r>
              <a:rPr lang="en-US" altLang="en-US" sz="2800"/>
              <a:t>API – a protocol that allows software components to communicate – interacting and sharing data</a:t>
            </a:r>
          </a:p>
          <a:p>
            <a:pPr eaLnBrk="1" hangingPunct="1"/>
            <a:r>
              <a:rPr lang="en-US" altLang="en-US" sz="2800"/>
              <a:t>A variety of APIs that are intended to work with HTML5, CSS, and JavaScript are currently under development and in the W3C approval process, including:</a:t>
            </a:r>
          </a:p>
          <a:p>
            <a:pPr lvl="1" eaLnBrk="1" hangingPunct="1"/>
            <a:r>
              <a:rPr lang="en-US" altLang="en-US"/>
              <a:t>geolocation</a:t>
            </a:r>
          </a:p>
          <a:p>
            <a:pPr lvl="1" eaLnBrk="1" hangingPunct="1"/>
            <a:r>
              <a:rPr lang="en-US" altLang="en-US"/>
              <a:t>web storage</a:t>
            </a:r>
          </a:p>
          <a:p>
            <a:pPr lvl="1" eaLnBrk="1" hangingPunct="1"/>
            <a:r>
              <a:rPr lang="en-US" altLang="en-US"/>
              <a:t>offline web applications</a:t>
            </a:r>
          </a:p>
          <a:p>
            <a:pPr lvl="1" eaLnBrk="1" hangingPunct="1"/>
            <a:r>
              <a:rPr lang="en-US" altLang="en-US"/>
              <a:t>canvas</a:t>
            </a:r>
          </a:p>
        </p:txBody>
      </p:sp>
      <p:sp>
        <p:nvSpPr>
          <p:cNvPr id="182275" name="Slide Number Placeholder 3">
            <a:extLst>
              <a:ext uri="{FF2B5EF4-FFF2-40B4-BE49-F238E27FC236}">
                <a16:creationId xmlns:a16="http://schemas.microsoft.com/office/drawing/2014/main" id="{5D286DBD-A22C-48F1-8CF0-A68AD7C26C7D}"/>
              </a:ext>
            </a:extLst>
          </p:cNvPr>
          <p:cNvSpPr>
            <a:spLocks noGrp="1" noChangeArrowheads="1"/>
          </p:cNvSpPr>
          <p:nvPr>
            <p:ph type="sldNum" sz="quarter" idx="12"/>
          </p:nvPr>
        </p:nvSpPr>
        <p:spPr>
          <a:xfrm>
            <a:off x="4552950" y="6356351"/>
            <a:ext cx="30861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F2A4D002-D4E0-407F-8EA1-8B605D665531}" type="slidenum">
              <a:rPr lang="en-US" altLang="en-US" sz="1100">
                <a:solidFill>
                  <a:srgbClr val="4D4D4D"/>
                </a:solidFill>
                <a:latin typeface="Times New Roman" panose="02020603050405020304" pitchFamily="18" charset="0"/>
              </a:rPr>
              <a:pPr algn="ctr"/>
              <a:t>39</a:t>
            </a:fld>
            <a:endParaRPr lang="en-US" altLang="en-US" sz="1100">
              <a:solidFill>
                <a:srgbClr val="4D4D4D"/>
              </a:solidFill>
              <a:latin typeface="Times New Roman" panose="02020603050405020304" pitchFamily="18" charset="0"/>
              <a:cs typeface="Arial" panose="020B0604020202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Title 1">
            <a:extLst>
              <a:ext uri="{FF2B5EF4-FFF2-40B4-BE49-F238E27FC236}">
                <a16:creationId xmlns:a16="http://schemas.microsoft.com/office/drawing/2014/main" id="{6C4490BA-9679-4988-94F0-613B7C4A1F8C}"/>
              </a:ext>
            </a:extLst>
          </p:cNvPr>
          <p:cNvSpPr>
            <a:spLocks noGrp="1" noChangeArrowheads="1"/>
          </p:cNvSpPr>
          <p:nvPr>
            <p:ph type="title"/>
          </p:nvPr>
        </p:nvSpPr>
        <p:spPr>
          <a:xfrm>
            <a:off x="2152650" y="365126"/>
            <a:ext cx="7886700" cy="1325563"/>
          </a:xfrm>
        </p:spPr>
        <p:txBody>
          <a:bodyPr/>
          <a:lstStyle/>
          <a:p>
            <a:pPr eaLnBrk="1" hangingPunct="1"/>
            <a:r>
              <a:rPr lang="en-US" altLang="en-US"/>
              <a:t>HTML5 Geolocation</a:t>
            </a:r>
          </a:p>
        </p:txBody>
      </p:sp>
      <p:sp>
        <p:nvSpPr>
          <p:cNvPr id="183298" name="Content Placeholder 2">
            <a:extLst>
              <a:ext uri="{FF2B5EF4-FFF2-40B4-BE49-F238E27FC236}">
                <a16:creationId xmlns:a16="http://schemas.microsoft.com/office/drawing/2014/main" id="{F7722001-7725-424F-AE25-204C9A70D4E6}"/>
              </a:ext>
            </a:extLst>
          </p:cNvPr>
          <p:cNvSpPr>
            <a:spLocks noGrp="1" noChangeArrowheads="1"/>
          </p:cNvSpPr>
          <p:nvPr>
            <p:ph idx="1"/>
          </p:nvPr>
        </p:nvSpPr>
        <p:spPr>
          <a:xfrm>
            <a:off x="2209800" y="1600200"/>
            <a:ext cx="7772400" cy="4648200"/>
          </a:xfrm>
        </p:spPr>
        <p:txBody>
          <a:bodyPr/>
          <a:lstStyle/>
          <a:p>
            <a:pPr eaLnBrk="1" hangingPunct="1"/>
            <a:r>
              <a:rPr lang="en-US" altLang="en-US" sz="2400"/>
              <a:t>Allows your web page visitors to share their geographic location</a:t>
            </a:r>
          </a:p>
          <a:p>
            <a:pPr eaLnBrk="1" hangingPunct="1"/>
            <a:r>
              <a:rPr lang="en-US" altLang="en-US" sz="2400"/>
              <a:t>Their location may be determined by the IP address, wireless network connection,  local cell tower, or GPS hardware depending on the type of device and browser. </a:t>
            </a:r>
          </a:p>
          <a:p>
            <a:pPr eaLnBrk="1" hangingPunct="1"/>
            <a:r>
              <a:rPr lang="en-US" altLang="en-US" sz="2400"/>
              <a:t>JavaScript is used to work with the latitude and longitude coordinates provided by the browser. </a:t>
            </a:r>
          </a:p>
          <a:p>
            <a:pPr eaLnBrk="1" hangingPunct="1"/>
            <a:r>
              <a:rPr lang="en-US" altLang="en-US" sz="2400"/>
              <a:t>Examples:</a:t>
            </a:r>
          </a:p>
          <a:p>
            <a:pPr lvl="1" eaLnBrk="1" hangingPunct="1"/>
            <a:r>
              <a:rPr lang="en-US" altLang="en-US" sz="2000">
                <a:hlinkClick r:id="rId2"/>
              </a:rPr>
              <a:t>http://webdevfoundations.net/geo</a:t>
            </a:r>
            <a:r>
              <a:rPr lang="en-US" altLang="en-US" sz="2000"/>
              <a:t> and </a:t>
            </a:r>
            <a:r>
              <a:rPr lang="en-US" altLang="en-US" sz="2000">
                <a:hlinkClick r:id="rId3"/>
              </a:rPr>
              <a:t>http://html5demos.com/geo</a:t>
            </a:r>
            <a:endParaRPr lang="en-US" altLang="en-US" sz="2000"/>
          </a:p>
          <a:p>
            <a:pPr lvl="1" eaLnBrk="1" hangingPunct="1">
              <a:buFont typeface="Wingdings 3" panose="05040102010807070707" pitchFamily="18" charset="2"/>
              <a:buNone/>
            </a:pPr>
            <a:r>
              <a:rPr lang="en-US" altLang="en-US" sz="2000"/>
              <a:t> </a:t>
            </a:r>
          </a:p>
        </p:txBody>
      </p:sp>
      <p:sp>
        <p:nvSpPr>
          <p:cNvPr id="183299" name="Slide Number Placeholder 3">
            <a:extLst>
              <a:ext uri="{FF2B5EF4-FFF2-40B4-BE49-F238E27FC236}">
                <a16:creationId xmlns:a16="http://schemas.microsoft.com/office/drawing/2014/main" id="{082F28DA-974D-42A1-84A8-CCE164D32D77}"/>
              </a:ext>
            </a:extLst>
          </p:cNvPr>
          <p:cNvSpPr>
            <a:spLocks noGrp="1" noChangeArrowheads="1"/>
          </p:cNvSpPr>
          <p:nvPr>
            <p:ph type="sldNum" sz="quarter" idx="12"/>
          </p:nvPr>
        </p:nvSpPr>
        <p:spPr>
          <a:xfrm>
            <a:off x="4552950" y="6356351"/>
            <a:ext cx="30861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4175FA5C-25C6-45EA-89A5-064B4CAF69B0}" type="slidenum">
              <a:rPr lang="en-US" altLang="en-US" sz="1100">
                <a:solidFill>
                  <a:srgbClr val="4D4D4D"/>
                </a:solidFill>
                <a:latin typeface="Times New Roman" panose="02020603050405020304" pitchFamily="18" charset="0"/>
              </a:rPr>
              <a:pPr algn="ctr"/>
              <a:t>40</a:t>
            </a:fld>
            <a:endParaRPr lang="en-US" altLang="en-US" sz="1100">
              <a:solidFill>
                <a:srgbClr val="4D4D4D"/>
              </a:solidFill>
              <a:latin typeface="Times New Roman" panose="02020603050405020304" pitchFamily="18" charset="0"/>
              <a:cs typeface="Arial" panose="020B0604020202020204"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Title 1">
            <a:extLst>
              <a:ext uri="{FF2B5EF4-FFF2-40B4-BE49-F238E27FC236}">
                <a16:creationId xmlns:a16="http://schemas.microsoft.com/office/drawing/2014/main" id="{4777D6FA-EEF9-4B7C-B1C3-FA7CB894A943}"/>
              </a:ext>
            </a:extLst>
          </p:cNvPr>
          <p:cNvSpPr>
            <a:spLocks noGrp="1" noChangeArrowheads="1"/>
          </p:cNvSpPr>
          <p:nvPr>
            <p:ph type="title"/>
          </p:nvPr>
        </p:nvSpPr>
        <p:spPr>
          <a:xfrm>
            <a:off x="2286000" y="152401"/>
            <a:ext cx="7772400" cy="708025"/>
          </a:xfrm>
        </p:spPr>
        <p:txBody>
          <a:bodyPr/>
          <a:lstStyle/>
          <a:p>
            <a:pPr eaLnBrk="1" hangingPunct="1"/>
            <a:r>
              <a:rPr lang="en-US" altLang="en-US"/>
              <a:t>HTML5 Web Storage</a:t>
            </a:r>
          </a:p>
        </p:txBody>
      </p:sp>
      <p:sp>
        <p:nvSpPr>
          <p:cNvPr id="184322" name="Content Placeholder 2">
            <a:extLst>
              <a:ext uri="{FF2B5EF4-FFF2-40B4-BE49-F238E27FC236}">
                <a16:creationId xmlns:a16="http://schemas.microsoft.com/office/drawing/2014/main" id="{11C98F00-C64A-4E05-B7B4-D76B4BDFF840}"/>
              </a:ext>
            </a:extLst>
          </p:cNvPr>
          <p:cNvSpPr>
            <a:spLocks noGrp="1" noChangeArrowheads="1"/>
          </p:cNvSpPr>
          <p:nvPr>
            <p:ph idx="1"/>
          </p:nvPr>
        </p:nvSpPr>
        <p:spPr>
          <a:xfrm>
            <a:off x="1828800" y="968375"/>
            <a:ext cx="8686800" cy="5334000"/>
          </a:xfrm>
        </p:spPr>
        <p:txBody>
          <a:bodyPr/>
          <a:lstStyle/>
          <a:p>
            <a:pPr eaLnBrk="1" hangingPunct="1"/>
            <a:r>
              <a:rPr lang="en-US" altLang="en-US" sz="2800"/>
              <a:t>Traditionally,  the JavaScript cookie object has been used to store information in key-value pairs on the client (the website visitor’s computer). </a:t>
            </a:r>
            <a:br>
              <a:rPr lang="en-US" altLang="en-US" sz="2800"/>
            </a:br>
            <a:endParaRPr lang="en-US" altLang="en-US" sz="2800"/>
          </a:p>
          <a:p>
            <a:pPr eaLnBrk="1" hangingPunct="1"/>
            <a:r>
              <a:rPr lang="en-US" altLang="en-US" sz="2800"/>
              <a:t>NEW FOR HTML5:  Web Storage API</a:t>
            </a:r>
          </a:p>
          <a:p>
            <a:pPr lvl="1" eaLnBrk="1" hangingPunct="1"/>
            <a:r>
              <a:rPr lang="en-US" altLang="en-US" sz="1600"/>
              <a:t>provides two new ways to store information on the client side:</a:t>
            </a:r>
            <a:br>
              <a:rPr lang="en-US" altLang="en-US" sz="1600"/>
            </a:br>
            <a:r>
              <a:rPr lang="en-US" altLang="en-US" sz="1600"/>
              <a:t>local storage and session storage. </a:t>
            </a:r>
          </a:p>
          <a:p>
            <a:pPr lvl="1" eaLnBrk="1" hangingPunct="1"/>
            <a:r>
              <a:rPr lang="en-US" altLang="en-US" sz="1600"/>
              <a:t>Advantage:  increase in the amount of data that can be stored (5MB per domain). </a:t>
            </a:r>
          </a:p>
          <a:p>
            <a:pPr lvl="1" eaLnBrk="1" hangingPunct="1"/>
            <a:r>
              <a:rPr lang="en-US" altLang="en-US" sz="1600"/>
              <a:t>The </a:t>
            </a:r>
            <a:r>
              <a:rPr lang="en-US" altLang="en-US" sz="1600" b="1"/>
              <a:t>localStorage </a:t>
            </a:r>
            <a:r>
              <a:rPr lang="en-US" altLang="en-US" sz="1600"/>
              <a:t>object stores data without an expiration date. </a:t>
            </a:r>
          </a:p>
          <a:p>
            <a:pPr lvl="1" eaLnBrk="1" hangingPunct="1"/>
            <a:r>
              <a:rPr lang="en-US" altLang="en-US" sz="1600"/>
              <a:t>The </a:t>
            </a:r>
            <a:r>
              <a:rPr lang="en-US" altLang="en-US" sz="1600" b="1"/>
              <a:t>sessionStorage </a:t>
            </a:r>
            <a:r>
              <a:rPr lang="en-US" altLang="en-US" sz="1600"/>
              <a:t>object stores data only for the duration of the current browser</a:t>
            </a:r>
          </a:p>
          <a:p>
            <a:pPr lvl="1" eaLnBrk="1" hangingPunct="1"/>
            <a:r>
              <a:rPr lang="en-US" altLang="en-US" sz="1600"/>
              <a:t>JavaScript is used to work with the values stored in the localStorage and sessionStorage  objects. </a:t>
            </a:r>
          </a:p>
          <a:p>
            <a:pPr eaLnBrk="1" hangingPunct="1"/>
            <a:r>
              <a:rPr lang="en-US" altLang="en-US" sz="2800"/>
              <a:t>Examples:</a:t>
            </a:r>
          </a:p>
          <a:p>
            <a:pPr lvl="1" eaLnBrk="1" hangingPunct="1"/>
            <a:r>
              <a:rPr lang="en-US" altLang="en-US" sz="1600">
                <a:hlinkClick r:id="rId2"/>
              </a:rPr>
              <a:t>http://webdevfoundations.net/storage</a:t>
            </a:r>
            <a:r>
              <a:rPr lang="en-US" altLang="en-US" sz="1600"/>
              <a:t> and </a:t>
            </a:r>
            <a:r>
              <a:rPr lang="en-US" altLang="en-US" sz="1600">
                <a:hlinkClick r:id="rId3"/>
              </a:rPr>
              <a:t>http://html5demos.com/storage</a:t>
            </a:r>
            <a:endParaRPr lang="en-US" altLang="en-US" sz="1600"/>
          </a:p>
          <a:p>
            <a:pPr lvl="1" eaLnBrk="1" hangingPunct="1"/>
            <a:endParaRPr lang="en-US" altLang="en-US" sz="2400"/>
          </a:p>
        </p:txBody>
      </p:sp>
      <p:sp>
        <p:nvSpPr>
          <p:cNvPr id="184323" name="Slide Number Placeholder 3">
            <a:extLst>
              <a:ext uri="{FF2B5EF4-FFF2-40B4-BE49-F238E27FC236}">
                <a16:creationId xmlns:a16="http://schemas.microsoft.com/office/drawing/2014/main" id="{BC6AF7B3-51EE-4108-BAD4-C2535A3B24AB}"/>
              </a:ext>
            </a:extLst>
          </p:cNvPr>
          <p:cNvSpPr>
            <a:spLocks noGrp="1" noChangeArrowheads="1"/>
          </p:cNvSpPr>
          <p:nvPr>
            <p:ph type="sldNum" sz="quarter" idx="12"/>
          </p:nvPr>
        </p:nvSpPr>
        <p:spPr>
          <a:xfrm>
            <a:off x="4552950" y="6356351"/>
            <a:ext cx="30861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DB83220C-1092-4172-ADF0-5DC1A6AA780D}" type="slidenum">
              <a:rPr lang="en-US" altLang="en-US" sz="1100">
                <a:solidFill>
                  <a:srgbClr val="4D4D4D"/>
                </a:solidFill>
                <a:latin typeface="Times New Roman" panose="02020603050405020304" pitchFamily="18" charset="0"/>
              </a:rPr>
              <a:pPr algn="ctr"/>
              <a:t>41</a:t>
            </a:fld>
            <a:endParaRPr lang="en-US" altLang="en-US" sz="1100">
              <a:solidFill>
                <a:srgbClr val="4D4D4D"/>
              </a:solidFill>
              <a:latin typeface="Times New Roman" panose="02020603050405020304" pitchFamily="18" charset="0"/>
              <a:cs typeface="Arial" panose="020B0604020202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Title 1">
            <a:extLst>
              <a:ext uri="{FF2B5EF4-FFF2-40B4-BE49-F238E27FC236}">
                <a16:creationId xmlns:a16="http://schemas.microsoft.com/office/drawing/2014/main" id="{9A568615-A5D9-4869-BC29-AA5AE1CE8F74}"/>
              </a:ext>
            </a:extLst>
          </p:cNvPr>
          <p:cNvSpPr>
            <a:spLocks noGrp="1" noChangeArrowheads="1"/>
          </p:cNvSpPr>
          <p:nvPr>
            <p:ph type="title"/>
          </p:nvPr>
        </p:nvSpPr>
        <p:spPr>
          <a:xfrm>
            <a:off x="2152650" y="365126"/>
            <a:ext cx="7886700" cy="854075"/>
          </a:xfrm>
        </p:spPr>
        <p:txBody>
          <a:bodyPr/>
          <a:lstStyle/>
          <a:p>
            <a:pPr eaLnBrk="1" hangingPunct="1"/>
            <a:r>
              <a:rPr lang="en-US" altLang="en-US" sz="4000"/>
              <a:t>HTML5 Offline  Web  Applications</a:t>
            </a:r>
          </a:p>
        </p:txBody>
      </p:sp>
      <p:sp>
        <p:nvSpPr>
          <p:cNvPr id="185346" name="Content Placeholder 2">
            <a:extLst>
              <a:ext uri="{FF2B5EF4-FFF2-40B4-BE49-F238E27FC236}">
                <a16:creationId xmlns:a16="http://schemas.microsoft.com/office/drawing/2014/main" id="{7F54B0ED-D204-4D81-B7F3-2550DE564DC3}"/>
              </a:ext>
            </a:extLst>
          </p:cNvPr>
          <p:cNvSpPr>
            <a:spLocks noGrp="1" noChangeArrowheads="1"/>
          </p:cNvSpPr>
          <p:nvPr>
            <p:ph idx="1"/>
          </p:nvPr>
        </p:nvSpPr>
        <p:spPr>
          <a:xfrm>
            <a:off x="2209800" y="1600200"/>
            <a:ext cx="7829550" cy="4648200"/>
          </a:xfrm>
        </p:spPr>
        <p:txBody>
          <a:bodyPr/>
          <a:lstStyle/>
          <a:p>
            <a:pPr eaLnBrk="1" hangingPunct="1">
              <a:lnSpc>
                <a:spcPct val="80000"/>
              </a:lnSpc>
            </a:pPr>
            <a:r>
              <a:rPr lang="en-US" altLang="en-US" sz="2500"/>
              <a:t>An </a:t>
            </a:r>
            <a:r>
              <a:rPr lang="en-US" altLang="en-US" sz="2500" b="1"/>
              <a:t>offline web application </a:t>
            </a:r>
            <a:r>
              <a:rPr lang="en-US" altLang="en-US" sz="2500"/>
              <a:t>enables website visitors to view documents and access web applications even when they are not connected to the Internet. </a:t>
            </a:r>
          </a:p>
          <a:p>
            <a:pPr eaLnBrk="1" hangingPunct="1">
              <a:lnSpc>
                <a:spcPct val="80000"/>
              </a:lnSpc>
            </a:pPr>
            <a:r>
              <a:rPr lang="en-US" altLang="en-US" sz="2500"/>
              <a:t>A web application (app) can be written with HTML, CSS and JavaScript and can run in any browser – as long as you are online.  </a:t>
            </a:r>
          </a:p>
          <a:p>
            <a:pPr eaLnBrk="1" hangingPunct="1">
              <a:lnSpc>
                <a:spcPct val="80000"/>
              </a:lnSpc>
            </a:pPr>
            <a:r>
              <a:rPr lang="en-US" altLang="en-US" sz="2500"/>
              <a:t>An offline web application takes this one step further and stores the HTML, CSS, and JavaScript files on the visitor’s device for use offline, even when the device is not connected to the Internet.</a:t>
            </a:r>
          </a:p>
          <a:p>
            <a:pPr eaLnBrk="1" hangingPunct="1">
              <a:lnSpc>
                <a:spcPct val="80000"/>
              </a:lnSpc>
            </a:pPr>
            <a:r>
              <a:rPr lang="en-US" altLang="en-US" sz="2500"/>
              <a:t>Examples:</a:t>
            </a:r>
          </a:p>
          <a:p>
            <a:pPr lvl="1" eaLnBrk="1" hangingPunct="1">
              <a:lnSpc>
                <a:spcPct val="80000"/>
              </a:lnSpc>
            </a:pPr>
            <a:r>
              <a:rPr lang="en-US" altLang="en-US" sz="1400">
                <a:hlinkClick r:id="rId2"/>
              </a:rPr>
              <a:t>http://html5demos.com/offlineapp</a:t>
            </a:r>
            <a:r>
              <a:rPr lang="en-US" altLang="en-US" sz="1400"/>
              <a:t> </a:t>
            </a:r>
          </a:p>
          <a:p>
            <a:pPr lvl="1" eaLnBrk="1" hangingPunct="1">
              <a:lnSpc>
                <a:spcPct val="80000"/>
              </a:lnSpc>
            </a:pPr>
            <a:r>
              <a:rPr lang="en-US" altLang="en-US" sz="1400">
                <a:hlinkClick r:id="rId3"/>
              </a:rPr>
              <a:t>http://www.w3schools.com/html/html5_app_cache.asp</a:t>
            </a:r>
            <a:endParaRPr lang="en-US" altLang="en-US" sz="1400"/>
          </a:p>
        </p:txBody>
      </p:sp>
      <p:sp>
        <p:nvSpPr>
          <p:cNvPr id="185347" name="Slide Number Placeholder 3">
            <a:extLst>
              <a:ext uri="{FF2B5EF4-FFF2-40B4-BE49-F238E27FC236}">
                <a16:creationId xmlns:a16="http://schemas.microsoft.com/office/drawing/2014/main" id="{B3307CB1-B15E-4870-8638-FCF748F92FB9}"/>
              </a:ext>
            </a:extLst>
          </p:cNvPr>
          <p:cNvSpPr>
            <a:spLocks noGrp="1" noChangeArrowheads="1"/>
          </p:cNvSpPr>
          <p:nvPr>
            <p:ph type="sldNum" sz="quarter" idx="12"/>
          </p:nvPr>
        </p:nvSpPr>
        <p:spPr>
          <a:xfrm>
            <a:off x="4552950" y="6356351"/>
            <a:ext cx="30861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596C47E0-1314-4926-B517-C1E47BBD8F1C}" type="slidenum">
              <a:rPr lang="en-US" altLang="en-US" sz="1100">
                <a:solidFill>
                  <a:srgbClr val="4D4D4D"/>
                </a:solidFill>
                <a:latin typeface="Times New Roman" panose="02020603050405020304" pitchFamily="18" charset="0"/>
              </a:rPr>
              <a:pPr algn="ctr"/>
              <a:t>42</a:t>
            </a:fld>
            <a:endParaRPr lang="en-US" altLang="en-US" sz="1100">
              <a:solidFill>
                <a:srgbClr val="4D4D4D"/>
              </a:solidFill>
              <a:latin typeface="Times New Roman" panose="02020603050405020304" pitchFamily="18" charset="0"/>
              <a:cs typeface="Arial" panose="020B060402020202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B9F26-2E5E-4DA5-95B1-AF12DD27C951}"/>
              </a:ext>
            </a:extLst>
          </p:cNvPr>
          <p:cNvSpPr>
            <a:spLocks noGrp="1"/>
          </p:cNvSpPr>
          <p:nvPr>
            <p:ph type="title"/>
          </p:nvPr>
        </p:nvSpPr>
        <p:spPr>
          <a:xfrm>
            <a:off x="2362200" y="0"/>
            <a:ext cx="8229600" cy="685800"/>
          </a:xfrm>
        </p:spPr>
        <p:txBody>
          <a:bodyPr>
            <a:normAutofit fontScale="90000"/>
          </a:bodyPr>
          <a:lstStyle/>
          <a:p>
            <a:pPr algn="r" eaLnBrk="1" fontAlgn="auto" hangingPunct="1">
              <a:spcAft>
                <a:spcPts val="0"/>
              </a:spcAft>
              <a:defRPr/>
            </a:pPr>
            <a:r>
              <a:rPr lang="en-US" dirty="0"/>
              <a:t>HTML5 Canvas Element</a:t>
            </a:r>
          </a:p>
        </p:txBody>
      </p:sp>
      <p:sp>
        <p:nvSpPr>
          <p:cNvPr id="186370" name="Content Placeholder 2">
            <a:extLst>
              <a:ext uri="{FF2B5EF4-FFF2-40B4-BE49-F238E27FC236}">
                <a16:creationId xmlns:a16="http://schemas.microsoft.com/office/drawing/2014/main" id="{DFA59A23-FACF-451D-9323-22C18382AC70}"/>
              </a:ext>
            </a:extLst>
          </p:cNvPr>
          <p:cNvSpPr>
            <a:spLocks noGrp="1" noChangeArrowheads="1"/>
          </p:cNvSpPr>
          <p:nvPr>
            <p:ph idx="1"/>
          </p:nvPr>
        </p:nvSpPr>
        <p:spPr>
          <a:xfrm>
            <a:off x="1524000" y="533400"/>
            <a:ext cx="8382000" cy="1600200"/>
          </a:xfrm>
        </p:spPr>
        <p:txBody>
          <a:bodyPr>
            <a:normAutofit lnSpcReduction="10000"/>
          </a:bodyPr>
          <a:lstStyle/>
          <a:p>
            <a:pPr eaLnBrk="1" hangingPunct="1">
              <a:lnSpc>
                <a:spcPct val="80000"/>
              </a:lnSpc>
            </a:pPr>
            <a:r>
              <a:rPr lang="en-US" altLang="en-US" sz="2500"/>
              <a:t>Configures dynamic graphics</a:t>
            </a:r>
          </a:p>
          <a:p>
            <a:pPr lvl="1" eaLnBrk="1" hangingPunct="1">
              <a:lnSpc>
                <a:spcPct val="80000"/>
              </a:lnSpc>
            </a:pPr>
            <a:r>
              <a:rPr lang="en-US" altLang="en-US" sz="1400"/>
              <a:t>Draw lines, shapes, text, image</a:t>
            </a:r>
          </a:p>
          <a:p>
            <a:pPr lvl="1" eaLnBrk="1" hangingPunct="1">
              <a:lnSpc>
                <a:spcPct val="80000"/>
              </a:lnSpc>
            </a:pPr>
            <a:r>
              <a:rPr lang="en-US" altLang="en-US" sz="1400"/>
              <a:t>Interact with actions taken by the user</a:t>
            </a:r>
          </a:p>
          <a:p>
            <a:pPr eaLnBrk="1" hangingPunct="1">
              <a:lnSpc>
                <a:spcPct val="80000"/>
              </a:lnSpc>
            </a:pPr>
            <a:r>
              <a:rPr lang="en-US" altLang="en-US" sz="2500"/>
              <a:t>Canvas API (application programming interface)</a:t>
            </a:r>
          </a:p>
          <a:p>
            <a:pPr eaLnBrk="1" hangingPunct="1">
              <a:lnSpc>
                <a:spcPct val="80000"/>
              </a:lnSpc>
            </a:pPr>
            <a:r>
              <a:rPr lang="en-US" altLang="en-US" sz="2500"/>
              <a:t>JavaScript – client-side scripting language</a:t>
            </a:r>
          </a:p>
          <a:p>
            <a:pPr lvl="1" eaLnBrk="1" hangingPunct="1">
              <a:lnSpc>
                <a:spcPct val="80000"/>
              </a:lnSpc>
            </a:pPr>
            <a:endParaRPr lang="en-US" altLang="en-US" sz="2200"/>
          </a:p>
        </p:txBody>
      </p:sp>
      <p:sp>
        <p:nvSpPr>
          <p:cNvPr id="186371" name="Slide Number Placeholder 3">
            <a:extLst>
              <a:ext uri="{FF2B5EF4-FFF2-40B4-BE49-F238E27FC236}">
                <a16:creationId xmlns:a16="http://schemas.microsoft.com/office/drawing/2014/main" id="{FDD418DB-80A3-4C1D-8A1F-2677B34A8C9F}"/>
              </a:ext>
            </a:extLst>
          </p:cNvPr>
          <p:cNvSpPr>
            <a:spLocks noGrp="1" noChangeArrowheads="1"/>
          </p:cNvSpPr>
          <p:nvPr>
            <p:ph type="sldNum" sz="quarter" idx="12"/>
          </p:nvPr>
        </p:nvSpPr>
        <p:spPr>
          <a:xfrm>
            <a:off x="10164764" y="6556376"/>
            <a:ext cx="503237" cy="301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1EF55ACE-9C74-469D-A270-1F891FE15EF3}" type="slidenum">
              <a:rPr lang="en-US" altLang="en-US" sz="1200">
                <a:latin typeface="Times New Roman" panose="02020603050405020304" pitchFamily="18" charset="0"/>
              </a:rPr>
              <a:pPr algn="ctr"/>
              <a:t>43</a:t>
            </a:fld>
            <a:endParaRPr lang="en-US" altLang="en-US" sz="1200">
              <a:latin typeface="Times New Roman" panose="02020603050405020304" pitchFamily="18" charset="0"/>
              <a:cs typeface="Arial" panose="020B0604020202020204" pitchFamily="34" charset="0"/>
            </a:endParaRPr>
          </a:p>
        </p:txBody>
      </p:sp>
      <p:sp>
        <p:nvSpPr>
          <p:cNvPr id="186372" name="TextBox 5">
            <a:extLst>
              <a:ext uri="{FF2B5EF4-FFF2-40B4-BE49-F238E27FC236}">
                <a16:creationId xmlns:a16="http://schemas.microsoft.com/office/drawing/2014/main" id="{E2DBD16E-22B5-4BF3-AA3C-87C6AEE5DFB0}"/>
              </a:ext>
            </a:extLst>
          </p:cNvPr>
          <p:cNvSpPr txBox="1">
            <a:spLocks noChangeArrowheads="1"/>
          </p:cNvSpPr>
          <p:nvPr/>
        </p:nvSpPr>
        <p:spPr bwMode="auto">
          <a:xfrm>
            <a:off x="2057400" y="2278063"/>
            <a:ext cx="6096000" cy="4400550"/>
          </a:xfrm>
          <a:prstGeom prst="rect">
            <a:avLst/>
          </a:prstGeom>
          <a:solidFill>
            <a:schemeClr val="tx1">
              <a:alpha val="58038"/>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2000">
                <a:solidFill>
                  <a:schemeClr val="bg1"/>
                </a:solidFill>
              </a:rPr>
              <a:t>&lt;script type="text/javascript"&gt;</a:t>
            </a:r>
          </a:p>
          <a:p>
            <a:r>
              <a:rPr lang="en-US" altLang="en-US" sz="2000">
                <a:solidFill>
                  <a:schemeClr val="bg1"/>
                </a:solidFill>
              </a:rPr>
              <a:t>function drawMe() {</a:t>
            </a:r>
          </a:p>
          <a:p>
            <a:r>
              <a:rPr lang="en-US" altLang="en-US" sz="2000">
                <a:solidFill>
                  <a:schemeClr val="bg1"/>
                </a:solidFill>
              </a:rPr>
              <a:t>  var canvas = document.getElementById("myCanvas");</a:t>
            </a:r>
          </a:p>
          <a:p>
            <a:r>
              <a:rPr lang="en-US" altLang="en-US" sz="2000">
                <a:solidFill>
                  <a:schemeClr val="bg1"/>
                </a:solidFill>
              </a:rPr>
              <a:t>  if (canvas.getContext) {</a:t>
            </a:r>
          </a:p>
          <a:p>
            <a:r>
              <a:rPr lang="en-US" altLang="en-US" sz="2000">
                <a:solidFill>
                  <a:schemeClr val="bg1"/>
                </a:solidFill>
              </a:rPr>
              <a:t>    var ctx = canvas.getContext("2d");</a:t>
            </a:r>
          </a:p>
          <a:p>
            <a:r>
              <a:rPr lang="en-US" altLang="en-US" sz="2000">
                <a:solidFill>
                  <a:schemeClr val="bg1"/>
                </a:solidFill>
              </a:rPr>
              <a:t>    ctx.fillStyle = "rgb(255, 0, 0)";</a:t>
            </a:r>
          </a:p>
          <a:p>
            <a:r>
              <a:rPr lang="en-US" altLang="en-US" sz="2000">
                <a:solidFill>
                  <a:schemeClr val="bg1"/>
                </a:solidFill>
              </a:rPr>
              <a:t>    ctx.font = "bold 3em Georgia"; </a:t>
            </a:r>
          </a:p>
          <a:p>
            <a:r>
              <a:rPr lang="en-US" altLang="en-US" sz="2000">
                <a:solidFill>
                  <a:schemeClr val="bg1"/>
                </a:solidFill>
              </a:rPr>
              <a:t>    ctx.fillText("My Canvas", 70, 100);</a:t>
            </a:r>
            <a:br>
              <a:rPr lang="en-US" altLang="en-US" sz="2000">
                <a:solidFill>
                  <a:schemeClr val="bg1"/>
                </a:solidFill>
              </a:rPr>
            </a:br>
            <a:r>
              <a:rPr lang="en-US" altLang="en-US" sz="2000">
                <a:solidFill>
                  <a:schemeClr val="bg1"/>
                </a:solidFill>
              </a:rPr>
              <a:t>    ctx.fillStyle = "rgba(0, 0, 200, 0.50)";</a:t>
            </a:r>
          </a:p>
          <a:p>
            <a:r>
              <a:rPr lang="en-US" altLang="en-US" sz="2000">
                <a:solidFill>
                  <a:schemeClr val="bg1"/>
                </a:solidFill>
              </a:rPr>
              <a:t>     ctx.fillRect (57, 54, 100, 65); </a:t>
            </a:r>
          </a:p>
          <a:p>
            <a:r>
              <a:rPr lang="en-US" altLang="en-US" sz="2000">
                <a:solidFill>
                  <a:schemeClr val="bg1"/>
                </a:solidFill>
              </a:rPr>
              <a:t>  }</a:t>
            </a:r>
          </a:p>
          <a:p>
            <a:r>
              <a:rPr lang="en-US" altLang="en-US" sz="2000">
                <a:solidFill>
                  <a:schemeClr val="bg1"/>
                </a:solidFill>
              </a:rPr>
              <a:t>}</a:t>
            </a:r>
          </a:p>
          <a:p>
            <a:r>
              <a:rPr lang="en-US" altLang="en-US" sz="2000">
                <a:solidFill>
                  <a:schemeClr val="bg1"/>
                </a:solidFill>
              </a:rPr>
              <a:t>&lt;/script&gt;</a:t>
            </a:r>
            <a:endParaRPr lang="en-US" altLang="en-US">
              <a:solidFill>
                <a:schemeClr val="bg1"/>
              </a:solidFill>
            </a:endParaRPr>
          </a:p>
        </p:txBody>
      </p:sp>
      <p:pic>
        <p:nvPicPr>
          <p:cNvPr id="186373" name="Picture 7">
            <a:extLst>
              <a:ext uri="{FF2B5EF4-FFF2-40B4-BE49-F238E27FC236}">
                <a16:creationId xmlns:a16="http://schemas.microsoft.com/office/drawing/2014/main" id="{F09604D5-DD8D-4C6A-9EC0-429A14521F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0" y="3505201"/>
            <a:ext cx="3721100"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a:extLst>
              <a:ext uri="{FF2B5EF4-FFF2-40B4-BE49-F238E27FC236}">
                <a16:creationId xmlns:a16="http://schemas.microsoft.com/office/drawing/2014/main" id="{4F88CC84-F56B-4600-8BFE-7A12D6482C15}"/>
              </a:ext>
            </a:extLst>
          </p:cNvPr>
          <p:cNvSpPr>
            <a:spLocks noGrp="1" noChangeArrowheads="1"/>
          </p:cNvSpPr>
          <p:nvPr>
            <p:ph type="title"/>
          </p:nvPr>
        </p:nvSpPr>
        <p:spPr>
          <a:xfrm>
            <a:off x="3581400" y="228600"/>
            <a:ext cx="6400800" cy="769938"/>
          </a:xfrm>
        </p:spPr>
        <p:txBody>
          <a:bodyPr/>
          <a:lstStyle/>
          <a:p>
            <a:pPr algn="r" eaLnBrk="1" fontAlgn="auto" hangingPunct="1">
              <a:spcAft>
                <a:spcPts val="0"/>
              </a:spcAft>
              <a:defRPr/>
            </a:pPr>
            <a:r>
              <a:rPr lang="en-US">
                <a:solidFill>
                  <a:schemeClr val="tx2">
                    <a:satMod val="130000"/>
                  </a:schemeClr>
                </a:solidFill>
              </a:rPr>
              <a:t>Summary</a:t>
            </a:r>
          </a:p>
        </p:txBody>
      </p:sp>
      <p:sp>
        <p:nvSpPr>
          <p:cNvPr id="187394" name="Rectangle 3">
            <a:extLst>
              <a:ext uri="{FF2B5EF4-FFF2-40B4-BE49-F238E27FC236}">
                <a16:creationId xmlns:a16="http://schemas.microsoft.com/office/drawing/2014/main" id="{B2F86857-2454-4997-ACD2-EFC68369186B}"/>
              </a:ext>
            </a:extLst>
          </p:cNvPr>
          <p:cNvSpPr>
            <a:spLocks noGrp="1" noChangeArrowheads="1"/>
          </p:cNvSpPr>
          <p:nvPr>
            <p:ph idx="1"/>
          </p:nvPr>
        </p:nvSpPr>
        <p:spPr>
          <a:xfrm>
            <a:off x="2063750" y="1063625"/>
            <a:ext cx="8064500" cy="5181600"/>
          </a:xfrm>
        </p:spPr>
        <p:txBody>
          <a:bodyPr/>
          <a:lstStyle/>
          <a:p>
            <a:pPr eaLnBrk="1" hangingPunct="1"/>
            <a:r>
              <a:rPr lang="en-US" altLang="en-US"/>
              <a:t>This chapter introduced the HTML techniques and technologies used to configure sound, video, and interactivity on web pages.</a:t>
            </a:r>
          </a:p>
          <a:p>
            <a:pPr eaLnBrk="1" hangingPunct="1"/>
            <a:r>
              <a:rPr lang="en-US" altLang="en-US"/>
              <a:t>Issues related to accessibility and copyright were also  discussed.</a:t>
            </a:r>
          </a:p>
          <a:p>
            <a:pPr eaLnBrk="1" hangingPunct="1"/>
            <a:r>
              <a:rPr lang="en-US" altLang="en-US"/>
              <a:t>The number one reason for visitors to leave web pages is too long of a download time. When using multimedia, be careful to minimize this issue.</a:t>
            </a:r>
            <a:endParaRPr lang="en-US" altLang="en-US">
              <a:cs typeface="Times New Roman" panose="02020603050405020304" pitchFamily="18" charset="0"/>
            </a:endParaRPr>
          </a:p>
        </p:txBody>
      </p:sp>
      <p:sp>
        <p:nvSpPr>
          <p:cNvPr id="187395" name="Slide Number Placeholder 5">
            <a:extLst>
              <a:ext uri="{FF2B5EF4-FFF2-40B4-BE49-F238E27FC236}">
                <a16:creationId xmlns:a16="http://schemas.microsoft.com/office/drawing/2014/main" id="{5103F6B0-A090-4A7D-80C0-DD95AB18B992}"/>
              </a:ext>
            </a:extLst>
          </p:cNvPr>
          <p:cNvSpPr>
            <a:spLocks noGrp="1" noChangeArrowheads="1"/>
          </p:cNvSpPr>
          <p:nvPr>
            <p:ph type="sldNum" sz="quarter" idx="12"/>
          </p:nvPr>
        </p:nvSpPr>
        <p:spPr>
          <a:xfrm>
            <a:off x="4648200" y="6245225"/>
            <a:ext cx="2895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A2EDBBA9-5106-49CE-A2A9-B140AC768785}" type="slidenum">
              <a:rPr lang="en-US" altLang="en-US" sz="1200">
                <a:latin typeface="Times New Roman" panose="02020603050405020304" pitchFamily="18" charset="0"/>
              </a:rPr>
              <a:pPr algn="ctr"/>
              <a:t>44</a:t>
            </a:fld>
            <a:endParaRPr lang="en-US" altLang="en-US" sz="1200">
              <a:latin typeface="Times New Roman" panose="02020603050405020304" pitchFamily="18" charset="0"/>
              <a:cs typeface="Arial" panose="020B0604020202020204" pitchFamily="34" charset="0"/>
            </a:endParaRPr>
          </a:p>
        </p:txBody>
      </p:sp>
      <p:sp>
        <p:nvSpPr>
          <p:cNvPr id="187396" name="Rectangle 4">
            <a:extLst>
              <a:ext uri="{FF2B5EF4-FFF2-40B4-BE49-F238E27FC236}">
                <a16:creationId xmlns:a16="http://schemas.microsoft.com/office/drawing/2014/main" id="{2C52D076-CF5A-492C-A265-AD9E5EA73868}"/>
              </a:ext>
            </a:extLst>
          </p:cNvPr>
          <p:cNvSpPr>
            <a:spLocks noChangeArrowheads="1"/>
          </p:cNvSpPr>
          <p:nvPr/>
        </p:nvSpPr>
        <p:spPr bwMode="auto">
          <a:xfrm>
            <a:off x="5072063" y="309086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en-US" altLang="en-US" sz="2400">
              <a:latin typeface="Times New Roman" panose="02020603050405020304" pitchFamily="18" charset="0"/>
              <a:cs typeface="Arial" panose="020B0604020202020204" pitchFamily="34" charset="0"/>
            </a:endParaRPr>
          </a:p>
        </p:txBody>
      </p:sp>
      <p:sp>
        <p:nvSpPr>
          <p:cNvPr id="187397" name="Rectangle 5">
            <a:extLst>
              <a:ext uri="{FF2B5EF4-FFF2-40B4-BE49-F238E27FC236}">
                <a16:creationId xmlns:a16="http://schemas.microsoft.com/office/drawing/2014/main" id="{ACF6E224-BFF9-4BB8-BEB3-BD9AF9C3D3E7}"/>
              </a:ext>
            </a:extLst>
          </p:cNvPr>
          <p:cNvSpPr>
            <a:spLocks noChangeArrowheads="1"/>
          </p:cNvSpPr>
          <p:nvPr/>
        </p:nvSpPr>
        <p:spPr bwMode="auto">
          <a:xfrm>
            <a:off x="5195888" y="253365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en-US" altLang="en-US" sz="2400">
              <a:latin typeface="Times New Roman" panose="02020603050405020304" pitchFamily="18" charset="0"/>
              <a:cs typeface="Arial" panose="020B0604020202020204" pitchFamily="34" charset="0"/>
            </a:endParaRPr>
          </a:p>
        </p:txBody>
      </p:sp>
    </p:spTree>
  </p:cSld>
  <p:clrMapOvr>
    <a:masterClrMapping/>
  </p:clrMapOvr>
  <p:transition/>
</p:sld>
</file>

<file path=ppt/theme/theme1.xml><?xml version="1.0" encoding="utf-8"?>
<a:theme xmlns:a="http://schemas.openxmlformats.org/drawingml/2006/main" name="Default Desig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pth">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Depth">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Depth">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5339</Words>
  <Application>Microsoft Office PowerPoint</Application>
  <PresentationFormat>Widescreen</PresentationFormat>
  <Paragraphs>578</Paragraphs>
  <Slides>44</Slides>
  <Notes>22</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44</vt:i4>
      </vt:variant>
    </vt:vector>
  </HeadingPairs>
  <TitlesOfParts>
    <vt:vector size="60" baseType="lpstr">
      <vt:lpstr>Arial Unicode MS</vt:lpstr>
      <vt:lpstr>SimSun</vt:lpstr>
      <vt:lpstr>Arial</vt:lpstr>
      <vt:lpstr>Calibri</vt:lpstr>
      <vt:lpstr>Calibri Light</vt:lpstr>
      <vt:lpstr>Courier New</vt:lpstr>
      <vt:lpstr>Georgia</vt:lpstr>
      <vt:lpstr>Impact</vt:lpstr>
      <vt:lpstr>Source Sans Pro</vt:lpstr>
      <vt:lpstr>Times New Roman</vt:lpstr>
      <vt:lpstr>Verdana</vt:lpstr>
      <vt:lpstr>Wingdings 3</vt:lpstr>
      <vt:lpstr>Default Design</vt:lpstr>
      <vt:lpstr>Depth</vt:lpstr>
      <vt:lpstr>1_Depth</vt:lpstr>
      <vt:lpstr>2_Depth</vt:lpstr>
      <vt:lpstr>HTML5 Animations</vt:lpstr>
      <vt:lpstr>Agenda</vt:lpstr>
      <vt:lpstr>6. CSS3 Transforms &amp; Transitions</vt:lpstr>
      <vt:lpstr>6. CSS3 Transforms &amp; Transitions</vt:lpstr>
      <vt:lpstr>6. CSS3 Transforms &amp; Transitions</vt:lpstr>
      <vt:lpstr>6. CSS3 Transforms &amp; Transitions</vt:lpstr>
      <vt:lpstr>6. CSS3 Transforms &amp; Transitions</vt:lpstr>
      <vt:lpstr>CSS transitions: An introduction</vt:lpstr>
      <vt:lpstr>PowerPoint Presentation</vt:lpstr>
      <vt:lpstr>PowerPoint Presentation</vt:lpstr>
      <vt:lpstr>PowerPoint Presentation</vt:lpstr>
      <vt:lpstr>CSS3 Transition Property</vt:lpstr>
      <vt:lpstr>6. CSS3 Transforms &amp; Transitions</vt:lpstr>
      <vt:lpstr>6. CSS3 Transforms &amp; Transitions</vt:lpstr>
      <vt:lpstr>6. CSS3 Transforms &amp; Transitions</vt:lpstr>
      <vt:lpstr>6. CSS3 Transforms &amp; Transitions</vt:lpstr>
      <vt:lpstr>6. CSS3 Transforms &amp; Transitions</vt:lpstr>
      <vt:lpstr>6. CSS3 Transforms &amp; Transitions</vt:lpstr>
      <vt:lpstr>6. CSS3 Animation</vt:lpstr>
      <vt:lpstr>Animation</vt:lpstr>
      <vt:lpstr>Animation</vt:lpstr>
      <vt:lpstr>Sub-properties</vt:lpstr>
      <vt:lpstr>PowerPoint Presentation</vt:lpstr>
      <vt:lpstr>Multiple animations</vt:lpstr>
      <vt:lpstr>Performance</vt:lpstr>
      <vt:lpstr>Although browser support is quite good for this property in modern browsers, we might want to support as many older browsers as we can. In that case we'd need to use vendor prefixes:</vt:lpstr>
      <vt:lpstr>PowerPoint Presentation</vt:lpstr>
      <vt:lpstr>6. CSS3 Animation</vt:lpstr>
      <vt:lpstr>6. CSS3 Animation</vt:lpstr>
      <vt:lpstr>PowerPoint Presentation</vt:lpstr>
      <vt:lpstr>PowerPoint Presentation</vt:lpstr>
      <vt:lpstr>6. CSS3 multiple columns</vt:lpstr>
      <vt:lpstr>6. CSS3 multiple columns</vt:lpstr>
      <vt:lpstr>6. CSS3 multiple columns</vt:lpstr>
      <vt:lpstr>6. CSS3 selectors</vt:lpstr>
      <vt:lpstr>6. CSS3 selectors</vt:lpstr>
      <vt:lpstr>6. CSS3 selectors</vt:lpstr>
      <vt:lpstr>6. CSS3 selectors</vt:lpstr>
      <vt:lpstr>HTML5 APIs</vt:lpstr>
      <vt:lpstr>HTML5 Geolocation</vt:lpstr>
      <vt:lpstr>HTML5 Web Storage</vt:lpstr>
      <vt:lpstr>HTML5 Offline  Web  Applications</vt:lpstr>
      <vt:lpstr>HTML5 Canvas Element</vt:lpstr>
      <vt:lpstr>Summary</vt:lpstr>
    </vt:vector>
  </TitlesOfParts>
  <Company>Tesco HSC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GETTING STARTED WITH HTML5</dc:title>
  <dc:creator>ho78</dc:creator>
  <cp:lastModifiedBy>Basker George</cp:lastModifiedBy>
  <cp:revision>619</cp:revision>
  <dcterms:created xsi:type="dcterms:W3CDTF">2012-07-10T05:19:23Z</dcterms:created>
  <dcterms:modified xsi:type="dcterms:W3CDTF">2025-04-21T11:35:11Z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1033-11.2.0.8970</vt:lpwstr>
  </property>
</Properties>
</file>