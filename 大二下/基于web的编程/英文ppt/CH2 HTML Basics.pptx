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92" r:id="rId1"/>
  </p:sldMasterIdLst>
  <p:notesMasterIdLst>
    <p:notesMasterId r:id="rId35"/>
  </p:notesMasterIdLst>
  <p:sldIdLst>
    <p:sldId id="256" r:id="rId2"/>
    <p:sldId id="257" r:id="rId3"/>
    <p:sldId id="267" r:id="rId4"/>
    <p:sldId id="268" r:id="rId5"/>
    <p:sldId id="269" r:id="rId6"/>
    <p:sldId id="290" r:id="rId7"/>
    <p:sldId id="270" r:id="rId8"/>
    <p:sldId id="279" r:id="rId9"/>
    <p:sldId id="300" r:id="rId10"/>
    <p:sldId id="293" r:id="rId11"/>
    <p:sldId id="271" r:id="rId12"/>
    <p:sldId id="276" r:id="rId13"/>
    <p:sldId id="277" r:id="rId14"/>
    <p:sldId id="274" r:id="rId15"/>
    <p:sldId id="275" r:id="rId16"/>
    <p:sldId id="272" r:id="rId17"/>
    <p:sldId id="273" r:id="rId18"/>
    <p:sldId id="281" r:id="rId19"/>
    <p:sldId id="292" r:id="rId20"/>
    <p:sldId id="302" r:id="rId21"/>
    <p:sldId id="303" r:id="rId22"/>
    <p:sldId id="298" r:id="rId23"/>
    <p:sldId id="304" r:id="rId24"/>
    <p:sldId id="305" r:id="rId25"/>
    <p:sldId id="306" r:id="rId26"/>
    <p:sldId id="301" r:id="rId27"/>
    <p:sldId id="299" r:id="rId28"/>
    <p:sldId id="294" r:id="rId29"/>
    <p:sldId id="295" r:id="rId30"/>
    <p:sldId id="296" r:id="rId31"/>
    <p:sldId id="297" r:id="rId32"/>
    <p:sldId id="288" r:id="rId33"/>
    <p:sldId id="289" r:id="rId3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86" autoAdjust="0"/>
    <p:restoredTop sz="94580" autoAdjust="0"/>
  </p:normalViewPr>
  <p:slideViewPr>
    <p:cSldViewPr>
      <p:cViewPr varScale="1">
        <p:scale>
          <a:sx n="113" d="100"/>
          <a:sy n="113" d="100"/>
        </p:scale>
        <p:origin x="152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98" y="-5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AF918B9C-7628-4476-9547-FCADCAF0D3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Verdan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03687BF8-12FF-4831-96C0-595DE84A814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Verdan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ADEF3DB9-B605-4937-81B6-E616DA8B0F1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573A117A-9572-4629-A0AA-57333836F7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2AE43F6F-65FD-4735-8174-EB2CCDC6C32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Verdan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73D1BACE-DC8F-493F-9833-CA176F457B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A1943549-6C03-4833-9F70-7F298A7AF5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1761056E-8BDA-4202-A9BB-9D7D281654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F7847115-7814-4AD2-B193-63B556447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DDCD65F5-13B8-4289-9632-013205EB8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916E14-F155-4E46-BD67-B0CB75A588AD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7DF73D6-2510-4B04-8D99-369333778F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180954D9-8FBE-4FDE-A2AE-725D5AA93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DF1E09FA-D562-4ABE-ADA5-E7CB8F57A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7E7E0-354F-4587-BCC0-868E34DEE9A7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1BF75AEB-A7AD-442A-B0F0-8EEA838445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6E576CC4-98CC-48D4-B087-6128587C9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BEE3BBE7-543C-44DB-AC57-1E8A79148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3B1ABD-FD85-48AF-9860-0CEA178B16EA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703559E2-261A-4B25-8427-75E0D9D870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A722BB15-E0F0-4B02-8769-0112EBFD5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9A6C792B-A2A2-4377-BA88-4D8B15E36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605EBC-AF33-441C-AE29-48A8601BD3D1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816403C3-1341-46EE-A952-9BD3DE4025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8F0BF0F5-B396-44F3-9131-DF96E81FE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5163F02-40CB-4D84-9387-6E17BBE61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A8A693-1CE1-46B9-8B10-04AFD475316E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253C6844-B277-42DA-B867-E355CDADBC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EDB11D9E-0553-4429-83A3-1D2B9CE01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D0F58A10-BAE1-4AA7-A22B-115ED409B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3E1A97-991C-454C-9968-B7A50F3517C3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6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822DEB39-8A08-44CB-AE7E-E62BC6F835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F9D6764B-0F9C-452F-AABF-49D78E636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39F86922-A8BC-40C1-BE7C-B1DEC0919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46B4B2-E2A1-445D-BBE5-7579E7C1F443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7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0DB426EA-D830-495B-BC83-01DACCA507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1D5052BD-52A3-446F-90ED-12EED96AC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3CC332DC-DAEC-450A-A04F-2D1DF72E8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E46D40-5DA8-46CB-9969-AB137A418BAF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8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4C4D737F-BE9F-4298-A1B5-C332682EF9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B394C5E1-B328-4CA2-BBAB-5624C6C95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C1091197-1F5B-4DC4-9009-CD6F8438E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6B809AE-C05F-4CD8-9C4A-5ECEEC768A8F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04BF31C5-DE3C-46D2-A863-16A886F4B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4070B711-D4DC-4145-A04E-4A27661D4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00A66D20-A4C0-4BC3-8D5D-588B4E6F6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635F3F-4E8D-4B20-B87D-A7F0D36C9BF8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11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871A932D-2A99-4A45-8B73-BB421A291D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625C9578-FDA9-48A3-BEDF-C3489E400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D7FBB06-B1AB-48E2-897D-134E019AF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D672E8-753D-471B-B8A6-46160D7F1344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12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FD51DCAF-A9C0-43BB-A39C-83A7DDF28E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FDC7EF59-8BCE-4C54-BA72-2B2CBCC23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1B2049B1-F3CA-4CE9-A150-886C761BC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BE4B54-70FC-4B1B-AC77-CB0C7D2E0540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13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9A15189E-70C0-46E0-8795-A71DFCF61E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192C3597-25BA-49ED-8014-6B6742833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7527EDEB-A06E-4590-AF65-F9F2E796F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512102-4756-4976-A984-4C29D0F88D65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14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24E5F7FD-4759-47D1-92A4-B18AADB9E4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EBD878B9-DFF9-4967-9F0E-5F8ABC307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7B57CE41-A936-4342-ABCA-DCFFB19A0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4C0B23-480D-4149-ADEA-FDDB80580B24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15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6F119F4E-9E91-4546-A6EB-03E38CE4C5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B5BC034B-B1C5-4BCD-87BC-0E9EFCFE7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993FA1BF-D9F2-442B-A01E-5B33A384D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074A86-CD83-44A3-8596-EE9654D077EA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16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CCD401ED-251D-4091-9F02-DFF8256E4F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1A660CFE-6645-4FA3-831E-0435AC9B5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BB991EEB-44FB-49CF-BD20-A9A8156E8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0D3AA4-57A8-414C-A932-C2FD22BCB7D2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17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056F5D21-491C-45DE-BF8C-DF4B843424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4736FD94-882B-4A91-AE1A-4BF046FB7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8ACE54C0-8F73-4A18-AF21-F9EF908F4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9880AF-603B-4EB9-BE37-5376FF30BE58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18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022D573C-6050-49DB-A9C3-3B4082C338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55846A38-F59A-4301-B2C9-5826E71C4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71CC55EC-1798-459E-B859-4122DEEDB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217492-9018-465A-8CCD-DAC70B19E1ED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19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2509A718-B227-49F2-BECF-B8FAED4D9A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3EEA9040-BF97-489B-85EE-EE15D20E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65F54ED5-8673-4065-A392-6EC4F7FDC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66A2B1-1945-4C51-8D0C-E3B3BA776FBD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28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EF2ED80A-CBF5-4ABB-A4C5-6C6F81A383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8913DEB9-F7A3-4791-BD28-E25169640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CC933719-1611-4C68-8715-4319C494D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7DDD6FD-DF1C-443B-A88C-BBEB9B860A7E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29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419A65C7-24A6-4EB3-A57C-F25DE4D0E7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D276B9F4-5BD5-4F6C-AC49-534923A91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7A793DFA-C52D-45ED-9F86-89E16DD89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CCEAE9-88FB-4242-8B45-4EF91C3A920A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30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313663C2-FDFA-429C-8BBC-7F1D47E7DD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43A604E0-BF4C-4D1A-9134-9047B2A6A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D92FB1E3-B890-480A-99FD-DC993D8F6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F1448F-AC21-45BA-BDB4-3D8B4797CB0F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31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7D83184A-4E9F-467A-834D-42A35AD39F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4C2509D0-61A5-4281-B101-34B1C1C09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28D4F30E-6C1E-4C2D-9F10-5C41CF0C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434E5C-1933-4464-892D-1A3D56F25AF3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32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233B6CA1-C657-4012-86CE-9602D910B4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38C1B78A-1DA2-40B1-A1F8-937EFD512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CE327C5F-5A76-4A41-8FBA-A8080AD68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466919-7515-41CD-8BA9-7CBB9A3C2ABA}" type="slidenum">
              <a:rPr kumimoji="0" lang="en-US" altLang="en-US" sz="1300" smtClean="0"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33</a:t>
            </a:fld>
            <a:endParaRPr kumimoji="0"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/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/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9B0718E9-1871-4F5E-8DE0-0B7DC5CDD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CB66B638-155B-4AEC-9494-DF47CED0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56064A8-2924-428A-8897-B0CCC54B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373D0-0D1B-4018-BA24-60928AD132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701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DF7D2-4662-42D8-B1D5-92A64183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A7DC4-841F-4673-820B-E88DFD26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975D9-9C28-4D87-A75C-22BDAB25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13A9C-F7B4-4F9B-9E5D-31286621FA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886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/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/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23D89-7493-4914-9A2F-72CC3BB5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632D2-4FFD-4410-9A44-E47616E6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177B-C94D-411D-A45C-433CDB30D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EE97B-59F4-465B-A5F4-AB9A99356E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79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EF79ED7-BFE4-4EB9-8C19-193D139E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304507D-DC5D-40E8-B833-A52A160A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D52ACF8-5DC8-4757-B336-EFC99B7E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6D62B-0899-441C-88E9-C829887FA2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789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/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anchor="b"/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24E2A0E-B7C9-4FA8-999F-A212689B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F3C88CA-7355-4E1F-AF0A-E4B1FB25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1461C9-D5FD-4B0A-A019-64AC8072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B82BC-D7C5-460C-BC46-CDAD12E618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878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B4E920F-EC3F-4777-9B95-400614AC9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E0F41D0-B437-46DB-A921-266315FE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1C22EB-BD5E-4B67-B9D5-D00D0CE9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F02B8-B237-4739-BC36-03FEEA4BDE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0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83DDC39-07EA-4363-AEF4-1C086337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8AAB9E-3EFC-406B-9B8E-39871613F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786B5C-9417-4892-A9D3-B69A7E83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2D78E-0019-40BD-8EE7-286CE221E1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400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/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498369-630E-4923-B0C4-687218D1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6A679E-E2A2-43ED-ABF0-F71C613B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DD3D9F-010D-4A6E-BC4C-630123B1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2B255-44EF-4BCC-B982-8339A54471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95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/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A841AE1-CEE9-4D54-9BB5-AB6C3C1A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EB4239-1F1E-447A-BE38-9D9F69DE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A0189EB-4BDA-47CB-B2D3-4A38014E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2D42C-5F22-4055-A969-B7F698B1E6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359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AF3A3EF-EE31-4AD6-A516-F96153AF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29299-C88A-47FB-B43E-B3E19DE4E5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86379-D26E-4A48-A09C-39E12153F5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8BE2A18-CD5D-4F8E-87D2-383E99E7DB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414032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AC311E6-56B6-49AB-B352-45B202E4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03D42-8545-4DDC-AE80-A853DA26C1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B9B60-0E1A-44A1-A80F-74A3A1EED5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447791-36E0-4500-AF5F-A061AEF9B0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2799941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E9C689-4FD7-4538-B4A6-09ACF52590B6}"/>
              </a:ext>
            </a:extLst>
          </p:cNvPr>
          <p:cNvSpPr txBox="1"/>
          <p:nvPr/>
        </p:nvSpPr>
        <p:spPr>
          <a:xfrm>
            <a:off x="833438" y="787400"/>
            <a:ext cx="457200" cy="584200"/>
          </a:xfrm>
          <a:prstGeom prst="rect">
            <a:avLst/>
          </a:prstGeom>
        </p:spPr>
        <p:txBody>
          <a:bodyPr lIns="68580" tIns="34290" rIns="68580" bIns="34290"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US" sz="6000" dirty="0">
                <a:effectLst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04FF09-380A-44F7-A1BF-42528B856473}"/>
              </a:ext>
            </a:extLst>
          </p:cNvPr>
          <p:cNvSpPr txBox="1"/>
          <p:nvPr/>
        </p:nvSpPr>
        <p:spPr>
          <a:xfrm>
            <a:off x="7827963" y="2743200"/>
            <a:ext cx="457200" cy="584200"/>
          </a:xfrm>
          <a:prstGeom prst="rect">
            <a:avLst/>
          </a:prstGeom>
        </p:spPr>
        <p:txBody>
          <a:bodyPr lIns="68580" tIns="34290" rIns="68580" bIns="34290"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eaLnBrk="1" hangingPunct="1">
              <a:defRPr/>
            </a:pPr>
            <a:r>
              <a:rPr lang="en-US" sz="60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BF1E588-5FEE-4BB5-B1B6-7B3D6D93E5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A3CF454-8F61-483A-8537-CD72EC032F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1F813-84BA-4363-90C5-A625CD385E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B65F6DD-FC3D-49D1-97AF-DA21109FD0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207138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3057796-10B6-4218-AB8C-D24BBFC82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7D0F2-39F3-452F-ADDA-BBEC2FAD89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A9E85-FA66-4A7B-BC29-6FABD23F9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DCFC3E2-24E9-434B-ADDE-AC38E770DC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1757584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3906C78-85DA-40EC-8EC7-6747599F837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9883B1E-0C8B-4E90-8892-39E35BADACE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179FD-F94F-4CD3-9514-D048F75C72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D71F97C-CB97-49DE-9B41-802FE92DAC7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666584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F008184-8C2D-4F50-ADAD-B65A30F14A8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9CD4F8A-51DB-4687-840A-4C90D9A871E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545E8-1285-4204-9EA9-37437F6B60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18D5DA8-844E-41CC-93A9-A2BBD4F54A4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4128307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CB58C-CA57-4E33-A877-D5A7BC7D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AD1738-9E35-4EF6-8A0F-55DAAE6CC1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ED836-10AB-4AD4-B524-41A04B70FD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3D97E5A-AD88-45AE-88D1-6E8641501F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1729507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71518-E74C-4514-A78F-D30A19EF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339605-2459-4E19-8429-0DF72ADC3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BB1B2-B3FB-4CE2-9207-2C8F62902C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C79421-4B60-4F50-8ED2-36A53833F9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5860441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CC082C4F-B4D3-4694-8D58-51603B3A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5B918FA3-015E-4325-89A7-FFDB59F011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38E51-8400-476D-8401-0BD504C811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591AC-E52F-4FB4-AF5E-71FB886B28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86050" y="6356350"/>
            <a:ext cx="37719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  <p:extLst>
      <p:ext uri="{BB962C8B-B14F-4D97-AF65-F5344CB8AC3E}">
        <p14:creationId xmlns:p14="http://schemas.microsoft.com/office/powerpoint/2010/main" val="34059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5067D-B0DE-429D-B740-D5361185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032B1-BD48-4D11-8F78-4F2E1F6D0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5625"/>
            <a:ext cx="76755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54E2A-C1B3-42F9-839E-94A989DE8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9B3C0-19B0-4528-85FE-11B3416CC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24626-F40B-4EFE-B0EB-75B143DBA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FB663A8C-CE84-4FE5-961A-4EC3733325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521" r:id="rId1"/>
    <p:sldLayoutId id="2147484522" r:id="rId2"/>
    <p:sldLayoutId id="2147484523" r:id="rId3"/>
    <p:sldLayoutId id="2147484524" r:id="rId4"/>
    <p:sldLayoutId id="2147484525" r:id="rId5"/>
    <p:sldLayoutId id="2147484526" r:id="rId6"/>
    <p:sldLayoutId id="2147484527" r:id="rId7"/>
    <p:sldLayoutId id="2147484528" r:id="rId8"/>
    <p:sldLayoutId id="2147484529" r:id="rId9"/>
    <p:sldLayoutId id="2147484530" r:id="rId10"/>
    <p:sldLayoutId id="2147484531" r:id="rId11"/>
    <p:sldLayoutId id="2147484532" r:id="rId12"/>
    <p:sldLayoutId id="2147484533" r:id="rId13"/>
    <p:sldLayoutId id="2147484534" r:id="rId14"/>
    <p:sldLayoutId id="2147484535" r:id="rId15"/>
    <p:sldLayoutId id="2147484536" r:id="rId16"/>
    <p:sldLayoutId id="2147484537" r:id="rId17"/>
    <p:sldLayoutId id="2147484538" r:id="rId18"/>
  </p:sldLayoutIdLst>
  <p:hf hd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rbel" panose="020B0503020204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verstock.com/Jewelry-Watches/14-kt.-Yellow-Gold-.02-ct.-Diamond-and-Citrine-Ring/1778356/product.html?rcmndsrc=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verstock.com/Jewelry-Watches/14-kt.-Yellow-Gold-.02-ct.-Diamond-and-Citrine-Ring/1778356/product.html?rcmndsrc=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validator.w3.org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tml5.validator.nu/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6030CD69-73CF-4762-9F4C-9A7D0F8F38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225" y="685800"/>
            <a:ext cx="6324600" cy="1447800"/>
          </a:xfrm>
          <a:extLst/>
        </p:spPr>
        <p:txBody>
          <a:bodyPr>
            <a:noAutofit/>
          </a:bodyPr>
          <a:lstStyle/>
          <a:p>
            <a:pPr marL="484632" eaLnBrk="1" fontAlgn="auto" hangingPunct="1">
              <a:spcAft>
                <a:spcPts val="0"/>
              </a:spcAft>
              <a:defRPr/>
            </a:pPr>
            <a:r>
              <a:rPr sz="8000">
                <a:solidFill>
                  <a:schemeClr val="tx2">
                    <a:satMod val="130000"/>
                  </a:schemeClr>
                </a:solidFill>
              </a:rPr>
              <a:t>Basics of </a:t>
            </a:r>
            <a:br>
              <a:rPr sz="8000">
                <a:solidFill>
                  <a:schemeClr val="tx2">
                    <a:satMod val="130000"/>
                  </a:schemeClr>
                </a:solidFill>
              </a:rPr>
            </a:br>
            <a:r>
              <a:rPr sz="8000">
                <a:solidFill>
                  <a:schemeClr val="tx2">
                    <a:satMod val="130000"/>
                  </a:schemeClr>
                </a:solidFill>
              </a:rPr>
              <a:t>Web Design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0D1C9951-FA6B-4749-B4F1-90EB6D5B81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429000"/>
            <a:ext cx="4648200" cy="1981200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cs typeface="Arial" pitchFamily="34" charset="0"/>
              </a:rPr>
              <a:t>Chapter 2</a:t>
            </a:r>
            <a:br>
              <a:rPr lang="en-US" dirty="0">
                <a:cs typeface="Arial" pitchFamily="34" charset="0"/>
              </a:rPr>
            </a:br>
            <a:r>
              <a:rPr lang="en-US" dirty="0">
                <a:cs typeface="Arial" pitchFamily="34" charset="0"/>
              </a:rPr>
              <a:t>HTML Basics</a:t>
            </a:r>
            <a:br>
              <a:rPr lang="en-US" dirty="0">
                <a:cs typeface="Arial" pitchFamily="34" charset="0"/>
              </a:rPr>
            </a:br>
            <a:r>
              <a:rPr lang="en-US" dirty="0">
                <a:cs typeface="Arial" pitchFamily="34" charset="0"/>
              </a:rPr>
              <a:t>Key Concepts</a:t>
            </a:r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F0FFF929-9C0A-440B-A026-A2367201D8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424AB10-0BD4-4CCA-BE7A-72B7B8429FFF}" type="slidenum">
              <a:rPr lang="en-US" altLang="en-US" sz="1300" smtClean="0">
                <a:solidFill>
                  <a:srgbClr val="FFFFFF"/>
                </a:solidFill>
              </a:rPr>
              <a:pPr/>
              <a:t>1</a:t>
            </a:fld>
            <a:endParaRPr lang="en-US" altLang="en-US" sz="1300">
              <a:solidFill>
                <a:srgbClr val="FFFF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59D370-270C-4659-8E1C-1A4E19C2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7001" y="6356350"/>
            <a:ext cx="3679824" cy="365125"/>
          </a:xfrm>
        </p:spPr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EA8B90C-85A2-47AE-905A-4F9C43DE23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Learning Outcomes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5452766-6B13-4DFA-A593-F3863F9CA2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000" y="1825625"/>
            <a:ext cx="7675350" cy="43513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Describe the anatomy of a web page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Format the body of a web page with block-level elements including headings, paragraphs, lists, and blockquotes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Configure the text on a web page with inline elements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Configure text with phrase elements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Configure special entity characters, line breaks, and horizontal rules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Configure a web page using new HTML5  header, nav, main, and footer elements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Use the anchor element to link from page to page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Configure absolute, relative, and e-mail hyperlinks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000"/>
              <a:t>Test a web page for valid HTML syntax</a:t>
            </a:r>
          </a:p>
          <a:p>
            <a:pPr lvl="1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 sz="2400"/>
          </a:p>
          <a:p>
            <a:pPr lvl="1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C37966-DF01-4764-8C95-33AA32F2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A0F4CB-39FB-43AD-BDB0-F87F557B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C34017-0A18-42EF-A34A-34A32F46D25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AAE2E6E1-BD85-4B98-9AE7-0B7BAD3A8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8800"/>
            <a:ext cx="4191000" cy="2743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757077-7BFC-4794-A6C0-C416D6D5C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76263"/>
            <a:ext cx="7381875" cy="566737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Heading Element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4A28B106-090F-45AD-AAD0-D1329C7D63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2133600"/>
            <a:ext cx="4932363" cy="36718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&lt;h1&gt;Heading Level 1&lt;/h1&gt;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&lt;h2&gt;Heading Level 2&lt;/h2&gt;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&lt;h3&gt;Heading Level 3&lt;/h3&gt;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&lt;h4&gt;Heading Level 4&lt;/h4&gt;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&lt;h5&gt;Heading Level 5&lt;/h5&gt;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&lt;h6&gt;Heading Level 6&lt;/h6&gt;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5" name="Picture 3">
            <a:extLst>
              <a:ext uri="{FF2B5EF4-FFF2-40B4-BE49-F238E27FC236}">
                <a16:creationId xmlns:a16="http://schemas.microsoft.com/office/drawing/2014/main" id="{392127E0-1C40-4487-952E-E77AE474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04988"/>
            <a:ext cx="419417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D7DCDF-E5D7-4B9E-8785-F045D0DC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CDF62F-F2F5-4520-AF1C-B33A587E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ACF9C7-ED73-4A61-8465-1AD16093FC2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78EE8FA-44EA-495E-8E6A-8ABB92B62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Paragraph Element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&lt;p&gt; tag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5C57646-0D86-4C3A-8695-BA47832720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752600"/>
            <a:ext cx="7924800" cy="4191000"/>
          </a:xfrm>
        </p:spPr>
        <p:txBody>
          <a:bodyPr/>
          <a:lstStyle/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>
                <a:cs typeface="Times New Roman" pitchFamily="18" charset="0"/>
              </a:rPr>
              <a:t>Paragraph element</a:t>
            </a:r>
          </a:p>
          <a:p>
            <a:pPr marL="3657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&lt;p&gt;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…paragraph goes here…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&lt;/p&gt;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cs typeface="Times New Roman" pitchFamily="18" charset="0"/>
            </a:endParaRP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Groups sentences and sections of text together. 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Configures empty space above and below the paragraph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E713A9-A2BF-4B9C-92E5-FF65F9BB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6E9F6-3B2F-4CA6-BE1E-79EC6E27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7E8D41-3458-4BC3-9C48-B04689A6A5C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3951D7F-62C1-4502-A8EB-089383A2D0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Line Break Element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br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&gt; tag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FBD36BE-0061-42C4-9C6D-4ECB084792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8077200" cy="4191000"/>
          </a:xfrm>
        </p:spPr>
        <p:txBody>
          <a:bodyPr/>
          <a:lstStyle/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>
                <a:cs typeface="Times New Roman" pitchFamily="18" charset="0"/>
              </a:rPr>
              <a:t>Line Break element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Stand-alone tag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Called a void element in HTML5</a:t>
            </a:r>
            <a:br>
              <a:rPr lang="en-US" dirty="0">
                <a:cs typeface="Times New Roman" pitchFamily="18" charset="0"/>
              </a:rPr>
            </a:br>
            <a:endParaRPr lang="en-US" dirty="0">
              <a:cs typeface="Times New Roman" pitchFamily="18" charset="0"/>
            </a:endParaRPr>
          </a:p>
          <a:p>
            <a:pPr marL="448056" lvl="1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…text goes here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This starts on a new line….</a:t>
            </a:r>
            <a:br>
              <a:rPr lang="en-US" sz="2400" b="1" i="1" dirty="0">
                <a:latin typeface="Times New Roman" pitchFamily="18" charset="0"/>
                <a:cs typeface="Times New Roman" pitchFamily="18" charset="0"/>
              </a:rPr>
            </a:b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Causes the next element or text to display on a new line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EFFAB34F-7121-410E-A2E9-0A903E98D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3525" y="5330825"/>
            <a:ext cx="1952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hlinkClick r:id="rId3"/>
              </a:rPr>
              <a:t>Read Reviews</a:t>
            </a:r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A119BF-E177-48BB-BD58-FA441CAD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1E5443-B58D-4F86-BC18-6BA92695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5CD924-D5F2-42DD-9EF2-A0CEBD27ABC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DA321E8-8218-4C81-BCD8-39EB9C193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98588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Horizontal Rule Element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&lt;hr&gt; tag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730A369-8AB0-44C0-96A6-58B8055A1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905000"/>
            <a:ext cx="7620000" cy="4267200"/>
          </a:xfrm>
        </p:spPr>
        <p:txBody>
          <a:bodyPr/>
          <a:lstStyle/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>
                <a:cs typeface="Times New Roman" pitchFamily="18" charset="0"/>
              </a:rPr>
              <a:t>Horizontal Rule element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void element</a:t>
            </a:r>
            <a:br>
              <a:rPr lang="en-US" dirty="0">
                <a:cs typeface="Times New Roman" pitchFamily="18" charset="0"/>
              </a:rPr>
            </a:br>
            <a:endParaRPr lang="en-US" dirty="0">
              <a:cs typeface="Times New Roman" pitchFamily="18" charset="0"/>
            </a:endParaRPr>
          </a:p>
          <a:p>
            <a:pPr marL="448056" lvl="1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hr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&gt;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Configures a horizontal line on the page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i="1" dirty="0">
                <a:cs typeface="Times New Roman" pitchFamily="18" charset="0"/>
              </a:rPr>
              <a:t>In HTML5, it should be used to indicate a thematic break at the paragraph level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BC3B322-5EEB-404D-BC0E-2610AA79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3525" y="5330825"/>
            <a:ext cx="1952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hlinkClick r:id="rId3"/>
              </a:rPr>
              <a:t>Read Reviews</a:t>
            </a:r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DE76B7-55A7-4A0D-B032-97D9C80E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D84F68-C2CD-4266-B644-68BF934B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8A2C43-F173-4D4A-9217-1AF7D46AD0E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C759F3E-D579-4CF5-B43F-B0317BF8E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Blockquote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Element 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blockquote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&gt;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AF4DF62-37F7-4AC2-8D1D-B6CACAFBB1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413750" cy="4191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cs typeface="Times New Roman" panose="02020603050405020304" pitchFamily="18" charset="0"/>
              </a:rPr>
              <a:t>Blockquote element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>
                <a:cs typeface="Times New Roman" panose="02020603050405020304" pitchFamily="18" charset="0"/>
              </a:rPr>
              <a:t>Indents a block of text for special emphasis</a:t>
            </a:r>
          </a:p>
          <a:p>
            <a:pPr lvl="1" eaLnBrk="1" fontAlgn="auto" hangingPunct="1">
              <a:spcAft>
                <a:spcPts val="0"/>
              </a:spcAft>
              <a:buFont typeface="Verdana" panose="020B0604030504040204" pitchFamily="34" charset="0"/>
              <a:buNone/>
              <a:defRPr/>
            </a:pPr>
            <a:br>
              <a:rPr lang="en-US" altLang="en-US">
                <a:cs typeface="Times New Roman" panose="02020603050405020304" pitchFamily="18" charset="0"/>
              </a:rPr>
            </a:br>
            <a:endParaRPr lang="en-US" altLang="en-US">
              <a:cs typeface="Times New Roman" panose="02020603050405020304" pitchFamily="18" charset="0"/>
            </a:endParaRPr>
          </a:p>
          <a:p>
            <a:pPr lvl="1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&lt;blockquote&gt;</a:t>
            </a:r>
          </a:p>
          <a:p>
            <a:pPr lvl="1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…text goes here…</a:t>
            </a:r>
          </a:p>
          <a:p>
            <a:pPr lvl="1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&lt;/blockquote&gt;</a:t>
            </a:r>
            <a:endParaRPr lang="en-US" altLang="en-US"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1C0576-5D30-4696-8AE8-C4297A0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C18EB2-D6E4-41F7-B1A0-3B5A7E5F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5AD877-CA1A-489B-84C8-2ED6E44432F5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DF68C1C-A309-4104-9567-792AA6E9E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Phrase Elements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BFA45F-7C46-48DB-9815-E758C9C7F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763000" cy="5410200"/>
          </a:xfrm>
        </p:spPr>
        <p:txBody>
          <a:bodyPr>
            <a:normAutofit fontScale="92500" lnSpcReduction="20000"/>
          </a:bodyPr>
          <a:lstStyle/>
          <a:p>
            <a:pPr marL="539496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>
                <a:cs typeface="Times New Roman" pitchFamily="18" charset="0"/>
              </a:rPr>
              <a:t>Indicate the context and meaning of the text</a:t>
            </a:r>
          </a:p>
          <a:p>
            <a:pPr marL="539496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>
                <a:cs typeface="Times New Roman" pitchFamily="18" charset="0"/>
              </a:rPr>
              <a:t>Display inline with the text</a:t>
            </a:r>
            <a:br>
              <a:rPr lang="en-US" sz="2800" dirty="0">
                <a:cs typeface="Times New Roman" pitchFamily="18" charset="0"/>
              </a:rPr>
            </a:br>
            <a:endParaRPr lang="en-US" sz="2800" dirty="0">
              <a:cs typeface="Times New Roman" pitchFamily="18" charset="0"/>
            </a:endParaRPr>
          </a:p>
          <a:p>
            <a:pPr marL="539496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>
                <a:cs typeface="Arial" pitchFamily="34" charset="0"/>
              </a:rPr>
              <a:t>Common Phrase Elements</a:t>
            </a:r>
          </a:p>
          <a:p>
            <a:pPr marL="799846" lvl="1" indent="-3429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100" dirty="0">
                <a:cs typeface="Arial" pitchFamily="34" charset="0"/>
              </a:rPr>
              <a:t>&lt;b&gt;&lt;/b&gt;</a:t>
            </a:r>
          </a:p>
          <a:p>
            <a:pPr marL="739521" lvl="2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2800" dirty="0">
                <a:cs typeface="Arial" pitchFamily="34" charset="0"/>
              </a:rPr>
              <a:t>Text is displayed in bold font</a:t>
            </a:r>
            <a:br>
              <a:rPr lang="en-US" sz="2900" dirty="0">
                <a:cs typeface="Arial" pitchFamily="34" charset="0"/>
              </a:rPr>
            </a:br>
            <a:endParaRPr lang="en-US" sz="2900" dirty="0">
              <a:cs typeface="Arial" pitchFamily="34" charset="0"/>
            </a:endParaRPr>
          </a:p>
          <a:p>
            <a:pPr marL="914146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>
                <a:cs typeface="Arial" pitchFamily="34" charset="0"/>
              </a:rPr>
              <a:t>&lt;strong&gt;&lt;/strong&gt;</a:t>
            </a:r>
          </a:p>
          <a:p>
            <a:pPr marL="739521" lvl="2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cs typeface="Arial" pitchFamily="34" charset="0"/>
              </a:rPr>
              <a:t>Text has strong importance and is displayed in bold</a:t>
            </a:r>
            <a:br>
              <a:rPr lang="en-US" sz="2800" dirty="0">
                <a:cs typeface="Arial" pitchFamily="34" charset="0"/>
              </a:rPr>
            </a:br>
            <a:endParaRPr lang="en-US" sz="2800" dirty="0">
              <a:cs typeface="Arial" pitchFamily="34" charset="0"/>
            </a:endParaRPr>
          </a:p>
          <a:p>
            <a:pPr marL="914146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000" dirty="0">
                <a:cs typeface="Arial" pitchFamily="34" charset="0"/>
              </a:rPr>
              <a:t>&lt;</a:t>
            </a:r>
            <a:r>
              <a:rPr lang="en-US" sz="3000" dirty="0" err="1">
                <a:cs typeface="Arial" pitchFamily="34" charset="0"/>
              </a:rPr>
              <a:t>i</a:t>
            </a:r>
            <a:r>
              <a:rPr lang="en-US" sz="3000" dirty="0">
                <a:cs typeface="Arial" pitchFamily="34" charset="0"/>
              </a:rPr>
              <a:t>&gt;&lt;/</a:t>
            </a:r>
            <a:r>
              <a:rPr lang="en-US" sz="3000" dirty="0" err="1">
                <a:cs typeface="Arial" pitchFamily="34" charset="0"/>
              </a:rPr>
              <a:t>i</a:t>
            </a:r>
            <a:r>
              <a:rPr lang="en-US" sz="3000" dirty="0">
                <a:cs typeface="Arial" pitchFamily="34" charset="0"/>
              </a:rPr>
              <a:t>&gt;</a:t>
            </a:r>
          </a:p>
          <a:p>
            <a:pPr marL="739521" lvl="2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2600" dirty="0">
                <a:cs typeface="Arial" pitchFamily="34" charset="0"/>
              </a:rPr>
              <a:t>Text is displayed in italic font</a:t>
            </a:r>
            <a:br>
              <a:rPr lang="en-US" sz="2600" dirty="0">
                <a:cs typeface="Arial" pitchFamily="34" charset="0"/>
              </a:rPr>
            </a:br>
            <a:endParaRPr lang="en-US" sz="2800" dirty="0">
              <a:cs typeface="Arial" pitchFamily="34" charset="0"/>
            </a:endParaRPr>
          </a:p>
          <a:p>
            <a:pPr marL="913257" lvl="1" indent="-4572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>
                <a:cs typeface="Arial" pitchFamily="34" charset="0"/>
              </a:rPr>
              <a:t>&lt;</a:t>
            </a:r>
            <a:r>
              <a:rPr lang="en-US" sz="3200" dirty="0" err="1">
                <a:cs typeface="Arial" pitchFamily="34" charset="0"/>
              </a:rPr>
              <a:t>em</a:t>
            </a:r>
            <a:r>
              <a:rPr lang="en-US" sz="3200" dirty="0">
                <a:cs typeface="Arial" pitchFamily="34" charset="0"/>
              </a:rPr>
              <a:t>&gt;&lt;/</a:t>
            </a:r>
            <a:r>
              <a:rPr lang="en-US" sz="3200" dirty="0" err="1">
                <a:cs typeface="Arial" pitchFamily="34" charset="0"/>
              </a:rPr>
              <a:t>em</a:t>
            </a:r>
            <a:r>
              <a:rPr lang="en-US" sz="3200" dirty="0">
                <a:cs typeface="Arial" pitchFamily="34" charset="0"/>
              </a:rPr>
              <a:t>&gt;</a:t>
            </a:r>
          </a:p>
          <a:p>
            <a:pPr marL="739521" lvl="2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2600" dirty="0">
                <a:cs typeface="Arial" pitchFamily="34" charset="0"/>
              </a:rPr>
              <a:t>Text has emphasis and is displayed in italic font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1572EB-3208-4AB5-BB07-04AF269E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358775-F371-4B02-B2A2-4D0ACA44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89E224-D012-411A-BA44-0BD33CAAD64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9AA39D34-5F52-4701-99C4-7DE71AFEBE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914400"/>
            <a:ext cx="7391400" cy="4038600"/>
          </a:xfrm>
        </p:spPr>
        <p:txBody>
          <a:bodyPr/>
          <a:lstStyle/>
          <a:p>
            <a:pPr marL="365125" indent="-282575" eaLnBrk="1" hangingPunct="1">
              <a:buFont typeface="Wingdings 2" panose="05020102010507070707" pitchFamily="18" charset="2"/>
              <a:buChar char=""/>
              <a:defRPr/>
            </a:pPr>
            <a:r>
              <a:rPr lang="en-US" altLang="en-US" sz="2800"/>
              <a:t>Indicate the context and meaning of the text</a:t>
            </a:r>
            <a:br>
              <a:rPr lang="en-US" altLang="en-US" sz="2800">
                <a:cs typeface="Times New Roman" panose="02020603050405020304" pitchFamily="18" charset="0"/>
              </a:rPr>
            </a:br>
            <a:endParaRPr lang="en-US" altLang="en-US" sz="2800">
              <a:cs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720EA9C7-D3AF-4558-A390-064DAA38B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350"/>
            <a:ext cx="77724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Phrase Elements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6149F8-3934-4DCC-9C85-0D789EB961BE}"/>
              </a:ext>
            </a:extLst>
          </p:cNvPr>
          <p:cNvGraphicFramePr>
            <a:graphicFrameLocks noGrp="1"/>
          </p:cNvGraphicFramePr>
          <p:nvPr/>
        </p:nvGraphicFramePr>
        <p:xfrm>
          <a:off x="118782" y="1676400"/>
          <a:ext cx="8923106" cy="4648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2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Element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Example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Usage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&lt;b&gt;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bold text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Text that has no extra importance but is styled in bold font by usage and convention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&lt;</a:t>
                      </a:r>
                      <a:r>
                        <a:rPr lang="en-US" sz="2000" dirty="0" err="1">
                          <a:effectLst/>
                        </a:rPr>
                        <a:t>em</a:t>
                      </a:r>
                      <a:r>
                        <a:rPr lang="en-US" sz="2000" dirty="0">
                          <a:effectLst/>
                        </a:rPr>
                        <a:t>&gt;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emphasized text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Causes text to be emphasized in relation to other text; usually displayed in italics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&lt;i&gt;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italicized text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Text that has no extra importance but is styled in italics by usage and convention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&lt;mark&gt;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highlight>
                            <a:srgbClr val="FFFF00"/>
                          </a:highlight>
                        </a:rPr>
                        <a:t>mark</a:t>
                      </a:r>
                      <a:r>
                        <a:rPr lang="en-US" sz="1400">
                          <a:effectLst/>
                        </a:rPr>
                        <a:t> text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Text that is highlighted in order to be easily referenced (HTML5 only)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&lt;small&gt;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small </a:t>
                      </a:r>
                      <a:r>
                        <a:rPr lang="en-US" sz="1400">
                          <a:effectLst/>
                        </a:rPr>
                        <a:t>text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Legal disclaimers and notices (“fine print”) displayed in small font-size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&lt;strong&gt;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strong text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Strong importance; causes text to stand out from surrounding text; usually displayed in bold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&lt;sub&gt;</a:t>
                      </a:r>
                      <a:endParaRPr lang="en-US" sz="32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-25000">
                          <a:effectLst/>
                        </a:rPr>
                        <a:t>sub</a:t>
                      </a:r>
                      <a:r>
                        <a:rPr lang="en-US" sz="1400">
                          <a:effectLst/>
                        </a:rPr>
                        <a:t> text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Displays a subscript as small text below the baseline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&lt;sup&gt;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30000">
                          <a:effectLst/>
                        </a:rPr>
                        <a:t>sup</a:t>
                      </a:r>
                      <a:r>
                        <a:rPr lang="en-US" sz="1400">
                          <a:effectLst/>
                        </a:rPr>
                        <a:t> text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Displays a superscript as small text above the baseline</a:t>
                      </a:r>
                      <a:endParaRPr lang="en-US" sz="3200" dirty="0">
                        <a:solidFill>
                          <a:srgbClr val="000000"/>
                        </a:solidFill>
                        <a:effectLst/>
                        <a:latin typeface="Optima"/>
                        <a:ea typeface="Times New Roman"/>
                        <a:cs typeface="Optim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893" name="Slide Number Placeholder 2">
            <a:extLst>
              <a:ext uri="{FF2B5EF4-FFF2-40B4-BE49-F238E27FC236}">
                <a16:creationId xmlns:a16="http://schemas.microsoft.com/office/drawing/2014/main" id="{927A1D28-F6FE-49F6-9A5A-2B9255E4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2686050" y="6356350"/>
            <a:ext cx="37719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fld id="{421F2944-9FC1-4700-B41F-565366030ACC}" type="slidenum">
              <a:rPr lang="en-US" altLang="en-US" sz="1100" smtClean="0">
                <a:solidFill>
                  <a:srgbClr val="4D4D4D"/>
                </a:solidFill>
              </a:rPr>
              <a:pPr algn="ctr"/>
              <a:t>9</a:t>
            </a:fld>
            <a:endParaRPr lang="en-US" altLang="en-US" sz="1100">
              <a:solidFill>
                <a:srgbClr val="4D4D4D"/>
              </a:solidFill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2814C055-B62C-413A-AAE1-0C9C4C90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985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Proper Nesting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46706B5-EE65-4BC7-8281-43DE16851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077200" cy="4572000"/>
          </a:xfrm>
        </p:spPr>
        <p:txBody>
          <a:bodyPr/>
          <a:lstStyle/>
          <a:p>
            <a:pPr marL="63500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/>
              <a:t>CODE:</a:t>
            </a:r>
          </a:p>
          <a:p>
            <a:pPr marL="63500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&lt;p&gt;&lt;i&gt;Call for a free quote for your web development needs: &lt;strong&gt;888.555.5555 &lt;/strong&gt;&lt;/i&gt;&lt;/p&gt;</a:t>
            </a:r>
          </a:p>
          <a:p>
            <a:pPr marL="63500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US" altLang="en-US"/>
          </a:p>
          <a:p>
            <a:pPr marL="63500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/>
              <a:t>BROWSER DISPLAY:</a:t>
            </a:r>
            <a:br>
              <a:rPr lang="en-US" altLang="en-US"/>
            </a:br>
            <a:endParaRPr lang="en-US" altLang="en-US"/>
          </a:p>
          <a:p>
            <a:pPr marL="63500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 i="1"/>
              <a:t>Call for a free quote for your web development needs: </a:t>
            </a:r>
            <a:r>
              <a:rPr lang="en-US" altLang="en-US" b="1" i="1"/>
              <a:t>888.555.5555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054C38B7-146D-47DD-8FC3-2E008B8A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947338E-588A-4687-AF6A-CC7FA9F2B172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2EED1C-90BA-4205-935B-C7BD61F5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6E2D4F4-FD6A-4D12-8248-29BC428F9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76263"/>
            <a:ext cx="7381875" cy="566737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HTML List Basics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C594584-5983-4549-8C41-7ADD1BF46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41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Unordered List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Description List (XHTML called it Definition List)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Ordered List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499965-F58E-4596-94B6-2A2418CC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590867-9495-483B-A3BF-2E7CE209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49D503-FCDC-496E-9ADB-B421B9017BFE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A1137C7-0DF3-430D-8513-ED89103B4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Unordered List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508B395-9B2C-4D3D-A222-4637DC6E64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458200" cy="5257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Displays information with bullet points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Unordered List Element</a:t>
            </a:r>
          </a:p>
          <a:p>
            <a:pPr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/>
              <a:t>	&lt;ul&gt;</a:t>
            </a:r>
            <a:br>
              <a:rPr lang="en-US" altLang="en-US"/>
            </a:br>
            <a:r>
              <a:rPr lang="en-US" altLang="en-US"/>
              <a:t>Contains the unordered list</a:t>
            </a:r>
          </a:p>
          <a:p>
            <a:pPr lvl="1" eaLnBrk="1" fontAlgn="auto" hangingPunct="1">
              <a:spcAft>
                <a:spcPts val="0"/>
              </a:spcAft>
              <a:buFont typeface="Verdana" panose="020B0604030504040204" pitchFamily="34" charset="0"/>
              <a:buNone/>
              <a:defRPr/>
            </a:pPr>
            <a:br>
              <a:rPr lang="en-US" altLang="en-US" sz="2400"/>
            </a:br>
            <a:endParaRPr lang="en-US" altLang="en-US" sz="240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List Item Element</a:t>
            </a:r>
            <a:br>
              <a:rPr lang="en-US" altLang="en-US"/>
            </a:br>
            <a:r>
              <a:rPr lang="en-US" altLang="en-US"/>
              <a:t>&lt;li&gt;</a:t>
            </a:r>
            <a:br>
              <a:rPr lang="en-US" altLang="en-US"/>
            </a:br>
            <a:r>
              <a:rPr lang="en-US" altLang="en-US"/>
              <a:t>Contains an item in the list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564F19-8F41-4223-AA94-731CD357B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E12D3-62CF-4D2C-A6EC-BCDB78A1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C3CAAC-1729-4887-9587-C8D786C04DF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32A7EC8-ADAB-4EE1-A34F-93799777B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Unordered List Example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7F8A558-B6F8-4FDA-A583-65597A622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&lt;h1&gt;My Favorite Colors&lt;/h1&gt;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&lt;ul&gt;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  &lt;li&gt;Blue&lt;/li&gt;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  &lt;li&gt;Teal&lt;/li&gt;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  &lt;li&gt;Red&lt;/li&gt;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&lt;/ul&gt;</a:t>
            </a:r>
          </a:p>
        </p:txBody>
      </p:sp>
      <p:pic>
        <p:nvPicPr>
          <p:cNvPr id="45060" name="Picture 5">
            <a:extLst>
              <a:ext uri="{FF2B5EF4-FFF2-40B4-BE49-F238E27FC236}">
                <a16:creationId xmlns:a16="http://schemas.microsoft.com/office/drawing/2014/main" id="{F61D886B-6520-40EB-83FD-08460E4CC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013" y="2743200"/>
            <a:ext cx="5016500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50F15D-C816-4674-8448-22B42D3B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B3DFF4-6D7B-40B8-AE01-3195B4E3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F9343F-7141-4AB9-8628-1F04B1C5063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BF317F2-14DD-451C-8E6B-3D142AFA1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Ordered List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DE5344D-C3B7-4F26-8F15-9D3B4915D6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553450" cy="480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Conveys information in an ordered fashion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Ordered List Element</a:t>
            </a:r>
          </a:p>
          <a:p>
            <a:pPr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/>
              <a:t>	&lt;ol&gt;</a:t>
            </a:r>
            <a:br>
              <a:rPr lang="en-US" altLang="en-US"/>
            </a:br>
            <a:r>
              <a:rPr lang="en-US" altLang="en-US"/>
              <a:t>Contains the ordered list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/>
              <a:t>type attribute determines</a:t>
            </a:r>
            <a:r>
              <a:rPr lang="en-US" altLang="en-US"/>
              <a:t> </a:t>
            </a:r>
            <a:r>
              <a:rPr lang="en-US" altLang="en-US" sz="2400"/>
              <a:t>numbering scheme of list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/>
              <a:t>default is numerals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List Item Element</a:t>
            </a:r>
            <a:br>
              <a:rPr lang="en-US" altLang="en-US"/>
            </a:br>
            <a:r>
              <a:rPr lang="en-US" altLang="en-US"/>
              <a:t>&lt;li&gt;</a:t>
            </a:r>
            <a:br>
              <a:rPr lang="en-US" altLang="en-US"/>
            </a:br>
            <a:r>
              <a:rPr lang="en-US" altLang="en-US"/>
              <a:t>Contains an item in the list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6FBB50-DC62-4959-92B8-18F2C808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6BB42B-CC99-4528-9A2A-A7AE12C9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F030E0-E114-4B8F-8496-77E0747D64C6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91A3388-35EA-408A-9FDC-080482F4B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Ordered List Example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6D66F05-E5DF-47B4-9AF3-0BBD61749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229600" cy="457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&lt;</a:t>
            </a:r>
            <a:r>
              <a:rPr lang="en-US" altLang="en-US" b="1" dirty="0" err="1">
                <a:latin typeface="Times New Roman" panose="02020603050405020304" pitchFamily="18" charset="0"/>
              </a:rPr>
              <a:t>ol</a:t>
            </a:r>
            <a:r>
              <a:rPr lang="en-US" altLang="en-US" b="1" dirty="0">
                <a:latin typeface="Times New Roman" panose="02020603050405020304" pitchFamily="18" charset="0"/>
              </a:rPr>
              <a:t>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  &lt;li&gt;Apply to school&lt;/li&gt;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  &lt;li&gt;Register for course&lt;/li&gt;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  &lt;li&gt;Pay tuition&lt;/li&gt;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  &lt;li&gt;Attend course&lt;/li&gt;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 &lt;/</a:t>
            </a:r>
            <a:r>
              <a:rPr lang="en-US" altLang="en-US" b="1" dirty="0" err="1">
                <a:latin typeface="Times New Roman" panose="02020603050405020304" pitchFamily="18" charset="0"/>
              </a:rPr>
              <a:t>ol</a:t>
            </a:r>
            <a:r>
              <a:rPr lang="en-US" altLang="en-US" b="1" dirty="0">
                <a:latin typeface="Times New Roman" panose="02020603050405020304" pitchFamily="18" charset="0"/>
              </a:rPr>
              <a:t>&gt;</a:t>
            </a:r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D149D5AF-B8BD-4732-BF80-6CF85EC39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3886200"/>
            <a:ext cx="4014788" cy="2171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5BCBFE-2693-4D9B-AFB2-CCFFB9A2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25B2C-0BE4-4A14-AEB8-0DE3CAC6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2BB8BF-CD72-41B5-80A6-0097E1091F18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782AD75-4DAD-4FAA-9440-19E515674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98588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Description List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B838796-C762-4428-8756-A508E1682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534400" cy="5486400"/>
          </a:xfrm>
        </p:spPr>
        <p:txBody>
          <a:bodyPr>
            <a:normAutofit lnSpcReduction="10000"/>
          </a:bodyPr>
          <a:lstStyle/>
          <a:p>
            <a:pPr marL="539496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Formerly called a definition list in XHTML and HTML 4.0</a:t>
            </a:r>
          </a:p>
          <a:p>
            <a:pPr marL="539496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800" dirty="0"/>
              <a:t>Uses: </a:t>
            </a:r>
          </a:p>
          <a:p>
            <a:pPr marL="799846" lvl="1" indent="-3429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/>
              <a:t>Display a list of terms and descriptions </a:t>
            </a:r>
          </a:p>
          <a:p>
            <a:pPr marL="799846" lvl="1" indent="-34290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/>
              <a:t>Display a list of FAQ and answers</a:t>
            </a:r>
            <a:br>
              <a:rPr lang="en-US" sz="2400" dirty="0"/>
            </a:br>
            <a:endParaRPr lang="en-US" sz="2400" dirty="0"/>
          </a:p>
          <a:p>
            <a:pPr marL="557784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The Description List element</a:t>
            </a:r>
            <a:br>
              <a:rPr lang="en-US" dirty="0"/>
            </a:br>
            <a:r>
              <a:rPr lang="en-US" dirty="0"/>
              <a:t>&lt;dl&gt;   </a:t>
            </a:r>
            <a:r>
              <a:rPr lang="en-US" sz="2700" dirty="0"/>
              <a:t>Contains the definition list</a:t>
            </a:r>
            <a:br>
              <a:rPr lang="en-US" sz="2700" dirty="0"/>
            </a:br>
            <a:endParaRPr lang="en-US" sz="2700" dirty="0"/>
          </a:p>
          <a:p>
            <a:pPr marL="557784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The dt Element</a:t>
            </a:r>
            <a:br>
              <a:rPr lang="en-US" dirty="0"/>
            </a:br>
            <a:r>
              <a:rPr lang="en-US" dirty="0"/>
              <a:t>&lt;dt</a:t>
            </a:r>
            <a:r>
              <a:rPr lang="en-US" sz="2700" dirty="0"/>
              <a:t>&gt;  Contains a term or name</a:t>
            </a:r>
            <a:br>
              <a:rPr lang="en-US" sz="2700" dirty="0"/>
            </a:br>
            <a:endParaRPr lang="en-US" sz="2700" dirty="0"/>
          </a:p>
          <a:p>
            <a:pPr marL="557784" indent="-45720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/>
              <a:t>The dd Element</a:t>
            </a:r>
            <a:br>
              <a:rPr lang="en-US" dirty="0"/>
            </a:br>
            <a:r>
              <a:rPr lang="en-US" dirty="0"/>
              <a:t>&lt;dd</a:t>
            </a:r>
            <a:r>
              <a:rPr lang="en-US" sz="2700" dirty="0"/>
              <a:t>&gt;  Contains a definition or description of term</a:t>
            </a:r>
            <a:br>
              <a:rPr lang="en-US" sz="2700" dirty="0"/>
            </a:br>
            <a:r>
              <a:rPr lang="en-US" sz="2700" dirty="0"/>
              <a:t>Indents the text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F145C0-48AB-463E-9E64-E453F8058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823CB-72D0-40B5-B8AA-7EFEB257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DBA9C-DB2B-4E8D-B71B-05916EEDB959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5E5FE6A-6864-432B-961A-F393C21A7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Description List Example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0D13026-113B-4384-930A-88EF448888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7620000" cy="5257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800" b="1">
                <a:latin typeface="Times New Roman" panose="02020603050405020304" pitchFamily="18" charset="0"/>
              </a:rPr>
              <a:t>&lt;dl&gt;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800" b="1">
                <a:latin typeface="Times New Roman" panose="02020603050405020304" pitchFamily="18" charset="0"/>
              </a:rPr>
              <a:t>   &lt;dt&gt;IP&lt;/dt&gt;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800" b="1">
                <a:latin typeface="Times New Roman" panose="02020603050405020304" pitchFamily="18" charset="0"/>
              </a:rPr>
              <a:t>        &lt;dd&gt;Internet Protocol&lt;/dd&gt;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800" b="1">
                <a:latin typeface="Times New Roman" panose="02020603050405020304" pitchFamily="18" charset="0"/>
              </a:rPr>
              <a:t>    &lt;dt&gt;TCP&lt;/dt&gt;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800" b="1">
                <a:latin typeface="Times New Roman" panose="02020603050405020304" pitchFamily="18" charset="0"/>
              </a:rPr>
              <a:t>         &lt;dd&gt;Transmission Control Protocol&lt;/dd&gt;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800" b="1">
                <a:latin typeface="Times New Roman" panose="02020603050405020304" pitchFamily="18" charset="0"/>
              </a:rPr>
              <a:t>&lt;/dl&gt;</a:t>
            </a:r>
          </a:p>
        </p:txBody>
      </p:sp>
      <p:pic>
        <p:nvPicPr>
          <p:cNvPr id="53252" name="Picture 4">
            <a:extLst>
              <a:ext uri="{FF2B5EF4-FFF2-40B4-BE49-F238E27FC236}">
                <a16:creationId xmlns:a16="http://schemas.microsoft.com/office/drawing/2014/main" id="{3B36C65B-DEE0-4B33-B723-1BB02685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267200"/>
            <a:ext cx="4878388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744E0D-0767-471F-BAE7-5DD72BE1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186FC4-CC44-4CBF-AB80-CB84E7AD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5AFA3-4EC1-44E2-8340-852509BB73D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59E38DCC-1BFF-4430-8A12-D544151FB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633663"/>
            <a:ext cx="4495800" cy="3429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77DEF1BE-6428-4850-9A83-CEFAF57D0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Special Entity Characters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AB76D232-BAEA-4F3B-B339-F02A8D143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3197" y="1524000"/>
            <a:ext cx="8610600" cy="4114800"/>
          </a:xfrm>
        </p:spPr>
        <p:txBody>
          <a:bodyPr/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>
                <a:cs typeface="Times New Roman" pitchFamily="18" charset="0"/>
              </a:rPr>
              <a:t>Display special characters such as quotes, copyright symbol, etc. </a:t>
            </a:r>
            <a:br>
              <a:rPr lang="en-US" sz="2800" dirty="0">
                <a:cs typeface="Times New Roman" pitchFamily="18" charset="0"/>
              </a:rPr>
            </a:br>
            <a:endParaRPr lang="en-US" sz="2800" dirty="0">
              <a:cs typeface="Times New Roman" pitchFamily="18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cs typeface="Times New Roman" pitchFamily="18" charset="0"/>
              </a:rPr>
              <a:t>		</a:t>
            </a:r>
            <a:r>
              <a:rPr lang="en-US" dirty="0">
                <a:cs typeface="Times New Roman" pitchFamily="18" charset="0"/>
              </a:rPr>
              <a:t>Character     	Code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cs typeface="Arial" pitchFamily="34" charset="0"/>
              </a:rPr>
              <a:t>		      © 		           &amp;copy;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cs typeface="Arial" pitchFamily="34" charset="0"/>
              </a:rPr>
              <a:t>		      &lt;                	&amp;</a:t>
            </a:r>
            <a:r>
              <a:rPr lang="en-US" dirty="0" err="1">
                <a:cs typeface="Arial" pitchFamily="34" charset="0"/>
              </a:rPr>
              <a:t>lt</a:t>
            </a:r>
            <a:r>
              <a:rPr lang="en-US" dirty="0">
                <a:cs typeface="Arial" pitchFamily="34" charset="0"/>
              </a:rPr>
              <a:t>;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cs typeface="Arial" pitchFamily="34" charset="0"/>
              </a:rPr>
              <a:t>		      &gt;                	&amp;</a:t>
            </a:r>
            <a:r>
              <a:rPr lang="en-US" dirty="0" err="1">
                <a:cs typeface="Arial" pitchFamily="34" charset="0"/>
              </a:rPr>
              <a:t>gt</a:t>
            </a:r>
            <a:r>
              <a:rPr lang="en-US" dirty="0">
                <a:cs typeface="Arial" pitchFamily="34" charset="0"/>
              </a:rPr>
              <a:t>;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cs typeface="Arial" pitchFamily="34" charset="0"/>
              </a:rPr>
              <a:t>		      &amp;	       		&amp;amp;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>
                <a:cs typeface="Arial" pitchFamily="34" charset="0"/>
              </a:rPr>
              <a:t>			       		&amp;</a:t>
            </a:r>
            <a:r>
              <a:rPr lang="en-US" dirty="0" err="1">
                <a:cs typeface="Arial" pitchFamily="34" charset="0"/>
              </a:rPr>
              <a:t>nbsp</a:t>
            </a:r>
            <a:r>
              <a:rPr lang="en-US" dirty="0">
                <a:cs typeface="Arial" pitchFamily="34" charset="0"/>
              </a:rPr>
              <a:t>;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>
              <a:cs typeface="Arial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>
              <a:cs typeface="Arial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683642-1482-4C20-9557-B49CD0C88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7D2CA-9D9C-45D3-A5F1-2A7F50BD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25A7B-BF2E-4DBC-9D9F-7BD5C70A1DB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EAE374AC-D061-410F-A72E-A9D95981A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0" y="228600"/>
            <a:ext cx="5470525" cy="8382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div element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&lt;div&gt;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5ADEB5F-043D-4068-887D-5505E06AC1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7848600" cy="457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Times New Roman" panose="02020603050405020304" pitchFamily="18" charset="0"/>
              </a:rPr>
              <a:t>Purpose: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cs typeface="Times New Roman" panose="02020603050405020304" pitchFamily="18" charset="0"/>
              </a:rPr>
              <a:t>Configure a specially formatted division or area of a web page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en-US" sz="2400"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Times New Roman" panose="02020603050405020304" pitchFamily="18" charset="0"/>
              </a:rPr>
              <a:t>Block display with  empty space above and below the div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2800"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Times New Roman" panose="02020603050405020304" pitchFamily="18" charset="0"/>
              </a:rPr>
              <a:t>Can contain other block display and inline display elements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en-US" sz="2400">
              <a:cs typeface="Times New Roman" panose="02020603050405020304" pitchFamily="18" charset="0"/>
            </a:endParaRPr>
          </a:p>
        </p:txBody>
      </p:sp>
      <p:sp>
        <p:nvSpPr>
          <p:cNvPr id="57348" name="Slide Number Placeholder 5">
            <a:extLst>
              <a:ext uri="{FF2B5EF4-FFF2-40B4-BE49-F238E27FC236}">
                <a16:creationId xmlns:a16="http://schemas.microsoft.com/office/drawing/2014/main" id="{4947A246-AEE2-436F-A2F1-A8ED511F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CEC15CF-0151-42C0-A1B5-DBA01C88FC6B}" type="slidenum">
              <a:rPr lang="en-US" altLang="en-US" sz="1200" smtClean="0"/>
              <a:pPr/>
              <a:t>19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7E4645-6D77-40A4-8AAE-1A2D395D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AFE892-26C3-4037-91E2-A00BD421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D747D0-7DDB-49BC-9C4A-4CE811EC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92D78E-0019-40BD-8EE7-286CE221E161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E65A7-F362-446A-BF18-2709ACC2FCD4}"/>
              </a:ext>
            </a:extLst>
          </p:cNvPr>
          <p:cNvSpPr/>
          <p:nvPr/>
        </p:nvSpPr>
        <p:spPr>
          <a:xfrm>
            <a:off x="228600" y="136525"/>
            <a:ext cx="838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The &lt;div&gt; tag in HTML5 is a versatile container used to group and structure content on a web page. Its primary purposes include: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Grouping Content: </a:t>
            </a:r>
            <a:r>
              <a:rPr lang="en-US" sz="1800" dirty="0"/>
              <a:t>The &lt;div&gt; tag is often used to group related elements together, making it easier to apply styles or manipulate the group as a single unit using CSS or JavaScript.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Layout and Structure:</a:t>
            </a:r>
            <a:r>
              <a:rPr lang="en-US" sz="1800" dirty="0"/>
              <a:t> It helps in creating the layout of a webpage by dividing it into sections, such as headers, footers, sidebars, and main content areas. This improves the organization and readability of the code.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Styling: </a:t>
            </a:r>
            <a:r>
              <a:rPr lang="en-US" sz="1800" dirty="0"/>
              <a:t>By assigning classes or IDs to &lt;div&gt; elements, you can apply specific styles using CSS. This allows for consistent and reusable styling across different parts of the webpage.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JavaScript Manipulation: </a:t>
            </a:r>
            <a:r>
              <a:rPr lang="en-US" sz="1800" dirty="0"/>
              <a:t>&lt;div&gt; elements can be targeted and manipulated using JavaScript, enabling dynamic changes to the content or behavior of the webpage.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Semantic Neutrality: </a:t>
            </a:r>
            <a:r>
              <a:rPr lang="en-US" sz="1800" dirty="0"/>
              <a:t>Unlike semantic elements like &lt;header&gt;, &lt;footer&gt;, or &lt;article&gt;, the &lt;div&gt; tag does not convey any specific meaning about its content. This makes it a flexible tool for structuring content without implying any particular semantic role.</a:t>
            </a:r>
          </a:p>
        </p:txBody>
      </p:sp>
    </p:spTree>
    <p:extLst>
      <p:ext uri="{BB962C8B-B14F-4D97-AF65-F5344CB8AC3E}">
        <p14:creationId xmlns:p14="http://schemas.microsoft.com/office/powerpoint/2010/main" val="70777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F0A6D0-7053-4581-9D2F-ED14C651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F10354-9443-41B9-81CB-D6658AEB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92D78E-0019-40BD-8EE7-286CE221E16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A5894-B724-4A80-B33D-5AA4787110F7}"/>
              </a:ext>
            </a:extLst>
          </p:cNvPr>
          <p:cNvSpPr/>
          <p:nvPr/>
        </p:nvSpPr>
        <p:spPr>
          <a:xfrm>
            <a:off x="611717" y="2383928"/>
            <a:ext cx="7620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&lt;div class="header"&gt;</a:t>
            </a:r>
          </a:p>
          <a:p>
            <a:r>
              <a:rPr lang="en-US" dirty="0"/>
              <a:t>  &lt;h1&gt;Welcome to My Website&lt;/h1&gt;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  <a:p>
            <a:r>
              <a:rPr lang="en-US" dirty="0"/>
              <a:t>&lt;div class="main-content"&gt;</a:t>
            </a:r>
          </a:p>
          <a:p>
            <a:r>
              <a:rPr lang="en-US" dirty="0"/>
              <a:t>  &lt;p&gt;This is the main content area.&lt;/p&gt;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  <a:p>
            <a:r>
              <a:rPr lang="en-US" dirty="0"/>
              <a:t>&lt;div class="footer"&gt;</a:t>
            </a:r>
          </a:p>
          <a:p>
            <a:r>
              <a:rPr lang="en-US" dirty="0"/>
              <a:t>  &lt;p&gt;Copyright © 2023&lt;/p&gt;</a:t>
            </a:r>
          </a:p>
          <a:p>
            <a:r>
              <a:rPr lang="en-US" dirty="0"/>
              <a:t>&lt;/div&gt;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DECD07-C65E-40F9-8214-F22DB9D1186D}"/>
              </a:ext>
            </a:extLst>
          </p:cNvPr>
          <p:cNvSpPr/>
          <p:nvPr/>
        </p:nvSpPr>
        <p:spPr>
          <a:xfrm>
            <a:off x="304800" y="136525"/>
            <a:ext cx="8534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this example, the &lt;div&gt; tags are used to create distinct sections of the webpage, which can then be styled or manipulated as needed.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While HTML5 introduced semantic elements for better structure, the &lt;div&gt; tag remains widely used for its flexibility and simplicity.</a:t>
            </a:r>
          </a:p>
        </p:txBody>
      </p:sp>
    </p:spTree>
    <p:extLst>
      <p:ext uri="{BB962C8B-B14F-4D97-AF65-F5344CB8AC3E}">
        <p14:creationId xmlns:p14="http://schemas.microsoft.com/office/powerpoint/2010/main" val="2596669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EE12B63-E63B-41E7-8C58-F4414D30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HTML5 Structural Elements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CA387054-CD20-42BA-88D8-F1209D984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7162800" cy="5867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/>
              <a:t>Header Element</a:t>
            </a:r>
          </a:p>
          <a:p>
            <a:pPr marL="447675" lvl="1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&lt;header&gt;&lt;/header&gt;</a:t>
            </a:r>
            <a:br>
              <a:rPr lang="en-US" altLang="en-US" sz="2400"/>
            </a:br>
            <a:r>
              <a:rPr lang="en-US" altLang="en-US"/>
              <a:t>Contains the headings</a:t>
            </a:r>
            <a:br>
              <a:rPr lang="en-US" altLang="en-US"/>
            </a:br>
            <a:endParaRPr lang="en-US" altLang="en-US" sz="80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/>
              <a:t>Nav Element</a:t>
            </a:r>
          </a:p>
          <a:p>
            <a:pPr marL="447675" lvl="1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&lt;nav&gt;&lt;/nav&gt;</a:t>
            </a:r>
            <a:br>
              <a:rPr lang="en-US" altLang="en-US" sz="2400"/>
            </a:br>
            <a:r>
              <a:rPr lang="en-US" altLang="en-US"/>
              <a:t>Contains the main navigation</a:t>
            </a:r>
            <a:br>
              <a:rPr lang="en-US" altLang="en-US"/>
            </a:br>
            <a:endParaRPr lang="en-US" altLang="en-US" sz="80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/>
              <a:t>Main Element</a:t>
            </a:r>
          </a:p>
          <a:p>
            <a:pPr marL="447675" lvl="1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&lt;main&gt;&lt;/main&gt;</a:t>
            </a:r>
            <a:br>
              <a:rPr lang="en-US" altLang="en-US" sz="2400"/>
            </a:br>
            <a:r>
              <a:rPr lang="en-US" altLang="en-US"/>
              <a:t>Contains the main content</a:t>
            </a:r>
            <a:endParaRPr lang="en-US" altLang="en-US" sz="800"/>
          </a:p>
          <a:p>
            <a:pPr marL="447675" lvl="1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US" altLang="en-US" sz="80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/>
              <a:t>Footer Element</a:t>
            </a:r>
          </a:p>
          <a:p>
            <a:pPr marL="447675" lvl="1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&lt;footer&gt;&lt;/footer&gt;</a:t>
            </a:r>
            <a:br>
              <a:rPr lang="en-US" altLang="en-US"/>
            </a:br>
            <a:r>
              <a:rPr lang="en-US" altLang="en-US"/>
              <a:t>Contains the  footer</a:t>
            </a:r>
            <a:br>
              <a:rPr lang="en-US" altLang="en-US"/>
            </a:br>
            <a:endParaRPr lang="en-US" altLang="en-US" sz="1200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12D74936-381F-4742-8BF8-5AC2301A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4EB6346-755C-48E0-A422-86A20ED66D98}" type="slidenum">
              <a:rPr lang="en-US" altLang="en-US" sz="1200" smtClean="0"/>
              <a:pPr/>
              <a:t>22</a:t>
            </a:fld>
            <a:endParaRPr lang="en-US" altLang="en-US" sz="1200"/>
          </a:p>
        </p:txBody>
      </p:sp>
      <p:pic>
        <p:nvPicPr>
          <p:cNvPr id="59397" name="Picture 2">
            <a:extLst>
              <a:ext uri="{FF2B5EF4-FFF2-40B4-BE49-F238E27FC236}">
                <a16:creationId xmlns:a16="http://schemas.microsoft.com/office/drawing/2014/main" id="{9907AB2B-C622-43A7-93FB-6A5AA4D32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994150" cy="38592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7A6FA9-E132-4608-A300-FBF6083464ED}"/>
              </a:ext>
            </a:extLst>
          </p:cNvPr>
          <p:cNvSpPr/>
          <p:nvPr/>
        </p:nvSpPr>
        <p:spPr>
          <a:xfrm>
            <a:off x="5638800" y="3124200"/>
            <a:ext cx="838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F3B5CB-3582-41F8-9766-F3EEE3451586}"/>
              </a:ext>
            </a:extLst>
          </p:cNvPr>
          <p:cNvSpPr/>
          <p:nvPr/>
        </p:nvSpPr>
        <p:spPr>
          <a:xfrm>
            <a:off x="5022850" y="2565400"/>
            <a:ext cx="858838" cy="244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91603-0B32-4FA2-BDF9-1556357B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CA2B7A-0842-409B-89CB-0C291A1C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4B9B5-8E09-49EB-9139-13D3A11B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92D78E-0019-40BD-8EE7-286CE221E16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CF656-CDBE-4DBF-9CC6-89B1FE64CA80}"/>
              </a:ext>
            </a:extLst>
          </p:cNvPr>
          <p:cNvSpPr/>
          <p:nvPr/>
        </p:nvSpPr>
        <p:spPr>
          <a:xfrm>
            <a:off x="152400" y="92537"/>
            <a:ext cx="86106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</a:rPr>
              <a:t>The &lt;nav&gt; tag in HTML5 is a semantic element </a:t>
            </a:r>
            <a:r>
              <a:rPr lang="en-US" sz="1800" dirty="0"/>
              <a:t>used to define a section of a webpage that contains navigation links.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/>
              <a:t>Its primary purpose is to provide a clear and meaningful way to mark up navigation menus, making it easier for both developers and assistive technologies (like screen readers) to understand the structure and purpose of the content.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Key Purposes of the &lt;nav&gt; Tag:   Semantic Meaning:  </a:t>
            </a:r>
          </a:p>
          <a:p>
            <a:r>
              <a:rPr lang="en-US" sz="1800" dirty="0"/>
              <a:t>The &lt;nav&gt; tag explicitly indicates that the enclosed content is for navigation purposes. </a:t>
            </a:r>
          </a:p>
          <a:p>
            <a:r>
              <a:rPr lang="en-US" sz="1800" dirty="0"/>
              <a:t>This improves the readability and maintainability of the code.</a:t>
            </a:r>
          </a:p>
          <a:p>
            <a:r>
              <a:rPr lang="en-US" sz="1800" dirty="0"/>
              <a:t>It helps search engines and assistive technologies identify the navigation section of a webpage.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Accessibility:</a:t>
            </a:r>
          </a:p>
          <a:p>
            <a:r>
              <a:rPr lang="en-US" sz="1800" dirty="0"/>
              <a:t>Screen readers and other assistive technologies can use the &lt;nav&gt; tag to help users quickly locate and navigate through the main links on a page.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Organization:</a:t>
            </a:r>
          </a:p>
          <a:p>
            <a:r>
              <a:rPr lang="en-US" sz="1800" dirty="0"/>
              <a:t>It groups related navigation links (e.g., menus, tables of contents, or site maps) into a single block, making the structure of the webpage more organized.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Styling and Scripting:</a:t>
            </a:r>
          </a:p>
          <a:p>
            <a:r>
              <a:rPr lang="en-US" sz="1800" dirty="0"/>
              <a:t>Like other HTML elements, the &lt;nav&gt; tag can be styled using CSS and manipulated using JavaScript, allowing for custom designs and interactive features.</a:t>
            </a:r>
          </a:p>
        </p:txBody>
      </p:sp>
    </p:spTree>
    <p:extLst>
      <p:ext uri="{BB962C8B-B14F-4D97-AF65-F5344CB8AC3E}">
        <p14:creationId xmlns:p14="http://schemas.microsoft.com/office/powerpoint/2010/main" val="2758976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CE7045-8A15-444B-BA84-514753DC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BE6FAA-1247-494D-A2FF-F70824FA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92D78E-0019-40BD-8EE7-286CE221E16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40250F-8A01-45B6-9597-5003F43B2883}"/>
              </a:ext>
            </a:extLst>
          </p:cNvPr>
          <p:cNvSpPr/>
          <p:nvPr/>
        </p:nvSpPr>
        <p:spPr>
          <a:xfrm>
            <a:off x="266700" y="136525"/>
            <a:ext cx="86106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to Use the &lt;nav&gt; Tag:</a:t>
            </a:r>
          </a:p>
          <a:p>
            <a:r>
              <a:rPr lang="en-US" dirty="0"/>
              <a:t>Use the &lt;nav&gt; tag for major navigation blocks,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Main website menus (e.g., links to Home, About, Contact, etc.).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Tables of contents.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Pagination controls.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Sidebar navigation menus.</a:t>
            </a:r>
          </a:p>
          <a:p>
            <a:r>
              <a:rPr lang="en-US" dirty="0"/>
              <a:t>Note: Avoid using the &lt;nav&gt; tag for minor or incidental links (e.g., a single link in the footer). For such cases, a &lt;div&gt; or &lt;span&gt; is more appropriate.</a:t>
            </a:r>
          </a:p>
          <a:p>
            <a:r>
              <a:rPr lang="en-US" dirty="0"/>
              <a:t>A webpage can have multiple &lt;nav&gt; elements if there are multiple navigation sections (e.g., a main menu and a footer menu).</a:t>
            </a:r>
          </a:p>
          <a:p>
            <a:r>
              <a:rPr lang="en-US" dirty="0"/>
              <a:t>The &lt;nav&gt; tag is a semantic element, so it does not inherently apply any visual styling. You need to use CSS to style it.</a:t>
            </a:r>
          </a:p>
          <a:p>
            <a:r>
              <a:rPr lang="en-US" dirty="0"/>
              <a:t>By using the &lt;nav&gt; tag, you create a more accessible, structured, and meaningful HTML document, which benefits both users and developers.</a:t>
            </a:r>
          </a:p>
        </p:txBody>
      </p:sp>
    </p:spTree>
    <p:extLst>
      <p:ext uri="{BB962C8B-B14F-4D97-AF65-F5344CB8AC3E}">
        <p14:creationId xmlns:p14="http://schemas.microsoft.com/office/powerpoint/2010/main" val="3851893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E04B7B-0422-4A3A-99C2-8FE18178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380B8-DC91-4CD9-A0C5-8D2E58C2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92D78E-0019-40BD-8EE7-286CE221E16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9B72BA-C03C-404B-B381-73BE48D40FEE}"/>
              </a:ext>
            </a:extLst>
          </p:cNvPr>
          <p:cNvSpPr/>
          <p:nvPr/>
        </p:nvSpPr>
        <p:spPr>
          <a:xfrm>
            <a:off x="533400" y="838200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&lt;nav&gt;</a:t>
            </a:r>
          </a:p>
          <a:p>
            <a:r>
              <a:rPr lang="it-IT" dirty="0"/>
              <a:t>  &lt;ul&gt;</a:t>
            </a:r>
          </a:p>
          <a:p>
            <a:r>
              <a:rPr lang="it-IT" dirty="0"/>
              <a:t>    &lt;li&gt;&lt;a href="/"&gt;Home&lt;/a&gt;&lt;/li&gt;</a:t>
            </a:r>
          </a:p>
          <a:p>
            <a:r>
              <a:rPr lang="it-IT" dirty="0"/>
              <a:t>    &lt;li&gt;&lt;a href="/about"&gt;About&lt;/a&gt;&lt;/li&gt;</a:t>
            </a:r>
          </a:p>
          <a:p>
            <a:r>
              <a:rPr lang="it-IT" dirty="0"/>
              <a:t>    &lt;li&gt;&lt;a href="/services"&gt;Services&lt;/a&gt;&lt;/li&gt;</a:t>
            </a:r>
          </a:p>
          <a:p>
            <a:r>
              <a:rPr lang="it-IT" dirty="0"/>
              <a:t>    &lt;li&gt;&lt;a href="/contact"&gt;Contact&lt;/a&gt;&lt;/li&gt;</a:t>
            </a:r>
          </a:p>
          <a:p>
            <a:r>
              <a:rPr lang="it-IT" dirty="0"/>
              <a:t>  &lt;/ul&gt;</a:t>
            </a:r>
          </a:p>
          <a:p>
            <a:r>
              <a:rPr lang="it-IT" dirty="0"/>
              <a:t>&lt;/nav&gt;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4B5DA-158A-48B2-8CE9-9A0E58B76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48" y="1143000"/>
            <a:ext cx="2824102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82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0999E5FB-6C58-4F08-B514-1F9F89F5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HTML5 Structural Elements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9A428796-59F4-474B-ACD9-AF21BF619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069" y="762000"/>
            <a:ext cx="4114800" cy="5867400"/>
          </a:xfr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2"/>
                </a:solidFill>
              </a:rPr>
              <a:t>header Element</a:t>
            </a:r>
          </a:p>
          <a:p>
            <a:pPr marL="447675" lvl="1" indent="0">
              <a:buFont typeface="Wingdings 2" pitchFamily="18" charset="2"/>
              <a:buNone/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&lt;header&gt;&lt;/header&gt;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Contains the web page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document’s headings</a:t>
            </a:r>
          </a:p>
          <a:p>
            <a:pPr>
              <a:defRPr/>
            </a:pPr>
            <a:r>
              <a:rPr lang="en-US" dirty="0">
                <a:solidFill>
                  <a:schemeClr val="bg2"/>
                </a:solidFill>
              </a:rPr>
              <a:t>nav Element</a:t>
            </a:r>
          </a:p>
          <a:p>
            <a:pPr marL="447675" lvl="1" indent="0">
              <a:buFont typeface="Wingdings 2" pitchFamily="18" charset="2"/>
              <a:buNone/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&lt;nav&gt;&lt;/nav&gt;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Contains web page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document’s main navigation</a:t>
            </a:r>
          </a:p>
          <a:p>
            <a:pPr marL="390525" indent="-342900">
              <a:defRPr/>
            </a:pPr>
            <a:r>
              <a:rPr lang="en-US" dirty="0">
                <a:solidFill>
                  <a:schemeClr val="bg2"/>
                </a:solidFill>
              </a:rPr>
              <a:t>main Element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&lt;main&gt;&lt;/main&gt;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Contains the web page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document’s main content</a:t>
            </a:r>
          </a:p>
          <a:p>
            <a:pPr>
              <a:defRPr/>
            </a:pPr>
            <a:r>
              <a:rPr lang="en-US" dirty="0">
                <a:solidFill>
                  <a:schemeClr val="bg2"/>
                </a:solidFill>
              </a:rPr>
              <a:t>footer Element</a:t>
            </a:r>
          </a:p>
          <a:p>
            <a:pPr marL="447675" lvl="1" indent="0">
              <a:buFont typeface="Wingdings 2" pitchFamily="18" charset="2"/>
              <a:buNone/>
              <a:defRPr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&lt;footer&gt;&lt;/footer&gt;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Contains the web page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document’s  footer</a:t>
            </a:r>
            <a:br>
              <a:rPr lang="en-US" sz="2400" dirty="0"/>
            </a:br>
            <a:endParaRPr lang="en-US" sz="1400" dirty="0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ABF9D305-542E-4D7B-873A-E11CA273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153400" y="6421438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fld id="{4F097B47-4F00-4B23-88A0-65A4B88BCFF9}" type="slidenum">
              <a:rPr lang="en-US" altLang="en-US" sz="1200" smtClean="0"/>
              <a:pPr algn="ctr"/>
              <a:t>26</a:t>
            </a:fld>
            <a:endParaRPr lang="en-US" altLang="en-US" sz="1200"/>
          </a:p>
        </p:txBody>
      </p:sp>
      <p:pic>
        <p:nvPicPr>
          <p:cNvPr id="60421" name="Picture 1">
            <a:extLst>
              <a:ext uri="{FF2B5EF4-FFF2-40B4-BE49-F238E27FC236}">
                <a16:creationId xmlns:a16="http://schemas.microsoft.com/office/drawing/2014/main" id="{ABF77F31-25B6-4DFF-B069-C417A0A3D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376396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D3E80AB7-B383-46E0-B1C1-50444535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8E462B7-BE77-459F-AB5E-14AA560448A0}" type="slidenum">
              <a:rPr lang="en-US" altLang="en-US" sz="1200" smtClean="0"/>
              <a:pPr/>
              <a:t>27</a:t>
            </a:fld>
            <a:endParaRPr lang="en-US" altLang="en-US" sz="1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54170-4208-4F6E-B3DC-EA7253C8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D8C0A9-8F4B-494E-B9C5-971E204ECB9F}"/>
              </a:ext>
            </a:extLst>
          </p:cNvPr>
          <p:cNvSpPr/>
          <p:nvPr/>
        </p:nvSpPr>
        <p:spPr>
          <a:xfrm>
            <a:off x="381000" y="352603"/>
            <a:ext cx="84582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&lt;body&gt;</a:t>
            </a:r>
          </a:p>
          <a:p>
            <a:r>
              <a:rPr lang="en-US" sz="1800" dirty="0"/>
              <a:t>&lt;header&gt;</a:t>
            </a:r>
          </a:p>
          <a:p>
            <a:r>
              <a:rPr lang="en-US" sz="1800" dirty="0"/>
              <a:t>  &lt;h1&gt;Trillium Media Design&lt;/h1&gt;</a:t>
            </a:r>
          </a:p>
          <a:p>
            <a:r>
              <a:rPr lang="en-US" sz="1800" dirty="0"/>
              <a:t>&lt;/header&gt;</a:t>
            </a:r>
          </a:p>
          <a:p>
            <a:r>
              <a:rPr lang="en-US" sz="1800" dirty="0"/>
              <a:t>&lt;nav&gt;</a:t>
            </a:r>
          </a:p>
          <a:p>
            <a:r>
              <a:rPr lang="en-US" sz="1800" dirty="0"/>
              <a:t>  &lt;b&gt;</a:t>
            </a:r>
          </a:p>
          <a:p>
            <a:r>
              <a:rPr lang="en-US" sz="1800" dirty="0"/>
              <a:t>     &lt;a </a:t>
            </a:r>
            <a:r>
              <a:rPr lang="en-US" sz="1800" dirty="0" err="1"/>
              <a:t>href</a:t>
            </a:r>
            <a:r>
              <a:rPr lang="en-US" sz="1800" dirty="0"/>
              <a:t>="index.html"&gt;Home&lt;/a&gt; &amp;</a:t>
            </a:r>
            <a:r>
              <a:rPr lang="en-US" sz="1800" dirty="0" err="1"/>
              <a:t>nbsp</a:t>
            </a:r>
            <a:r>
              <a:rPr lang="en-US" sz="1800" dirty="0"/>
              <a:t>; </a:t>
            </a:r>
          </a:p>
          <a:p>
            <a:r>
              <a:rPr lang="en-US" sz="1800" dirty="0"/>
              <a:t>     &lt;a </a:t>
            </a:r>
            <a:r>
              <a:rPr lang="en-US" sz="1800" dirty="0" err="1"/>
              <a:t>href</a:t>
            </a:r>
            <a:r>
              <a:rPr lang="en-US" sz="1800" dirty="0"/>
              <a:t>="services.html"&gt;Services&lt;/a&gt; &amp;</a:t>
            </a:r>
            <a:r>
              <a:rPr lang="en-US" sz="1800" dirty="0" err="1"/>
              <a:t>nbsp</a:t>
            </a:r>
            <a:r>
              <a:rPr lang="en-US" sz="1800" dirty="0"/>
              <a:t>; </a:t>
            </a:r>
          </a:p>
          <a:p>
            <a:r>
              <a:rPr lang="en-US" sz="1800" dirty="0"/>
              <a:t>	 &lt;a </a:t>
            </a:r>
            <a:r>
              <a:rPr lang="en-US" sz="1800" dirty="0" err="1"/>
              <a:t>href</a:t>
            </a:r>
            <a:r>
              <a:rPr lang="en-US" sz="1800" dirty="0"/>
              <a:t>="contact.html"&gt;Contact&lt;/a&gt;</a:t>
            </a:r>
          </a:p>
          <a:p>
            <a:r>
              <a:rPr lang="en-US" sz="1800" dirty="0"/>
              <a:t>  &lt;/b&gt;</a:t>
            </a:r>
          </a:p>
          <a:p>
            <a:r>
              <a:rPr lang="en-US" sz="1800" dirty="0"/>
              <a:t>&lt;/nav&gt;</a:t>
            </a:r>
          </a:p>
          <a:p>
            <a:r>
              <a:rPr lang="en-US" sz="1800" dirty="0"/>
              <a:t>&lt;main&gt;</a:t>
            </a:r>
          </a:p>
          <a:p>
            <a:r>
              <a:rPr lang="en-US" sz="1800" dirty="0"/>
              <a:t> &lt;h2&gt;New Media and Web Design&lt;/h2&gt;</a:t>
            </a:r>
          </a:p>
          <a:p>
            <a:r>
              <a:rPr lang="en-US" sz="1800" dirty="0"/>
              <a:t> &lt;p&gt;Trillium Media Design will bring your </a:t>
            </a:r>
            <a:r>
              <a:rPr lang="en-US" sz="1800" dirty="0" err="1"/>
              <a:t>company&amp;rsquo;s</a:t>
            </a:r>
            <a:r>
              <a:rPr lang="en-US" sz="1800" dirty="0"/>
              <a:t> Web presence to the next level. We offer a comprehensive range of services.&lt;/p&gt;</a:t>
            </a:r>
          </a:p>
          <a:p>
            <a:r>
              <a:rPr lang="en-US" sz="1800" dirty="0"/>
              <a:t> &lt;h2&gt;Meeting Your Business Needs&lt;/h2&gt;</a:t>
            </a:r>
          </a:p>
          <a:p>
            <a:r>
              <a:rPr lang="en-US" sz="1800" dirty="0"/>
              <a:t> &lt;p&gt;Our expert designers are creative and eager to work with you.&lt;/p&gt;</a:t>
            </a:r>
          </a:p>
          <a:p>
            <a:r>
              <a:rPr lang="en-US" sz="1800" dirty="0"/>
              <a:t>&lt;/main&gt;</a:t>
            </a:r>
          </a:p>
          <a:p>
            <a:r>
              <a:rPr lang="en-US" sz="1800" dirty="0"/>
              <a:t>&lt;footer&gt;</a:t>
            </a:r>
          </a:p>
          <a:p>
            <a:r>
              <a:rPr lang="en-US" sz="1800" dirty="0"/>
              <a:t>  &lt;small&gt;&lt;</a:t>
            </a:r>
            <a:r>
              <a:rPr lang="en-US" sz="1800" dirty="0" err="1"/>
              <a:t>i</a:t>
            </a:r>
            <a:r>
              <a:rPr lang="en-US" sz="1800" dirty="0"/>
              <a:t>&gt;Copyright &amp;copy; 2016 Your Name Here&lt;/</a:t>
            </a:r>
            <a:r>
              <a:rPr lang="en-US" sz="1800" dirty="0" err="1"/>
              <a:t>i</a:t>
            </a:r>
            <a:r>
              <a:rPr lang="en-US" sz="1800" dirty="0"/>
              <a:t>&gt;&lt;/small&gt;</a:t>
            </a:r>
          </a:p>
          <a:p>
            <a:r>
              <a:rPr lang="en-US" sz="1800" dirty="0"/>
              <a:t>&lt;/footer&gt;</a:t>
            </a:r>
          </a:p>
          <a:p>
            <a:r>
              <a:rPr lang="en-US" sz="1800" dirty="0"/>
              <a:t>&lt;/body&gt;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E1D31D0-427A-42C8-8B4D-D8172B416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85221"/>
            <a:ext cx="3771900" cy="302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9BAD1E47-3A61-45C3-B988-2CA862821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Anchor Element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&lt;a&gt;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7ABA00B-E6CC-4216-8F2D-09F25BE7FD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763000" cy="4191000"/>
          </a:xfrm>
        </p:spPr>
        <p:txBody>
          <a:bodyPr/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The anchor element</a:t>
            </a:r>
          </a:p>
          <a:p>
            <a:pPr marL="740410" lvl="1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cs typeface="Times New Roman" pitchFamily="18" charset="0"/>
              </a:rPr>
              <a:t>Inline display element</a:t>
            </a:r>
          </a:p>
          <a:p>
            <a:pPr marL="740410" lvl="1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>
                <a:cs typeface="Times New Roman" pitchFamily="18" charset="0"/>
              </a:rPr>
              <a:t>Specifies a hyperlink reference (href) to a file</a:t>
            </a:r>
          </a:p>
          <a:p>
            <a:pPr marL="740410" lvl="1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400" dirty="0">
                <a:cs typeface="Times New Roman" pitchFamily="18" charset="0"/>
              </a:rPr>
              <a:t>Text between the &lt;a&gt; and &lt;/a&gt; is displayed on the web page.</a:t>
            </a:r>
            <a:endParaRPr lang="en-US" sz="800" dirty="0">
              <a:cs typeface="Times New Roman" pitchFamily="18" charset="0"/>
            </a:endParaRPr>
          </a:p>
          <a:p>
            <a:pPr marL="640080" lvl="1" indent="-237744" eaLnBrk="1" fontAlgn="auto" hangingPunct="1">
              <a:spcAft>
                <a:spcPts val="0"/>
              </a:spcAft>
              <a:buFont typeface="Verdana"/>
              <a:buChar char="◦"/>
              <a:defRPr/>
            </a:pPr>
            <a:endParaRPr lang="en-US" sz="800" dirty="0">
              <a:cs typeface="Times New Roman" pitchFamily="18" charset="0"/>
            </a:endParaRPr>
          </a:p>
          <a:p>
            <a:pPr marL="640080" lvl="1" indent="-23774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&lt;a href="contact.html"&gt;Contact Us&lt;/a&gt;</a:t>
            </a:r>
          </a:p>
          <a:p>
            <a:pPr marL="640080" lvl="1" indent="-237744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800" dirty="0">
              <a:cs typeface="Times New Roman" pitchFamily="18" charset="0"/>
            </a:endParaRPr>
          </a:p>
          <a:p>
            <a:pPr marL="640080" lvl="1" indent="-237744" eaLnBrk="1" fontAlgn="auto" hangingPunct="1">
              <a:spcAft>
                <a:spcPts val="0"/>
              </a:spcAft>
              <a:defRPr/>
            </a:pPr>
            <a:r>
              <a:rPr lang="en-US" dirty="0">
                <a:cs typeface="Times New Roman" pitchFamily="18" charset="0"/>
              </a:rPr>
              <a:t>href Attribute</a:t>
            </a:r>
          </a:p>
          <a:p>
            <a:pPr marL="886968" lvl="2" indent="-256032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>
                <a:cs typeface="Times New Roman" pitchFamily="18" charset="0"/>
              </a:rPr>
              <a:t>Indicates the file name or URL</a:t>
            </a:r>
            <a:br>
              <a:rPr lang="en-US" dirty="0">
                <a:cs typeface="Times New Roman" pitchFamily="18" charset="0"/>
              </a:rPr>
            </a:br>
            <a:r>
              <a:rPr lang="en-US" sz="2000" dirty="0">
                <a:cs typeface="Times New Roman" pitchFamily="18" charset="0"/>
              </a:rPr>
              <a:t>Web page document, photo, pdf, etc</a:t>
            </a:r>
            <a:r>
              <a:rPr lang="en-US" dirty="0">
                <a:cs typeface="Times New Roman" pitchFamily="18" charset="0"/>
              </a:rPr>
              <a:t>.</a:t>
            </a:r>
            <a:br>
              <a:rPr lang="en-US" dirty="0">
                <a:cs typeface="Times New Roman" pitchFamily="18" charset="0"/>
              </a:rPr>
            </a:br>
            <a:endParaRPr lang="en-US" dirty="0">
              <a:cs typeface="Times New Roman" pitchFamily="18" charset="0"/>
            </a:endParaRPr>
          </a:p>
        </p:txBody>
      </p:sp>
      <p:sp>
        <p:nvSpPr>
          <p:cNvPr id="62468" name="Slide Number Placeholder 5">
            <a:extLst>
              <a:ext uri="{FF2B5EF4-FFF2-40B4-BE49-F238E27FC236}">
                <a16:creationId xmlns:a16="http://schemas.microsoft.com/office/drawing/2014/main" id="{E0AB55FD-259C-495F-968E-59BB35CE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C5B99D6-3529-42B5-83DD-9CAC8087739E}" type="slidenum">
              <a:rPr lang="en-US" altLang="en-US" sz="1200" smtClean="0"/>
              <a:pPr/>
              <a:t>28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0AF472-136B-4A40-B385-D75BC6F0C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F05C8CAB-C1CA-48C3-AD4C-596385F15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More on Hyperlinks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C78A735-42AB-45C0-8B6D-B79688AE7F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391400" cy="4191000"/>
          </a:xfrm>
        </p:spPr>
        <p:txBody>
          <a:bodyPr/>
          <a:lstStyle/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>
                <a:cs typeface="Times New Roman" pitchFamily="18" charset="0"/>
              </a:rPr>
              <a:t>Absolute link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>
                <a:cs typeface="Times New Roman" pitchFamily="18" charset="0"/>
              </a:rPr>
              <a:t>Link to other websites</a:t>
            </a:r>
            <a:br>
              <a:rPr lang="en-US">
                <a:cs typeface="Times New Roman" pitchFamily="18" charset="0"/>
              </a:rPr>
            </a:br>
            <a:endParaRPr lang="en-US" sz="800">
              <a:cs typeface="Times New Roman" pitchFamily="18" charset="0"/>
            </a:endParaRPr>
          </a:p>
          <a:p>
            <a:pPr marL="420624" indent="-38404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b="1">
                <a:latin typeface="Times New Roman" pitchFamily="18" charset="0"/>
                <a:cs typeface="Times New Roman" pitchFamily="18" charset="0"/>
              </a:rPr>
              <a:t>	&lt;a href="http://yahoo.com"&gt;Yahoo&lt;/a&gt;</a:t>
            </a:r>
          </a:p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>
              <a:cs typeface="Times New Roman" pitchFamily="18" charset="0"/>
            </a:endParaRPr>
          </a:p>
          <a:p>
            <a:pPr marL="420624" indent="-384048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en-US">
                <a:cs typeface="Times New Roman" pitchFamily="18" charset="0"/>
              </a:rPr>
              <a:t>Relative link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>
                <a:cs typeface="Times New Roman" pitchFamily="18" charset="0"/>
              </a:rPr>
              <a:t>Link to pages on your own site</a:t>
            </a:r>
          </a:p>
          <a:p>
            <a:pPr marL="722376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>
                <a:cs typeface="Times New Roman" pitchFamily="18" charset="0"/>
              </a:rPr>
              <a:t>Relative to the current page</a:t>
            </a:r>
            <a:br>
              <a:rPr lang="en-US">
                <a:cs typeface="Times New Roman" pitchFamily="18" charset="0"/>
              </a:rPr>
            </a:br>
            <a:endParaRPr lang="en-US">
              <a:cs typeface="Times New Roman" pitchFamily="18" charset="0"/>
            </a:endParaRPr>
          </a:p>
          <a:p>
            <a:pPr marL="420624" indent="-38404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b="1">
                <a:latin typeface="Times New Roman" pitchFamily="18" charset="0"/>
                <a:cs typeface="Times New Roman" pitchFamily="18" charset="0"/>
              </a:rPr>
              <a:t>	&lt;a href="index.html"&gt;Home&lt;/a&gt;</a:t>
            </a:r>
            <a:endParaRPr lang="en-US" sz="2800">
              <a:cs typeface="Times New Roman" pitchFamily="18" charset="0"/>
            </a:endParaRPr>
          </a:p>
        </p:txBody>
      </p:sp>
      <p:sp>
        <p:nvSpPr>
          <p:cNvPr id="64516" name="Slide Number Placeholder 5">
            <a:extLst>
              <a:ext uri="{FF2B5EF4-FFF2-40B4-BE49-F238E27FC236}">
                <a16:creationId xmlns:a16="http://schemas.microsoft.com/office/drawing/2014/main" id="{6C5EEDA3-047E-4C26-A774-6F2BFBB0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70FF1EE-4882-4145-BDC9-AC7937EC21E8}" type="slidenum">
              <a:rPr lang="en-US" altLang="en-US" sz="1200" smtClean="0"/>
              <a:pPr/>
              <a:t>29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243587-7096-49E3-ACE1-B953AEC4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026">
            <a:extLst>
              <a:ext uri="{FF2B5EF4-FFF2-40B4-BE49-F238E27FC236}">
                <a16:creationId xmlns:a16="http://schemas.microsoft.com/office/drawing/2014/main" id="{E24BAF4A-988A-42FB-971A-4860EB811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Opening a Link 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 a New Browser Window</a:t>
            </a:r>
          </a:p>
        </p:txBody>
      </p:sp>
      <p:sp>
        <p:nvSpPr>
          <p:cNvPr id="29699" name="Rectangle 1027">
            <a:extLst>
              <a:ext uri="{FF2B5EF4-FFF2-40B4-BE49-F238E27FC236}">
                <a16:creationId xmlns:a16="http://schemas.microsoft.com/office/drawing/2014/main" id="{BC75DF52-0F79-463C-8515-3DE97F5315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2775"/>
            <a:ext cx="8686800" cy="457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>
                <a:cs typeface="Times New Roman" panose="02020603050405020304" pitchFamily="18" charset="0"/>
              </a:rPr>
              <a:t>The target attribute on the anchor element opens a link in a new browser window or new browser tab.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br>
              <a:rPr lang="en-US" altLang="en-US" b="1" dirty="0">
                <a:latin typeface="Courier-Bold"/>
              </a:rPr>
            </a:b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="http://yahoo.com"  target="_blank"&gt;Yahoo!&lt;/a&gt;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dirty="0"/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0A6EE6C6-3551-4F9F-910D-AE3F6446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51984A1-D4BF-4981-9DF0-0BCE71E34A32}" type="slidenum">
              <a:rPr lang="en-US" altLang="en-US" sz="1200" smtClean="0"/>
              <a:pPr/>
              <a:t>30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0BF4A5-C679-4368-9E6A-649727FC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0DCA868B-2238-4E10-AE6D-6728686ED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34463" cy="10668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Email Hyperlinks 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0415F40-C0CA-4F14-ACB1-D764987B10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534400" cy="3048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cs typeface="Times New Roman" panose="02020603050405020304" pitchFamily="18" charset="0"/>
              </a:rPr>
              <a:t>Automatically launch the default mail program configured for the browser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cs typeface="Times New Roman" panose="02020603050405020304" pitchFamily="18" charset="0"/>
              </a:rPr>
              <a:t>If no browser default is configured, </a:t>
            </a:r>
            <a:br>
              <a:rPr lang="en-US" altLang="en-US">
                <a:cs typeface="Times New Roman" panose="02020603050405020304" pitchFamily="18" charset="0"/>
              </a:rPr>
            </a:br>
            <a:r>
              <a:rPr lang="en-US" altLang="en-US">
                <a:cs typeface="Times New Roman" panose="02020603050405020304" pitchFamily="18" charset="0"/>
              </a:rPr>
              <a:t>a dialog box is displayed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 sz="900"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 &lt;a  href="</a:t>
            </a:r>
            <a:r>
              <a:rPr lang="en-US" altLang="en-US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mailto: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me@hotmail.com"&gt;me@hotmail.com&lt;/a&gt;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0393D43B-39B7-4914-A8C0-BCD7C2D5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C8625EF-DA50-4DD1-B1D8-760406168DF9}" type="slidenum">
              <a:rPr lang="en-US" altLang="en-US" sz="1200" smtClean="0"/>
              <a:pPr/>
              <a:t>31</a:t>
            </a:fld>
            <a:endParaRPr lang="en-US" altLang="en-US" sz="1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1BFEFE-E417-414E-AFC3-08D9BF8E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0AB2E83-3053-464D-A7EE-BDB8D942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Writing Valid HTML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1C21C1C4-6666-4CB2-9846-7148E5830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Check your code for syntax errors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3200"/>
              <a:t>Benefit: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sz="2800"/>
              <a:t>Valid code </a:t>
            </a:r>
            <a:r>
              <a:rPr lang="en-US" altLang="en-US" sz="2800">
                <a:sym typeface="Wingdings" panose="05000000000000000000" pitchFamily="2" charset="2"/>
              </a:rPr>
              <a:t> </a:t>
            </a:r>
            <a:br>
              <a:rPr lang="en-US" altLang="en-US" sz="2800">
                <a:sym typeface="Wingdings" panose="05000000000000000000" pitchFamily="2" charset="2"/>
              </a:rPr>
            </a:br>
            <a:r>
              <a:rPr lang="en-US" altLang="en-US" sz="2800">
                <a:sym typeface="Wingdings" panose="05000000000000000000" pitchFamily="2" charset="2"/>
              </a:rPr>
              <a:t>more consistent browser display</a:t>
            </a:r>
          </a:p>
          <a:p>
            <a:pPr lvl="2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W3C HTML Validation Tool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>
                <a:hlinkClick r:id="rId3"/>
              </a:rPr>
              <a:t>http://validator.w3.org</a:t>
            </a:r>
            <a:endParaRPr lang="en-US" altLang="en-US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Additional HTML5 Validation Tool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>
                <a:hlinkClick r:id="rId4"/>
              </a:rPr>
              <a:t>http://html5.validator.nu</a:t>
            </a:r>
            <a:endParaRPr lang="en-US" altLang="en-US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en-US"/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DE1E1D-09A4-41AE-B30F-38948C20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5FBF2E-18AA-4BC0-AE87-B670A9D3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C0EA8D-C6CD-426D-BC72-159FEC0388BA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BB5E4DE-6CF4-433E-A9D4-ED4A3F301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576263"/>
            <a:ext cx="7381875" cy="566737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Summary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D0B8697-610B-4A0C-87D6-2E63440BF9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458200" cy="457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This chapter provided an introduction to HTML.</a:t>
            </a:r>
            <a:br>
              <a:rPr lang="en-US" altLang="en-US" sz="2800">
                <a:cs typeface="Arial" panose="020B0604020202020204" pitchFamily="34" charset="0"/>
              </a:rPr>
            </a:br>
            <a:endParaRPr lang="en-US" altLang="en-US" sz="9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HTML elements used for inline and block display formatting were introduced.</a:t>
            </a:r>
            <a:br>
              <a:rPr lang="en-US" altLang="en-US" sz="2800">
                <a:cs typeface="Arial" panose="020B0604020202020204" pitchFamily="34" charset="0"/>
              </a:rPr>
            </a:br>
            <a:endParaRPr lang="en-US" altLang="en-US" sz="900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>
                <a:cs typeface="Arial" panose="020B0604020202020204" pitchFamily="34" charset="0"/>
              </a:rPr>
              <a:t>You will use these skills over and over again as you create web pages.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altLang="en-US"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8BD9AB-59A8-4255-93C8-913CE209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2016 Pearson Education, Inc., Hoboken NJ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05B863-81AE-4DCC-A2EC-61684EF4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63E744-78CB-4CF8-A2B6-8F08D8D4162A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TC104033923[[fn=Depth]]</Template>
  <TotalTime>1491</TotalTime>
  <Words>2782</Words>
  <Application>Microsoft Office PowerPoint</Application>
  <PresentationFormat>On-screen Show (4:3)</PresentationFormat>
  <Paragraphs>379</Paragraphs>
  <Slides>33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Courier-Bold</vt:lpstr>
      <vt:lpstr>Optima</vt:lpstr>
      <vt:lpstr>Arial</vt:lpstr>
      <vt:lpstr>Corbel</vt:lpstr>
      <vt:lpstr>Times New Roman</vt:lpstr>
      <vt:lpstr>Verdana</vt:lpstr>
      <vt:lpstr>Wingdings</vt:lpstr>
      <vt:lpstr>Wingdings 2</vt:lpstr>
      <vt:lpstr>Depth</vt:lpstr>
      <vt:lpstr>Basics of  Web Design</vt:lpstr>
      <vt:lpstr>Learning Outcomes</vt:lpstr>
      <vt:lpstr>The Heading Element</vt:lpstr>
      <vt:lpstr>The Paragraph Element &lt;p&gt; tag</vt:lpstr>
      <vt:lpstr>The Line Break Element &lt;br&gt; tag</vt:lpstr>
      <vt:lpstr>The Horizontal Rule Element &lt;hr&gt; tag</vt:lpstr>
      <vt:lpstr>The Blockquote Element  &lt;blockquote&gt;</vt:lpstr>
      <vt:lpstr>Phrase Elements</vt:lpstr>
      <vt:lpstr>Phrase Elements</vt:lpstr>
      <vt:lpstr>Proper Nesting</vt:lpstr>
      <vt:lpstr>HTML List Basics</vt:lpstr>
      <vt:lpstr>Unordered List</vt:lpstr>
      <vt:lpstr>Unordered List Example</vt:lpstr>
      <vt:lpstr>Ordered List</vt:lpstr>
      <vt:lpstr>Ordered List Example</vt:lpstr>
      <vt:lpstr>Description List</vt:lpstr>
      <vt:lpstr>Description List Example</vt:lpstr>
      <vt:lpstr>Special Entity Characters</vt:lpstr>
      <vt:lpstr>The div element &lt;div&gt;</vt:lpstr>
      <vt:lpstr>PowerPoint Presentation</vt:lpstr>
      <vt:lpstr>PowerPoint Presentation</vt:lpstr>
      <vt:lpstr>HTML5 Structural Elements</vt:lpstr>
      <vt:lpstr>PowerPoint Presentation</vt:lpstr>
      <vt:lpstr>PowerPoint Presentation</vt:lpstr>
      <vt:lpstr>PowerPoint Presentation</vt:lpstr>
      <vt:lpstr>HTML5 Structural Elements</vt:lpstr>
      <vt:lpstr>PowerPoint Presentation</vt:lpstr>
      <vt:lpstr>The Anchor Element &lt;a&gt;</vt:lpstr>
      <vt:lpstr>More on Hyperlinks</vt:lpstr>
      <vt:lpstr>Opening a Link  in a New Browser Window</vt:lpstr>
      <vt:lpstr>Email Hyperlinks </vt:lpstr>
      <vt:lpstr>Writing Valid HTML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Web Design: Chapter 2</dc:title>
  <dc:subject>Chapter 1</dc:subject>
  <dc:creator>Terry Felke-Morris</dc:creator>
  <cp:lastModifiedBy>Basker George</cp:lastModifiedBy>
  <cp:revision>101</cp:revision>
  <cp:lastPrinted>1601-01-01T00:00:00Z</cp:lastPrinted>
  <dcterms:created xsi:type="dcterms:W3CDTF">2002-01-17T02:49:49Z</dcterms:created>
  <dcterms:modified xsi:type="dcterms:W3CDTF">2025-03-04T03:07:17Z</dcterms:modified>
</cp:coreProperties>
</file>