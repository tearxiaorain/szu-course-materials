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6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58" r:id="rId4"/>
    <p:sldId id="296" r:id="rId5"/>
    <p:sldId id="306" r:id="rId6"/>
    <p:sldId id="261" r:id="rId7"/>
    <p:sldId id="263" r:id="rId8"/>
    <p:sldId id="264" r:id="rId9"/>
    <p:sldId id="297" r:id="rId10"/>
    <p:sldId id="300" r:id="rId11"/>
    <p:sldId id="265" r:id="rId12"/>
    <p:sldId id="269" r:id="rId13"/>
    <p:sldId id="294" r:id="rId14"/>
    <p:sldId id="308" r:id="rId15"/>
    <p:sldId id="309" r:id="rId16"/>
    <p:sldId id="274" r:id="rId17"/>
    <p:sldId id="275" r:id="rId18"/>
    <p:sldId id="310" r:id="rId19"/>
    <p:sldId id="311" r:id="rId20"/>
    <p:sldId id="277" r:id="rId21"/>
    <p:sldId id="312" r:id="rId22"/>
    <p:sldId id="313" r:id="rId23"/>
    <p:sldId id="314" r:id="rId24"/>
    <p:sldId id="281" r:id="rId25"/>
    <p:sldId id="283" r:id="rId26"/>
    <p:sldId id="282" r:id="rId27"/>
    <p:sldId id="284" r:id="rId28"/>
    <p:sldId id="304" r:id="rId29"/>
    <p:sldId id="285" r:id="rId30"/>
    <p:sldId id="303" r:id="rId31"/>
    <p:sldId id="287" r:id="rId32"/>
    <p:sldId id="288" r:id="rId33"/>
    <p:sldId id="298" r:id="rId34"/>
    <p:sldId id="299" r:id="rId35"/>
    <p:sldId id="315" r:id="rId36"/>
    <p:sldId id="290" r:id="rId37"/>
    <p:sldId id="305" r:id="rId38"/>
    <p:sldId id="307" r:id="rId39"/>
    <p:sldId id="291" r:id="rId4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9" autoAdjust="0"/>
    <p:restoredTop sz="94580" autoAdjust="0"/>
  </p:normalViewPr>
  <p:slideViewPr>
    <p:cSldViewPr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3120" y="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114130-F148-4B42-B85D-8411333B9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06648-6C7F-477B-BB3D-5B23F14445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695D94-E810-4362-98D7-BFA81A04E72F}" type="datetimeFigureOut">
              <a:rPr lang="en-US"/>
              <a:pPr>
                <a:defRPr/>
              </a:pPr>
              <a:t>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2C47A-9C1E-4C5A-9278-3E4E3B6269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49FE3-D1A8-424C-BB60-0C4CD3D4EC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C03CA3C-A247-4A39-BB13-ABD0E57399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098F0A5-29A1-440E-9636-8C34E39C3D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ABFB834-37EF-4F22-98EC-A50889A109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6C58F59-CB0D-4564-B9D7-2E3DBB62594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A43708E8-A2B8-42A4-BC0A-EFF8142FDA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FEF9F2E3-A081-4A32-9200-A2AE36BE79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9EC84964-378E-46A8-8982-CF32CDCF80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anose="020B0604030504040204" pitchFamily="34" charset="0"/>
              </a:defRPr>
            </a:lvl1pPr>
          </a:lstStyle>
          <a:p>
            <a:fld id="{1BF73DA0-93C2-4067-9C9E-3EC535E4A6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38FFA173-F3D1-447B-800D-2B7810BC31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3ED6FED-85ED-44D9-89EE-BC2E77D9C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C37B46D-725A-43C1-99A8-82CC9565D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D99B02-9BF2-483C-8F51-71A0849F22DE}" type="slidenum">
              <a:rPr lang="en-US" altLang="en-US" sz="1300">
                <a:latin typeface="Verdana" panose="020B0604030504040204" pitchFamily="34" charset="0"/>
              </a:rPr>
              <a:pPr/>
              <a:t>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399CABED-6068-4341-BDBC-6E77436DBA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7ED031A9-C1F5-4936-8488-8C834E8B2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0C564E4E-5E60-4746-A06C-1CD14FDC9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80D2A5-1FED-4875-B589-3E1BDFDEE311}" type="slidenum">
              <a:rPr lang="en-US" altLang="en-US" sz="1300">
                <a:latin typeface="Verdana" panose="020B0604030504040204" pitchFamily="34" charset="0"/>
              </a:rPr>
              <a:pPr/>
              <a:t>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BE3E4F0-A1CE-4997-B552-8903F55036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A345E176-6B2C-405F-8E22-6A1F8383E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65E5CF14-1C0E-4C7A-9FEC-9ADDC5081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F1560B-492A-4444-B5BA-3F3FE6A66C4F}" type="slidenum">
              <a:rPr lang="en-US" altLang="en-US" sz="1300">
                <a:latin typeface="Verdana" panose="020B0604030504040204" pitchFamily="34" charset="0"/>
              </a:rPr>
              <a:pPr/>
              <a:t>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5CB67D36-8B51-4D20-9FCF-0E44DFB335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1CE59C0F-D176-486F-A1A1-E363A4D78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081771F-4927-401F-88CC-4514226DD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E4D8AE-AD47-44FE-AFD5-20375513941D}" type="slidenum">
              <a:rPr lang="en-US" altLang="en-US" sz="1300">
                <a:latin typeface="Verdana" panose="020B0604030504040204" pitchFamily="34" charset="0"/>
              </a:rPr>
              <a:pPr/>
              <a:t>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44218FE-2F10-48F0-94F1-0D49BFB441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B15E4771-4BF5-4C6C-B429-00AAA494F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A0FE865C-5AB6-4DDE-A763-B0D799344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A6521C-2AD9-4896-A717-062B1CFB8088}" type="slidenum">
              <a:rPr lang="en-US" altLang="en-US" sz="1300">
                <a:latin typeface="Verdana" panose="020B0604030504040204" pitchFamily="34" charset="0"/>
              </a:rPr>
              <a:pPr/>
              <a:t>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E0F81B13-3F46-431D-84C6-34B850D5BB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AE9103EF-0088-4FBE-A4FA-47F2AFD45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E5856053-3D7A-4059-8352-02FE0FDCC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36B121-1893-493E-9810-CA545FB9ED92}" type="slidenum">
              <a:rPr lang="en-US" altLang="en-US" sz="1300">
                <a:latin typeface="Verdana" panose="020B0604030504040204" pitchFamily="34" charset="0"/>
              </a:rPr>
              <a:pPr/>
              <a:t>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E5BF2C1-54D7-4A59-8D4F-5F98419DA6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0E2E1F5F-BC09-405F-9078-1F8B81034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29AD7D30-636B-4469-93A3-F181EFADD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16D249-DCC8-429D-8345-859ED34435AB}" type="slidenum">
              <a:rPr lang="en-US" altLang="en-US" sz="1300">
                <a:latin typeface="Verdana" panose="020B0604030504040204" pitchFamily="34" charset="0"/>
              </a:rPr>
              <a:pPr/>
              <a:t>8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CFCC5DC2-6C5C-4536-9B37-CA3C1D46EA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394D74EB-F29F-437B-9B0E-0FF2787F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D4D37798-2063-4B68-9263-A5DEFCD7C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DD05EE-41FF-4D30-A219-812AC0260A91}" type="slidenum">
              <a:rPr lang="en-US" altLang="en-US" sz="1300">
                <a:latin typeface="Verdana" panose="020B0604030504040204" pitchFamily="34" charset="0"/>
              </a:rPr>
              <a:pPr/>
              <a:t>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E1D061E2-8DDD-491A-BB70-935AEE5F26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0431C3FA-198C-4BA7-A295-1F75769EF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48E0DA76-E45B-4C12-BD7C-C73DC7495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35ECF0-1CF4-4505-A561-39FD61090573}" type="slidenum">
              <a:rPr lang="en-US" altLang="en-US" sz="1300">
                <a:latin typeface="Verdana" panose="020B0604030504040204" pitchFamily="34" charset="0"/>
              </a:rPr>
              <a:pPr/>
              <a:t>11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8FADEEC3-636E-47E0-A71B-D723E3DC9E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1E97ADD-E0DC-4A8A-AEC9-2AA8DF494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B5DAE21A-B0B8-494C-A3EE-F97995D51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59F5CE-7358-4F6D-9684-E32259221D7B}" type="slidenum">
              <a:rPr lang="en-US" altLang="en-US" sz="1300">
                <a:latin typeface="Verdana" panose="020B0604030504040204" pitchFamily="34" charset="0"/>
              </a:rPr>
              <a:pPr/>
              <a:t>12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B4BD59FE-CDD0-46C4-8014-BC56578FE6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739FB7CB-5BC2-48C9-8357-2C5094E6F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0DE30072-EBDC-4B9F-85A2-7E65BD9ED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9DEC09-B22D-40C4-813E-CFDBD3C57FA5}" type="slidenum">
              <a:rPr lang="en-US" altLang="en-US" sz="1300">
                <a:latin typeface="Verdana" panose="020B0604030504040204" pitchFamily="34" charset="0"/>
              </a:rPr>
              <a:pPr/>
              <a:t>13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677EDADE-FB62-40BB-8DF6-B8B138207B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3A1EBBE4-3EEA-4100-8132-59EFD06CC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898EF253-2BE0-4806-8FEC-D5F39922F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18BCC3-804F-47DE-B9D3-5E3253C21C91}" type="slidenum">
              <a:rPr lang="en-US" altLang="en-US" sz="1300">
                <a:latin typeface="Verdana" panose="020B0604030504040204" pitchFamily="34" charset="0"/>
              </a:rPr>
              <a:pPr/>
              <a:t>16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21698C5-6A83-4F79-A13D-C6E2FA534F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81995EB2-B690-45FE-B565-AC8674139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1D8BA851-ADD0-4939-B92D-704963444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4DD583-B3D2-4465-B366-F5277CEE9E1B}" type="slidenum">
              <a:rPr lang="en-US" altLang="en-US" sz="1300">
                <a:latin typeface="Verdana" panose="020B0604030504040204" pitchFamily="34" charset="0"/>
              </a:rPr>
              <a:pPr/>
              <a:t>17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DD9C873-6B15-48EB-9BA2-D7B93F79DD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6FD4AABC-849A-4AE8-82F9-28BE58430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DE28FC20-200C-472B-8156-A9473F9E7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89379E-662B-405F-8C4D-A0EA683F3524}" type="slidenum">
              <a:rPr lang="en-US" altLang="en-US" sz="1300">
                <a:latin typeface="Verdana" panose="020B0604030504040204" pitchFamily="34" charset="0"/>
              </a:rPr>
              <a:pPr/>
              <a:t>20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7F3CFF96-A250-4392-ABBF-890746C213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4AC649B8-4169-4313-BFC2-CC9209EA8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43086576-222D-4D2B-830E-C0056B453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ADE2E5-6C61-4416-9A8C-B5309B8FA0D1}" type="slidenum">
              <a:rPr lang="en-US" altLang="en-US" sz="1300">
                <a:latin typeface="Verdana" panose="020B0604030504040204" pitchFamily="34" charset="0"/>
              </a:rPr>
              <a:pPr/>
              <a:t>24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81B29ECD-37AA-4AC5-9A5D-6C74254BE2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5765835C-02CF-4ACD-81F8-8B8BC4F1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35EC04D1-BE5F-4142-A712-985B2B1B5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536EB5-72B6-4EA0-AD26-B42F660F2231}" type="slidenum">
              <a:rPr lang="en-US" altLang="en-US" sz="1300">
                <a:latin typeface="Verdana" panose="020B0604030504040204" pitchFamily="34" charset="0"/>
              </a:rPr>
              <a:pPr/>
              <a:t>25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911AE869-AF8C-4F47-A969-8B58E79C44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87135C35-0D90-4D9A-B420-D5635849B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AE49E85D-124B-4880-B29B-884F46E9B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4D3CF0-EE9B-4E70-B531-CE319B56A6E2}" type="slidenum">
              <a:rPr lang="en-US" altLang="en-US" sz="1300">
                <a:latin typeface="Verdana" panose="020B0604030504040204" pitchFamily="34" charset="0"/>
              </a:rPr>
              <a:pPr/>
              <a:t>26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4571CE7F-8F1C-4395-831F-244A3B3A54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7B62CFAC-4846-44C8-92B1-F40F8B78F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315BD5B1-71D8-4561-81F6-07EB619A3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383A11-BF46-42DF-8543-8580C459085E}" type="slidenum">
              <a:rPr lang="en-US" altLang="en-US" sz="1300">
                <a:latin typeface="Verdana" panose="020B0604030504040204" pitchFamily="34" charset="0"/>
              </a:rPr>
              <a:pPr/>
              <a:t>27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8CAC87B7-88E3-472A-B048-131C5E3AC3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94964DD-A7B8-4D0B-B8D3-B7C4C16B1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4CACE097-9063-4E37-B01A-27B98DE2F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0E5A50-E9FE-4AF6-81F9-53708350D8F7}" type="slidenum">
              <a:rPr lang="en-US" altLang="en-US" sz="1300">
                <a:latin typeface="Verdana" panose="020B0604030504040204" pitchFamily="34" charset="0"/>
              </a:rPr>
              <a:pPr/>
              <a:t>29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DC6534C4-5429-4203-8081-A33974C4B0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661E2B73-CA7B-4D3D-9579-7A81861E5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DA60DD54-B2A3-4F2B-9F83-B18370A5E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AD7645-53F1-4811-9AA7-52EFB996C305}" type="slidenum">
              <a:rPr lang="en-US" altLang="en-US" sz="1300">
                <a:latin typeface="Verdana" panose="020B0604030504040204" pitchFamily="34" charset="0"/>
              </a:rPr>
              <a:pPr/>
              <a:t>31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8006F44-D880-41D6-B241-B5A828F096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B72AFC52-0E62-46B4-86AB-AFDC09B9E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B341493C-F23E-42CA-8B2C-FC2305F3D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1B41BD-4918-4651-8D60-5A7CE9720B4D}" type="slidenum">
              <a:rPr lang="en-US" altLang="en-US" sz="1300">
                <a:latin typeface="Verdana" panose="020B0604030504040204" pitchFamily="34" charset="0"/>
              </a:rPr>
              <a:pPr/>
              <a:t>32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45FF20A6-2F78-465E-BAD6-000ADB3995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86123B37-5A19-4DB2-B5B0-80161112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55F11FF3-EF2A-4090-8CED-304964153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CD1F45-69D3-4485-AE9E-3AAFE9B807D8}" type="slidenum">
              <a:rPr lang="en-US" altLang="en-US" sz="1300">
                <a:latin typeface="Verdana" panose="020B0604030504040204" pitchFamily="34" charset="0"/>
              </a:rPr>
              <a:pPr/>
              <a:t>33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66A33BE5-232A-41BE-8E44-25AC612333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BCEDAFBD-4231-497C-8B08-F82BC6E1B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4D488C2B-008B-4C9B-A7D7-722C80294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8A716C-ACB4-465E-9302-B83D8A14CAF3}" type="slidenum">
              <a:rPr lang="en-US" altLang="en-US" sz="1300">
                <a:latin typeface="Verdana" panose="020B0604030504040204" pitchFamily="34" charset="0"/>
              </a:rPr>
              <a:pPr/>
              <a:t>34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281C8598-A1F4-42B1-80EC-701A353F88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DDEAE640-A537-407B-8182-9E47ED490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65F2CD93-7823-44FF-93AA-2CDD9BA9A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B859C7-721F-47A1-B8DE-737CA1A3AB84}" type="slidenum">
              <a:rPr lang="en-US" altLang="en-US" sz="1300">
                <a:latin typeface="Verdana" panose="020B0604030504040204" pitchFamily="34" charset="0"/>
              </a:rPr>
              <a:pPr/>
              <a:t>36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C1C79E18-006D-4EAB-8BA8-BEF24FEF2E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3A3E5E5A-D1C1-430C-B2EE-D4D5CCD2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755E5021-6CBA-4ABA-B34E-C7A086977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E1CB30-0BC5-4941-9A37-4D1FFAAE10C7}" type="slidenum">
              <a:rPr lang="en-US" altLang="en-US" sz="1300">
                <a:latin typeface="Verdana" panose="020B0604030504040204" pitchFamily="34" charset="0"/>
              </a:rPr>
              <a:pPr/>
              <a:t>39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/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/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75EA5-01F6-4C9F-AE65-EB1A76A3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8E5C-E971-48B6-9E87-6376FE38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5831C-DD6B-45D4-BA30-BF0C53A9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F47F7-66F9-4451-B53D-335A001350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42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FE9C3-70C0-487A-A6DE-7DA11B4A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6CF58-95B4-4289-8907-6E9421A6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73F29-A6F6-4A0D-B2A2-AE8A7818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5A77B-F1AF-40AB-91D9-055EB26CF5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415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/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/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0B40C-4E20-4DEA-8186-E79B0568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40C74-5754-41DA-AEB1-CF88EA5A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BAB7-1EAC-4854-8530-8C260C92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D04F6-0AE6-4B90-A11C-97EC8DE0C5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69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89447B0-343C-4CAB-95BB-D4B25034A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A89B98-1032-4362-A1F2-1F36594F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511D6D-8C3A-41D4-8603-83C2AFE0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8F8A4-C2AC-479B-920C-B12C2111F7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33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/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anchor="b"/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B5D9B53-7EE6-447F-8A12-055BFACF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D6422E-048D-4F6C-9519-23271E49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D9C564-955E-4678-9B3C-99DFB06F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59701-9463-4402-A3E4-E787A347B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40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0D936E7-163B-4C09-81FC-53E19EF9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B587A8-E384-4706-8486-5351C2DB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4E02F7-F0E6-4BC0-80F4-5033F238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06D9B-75AD-4712-BB9D-8944370B18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83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590AC8-9341-42EE-ACA9-FC95904F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C0F7A60-AE54-43B8-9A5D-54F95F31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32924C-0755-4BD4-951B-E3859722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E65AF7-3D64-4C15-8A05-503D155632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14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C6A5798-9F57-4772-AADD-2F56E5F4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677E00-0A6F-4B8A-A07F-5C6B8FC9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9E7626-37E7-479B-9909-41DE9235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DC2FA-7498-4E0A-913C-209E8B803A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23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79B142-EB1F-41B2-A69D-169E6CD9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6CD656-F04A-44A3-8DF7-E8CA2F05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B5B7ED-DDFF-43F0-8F8E-AA0BA12D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319C4F-89D6-4FC0-B0CF-200E420F4F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986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313E490-539B-43C1-8EF4-50BB51AC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58E8D3-33F9-44B7-A412-B5008EEE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F5F098-F688-43DD-AB23-955AEFA8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25881-C964-4C63-86DC-98724E82C2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80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D6291D4-32B0-4567-A7A7-E3002B24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F15AEEE-8A81-43C1-8AB1-EDF18A8F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FF92B5-4A1A-4AD5-B169-3B008559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BDAFC-2EC5-456D-8308-5CDD366E7B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601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EFFC9-BD21-4177-BC42-A9E67A3C9AFB}"/>
              </a:ext>
            </a:extLst>
          </p:cNvPr>
          <p:cNvSpPr txBox="1"/>
          <p:nvPr/>
        </p:nvSpPr>
        <p:spPr>
          <a:xfrm>
            <a:off x="833438" y="7874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6000" dirty="0"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3911A-F13B-4425-83DF-9D71AD476B6E}"/>
              </a:ext>
            </a:extLst>
          </p:cNvPr>
          <p:cNvSpPr txBox="1"/>
          <p:nvPr/>
        </p:nvSpPr>
        <p:spPr>
          <a:xfrm>
            <a:off x="7827963" y="27432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6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3F52BD32-79AC-4239-B0BF-6F5FE09AC7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6CDBE6E-0F30-44B2-B60D-232FB016BD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lang="en-US" sz="1200"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5C8FA0E-D3E3-484A-9F45-623C817215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3B291CB-7F8E-4A86-BEE5-4CF0DECA50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927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F2DC254-3738-4A12-8790-6DF0A7D2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419004-EDB8-4A3C-8674-6542BEF1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6396F2-C85A-473C-B0F5-4A3D99FB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F1D10-F119-448D-B497-3D7FBC2B14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958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2EA1B26-F764-48C3-BD58-81650F303F0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7761376-5ABE-416E-8521-22316B6B79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5DA067B-B368-44DA-A2CA-3098400103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A1F8B6CF-464C-47D2-B755-1736EFF2C2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9470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3BD5646-C407-42B0-A4CE-012A00938CC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068301-4E66-4EFC-8711-CEC1580BDBF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6BE696-E43A-4852-8569-8AC37BDA600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8F0FFCC9-FDC6-4CB9-8FFA-BAC70DF78E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573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160E9-F6FB-443E-A7A3-D666DC95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E96B-5D59-4FEF-8EDA-C00051DF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13080-640A-4C19-A173-EFC69218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08AF2-93F6-4A98-BDCF-4F0AE3C669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164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32BB-681A-4EB7-8257-9EE44328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55E36-C933-4F6E-B9E9-F2ADCCCF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9AFE4-ECB4-4C8A-9848-6DC34041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F4863-E9CE-468F-9813-4DDCD12D28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433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34F995D-D8E5-4DAF-8BE6-17CB75A6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73AADD8-4CCC-4826-A06A-CFB750BD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9B54E0-569E-457A-9F3F-D148F01F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353FC-F08E-40CA-BF9D-1A4B100631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40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A2E71-5DC2-41A7-9CDC-2A391D0C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98F3E-C00F-4DC6-886C-F41D78B5C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5"/>
            <a:ext cx="76755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D919-63C0-47FF-8A8C-125E13059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421BB-684D-454B-8B0A-FE1C11AF0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86050" y="6356350"/>
            <a:ext cx="377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37115-97F0-4154-A85E-77323579E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/>
            </a:lvl1pPr>
          </a:lstStyle>
          <a:p>
            <a:fld id="{68FD4445-DCFE-4168-8C8F-77D986FE442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  <p:sldLayoutId id="2147484363" r:id="rId12"/>
    <p:sldLayoutId id="2147484357" r:id="rId13"/>
    <p:sldLayoutId id="2147484358" r:id="rId14"/>
    <p:sldLayoutId id="2147484359" r:id="rId15"/>
    <p:sldLayoutId id="2147484360" r:id="rId16"/>
    <p:sldLayoutId id="2147484361" r:id="rId17"/>
    <p:sldLayoutId id="2147484362" r:id="rId18"/>
  </p:sldLayoutIdLst>
  <p:hf hd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WAI/WCAG20/quickref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sign.ncsu.edu/cud/about_ud/about_ud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ana.org/domains/root/d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html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0F7520-6058-4DD3-8510-4FEE6864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8363016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3EE0EFC3-1DAF-45EB-A89E-E80890BAC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7305675" cy="762000"/>
          </a:xfrm>
        </p:spPr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Learning Outcomes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3FAD821-1E11-4B74-82DE-B0502D0BC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Describe the evolution of the Internet and the Web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Explain the need for web standards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Describe universal design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Identify benefits of accessible web design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Identify reliable resources of information on the Web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Identify ethical use of the Web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Describe the purpose of web browsers and web servers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Identify Internet protocols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Define URIs and domain names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Describe XHTML and HTML5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Create your first web page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Use the body, head, title and meta elements</a:t>
            </a:r>
            <a:endParaRPr lang="en-US" sz="36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300" dirty="0"/>
              <a:t>Name, save, and test a web page</a:t>
            </a:r>
            <a:endParaRPr lang="en-US" sz="3600" dirty="0"/>
          </a:p>
          <a:p>
            <a:pPr marL="822960"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4100" name="Slide Number Placeholder 5">
            <a:extLst>
              <a:ext uri="{FF2B5EF4-FFF2-40B4-BE49-F238E27FC236}">
                <a16:creationId xmlns:a16="http://schemas.microsoft.com/office/drawing/2014/main" id="{22DD7B2F-9AD9-41A4-BC03-9BD50ECC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88E9D0-ACE2-4367-8F3E-6D229C11ED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BBFDC0-AA38-474B-AC4A-97E87236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5654C06A-42B2-4B24-8DBD-2227ABF89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Evolution of the Internet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ABC8E8B-6017-422D-A801-007CDF186A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Internet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/>
              <a:t>Inter</a:t>
            </a:r>
            <a:r>
              <a:rPr lang="en-US" altLang="en-US" sz="2400"/>
              <a:t>connected </a:t>
            </a:r>
            <a:r>
              <a:rPr lang="en-US" altLang="en-US" sz="2400" b="1"/>
              <a:t>net</a:t>
            </a:r>
            <a:r>
              <a:rPr lang="en-US" altLang="en-US" sz="2400"/>
              <a:t>work of computer networks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ARPAnet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Advanced Research Project Agency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1969 – four computers connected	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NSFnet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National Science Foundation</a:t>
            </a:r>
            <a:br>
              <a:rPr lang="en-US" altLang="en-US" sz="2000"/>
            </a:br>
            <a:endParaRPr lang="en-US" altLang="en-US" sz="200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Use of the Internet was originally limited to government, research and academic use</a:t>
            </a:r>
            <a:br>
              <a:rPr lang="en-US" altLang="en-US" sz="2400"/>
            </a:br>
            <a:endParaRPr lang="en-US" altLang="en-US" sz="240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1991 Commercial ban lifted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5CE5667C-967A-4022-ADBF-D4D14834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0EFC22-648F-4661-81F1-234D819C303D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D30FD7-CA3E-416A-B496-4DAB920A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4F30A803-D401-4911-9E52-577862FAF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World Wide Web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CDE5CAF-DB56-47E4-8B65-F9F96C480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marL="36513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The graphical user interface to information stored on some of the computers connected to the Internet.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9CA1D855-8A25-4F95-9845-E625A88E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7525E0-569D-45C9-9886-58D23548E574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pic>
        <p:nvPicPr>
          <p:cNvPr id="6149" name="Picture 7" descr="C:\Users\DrMorris\AppData\Local\Microsoft\Windows\Temporary Internet Files\Content.IE5\RS65XFFE\MC900436321[1].png">
            <a:extLst>
              <a:ext uri="{FF2B5EF4-FFF2-40B4-BE49-F238E27FC236}">
                <a16:creationId xmlns:a16="http://schemas.microsoft.com/office/drawing/2014/main" id="{F6612B04-C151-46C5-A6F7-667709313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352800"/>
            <a:ext cx="3090863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250CC-AA63-46F8-8F52-50CD4B7D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E2BE-3674-4EE0-B0C6-7E3010A2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Convergence of Technologies</a:t>
            </a:r>
          </a:p>
        </p:txBody>
      </p:sp>
      <p:pic>
        <p:nvPicPr>
          <p:cNvPr id="7171" name="Content Placeholder 4">
            <a:extLst>
              <a:ext uri="{FF2B5EF4-FFF2-40B4-BE49-F238E27FC236}">
                <a16:creationId xmlns:a16="http://schemas.microsoft.com/office/drawing/2014/main" id="{1159D614-2F90-400A-B134-A91E27E71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27163"/>
            <a:ext cx="6523038" cy="51927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86BFD-5128-42F4-8101-6DB9FE0F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/>
          <a:p>
            <a:pPr>
              <a:defRPr/>
            </a:pPr>
            <a:fld id="{F77B8DDF-23FB-4496-9E06-65975CB037DA}" type="slidenum">
              <a:rPr lang="en-US" altLang="en-US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rPr>
              <a:pPr>
                <a:defRPr/>
              </a:pPr>
              <a:t>5</a:t>
            </a:fld>
            <a:endParaRPr lang="en-US" altLang="en-US">
              <a:gradFill flip="none" rotWithShape="1">
                <a:gsLst>
                  <a:gs pos="28000">
                    <a:schemeClr val="tx1">
                      <a:lumMod val="93000"/>
                    </a:schemeClr>
                  </a:gs>
                  <a:gs pos="0">
                    <a:schemeClr val="bg1">
                      <a:lumMod val="38000"/>
                      <a:lumOff val="62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5AFBD-18EB-4AA3-A55C-64C7B040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12E87A3E-9333-4802-B8BD-159AFFFBA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Convergence of Technologies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89E191A-AF19-45CA-998B-EBCF30B8A6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229600" cy="4038600"/>
          </a:xfrm>
        </p:spPr>
        <p:txBody>
          <a:bodyPr>
            <a:normAutofit fontScale="85000" lnSpcReduction="20000"/>
          </a:bodyPr>
          <a:lstStyle/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Removal of the ban on commercial activity</a:t>
            </a:r>
          </a:p>
          <a:p>
            <a:pPr marL="822960"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br>
              <a:rPr lang="en-US" sz="2400" dirty="0"/>
            </a:br>
            <a:endParaRPr lang="en-US" sz="2400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Development of the World Wide Web at CERN</a:t>
            </a:r>
          </a:p>
          <a:p>
            <a:pPr marL="822960"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br>
              <a:rPr lang="en-US" sz="2400" dirty="0"/>
            </a:br>
            <a:endParaRPr lang="en-US" sz="2400" dirty="0"/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Development of Mosaic, the first graphics-based web browser at NCSA</a:t>
            </a:r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sz="2800" dirty="0"/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Affordable personal computers with GUI operating systems</a:t>
            </a:r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sz="2800" dirty="0"/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Affordable Internet Service Providers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sz="2800" dirty="0"/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FB64F95B-7848-4CB6-98BB-851E46AC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2003C43-63B7-4342-A99D-16BB74066FEA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7D01D9-B3F7-4B38-BA59-FA07B26B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C34F6527-2566-4DF0-831E-57C51F3AD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Web Standards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and the W3C Consortium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A251007-D90E-4DAC-B581-E777C1C4C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038600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500" dirty="0"/>
              <a:t>W3C – World Wide Web Consortium</a:t>
            </a:r>
          </a:p>
          <a:p>
            <a:pPr marL="859536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Develops recommendations and prototype technologies related to the Web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859536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 Produces specifications, called Recommendations, in an effort to standardize web technologies</a:t>
            </a:r>
            <a:br>
              <a:rPr lang="en-US" dirty="0">
                <a:cs typeface="Times New Roman" pitchFamily="18" charset="0"/>
              </a:rPr>
            </a:br>
            <a:endParaRPr lang="en-US" dirty="0">
              <a:cs typeface="Times New Roman" pitchFamily="18" charset="0"/>
            </a:endParaRPr>
          </a:p>
          <a:p>
            <a:pPr marL="859536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>
                <a:cs typeface="Times New Roman" pitchFamily="18" charset="0"/>
              </a:rPr>
              <a:t>WAI – Web Accessibility Initiative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3600" dirty="0"/>
          </a:p>
        </p:txBody>
      </p:sp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A69996BC-FC25-4B56-AA89-58ADE80B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844921-DE42-404F-A808-577B12F7F819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pic>
        <p:nvPicPr>
          <p:cNvPr id="9221" name="Picture 4" descr="w3c_home_nb-v.eps">
            <a:extLst>
              <a:ext uri="{FF2B5EF4-FFF2-40B4-BE49-F238E27FC236}">
                <a16:creationId xmlns:a16="http://schemas.microsoft.com/office/drawing/2014/main" id="{1FD258CB-6828-4FC0-BB60-07A5517E3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12319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BAAD4F-6C10-41C5-8E6B-878B0C95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32B27AA1-77A1-473F-BA8D-292DBAF36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Web Accessibility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B23914E-92D2-4C34-A856-A406AB8A68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153400" cy="4876800"/>
          </a:xfrm>
        </p:spPr>
        <p:txBody>
          <a:bodyPr>
            <a:normAutofit lnSpcReduction="10000"/>
          </a:bodyPr>
          <a:lstStyle/>
          <a:p>
            <a:pPr marL="44805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i="1" dirty="0"/>
              <a:t>“The power of the Web is in its universality. Access by everyone regardless of disability is an essential aspect.” – Tim Berners-Lee</a:t>
            </a:r>
            <a:br>
              <a:rPr lang="en-US" sz="2600" i="1" dirty="0"/>
            </a:br>
            <a:endParaRPr lang="en-US" sz="2600" i="1" dirty="0"/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Accessible Websites</a:t>
            </a:r>
            <a:br>
              <a:rPr lang="en-US" dirty="0"/>
            </a:br>
            <a:r>
              <a:rPr lang="en-US" dirty="0"/>
              <a:t>provide accommodations that help individuals to individuals with visual, auditory, physical, and neurological disabilities overcome barriers </a:t>
            </a:r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521208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WAI – Web Accessibility Initiative</a:t>
            </a:r>
          </a:p>
          <a:p>
            <a:pPr marL="1005840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Develops accessibility recommendations </a:t>
            </a:r>
          </a:p>
          <a:p>
            <a:pPr marL="1005840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WCAG  2.0</a:t>
            </a:r>
          </a:p>
          <a:p>
            <a:pPr marL="1005840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/>
              <a:t>Web Content Accessibility Guidelines</a:t>
            </a:r>
            <a:br>
              <a:rPr lang="en-US" sz="2800" dirty="0"/>
            </a:br>
            <a:r>
              <a:rPr lang="en-US" dirty="0">
                <a:hlinkClick r:id="rId3"/>
              </a:rPr>
              <a:t>http://www.w3.org/WAI/WCAG20/quickref/</a:t>
            </a:r>
            <a:endParaRPr lang="en-US" sz="2800" dirty="0"/>
          </a:p>
          <a:p>
            <a:pPr marL="1106424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endParaRPr lang="en-US" dirty="0"/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365ADF8A-3EC1-4464-93D4-3634359A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EF98FD-3DB6-4E6B-A627-589FA6F4A5F0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3C3AB6-7141-4F50-B7D7-BD4CE5DE7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B2FAE014-4316-420C-91E6-B534AC21D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Web Accessibility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8FB6A1F-8063-42B1-8946-D76D67C91F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077200" cy="4038600"/>
          </a:xfrm>
        </p:spPr>
        <p:txBody>
          <a:bodyPr/>
          <a:lstStyle/>
          <a:p>
            <a:pPr marL="36513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Section 508 of the Rehabilitation Act</a:t>
            </a:r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>
                <a:cs typeface="Times New Roman" panose="02020603050405020304" pitchFamily="18" charset="0"/>
              </a:rPr>
              <a:t>Requires that government agencies must give individuals with disabilities access to information technology that is comparable to the access available to others</a:t>
            </a:r>
            <a:r>
              <a:rPr lang="en-US" altLang="en-US"/>
              <a:t> </a:t>
            </a:r>
          </a:p>
        </p:txBody>
      </p:sp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D6BE81DB-3424-489E-9C1F-148149B3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75BE0C-A810-42DC-9AA1-B88BC409EB4A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47A54-B3A6-47FD-98BC-67C1C75A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0F89-6C97-4DAD-B990-66D0D186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Universal Design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A01DB3B2-686D-4CBF-B88E-B087E08AC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“The design of products and environments to be usable by all people, to the greatest extent possible, without the need for adaptation or specialized design.” 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– </a:t>
            </a:r>
            <a:r>
              <a:rPr lang="en-US" altLang="en-US" i="1"/>
              <a:t>The Center for Universal Design</a:t>
            </a:r>
            <a:br>
              <a:rPr lang="en-US" altLang="en-US"/>
            </a:br>
            <a:r>
              <a:rPr lang="en-US" altLang="en-US" sz="1800">
                <a:hlinkClick r:id="rId2"/>
              </a:rPr>
              <a:t>http://www.design.ncsu.edu/cud/about_ud/about_ud.htm</a:t>
            </a: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A3561F7-85F3-454A-80E6-F63DE815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0A30DEB-9394-4F06-BFEB-5DE0E05ED035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38267-A79A-4BC3-9DE2-351CEA0C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A73DADF6-C9EC-4615-AA57-5F7E981E0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Network Overview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4728381-04BE-4469-BB59-88682E08F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800600"/>
            <a:ext cx="8153400" cy="1447800"/>
          </a:xfrm>
        </p:spPr>
        <p:txBody>
          <a:bodyPr/>
          <a:lstStyle/>
          <a:p>
            <a:pPr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b="1"/>
              <a:t>Network</a:t>
            </a:r>
            <a:br>
              <a:rPr lang="en-US" altLang="en-US"/>
            </a:br>
            <a:r>
              <a:rPr lang="en-US" altLang="en-US">
                <a:cs typeface="Times New Roman" panose="02020603050405020304" pitchFamily="18" charset="0"/>
              </a:rPr>
              <a:t>two or more computers connected together for the purpose of communicating and sharing resources</a:t>
            </a:r>
            <a:r>
              <a:rPr lang="en-US" altLang="en-US"/>
              <a:t> </a:t>
            </a:r>
          </a:p>
        </p:txBody>
      </p:sp>
      <p:sp>
        <p:nvSpPr>
          <p:cNvPr id="13316" name="Slide Number Placeholder 5">
            <a:extLst>
              <a:ext uri="{FF2B5EF4-FFF2-40B4-BE49-F238E27FC236}">
                <a16:creationId xmlns:a16="http://schemas.microsoft.com/office/drawing/2014/main" id="{BC3A903E-1B95-46C8-A5F9-B9C0F5CC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8A378F-FC5C-4370-AF01-B2312F94F069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3FD8521-9CB3-40BB-97F5-6A3C5BA97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119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13318" name="Picture 7">
            <a:extLst>
              <a:ext uri="{FF2B5EF4-FFF2-40B4-BE49-F238E27FC236}">
                <a16:creationId xmlns:a16="http://schemas.microsoft.com/office/drawing/2014/main" id="{72716598-30C5-47CA-A67E-6206621FF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86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AC3FF-DAE6-4DED-9113-C72DF237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D702891D-AD7B-4743-B4DE-BCF92DCC0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Client/Server Model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DD76718-3C60-4AE6-B008-40BBDD8C7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56615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Client/Server can describe a relationship between two computer programs – the "</a:t>
            </a:r>
            <a:r>
              <a:rPr lang="en-US" altLang="en-US" sz="2800" b="1">
                <a:cs typeface="Arial" panose="020B0604020202020204" pitchFamily="34" charset="0"/>
              </a:rPr>
              <a:t>client</a:t>
            </a:r>
            <a:r>
              <a:rPr lang="en-US" altLang="en-US" sz="2800">
                <a:cs typeface="Arial" panose="020B0604020202020204" pitchFamily="34" charset="0"/>
              </a:rPr>
              <a:t>" and the "</a:t>
            </a:r>
            <a:r>
              <a:rPr lang="en-US" altLang="en-US" sz="2800" b="1">
                <a:cs typeface="Arial" panose="020B0604020202020204" pitchFamily="34" charset="0"/>
              </a:rPr>
              <a:t>server</a:t>
            </a:r>
            <a:r>
              <a:rPr lang="en-US" altLang="en-US" sz="2800">
                <a:cs typeface="Arial" panose="020B0604020202020204" pitchFamily="34" charset="0"/>
              </a:rPr>
              <a:t>".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Client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Times New Roman" panose="02020603050405020304" pitchFamily="18" charset="0"/>
              </a:rPr>
              <a:t>requests some type of service (such as a file or database access) from the server.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Server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Times New Roman" panose="02020603050405020304" pitchFamily="18" charset="0"/>
              </a:rPr>
              <a:t>fulfills the request and transmits the results to the client over a network</a:t>
            </a:r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EC136345-A9C0-454A-8116-07D0AC6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868F95-21F4-4489-9EE7-7F520EF31990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A8C907-6B27-465E-9AAF-4353175B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FF1629B6-2B9F-49A6-8364-A1D0B4EA6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Client/Server Model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F5C891-80E2-4578-BA73-8FB3643E2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6615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The Internet </a:t>
            </a:r>
            <a:br>
              <a:rPr lang="en-US" altLang="en-US"/>
            </a:br>
            <a:r>
              <a:rPr lang="en-US" altLang="en-US"/>
              <a:t>Client/Server Model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Client: Web Browser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Server: Web Server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E11BD91A-148C-420F-A5B5-E2AAC606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2D6298-440B-4F07-843F-5534293677E5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pic>
        <p:nvPicPr>
          <p:cNvPr id="15365" name="Picture 6">
            <a:extLst>
              <a:ext uri="{FF2B5EF4-FFF2-40B4-BE49-F238E27FC236}">
                <a16:creationId xmlns:a16="http://schemas.microsoft.com/office/drawing/2014/main" id="{642883DD-BD2C-4A99-BCA5-F5E5FE75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733800"/>
            <a:ext cx="5122863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0F018D-5482-4F4B-8570-363ED44E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7E1311-FEC6-452D-BBC8-2B11EBB2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6185B-6A56-40A8-8550-80A5C21C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65AF7-3D64-4C15-8A05-503D15563292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F67AA-8CB2-4686-A8CB-AB4FFF60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79" y="1223654"/>
            <a:ext cx="7468642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70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DA98F2-3F0F-480F-8063-24338EE0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4E14C0-488B-472D-9D79-93CE2E49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65AF7-3D64-4C15-8A05-503D15563292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6CBDC-3266-427C-874F-F40E3E90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84" y="1066470"/>
            <a:ext cx="7392432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C7B0BDFF-DDC7-4F57-9178-661F7CBEC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Internet Protocols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0D1EA0D-CE04-4B39-81AB-DBA094645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>
                <a:cs typeface="Arial" pitchFamily="34" charset="0"/>
              </a:rPr>
              <a:t>Protocols</a:t>
            </a: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r>
              <a:rPr lang="en-US">
                <a:cs typeface="Arial" pitchFamily="34" charset="0"/>
              </a:rPr>
              <a:t>Rules that describe the methods used for clients and servers to communicate with each other over a network. </a:t>
            </a: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endParaRPr lang="en-US">
              <a:cs typeface="Arial" pitchFamily="34" charset="0"/>
            </a:endParaRP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>
                <a:cs typeface="Times New Roman" pitchFamily="18" charset="0"/>
              </a:rPr>
              <a:t>There is no </a:t>
            </a:r>
            <a:r>
              <a:rPr lang="en-US" sz="2800" i="1">
                <a:cs typeface="Times New Roman" pitchFamily="18" charset="0"/>
              </a:rPr>
              <a:t>single</a:t>
            </a:r>
            <a:r>
              <a:rPr lang="en-US" sz="2800">
                <a:cs typeface="Times New Roman" pitchFamily="18" charset="0"/>
              </a:rPr>
              <a:t> protocol that makes the Internet and Web work.</a:t>
            </a:r>
            <a:br>
              <a:rPr lang="en-US" sz="2800">
                <a:cs typeface="Times New Roman" pitchFamily="18" charset="0"/>
              </a:rPr>
            </a:br>
            <a:endParaRPr lang="en-US" sz="2800">
              <a:cs typeface="Times New Roman" pitchFamily="18" charset="0"/>
            </a:endParaRP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>
                <a:cs typeface="Times New Roman" pitchFamily="18" charset="0"/>
              </a:rPr>
              <a:t>A number of protocols with specific functions are needed. 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6705AA40-F37D-4500-A52A-26FF333B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6C032B-291C-4155-84A9-C8087C69A38D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1F8D69-14A2-4EF9-89A8-4AE6ECAC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2B2AA3FE-2874-46C8-8AB5-F7E5F82A5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Common Internet Protocols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EC24CE0-CC0B-4481-A123-334094386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Official Communication Protocol: TCP/IP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Specialized Protocols: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Arial" panose="020B0604020202020204" pitchFamily="34" charset="0"/>
              </a:rPr>
              <a:t>File Transfer: FTP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Arial" panose="020B0604020202020204" pitchFamily="34" charset="0"/>
              </a:rPr>
              <a:t>E-mail: SMTP, POP3, IMAP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Arial" panose="020B0604020202020204" pitchFamily="34" charset="0"/>
              </a:rPr>
              <a:t>Websites: HTTP</a:t>
            </a:r>
          </a:p>
          <a:p>
            <a:pPr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sz="2800">
                <a:cs typeface="Arial" panose="020B0604020202020204" pitchFamily="34" charset="0"/>
              </a:rPr>
              <a:t> 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4CED3ACA-373C-41F5-822B-255D5DB0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9E511B2-1EFE-4271-9EF1-0FA93FD7226C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pic>
        <p:nvPicPr>
          <p:cNvPr id="17413" name="Picture 4" descr="Packet.tif">
            <a:extLst>
              <a:ext uri="{FF2B5EF4-FFF2-40B4-BE49-F238E27FC236}">
                <a16:creationId xmlns:a16="http://schemas.microsoft.com/office/drawing/2014/main" id="{C4056094-B8B5-4158-A3D1-87C31D9B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14600"/>
            <a:ext cx="42291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6AFDBA-32E5-4856-832B-9CD3B281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E859B3-B091-4874-95E7-AF594765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52" y="1218891"/>
            <a:ext cx="7306695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88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0BCB3C-2669-4B1B-89D4-C3E5C40F9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601" y="1485629"/>
            <a:ext cx="553479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08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553FF7B-74FE-4842-8400-4928999EE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HTTP</a:t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Hypertext Transfer Protocol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AE088E2-EA0F-450D-AC7F-8A29A4AF71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>
            <a:normAutofit fontScale="925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Arial" pitchFamily="34" charset="0"/>
              </a:rPr>
              <a:t>A set of rules for exchanging files such as text, graphic images, sound, video, and other multimedia files on the Web.</a:t>
            </a:r>
            <a:br>
              <a:rPr lang="en-US" sz="2800" dirty="0">
                <a:cs typeface="Arial" pitchFamily="34" charset="0"/>
              </a:rPr>
            </a:br>
            <a:r>
              <a:rPr lang="en-US" sz="2800" dirty="0">
                <a:cs typeface="Arial" pitchFamily="34" charset="0"/>
              </a:rPr>
              <a:t>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Web browsers send HTTP requests for web pages and their associated files.</a:t>
            </a:r>
            <a:br>
              <a:rPr lang="en-US" dirty="0">
                <a:cs typeface="Arial" pitchFamily="34" charset="0"/>
              </a:rPr>
            </a:br>
            <a:endParaRPr lang="en-US" dirty="0"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Web servers send HTTP responses back to the web browsers.</a:t>
            </a:r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BD6984A4-C48D-4045-9AF6-789F0DA1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F2BA93-03D3-447D-B189-0D4B77F6644D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8437" name="laptop">
            <a:extLst>
              <a:ext uri="{FF2B5EF4-FFF2-40B4-BE49-F238E27FC236}">
                <a16:creationId xmlns:a16="http://schemas.microsoft.com/office/drawing/2014/main" id="{BD390ADB-7F62-4DC3-8A0A-634A5834D4E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90800" y="2895600"/>
            <a:ext cx="1809750" cy="13620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2147483647 w 21600"/>
              <a:gd name="T7" fmla="*/ 2147483647 h 21600"/>
              <a:gd name="T8" fmla="*/ 2147483647 w 21600"/>
              <a:gd name="T9" fmla="*/ 0 h 21600"/>
              <a:gd name="T10" fmla="*/ 2147483647 w 21600"/>
              <a:gd name="T11" fmla="*/ 2147483647 h 21600"/>
              <a:gd name="T12" fmla="*/ 0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4445 w 21600"/>
              <a:gd name="T25" fmla="*/ 1858 h 21600"/>
              <a:gd name="T26" fmla="*/ 17311 w 21600"/>
              <a:gd name="T27" fmla="*/ 1232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8" name="tower">
            <a:extLst>
              <a:ext uri="{FF2B5EF4-FFF2-40B4-BE49-F238E27FC236}">
                <a16:creationId xmlns:a16="http://schemas.microsoft.com/office/drawing/2014/main" id="{25797EED-B04C-470C-ACDD-07170828F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72200" y="2438400"/>
            <a:ext cx="904875" cy="180975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0 h 21600"/>
              <a:gd name="T6" fmla="*/ 2147483647 w 21600"/>
              <a:gd name="T7" fmla="*/ 0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w 21600"/>
              <a:gd name="T17" fmla="*/ 2147483647 h 21600"/>
              <a:gd name="T18" fmla="*/ 0 w 21600"/>
              <a:gd name="T19" fmla="*/ 2147483647 h 21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459 w 21600"/>
              <a:gd name="T31" fmla="*/ 22540 h 21600"/>
              <a:gd name="T32" fmla="*/ 21485 w 21600"/>
              <a:gd name="T33" fmla="*/ 27000 h 216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9" name="Right Arrow 6">
            <a:extLst>
              <a:ext uri="{FF2B5EF4-FFF2-40B4-BE49-F238E27FC236}">
                <a16:creationId xmlns:a16="http://schemas.microsoft.com/office/drawing/2014/main" id="{CE784748-2905-4353-BEB9-691C55B96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48000"/>
            <a:ext cx="1295400" cy="3048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440" name="Right Arrow 7">
            <a:extLst>
              <a:ext uri="{FF2B5EF4-FFF2-40B4-BE49-F238E27FC236}">
                <a16:creationId xmlns:a16="http://schemas.microsoft.com/office/drawing/2014/main" id="{DF0DFF72-0E66-405D-919D-B7123CB321D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72000" y="3581400"/>
            <a:ext cx="1295400" cy="3048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441" name="TextBox 8">
            <a:extLst>
              <a:ext uri="{FF2B5EF4-FFF2-40B4-BE49-F238E27FC236}">
                <a16:creationId xmlns:a16="http://schemas.microsoft.com/office/drawing/2014/main" id="{F7BB4553-A007-45C2-BAAE-15A96BC9B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30500"/>
            <a:ext cx="1404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HTTP Request</a:t>
            </a:r>
          </a:p>
        </p:txBody>
      </p:sp>
      <p:sp>
        <p:nvSpPr>
          <p:cNvPr id="18442" name="TextBox 17">
            <a:extLst>
              <a:ext uri="{FF2B5EF4-FFF2-40B4-BE49-F238E27FC236}">
                <a16:creationId xmlns:a16="http://schemas.microsoft.com/office/drawing/2014/main" id="{2797D244-7FA1-4B8B-A710-EDAC1C951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73500"/>
            <a:ext cx="155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HTTP Response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6B6D2D-0CCC-47DE-A9A0-99F5B207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A5D1AB-7831-4279-A554-FE92C057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BD168-5428-46E2-8D60-72F7AE0E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65AF7-3D64-4C15-8A05-503D15563292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AABE-BB3F-47C3-8B2E-A1DF778A7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8" y="1509444"/>
            <a:ext cx="7049484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78DA1A-8BE5-4A26-8705-904C9CC0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E3DCD7-CD5B-4F0E-A99C-4CC281DD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65AF7-3D64-4C15-8A05-503D15563292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77580-9756-493A-A37B-469C19D6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63" y="1061707"/>
            <a:ext cx="7697274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99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145FCF-2FA3-44EB-BF2B-CCC68473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FDC241-BEDE-42CE-88C5-25A011A1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65AF7-3D64-4C15-8A05-503D15563292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D73C3-DB75-4C9D-8BEA-973DA90A7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37" y="1318918"/>
            <a:ext cx="6992326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20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57F7D5EA-B113-4102-91A6-56DCDA485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76263"/>
            <a:ext cx="7381875" cy="566737"/>
          </a:xfrm>
        </p:spPr>
        <p:txBody>
          <a:bodyPr>
            <a:normAutofit fontScale="90000"/>
          </a:bodyPr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IP Address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C588116-D3C8-4E0A-A27B-F400FD0FA3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3755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Each device connected to the Internet has a unique numeric IP address.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These addresses consist of a set of four groups of numbers, called octets. </a:t>
            </a:r>
            <a:br>
              <a:rPr lang="en-US" altLang="en-US" sz="2800">
                <a:cs typeface="Arial" panose="020B0604020202020204" pitchFamily="34" charset="0"/>
              </a:rPr>
            </a:br>
            <a:br>
              <a:rPr lang="en-US" altLang="en-US" sz="1000">
                <a:cs typeface="Arial" panose="020B0604020202020204" pitchFamily="34" charset="0"/>
              </a:rPr>
            </a:br>
            <a:r>
              <a:rPr lang="en-US" altLang="en-US" sz="2800"/>
              <a:t> 74.125.73.106</a:t>
            </a:r>
            <a:r>
              <a:rPr lang="en-US" altLang="en-US" sz="2800">
                <a:latin typeface="Sabon-Roman" charset="0"/>
                <a:cs typeface="Arial" panose="020B0604020202020204" pitchFamily="34" charset="0"/>
              </a:rPr>
              <a:t> will get you Google!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9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An IP address may correspond to a domain name. 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D6092CE7-F539-4B8A-9137-C68EE8AD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8D84D5-98DC-43EA-B9D8-1CFD23F1A83A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7A016E-9DAD-4287-9FDA-79E5FB32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26A6F610-386B-4FAB-8DA9-3E052E8DD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Domain Name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DD295042-2B8A-41AB-A488-764505EE2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305800" cy="4572000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Locates an organization or other entity on the Internet</a:t>
            </a:r>
            <a:r>
              <a:rPr lang="en-US" dirty="0"/>
              <a:t>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Domain Name System</a:t>
            </a: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>
                <a:cs typeface="Arial" pitchFamily="34" charset="0"/>
              </a:rPr>
              <a:t>Divides the Internet into logical groups and understandable names</a:t>
            </a: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>
                <a:cs typeface="Times New Roman" pitchFamily="18" charset="0"/>
              </a:rPr>
              <a:t>Associates unique computer IP Addresses with the text-based domain names you type into a web browser</a:t>
            </a:r>
          </a:p>
          <a:p>
            <a:pPr marL="1255014" lvl="2" indent="-514350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>
                <a:cs typeface="Arial" pitchFamily="34" charset="0"/>
              </a:rPr>
              <a:t>Browser: </a:t>
            </a:r>
            <a:r>
              <a:rPr lang="en-US" dirty="0">
                <a:cs typeface="Times New Roman" pitchFamily="18" charset="0"/>
              </a:rPr>
              <a:t>http://google.com </a:t>
            </a:r>
          </a:p>
          <a:p>
            <a:pPr marL="1255014" lvl="2" indent="-514350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>
                <a:cs typeface="Times New Roman" pitchFamily="18" charset="0"/>
                <a:sym typeface="Wingdings" pitchFamily="2" charset="2"/>
              </a:rPr>
              <a:t>IP Address: </a:t>
            </a:r>
            <a:r>
              <a:rPr lang="en-US" dirty="0"/>
              <a:t>74.125.73.106</a:t>
            </a:r>
            <a:br>
              <a:rPr lang="en-US" dirty="0"/>
            </a:br>
            <a:endParaRPr lang="en-US" dirty="0">
              <a:latin typeface="Sabon-Roman" charset="0"/>
              <a:cs typeface="Arial" pitchFamily="34" charset="0"/>
            </a:endParaRP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4D457627-9CC1-4745-A5CF-2DDE41BE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F5BCD0-4C00-4389-A6A3-9581BD981B6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864A50-EB7D-4731-B370-FB7E35DB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516EFEBA-2A4F-423C-B89B-BA0C99DC2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URI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Uniform Resource Indicator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C6B2C3D-3163-4A04-9007-D454BAC53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0" y="3962400"/>
            <a:ext cx="6662738" cy="2133600"/>
          </a:xfrm>
        </p:spPr>
        <p:txBody>
          <a:bodyPr/>
          <a:lstStyle/>
          <a:p>
            <a:pPr marL="44805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>
                <a:cs typeface="Arial" pitchFamily="34" charset="0"/>
              </a:rPr>
              <a:t>URL</a:t>
            </a:r>
            <a:r>
              <a:rPr lang="en-US" sz="2800" dirty="0">
                <a:cs typeface="Arial" pitchFamily="34" charset="0"/>
              </a:rPr>
              <a:t> </a:t>
            </a:r>
            <a:br>
              <a:rPr lang="en-US" sz="2800" dirty="0">
                <a:cs typeface="Arial" pitchFamily="34" charset="0"/>
              </a:rPr>
            </a:br>
            <a:r>
              <a:rPr lang="en-US" sz="2800" dirty="0">
                <a:cs typeface="Arial" pitchFamily="34" charset="0"/>
              </a:rPr>
              <a:t>Uniform Resource Locator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cs typeface="Arial" pitchFamily="34" charset="0"/>
              </a:rPr>
              <a:t>     Represents the address of a resource on the Internet</a:t>
            </a:r>
            <a:r>
              <a:rPr lang="en-US" sz="1400" dirty="0">
                <a:cs typeface="Arial" pitchFamily="34" charset="0"/>
              </a:rPr>
              <a:t>.</a:t>
            </a:r>
            <a:r>
              <a:rPr lang="en-US" sz="2000" dirty="0">
                <a:cs typeface="Arial" pitchFamily="34" charset="0"/>
              </a:rPr>
              <a:t> 	</a:t>
            </a:r>
            <a:br>
              <a:rPr lang="en-US" sz="2000" dirty="0">
                <a:cs typeface="Arial" pitchFamily="34" charset="0"/>
              </a:rPr>
            </a:br>
            <a:endParaRPr lang="en-US" sz="2000" dirty="0">
              <a:cs typeface="Arial" pitchFamily="34" charset="0"/>
            </a:endParaRP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sz="2000" dirty="0">
              <a:cs typeface="Arial" pitchFamily="34" charset="0"/>
            </a:endParaRP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endParaRPr lang="en-US" sz="1800" dirty="0">
              <a:cs typeface="Arial" pitchFamily="34" charset="0"/>
            </a:endParaRP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A6673CAB-FA6C-44B0-B860-7DEA48D2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B34D547-9A19-4E8A-9182-84ADC83F1A0F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68E91764-197B-408E-B9E4-CC2DFB8C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10" name="Rectangle 7">
            <a:extLst>
              <a:ext uri="{FF2B5EF4-FFF2-40B4-BE49-F238E27FC236}">
                <a16:creationId xmlns:a16="http://schemas.microsoft.com/office/drawing/2014/main" id="{CF3DCE13-146E-421D-A841-2546F8775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21511" name="Picture 9">
            <a:extLst>
              <a:ext uri="{FF2B5EF4-FFF2-40B4-BE49-F238E27FC236}">
                <a16:creationId xmlns:a16="http://schemas.microsoft.com/office/drawing/2014/main" id="{011CACEF-BC1E-42AB-BCEF-0B81DF24E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84010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0382BB-0841-424D-808C-D514B71F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A93A254C-D020-4B25-8737-4D123B850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TLD</a:t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>Top-Level Domain Name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608557A-D79E-4586-B28B-22D3B6186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716963" cy="480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Arial" panose="020B0604020202020204" pitchFamily="34" charset="0"/>
              </a:rPr>
              <a:t>A top-level domain (TLD) identifies the right-most part of the domain name</a:t>
            </a:r>
            <a:r>
              <a:rPr lang="en-US" altLang="en-US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Some generic TLDs:</a:t>
            </a:r>
            <a:br>
              <a:rPr lang="en-US" altLang="en-US"/>
            </a:br>
            <a:r>
              <a:rPr lang="en-US" altLang="en-US"/>
              <a:t>.com, .org, .net, .mil, .gov, .edu, .int, .aero, .asia, .cat, .jobs, .name, .biz, .museum, .info, .coop, .pro, .travel</a:t>
            </a:r>
          </a:p>
        </p:txBody>
      </p:sp>
      <p:sp>
        <p:nvSpPr>
          <p:cNvPr id="22532" name="Slide Number Placeholder 5">
            <a:extLst>
              <a:ext uri="{FF2B5EF4-FFF2-40B4-BE49-F238E27FC236}">
                <a16:creationId xmlns:a16="http://schemas.microsoft.com/office/drawing/2014/main" id="{DA1C88D0-1EF0-467D-ABD6-7A8E29D8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5326FB-5AFB-4E72-846E-2A8FF371A301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77208F-98DF-4CB9-A0F4-EFD2895A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4C8651E-D008-4A03-90A8-D6FCBBED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NEW gTLDs!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86508C16-C1A3-4131-8D6E-E57AA7C9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ICANN accepted proposals for almost 2000 new gTLDs in 2012.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A wide variety of new gTLDs were proposed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Some of the first new gTLDs to become available included  .bike, .guru, .holdings, .clothing, .singles, .ventures, and .plumbing.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ICANN has set a schedule to periodically launch new gTLDs.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/>
              <a:t>Visit http://newgtlds.icann.org/en/program-status/delegated-strings for a list of new gTLDs.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BE0BB6EA-E12A-450F-9AF7-D23333A0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87429F-C739-4282-9982-C44EBC3AC0B3}" type="slidenum">
              <a:rPr lang="en-US" altLang="en-US" sz="1000">
                <a:solidFill>
                  <a:srgbClr val="A1B4B7"/>
                </a:solidFill>
              </a:rPr>
              <a:pPr/>
              <a:t>28</a:t>
            </a:fld>
            <a:endParaRPr lang="en-US" altLang="en-US" sz="1000">
              <a:solidFill>
                <a:srgbClr val="A1B4B7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63452B-4786-4B36-86F7-B8EC003E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1949BB96-C1E2-4975-B329-DDC1C7F19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County Code</a:t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>TLDs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42FB2A9-0A59-4082-B1F6-3968BCB80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40763" cy="480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Two character codes originally intended to indicate the geographical location (country) of the web site. 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28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In practice, it is fairly easy to obtain a domain name with a country code TLD that is not local to the registrant.</a:t>
            </a:r>
            <a:br>
              <a:rPr lang="en-US" altLang="en-US" sz="2800">
                <a:cs typeface="Times New Roman" panose="02020603050405020304" pitchFamily="18" charset="0"/>
              </a:rPr>
            </a:br>
            <a:endParaRPr lang="en-US" altLang="en-US" sz="2800"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 Examples: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Arial" panose="020B0604020202020204" pitchFamily="34" charset="0"/>
              </a:rPr>
              <a:t>.tv, .ws, .au, .jp, .uk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Arial" panose="020B0604020202020204" pitchFamily="34" charset="0"/>
              </a:rPr>
              <a:t>See </a:t>
            </a:r>
            <a:r>
              <a:rPr lang="en-US" altLang="en-US" sz="2400">
                <a:cs typeface="Arial" panose="020B0604020202020204" pitchFamily="34" charset="0"/>
                <a:hlinkClick r:id="rId3"/>
              </a:rPr>
              <a:t>http://www.iana.org/domains/root/db</a:t>
            </a:r>
            <a:r>
              <a:rPr lang="en-US" altLang="en-US" sz="2400">
                <a:cs typeface="Arial" panose="020B0604020202020204" pitchFamily="34" charset="0"/>
              </a:rPr>
              <a:t> for a list of TLDs.</a:t>
            </a:r>
            <a:endParaRPr lang="en-US" altLang="en-US" sz="2800">
              <a:cs typeface="Arial" panose="020B0604020202020204" pitchFamily="34" charset="0"/>
            </a:endParaRP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75902593-CCB7-48BB-AD6B-A2ECC234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1AD7D6-1DAF-4B3C-9EC5-5838363D5139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79D403-7AE9-44A6-B66B-FC1A223A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03C56F20-3969-48CF-AEE8-7606693A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altLang="en-US"/>
              <a:t>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8DF-07B6-426E-A5DD-02DB6C7EE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610600" cy="4525963"/>
          </a:xfrm>
        </p:spPr>
        <p:txBody>
          <a:bodyPr/>
          <a:lstStyle/>
          <a:p>
            <a:pPr marL="36512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sz="3200" dirty="0"/>
              <a:t>The Domain Name System (DNS) associates Domain Names with IP addresses</a:t>
            </a:r>
            <a:r>
              <a:rPr lang="en-US" altLang="en-US" dirty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6FD24FDE-1474-4EC1-B324-14D69865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D19DB8-C0A0-4FE7-B590-57ABB7497CFF}" type="slidenum">
              <a:rPr lang="en-US" altLang="en-US" sz="1000">
                <a:solidFill>
                  <a:srgbClr val="A1B4B7"/>
                </a:solidFill>
              </a:rPr>
              <a:pPr/>
              <a:t>30</a:t>
            </a:fld>
            <a:endParaRPr lang="en-US" altLang="en-US" sz="1000">
              <a:solidFill>
                <a:srgbClr val="A1B4B7"/>
              </a:solidFill>
            </a:endParaRPr>
          </a:p>
        </p:txBody>
      </p:sp>
      <p:pic>
        <p:nvPicPr>
          <p:cNvPr id="25605" name="Picture 3">
            <a:extLst>
              <a:ext uri="{FF2B5EF4-FFF2-40B4-BE49-F238E27FC236}">
                <a16:creationId xmlns:a16="http://schemas.microsoft.com/office/drawing/2014/main" id="{5B1631F9-350D-4A3F-BD0C-67F181A46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2667000"/>
            <a:ext cx="53530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2B3426-305E-46D5-803C-4FACF059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15BB2239-9F58-41B4-BB65-87D6ECB46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7305675" cy="914400"/>
          </a:xfrm>
        </p:spPr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Markup Languages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B14C7FD-CE61-4F02-8B47-1AE95AF6F1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229600" cy="4572000"/>
          </a:xfrm>
        </p:spPr>
        <p:txBody>
          <a:bodyPr/>
          <a:lstStyle/>
          <a:p>
            <a:pPr marL="447675" eaLnBrk="1" fontAlgn="auto" hangingPunct="1">
              <a:spcAft>
                <a:spcPts val="0"/>
              </a:spcAft>
              <a:defRPr/>
            </a:pPr>
            <a:r>
              <a:rPr lang="en-US" altLang="en-US"/>
              <a:t>SGML – Standard Generalized Markup Language</a:t>
            </a:r>
          </a:p>
          <a:p>
            <a:pPr marL="822325" lvl="1" eaLnBrk="1" fontAlgn="auto" hangingPunct="1">
              <a:spcAft>
                <a:spcPts val="0"/>
              </a:spcAft>
              <a:buFont typeface="Verdana" panose="020B0604030504040204" pitchFamily="34" charset="0"/>
              <a:buChar char="›"/>
              <a:defRPr/>
            </a:pPr>
            <a:r>
              <a:rPr lang="en-US" altLang="en-US">
                <a:cs typeface="Arial" panose="020B0604020202020204" pitchFamily="34" charset="0"/>
              </a:rPr>
              <a:t>A standard for specifying a markup language or tag set</a:t>
            </a:r>
            <a:r>
              <a:rPr lang="en-US" altLang="en-US"/>
              <a:t> </a:t>
            </a:r>
            <a:br>
              <a:rPr lang="en-US" altLang="en-US"/>
            </a:br>
            <a:endParaRPr lang="en-US" altLang="en-US"/>
          </a:p>
          <a:p>
            <a:pPr marL="447675" eaLnBrk="1" fontAlgn="auto" hangingPunct="1">
              <a:spcAft>
                <a:spcPts val="0"/>
              </a:spcAft>
              <a:defRPr/>
            </a:pPr>
            <a:r>
              <a:rPr lang="en-US" altLang="en-US"/>
              <a:t>HTML – Hypertext Markup Language</a:t>
            </a:r>
          </a:p>
          <a:p>
            <a:pPr marL="822325" lvl="1" eaLnBrk="1" fontAlgn="auto" hangingPunct="1">
              <a:spcAft>
                <a:spcPts val="0"/>
              </a:spcAft>
              <a:buFont typeface="Verdana" panose="020B0604030504040204" pitchFamily="34" charset="0"/>
              <a:buChar char="›"/>
              <a:defRPr/>
            </a:pPr>
            <a:r>
              <a:rPr lang="en-US" altLang="en-US">
                <a:cs typeface="Arial" panose="020B0604020202020204" pitchFamily="34" charset="0"/>
              </a:rPr>
              <a:t>The set of markup symbols or codes placed in a file intended for display on a web browser. </a:t>
            </a:r>
          </a:p>
          <a:p>
            <a:pPr marL="1104900" lvl="2" eaLnBrk="1" fontAlgn="auto" hangingPunct="1">
              <a:spcAft>
                <a:spcPts val="0"/>
              </a:spcAft>
              <a:buFont typeface="Wingdings 2" panose="05020102010507070707" pitchFamily="18" charset="2"/>
              <a:buChar char=""/>
              <a:defRPr/>
            </a:pPr>
            <a:r>
              <a:rPr lang="en-US" altLang="en-US">
                <a:cs typeface="Arial" panose="020B0604020202020204" pitchFamily="34" charset="0"/>
              </a:rPr>
              <a:t>Element or tag – individual markup code</a:t>
            </a:r>
          </a:p>
          <a:p>
            <a:pPr marL="1104900" lvl="2" eaLnBrk="1" fontAlgn="auto" hangingPunct="1">
              <a:spcAft>
                <a:spcPts val="0"/>
              </a:spcAft>
              <a:buFont typeface="Wingdings 2" panose="05020102010507070707" pitchFamily="18" charset="2"/>
              <a:buChar char=""/>
              <a:defRPr/>
            </a:pPr>
            <a:r>
              <a:rPr lang="en-US" altLang="en-US">
                <a:cs typeface="Arial" panose="020B0604020202020204" pitchFamily="34" charset="0"/>
              </a:rPr>
              <a:t>Attribute – modifies the purpose of a tag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34BCEDAC-5296-4220-87B5-46C6524F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FF14D7-2440-46E3-9DAB-1D59D8A9F71D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B61C31-4AFF-464D-A92C-57BD9B29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0AF7490D-EBA6-4D8E-8E99-58FAD261F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Markup Languages (2)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95C5F5A-FBBC-4F6C-9295-93B475058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83920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XML – eXtensible Markup Language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Arial" panose="020B0604020202020204" pitchFamily="34" charset="0"/>
              </a:rPr>
              <a:t>A text-based language designed to describe, deliver, and exchange structured information. </a:t>
            </a:r>
            <a:br>
              <a:rPr lang="en-US" altLang="en-US">
                <a:cs typeface="Arial" panose="020B0604020202020204" pitchFamily="34" charset="0"/>
              </a:rPr>
            </a:br>
            <a:endParaRPr lang="en-US" altLang="en-US">
              <a:cs typeface="Arial" panose="020B0604020202020204" pitchFamily="34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Arial" panose="020B0604020202020204" pitchFamily="34" charset="0"/>
              </a:rPr>
              <a:t>It is not intended to replace HTML – </a:t>
            </a:r>
            <a:br>
              <a:rPr lang="en-US" altLang="en-US">
                <a:cs typeface="Arial" panose="020B0604020202020204" pitchFamily="34" charset="0"/>
              </a:rPr>
            </a:br>
            <a:r>
              <a:rPr lang="en-US" altLang="en-US">
                <a:cs typeface="Arial" panose="020B0604020202020204" pitchFamily="34" charset="0"/>
              </a:rPr>
              <a:t>it is intended to extend the power of HTML by separating data from presentation. 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8B6746F3-9D1C-4C1E-A75C-2B336869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841D47-B24C-4D92-8489-084F3C92EBD7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F44D25-54E3-4580-9CDF-430EAD140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7AE516EC-1E63-44EF-8B3E-899CCACA4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Markup Languages (3)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3391F01-8302-4979-920A-38F40D14DD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68680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XHTML – eXtensible Hypertext Markup Language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2800">
              <a:cs typeface="Arial" panose="020B0604020202020204" pitchFamily="34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Times New Roman" panose="02020603050405020304" pitchFamily="18" charset="0"/>
              </a:rPr>
              <a:t>Developed by the W3C as the reformulation of HTML 4.0 as an application of XML. </a:t>
            </a:r>
            <a:br>
              <a:rPr lang="en-US" altLang="en-US" sz="2400">
                <a:cs typeface="Times New Roman" panose="02020603050405020304" pitchFamily="18" charset="0"/>
              </a:rPr>
            </a:br>
            <a:endParaRPr lang="en-US" altLang="en-US" sz="2400"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Times New Roman" panose="02020603050405020304" pitchFamily="18" charset="0"/>
              </a:rPr>
              <a:t>It combines the formatting strengths of HTML 4.0 and the data structure and extensibility strengths of XML.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9E2C93DD-BF0F-4DDF-A752-8F4F0F86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517461-A782-4224-ABC2-046E1282FB8D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B30722-FB72-4488-AC97-E1864DC3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418700B6-9D92-43A2-AE25-305EC772D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Markup Languages (4)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604EFE9-3C01-4B2D-A803-B29B86E62D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915400" cy="4495800"/>
          </a:xfrm>
        </p:spPr>
        <p:txBody>
          <a:bodyPr/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3200" dirty="0">
                <a:cs typeface="Arial" pitchFamily="34" charset="0"/>
              </a:rPr>
              <a:t>HTML 5 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sz="3200" dirty="0">
              <a:cs typeface="Arial" pitchFamily="34" charset="0"/>
            </a:endParaRP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r>
              <a:rPr lang="en-US" sz="2800" dirty="0">
                <a:cs typeface="Arial" pitchFamily="34" charset="0"/>
              </a:rPr>
              <a:t>The next version of HTML 4 and XHTML 1</a:t>
            </a:r>
          </a:p>
          <a:p>
            <a:pPr marL="1106424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Incorporates features of both HTML and XHTML</a:t>
            </a:r>
          </a:p>
          <a:p>
            <a:pPr marL="1106424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Adds new elements</a:t>
            </a:r>
          </a:p>
          <a:p>
            <a:pPr marL="1106424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Eliminates some elements</a:t>
            </a:r>
          </a:p>
          <a:p>
            <a:pPr marL="1106424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/>
              <a:t>Intended to be backward compatible</a:t>
            </a:r>
          </a:p>
          <a:p>
            <a:pPr marL="850392" lvl="2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br>
              <a:rPr lang="en-US" dirty="0">
                <a:cs typeface="Arial" pitchFamily="34" charset="0"/>
              </a:rPr>
            </a:br>
            <a:endParaRPr lang="en-US" dirty="0">
              <a:cs typeface="Arial" pitchFamily="34" charset="0"/>
            </a:endParaRP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r>
              <a:rPr lang="en-US" sz="2800" dirty="0">
                <a:cs typeface="Times New Roman" pitchFamily="18" charset="0"/>
                <a:hlinkClick r:id="rId3"/>
              </a:rPr>
              <a:t>http://www.w3.org/html/</a:t>
            </a:r>
            <a:endParaRPr lang="en-US" sz="2800" dirty="0">
              <a:cs typeface="Times New Roman" pitchFamily="18" charset="0"/>
            </a:endParaRPr>
          </a:p>
          <a:p>
            <a:pPr marL="822960"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br>
              <a:rPr lang="en-US" sz="2400" dirty="0">
                <a:cs typeface="Times New Roman" pitchFamily="18" charset="0"/>
              </a:rPr>
            </a:br>
            <a:endParaRPr lang="en-US" sz="2400" dirty="0">
              <a:cs typeface="Times New Roman" pitchFamily="18" charset="0"/>
            </a:endParaRPr>
          </a:p>
          <a:p>
            <a:pPr marL="822960" lvl="1" indent="-274320" eaLnBrk="1" fontAlgn="auto" hangingPunct="1">
              <a:spcAft>
                <a:spcPts val="0"/>
              </a:spcAft>
              <a:buFont typeface="Verdana"/>
              <a:buChar char="›"/>
              <a:defRPr/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846ACA62-DE9A-4479-9C6E-FC2431D2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D9C58D-55FC-45F6-9616-D3335D002A17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D5A5ECD9-FDCF-4C32-AAEA-D6C56F795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581400"/>
            <a:ext cx="1900238" cy="261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96994A-0F69-453C-94E7-A174B945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FA7C99-F088-42EA-87E2-E828AA6C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14399"/>
            <a:ext cx="7086600" cy="503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79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71C6A1A0-9DA4-47C0-B1A8-C3882FF4F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Your First HTML5 Web Page: index.html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9D746E1-0E69-4D48-B871-041912ED1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882775"/>
            <a:ext cx="8839200" cy="4572000"/>
          </a:xfrm>
        </p:spPr>
        <p:txBody>
          <a:bodyPr>
            <a:normAutofit lnSpcReduction="10000"/>
          </a:bodyPr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&lt;!DOCTYPE  html"&gt;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&lt;html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="en"&gt;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&lt;head&gt;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&lt;title&gt;Page Title Goes Here&lt;/title&gt;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&lt;meta charset="utf-8"&gt;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&lt;/head&gt;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... body text and more HTML tags go here ...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&lt;/html&gt;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70FC6A70-49C1-46A0-9BA5-7E137D3D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2546EF-9CC2-4549-8B39-291A1628A34A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8F8AAA-580F-4EBF-ADC2-78C7E00E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CB0C-98D8-4B1A-B6DA-3A9F4C61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Under the Hood of </a:t>
            </a:r>
            <a:b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a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0283-4222-4C63-A9A7-72DE77BEE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6000"/>
            <a:ext cx="8991600" cy="4572000"/>
          </a:xfrm>
        </p:spPr>
        <p:txBody>
          <a:bodyPr/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/>
              <a:t>DTD </a:t>
            </a:r>
            <a:r>
              <a:rPr lang="en-US" dirty="0"/>
              <a:t>– describes the markup language syntax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/>
              <a:t>HTML element</a:t>
            </a:r>
            <a:r>
              <a:rPr lang="en-US" dirty="0"/>
              <a:t>– contains the web page document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/>
              <a:t>Head element </a:t>
            </a:r>
            <a:r>
              <a:rPr lang="en-US" dirty="0"/>
              <a:t>– contains the head section</a:t>
            </a:r>
            <a:br>
              <a:rPr lang="en-US" dirty="0"/>
            </a:br>
            <a:r>
              <a:rPr lang="en-US" dirty="0"/>
              <a:t>	</a:t>
            </a:r>
            <a:r>
              <a:rPr lang="en-US" sz="2600" dirty="0"/>
              <a:t>The head section contains information that describes the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                 web page document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	Title element– Text displays in title bar of window</a:t>
            </a:r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	Meta element – describes the character encoding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/>
              <a:t>Body element </a:t>
            </a:r>
            <a:r>
              <a:rPr lang="en-US" dirty="0"/>
              <a:t>– contains the body section</a:t>
            </a:r>
          </a:p>
          <a:p>
            <a:pPr marL="44805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600" dirty="0"/>
              <a:t>The body section contains the text and elements that </a:t>
            </a:r>
            <a:br>
              <a:rPr lang="en-US" sz="2600" dirty="0"/>
            </a:br>
            <a:r>
              <a:rPr lang="en-US" sz="2600" dirty="0"/>
              <a:t>             display in the browser viewport.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88B611C5-42D2-43F9-948D-5EB4AE41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827AE6-3EB3-4050-87C0-6D990852F1F2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pic>
        <p:nvPicPr>
          <p:cNvPr id="32773" name="Picture 6">
            <a:extLst>
              <a:ext uri="{FF2B5EF4-FFF2-40B4-BE49-F238E27FC236}">
                <a16:creationId xmlns:a16="http://schemas.microsoft.com/office/drawing/2014/main" id="{1CEECC1A-8A06-40D5-AD93-745067AB2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19050"/>
            <a:ext cx="2895600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74280-9D9E-4820-8F5E-77001207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22B0-93BF-4E26-9B67-B83833F8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Document Type Definition (</a:t>
            </a:r>
            <a:r>
              <a:rPr lang="en-US" b="1" dirty="0"/>
              <a:t>DTD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DD13-5311-480C-8589-72F1E73A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A document type definition (</a:t>
            </a:r>
            <a:r>
              <a:rPr lang="en-US" b="1" dirty="0"/>
              <a:t>DTD</a:t>
            </a:r>
            <a:r>
              <a:rPr lang="en-US" dirty="0"/>
              <a:t>) is a set of markup declarations that define a document type for an SGML-family markup language (SGML, XML, HTML). 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A Document Type Definition (</a:t>
            </a:r>
            <a:r>
              <a:rPr lang="en-US" b="1" dirty="0"/>
              <a:t>DTD</a:t>
            </a:r>
            <a:r>
              <a:rPr lang="en-US" dirty="0"/>
              <a:t>) defines the legal building blocks of an XML document. 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It defines the document structure with a list of legal elements and attributes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HTML5 don’t use DTD, it makes use of stylesheet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39D0A-C2B0-44D7-B7F3-94A2EB1E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A56A60B8-0042-412F-B8E1-32142643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6F85BB-8E8E-47F1-BD36-3919321F489D}" type="slidenum">
              <a:rPr lang="en-US" altLang="en-US" sz="900"/>
              <a:pPr/>
              <a:t>38</a:t>
            </a:fld>
            <a:endParaRPr lang="en-US" altLang="en-US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A7EDAB6D-EE97-4E96-97C4-FE9F9A357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76263"/>
            <a:ext cx="7381875" cy="566737"/>
          </a:xfrm>
        </p:spPr>
        <p:txBody>
          <a:bodyPr>
            <a:normAutofit fontScale="90000"/>
          </a:bodyPr>
          <a:lstStyle/>
          <a:p>
            <a:pPr marL="484632"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Summary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43FF886-87B7-4BF8-A5B4-08299DBCF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marL="36513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>
                <a:cs typeface="Arial" panose="020B0604020202020204" pitchFamily="34" charset="0"/>
              </a:rPr>
              <a:t>This chapter provided a brief overview of Internet, Web, and introductory networking concepts along with your very first web page.</a:t>
            </a:r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BBB76F94-6BF2-4CD8-B363-9982C4EE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BC2FA2-F47B-4703-9522-D0FC9F2A8DE4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31FEFF-77DF-460A-BB8B-28BC45A6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Copyright © 2016 Pearson Education, Inc., Hoboken NJ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TC104033923[[fn=Depth]]</Template>
  <TotalTime>763</TotalTime>
  <Words>1896</Words>
  <Application>Microsoft Office PowerPoint</Application>
  <PresentationFormat>On-screen Show (4:3)</PresentationFormat>
  <Paragraphs>277</Paragraphs>
  <Slides>39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Times New Roman</vt:lpstr>
      <vt:lpstr>Arial</vt:lpstr>
      <vt:lpstr>Corbel</vt:lpstr>
      <vt:lpstr>Verdana</vt:lpstr>
      <vt:lpstr>Depth</vt:lpstr>
      <vt:lpstr>PowerPoint Presentation</vt:lpstr>
      <vt:lpstr>Learning Outcomes</vt:lpstr>
      <vt:lpstr>The Evolution of the Internet</vt:lpstr>
      <vt:lpstr>The World Wide Web</vt:lpstr>
      <vt:lpstr>Convergence of Technologies</vt:lpstr>
      <vt:lpstr>Convergence of Technologies</vt:lpstr>
      <vt:lpstr>Web Standards  and the W3C Consortium</vt:lpstr>
      <vt:lpstr>Web Accessibility</vt:lpstr>
      <vt:lpstr>Web Accessibility</vt:lpstr>
      <vt:lpstr>Universal Design</vt:lpstr>
      <vt:lpstr>Network Overview</vt:lpstr>
      <vt:lpstr>The Client/Server Model</vt:lpstr>
      <vt:lpstr>The Client/Server Model</vt:lpstr>
      <vt:lpstr>PowerPoint Presentation</vt:lpstr>
      <vt:lpstr>PowerPoint Presentation</vt:lpstr>
      <vt:lpstr>Internet Protocols</vt:lpstr>
      <vt:lpstr>Common Internet Protocols</vt:lpstr>
      <vt:lpstr>PowerPoint Presentation</vt:lpstr>
      <vt:lpstr>PowerPoint Presentation</vt:lpstr>
      <vt:lpstr>HTTP Hypertext Transfer Protocol</vt:lpstr>
      <vt:lpstr>PowerPoint Presentation</vt:lpstr>
      <vt:lpstr>PowerPoint Presentation</vt:lpstr>
      <vt:lpstr>PowerPoint Presentation</vt:lpstr>
      <vt:lpstr>IP Address</vt:lpstr>
      <vt:lpstr>Domain Name</vt:lpstr>
      <vt:lpstr>URI Uniform Resource Indicator</vt:lpstr>
      <vt:lpstr>TLD Top-Level Domain Name</vt:lpstr>
      <vt:lpstr>NEW gTLDs!</vt:lpstr>
      <vt:lpstr>County Code TLDs</vt:lpstr>
      <vt:lpstr>Domain Name System</vt:lpstr>
      <vt:lpstr>Markup Languages</vt:lpstr>
      <vt:lpstr>Markup Languages (2)</vt:lpstr>
      <vt:lpstr>Markup Languages (3)</vt:lpstr>
      <vt:lpstr>Markup Languages (4)</vt:lpstr>
      <vt:lpstr>PowerPoint Presentation</vt:lpstr>
      <vt:lpstr>Your First HTML5 Web Page: index.html</vt:lpstr>
      <vt:lpstr>Under the Hood of  a Web Page</vt:lpstr>
      <vt:lpstr>Document Type Definition (DTD)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Web Design: Chapter 1</dc:title>
  <dc:subject>Chapter 1</dc:subject>
  <dc:creator>Terry Felke-Morris</dc:creator>
  <cp:lastModifiedBy>Basker George</cp:lastModifiedBy>
  <cp:revision>73</cp:revision>
  <cp:lastPrinted>1601-01-01T00:00:00Z</cp:lastPrinted>
  <dcterms:created xsi:type="dcterms:W3CDTF">2002-01-17T02:49:49Z</dcterms:created>
  <dcterms:modified xsi:type="dcterms:W3CDTF">2025-02-24T12:25:44Z</dcterms:modified>
</cp:coreProperties>
</file>