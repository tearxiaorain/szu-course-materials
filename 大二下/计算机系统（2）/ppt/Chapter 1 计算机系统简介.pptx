
<file path=[Content_Types].xml><?xml version="1.0" encoding="utf-8"?>
<Types xmlns="http://schemas.openxmlformats.org/package/2006/content-types">
  <Default Extension="bin" ContentType="application/vnd.openxmlformats-officedocument.oleObject"/>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bookmarkIdSeed="5">
  <p:sldMasterIdLst>
    <p:sldMasterId id="2147483660" r:id="rId1"/>
  </p:sldMasterIdLst>
  <p:notesMasterIdLst>
    <p:notesMasterId r:id="rId54"/>
  </p:notesMasterIdLst>
  <p:handoutMasterIdLst>
    <p:handoutMasterId r:id="rId55"/>
  </p:handoutMasterIdLst>
  <p:sldIdLst>
    <p:sldId id="262" r:id="rId2"/>
    <p:sldId id="265" r:id="rId3"/>
    <p:sldId id="264" r:id="rId4"/>
    <p:sldId id="316" r:id="rId5"/>
    <p:sldId id="259" r:id="rId6"/>
    <p:sldId id="267" r:id="rId7"/>
    <p:sldId id="296" r:id="rId8"/>
    <p:sldId id="297" r:id="rId9"/>
    <p:sldId id="282" r:id="rId10"/>
    <p:sldId id="298" r:id="rId11"/>
    <p:sldId id="301" r:id="rId12"/>
    <p:sldId id="303" r:id="rId13"/>
    <p:sldId id="304" r:id="rId14"/>
    <p:sldId id="305" r:id="rId15"/>
    <p:sldId id="306" r:id="rId16"/>
    <p:sldId id="307" r:id="rId17"/>
    <p:sldId id="308" r:id="rId18"/>
    <p:sldId id="309" r:id="rId19"/>
    <p:sldId id="310" r:id="rId20"/>
    <p:sldId id="311" r:id="rId21"/>
    <p:sldId id="312" r:id="rId22"/>
    <p:sldId id="313" r:id="rId23"/>
    <p:sldId id="314" r:id="rId24"/>
    <p:sldId id="315" r:id="rId25"/>
    <p:sldId id="268" r:id="rId26"/>
    <p:sldId id="295" r:id="rId27"/>
    <p:sldId id="269" r:id="rId28"/>
    <p:sldId id="270" r:id="rId29"/>
    <p:sldId id="271" r:id="rId30"/>
    <p:sldId id="293" r:id="rId31"/>
    <p:sldId id="272" r:id="rId32"/>
    <p:sldId id="273" r:id="rId33"/>
    <p:sldId id="274" r:id="rId34"/>
    <p:sldId id="275" r:id="rId35"/>
    <p:sldId id="276" r:id="rId36"/>
    <p:sldId id="277" r:id="rId37"/>
    <p:sldId id="278" r:id="rId38"/>
    <p:sldId id="279" r:id="rId39"/>
    <p:sldId id="280" r:id="rId40"/>
    <p:sldId id="281" r:id="rId41"/>
    <p:sldId id="283" r:id="rId42"/>
    <p:sldId id="284" r:id="rId43"/>
    <p:sldId id="285" r:id="rId44"/>
    <p:sldId id="286" r:id="rId45"/>
    <p:sldId id="287" r:id="rId46"/>
    <p:sldId id="288" r:id="rId47"/>
    <p:sldId id="289" r:id="rId48"/>
    <p:sldId id="290" r:id="rId49"/>
    <p:sldId id="291" r:id="rId50"/>
    <p:sldId id="292" r:id="rId51"/>
    <p:sldId id="294" r:id="rId52"/>
    <p:sldId id="317" r:id="rId53"/>
  </p:sldIdLst>
  <p:sldSz cx="12192000" cy="6858000"/>
  <p:notesSz cx="9928225" cy="6797675"/>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8015" autoAdjust="0"/>
    <p:restoredTop sz="94270" autoAdjust="0"/>
  </p:normalViewPr>
  <p:slideViewPr>
    <p:cSldViewPr snapToGrid="0">
      <p:cViewPr varScale="1">
        <p:scale>
          <a:sx n="68" d="100"/>
          <a:sy n="68" d="100"/>
        </p:scale>
        <p:origin x="696" y="6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handoutMaster" Target="handoutMasters/handout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slide" Target="slides/slide40.xml"/><Relationship Id="rId54"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presProps" Target="presProp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2" y="1"/>
            <a:ext cx="4302231" cy="341064"/>
          </a:xfrm>
          <a:prstGeom prst="rect">
            <a:avLst/>
          </a:prstGeom>
        </p:spPr>
        <p:txBody>
          <a:bodyPr vert="horz" lIns="91433" tIns="45717" rIns="91433" bIns="45717" rtlCol="0"/>
          <a:lstStyle>
            <a:lvl1pPr algn="l">
              <a:defRPr sz="1200"/>
            </a:lvl1pPr>
          </a:lstStyle>
          <a:p>
            <a:endParaRPr lang="zh-CN" altLang="en-US"/>
          </a:p>
        </p:txBody>
      </p:sp>
      <p:sp>
        <p:nvSpPr>
          <p:cNvPr id="3" name="日期占位符 2"/>
          <p:cNvSpPr>
            <a:spLocks noGrp="1"/>
          </p:cNvSpPr>
          <p:nvPr>
            <p:ph type="dt" sz="quarter" idx="1"/>
          </p:nvPr>
        </p:nvSpPr>
        <p:spPr>
          <a:xfrm>
            <a:off x="5623699" y="1"/>
            <a:ext cx="4302231" cy="341064"/>
          </a:xfrm>
          <a:prstGeom prst="rect">
            <a:avLst/>
          </a:prstGeom>
        </p:spPr>
        <p:txBody>
          <a:bodyPr vert="horz" lIns="91433" tIns="45717" rIns="91433" bIns="45717" rtlCol="0"/>
          <a:lstStyle>
            <a:lvl1pPr algn="r">
              <a:defRPr sz="1200"/>
            </a:lvl1pPr>
          </a:lstStyle>
          <a:p>
            <a:fld id="{A01F69F5-383A-47A9-B1B1-8FDF47B0F790}" type="datetimeFigureOut">
              <a:rPr lang="zh-CN" altLang="en-US" smtClean="0"/>
              <a:t>2021/3/8</a:t>
            </a:fld>
            <a:endParaRPr lang="zh-CN" altLang="en-US"/>
          </a:p>
        </p:txBody>
      </p:sp>
      <p:sp>
        <p:nvSpPr>
          <p:cNvPr id="4" name="页脚占位符 3"/>
          <p:cNvSpPr>
            <a:spLocks noGrp="1"/>
          </p:cNvSpPr>
          <p:nvPr>
            <p:ph type="ftr" sz="quarter" idx="2"/>
          </p:nvPr>
        </p:nvSpPr>
        <p:spPr>
          <a:xfrm>
            <a:off x="2" y="6456613"/>
            <a:ext cx="4302231" cy="341063"/>
          </a:xfrm>
          <a:prstGeom prst="rect">
            <a:avLst/>
          </a:prstGeom>
        </p:spPr>
        <p:txBody>
          <a:bodyPr vert="horz" lIns="91433" tIns="45717" rIns="91433" bIns="45717" rtlCol="0" anchor="b"/>
          <a:lstStyle>
            <a:lvl1pPr algn="l">
              <a:defRPr sz="1200"/>
            </a:lvl1pPr>
          </a:lstStyle>
          <a:p>
            <a:endParaRPr lang="zh-CN" altLang="en-US"/>
          </a:p>
        </p:txBody>
      </p:sp>
      <p:sp>
        <p:nvSpPr>
          <p:cNvPr id="5" name="灯片编号占位符 4"/>
          <p:cNvSpPr>
            <a:spLocks noGrp="1"/>
          </p:cNvSpPr>
          <p:nvPr>
            <p:ph type="sldNum" sz="quarter" idx="3"/>
          </p:nvPr>
        </p:nvSpPr>
        <p:spPr>
          <a:xfrm>
            <a:off x="5623699" y="6456613"/>
            <a:ext cx="4302231" cy="341063"/>
          </a:xfrm>
          <a:prstGeom prst="rect">
            <a:avLst/>
          </a:prstGeom>
        </p:spPr>
        <p:txBody>
          <a:bodyPr vert="horz" lIns="91433" tIns="45717" rIns="91433" bIns="45717" rtlCol="0" anchor="b"/>
          <a:lstStyle>
            <a:lvl1pPr algn="r">
              <a:defRPr sz="1200"/>
            </a:lvl1pPr>
          </a:lstStyle>
          <a:p>
            <a:fld id="{A483B2CB-97E4-4147-836C-61D698400193}" type="slidenum">
              <a:rPr lang="zh-CN" altLang="en-US" smtClean="0"/>
              <a:t>‹#›</a:t>
            </a:fld>
            <a:endParaRPr lang="zh-CN" altLang="en-US"/>
          </a:p>
        </p:txBody>
      </p:sp>
    </p:spTree>
    <p:extLst>
      <p:ext uri="{BB962C8B-B14F-4D97-AF65-F5344CB8AC3E}">
        <p14:creationId xmlns:p14="http://schemas.microsoft.com/office/powerpoint/2010/main" val="2890945660"/>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2" y="1"/>
            <a:ext cx="4302231" cy="341064"/>
          </a:xfrm>
          <a:prstGeom prst="rect">
            <a:avLst/>
          </a:prstGeom>
        </p:spPr>
        <p:txBody>
          <a:bodyPr vert="horz" lIns="91433" tIns="45717" rIns="91433" bIns="45717" rtlCol="0"/>
          <a:lstStyle>
            <a:lvl1pPr algn="l">
              <a:defRPr sz="1200"/>
            </a:lvl1pPr>
          </a:lstStyle>
          <a:p>
            <a:endParaRPr lang="zh-CN" altLang="en-US"/>
          </a:p>
        </p:txBody>
      </p:sp>
      <p:sp>
        <p:nvSpPr>
          <p:cNvPr id="3" name="日期占位符 2"/>
          <p:cNvSpPr>
            <a:spLocks noGrp="1"/>
          </p:cNvSpPr>
          <p:nvPr>
            <p:ph type="dt" idx="1"/>
          </p:nvPr>
        </p:nvSpPr>
        <p:spPr>
          <a:xfrm>
            <a:off x="5623699" y="1"/>
            <a:ext cx="4302231" cy="341064"/>
          </a:xfrm>
          <a:prstGeom prst="rect">
            <a:avLst/>
          </a:prstGeom>
        </p:spPr>
        <p:txBody>
          <a:bodyPr vert="horz" lIns="91433" tIns="45717" rIns="91433" bIns="45717" rtlCol="0"/>
          <a:lstStyle>
            <a:lvl1pPr algn="r">
              <a:defRPr sz="1200"/>
            </a:lvl1pPr>
          </a:lstStyle>
          <a:p>
            <a:fld id="{8F1F969C-290D-4AF7-9D1F-D9365819CC59}" type="datetimeFigureOut">
              <a:rPr lang="zh-CN" altLang="en-US" smtClean="0"/>
              <a:t>2021/3/8</a:t>
            </a:fld>
            <a:endParaRPr lang="zh-CN" altLang="en-US"/>
          </a:p>
        </p:txBody>
      </p:sp>
      <p:sp>
        <p:nvSpPr>
          <p:cNvPr id="4" name="幻灯片图像占位符 3"/>
          <p:cNvSpPr>
            <a:spLocks noGrp="1" noRot="1" noChangeAspect="1"/>
          </p:cNvSpPr>
          <p:nvPr>
            <p:ph type="sldImg" idx="2"/>
          </p:nvPr>
        </p:nvSpPr>
        <p:spPr>
          <a:xfrm>
            <a:off x="2925763" y="849313"/>
            <a:ext cx="4076700" cy="2293937"/>
          </a:xfrm>
          <a:prstGeom prst="rect">
            <a:avLst/>
          </a:prstGeom>
          <a:noFill/>
          <a:ln w="12700">
            <a:solidFill>
              <a:prstClr val="black"/>
            </a:solidFill>
          </a:ln>
        </p:spPr>
        <p:txBody>
          <a:bodyPr vert="horz" lIns="91433" tIns="45717" rIns="91433" bIns="45717" rtlCol="0" anchor="ctr"/>
          <a:lstStyle/>
          <a:p>
            <a:endParaRPr lang="zh-CN" altLang="en-US"/>
          </a:p>
        </p:txBody>
      </p:sp>
      <p:sp>
        <p:nvSpPr>
          <p:cNvPr id="5" name="备注占位符 4"/>
          <p:cNvSpPr>
            <a:spLocks noGrp="1"/>
          </p:cNvSpPr>
          <p:nvPr>
            <p:ph type="body" sz="quarter" idx="3"/>
          </p:nvPr>
        </p:nvSpPr>
        <p:spPr>
          <a:xfrm>
            <a:off x="992823" y="3271382"/>
            <a:ext cx="7942580" cy="2676585"/>
          </a:xfrm>
          <a:prstGeom prst="rect">
            <a:avLst/>
          </a:prstGeom>
        </p:spPr>
        <p:txBody>
          <a:bodyPr vert="horz" lIns="91433" tIns="45717" rIns="91433" bIns="45717" rtlCol="0"/>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页脚占位符 5"/>
          <p:cNvSpPr>
            <a:spLocks noGrp="1"/>
          </p:cNvSpPr>
          <p:nvPr>
            <p:ph type="ftr" sz="quarter" idx="4"/>
          </p:nvPr>
        </p:nvSpPr>
        <p:spPr>
          <a:xfrm>
            <a:off x="2" y="6456613"/>
            <a:ext cx="4302231" cy="341063"/>
          </a:xfrm>
          <a:prstGeom prst="rect">
            <a:avLst/>
          </a:prstGeom>
        </p:spPr>
        <p:txBody>
          <a:bodyPr vert="horz" lIns="91433" tIns="45717" rIns="91433" bIns="45717"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5623699" y="6456613"/>
            <a:ext cx="4302231" cy="341063"/>
          </a:xfrm>
          <a:prstGeom prst="rect">
            <a:avLst/>
          </a:prstGeom>
        </p:spPr>
        <p:txBody>
          <a:bodyPr vert="horz" lIns="91433" tIns="45717" rIns="91433" bIns="45717" rtlCol="0" anchor="b"/>
          <a:lstStyle>
            <a:lvl1pPr algn="r">
              <a:defRPr sz="1200"/>
            </a:lvl1pPr>
          </a:lstStyle>
          <a:p>
            <a:fld id="{3BB21687-B0A7-4083-A9B7-8BE7ECAB6D13}" type="slidenum">
              <a:rPr lang="zh-CN" altLang="en-US" smtClean="0"/>
              <a:t>‹#›</a:t>
            </a:fld>
            <a:endParaRPr lang="zh-CN" altLang="en-US"/>
          </a:p>
        </p:txBody>
      </p:sp>
    </p:spTree>
    <p:extLst>
      <p:ext uri="{BB962C8B-B14F-4D97-AF65-F5344CB8AC3E}">
        <p14:creationId xmlns:p14="http://schemas.microsoft.com/office/powerpoint/2010/main" val="40409726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3" Type="http://schemas.openxmlformats.org/officeDocument/2006/relationships/hyperlink" Target="https://www.bilibili.com/video/av13130225?p=1" TargetMode="External"/><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3BB21687-B0A7-4083-A9B7-8BE7ECAB6D13}" type="slidenum">
              <a:rPr lang="zh-CN" altLang="en-US" smtClean="0"/>
              <a:t>1</a:t>
            </a:fld>
            <a:endParaRPr lang="zh-CN" altLang="en-US"/>
          </a:p>
        </p:txBody>
      </p:sp>
    </p:spTree>
    <p:extLst>
      <p:ext uri="{BB962C8B-B14F-4D97-AF65-F5344CB8AC3E}">
        <p14:creationId xmlns:p14="http://schemas.microsoft.com/office/powerpoint/2010/main" val="100844856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3BB21687-B0A7-4083-A9B7-8BE7ECAB6D13}" type="slidenum">
              <a:rPr lang="zh-CN" altLang="en-US" smtClean="0"/>
              <a:t>2</a:t>
            </a:fld>
            <a:endParaRPr lang="zh-CN" altLang="en-US"/>
          </a:p>
        </p:txBody>
      </p:sp>
    </p:spTree>
    <p:extLst>
      <p:ext uri="{BB962C8B-B14F-4D97-AF65-F5344CB8AC3E}">
        <p14:creationId xmlns:p14="http://schemas.microsoft.com/office/powerpoint/2010/main" val="234663243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第二版用的</a:t>
            </a:r>
            <a:r>
              <a:rPr lang="en-US" altLang="zh-CN" dirty="0"/>
              <a:t>x86-32</a:t>
            </a:r>
            <a:r>
              <a:rPr lang="zh-CN" altLang="en-US" dirty="0"/>
              <a:t>系统，而第三版用的</a:t>
            </a:r>
            <a:r>
              <a:rPr lang="en-US" altLang="zh-CN" dirty="0"/>
              <a:t>x86-64</a:t>
            </a:r>
            <a:r>
              <a:rPr lang="zh-CN" altLang="en-US" dirty="0"/>
              <a:t>系统，</a:t>
            </a:r>
            <a:endParaRPr lang="en-US" altLang="zh-CN" dirty="0"/>
          </a:p>
          <a:p>
            <a:r>
              <a:rPr lang="zh-CN" altLang="en-US" dirty="0"/>
              <a:t>由于使用的</a:t>
            </a:r>
            <a:r>
              <a:rPr lang="en-US" altLang="zh-CN" dirty="0"/>
              <a:t>ISA</a:t>
            </a:r>
            <a:r>
              <a:rPr lang="zh-CN" altLang="en-US" dirty="0"/>
              <a:t>不同，因此差异较大的是第三章</a:t>
            </a:r>
          </a:p>
        </p:txBody>
      </p:sp>
      <p:sp>
        <p:nvSpPr>
          <p:cNvPr id="4" name="灯片编号占位符 3"/>
          <p:cNvSpPr>
            <a:spLocks noGrp="1"/>
          </p:cNvSpPr>
          <p:nvPr>
            <p:ph type="sldNum" sz="quarter" idx="10"/>
          </p:nvPr>
        </p:nvSpPr>
        <p:spPr/>
        <p:txBody>
          <a:bodyPr/>
          <a:lstStyle/>
          <a:p>
            <a:fld id="{3BB21687-B0A7-4083-A9B7-8BE7ECAB6D13}" type="slidenum">
              <a:rPr lang="zh-CN" altLang="en-US" smtClean="0"/>
              <a:t>3</a:t>
            </a:fld>
            <a:endParaRPr lang="zh-CN" altLang="en-US"/>
          </a:p>
        </p:txBody>
      </p:sp>
    </p:spTree>
    <p:extLst>
      <p:ext uri="{BB962C8B-B14F-4D97-AF65-F5344CB8AC3E}">
        <p14:creationId xmlns:p14="http://schemas.microsoft.com/office/powerpoint/2010/main" val="41801716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幻灯片图像占位符 1">
            <a:extLst>
              <a:ext uri="{FF2B5EF4-FFF2-40B4-BE49-F238E27FC236}">
                <a16:creationId xmlns:a16="http://schemas.microsoft.com/office/drawing/2014/main" id="{CD1679B7-1A8A-473F-9D27-4D36603CBE9D}"/>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8195" name="备注占位符 2">
            <a:extLst>
              <a:ext uri="{FF2B5EF4-FFF2-40B4-BE49-F238E27FC236}">
                <a16:creationId xmlns:a16="http://schemas.microsoft.com/office/drawing/2014/main" id="{CE88131C-59C1-4503-8FA8-4250FF5BB368}"/>
              </a:ext>
            </a:extLst>
          </p:cNvPr>
          <p:cNvSpPr>
            <a:spLocks noGrp="1"/>
          </p:cNvSpPr>
          <p:nvPr>
            <p:ph type="body" idx="1"/>
          </p:nvPr>
        </p:nvSpPr>
        <p:spPr bwMode="auto"/>
        <p:txBody>
          <a:bodyPr wrap="square" numCol="1" anchor="t" anchorCtr="0" compatLnSpc="1">
            <a:prstTxWarp prst="textNoShape">
              <a:avLst/>
            </a:prstTxWarp>
            <a:normAutofit fontScale="85000" lnSpcReduction="20000"/>
          </a:bodyPr>
          <a:lstStyle/>
          <a:p>
            <a:pPr>
              <a:defRPr/>
            </a:pPr>
            <a:r>
              <a:rPr lang="zh-CN" altLang="en-US" dirty="0"/>
              <a:t> 需要能建立系统的认识，了解不同子系统各自的功能和相互间关系，</a:t>
            </a:r>
          </a:p>
          <a:p>
            <a:pPr>
              <a:defRPr/>
            </a:pPr>
            <a:r>
              <a:rPr lang="zh-CN" altLang="en-US" dirty="0"/>
              <a:t>举例：汽车发动机要和变速箱再到轮子串起来</a:t>
            </a:r>
          </a:p>
          <a:p>
            <a:pPr>
              <a:defRPr/>
            </a:pPr>
            <a:endParaRPr lang="zh-CN" altLang="en-US" dirty="0"/>
          </a:p>
          <a:p>
            <a:pPr>
              <a:defRPr/>
            </a:pPr>
            <a:r>
              <a:rPr lang="zh-CN" altLang="en-US" dirty="0"/>
              <a:t>对系统的认识</a:t>
            </a:r>
            <a:r>
              <a:rPr lang="en-US" altLang="zh-CN" dirty="0"/>
              <a:t>——</a:t>
            </a:r>
            <a:r>
              <a:rPr lang="zh-CN" altLang="en-US" dirty="0"/>
              <a:t>是一个逐步修正的过程</a:t>
            </a:r>
            <a:r>
              <a:rPr lang="en-US" altLang="zh-CN" dirty="0"/>
              <a:t>——</a:t>
            </a:r>
            <a:r>
              <a:rPr lang="zh-CN" altLang="en-US" dirty="0"/>
              <a:t>单个程序行为（到汇编为止），深入到硬件是系统</a:t>
            </a:r>
            <a:r>
              <a:rPr lang="en-US" altLang="zh-CN" dirty="0"/>
              <a:t>3</a:t>
            </a:r>
            <a:r>
              <a:rPr lang="zh-CN" altLang="en-US" dirty="0"/>
              <a:t>，多个程序行为是</a:t>
            </a:r>
            <a:r>
              <a:rPr lang="en-US" altLang="zh-CN" dirty="0"/>
              <a:t>OS</a:t>
            </a:r>
            <a:r>
              <a:rPr lang="zh-CN" altLang="en-US" dirty="0"/>
              <a:t>，单个程序的代码变换是编译原理</a:t>
            </a:r>
          </a:p>
          <a:p>
            <a:pPr>
              <a:defRPr/>
            </a:pPr>
            <a:endParaRPr lang="en-US" altLang="zh-CN" dirty="0"/>
          </a:p>
          <a:p>
            <a:pPr>
              <a:defRPr/>
            </a:pPr>
            <a:r>
              <a:rPr lang="zh-CN" altLang="en-US" dirty="0"/>
              <a:t>解释课程间关系：</a:t>
            </a:r>
          </a:p>
          <a:p>
            <a:pPr>
              <a:defRPr/>
            </a:pPr>
            <a:r>
              <a:rPr lang="en-US" altLang="zh-CN" dirty="0"/>
              <a:t>	CS2</a:t>
            </a:r>
            <a:r>
              <a:rPr lang="zh-CN" altLang="en-US" dirty="0"/>
              <a:t>与  </a:t>
            </a:r>
            <a:r>
              <a:rPr lang="en-US" altLang="zh-CN" dirty="0"/>
              <a:t>SW</a:t>
            </a:r>
            <a:r>
              <a:rPr lang="zh-CN" altLang="en-US" dirty="0"/>
              <a:t>的算法</a:t>
            </a:r>
            <a:r>
              <a:rPr lang="en-US" altLang="zh-CN" dirty="0"/>
              <a:t>+</a:t>
            </a:r>
            <a:r>
              <a:rPr lang="zh-CN" altLang="en-US" dirty="0"/>
              <a:t>数据结构、操作系统、</a:t>
            </a:r>
            <a:r>
              <a:rPr lang="en-US" altLang="zh-CN" dirty="0"/>
              <a:t>HW</a:t>
            </a:r>
            <a:r>
              <a:rPr lang="zh-CN" altLang="en-US" dirty="0"/>
              <a:t>的体系结构</a:t>
            </a:r>
            <a:r>
              <a:rPr lang="en-US" altLang="zh-CN" dirty="0"/>
              <a:t>/</a:t>
            </a:r>
            <a:r>
              <a:rPr lang="zh-CN" altLang="en-US" dirty="0"/>
              <a:t>组成</a:t>
            </a:r>
            <a:r>
              <a:rPr lang="en-US" altLang="zh-CN" dirty="0"/>
              <a:t>/</a:t>
            </a:r>
            <a:r>
              <a:rPr lang="zh-CN" altLang="en-US" dirty="0"/>
              <a:t>数字逻辑   等 构成计算机核心体系。</a:t>
            </a:r>
            <a:r>
              <a:rPr lang="en-US" altLang="zh-CN" dirty="0"/>
              <a:t>	</a:t>
            </a:r>
          </a:p>
          <a:p>
            <a:pPr>
              <a:defRPr/>
            </a:pPr>
            <a:r>
              <a:rPr lang="en-US" altLang="zh-CN" dirty="0"/>
              <a:t>	</a:t>
            </a:r>
            <a:r>
              <a:rPr lang="zh-CN" altLang="en-US" dirty="0"/>
              <a:t>对理贯穿软件硬件各层次来理解算机工作原理非常关键。</a:t>
            </a:r>
            <a:endParaRPr lang="en-US" altLang="zh-CN" dirty="0"/>
          </a:p>
          <a:p>
            <a:pPr>
              <a:defRPr/>
            </a:pPr>
            <a:r>
              <a:rPr lang="en-US" altLang="zh-CN" dirty="0"/>
              <a:t>	</a:t>
            </a:r>
            <a:r>
              <a:rPr lang="zh-CN" altLang="en-US" dirty="0"/>
              <a:t>深大学生通过这些课程建立起完整的认识。</a:t>
            </a:r>
            <a:endParaRPr lang="en-US" altLang="zh-CN" dirty="0"/>
          </a:p>
          <a:p>
            <a:pPr>
              <a:defRPr/>
            </a:pPr>
            <a:endParaRPr lang="zh-CN" altLang="en-US" dirty="0"/>
          </a:p>
          <a:p>
            <a:pPr>
              <a:defRPr/>
            </a:pPr>
            <a:r>
              <a:rPr lang="zh-CN" altLang="en-US" dirty="0"/>
              <a:t>其中系统</a:t>
            </a:r>
            <a:r>
              <a:rPr lang="en-US" altLang="zh-CN" dirty="0"/>
              <a:t>2</a:t>
            </a:r>
            <a:r>
              <a:rPr lang="zh-CN" altLang="en-US" dirty="0"/>
              <a:t>的部分：</a:t>
            </a:r>
            <a:endParaRPr lang="en-US" altLang="zh-CN" dirty="0"/>
          </a:p>
          <a:p>
            <a:pPr>
              <a:defRPr/>
            </a:pPr>
            <a:r>
              <a:rPr lang="en-US" altLang="zh-CN" dirty="0"/>
              <a:t>	1</a:t>
            </a:r>
            <a:r>
              <a:rPr lang="zh-CN" altLang="en-US" dirty="0"/>
              <a:t>数据怎么保存到内存中，包括数组、结构体、联合体；</a:t>
            </a:r>
            <a:endParaRPr lang="en-US" altLang="zh-CN" dirty="0"/>
          </a:p>
          <a:p>
            <a:pPr>
              <a:defRPr/>
            </a:pPr>
            <a:r>
              <a:rPr lang="en-US" altLang="zh-CN" dirty="0"/>
              <a:t>	2</a:t>
            </a:r>
            <a:r>
              <a:rPr lang="zh-CN" altLang="en-US" dirty="0"/>
              <a:t>运算是怎么实现的；</a:t>
            </a:r>
            <a:endParaRPr lang="en-US" altLang="zh-CN" dirty="0"/>
          </a:p>
          <a:p>
            <a:pPr>
              <a:defRPr/>
            </a:pPr>
            <a:r>
              <a:rPr lang="en-US" altLang="zh-CN" dirty="0"/>
              <a:t>	3</a:t>
            </a:r>
            <a:r>
              <a:rPr lang="zh-CN" altLang="en-US" dirty="0"/>
              <a:t>流程控制中的循环</a:t>
            </a:r>
            <a:r>
              <a:rPr lang="en-US" altLang="zh-CN" dirty="0"/>
              <a:t>/if-else/switch/</a:t>
            </a:r>
            <a:r>
              <a:rPr lang="zh-CN" altLang="en-US" dirty="0"/>
              <a:t>函数，是怎么转换成汇编代码片段的；</a:t>
            </a:r>
            <a:endParaRPr lang="en-US" altLang="zh-CN" dirty="0"/>
          </a:p>
          <a:p>
            <a:pPr>
              <a:defRPr/>
            </a:pPr>
            <a:r>
              <a:rPr lang="en-US" altLang="zh-CN" dirty="0"/>
              <a:t>	4</a:t>
            </a:r>
            <a:r>
              <a:rPr lang="zh-CN" altLang="en-US" dirty="0"/>
              <a:t>代码片段是怎么链接成可执行程序的；</a:t>
            </a:r>
            <a:endParaRPr lang="en-US" altLang="zh-CN" dirty="0"/>
          </a:p>
          <a:p>
            <a:pPr>
              <a:defRPr/>
            </a:pPr>
            <a:endParaRPr lang="en-US" altLang="zh-CN" dirty="0"/>
          </a:p>
          <a:p>
            <a:pPr>
              <a:defRPr/>
            </a:pPr>
            <a:r>
              <a:rPr lang="zh-CN" altLang="en-US" dirty="0"/>
              <a:t>单个用户代码的执行，我们已经基本没有疑问了。但是多个程序如何在一台机器内同时运行，仍存在很多疑问。</a:t>
            </a:r>
            <a:endParaRPr lang="en-US" altLang="zh-CN" dirty="0"/>
          </a:p>
          <a:p>
            <a:pPr>
              <a:defRPr/>
            </a:pPr>
            <a:endParaRPr lang="en-US" altLang="zh-CN" dirty="0"/>
          </a:p>
          <a:p>
            <a:pPr>
              <a:defRPr/>
            </a:pPr>
            <a:r>
              <a:rPr lang="zh-CN" altLang="en-US" dirty="0"/>
              <a:t>而硬件上执行这些代码指令则是计算机系统</a:t>
            </a:r>
            <a:r>
              <a:rPr lang="en-US" altLang="zh-CN" dirty="0"/>
              <a:t>3</a:t>
            </a:r>
            <a:r>
              <a:rPr lang="zh-CN" altLang="en-US" dirty="0"/>
              <a:t>的内容</a:t>
            </a:r>
            <a:endParaRPr lang="zh-CN" altLang="zh-CN" dirty="0"/>
          </a:p>
        </p:txBody>
      </p:sp>
      <p:sp>
        <p:nvSpPr>
          <p:cNvPr id="8196" name="灯片编号占位符 3">
            <a:extLst>
              <a:ext uri="{FF2B5EF4-FFF2-40B4-BE49-F238E27FC236}">
                <a16:creationId xmlns:a16="http://schemas.microsoft.com/office/drawing/2014/main" id="{FAD77018-07D8-4D31-A3A2-8EA8C5AAE6B8}"/>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ea typeface="宋体" panose="02010600030101010101" pitchFamily="2" charset="-122"/>
              </a:defRPr>
            </a:lvl1pPr>
            <a:lvl2pPr marL="747508" indent="-286443">
              <a:spcBef>
                <a:spcPct val="30000"/>
              </a:spcBef>
              <a:defRPr sz="1200">
                <a:solidFill>
                  <a:schemeClr val="tx1"/>
                </a:solidFill>
                <a:latin typeface="Calibri" panose="020F0502020204030204" pitchFamily="34" charset="0"/>
                <a:ea typeface="宋体" panose="02010600030101010101" pitchFamily="2" charset="-122"/>
              </a:defRPr>
            </a:lvl2pPr>
            <a:lvl3pPr marL="1150366" indent="-228236">
              <a:spcBef>
                <a:spcPct val="30000"/>
              </a:spcBef>
              <a:defRPr sz="1200">
                <a:solidFill>
                  <a:schemeClr val="tx1"/>
                </a:solidFill>
                <a:latin typeface="Calibri" panose="020F0502020204030204" pitchFamily="34" charset="0"/>
                <a:ea typeface="宋体" panose="02010600030101010101" pitchFamily="2" charset="-122"/>
              </a:defRPr>
            </a:lvl3pPr>
            <a:lvl4pPr marL="1611431" indent="-228236">
              <a:spcBef>
                <a:spcPct val="30000"/>
              </a:spcBef>
              <a:defRPr sz="1200">
                <a:solidFill>
                  <a:schemeClr val="tx1"/>
                </a:solidFill>
                <a:latin typeface="Calibri" panose="020F0502020204030204" pitchFamily="34" charset="0"/>
                <a:ea typeface="宋体" panose="02010600030101010101" pitchFamily="2" charset="-122"/>
              </a:defRPr>
            </a:lvl4pPr>
            <a:lvl5pPr marL="2072497" indent="-228236">
              <a:spcBef>
                <a:spcPct val="30000"/>
              </a:spcBef>
              <a:defRPr sz="1200">
                <a:solidFill>
                  <a:schemeClr val="tx1"/>
                </a:solidFill>
                <a:latin typeface="Calibri" panose="020F0502020204030204" pitchFamily="34" charset="0"/>
                <a:ea typeface="宋体" panose="02010600030101010101" pitchFamily="2" charset="-122"/>
              </a:defRPr>
            </a:lvl5pPr>
            <a:lvl6pPr marL="2513649" indent="-228236"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6pPr>
            <a:lvl7pPr marL="2954802" indent="-228236"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7pPr>
            <a:lvl8pPr marL="3395954" indent="-228236"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8pPr>
            <a:lvl9pPr marL="3837106" indent="-228236"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9pPr>
          </a:lstStyle>
          <a:p>
            <a:pPr>
              <a:spcBef>
                <a:spcPct val="0"/>
              </a:spcBef>
            </a:pPr>
            <a:fld id="{43B76D4E-54DD-4A2E-A3CC-278B43CADDBC}" type="slidenum">
              <a:rPr lang="zh-CN" altLang="en-US" sz="1300">
                <a:latin typeface="Arial" panose="020B0604020202020204" pitchFamily="34" charset="0"/>
              </a:rPr>
              <a:pPr>
                <a:spcBef>
                  <a:spcPct val="0"/>
                </a:spcBef>
              </a:pPr>
              <a:t>5</a:t>
            </a:fld>
            <a:endParaRPr lang="zh-CN" altLang="en-US" sz="1300">
              <a:latin typeface="Arial" panose="020B0604020202020204" pitchFamily="34" charset="0"/>
            </a:endParaRPr>
          </a:p>
        </p:txBody>
      </p:sp>
    </p:spTree>
    <p:extLst>
      <p:ext uri="{BB962C8B-B14F-4D97-AF65-F5344CB8AC3E}">
        <p14:creationId xmlns:p14="http://schemas.microsoft.com/office/powerpoint/2010/main" val="189414840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呼应前面观点：系统与软件的关系</a:t>
            </a:r>
            <a:endParaRPr lang="en-US" altLang="zh-CN" dirty="0"/>
          </a:p>
          <a:p>
            <a:endParaRPr lang="en-US" altLang="zh-CN" dirty="0"/>
          </a:p>
          <a:p>
            <a:r>
              <a:rPr lang="zh-CN" altLang="en-US" dirty="0"/>
              <a:t>从顶层开始，通过提问将视野拓展一下：</a:t>
            </a:r>
            <a:endParaRPr lang="en-US" altLang="zh-CN" dirty="0"/>
          </a:p>
          <a:p>
            <a:endParaRPr lang="en-US" altLang="zh-CN" dirty="0"/>
          </a:p>
          <a:p>
            <a:r>
              <a:rPr lang="zh-CN" altLang="en-US" dirty="0"/>
              <a:t>提问：大家对</a:t>
            </a:r>
            <a:endParaRPr lang="en-US" altLang="zh-CN" dirty="0"/>
          </a:p>
          <a:p>
            <a:r>
              <a:rPr lang="en-US" altLang="zh-CN" dirty="0"/>
              <a:t>1)include</a:t>
            </a:r>
            <a:r>
              <a:rPr lang="zh-CN" altLang="en-US" dirty="0"/>
              <a:t>什么看法，用</a:t>
            </a:r>
            <a:r>
              <a:rPr lang="en-US" altLang="zh-CN" dirty="0" err="1"/>
              <a:t>gcc</a:t>
            </a:r>
            <a:r>
              <a:rPr lang="en-US" altLang="zh-CN" dirty="0"/>
              <a:t>-E</a:t>
            </a:r>
            <a:r>
              <a:rPr lang="zh-CN" altLang="en-US" dirty="0"/>
              <a:t>查看，与连接关系； </a:t>
            </a:r>
            <a:r>
              <a:rPr lang="en-US" altLang="zh-CN" dirty="0"/>
              <a:t>2</a:t>
            </a:r>
            <a:r>
              <a:rPr lang="zh-CN" altLang="en-US" dirty="0"/>
              <a:t>）如果有变量（全局</a:t>
            </a:r>
            <a:r>
              <a:rPr lang="en-US" altLang="zh-CN" dirty="0"/>
              <a:t>/</a:t>
            </a:r>
            <a:r>
              <a:rPr lang="zh-CN" altLang="en-US" dirty="0"/>
              <a:t>局部</a:t>
            </a:r>
            <a:r>
              <a:rPr lang="en-US" altLang="zh-CN" dirty="0"/>
              <a:t>/</a:t>
            </a:r>
            <a:r>
              <a:rPr lang="zh-CN" altLang="en-US" dirty="0"/>
              <a:t>静态）能说出什么区别，展示内存空间区域；</a:t>
            </a:r>
            <a:endParaRPr lang="en-US" altLang="zh-CN" dirty="0"/>
          </a:p>
          <a:p>
            <a:r>
              <a:rPr lang="en-US" altLang="zh-CN" dirty="0"/>
              <a:t>3</a:t>
            </a:r>
            <a:r>
              <a:rPr lang="zh-CN" altLang="en-US" dirty="0"/>
              <a:t>）看到</a:t>
            </a:r>
            <a:r>
              <a:rPr lang="en-US" altLang="zh-CN" dirty="0" err="1"/>
              <a:t>printf</a:t>
            </a:r>
            <a:r>
              <a:rPr lang="zh-CN" altLang="en-US" dirty="0"/>
              <a:t>有什么说法（函数和其他代码的主要区别？），又在哪里？</a:t>
            </a:r>
            <a:r>
              <a:rPr lang="en-US" altLang="zh-CN" dirty="0"/>
              <a:t>4</a:t>
            </a:r>
            <a:r>
              <a:rPr lang="zh-CN" altLang="en-US" dirty="0"/>
              <a:t>）字符串怎么存储，在哪里？</a:t>
            </a:r>
            <a:endParaRPr lang="en-US" altLang="zh-CN" dirty="0"/>
          </a:p>
          <a:p>
            <a:r>
              <a:rPr lang="en-US" altLang="zh-CN" dirty="0"/>
              <a:t>5</a:t>
            </a:r>
            <a:r>
              <a:rPr lang="zh-CN" altLang="en-US" dirty="0"/>
              <a:t>）各条语句对应机器语言是什么，它们放在放在什么地方</a:t>
            </a:r>
            <a:endParaRPr lang="en-US" altLang="zh-CN" dirty="0"/>
          </a:p>
          <a:p>
            <a:endParaRPr lang="en-US" altLang="zh-CN" dirty="0"/>
          </a:p>
          <a:p>
            <a:r>
              <a:rPr lang="zh-CN" altLang="en-US" dirty="0"/>
              <a:t>为了解答这些问题，各章将分别讨论相应内容</a:t>
            </a:r>
            <a:endParaRPr lang="en-US" altLang="zh-CN" dirty="0"/>
          </a:p>
          <a:p>
            <a:endParaRPr lang="en-US" altLang="zh-CN" dirty="0"/>
          </a:p>
          <a:p>
            <a:r>
              <a:rPr lang="zh-CN" altLang="en-US" dirty="0"/>
              <a:t>这些知识和硬件关系紧密吗？好在不紧密，</a:t>
            </a:r>
            <a:r>
              <a:rPr lang="en-US" altLang="zh-CN" dirty="0"/>
              <a:t>ARM/MIPS</a:t>
            </a:r>
            <a:r>
              <a:rPr lang="zh-CN" altLang="en-US" dirty="0"/>
              <a:t>都可以用</a:t>
            </a:r>
            <a:endParaRPr lang="en-US" altLang="zh-CN" dirty="0"/>
          </a:p>
          <a:p>
            <a:r>
              <a:rPr lang="zh-CN" altLang="en-US" dirty="0"/>
              <a:t>计算机系统的具体实现方式随时间不断变化，但我们主要讨论共性问题和基本概念（与硬件架构有关，但又不太密切）。</a:t>
            </a:r>
            <a:endParaRPr lang="en-US" altLang="zh-CN" dirty="0"/>
          </a:p>
          <a:p>
            <a:r>
              <a:rPr lang="zh-CN" altLang="en-US" dirty="0"/>
              <a:t>希望通过课程的学习：</a:t>
            </a:r>
            <a:endParaRPr lang="en-US" altLang="zh-CN" dirty="0"/>
          </a:p>
          <a:p>
            <a:r>
              <a:rPr lang="en-US" altLang="zh-CN" dirty="0"/>
              <a:t>1</a:t>
            </a:r>
            <a:r>
              <a:rPr lang="zh-CN" altLang="en-US" dirty="0"/>
              <a:t>）了解系统软硬件的工作方式，特别是软件部分；</a:t>
            </a:r>
            <a:endParaRPr lang="en-US" altLang="zh-CN" dirty="0"/>
          </a:p>
          <a:p>
            <a:r>
              <a:rPr lang="en-US" altLang="zh-CN" dirty="0"/>
              <a:t>2</a:t>
            </a:r>
            <a:r>
              <a:rPr lang="zh-CN" altLang="en-US" dirty="0"/>
              <a:t>）成为编程高手</a:t>
            </a:r>
            <a:r>
              <a:rPr lang="en-US" altLang="zh-CN" dirty="0"/>
              <a:t>——</a:t>
            </a:r>
            <a:r>
              <a:rPr lang="zh-CN" altLang="en-US" dirty="0"/>
              <a:t>减少错误、提升性能</a:t>
            </a:r>
            <a:endParaRPr lang="en-US" altLang="zh-CN" dirty="0"/>
          </a:p>
          <a:p>
            <a:endParaRPr lang="en-US" altLang="zh-CN" dirty="0"/>
          </a:p>
          <a:p>
            <a:pPr defTabSz="882305">
              <a:defRPr/>
            </a:pPr>
            <a:r>
              <a:rPr lang="zh-CN" altLang="en-US" dirty="0"/>
              <a:t>本书确实有讨论如何编写更好性能的程序，但是本学期我们主要解决了解代称生成的知识，而没有太多讨论“软件与硬件配合”的性能提升技巧</a:t>
            </a:r>
            <a:endParaRPr lang="en-US" altLang="zh-CN" dirty="0"/>
          </a:p>
          <a:p>
            <a:endParaRPr lang="en-US" altLang="zh-CN" dirty="0"/>
          </a:p>
          <a:p>
            <a:endParaRPr lang="en-US" altLang="zh-CN" dirty="0"/>
          </a:p>
        </p:txBody>
      </p:sp>
      <p:sp>
        <p:nvSpPr>
          <p:cNvPr id="4" name="灯片编号占位符 3"/>
          <p:cNvSpPr>
            <a:spLocks noGrp="1"/>
          </p:cNvSpPr>
          <p:nvPr>
            <p:ph type="sldNum" sz="quarter" idx="10"/>
          </p:nvPr>
        </p:nvSpPr>
        <p:spPr/>
        <p:txBody>
          <a:bodyPr/>
          <a:lstStyle/>
          <a:p>
            <a:fld id="{3BB21687-B0A7-4083-A9B7-8BE7ECAB6D13}" type="slidenum">
              <a:rPr lang="zh-CN" altLang="en-US" smtClean="0"/>
              <a:t>6</a:t>
            </a:fld>
            <a:endParaRPr lang="zh-CN" altLang="en-US"/>
          </a:p>
        </p:txBody>
      </p:sp>
    </p:spTree>
    <p:extLst>
      <p:ext uri="{BB962C8B-B14F-4D97-AF65-F5344CB8AC3E}">
        <p14:creationId xmlns:p14="http://schemas.microsoft.com/office/powerpoint/2010/main" val="51407490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将知识与课本对应起来</a:t>
            </a:r>
            <a:endParaRPr lang="en-US" altLang="zh-CN" dirty="0"/>
          </a:p>
          <a:p>
            <a:endParaRPr lang="en-US" altLang="zh-CN" dirty="0"/>
          </a:p>
          <a:p>
            <a:r>
              <a:rPr lang="en-US" altLang="zh-CN" dirty="0"/>
              <a:t>PPT</a:t>
            </a:r>
            <a:r>
              <a:rPr lang="zh-CN" altLang="en-US" dirty="0"/>
              <a:t>之后，</a:t>
            </a:r>
            <a:endParaRPr lang="en-US" altLang="zh-CN" dirty="0"/>
          </a:p>
          <a:p>
            <a:r>
              <a:rPr lang="zh-CN" altLang="en-US" dirty="0"/>
              <a:t>高级语言程序，并不是简单的置换成机器语言，它们之间还有许多抽象概念要实现，复杂数据结构、程序控制框架、过程、进程等等</a:t>
            </a:r>
            <a:endParaRPr lang="en-US" altLang="zh-CN" dirty="0"/>
          </a:p>
          <a:p>
            <a:r>
              <a:rPr lang="zh-CN" altLang="en-US" dirty="0"/>
              <a:t>而具体机器语言的执行则需要底层</a:t>
            </a:r>
            <a:r>
              <a:rPr lang="en-US" altLang="zh-CN" dirty="0"/>
              <a:t>ISA</a:t>
            </a:r>
            <a:r>
              <a:rPr lang="zh-CN" altLang="en-US" dirty="0"/>
              <a:t>和微架构的支持</a:t>
            </a:r>
            <a:endParaRPr lang="en-US" altLang="zh-CN" dirty="0"/>
          </a:p>
          <a:p>
            <a:endParaRPr lang="en-US" altLang="zh-CN" dirty="0"/>
          </a:p>
          <a:p>
            <a:r>
              <a:rPr lang="zh-CN" altLang="en-US" dirty="0"/>
              <a:t>区分：汇编</a:t>
            </a:r>
            <a:r>
              <a:rPr lang="en-US" altLang="zh-CN" dirty="0"/>
              <a:t>assemble/</a:t>
            </a:r>
            <a:r>
              <a:rPr lang="zh-CN" altLang="en-US" dirty="0"/>
              <a:t>编译</a:t>
            </a:r>
            <a:r>
              <a:rPr lang="en-US" altLang="zh-CN" dirty="0"/>
              <a:t>compile</a:t>
            </a:r>
            <a:endParaRPr lang="zh-CN" altLang="en-US" dirty="0"/>
          </a:p>
        </p:txBody>
      </p:sp>
      <p:sp>
        <p:nvSpPr>
          <p:cNvPr id="4" name="灯片编号占位符 3"/>
          <p:cNvSpPr>
            <a:spLocks noGrp="1"/>
          </p:cNvSpPr>
          <p:nvPr>
            <p:ph type="sldNum" sz="quarter" idx="10"/>
          </p:nvPr>
        </p:nvSpPr>
        <p:spPr/>
        <p:txBody>
          <a:bodyPr/>
          <a:lstStyle/>
          <a:p>
            <a:pPr>
              <a:defRPr/>
            </a:pPr>
            <a:fld id="{09C3EF2F-8E1A-4A8D-899E-303B7E3B0B14}" type="slidenum">
              <a:rPr lang="en-US" altLang="zh-CN" smtClean="0"/>
              <a:pPr>
                <a:defRPr/>
              </a:pPr>
              <a:t>7</a:t>
            </a:fld>
            <a:endParaRPr lang="en-US" altLang="zh-CN"/>
          </a:p>
        </p:txBody>
      </p:sp>
    </p:spTree>
    <p:extLst>
      <p:ext uri="{BB962C8B-B14F-4D97-AF65-F5344CB8AC3E}">
        <p14:creationId xmlns:p14="http://schemas.microsoft.com/office/powerpoint/2010/main" val="286648575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其他</a:t>
            </a:r>
            <a:endParaRPr lang="en-US" altLang="zh-CN" dirty="0"/>
          </a:p>
          <a:p>
            <a:endParaRPr lang="en-US" altLang="zh-CN" dirty="0"/>
          </a:p>
          <a:p>
            <a:r>
              <a:rPr lang="zh-CN" altLang="en-US" dirty="0"/>
              <a:t>简单解释一下</a:t>
            </a:r>
            <a:r>
              <a:rPr lang="en-US" altLang="zh-CN" dirty="0"/>
              <a:t>ISA</a:t>
            </a:r>
          </a:p>
          <a:p>
            <a:r>
              <a:rPr lang="en-US" altLang="zh-CN" dirty="0"/>
              <a:t>OS</a:t>
            </a:r>
            <a:r>
              <a:rPr lang="zh-CN" altLang="en-US" dirty="0"/>
              <a:t>画成小一点，应用程序大多数情况下是直接在</a:t>
            </a:r>
            <a:r>
              <a:rPr lang="en-US" altLang="zh-CN" dirty="0"/>
              <a:t>ISA</a:t>
            </a:r>
            <a:r>
              <a:rPr lang="zh-CN" altLang="en-US" dirty="0"/>
              <a:t>上运行的，部分功能才调用</a:t>
            </a:r>
            <a:r>
              <a:rPr lang="en-US" altLang="zh-CN" dirty="0"/>
              <a:t>OS</a:t>
            </a:r>
            <a:r>
              <a:rPr lang="zh-CN" altLang="en-US" dirty="0"/>
              <a:t>服务</a:t>
            </a:r>
          </a:p>
        </p:txBody>
      </p:sp>
      <p:sp>
        <p:nvSpPr>
          <p:cNvPr id="4" name="灯片编号占位符 3"/>
          <p:cNvSpPr>
            <a:spLocks noGrp="1"/>
          </p:cNvSpPr>
          <p:nvPr>
            <p:ph type="sldNum" sz="quarter" idx="10"/>
          </p:nvPr>
        </p:nvSpPr>
        <p:spPr/>
        <p:txBody>
          <a:bodyPr/>
          <a:lstStyle/>
          <a:p>
            <a:pPr>
              <a:defRPr/>
            </a:pPr>
            <a:fld id="{09C3EF2F-8E1A-4A8D-899E-303B7E3B0B14}" type="slidenum">
              <a:rPr lang="en-US" altLang="zh-CN" smtClean="0"/>
              <a:pPr>
                <a:defRPr/>
              </a:pPr>
              <a:t>8</a:t>
            </a:fld>
            <a:endParaRPr lang="en-US" altLang="zh-CN"/>
          </a:p>
        </p:txBody>
      </p:sp>
    </p:spTree>
    <p:extLst>
      <p:ext uri="{BB962C8B-B14F-4D97-AF65-F5344CB8AC3E}">
        <p14:creationId xmlns:p14="http://schemas.microsoft.com/office/powerpoint/2010/main" val="19587714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课本比我们课程内容要广（可支撑不同课程）</a:t>
            </a:r>
            <a:endParaRPr lang="en-US" altLang="zh-CN" dirty="0"/>
          </a:p>
          <a:p>
            <a:endParaRPr lang="en-US" altLang="zh-CN" dirty="0"/>
          </a:p>
          <a:p>
            <a:r>
              <a:rPr lang="en-US" altLang="zh-CN" dirty="0"/>
              <a:t>1</a:t>
            </a:r>
            <a:r>
              <a:rPr lang="zh-CN" altLang="en-US" dirty="0"/>
              <a:t>计算机系统漫游：用一个</a:t>
            </a:r>
            <a:r>
              <a:rPr lang="en-US" altLang="zh-CN" dirty="0" err="1"/>
              <a:t>Helloworld</a:t>
            </a:r>
            <a:r>
              <a:rPr lang="zh-CN" altLang="en-US" dirty="0"/>
              <a:t>程序的生命周期为主线，介绍代码生成、运行以及所依托的硬件平台和</a:t>
            </a:r>
            <a:r>
              <a:rPr lang="en-US" altLang="zh-CN" dirty="0"/>
              <a:t>OS</a:t>
            </a:r>
            <a:r>
              <a:rPr lang="zh-CN" altLang="en-US" dirty="0"/>
              <a:t>、网络等几个要素。</a:t>
            </a:r>
            <a:endParaRPr lang="en-US" altLang="zh-CN" dirty="0"/>
          </a:p>
          <a:p>
            <a:r>
              <a:rPr lang="en-US" altLang="zh-CN" dirty="0"/>
              <a:t>2</a:t>
            </a:r>
            <a:r>
              <a:rPr lang="zh-CN" altLang="en-US" dirty="0"/>
              <a:t> 数据表示：数值的各种二进制表示方法及其表示范围和运算，回顾为主，且以避免编程错误为重要目的之一。相对于</a:t>
            </a:r>
            <a:r>
              <a:rPr lang="en-US" altLang="zh-CN" dirty="0"/>
              <a:t>CS1</a:t>
            </a:r>
            <a:r>
              <a:rPr lang="zh-CN" altLang="en-US" dirty="0"/>
              <a:t>的</a:t>
            </a:r>
            <a:r>
              <a:rPr lang="en-US" altLang="zh-CN" dirty="0"/>
              <a:t>LC1</a:t>
            </a:r>
            <a:r>
              <a:rPr lang="zh-CN" altLang="en-US" dirty="0"/>
              <a:t>处理器，这里是真实的</a:t>
            </a:r>
            <a:r>
              <a:rPr lang="en-US" altLang="zh-CN" dirty="0"/>
              <a:t>x86</a:t>
            </a:r>
            <a:r>
              <a:rPr lang="zh-CN" altLang="en-US" dirty="0"/>
              <a:t>系统。</a:t>
            </a:r>
            <a:endParaRPr lang="en-US" altLang="zh-CN" dirty="0"/>
          </a:p>
          <a:p>
            <a:r>
              <a:rPr lang="en-US" altLang="zh-CN" dirty="0"/>
              <a:t>3</a:t>
            </a:r>
            <a:r>
              <a:rPr lang="zh-CN" altLang="en-US" dirty="0"/>
              <a:t> 程序的机器级表示：重点。</a:t>
            </a:r>
            <a:r>
              <a:rPr lang="en-US" altLang="zh-CN" dirty="0"/>
              <a:t>C</a:t>
            </a:r>
            <a:r>
              <a:rPr lang="zh-CN" altLang="en-US" dirty="0"/>
              <a:t>语言的机器语言（实际是汇编语言表示，机器表示在系统</a:t>
            </a:r>
            <a:r>
              <a:rPr lang="en-US" altLang="zh-CN" dirty="0"/>
              <a:t>3</a:t>
            </a:r>
            <a:r>
              <a:rPr lang="zh-CN" altLang="en-US" dirty="0"/>
              <a:t>课程中讨论），数据结构的实现、运算、控制结构（分支、循环）、函数的实现。特别是函数调用中的栈操作是重点和难点</a:t>
            </a:r>
            <a:r>
              <a:rPr lang="en-US" altLang="zh-CN" dirty="0"/>
              <a:t>——</a:t>
            </a:r>
            <a:r>
              <a:rPr lang="zh-CN" altLang="en-US" dirty="0"/>
              <a:t>基本过程、安全漏洞及应对措施。   提问：在</a:t>
            </a:r>
            <a:r>
              <a:rPr lang="en-US" altLang="zh-CN" dirty="0"/>
              <a:t>LC1</a:t>
            </a:r>
            <a:r>
              <a:rPr lang="zh-CN" altLang="en-US" dirty="0"/>
              <a:t>上大家怎么做的循环？</a:t>
            </a:r>
            <a:endParaRPr lang="en-US" altLang="zh-CN" dirty="0"/>
          </a:p>
          <a:p>
            <a:r>
              <a:rPr lang="en-US" altLang="zh-CN" dirty="0">
                <a:solidFill>
                  <a:srgbClr val="FF0000"/>
                </a:solidFill>
              </a:rPr>
              <a:t>4</a:t>
            </a:r>
            <a:r>
              <a:rPr lang="zh-CN" altLang="en-US" dirty="0">
                <a:solidFill>
                  <a:srgbClr val="FF0000"/>
                </a:solidFill>
              </a:rPr>
              <a:t> 处理器结构：</a:t>
            </a:r>
            <a:r>
              <a:rPr lang="en-US" altLang="zh-CN" dirty="0">
                <a:solidFill>
                  <a:srgbClr val="FF0000"/>
                </a:solidFill>
              </a:rPr>
              <a:t>X  </a:t>
            </a:r>
            <a:r>
              <a:rPr lang="zh-CN" altLang="en-US" dirty="0">
                <a:solidFill>
                  <a:srgbClr val="FF0000"/>
                </a:solidFill>
              </a:rPr>
              <a:t>不讲，</a:t>
            </a:r>
            <a:r>
              <a:rPr lang="en-US" altLang="zh-CN" dirty="0">
                <a:solidFill>
                  <a:srgbClr val="FF0000"/>
                </a:solidFill>
              </a:rPr>
              <a:t> </a:t>
            </a:r>
            <a:r>
              <a:rPr lang="zh-CN" altLang="en-US" dirty="0">
                <a:solidFill>
                  <a:srgbClr val="FF0000"/>
                </a:solidFill>
              </a:rPr>
              <a:t>统一在系统</a:t>
            </a:r>
            <a:r>
              <a:rPr lang="en-US" altLang="zh-CN" dirty="0">
                <a:solidFill>
                  <a:srgbClr val="FF0000"/>
                </a:solidFill>
              </a:rPr>
              <a:t>3</a:t>
            </a:r>
            <a:r>
              <a:rPr lang="zh-CN" altLang="en-US" dirty="0">
                <a:solidFill>
                  <a:srgbClr val="FF0000"/>
                </a:solidFill>
              </a:rPr>
              <a:t>课程中讨论</a:t>
            </a:r>
            <a:endParaRPr lang="en-US" altLang="zh-CN" dirty="0">
              <a:solidFill>
                <a:srgbClr val="FF0000"/>
              </a:solidFill>
            </a:endParaRPr>
          </a:p>
          <a:p>
            <a:r>
              <a:rPr lang="en-US" altLang="zh-CN" dirty="0"/>
              <a:t>5</a:t>
            </a:r>
            <a:r>
              <a:rPr lang="zh-CN" altLang="en-US" dirty="0"/>
              <a:t> 代码优化：  </a:t>
            </a:r>
            <a:r>
              <a:rPr lang="en-US" altLang="zh-CN" dirty="0"/>
              <a:t>X </a:t>
            </a:r>
            <a:r>
              <a:rPr lang="zh-CN" altLang="en-US" dirty="0"/>
              <a:t>，有时间讲，不考。循环展开、充分利用硬件流水结构、</a:t>
            </a:r>
            <a:r>
              <a:rPr lang="en-US" altLang="zh-CN" dirty="0"/>
              <a:t>SIMD</a:t>
            </a:r>
            <a:r>
              <a:rPr lang="zh-CN" altLang="en-US" dirty="0"/>
              <a:t>指令、并行化等</a:t>
            </a:r>
            <a:endParaRPr lang="en-US" altLang="zh-CN" dirty="0"/>
          </a:p>
          <a:p>
            <a:r>
              <a:rPr lang="en-US" altLang="zh-CN" dirty="0"/>
              <a:t>6</a:t>
            </a:r>
            <a:r>
              <a:rPr lang="zh-CN" altLang="en-US" dirty="0"/>
              <a:t> 存储层次：建立存储体系结构概念，工作原理、基本结构、</a:t>
            </a:r>
            <a:endParaRPr lang="en-US" altLang="zh-CN" dirty="0"/>
          </a:p>
          <a:p>
            <a:r>
              <a:rPr lang="en-US" altLang="zh-CN" dirty="0"/>
              <a:t>7</a:t>
            </a:r>
            <a:r>
              <a:rPr lang="zh-CN" altLang="en-US" dirty="0"/>
              <a:t> 链接： 在第三章之上，形成完整的程序的过程。在第三章的基础之上，组装出进程影像</a:t>
            </a:r>
            <a:endParaRPr lang="en-US" altLang="zh-CN" dirty="0"/>
          </a:p>
          <a:p>
            <a:r>
              <a:rPr lang="en-US" altLang="zh-CN" dirty="0"/>
              <a:t>8</a:t>
            </a:r>
            <a:r>
              <a:rPr lang="zh-CN" altLang="en-US" dirty="0"/>
              <a:t> 异常控制流： 中断、进程切换等概念，用于支撑操作系统课程的基础知识</a:t>
            </a:r>
            <a:endParaRPr lang="en-US" altLang="zh-CN" dirty="0"/>
          </a:p>
          <a:p>
            <a:r>
              <a:rPr lang="en-US" altLang="zh-CN" dirty="0"/>
              <a:t>9</a:t>
            </a:r>
            <a:r>
              <a:rPr lang="zh-CN" altLang="en-US" dirty="0"/>
              <a:t> 虚拟内存： 第六章的一个环节，与进程影像有关，与操作系统多进程组织相关</a:t>
            </a:r>
            <a:endParaRPr lang="en-US" altLang="zh-CN" dirty="0"/>
          </a:p>
          <a:p>
            <a:r>
              <a:rPr lang="en-US" altLang="zh-CN" dirty="0"/>
              <a:t>10</a:t>
            </a:r>
            <a:r>
              <a:rPr lang="zh-CN" altLang="en-US" dirty="0"/>
              <a:t> 系统级</a:t>
            </a:r>
            <a:r>
              <a:rPr lang="en-US" altLang="zh-CN" dirty="0"/>
              <a:t>IO</a:t>
            </a:r>
            <a:r>
              <a:rPr lang="zh-CN" altLang="en-US" dirty="0"/>
              <a:t>：</a:t>
            </a:r>
            <a:r>
              <a:rPr lang="en-US" altLang="zh-CN" dirty="0"/>
              <a:t>X </a:t>
            </a:r>
            <a:r>
              <a:rPr lang="zh-CN" altLang="en-US" dirty="0"/>
              <a:t>不讲</a:t>
            </a:r>
            <a:endParaRPr lang="en-US" altLang="zh-CN" dirty="0"/>
          </a:p>
          <a:p>
            <a:r>
              <a:rPr lang="en-US" altLang="zh-CN" dirty="0"/>
              <a:t>11</a:t>
            </a:r>
            <a:r>
              <a:rPr lang="zh-CN" altLang="en-US" dirty="0"/>
              <a:t> 网络编程：</a:t>
            </a:r>
            <a:r>
              <a:rPr lang="en-US" altLang="zh-CN" dirty="0"/>
              <a:t>X </a:t>
            </a:r>
            <a:r>
              <a:rPr lang="zh-CN" altLang="en-US" dirty="0"/>
              <a:t>不讲</a:t>
            </a:r>
            <a:endParaRPr lang="en-US" altLang="zh-CN" dirty="0"/>
          </a:p>
          <a:p>
            <a:r>
              <a:rPr lang="en-US" altLang="zh-CN" dirty="0"/>
              <a:t>12</a:t>
            </a:r>
            <a:r>
              <a:rPr lang="zh-CN" altLang="en-US" dirty="0"/>
              <a:t> 并发编程：</a:t>
            </a:r>
            <a:r>
              <a:rPr lang="en-US" altLang="zh-CN" dirty="0"/>
              <a:t>X </a:t>
            </a:r>
            <a:r>
              <a:rPr lang="zh-CN" altLang="en-US" dirty="0"/>
              <a:t>不讲</a:t>
            </a:r>
            <a:endParaRPr lang="en-US" altLang="zh-CN" dirty="0"/>
          </a:p>
          <a:p>
            <a:endParaRPr lang="en-US" altLang="zh-CN" dirty="0"/>
          </a:p>
          <a:p>
            <a:r>
              <a:rPr lang="zh-CN" altLang="en-US" dirty="0"/>
              <a:t>我们对硬件的理解仅到</a:t>
            </a:r>
            <a:r>
              <a:rPr lang="en-US" altLang="zh-CN" dirty="0"/>
              <a:t>ISA</a:t>
            </a:r>
            <a:r>
              <a:rPr lang="zh-CN" altLang="en-US" dirty="0"/>
              <a:t>为止：有什么寄存器、有什么指令、有什么样的内存，但是如何实现的没有进行任何讨论</a:t>
            </a:r>
            <a:endParaRPr lang="en-US" altLang="zh-CN" dirty="0"/>
          </a:p>
          <a:p>
            <a:endParaRPr lang="en-US" altLang="zh-CN" dirty="0"/>
          </a:p>
          <a:p>
            <a:r>
              <a:rPr lang="zh-CN" altLang="en-US" dirty="0"/>
              <a:t>绘制：</a:t>
            </a:r>
            <a:r>
              <a:rPr lang="en-US" altLang="zh-CN" dirty="0"/>
              <a:t>	1</a:t>
            </a:r>
            <a:r>
              <a:rPr lang="zh-CN" altLang="en-US" dirty="0"/>
              <a:t>*</a:t>
            </a:r>
            <a:r>
              <a:rPr lang="en-US" altLang="zh-CN" dirty="0"/>
              <a:t>.c-&gt;*.</a:t>
            </a:r>
            <a:r>
              <a:rPr lang="en-US" altLang="zh-CN" dirty="0" err="1"/>
              <a:t>i</a:t>
            </a:r>
            <a:r>
              <a:rPr lang="en-US" altLang="zh-CN" dirty="0"/>
              <a:t>-&gt;*.s-&gt;*.a</a:t>
            </a:r>
          </a:p>
          <a:p>
            <a:r>
              <a:rPr lang="en-US" altLang="zh-CN" dirty="0"/>
              <a:t>	2</a:t>
            </a:r>
            <a:r>
              <a:rPr lang="zh-CN" altLang="en-US" dirty="0"/>
              <a:t>代码变换、</a:t>
            </a:r>
            <a:r>
              <a:rPr lang="en-US" altLang="zh-CN" dirty="0"/>
              <a:t>pp/cc/as/ln</a:t>
            </a:r>
          </a:p>
          <a:p>
            <a:r>
              <a:rPr lang="en-US" altLang="zh-CN" dirty="0"/>
              <a:t>	3</a:t>
            </a:r>
            <a:r>
              <a:rPr lang="zh-CN" altLang="en-US" dirty="0"/>
              <a:t>库的整合</a:t>
            </a:r>
            <a:r>
              <a:rPr lang="en-US" altLang="zh-CN" dirty="0">
                <a:sym typeface="Wingdings" panose="05000000000000000000" pitchFamily="2" charset="2"/>
              </a:rPr>
              <a:t></a:t>
            </a:r>
            <a:r>
              <a:rPr lang="zh-CN" altLang="en-US" dirty="0">
                <a:sym typeface="Wingdings" panose="05000000000000000000" pitchFamily="2" charset="2"/>
              </a:rPr>
              <a:t>进程影像</a:t>
            </a:r>
            <a:r>
              <a:rPr lang="en-US" altLang="zh-CN" dirty="0">
                <a:sym typeface="Wingdings" panose="05000000000000000000" pitchFamily="2" charset="2"/>
              </a:rPr>
              <a:t>	1/2/3</a:t>
            </a:r>
            <a:r>
              <a:rPr lang="zh-CN" altLang="en-US" dirty="0">
                <a:sym typeface="Wingdings" panose="05000000000000000000" pitchFamily="2" charset="2"/>
              </a:rPr>
              <a:t>支撑编译原理</a:t>
            </a:r>
            <a:r>
              <a:rPr lang="en-US" altLang="zh-CN" dirty="0">
                <a:sym typeface="Wingdings" panose="05000000000000000000" pitchFamily="2" charset="2"/>
              </a:rPr>
              <a:t>	</a:t>
            </a:r>
          </a:p>
          <a:p>
            <a:r>
              <a:rPr lang="en-US" altLang="zh-CN" dirty="0">
                <a:sym typeface="Wingdings" panose="05000000000000000000" pitchFamily="2" charset="2"/>
              </a:rPr>
              <a:t>	4</a:t>
            </a:r>
            <a:r>
              <a:rPr lang="zh-CN" altLang="en-US" dirty="0">
                <a:sym typeface="Wingdings" panose="05000000000000000000" pitchFamily="2" charset="2"/>
              </a:rPr>
              <a:t>进程影响、虚存、异常流</a:t>
            </a:r>
            <a:r>
              <a:rPr lang="en-US" altLang="zh-CN" dirty="0">
                <a:sym typeface="Wingdings" panose="05000000000000000000" pitchFamily="2" charset="2"/>
              </a:rPr>
              <a:t></a:t>
            </a:r>
            <a:r>
              <a:rPr lang="zh-CN" altLang="en-US" dirty="0">
                <a:sym typeface="Wingdings" panose="05000000000000000000" pitchFamily="2" charset="2"/>
              </a:rPr>
              <a:t>支撑</a:t>
            </a:r>
            <a:r>
              <a:rPr lang="en-US" altLang="zh-CN" dirty="0">
                <a:sym typeface="Wingdings" panose="05000000000000000000" pitchFamily="2" charset="2"/>
              </a:rPr>
              <a:t>OS</a:t>
            </a:r>
          </a:p>
          <a:p>
            <a:r>
              <a:rPr lang="en-US" altLang="zh-CN" dirty="0">
                <a:sym typeface="Wingdings" panose="05000000000000000000" pitchFamily="2" charset="2"/>
              </a:rPr>
              <a:t>	5</a:t>
            </a:r>
            <a:r>
              <a:rPr lang="zh-CN" altLang="en-US" dirty="0">
                <a:sym typeface="Wingdings" panose="05000000000000000000" pitchFamily="2" charset="2"/>
              </a:rPr>
              <a:t> 存储、</a:t>
            </a:r>
            <a:r>
              <a:rPr lang="en-US" altLang="zh-CN" dirty="0">
                <a:sym typeface="Wingdings" panose="05000000000000000000" pitchFamily="2" charset="2"/>
              </a:rPr>
              <a:t>ISA</a:t>
            </a:r>
            <a:r>
              <a:rPr lang="zh-CN" altLang="en-US" dirty="0">
                <a:sym typeface="Wingdings" panose="05000000000000000000" pitchFamily="2" charset="2"/>
              </a:rPr>
              <a:t>的底层支撑需要计算机系统</a:t>
            </a:r>
            <a:r>
              <a:rPr lang="en-US" altLang="zh-CN" dirty="0">
                <a:sym typeface="Wingdings" panose="05000000000000000000" pitchFamily="2" charset="2"/>
              </a:rPr>
              <a:t>3</a:t>
            </a:r>
          </a:p>
          <a:p>
            <a:r>
              <a:rPr lang="en-US" altLang="zh-CN" dirty="0">
                <a:sym typeface="Wingdings" panose="05000000000000000000" pitchFamily="2" charset="2"/>
              </a:rPr>
              <a:t>	6</a:t>
            </a:r>
            <a:r>
              <a:rPr lang="zh-CN" altLang="en-US" dirty="0">
                <a:sym typeface="Wingdings" panose="05000000000000000000" pitchFamily="2" charset="2"/>
              </a:rPr>
              <a:t> 网络编程、并发编程</a:t>
            </a:r>
            <a:r>
              <a:rPr lang="en-US" altLang="zh-CN" dirty="0">
                <a:sym typeface="Wingdings" panose="05000000000000000000" pitchFamily="2" charset="2"/>
              </a:rPr>
              <a:t></a:t>
            </a:r>
            <a:r>
              <a:rPr lang="zh-CN" altLang="en-US" dirty="0">
                <a:sym typeface="Wingdings" panose="05000000000000000000" pitchFamily="2" charset="2"/>
              </a:rPr>
              <a:t>支撑并行计算（含云计算）</a:t>
            </a:r>
            <a:endParaRPr lang="en-US" altLang="zh-CN" dirty="0">
              <a:sym typeface="Wingdings" panose="05000000000000000000" pitchFamily="2" charset="2"/>
            </a:endParaRPr>
          </a:p>
          <a:p>
            <a:endParaRPr lang="en-US" altLang="zh-CN" dirty="0">
              <a:sym typeface="Wingdings" panose="05000000000000000000" pitchFamily="2" charset="2"/>
            </a:endParaRPr>
          </a:p>
          <a:p>
            <a:r>
              <a:rPr lang="zh-CN" altLang="en-US" dirty="0">
                <a:sym typeface="Wingdings" panose="05000000000000000000" pitchFamily="2" charset="2"/>
              </a:rPr>
              <a:t>提示：第三章的核心作用，对计算机的认识一次全面提升</a:t>
            </a:r>
            <a:endParaRPr lang="en-US" altLang="zh-CN" dirty="0"/>
          </a:p>
        </p:txBody>
      </p:sp>
      <p:sp>
        <p:nvSpPr>
          <p:cNvPr id="4" name="灯片编号占位符 3"/>
          <p:cNvSpPr>
            <a:spLocks noGrp="1"/>
          </p:cNvSpPr>
          <p:nvPr>
            <p:ph type="sldNum" sz="quarter" idx="10"/>
          </p:nvPr>
        </p:nvSpPr>
        <p:spPr/>
        <p:txBody>
          <a:bodyPr/>
          <a:lstStyle/>
          <a:p>
            <a:fld id="{3BB21687-B0A7-4083-A9B7-8BE7ECAB6D13}" type="slidenum">
              <a:rPr lang="zh-CN" altLang="en-US" smtClean="0"/>
              <a:t>9</a:t>
            </a:fld>
            <a:endParaRPr lang="zh-CN" altLang="en-US"/>
          </a:p>
        </p:txBody>
      </p:sp>
    </p:spTree>
    <p:extLst>
      <p:ext uri="{BB962C8B-B14F-4D97-AF65-F5344CB8AC3E}">
        <p14:creationId xmlns:p14="http://schemas.microsoft.com/office/powerpoint/2010/main" val="337212286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defTabSz="882305">
              <a:defRPr/>
            </a:pPr>
            <a:r>
              <a:rPr lang="zh-CN" altLang="en-US" baseline="0" dirty="0"/>
              <a:t>学完这个课程，你再回过头来看你的知识点是否能挂在这三个点之下</a:t>
            </a:r>
            <a:endParaRPr lang="en-US" altLang="zh-CN" baseline="0" dirty="0"/>
          </a:p>
          <a:p>
            <a:pPr defTabSz="882305">
              <a:defRPr/>
            </a:pPr>
            <a:endParaRPr lang="zh-CN" altLang="en-US" dirty="0"/>
          </a:p>
          <a:p>
            <a:r>
              <a:rPr lang="zh-CN" altLang="en-US" dirty="0"/>
              <a:t>从</a:t>
            </a:r>
            <a:r>
              <a:rPr lang="en-US" altLang="zh-CN" dirty="0"/>
              <a:t>Programmer</a:t>
            </a:r>
            <a:r>
              <a:rPr lang="zh-CN" altLang="en-US" dirty="0"/>
              <a:t>角度上看，则关心三个主题</a:t>
            </a:r>
            <a:endParaRPr lang="en-US" altLang="zh-CN" dirty="0"/>
          </a:p>
          <a:p>
            <a:r>
              <a:rPr lang="zh-CN" altLang="en-US" dirty="0"/>
              <a:t>数据表示</a:t>
            </a:r>
            <a:r>
              <a:rPr lang="en-US" altLang="zh-CN" dirty="0"/>
              <a:t>——</a:t>
            </a:r>
            <a:r>
              <a:rPr lang="zh-CN" altLang="en-US" dirty="0"/>
              <a:t>是“组成”课程的重点</a:t>
            </a:r>
            <a:r>
              <a:rPr lang="en-US" altLang="zh-CN" dirty="0"/>
              <a:t>	</a:t>
            </a:r>
            <a:r>
              <a:rPr lang="zh-CN" altLang="en-US" dirty="0"/>
              <a:t>第二章</a:t>
            </a:r>
            <a:r>
              <a:rPr lang="en-US" altLang="zh-CN" dirty="0"/>
              <a:t>	</a:t>
            </a:r>
            <a:r>
              <a:rPr lang="zh-CN" altLang="en-US" dirty="0"/>
              <a:t>区分数据类型</a:t>
            </a:r>
            <a:r>
              <a:rPr lang="en-US" altLang="zh-CN" dirty="0"/>
              <a:t>/</a:t>
            </a:r>
            <a:r>
              <a:rPr lang="zh-CN" altLang="en-US" dirty="0"/>
              <a:t>数据结构</a:t>
            </a:r>
            <a:r>
              <a:rPr lang="en-US" altLang="zh-CN" dirty="0"/>
              <a:t>/</a:t>
            </a:r>
            <a:r>
              <a:rPr lang="zh-CN" altLang="en-US" dirty="0"/>
              <a:t>数据表示</a:t>
            </a:r>
            <a:endParaRPr lang="en-US" altLang="zh-CN" dirty="0"/>
          </a:p>
          <a:p>
            <a:r>
              <a:rPr lang="zh-CN" altLang="en-US" dirty="0"/>
              <a:t>转换</a:t>
            </a:r>
            <a:r>
              <a:rPr lang="en-US" altLang="zh-CN" dirty="0"/>
              <a:t>——</a:t>
            </a:r>
            <a:r>
              <a:rPr lang="zh-CN" altLang="en-US" dirty="0"/>
              <a:t>编译课程内容</a:t>
            </a:r>
            <a:r>
              <a:rPr lang="en-US" altLang="zh-CN" dirty="0"/>
              <a:t>		</a:t>
            </a:r>
            <a:r>
              <a:rPr lang="zh-CN" altLang="en-US" dirty="0"/>
              <a:t>第三章</a:t>
            </a:r>
            <a:endParaRPr lang="en-US" altLang="zh-CN" dirty="0"/>
          </a:p>
          <a:p>
            <a:r>
              <a:rPr lang="zh-CN" altLang="en-US" dirty="0"/>
              <a:t>控制流</a:t>
            </a:r>
            <a:r>
              <a:rPr lang="en-US" altLang="zh-CN" dirty="0"/>
              <a:t>——</a:t>
            </a:r>
            <a:r>
              <a:rPr lang="zh-CN" altLang="en-US" dirty="0"/>
              <a:t>涉及</a:t>
            </a:r>
            <a:r>
              <a:rPr lang="en-US" altLang="zh-CN" dirty="0"/>
              <a:t>OS</a:t>
            </a:r>
            <a:r>
              <a:rPr lang="zh-CN" altLang="en-US" dirty="0"/>
              <a:t>中的概念</a:t>
            </a:r>
            <a:r>
              <a:rPr lang="en-US" altLang="zh-CN" dirty="0"/>
              <a:t>		</a:t>
            </a:r>
            <a:r>
              <a:rPr lang="zh-CN" altLang="en-US" dirty="0"/>
              <a:t>第七章</a:t>
            </a:r>
            <a:r>
              <a:rPr lang="en-US" altLang="zh-CN" dirty="0"/>
              <a:t>/</a:t>
            </a:r>
            <a:r>
              <a:rPr lang="zh-CN" altLang="en-US" dirty="0"/>
              <a:t>第八章</a:t>
            </a:r>
            <a:endParaRPr lang="en-US" altLang="zh-CN" dirty="0"/>
          </a:p>
          <a:p>
            <a:endParaRPr lang="en-US" altLang="zh-CN" dirty="0"/>
          </a:p>
          <a:p>
            <a:r>
              <a:rPr lang="en-US" altLang="zh-CN" baseline="0" dirty="0"/>
              <a:t> </a:t>
            </a:r>
            <a:r>
              <a:rPr lang="zh-CN" altLang="en-US" baseline="0" dirty="0"/>
              <a:t>学完这个课程，你再回过头来看你的知识点是否能挂在这三个点之下</a:t>
            </a:r>
            <a:endParaRPr lang="zh-CN" altLang="en-US" dirty="0"/>
          </a:p>
        </p:txBody>
      </p:sp>
      <p:sp>
        <p:nvSpPr>
          <p:cNvPr id="4" name="灯片编号占位符 3"/>
          <p:cNvSpPr>
            <a:spLocks noGrp="1"/>
          </p:cNvSpPr>
          <p:nvPr>
            <p:ph type="sldNum" sz="quarter" idx="10"/>
          </p:nvPr>
        </p:nvSpPr>
        <p:spPr/>
        <p:txBody>
          <a:bodyPr/>
          <a:lstStyle/>
          <a:p>
            <a:pPr>
              <a:defRPr/>
            </a:pPr>
            <a:fld id="{09C3EF2F-8E1A-4A8D-899E-303B7E3B0B14}" type="slidenum">
              <a:rPr lang="en-US" altLang="zh-CN" smtClean="0"/>
              <a:pPr>
                <a:defRPr/>
              </a:pPr>
              <a:t>10</a:t>
            </a:fld>
            <a:endParaRPr lang="en-US" altLang="zh-CN"/>
          </a:p>
        </p:txBody>
      </p:sp>
    </p:spTree>
    <p:extLst>
      <p:ext uri="{BB962C8B-B14F-4D97-AF65-F5344CB8AC3E}">
        <p14:creationId xmlns:p14="http://schemas.microsoft.com/office/powerpoint/2010/main" val="330936853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spcBef>
                <a:spcPct val="25000"/>
              </a:spcBef>
              <a:buFontTx/>
              <a:buNone/>
            </a:pPr>
            <a:r>
              <a:rPr lang="zh-CN" altLang="en-US" dirty="0">
                <a:solidFill>
                  <a:srgbClr val="CC3300"/>
                </a:solidFill>
              </a:rPr>
              <a:t>编程高手需要深入理解系统工作模式</a:t>
            </a:r>
            <a:endParaRPr lang="en-US" altLang="zh-CN" dirty="0">
              <a:solidFill>
                <a:srgbClr val="CC3300"/>
              </a:solidFill>
            </a:endParaRPr>
          </a:p>
          <a:p>
            <a:pPr>
              <a:spcBef>
                <a:spcPct val="25000"/>
              </a:spcBef>
              <a:buFontTx/>
              <a:buNone/>
            </a:pPr>
            <a:endParaRPr lang="en-US" altLang="zh-CN" dirty="0">
              <a:solidFill>
                <a:srgbClr val="CC3300"/>
              </a:solidFill>
            </a:endParaRPr>
          </a:p>
          <a:p>
            <a:pPr>
              <a:spcBef>
                <a:spcPct val="25000"/>
              </a:spcBef>
              <a:buFontTx/>
              <a:buNone/>
            </a:pPr>
            <a:r>
              <a:rPr lang="zh-CN" altLang="en-US" dirty="0">
                <a:solidFill>
                  <a:srgbClr val="CC3300"/>
                </a:solidFill>
              </a:rPr>
              <a:t>注意提示： 数据在内存中保存为一种位模式，其解读则因规则不同而不同。同样的“位模式”在不同的解读规则下对应不同的“数值”</a:t>
            </a:r>
            <a:endParaRPr lang="en-US" altLang="zh-CN" dirty="0">
              <a:solidFill>
                <a:srgbClr val="CC3300"/>
              </a:solidFill>
            </a:endParaRPr>
          </a:p>
          <a:p>
            <a:pPr>
              <a:spcBef>
                <a:spcPct val="25000"/>
              </a:spcBef>
              <a:buFontTx/>
              <a:buNone/>
            </a:pPr>
            <a:endParaRPr lang="en-US" altLang="zh-CN" dirty="0">
              <a:solidFill>
                <a:srgbClr val="CC3300"/>
              </a:solidFill>
            </a:endParaRPr>
          </a:p>
          <a:p>
            <a:pPr>
              <a:spcBef>
                <a:spcPct val="25000"/>
              </a:spcBef>
              <a:buFontTx/>
              <a:buNone/>
            </a:pPr>
            <a:r>
              <a:rPr lang="en-US" altLang="zh-CN" dirty="0">
                <a:solidFill>
                  <a:srgbClr val="CC3300"/>
                </a:solidFill>
              </a:rPr>
              <a:t>1</a:t>
            </a:r>
            <a:r>
              <a:rPr lang="zh-CN" altLang="en-US" dirty="0">
                <a:solidFill>
                  <a:srgbClr val="CC3300"/>
                </a:solidFill>
              </a:rPr>
              <a:t>）在</a:t>
            </a:r>
            <a:r>
              <a:rPr lang="en-US" altLang="zh-CN" dirty="0">
                <a:solidFill>
                  <a:srgbClr val="CC3300"/>
                </a:solidFill>
              </a:rPr>
              <a:t>ISO C90</a:t>
            </a:r>
            <a:r>
              <a:rPr lang="zh-CN" altLang="en-US" dirty="0">
                <a:solidFill>
                  <a:srgbClr val="CC3300"/>
                </a:solidFill>
              </a:rPr>
              <a:t>标准下 ，</a:t>
            </a:r>
            <a:r>
              <a:rPr lang="en-US" altLang="zh-CN" dirty="0">
                <a:solidFill>
                  <a:srgbClr val="CC3300"/>
                </a:solidFill>
                <a:latin typeface="微软雅黑" pitchFamily="34" charset="-122"/>
                <a:ea typeface="微软雅黑" pitchFamily="34" charset="-122"/>
              </a:rPr>
              <a:t>2147483648</a:t>
            </a:r>
            <a:r>
              <a:rPr lang="zh-CN" altLang="en-US" dirty="0">
                <a:solidFill>
                  <a:srgbClr val="CC3300"/>
                </a:solidFill>
                <a:latin typeface="微软雅黑" pitchFamily="34" charset="-122"/>
                <a:ea typeface="微软雅黑" pitchFamily="34" charset="-122"/>
              </a:rPr>
              <a:t>为</a:t>
            </a:r>
            <a:r>
              <a:rPr lang="en-US" altLang="zh-CN" dirty="0">
                <a:solidFill>
                  <a:srgbClr val="CC3300"/>
                </a:solidFill>
                <a:latin typeface="微软雅黑" pitchFamily="34" charset="-122"/>
                <a:ea typeface="微软雅黑" pitchFamily="34" charset="-122"/>
              </a:rPr>
              <a:t>unsigned </a:t>
            </a:r>
            <a:r>
              <a:rPr lang="en-US" altLang="zh-CN" dirty="0" err="1">
                <a:solidFill>
                  <a:srgbClr val="CC3300"/>
                </a:solidFill>
                <a:latin typeface="微软雅黑" pitchFamily="34" charset="-122"/>
                <a:ea typeface="微软雅黑" pitchFamily="34" charset="-122"/>
              </a:rPr>
              <a:t>int</a:t>
            </a:r>
            <a:r>
              <a:rPr lang="zh-CN" altLang="en-US" dirty="0">
                <a:solidFill>
                  <a:srgbClr val="CC3300"/>
                </a:solidFill>
                <a:latin typeface="微软雅黑" pitchFamily="34" charset="-122"/>
                <a:ea typeface="微软雅黑" pitchFamily="34" charset="-122"/>
              </a:rPr>
              <a:t>型，因此</a:t>
            </a:r>
          </a:p>
          <a:p>
            <a:pPr>
              <a:spcBef>
                <a:spcPct val="25000"/>
              </a:spcBef>
              <a:buFontTx/>
              <a:buNone/>
            </a:pPr>
            <a:r>
              <a:rPr lang="zh-CN" altLang="en-US" dirty="0">
                <a:solidFill>
                  <a:srgbClr val="CC3300"/>
                </a:solidFill>
                <a:latin typeface="微软雅黑" pitchFamily="34" charset="-122"/>
                <a:ea typeface="微软雅黑" pitchFamily="34" charset="-122"/>
              </a:rPr>
              <a:t>    </a:t>
            </a:r>
            <a:r>
              <a:rPr lang="zh-CN" altLang="en-US" dirty="0">
                <a:solidFill>
                  <a:srgbClr val="0033CC"/>
                </a:solidFill>
                <a:latin typeface="微软雅黑" pitchFamily="34" charset="-122"/>
                <a:ea typeface="微软雅黑" pitchFamily="34" charset="-122"/>
              </a:rPr>
              <a:t>“</a:t>
            </a:r>
            <a:r>
              <a:rPr lang="en-US" altLang="zh-CN" dirty="0">
                <a:solidFill>
                  <a:srgbClr val="0033CC"/>
                </a:solidFill>
                <a:latin typeface="微软雅黑" pitchFamily="34" charset="-122"/>
                <a:ea typeface="微软雅黑" pitchFamily="34" charset="-122"/>
              </a:rPr>
              <a:t>-2147483648 &lt; 2147483647”</a:t>
            </a:r>
            <a:r>
              <a:rPr lang="zh-CN" altLang="en-US" dirty="0">
                <a:solidFill>
                  <a:srgbClr val="CC3300"/>
                </a:solidFill>
                <a:latin typeface="微软雅黑" pitchFamily="34" charset="-122"/>
                <a:ea typeface="微软雅黑" pitchFamily="34" charset="-122"/>
              </a:rPr>
              <a:t>按无符号数比较，</a:t>
            </a:r>
          </a:p>
          <a:p>
            <a:pPr>
              <a:spcBef>
                <a:spcPct val="25000"/>
              </a:spcBef>
              <a:buFontTx/>
              <a:buNone/>
            </a:pPr>
            <a:r>
              <a:rPr lang="en-US" altLang="zh-CN" dirty="0">
                <a:solidFill>
                  <a:srgbClr val="CC3300"/>
                </a:solidFill>
                <a:latin typeface="微软雅黑" pitchFamily="34" charset="-122"/>
                <a:ea typeface="微软雅黑" pitchFamily="34" charset="-122"/>
              </a:rPr>
              <a:t>     10……0B</a:t>
            </a:r>
            <a:r>
              <a:rPr lang="zh-CN" altLang="en-US" dirty="0">
                <a:solidFill>
                  <a:srgbClr val="CC3300"/>
                </a:solidFill>
                <a:latin typeface="微软雅黑" pitchFamily="34" charset="-122"/>
                <a:ea typeface="微软雅黑" pitchFamily="34" charset="-122"/>
              </a:rPr>
              <a:t>比</a:t>
            </a:r>
            <a:r>
              <a:rPr lang="en-US" altLang="zh-CN" dirty="0">
                <a:solidFill>
                  <a:srgbClr val="CC3300"/>
                </a:solidFill>
                <a:latin typeface="微软雅黑" pitchFamily="34" charset="-122"/>
                <a:ea typeface="微软雅黑" pitchFamily="34" charset="-122"/>
              </a:rPr>
              <a:t>01……1</a:t>
            </a:r>
            <a:r>
              <a:rPr lang="zh-CN" altLang="en-US" dirty="0">
                <a:solidFill>
                  <a:srgbClr val="CC3300"/>
                </a:solidFill>
                <a:latin typeface="微软雅黑" pitchFamily="34" charset="-122"/>
                <a:ea typeface="微软雅黑" pitchFamily="34" charset="-122"/>
              </a:rPr>
              <a:t>大，结果为</a:t>
            </a:r>
            <a:r>
              <a:rPr lang="en-US" altLang="zh-CN" dirty="0">
                <a:solidFill>
                  <a:srgbClr val="CC3300"/>
                </a:solidFill>
                <a:latin typeface="微软雅黑" pitchFamily="34" charset="-122"/>
                <a:ea typeface="微软雅黑" pitchFamily="34" charset="-122"/>
              </a:rPr>
              <a:t>false</a:t>
            </a:r>
            <a:r>
              <a:rPr lang="zh-CN" altLang="en-US" dirty="0">
                <a:solidFill>
                  <a:srgbClr val="CC3300"/>
                </a:solidFill>
                <a:latin typeface="微软雅黑" pitchFamily="34" charset="-122"/>
                <a:ea typeface="微软雅黑" pitchFamily="34" charset="-122"/>
              </a:rPr>
              <a:t>。</a:t>
            </a:r>
          </a:p>
          <a:p>
            <a:pPr>
              <a:spcBef>
                <a:spcPct val="25000"/>
              </a:spcBef>
              <a:buFontTx/>
              <a:buNone/>
            </a:pPr>
            <a:r>
              <a:rPr lang="zh-CN" altLang="en-US" dirty="0">
                <a:solidFill>
                  <a:srgbClr val="CC3300"/>
                </a:solidFill>
              </a:rPr>
              <a:t>     </a:t>
            </a:r>
            <a:r>
              <a:rPr lang="zh-CN" altLang="en-US" dirty="0">
                <a:solidFill>
                  <a:srgbClr val="008000"/>
                </a:solidFill>
              </a:rPr>
              <a:t>在</a:t>
            </a:r>
            <a:r>
              <a:rPr lang="en-US" altLang="zh-CN" dirty="0">
                <a:solidFill>
                  <a:srgbClr val="008000"/>
                </a:solidFill>
              </a:rPr>
              <a:t>ISO C99</a:t>
            </a:r>
            <a:r>
              <a:rPr lang="zh-CN" altLang="en-US" dirty="0">
                <a:solidFill>
                  <a:srgbClr val="008000"/>
                </a:solidFill>
              </a:rPr>
              <a:t>标准下 ，</a:t>
            </a:r>
            <a:r>
              <a:rPr lang="en-US" altLang="zh-CN" dirty="0">
                <a:solidFill>
                  <a:srgbClr val="008000"/>
                </a:solidFill>
                <a:latin typeface="微软雅黑" pitchFamily="34" charset="-122"/>
                <a:ea typeface="微软雅黑" pitchFamily="34" charset="-122"/>
              </a:rPr>
              <a:t>2147483648</a:t>
            </a:r>
            <a:r>
              <a:rPr lang="zh-CN" altLang="en-US" dirty="0">
                <a:solidFill>
                  <a:srgbClr val="008000"/>
                </a:solidFill>
                <a:latin typeface="微软雅黑" pitchFamily="34" charset="-122"/>
                <a:ea typeface="微软雅黑" pitchFamily="34" charset="-122"/>
              </a:rPr>
              <a:t>为</a:t>
            </a:r>
            <a:r>
              <a:rPr lang="en-US" altLang="zh-CN" dirty="0">
                <a:solidFill>
                  <a:srgbClr val="008000"/>
                </a:solidFill>
                <a:latin typeface="微软雅黑" pitchFamily="34" charset="-122"/>
                <a:ea typeface="微软雅黑" pitchFamily="34" charset="-122"/>
              </a:rPr>
              <a:t>long </a:t>
            </a:r>
            <a:r>
              <a:rPr lang="en-US" altLang="zh-CN" dirty="0" err="1">
                <a:solidFill>
                  <a:srgbClr val="008000"/>
                </a:solidFill>
                <a:latin typeface="微软雅黑" pitchFamily="34" charset="-122"/>
                <a:ea typeface="微软雅黑" pitchFamily="34" charset="-122"/>
              </a:rPr>
              <a:t>long</a:t>
            </a:r>
            <a:r>
              <a:rPr lang="zh-CN" altLang="en-US" dirty="0">
                <a:solidFill>
                  <a:srgbClr val="008000"/>
                </a:solidFill>
                <a:latin typeface="微软雅黑" pitchFamily="34" charset="-122"/>
                <a:ea typeface="微软雅黑" pitchFamily="34" charset="-122"/>
              </a:rPr>
              <a:t>型，因此</a:t>
            </a:r>
          </a:p>
          <a:p>
            <a:pPr>
              <a:spcBef>
                <a:spcPct val="25000"/>
              </a:spcBef>
              <a:buFontTx/>
              <a:buNone/>
            </a:pPr>
            <a:r>
              <a:rPr lang="zh-CN" altLang="en-US" dirty="0">
                <a:solidFill>
                  <a:srgbClr val="008000"/>
                </a:solidFill>
                <a:latin typeface="微软雅黑" pitchFamily="34" charset="-122"/>
                <a:ea typeface="微软雅黑" pitchFamily="34" charset="-122"/>
              </a:rPr>
              <a:t>    </a:t>
            </a:r>
            <a:r>
              <a:rPr lang="zh-CN" altLang="en-US" dirty="0">
                <a:solidFill>
                  <a:srgbClr val="0033CC"/>
                </a:solidFill>
                <a:latin typeface="微软雅黑" pitchFamily="34" charset="-122"/>
                <a:ea typeface="微软雅黑" pitchFamily="34" charset="-122"/>
              </a:rPr>
              <a:t>“</a:t>
            </a:r>
            <a:r>
              <a:rPr lang="en-US" altLang="zh-CN" dirty="0">
                <a:solidFill>
                  <a:srgbClr val="0033CC"/>
                </a:solidFill>
                <a:latin typeface="微软雅黑" pitchFamily="34" charset="-122"/>
                <a:ea typeface="微软雅黑" pitchFamily="34" charset="-122"/>
              </a:rPr>
              <a:t>-2147483648 &lt; 2147483647”</a:t>
            </a:r>
            <a:r>
              <a:rPr lang="zh-CN" altLang="en-US" dirty="0">
                <a:solidFill>
                  <a:srgbClr val="008000"/>
                </a:solidFill>
                <a:latin typeface="微软雅黑" pitchFamily="34" charset="-122"/>
                <a:ea typeface="微软雅黑" pitchFamily="34" charset="-122"/>
              </a:rPr>
              <a:t>按带符号整数比较，</a:t>
            </a:r>
          </a:p>
          <a:p>
            <a:pPr>
              <a:spcBef>
                <a:spcPct val="25000"/>
              </a:spcBef>
              <a:buFontTx/>
              <a:buNone/>
            </a:pPr>
            <a:r>
              <a:rPr lang="en-US" altLang="zh-CN" dirty="0">
                <a:solidFill>
                  <a:srgbClr val="008000"/>
                </a:solidFill>
                <a:latin typeface="微软雅黑" pitchFamily="34" charset="-122"/>
                <a:ea typeface="微软雅黑" pitchFamily="34" charset="-122"/>
              </a:rPr>
              <a:t>     10……0B</a:t>
            </a:r>
            <a:r>
              <a:rPr lang="zh-CN" altLang="en-US" dirty="0">
                <a:solidFill>
                  <a:srgbClr val="008000"/>
                </a:solidFill>
                <a:latin typeface="微软雅黑" pitchFamily="34" charset="-122"/>
                <a:ea typeface="微软雅黑" pitchFamily="34" charset="-122"/>
              </a:rPr>
              <a:t>比</a:t>
            </a:r>
            <a:r>
              <a:rPr lang="en-US" altLang="zh-CN" dirty="0">
                <a:solidFill>
                  <a:srgbClr val="008000"/>
                </a:solidFill>
                <a:latin typeface="微软雅黑" pitchFamily="34" charset="-122"/>
                <a:ea typeface="微软雅黑" pitchFamily="34" charset="-122"/>
              </a:rPr>
              <a:t>01……1</a:t>
            </a:r>
            <a:r>
              <a:rPr lang="zh-CN" altLang="en-US" dirty="0">
                <a:solidFill>
                  <a:srgbClr val="008000"/>
                </a:solidFill>
                <a:latin typeface="微软雅黑" pitchFamily="34" charset="-122"/>
                <a:ea typeface="微软雅黑" pitchFamily="34" charset="-122"/>
              </a:rPr>
              <a:t>小，结果为</a:t>
            </a:r>
            <a:r>
              <a:rPr lang="en-US" altLang="zh-CN" dirty="0">
                <a:solidFill>
                  <a:srgbClr val="008000"/>
                </a:solidFill>
                <a:latin typeface="微软雅黑" pitchFamily="34" charset="-122"/>
                <a:ea typeface="微软雅黑" pitchFamily="34" charset="-122"/>
              </a:rPr>
              <a:t>true</a:t>
            </a:r>
            <a:r>
              <a:rPr lang="zh-CN" altLang="en-US" dirty="0">
                <a:solidFill>
                  <a:srgbClr val="008000"/>
                </a:solidFill>
                <a:latin typeface="微软雅黑" pitchFamily="34" charset="-122"/>
                <a:ea typeface="微软雅黑" pitchFamily="34" charset="-122"/>
              </a:rPr>
              <a:t>。</a:t>
            </a:r>
          </a:p>
          <a:p>
            <a:pPr>
              <a:spcBef>
                <a:spcPct val="25000"/>
              </a:spcBef>
              <a:buFontTx/>
              <a:buNone/>
            </a:pPr>
            <a:r>
              <a:rPr lang="en-US" altLang="zh-CN" dirty="0">
                <a:solidFill>
                  <a:srgbClr val="CC3300"/>
                </a:solidFill>
              </a:rPr>
              <a:t>2</a:t>
            </a:r>
            <a:r>
              <a:rPr lang="zh-CN" altLang="en-US" dirty="0">
                <a:solidFill>
                  <a:srgbClr val="CC3300"/>
                </a:solidFill>
              </a:rPr>
              <a:t>）</a:t>
            </a:r>
            <a:r>
              <a:rPr lang="en-US" altLang="zh-CN" dirty="0" err="1">
                <a:solidFill>
                  <a:srgbClr val="0033CC"/>
                </a:solidFill>
                <a:latin typeface="微软雅黑" pitchFamily="34" charset="-122"/>
                <a:ea typeface="微软雅黑" pitchFamily="34" charset="-122"/>
              </a:rPr>
              <a:t>i</a:t>
            </a:r>
            <a:r>
              <a:rPr lang="en-US" altLang="zh-CN" dirty="0">
                <a:solidFill>
                  <a:srgbClr val="0033CC"/>
                </a:solidFill>
                <a:latin typeface="微软雅黑" pitchFamily="34" charset="-122"/>
                <a:ea typeface="微软雅黑" pitchFamily="34" charset="-122"/>
              </a:rPr>
              <a:t> &lt; 2147483647 </a:t>
            </a:r>
            <a:r>
              <a:rPr lang="zh-CN" altLang="en-US" dirty="0">
                <a:latin typeface="微软雅黑" pitchFamily="34" charset="-122"/>
                <a:ea typeface="微软雅黑" pitchFamily="34" charset="-122"/>
              </a:rPr>
              <a:t>按</a:t>
            </a:r>
            <a:r>
              <a:rPr lang="en-US" altLang="zh-CN" dirty="0" err="1">
                <a:latin typeface="微软雅黑" pitchFamily="34" charset="-122"/>
                <a:ea typeface="微软雅黑" pitchFamily="34" charset="-122"/>
              </a:rPr>
              <a:t>int</a:t>
            </a:r>
            <a:r>
              <a:rPr lang="zh-CN" altLang="en-US" dirty="0">
                <a:latin typeface="微软雅黑" pitchFamily="34" charset="-122"/>
                <a:ea typeface="微软雅黑" pitchFamily="34" charset="-122"/>
              </a:rPr>
              <a:t>型数比较，结果为</a:t>
            </a:r>
            <a:r>
              <a:rPr lang="en-US" altLang="zh-CN" dirty="0">
                <a:latin typeface="微软雅黑" pitchFamily="34" charset="-122"/>
                <a:ea typeface="微软雅黑" pitchFamily="34" charset="-122"/>
              </a:rPr>
              <a:t>true</a:t>
            </a:r>
            <a:r>
              <a:rPr lang="zh-CN" altLang="en-US" dirty="0">
                <a:latin typeface="微软雅黑" pitchFamily="34" charset="-122"/>
                <a:ea typeface="微软雅黑" pitchFamily="34" charset="-122"/>
              </a:rPr>
              <a:t>。</a:t>
            </a:r>
          </a:p>
          <a:p>
            <a:pPr>
              <a:spcBef>
                <a:spcPct val="25000"/>
              </a:spcBef>
              <a:buFontTx/>
              <a:buNone/>
            </a:pPr>
            <a:r>
              <a:rPr lang="en-US" altLang="zh-CN" dirty="0">
                <a:solidFill>
                  <a:srgbClr val="CC3300"/>
                </a:solidFill>
              </a:rPr>
              <a:t>3</a:t>
            </a:r>
            <a:r>
              <a:rPr lang="zh-CN" altLang="en-US" dirty="0">
                <a:solidFill>
                  <a:srgbClr val="CC3300"/>
                </a:solidFill>
              </a:rPr>
              <a:t>）</a:t>
            </a:r>
            <a:r>
              <a:rPr lang="en-US" altLang="zh-CN" dirty="0">
                <a:solidFill>
                  <a:srgbClr val="0033CC"/>
                </a:solidFill>
                <a:latin typeface="微软雅黑" pitchFamily="34" charset="-122"/>
                <a:ea typeface="微软雅黑" pitchFamily="34" charset="-122"/>
              </a:rPr>
              <a:t>-2147483647-1 &lt; 2147483647 </a:t>
            </a:r>
            <a:r>
              <a:rPr lang="zh-CN" altLang="en-US" dirty="0">
                <a:latin typeface="微软雅黑" pitchFamily="34" charset="-122"/>
                <a:ea typeface="微软雅黑" pitchFamily="34" charset="-122"/>
              </a:rPr>
              <a:t>按</a:t>
            </a:r>
            <a:r>
              <a:rPr lang="en-US" altLang="zh-CN" dirty="0" err="1">
                <a:latin typeface="微软雅黑" pitchFamily="34" charset="-122"/>
                <a:ea typeface="微软雅黑" pitchFamily="34" charset="-122"/>
              </a:rPr>
              <a:t>int</a:t>
            </a:r>
            <a:r>
              <a:rPr lang="zh-CN" altLang="en-US" dirty="0">
                <a:latin typeface="微软雅黑" pitchFamily="34" charset="-122"/>
                <a:ea typeface="微软雅黑" pitchFamily="34" charset="-122"/>
              </a:rPr>
              <a:t>型比较，结果为</a:t>
            </a:r>
            <a:r>
              <a:rPr lang="en-US" altLang="zh-CN" dirty="0">
                <a:latin typeface="微软雅黑" pitchFamily="34" charset="-122"/>
                <a:ea typeface="微软雅黑" pitchFamily="34" charset="-122"/>
              </a:rPr>
              <a:t>true</a:t>
            </a:r>
            <a:r>
              <a:rPr lang="zh-CN" altLang="en-US" dirty="0">
                <a:latin typeface="微软雅黑" pitchFamily="34" charset="-122"/>
                <a:ea typeface="微软雅黑" pitchFamily="34" charset="-122"/>
              </a:rPr>
              <a:t>。</a:t>
            </a:r>
            <a:endParaRPr lang="en-US" altLang="zh-CN" dirty="0">
              <a:latin typeface="微软雅黑" pitchFamily="34" charset="-122"/>
              <a:ea typeface="微软雅黑" pitchFamily="34" charset="-122"/>
            </a:endParaRPr>
          </a:p>
          <a:p>
            <a:pPr>
              <a:spcBef>
                <a:spcPct val="25000"/>
              </a:spcBef>
              <a:buFontTx/>
              <a:buNone/>
            </a:pPr>
            <a:endParaRPr lang="en-US" altLang="zh-CN" dirty="0">
              <a:latin typeface="微软雅黑" pitchFamily="34" charset="-122"/>
              <a:ea typeface="微软雅黑" pitchFamily="34" charset="-122"/>
            </a:endParaRPr>
          </a:p>
          <a:p>
            <a:pPr>
              <a:spcBef>
                <a:spcPct val="25000"/>
              </a:spcBef>
              <a:buFontTx/>
              <a:buNone/>
            </a:pPr>
            <a:endParaRPr lang="en-US" altLang="zh-CN" dirty="0">
              <a:latin typeface="微软雅黑" pitchFamily="34" charset="-122"/>
              <a:ea typeface="微软雅黑" pitchFamily="34" charset="-122"/>
            </a:endParaRPr>
          </a:p>
          <a:p>
            <a:pPr>
              <a:spcBef>
                <a:spcPct val="25000"/>
              </a:spcBef>
              <a:buFontTx/>
              <a:buNone/>
            </a:pPr>
            <a:r>
              <a:rPr lang="en-US" altLang="zh-CN" dirty="0">
                <a:hlinkClick r:id="rId3"/>
              </a:rPr>
              <a:t>https://www.bilibili.com/video/av13130225?p=1</a:t>
            </a:r>
            <a:endParaRPr lang="zh-CN" altLang="en-US" dirty="0">
              <a:latin typeface="微软雅黑" pitchFamily="34" charset="-122"/>
              <a:ea typeface="微软雅黑" pitchFamily="34" charset="-122"/>
            </a:endParaRPr>
          </a:p>
          <a:p>
            <a:endParaRPr lang="zh-CN" altLang="en-US" dirty="0"/>
          </a:p>
        </p:txBody>
      </p:sp>
      <p:sp>
        <p:nvSpPr>
          <p:cNvPr id="4" name="灯片编号占位符 3"/>
          <p:cNvSpPr>
            <a:spLocks noGrp="1"/>
          </p:cNvSpPr>
          <p:nvPr>
            <p:ph type="sldNum" sz="quarter" idx="10"/>
          </p:nvPr>
        </p:nvSpPr>
        <p:spPr/>
        <p:txBody>
          <a:bodyPr/>
          <a:lstStyle/>
          <a:p>
            <a:pPr>
              <a:defRPr/>
            </a:pPr>
            <a:fld id="{09C3EF2F-8E1A-4A8D-899E-303B7E3B0B14}" type="slidenum">
              <a:rPr lang="en-US" altLang="zh-CN" smtClean="0"/>
              <a:pPr>
                <a:defRPr/>
              </a:pPr>
              <a:t>11</a:t>
            </a:fld>
            <a:endParaRPr lang="en-US" altLang="zh-CN"/>
          </a:p>
        </p:txBody>
      </p:sp>
    </p:spTree>
    <p:extLst>
      <p:ext uri="{BB962C8B-B14F-4D97-AF65-F5344CB8AC3E}">
        <p14:creationId xmlns:p14="http://schemas.microsoft.com/office/powerpoint/2010/main" val="23617050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此类知识从两个角度学习</a:t>
            </a:r>
            <a:endParaRPr lang="en-US" altLang="zh-CN" dirty="0"/>
          </a:p>
          <a:p>
            <a:r>
              <a:rPr lang="en-US" altLang="zh-CN" dirty="0"/>
              <a:t>1</a:t>
            </a:r>
            <a:r>
              <a:rPr lang="zh-CN" altLang="en-US" dirty="0"/>
              <a:t>）原理</a:t>
            </a:r>
            <a:r>
              <a:rPr lang="en-US" altLang="zh-CN" dirty="0"/>
              <a:t>——</a:t>
            </a:r>
            <a:r>
              <a:rPr lang="zh-CN" altLang="en-US" dirty="0"/>
              <a:t>必须掌握</a:t>
            </a:r>
            <a:endParaRPr lang="en-US" altLang="zh-CN" dirty="0"/>
          </a:p>
          <a:p>
            <a:r>
              <a:rPr lang="en-US" altLang="zh-CN" dirty="0"/>
              <a:t>2</a:t>
            </a:r>
            <a:r>
              <a:rPr lang="zh-CN" altLang="en-US" dirty="0"/>
              <a:t>）细节</a:t>
            </a:r>
            <a:r>
              <a:rPr lang="en-US" altLang="zh-CN" dirty="0"/>
              <a:t>——</a:t>
            </a:r>
            <a:r>
              <a:rPr lang="zh-CN" altLang="en-US" dirty="0"/>
              <a:t>类似茴香豆有四种写法，并不是核心知识</a:t>
            </a:r>
            <a:endParaRPr lang="en-US" altLang="zh-CN" dirty="0"/>
          </a:p>
          <a:p>
            <a:endParaRPr lang="en-US" altLang="zh-CN" dirty="0"/>
          </a:p>
          <a:p>
            <a:r>
              <a:rPr lang="zh-CN" altLang="en-US" dirty="0"/>
              <a:t>关键是知道为什么会出现这些问题，而不是记住具体规则</a:t>
            </a:r>
          </a:p>
        </p:txBody>
      </p:sp>
      <p:sp>
        <p:nvSpPr>
          <p:cNvPr id="4" name="灯片编号占位符 3"/>
          <p:cNvSpPr>
            <a:spLocks noGrp="1"/>
          </p:cNvSpPr>
          <p:nvPr>
            <p:ph type="sldNum" sz="quarter" idx="10"/>
          </p:nvPr>
        </p:nvSpPr>
        <p:spPr/>
        <p:txBody>
          <a:bodyPr/>
          <a:lstStyle/>
          <a:p>
            <a:pPr>
              <a:defRPr/>
            </a:pPr>
            <a:fld id="{09C3EF2F-8E1A-4A8D-899E-303B7E3B0B14}" type="slidenum">
              <a:rPr lang="en-US" altLang="zh-CN" smtClean="0"/>
              <a:pPr>
                <a:defRPr/>
              </a:pPr>
              <a:t>12</a:t>
            </a:fld>
            <a:endParaRPr lang="en-US" altLang="zh-CN"/>
          </a:p>
        </p:txBody>
      </p:sp>
    </p:spTree>
    <p:extLst>
      <p:ext uri="{BB962C8B-B14F-4D97-AF65-F5344CB8AC3E}">
        <p14:creationId xmlns:p14="http://schemas.microsoft.com/office/powerpoint/2010/main" val="220873731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注意参数差别</a:t>
            </a:r>
          </a:p>
        </p:txBody>
      </p:sp>
      <p:sp>
        <p:nvSpPr>
          <p:cNvPr id="4" name="灯片编号占位符 3"/>
          <p:cNvSpPr>
            <a:spLocks noGrp="1"/>
          </p:cNvSpPr>
          <p:nvPr>
            <p:ph type="sldNum" sz="quarter" idx="10"/>
          </p:nvPr>
        </p:nvSpPr>
        <p:spPr/>
        <p:txBody>
          <a:bodyPr/>
          <a:lstStyle/>
          <a:p>
            <a:pPr>
              <a:defRPr/>
            </a:pPr>
            <a:fld id="{09C3EF2F-8E1A-4A8D-899E-303B7E3B0B14}" type="slidenum">
              <a:rPr lang="en-US" altLang="zh-CN" smtClean="0"/>
              <a:pPr>
                <a:defRPr/>
              </a:pPr>
              <a:t>13</a:t>
            </a:fld>
            <a:endParaRPr lang="en-US" altLang="zh-CN"/>
          </a:p>
        </p:txBody>
      </p:sp>
    </p:spTree>
    <p:extLst>
      <p:ext uri="{BB962C8B-B14F-4D97-AF65-F5344CB8AC3E}">
        <p14:creationId xmlns:p14="http://schemas.microsoft.com/office/powerpoint/2010/main" val="3614588593"/>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pPr>
              <a:defRPr/>
            </a:pPr>
            <a:fld id="{09C3EF2F-8E1A-4A8D-899E-303B7E3B0B14}" type="slidenum">
              <a:rPr lang="en-US" altLang="zh-CN" smtClean="0"/>
              <a:pPr>
                <a:defRPr/>
              </a:pPr>
              <a:t>14</a:t>
            </a:fld>
            <a:endParaRPr lang="en-US" altLang="zh-CN"/>
          </a:p>
        </p:txBody>
      </p:sp>
    </p:spTree>
    <p:extLst>
      <p:ext uri="{BB962C8B-B14F-4D97-AF65-F5344CB8AC3E}">
        <p14:creationId xmlns:p14="http://schemas.microsoft.com/office/powerpoint/2010/main" val="2596887532"/>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pPr>
              <a:defRPr/>
            </a:pPr>
            <a:fld id="{09C3EF2F-8E1A-4A8D-899E-303B7E3B0B14}" type="slidenum">
              <a:rPr lang="en-US" altLang="zh-CN" smtClean="0"/>
              <a:pPr>
                <a:defRPr/>
              </a:pPr>
              <a:t>15</a:t>
            </a:fld>
            <a:endParaRPr lang="en-US" altLang="zh-CN"/>
          </a:p>
        </p:txBody>
      </p:sp>
    </p:spTree>
    <p:extLst>
      <p:ext uri="{BB962C8B-B14F-4D97-AF65-F5344CB8AC3E}">
        <p14:creationId xmlns:p14="http://schemas.microsoft.com/office/powerpoint/2010/main" val="977545130"/>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pPr>
              <a:defRPr/>
            </a:pPr>
            <a:fld id="{09C3EF2F-8E1A-4A8D-899E-303B7E3B0B14}" type="slidenum">
              <a:rPr lang="en-US" altLang="zh-CN" smtClean="0"/>
              <a:pPr>
                <a:defRPr/>
              </a:pPr>
              <a:t>16</a:t>
            </a:fld>
            <a:endParaRPr lang="en-US" altLang="zh-CN"/>
          </a:p>
        </p:txBody>
      </p:sp>
    </p:spTree>
    <p:extLst>
      <p:ext uri="{BB962C8B-B14F-4D97-AF65-F5344CB8AC3E}">
        <p14:creationId xmlns:p14="http://schemas.microsoft.com/office/powerpoint/2010/main" val="1006745335"/>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pPr>
              <a:defRPr/>
            </a:pPr>
            <a:fld id="{09C3EF2F-8E1A-4A8D-899E-303B7E3B0B14}" type="slidenum">
              <a:rPr lang="en-US" altLang="zh-CN" smtClean="0"/>
              <a:pPr>
                <a:defRPr/>
              </a:pPr>
              <a:t>17</a:t>
            </a:fld>
            <a:endParaRPr lang="en-US" altLang="zh-CN"/>
          </a:p>
        </p:txBody>
      </p:sp>
    </p:spTree>
    <p:extLst>
      <p:ext uri="{BB962C8B-B14F-4D97-AF65-F5344CB8AC3E}">
        <p14:creationId xmlns:p14="http://schemas.microsoft.com/office/powerpoint/2010/main" val="154022183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画图，将变量画出来，需要画出堆栈</a:t>
            </a:r>
            <a:endParaRPr lang="en-US" altLang="zh-CN" dirty="0"/>
          </a:p>
          <a:p>
            <a:endParaRPr lang="en-US" altLang="zh-CN" dirty="0"/>
          </a:p>
          <a:p>
            <a:r>
              <a:rPr lang="zh-CN" altLang="en-US" dirty="0"/>
              <a:t>理解代码（此例是函数）行为，才能真正找出问题所在（甚至黑客行为）</a:t>
            </a:r>
          </a:p>
        </p:txBody>
      </p:sp>
      <p:sp>
        <p:nvSpPr>
          <p:cNvPr id="4" name="灯片编号占位符 3"/>
          <p:cNvSpPr>
            <a:spLocks noGrp="1"/>
          </p:cNvSpPr>
          <p:nvPr>
            <p:ph type="sldNum" sz="quarter" idx="10"/>
          </p:nvPr>
        </p:nvSpPr>
        <p:spPr/>
        <p:txBody>
          <a:bodyPr/>
          <a:lstStyle/>
          <a:p>
            <a:pPr>
              <a:defRPr/>
            </a:pPr>
            <a:fld id="{09C3EF2F-8E1A-4A8D-899E-303B7E3B0B14}" type="slidenum">
              <a:rPr lang="en-US" altLang="zh-CN" smtClean="0"/>
              <a:pPr>
                <a:defRPr/>
              </a:pPr>
              <a:t>18</a:t>
            </a:fld>
            <a:endParaRPr lang="en-US" altLang="zh-CN"/>
          </a:p>
        </p:txBody>
      </p:sp>
    </p:spTree>
    <p:extLst>
      <p:ext uri="{BB962C8B-B14F-4D97-AF65-F5344CB8AC3E}">
        <p14:creationId xmlns:p14="http://schemas.microsoft.com/office/powerpoint/2010/main" val="3560789037"/>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有初值的就是强定义，包括有代码实现的函数</a:t>
            </a:r>
          </a:p>
        </p:txBody>
      </p:sp>
      <p:sp>
        <p:nvSpPr>
          <p:cNvPr id="4" name="灯片编号占位符 3"/>
          <p:cNvSpPr>
            <a:spLocks noGrp="1"/>
          </p:cNvSpPr>
          <p:nvPr>
            <p:ph type="sldNum" sz="quarter" idx="10"/>
          </p:nvPr>
        </p:nvSpPr>
        <p:spPr/>
        <p:txBody>
          <a:bodyPr/>
          <a:lstStyle/>
          <a:p>
            <a:pPr>
              <a:defRPr/>
            </a:pPr>
            <a:fld id="{09C3EF2F-8E1A-4A8D-899E-303B7E3B0B14}" type="slidenum">
              <a:rPr lang="en-US" altLang="zh-CN" smtClean="0"/>
              <a:pPr>
                <a:defRPr/>
              </a:pPr>
              <a:t>19</a:t>
            </a:fld>
            <a:endParaRPr lang="en-US" altLang="zh-CN"/>
          </a:p>
        </p:txBody>
      </p:sp>
    </p:spTree>
    <p:extLst>
      <p:ext uri="{BB962C8B-B14F-4D97-AF65-F5344CB8AC3E}">
        <p14:creationId xmlns:p14="http://schemas.microsoft.com/office/powerpoint/2010/main" val="2484975974"/>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09C3EF2F-8E1A-4A8D-899E-303B7E3B0B14}" type="slidenum">
              <a:rPr lang="en-US" altLang="zh-CN" smtClean="0"/>
              <a:pPr>
                <a:defRPr/>
              </a:pPr>
              <a:t>20</a:t>
            </a:fld>
            <a:endParaRPr lang="en-US" altLang="zh-CN"/>
          </a:p>
        </p:txBody>
      </p:sp>
    </p:spTree>
    <p:extLst>
      <p:ext uri="{BB962C8B-B14F-4D97-AF65-F5344CB8AC3E}">
        <p14:creationId xmlns:p14="http://schemas.microsoft.com/office/powerpoint/2010/main" val="3962907828"/>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画图</a:t>
            </a:r>
          </a:p>
        </p:txBody>
      </p:sp>
      <p:sp>
        <p:nvSpPr>
          <p:cNvPr id="4" name="灯片编号占位符 3"/>
          <p:cNvSpPr>
            <a:spLocks noGrp="1"/>
          </p:cNvSpPr>
          <p:nvPr>
            <p:ph type="sldNum" sz="quarter" idx="10"/>
          </p:nvPr>
        </p:nvSpPr>
        <p:spPr/>
        <p:txBody>
          <a:bodyPr/>
          <a:lstStyle/>
          <a:p>
            <a:pPr>
              <a:defRPr/>
            </a:pPr>
            <a:fld id="{09C3EF2F-8E1A-4A8D-899E-303B7E3B0B14}" type="slidenum">
              <a:rPr lang="en-US" altLang="zh-CN" smtClean="0"/>
              <a:pPr>
                <a:defRPr/>
              </a:pPr>
              <a:t>21</a:t>
            </a:fld>
            <a:endParaRPr lang="en-US" altLang="zh-CN"/>
          </a:p>
        </p:txBody>
      </p:sp>
    </p:spTree>
    <p:extLst>
      <p:ext uri="{BB962C8B-B14F-4D97-AF65-F5344CB8AC3E}">
        <p14:creationId xmlns:p14="http://schemas.microsoft.com/office/powerpoint/2010/main" val="264480272"/>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en-US" altLang="zh-CN" dirty="0"/>
          </a:p>
          <a:p>
            <a:endParaRPr lang="en-US" altLang="zh-CN" dirty="0"/>
          </a:p>
          <a:p>
            <a:r>
              <a:rPr lang="zh-CN" altLang="en-US" dirty="0"/>
              <a:t>需要关注：</a:t>
            </a:r>
            <a:endParaRPr lang="en-US" altLang="zh-CN" dirty="0"/>
          </a:p>
          <a:p>
            <a:r>
              <a:rPr lang="en-US" altLang="zh-CN" dirty="0"/>
              <a:t>1</a:t>
            </a:r>
            <a:r>
              <a:rPr lang="zh-CN" altLang="en-US" dirty="0"/>
              <a:t>）</a:t>
            </a:r>
            <a:r>
              <a:rPr lang="en-US" altLang="zh-CN" dirty="0"/>
              <a:t>C</a:t>
            </a:r>
            <a:r>
              <a:rPr lang="zh-CN" altLang="en-US" dirty="0"/>
              <a:t>语言规范细节</a:t>
            </a:r>
            <a:endParaRPr lang="en-US" altLang="zh-CN" dirty="0"/>
          </a:p>
          <a:p>
            <a:r>
              <a:rPr lang="en-US" altLang="zh-CN" dirty="0"/>
              <a:t>2</a:t>
            </a:r>
            <a:r>
              <a:rPr lang="zh-CN" altLang="en-US" dirty="0"/>
              <a:t>）编译器行为和</a:t>
            </a:r>
            <a:r>
              <a:rPr lang="en-US" altLang="zh-CN" dirty="0"/>
              <a:t>ABI</a:t>
            </a:r>
          </a:p>
          <a:p>
            <a:endParaRPr lang="en-US" altLang="zh-CN" dirty="0"/>
          </a:p>
        </p:txBody>
      </p:sp>
      <p:sp>
        <p:nvSpPr>
          <p:cNvPr id="4" name="灯片编号占位符 3"/>
          <p:cNvSpPr>
            <a:spLocks noGrp="1"/>
          </p:cNvSpPr>
          <p:nvPr>
            <p:ph type="sldNum" sz="quarter" idx="10"/>
          </p:nvPr>
        </p:nvSpPr>
        <p:spPr/>
        <p:txBody>
          <a:bodyPr/>
          <a:lstStyle/>
          <a:p>
            <a:pPr>
              <a:defRPr/>
            </a:pPr>
            <a:fld id="{09C3EF2F-8E1A-4A8D-899E-303B7E3B0B14}" type="slidenum">
              <a:rPr lang="en-US" altLang="zh-CN" smtClean="0"/>
              <a:pPr>
                <a:defRPr/>
              </a:pPr>
              <a:t>22</a:t>
            </a:fld>
            <a:endParaRPr lang="en-US" altLang="zh-CN"/>
          </a:p>
        </p:txBody>
      </p:sp>
    </p:spTree>
    <p:extLst>
      <p:ext uri="{BB962C8B-B14F-4D97-AF65-F5344CB8AC3E}">
        <p14:creationId xmlns:p14="http://schemas.microsoft.com/office/powerpoint/2010/main" val="68365296"/>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2610" name="Slide Image Placeholder 1"/>
          <p:cNvSpPr>
            <a:spLocks noGrp="1" noRot="1" noChangeAspect="1" noTextEdit="1"/>
          </p:cNvSpPr>
          <p:nvPr>
            <p:ph type="sldImg"/>
          </p:nvPr>
        </p:nvSpPr>
        <p:spPr>
          <a:xfrm>
            <a:off x="2697163" y="511175"/>
            <a:ext cx="4533900" cy="2549525"/>
          </a:xfrm>
          <a:ln/>
        </p:spPr>
      </p:sp>
      <p:sp>
        <p:nvSpPr>
          <p:cNvPr id="452611" name="Notes Placeholder 2"/>
          <p:cNvSpPr>
            <a:spLocks noGrp="1"/>
          </p:cNvSpPr>
          <p:nvPr>
            <p:ph type="body" idx="1"/>
          </p:nvPr>
        </p:nvSpPr>
        <p:spPr>
          <a:noFill/>
          <a:ln/>
        </p:spPr>
        <p:txBody>
          <a:bodyPr lIns="96654" tIns="48327" rIns="96654" bIns="48327"/>
          <a:lstStyle/>
          <a:p>
            <a:pPr eaLnBrk="1" hangingPunct="1"/>
            <a:r>
              <a:rPr lang="zh-CN" altLang="en-US" dirty="0">
                <a:latin typeface="Arial" pitchFamily="34" charset="0"/>
              </a:rPr>
              <a:t>除了前面涉及“功能”正确性的问题外，还有很重要的“性能”问题</a:t>
            </a:r>
            <a:endParaRPr lang="en-US" altLang="zh-CN" dirty="0">
              <a:latin typeface="Arial" pitchFamily="34" charset="0"/>
            </a:endParaRPr>
          </a:p>
        </p:txBody>
      </p:sp>
    </p:spTree>
    <p:extLst>
      <p:ext uri="{BB962C8B-B14F-4D97-AF65-F5344CB8AC3E}">
        <p14:creationId xmlns:p14="http://schemas.microsoft.com/office/powerpoint/2010/main" val="1289334550"/>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4658" name="Slide Image Placeholder 1"/>
          <p:cNvSpPr>
            <a:spLocks noGrp="1" noRot="1" noChangeAspect="1" noTextEdit="1"/>
          </p:cNvSpPr>
          <p:nvPr>
            <p:ph type="sldImg"/>
          </p:nvPr>
        </p:nvSpPr>
        <p:spPr>
          <a:xfrm>
            <a:off x="2697163" y="511175"/>
            <a:ext cx="4533900" cy="2549525"/>
          </a:xfrm>
          <a:ln/>
        </p:spPr>
      </p:sp>
      <p:sp>
        <p:nvSpPr>
          <p:cNvPr id="454659" name="Notes Placeholder 2"/>
          <p:cNvSpPr>
            <a:spLocks noGrp="1"/>
          </p:cNvSpPr>
          <p:nvPr>
            <p:ph type="body" idx="1"/>
          </p:nvPr>
        </p:nvSpPr>
        <p:spPr>
          <a:noFill/>
          <a:ln/>
        </p:spPr>
        <p:txBody>
          <a:bodyPr lIns="96654" tIns="48327" rIns="96654" bIns="48327"/>
          <a:lstStyle/>
          <a:p>
            <a:pPr eaLnBrk="1" hangingPunct="1"/>
            <a:endParaRPr lang="en-US" altLang="zh-CN">
              <a:latin typeface="Arial" pitchFamily="34" charset="0"/>
            </a:endParaRPr>
          </a:p>
        </p:txBody>
      </p:sp>
    </p:spTree>
    <p:extLst>
      <p:ext uri="{BB962C8B-B14F-4D97-AF65-F5344CB8AC3E}">
        <p14:creationId xmlns:p14="http://schemas.microsoft.com/office/powerpoint/2010/main" val="1062834970"/>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为了更好的完成实验，建议并行地学习一下知识：</a:t>
            </a:r>
            <a:r>
              <a:rPr lang="en-US" altLang="zh-CN" dirty="0"/>
              <a:t>Linux</a:t>
            </a:r>
            <a:r>
              <a:rPr lang="zh-CN" altLang="en-US" dirty="0"/>
              <a:t>的编程、</a:t>
            </a:r>
            <a:r>
              <a:rPr lang="en-US" altLang="zh-CN" dirty="0"/>
              <a:t>Linux</a:t>
            </a:r>
            <a:r>
              <a:rPr lang="zh-CN" altLang="en-US" dirty="0"/>
              <a:t>的系统管理</a:t>
            </a:r>
            <a:endParaRPr lang="en-US" altLang="zh-CN" dirty="0"/>
          </a:p>
          <a:p>
            <a:endParaRPr lang="zh-CN" altLang="en-US" dirty="0"/>
          </a:p>
        </p:txBody>
      </p:sp>
      <p:sp>
        <p:nvSpPr>
          <p:cNvPr id="4" name="灯片编号占位符 3"/>
          <p:cNvSpPr>
            <a:spLocks noGrp="1"/>
          </p:cNvSpPr>
          <p:nvPr>
            <p:ph type="sldNum" sz="quarter" idx="10"/>
          </p:nvPr>
        </p:nvSpPr>
        <p:spPr/>
        <p:txBody>
          <a:bodyPr/>
          <a:lstStyle/>
          <a:p>
            <a:fld id="{3BB21687-B0A7-4083-A9B7-8BE7ECAB6D13}" type="slidenum">
              <a:rPr lang="zh-CN" altLang="en-US" smtClean="0"/>
              <a:t>25</a:t>
            </a:fld>
            <a:endParaRPr lang="zh-CN" altLang="en-US"/>
          </a:p>
        </p:txBody>
      </p:sp>
    </p:spTree>
    <p:extLst>
      <p:ext uri="{BB962C8B-B14F-4D97-AF65-F5344CB8AC3E}">
        <p14:creationId xmlns:p14="http://schemas.microsoft.com/office/powerpoint/2010/main" val="2683881434"/>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目标：</a:t>
            </a:r>
          </a:p>
          <a:p>
            <a:r>
              <a:rPr lang="zh-CN" altLang="en-US" dirty="0"/>
              <a:t>          培养学生的系统能力，使其成为一个“高效”程序员，在程序调试、性能提升、程序移植和健壮性等方面成为高手；建立扎实的计算机系统概念，为后续的</a:t>
            </a:r>
            <a:r>
              <a:rPr lang="en-US" altLang="zh-CN" dirty="0"/>
              <a:t>OS</a:t>
            </a:r>
            <a:r>
              <a:rPr lang="zh-CN" altLang="en-US" dirty="0"/>
              <a:t>、编译、体系结构等课程打下坚实基础</a:t>
            </a:r>
          </a:p>
          <a:p>
            <a:endParaRPr lang="zh-CN" altLang="en-US" dirty="0"/>
          </a:p>
        </p:txBody>
      </p:sp>
      <p:sp>
        <p:nvSpPr>
          <p:cNvPr id="4" name="灯片编号占位符 3"/>
          <p:cNvSpPr>
            <a:spLocks noGrp="1"/>
          </p:cNvSpPr>
          <p:nvPr>
            <p:ph type="sldNum" sz="quarter" idx="10"/>
          </p:nvPr>
        </p:nvSpPr>
        <p:spPr/>
        <p:txBody>
          <a:bodyPr/>
          <a:lstStyle/>
          <a:p>
            <a:pPr>
              <a:defRPr/>
            </a:pPr>
            <a:fld id="{09C3EF2F-8E1A-4A8D-899E-303B7E3B0B14}" type="slidenum">
              <a:rPr lang="en-US" altLang="zh-CN" smtClean="0"/>
              <a:pPr>
                <a:defRPr/>
              </a:pPr>
              <a:t>26</a:t>
            </a:fld>
            <a:endParaRPr lang="en-US" altLang="zh-CN"/>
          </a:p>
        </p:txBody>
      </p:sp>
    </p:spTree>
    <p:extLst>
      <p:ext uri="{BB962C8B-B14F-4D97-AF65-F5344CB8AC3E}">
        <p14:creationId xmlns:p14="http://schemas.microsoft.com/office/powerpoint/2010/main" val="1256398718"/>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幻灯片图像占位符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5123" name="备注占位符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r>
              <a:rPr lang="zh-CN" altLang="en-US" dirty="0"/>
              <a:t>本章进行系统漫游：</a:t>
            </a:r>
            <a:endParaRPr lang="en-US" altLang="zh-CN" dirty="0"/>
          </a:p>
          <a:p>
            <a:pPr eaLnBrk="1" hangingPunct="1">
              <a:spcBef>
                <a:spcPct val="0"/>
              </a:spcBef>
            </a:pPr>
            <a:r>
              <a:rPr lang="en-US" altLang="zh-CN" dirty="0"/>
              <a:t>1</a:t>
            </a:r>
            <a:r>
              <a:rPr lang="zh-CN" altLang="en-US" dirty="0"/>
              <a:t>）一个</a:t>
            </a:r>
            <a:r>
              <a:rPr lang="en-US" altLang="zh-CN" dirty="0" err="1"/>
              <a:t>hello.c</a:t>
            </a:r>
            <a:r>
              <a:rPr lang="zh-CN" altLang="en-US" dirty="0"/>
              <a:t>源代码开始，经过编译变换成为可执行文件；</a:t>
            </a:r>
            <a:endParaRPr lang="en-US" altLang="zh-CN" dirty="0"/>
          </a:p>
          <a:p>
            <a:pPr eaLnBrk="1" hangingPunct="1">
              <a:spcBef>
                <a:spcPct val="0"/>
              </a:spcBef>
            </a:pPr>
            <a:r>
              <a:rPr lang="en-US" altLang="zh-CN" dirty="0"/>
              <a:t>2</a:t>
            </a:r>
            <a:r>
              <a:rPr lang="zh-CN" altLang="en-US" dirty="0"/>
              <a:t>）</a:t>
            </a:r>
            <a:r>
              <a:rPr lang="en-US" altLang="zh-CN" dirty="0" err="1"/>
              <a:t>helloworld</a:t>
            </a:r>
            <a:r>
              <a:rPr lang="zh-CN" altLang="en-US" dirty="0"/>
              <a:t>可执行文件在机器硬件中的运行；</a:t>
            </a:r>
            <a:endParaRPr lang="en-US" altLang="zh-CN" dirty="0"/>
          </a:p>
          <a:p>
            <a:pPr eaLnBrk="1" hangingPunct="1">
              <a:spcBef>
                <a:spcPct val="0"/>
              </a:spcBef>
            </a:pPr>
            <a:r>
              <a:rPr lang="en-US" altLang="zh-CN" dirty="0"/>
              <a:t>3</a:t>
            </a:r>
            <a:r>
              <a:rPr lang="zh-CN" altLang="en-US" dirty="0"/>
              <a:t>）</a:t>
            </a:r>
            <a:r>
              <a:rPr lang="en-US" altLang="zh-CN" dirty="0"/>
              <a:t>OS</a:t>
            </a:r>
            <a:r>
              <a:rPr lang="zh-CN" altLang="en-US" dirty="0"/>
              <a:t>的角色</a:t>
            </a:r>
            <a:endParaRPr lang="en-US" altLang="zh-CN" dirty="0"/>
          </a:p>
          <a:p>
            <a:pPr eaLnBrk="1" hangingPunct="1">
              <a:spcBef>
                <a:spcPct val="0"/>
              </a:spcBef>
            </a:pPr>
            <a:r>
              <a:rPr lang="en-US" altLang="zh-CN" dirty="0"/>
              <a:t>4</a:t>
            </a:r>
            <a:r>
              <a:rPr lang="zh-CN" altLang="en-US" dirty="0"/>
              <a:t>）并发与‘抽象</a:t>
            </a:r>
            <a:endParaRPr lang="en-US" altLang="zh-CN" dirty="0"/>
          </a:p>
          <a:p>
            <a:pPr eaLnBrk="1" hangingPunct="1">
              <a:spcBef>
                <a:spcPct val="0"/>
              </a:spcBef>
            </a:pPr>
            <a:endParaRPr lang="en-US" altLang="zh-CN" dirty="0"/>
          </a:p>
          <a:p>
            <a:pPr eaLnBrk="1" hangingPunct="1">
              <a:spcBef>
                <a:spcPct val="0"/>
              </a:spcBef>
            </a:pPr>
            <a:r>
              <a:rPr lang="zh-CN" altLang="en-US" dirty="0"/>
              <a:t>本章唯一的数学公式，</a:t>
            </a:r>
            <a:r>
              <a:rPr lang="en-US" altLang="zh-CN" dirty="0" err="1"/>
              <a:t>amdahl</a:t>
            </a:r>
            <a:r>
              <a:rPr lang="zh-CN" altLang="en-US" dirty="0"/>
              <a:t>定理</a:t>
            </a:r>
            <a:endParaRPr lang="en-US" altLang="zh-CN" dirty="0"/>
          </a:p>
        </p:txBody>
      </p:sp>
      <p:sp>
        <p:nvSpPr>
          <p:cNvPr id="5124" name="灯片编号占位符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ea typeface="宋体" panose="02010600030101010101" pitchFamily="2" charset="-122"/>
              </a:defRPr>
            </a:lvl1pPr>
            <a:lvl2pPr marL="742895" indent="-285729">
              <a:spcBef>
                <a:spcPct val="30000"/>
              </a:spcBef>
              <a:defRPr sz="1200">
                <a:solidFill>
                  <a:schemeClr val="tx1"/>
                </a:solidFill>
                <a:latin typeface="Calibri" panose="020F0502020204030204" pitchFamily="34" charset="0"/>
                <a:ea typeface="宋体" panose="02010600030101010101" pitchFamily="2" charset="-122"/>
              </a:defRPr>
            </a:lvl2pPr>
            <a:lvl3pPr marL="1142915" indent="-228583">
              <a:spcBef>
                <a:spcPct val="30000"/>
              </a:spcBef>
              <a:defRPr sz="1200">
                <a:solidFill>
                  <a:schemeClr val="tx1"/>
                </a:solidFill>
                <a:latin typeface="Calibri" panose="020F0502020204030204" pitchFamily="34" charset="0"/>
                <a:ea typeface="宋体" panose="02010600030101010101" pitchFamily="2" charset="-122"/>
              </a:defRPr>
            </a:lvl3pPr>
            <a:lvl4pPr marL="1600081" indent="-228583">
              <a:spcBef>
                <a:spcPct val="30000"/>
              </a:spcBef>
              <a:defRPr sz="1200">
                <a:solidFill>
                  <a:schemeClr val="tx1"/>
                </a:solidFill>
                <a:latin typeface="Calibri" panose="020F0502020204030204" pitchFamily="34" charset="0"/>
                <a:ea typeface="宋体" panose="02010600030101010101" pitchFamily="2" charset="-122"/>
              </a:defRPr>
            </a:lvl4pPr>
            <a:lvl5pPr marL="2057248" indent="-228583">
              <a:spcBef>
                <a:spcPct val="30000"/>
              </a:spcBef>
              <a:defRPr sz="1200">
                <a:solidFill>
                  <a:schemeClr val="tx1"/>
                </a:solidFill>
                <a:latin typeface="Calibri" panose="020F0502020204030204" pitchFamily="34" charset="0"/>
                <a:ea typeface="宋体" panose="02010600030101010101" pitchFamily="2" charset="-122"/>
              </a:defRPr>
            </a:lvl5pPr>
            <a:lvl6pPr marL="2514414" indent="-228583"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6pPr>
            <a:lvl7pPr marL="2971579" indent="-228583"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7pPr>
            <a:lvl8pPr marL="3428746" indent="-228583"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8pPr>
            <a:lvl9pPr marL="3885912" indent="-228583"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9pPr>
          </a:lstStyle>
          <a:p>
            <a:pPr>
              <a:spcBef>
                <a:spcPct val="0"/>
              </a:spcBef>
            </a:pPr>
            <a:fld id="{C4465181-E0DB-4F68-B6CD-8DE283401434}" type="slidenum">
              <a:rPr lang="zh-CN" altLang="en-US" smtClean="0">
                <a:latin typeface="Arial" panose="020B0604020202020204" pitchFamily="34" charset="0"/>
              </a:rPr>
              <a:pPr>
                <a:spcBef>
                  <a:spcPct val="0"/>
                </a:spcBef>
              </a:pPr>
              <a:t>27</a:t>
            </a:fld>
            <a:endParaRPr lang="zh-CN" altLang="en-US">
              <a:latin typeface="Arial" panose="020B0604020202020204" pitchFamily="34" charset="0"/>
            </a:endParaRPr>
          </a:p>
        </p:txBody>
      </p:sp>
    </p:spTree>
    <p:extLst>
      <p:ext uri="{BB962C8B-B14F-4D97-AF65-F5344CB8AC3E}">
        <p14:creationId xmlns:p14="http://schemas.microsoft.com/office/powerpoint/2010/main" val="271046559"/>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C</a:t>
            </a:r>
            <a:r>
              <a:rPr lang="zh-CN" altLang="en-US" dirty="0"/>
              <a:t>源代码是文本文文件（可执行文件时二进制文件），用“</a:t>
            </a:r>
            <a:r>
              <a:rPr lang="en-US" altLang="zh-CN" dirty="0" err="1"/>
              <a:t>hexdump</a:t>
            </a:r>
            <a:r>
              <a:rPr lang="en-US" altLang="zh-CN" dirty="0"/>
              <a:t> –C  </a:t>
            </a:r>
            <a:r>
              <a:rPr lang="zh-CN" altLang="en-US" dirty="0"/>
              <a:t>”命令查看文件</a:t>
            </a:r>
            <a:r>
              <a:rPr lang="en-US" altLang="zh-CN" dirty="0"/>
              <a:t>ASCII</a:t>
            </a:r>
            <a:r>
              <a:rPr lang="zh-CN" altLang="en-US" dirty="0"/>
              <a:t>和文本内容</a:t>
            </a:r>
            <a:endParaRPr lang="en-US" altLang="zh-CN" dirty="0"/>
          </a:p>
          <a:p>
            <a:endParaRPr lang="en-US" altLang="zh-CN" dirty="0"/>
          </a:p>
          <a:p>
            <a:r>
              <a:rPr lang="zh-CN" altLang="en-US" dirty="0"/>
              <a:t>第二章将展开讨论数据表示，第三章将展开讨论</a:t>
            </a:r>
            <a:r>
              <a:rPr lang="en-US" altLang="zh-CN" dirty="0"/>
              <a:t>C</a:t>
            </a:r>
            <a:r>
              <a:rPr lang="zh-CN" altLang="en-US" dirty="0"/>
              <a:t>代码与汇编</a:t>
            </a:r>
            <a:r>
              <a:rPr lang="en-US" altLang="zh-CN" dirty="0"/>
              <a:t>/</a:t>
            </a:r>
            <a:r>
              <a:rPr lang="zh-CN" altLang="en-US" dirty="0"/>
              <a:t>机器码</a:t>
            </a:r>
            <a:endParaRPr lang="en-US" altLang="zh-CN" dirty="0"/>
          </a:p>
          <a:p>
            <a:endParaRPr lang="en-US" altLang="zh-CN" dirty="0"/>
          </a:p>
          <a:p>
            <a:r>
              <a:rPr lang="zh-CN" altLang="en-US" dirty="0"/>
              <a:t>文本文件</a:t>
            </a:r>
            <a:r>
              <a:rPr lang="en-US" altLang="zh-CN" dirty="0"/>
              <a:t>/</a:t>
            </a:r>
            <a:r>
              <a:rPr lang="zh-CN" altLang="en-US" dirty="0"/>
              <a:t>二进制文件</a:t>
            </a:r>
            <a:endParaRPr lang="en-US" altLang="zh-CN" dirty="0"/>
          </a:p>
          <a:p>
            <a:r>
              <a:rPr lang="zh-CN" altLang="en-US" dirty="0"/>
              <a:t>需要注意到对“数值”的表示通常只能做到近似值，并且有可表示范围的问题。</a:t>
            </a:r>
            <a:endParaRPr lang="en-US" altLang="zh-CN" dirty="0"/>
          </a:p>
          <a:p>
            <a:endParaRPr lang="en-US" altLang="zh-CN" dirty="0"/>
          </a:p>
          <a:p>
            <a:r>
              <a:rPr lang="en-US" altLang="zh-CN" dirty="0"/>
              <a:t>C</a:t>
            </a:r>
            <a:r>
              <a:rPr lang="zh-CN" altLang="en-US" dirty="0"/>
              <a:t>语言：</a:t>
            </a:r>
            <a:endParaRPr lang="en-US" altLang="zh-CN" dirty="0"/>
          </a:p>
          <a:p>
            <a:r>
              <a:rPr lang="en-US" altLang="zh-CN" dirty="0"/>
              <a:t>ANSI 89 </a:t>
            </a:r>
            <a:r>
              <a:rPr lang="zh-CN" altLang="en-US" dirty="0"/>
              <a:t>标准，编程语法和</a:t>
            </a:r>
            <a:r>
              <a:rPr lang="en-US" altLang="zh-CN" dirty="0"/>
              <a:t>C</a:t>
            </a:r>
            <a:r>
              <a:rPr lang="zh-CN" altLang="en-US" dirty="0"/>
              <a:t>标准库</a:t>
            </a:r>
            <a:endParaRPr lang="en-US" altLang="zh-CN" dirty="0"/>
          </a:p>
          <a:p>
            <a:r>
              <a:rPr lang="zh-CN" altLang="en-US" dirty="0"/>
              <a:t>与</a:t>
            </a:r>
            <a:r>
              <a:rPr lang="en-US" altLang="zh-CN" dirty="0"/>
              <a:t>Unix</a:t>
            </a:r>
            <a:r>
              <a:rPr lang="zh-CN" altLang="en-US" dirty="0"/>
              <a:t>天然结合</a:t>
            </a:r>
            <a:endParaRPr lang="en-US" altLang="zh-CN" dirty="0"/>
          </a:p>
          <a:p>
            <a:r>
              <a:rPr lang="zh-CN" altLang="en-US" dirty="0"/>
              <a:t>小而简单（</a:t>
            </a:r>
            <a:r>
              <a:rPr lang="en-US" altLang="zh-CN" dirty="0"/>
              <a:t>C++</a:t>
            </a:r>
            <a:r>
              <a:rPr lang="zh-CN" altLang="en-US" dirty="0"/>
              <a:t>和</a:t>
            </a:r>
            <a:r>
              <a:rPr lang="en-US" altLang="zh-CN" dirty="0"/>
              <a:t>java</a:t>
            </a:r>
            <a:r>
              <a:rPr lang="zh-CN" altLang="en-US" dirty="0"/>
              <a:t>则更强大）</a:t>
            </a:r>
            <a:endParaRPr lang="en-US" altLang="zh-CN" dirty="0"/>
          </a:p>
          <a:p>
            <a:endParaRPr lang="en-US" altLang="zh-CN" dirty="0"/>
          </a:p>
          <a:p>
            <a:r>
              <a:rPr lang="zh-CN" altLang="en-US" dirty="0"/>
              <a:t>注：本课程使用</a:t>
            </a:r>
            <a:r>
              <a:rPr lang="en-US" altLang="zh-CN" dirty="0"/>
              <a:t>centos7-OS-exp</a:t>
            </a:r>
            <a:r>
              <a:rPr lang="zh-CN" altLang="en-US" dirty="0"/>
              <a:t>虚拟机（里面有必要的代码）</a:t>
            </a:r>
          </a:p>
        </p:txBody>
      </p:sp>
      <p:sp>
        <p:nvSpPr>
          <p:cNvPr id="4" name="灯片编号占位符 3"/>
          <p:cNvSpPr>
            <a:spLocks noGrp="1"/>
          </p:cNvSpPr>
          <p:nvPr>
            <p:ph type="sldNum" sz="quarter" idx="10"/>
          </p:nvPr>
        </p:nvSpPr>
        <p:spPr/>
        <p:txBody>
          <a:bodyPr/>
          <a:lstStyle/>
          <a:p>
            <a:fld id="{3BB21687-B0A7-4083-A9B7-8BE7ECAB6D13}" type="slidenum">
              <a:rPr lang="zh-CN" altLang="en-US" smtClean="0"/>
              <a:t>28</a:t>
            </a:fld>
            <a:endParaRPr lang="zh-CN" altLang="en-US"/>
          </a:p>
        </p:txBody>
      </p:sp>
    </p:spTree>
    <p:extLst>
      <p:ext uri="{BB962C8B-B14F-4D97-AF65-F5344CB8AC3E}">
        <p14:creationId xmlns:p14="http://schemas.microsoft.com/office/powerpoint/2010/main" val="2279903140"/>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（生命周期）从高级语言到低级机器语言指令的转变</a:t>
            </a:r>
            <a:endParaRPr lang="en-US" altLang="zh-CN" dirty="0"/>
          </a:p>
          <a:p>
            <a:endParaRPr lang="en-US" altLang="zh-CN" dirty="0"/>
          </a:p>
          <a:p>
            <a:r>
              <a:rPr lang="zh-CN" altLang="en-US" dirty="0"/>
              <a:t>理解两端及过程：</a:t>
            </a:r>
            <a:endParaRPr lang="en-US" altLang="zh-CN" dirty="0"/>
          </a:p>
          <a:p>
            <a:r>
              <a:rPr lang="en-US" altLang="zh-CN" dirty="0"/>
              <a:t>1</a:t>
            </a:r>
            <a:r>
              <a:rPr lang="zh-CN" altLang="en-US" dirty="0"/>
              <a:t>）用户编写的源代码端</a:t>
            </a:r>
            <a:r>
              <a:rPr lang="en-US" altLang="zh-CN" dirty="0"/>
              <a:t>——</a:t>
            </a:r>
            <a:r>
              <a:rPr lang="zh-CN" altLang="en-US" dirty="0"/>
              <a:t>人可读</a:t>
            </a:r>
            <a:endParaRPr lang="en-US" altLang="zh-CN" dirty="0"/>
          </a:p>
          <a:p>
            <a:r>
              <a:rPr lang="en-US" altLang="zh-CN" dirty="0"/>
              <a:t>2</a:t>
            </a:r>
            <a:r>
              <a:rPr lang="zh-CN" altLang="en-US" dirty="0"/>
              <a:t>）机器执行的可执行文件端</a:t>
            </a:r>
            <a:r>
              <a:rPr lang="en-US" altLang="zh-CN" dirty="0"/>
              <a:t>——</a:t>
            </a:r>
            <a:r>
              <a:rPr lang="zh-CN" altLang="en-US" dirty="0"/>
              <a:t>机器可读</a:t>
            </a:r>
            <a:endParaRPr lang="en-US" altLang="zh-CN" dirty="0"/>
          </a:p>
          <a:p>
            <a:r>
              <a:rPr lang="en-US" altLang="zh-CN" dirty="0"/>
              <a:t>3</a:t>
            </a:r>
            <a:r>
              <a:rPr lang="zh-CN" altLang="en-US" dirty="0"/>
              <a:t>）理解</a:t>
            </a:r>
            <a:r>
              <a:rPr lang="en-US" altLang="zh-CN" dirty="0"/>
              <a:t>1</a:t>
            </a:r>
            <a:r>
              <a:rPr lang="zh-CN" altLang="en-US" dirty="0"/>
              <a:t>）到</a:t>
            </a:r>
            <a:r>
              <a:rPr lang="en-US" altLang="zh-CN" dirty="0"/>
              <a:t>2</a:t>
            </a:r>
            <a:r>
              <a:rPr lang="zh-CN" altLang="en-US" dirty="0"/>
              <a:t>）的过程，有机会在源端（甚至在汇编程序）作必要的修改和控制保证</a:t>
            </a:r>
            <a:r>
              <a:rPr lang="en-US" altLang="zh-CN" dirty="0"/>
              <a:t>2</a:t>
            </a:r>
            <a:r>
              <a:rPr lang="zh-CN" altLang="en-US" dirty="0"/>
              <a:t>）端的有效</a:t>
            </a:r>
            <a:endParaRPr lang="en-US" altLang="zh-CN" dirty="0"/>
          </a:p>
          <a:p>
            <a:endParaRPr lang="en-US" altLang="zh-CN" dirty="0"/>
          </a:p>
          <a:p>
            <a:r>
              <a:rPr lang="zh-CN" altLang="en-US" dirty="0"/>
              <a:t>预处理：头文件扩展，宏定义展开</a:t>
            </a:r>
            <a:r>
              <a:rPr lang="en-US" altLang="zh-CN" dirty="0"/>
              <a:t>	</a:t>
            </a:r>
            <a:r>
              <a:rPr lang="zh-CN" altLang="en-US" dirty="0"/>
              <a:t>前面已经看过了</a:t>
            </a:r>
            <a:endParaRPr lang="en-US" altLang="zh-CN" dirty="0"/>
          </a:p>
          <a:p>
            <a:r>
              <a:rPr lang="zh-CN" altLang="en-US" dirty="0"/>
              <a:t>编译：转换成汇编语言，是</a:t>
            </a:r>
            <a:r>
              <a:rPr lang="en-US" altLang="zh-CN" dirty="0"/>
              <a:t>GCC</a:t>
            </a:r>
            <a:r>
              <a:rPr lang="zh-CN" altLang="en-US" dirty="0"/>
              <a:t>的通用中间表示（</a:t>
            </a:r>
            <a:r>
              <a:rPr lang="en-US" altLang="zh-CN" dirty="0"/>
              <a:t>C/C++/Fortran</a:t>
            </a:r>
            <a:r>
              <a:rPr lang="zh-CN" altLang="en-US" dirty="0"/>
              <a:t>等都输出为汇编）</a:t>
            </a:r>
            <a:endParaRPr lang="en-US" altLang="zh-CN" dirty="0"/>
          </a:p>
          <a:p>
            <a:r>
              <a:rPr lang="zh-CN" altLang="en-US" dirty="0"/>
              <a:t>汇编：将汇编程序转换成机器语言程序</a:t>
            </a:r>
            <a:endParaRPr lang="en-US" altLang="zh-CN" dirty="0"/>
          </a:p>
          <a:p>
            <a:r>
              <a:rPr lang="zh-CN" altLang="en-US" dirty="0"/>
              <a:t>链接：完成模块（现成的各种库）间的拼装，形成可执行文件</a:t>
            </a:r>
            <a:endParaRPr lang="en-US" altLang="zh-CN" dirty="0"/>
          </a:p>
          <a:p>
            <a:endParaRPr lang="en-US" altLang="zh-CN" dirty="0"/>
          </a:p>
          <a:p>
            <a:r>
              <a:rPr lang="en-US" altLang="zh-CN" dirty="0"/>
              <a:t>GCC——GNU</a:t>
            </a:r>
            <a:r>
              <a:rPr lang="zh-CN" altLang="en-US" dirty="0"/>
              <a:t>编译器集合，因此编译过程分解成多个步骤可以共用后端（</a:t>
            </a:r>
            <a:r>
              <a:rPr lang="en-US" altLang="zh-CN" dirty="0" err="1"/>
              <a:t>fortran</a:t>
            </a:r>
            <a:r>
              <a:rPr lang="zh-CN" altLang="en-US" dirty="0"/>
              <a:t>前端不同即可）</a:t>
            </a:r>
            <a:endParaRPr lang="en-US" altLang="zh-CN" dirty="0"/>
          </a:p>
          <a:p>
            <a:r>
              <a:rPr lang="en-US" altLang="zh-CN" dirty="0"/>
              <a:t>GNU</a:t>
            </a:r>
            <a:r>
              <a:rPr lang="zh-CN" altLang="en-US" dirty="0"/>
              <a:t>与</a:t>
            </a:r>
            <a:r>
              <a:rPr lang="en-US" altLang="zh-CN" dirty="0" err="1"/>
              <a:t>linux</a:t>
            </a:r>
            <a:r>
              <a:rPr lang="zh-CN" altLang="en-US" dirty="0"/>
              <a:t>的关系</a:t>
            </a:r>
            <a:r>
              <a:rPr lang="en-US" altLang="zh-CN" dirty="0"/>
              <a:t>——GNU</a:t>
            </a:r>
            <a:r>
              <a:rPr lang="zh-CN" altLang="en-US" dirty="0"/>
              <a:t>有各种开源工具（编译器</a:t>
            </a:r>
            <a:r>
              <a:rPr lang="en-US" altLang="zh-CN" dirty="0"/>
              <a:t>/</a:t>
            </a:r>
            <a:r>
              <a:rPr lang="zh-CN" altLang="en-US" dirty="0"/>
              <a:t>编辑器</a:t>
            </a:r>
            <a:r>
              <a:rPr lang="en-US" altLang="zh-CN" dirty="0"/>
              <a:t>/</a:t>
            </a:r>
            <a:r>
              <a:rPr lang="zh-CN" altLang="en-US" dirty="0"/>
              <a:t>调试器以及各种应用软件等等），</a:t>
            </a:r>
            <a:r>
              <a:rPr lang="en-US" altLang="zh-CN" dirty="0"/>
              <a:t>Linux</a:t>
            </a:r>
            <a:r>
              <a:rPr lang="zh-CN" altLang="en-US" dirty="0"/>
              <a:t>提供内核，两者结合可以形成发行版</a:t>
            </a:r>
            <a:endParaRPr lang="en-US" altLang="zh-CN" dirty="0"/>
          </a:p>
          <a:p>
            <a:endParaRPr lang="en-US" altLang="zh-CN" dirty="0"/>
          </a:p>
          <a:p>
            <a:r>
              <a:rPr lang="zh-CN" altLang="en-US" dirty="0"/>
              <a:t>使用</a:t>
            </a:r>
            <a:r>
              <a:rPr lang="en-US" altLang="zh-CN" dirty="0" err="1"/>
              <a:t>gcc</a:t>
            </a:r>
            <a:r>
              <a:rPr lang="zh-CN" altLang="en-US" dirty="0"/>
              <a:t> </a:t>
            </a:r>
            <a:r>
              <a:rPr lang="en-US" altLang="zh-CN" dirty="0"/>
              <a:t>–E</a:t>
            </a:r>
            <a:r>
              <a:rPr lang="zh-CN" altLang="en-US" dirty="0"/>
              <a:t>指令完成预处理</a:t>
            </a:r>
            <a:endParaRPr lang="en-US" altLang="zh-CN" dirty="0"/>
          </a:p>
          <a:p>
            <a:r>
              <a:rPr lang="en-US" altLang="zh-CN" dirty="0" err="1"/>
              <a:t>Gcc</a:t>
            </a:r>
            <a:r>
              <a:rPr lang="en-US" altLang="zh-CN" dirty="0"/>
              <a:t> –S </a:t>
            </a:r>
            <a:r>
              <a:rPr lang="en-US" altLang="zh-CN" dirty="0" err="1"/>
              <a:t>hello.c</a:t>
            </a:r>
            <a:r>
              <a:rPr lang="en-US" altLang="zh-CN" dirty="0"/>
              <a:t> –o –</a:t>
            </a:r>
            <a:r>
              <a:rPr lang="zh-CN" altLang="en-US" dirty="0"/>
              <a:t>完成汇编代码的生成</a:t>
            </a:r>
            <a:endParaRPr lang="en-US" altLang="zh-CN" dirty="0"/>
          </a:p>
          <a:p>
            <a:r>
              <a:rPr lang="en-US" altLang="zh-CN" dirty="0" err="1"/>
              <a:t>Gcc</a:t>
            </a:r>
            <a:r>
              <a:rPr lang="en-US" altLang="zh-CN" dirty="0"/>
              <a:t> –c</a:t>
            </a:r>
            <a:r>
              <a:rPr lang="zh-CN" altLang="en-US" dirty="0"/>
              <a:t>生成目标代码，用</a:t>
            </a:r>
            <a:r>
              <a:rPr lang="en-US" altLang="zh-CN" dirty="0" err="1"/>
              <a:t>objdump</a:t>
            </a:r>
            <a:r>
              <a:rPr lang="en-US" altLang="zh-CN" dirty="0"/>
              <a:t> </a:t>
            </a:r>
            <a:r>
              <a:rPr lang="en-US" altLang="zh-CN" dirty="0" err="1"/>
              <a:t>hello.o</a:t>
            </a:r>
            <a:r>
              <a:rPr lang="zh-CN" altLang="en-US" dirty="0"/>
              <a:t>查看目标代码</a:t>
            </a:r>
            <a:endParaRPr lang="en-US" altLang="zh-CN" dirty="0"/>
          </a:p>
          <a:p>
            <a:r>
              <a:rPr lang="en-US" altLang="zh-CN" dirty="0" err="1"/>
              <a:t>Objdump</a:t>
            </a:r>
            <a:r>
              <a:rPr lang="en-US" altLang="zh-CN" dirty="0"/>
              <a:t> –</a:t>
            </a:r>
            <a:r>
              <a:rPr lang="en-US" altLang="zh-CN" dirty="0" err="1"/>
              <a:t>hrt</a:t>
            </a:r>
            <a:r>
              <a:rPr lang="en-US" altLang="zh-CN" dirty="0"/>
              <a:t> </a:t>
            </a:r>
            <a:r>
              <a:rPr lang="en-US" altLang="zh-CN" dirty="0" err="1"/>
              <a:t>hello.o</a:t>
            </a:r>
            <a:r>
              <a:rPr lang="zh-CN" altLang="en-US" dirty="0"/>
              <a:t>查看各个节的内容</a:t>
            </a:r>
            <a:r>
              <a:rPr lang="en-US" altLang="zh-CN" dirty="0"/>
              <a:t>.</a:t>
            </a:r>
            <a:r>
              <a:rPr lang="en-US" altLang="zh-CN" dirty="0" err="1"/>
              <a:t>objdump</a:t>
            </a:r>
            <a:r>
              <a:rPr lang="en-US" altLang="zh-CN" dirty="0"/>
              <a:t> –s</a:t>
            </a:r>
            <a:r>
              <a:rPr lang="zh-CN" altLang="en-US" dirty="0"/>
              <a:t>查看各个节的内容</a:t>
            </a:r>
            <a:endParaRPr lang="en-US" altLang="zh-CN" dirty="0"/>
          </a:p>
          <a:p>
            <a:r>
              <a:rPr lang="zh-CN" altLang="en-US" dirty="0"/>
              <a:t>源代码与</a:t>
            </a:r>
            <a:r>
              <a:rPr lang="en-US" altLang="zh-CN" dirty="0" err="1"/>
              <a:t>obj</a:t>
            </a:r>
            <a:r>
              <a:rPr lang="zh-CN" altLang="en-US" dirty="0"/>
              <a:t>对应关系</a:t>
            </a:r>
            <a:r>
              <a:rPr lang="en-US" altLang="zh-CN" dirty="0"/>
              <a:t>—Linux</a:t>
            </a:r>
            <a:r>
              <a:rPr lang="zh-CN" altLang="en-US" dirty="0"/>
              <a:t>技术内幕图</a:t>
            </a:r>
            <a:r>
              <a:rPr lang="en-US" altLang="zh-CN" dirty="0"/>
              <a:t>2-2</a:t>
            </a:r>
          </a:p>
          <a:p>
            <a:endParaRPr lang="en-US" altLang="zh-CN" dirty="0"/>
          </a:p>
          <a:p>
            <a:endParaRPr lang="en-US" altLang="zh-CN" dirty="0"/>
          </a:p>
          <a:p>
            <a:endParaRPr lang="en-US" altLang="zh-CN" dirty="0"/>
          </a:p>
        </p:txBody>
      </p:sp>
      <p:sp>
        <p:nvSpPr>
          <p:cNvPr id="4" name="灯片编号占位符 3"/>
          <p:cNvSpPr>
            <a:spLocks noGrp="1"/>
          </p:cNvSpPr>
          <p:nvPr>
            <p:ph type="sldNum" sz="quarter" idx="10"/>
          </p:nvPr>
        </p:nvSpPr>
        <p:spPr/>
        <p:txBody>
          <a:bodyPr/>
          <a:lstStyle/>
          <a:p>
            <a:fld id="{3BB21687-B0A7-4083-A9B7-8BE7ECAB6D13}" type="slidenum">
              <a:rPr lang="zh-CN" altLang="en-US" smtClean="0"/>
              <a:t>29</a:t>
            </a:fld>
            <a:endParaRPr lang="zh-CN" altLang="en-US"/>
          </a:p>
        </p:txBody>
      </p:sp>
    </p:spTree>
    <p:extLst>
      <p:ext uri="{BB962C8B-B14F-4D97-AF65-F5344CB8AC3E}">
        <p14:creationId xmlns:p14="http://schemas.microsoft.com/office/powerpoint/2010/main" val="639018750"/>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用</a:t>
            </a:r>
            <a:r>
              <a:rPr lang="en-US" altLang="zh-CN" dirty="0" err="1"/>
              <a:t>gcc</a:t>
            </a:r>
            <a:r>
              <a:rPr lang="zh-CN" altLang="en-US" dirty="0"/>
              <a:t> </a:t>
            </a:r>
            <a:r>
              <a:rPr lang="en-US" altLang="zh-CN" dirty="0"/>
              <a:t>–S</a:t>
            </a:r>
            <a:r>
              <a:rPr lang="zh-CN" altLang="en-US" dirty="0"/>
              <a:t> </a:t>
            </a:r>
            <a:r>
              <a:rPr lang="en-US" altLang="zh-CN" dirty="0" err="1"/>
              <a:t>hello.i</a:t>
            </a:r>
            <a:r>
              <a:rPr lang="en-US" altLang="zh-CN" baseline="0" dirty="0"/>
              <a:t> </a:t>
            </a:r>
            <a:r>
              <a:rPr lang="zh-CN" altLang="en-US" dirty="0"/>
              <a:t>生成汇编程序</a:t>
            </a:r>
            <a:r>
              <a:rPr lang="en-US" altLang="zh-CN" dirty="0" err="1"/>
              <a:t>hello.s</a:t>
            </a:r>
            <a:endParaRPr lang="en-US" altLang="zh-CN" dirty="0"/>
          </a:p>
          <a:p>
            <a:r>
              <a:rPr lang="zh-CN" altLang="en-US" dirty="0"/>
              <a:t>用</a:t>
            </a:r>
            <a:r>
              <a:rPr lang="en-US" altLang="zh-CN" dirty="0" err="1"/>
              <a:t>gcc</a:t>
            </a:r>
            <a:r>
              <a:rPr lang="zh-CN" altLang="en-US" dirty="0"/>
              <a:t> </a:t>
            </a:r>
            <a:r>
              <a:rPr lang="en-US" altLang="zh-CN" dirty="0"/>
              <a:t>–c</a:t>
            </a:r>
            <a:r>
              <a:rPr lang="zh-CN" altLang="en-US" dirty="0"/>
              <a:t>  </a:t>
            </a:r>
            <a:r>
              <a:rPr lang="en-US" altLang="zh-CN" dirty="0" err="1"/>
              <a:t>hello.c</a:t>
            </a:r>
            <a:r>
              <a:rPr lang="zh-CN" altLang="en-US" dirty="0"/>
              <a:t>或</a:t>
            </a:r>
            <a:r>
              <a:rPr lang="en-US" altLang="zh-CN" dirty="0" err="1"/>
              <a:t>gcc</a:t>
            </a:r>
            <a:r>
              <a:rPr lang="zh-CN" altLang="en-US" dirty="0"/>
              <a:t> </a:t>
            </a:r>
            <a:r>
              <a:rPr lang="en-US" altLang="zh-CN" dirty="0"/>
              <a:t>–c</a:t>
            </a:r>
            <a:r>
              <a:rPr lang="zh-CN" altLang="en-US" dirty="0"/>
              <a:t> </a:t>
            </a:r>
            <a:r>
              <a:rPr lang="en-US" altLang="zh-CN" dirty="0" err="1"/>
              <a:t>hello.s</a:t>
            </a:r>
            <a:r>
              <a:rPr lang="zh-CN" altLang="en-US" dirty="0"/>
              <a:t> 指令生成</a:t>
            </a:r>
            <a:r>
              <a:rPr lang="en-US" altLang="zh-CN" dirty="0" err="1"/>
              <a:t>hello.o</a:t>
            </a:r>
            <a:r>
              <a:rPr lang="zh-CN" altLang="en-US" dirty="0"/>
              <a:t>，并用</a:t>
            </a:r>
            <a:r>
              <a:rPr lang="en-US" altLang="zh-CN" dirty="0" err="1"/>
              <a:t>objdump</a:t>
            </a:r>
            <a:r>
              <a:rPr lang="zh-CN" altLang="en-US" dirty="0"/>
              <a:t> </a:t>
            </a:r>
            <a:r>
              <a:rPr lang="en-US" altLang="zh-CN" dirty="0"/>
              <a:t>–d</a:t>
            </a:r>
            <a:r>
              <a:rPr lang="zh-CN" altLang="en-US" dirty="0"/>
              <a:t> </a:t>
            </a:r>
            <a:r>
              <a:rPr lang="en-US" altLang="zh-CN" dirty="0" err="1"/>
              <a:t>hello.o</a:t>
            </a:r>
            <a:r>
              <a:rPr lang="zh-CN" altLang="en-US" dirty="0"/>
              <a:t>查看汇编代码，与课本接近（</a:t>
            </a:r>
            <a:r>
              <a:rPr lang="en-US" altLang="zh-CN" dirty="0" err="1"/>
              <a:t>gcc</a:t>
            </a:r>
            <a:r>
              <a:rPr lang="zh-CN" altLang="en-US" dirty="0"/>
              <a:t>版本不同）</a:t>
            </a:r>
            <a:endParaRPr lang="en-US" altLang="zh-CN" dirty="0"/>
          </a:p>
          <a:p>
            <a:endParaRPr lang="en-US" altLang="zh-CN" dirty="0"/>
          </a:p>
          <a:p>
            <a:r>
              <a:rPr lang="en-US" altLang="zh-CN" dirty="0"/>
              <a:t>GNU</a:t>
            </a:r>
            <a:r>
              <a:rPr lang="zh-CN" altLang="en-US" dirty="0"/>
              <a:t>与</a:t>
            </a:r>
            <a:r>
              <a:rPr lang="en-US" altLang="zh-CN" dirty="0"/>
              <a:t>Linux</a:t>
            </a:r>
            <a:r>
              <a:rPr lang="zh-CN" altLang="en-US" dirty="0"/>
              <a:t>关系</a:t>
            </a:r>
          </a:p>
        </p:txBody>
      </p:sp>
      <p:sp>
        <p:nvSpPr>
          <p:cNvPr id="4" name="灯片编号占位符 3"/>
          <p:cNvSpPr>
            <a:spLocks noGrp="1"/>
          </p:cNvSpPr>
          <p:nvPr>
            <p:ph type="sldNum" sz="quarter" idx="10"/>
          </p:nvPr>
        </p:nvSpPr>
        <p:spPr/>
        <p:txBody>
          <a:bodyPr/>
          <a:lstStyle/>
          <a:p>
            <a:fld id="{3BB21687-B0A7-4083-A9B7-8BE7ECAB6D13}" type="slidenum">
              <a:rPr lang="zh-CN" altLang="en-US" smtClean="0"/>
              <a:t>30</a:t>
            </a:fld>
            <a:endParaRPr lang="zh-CN" altLang="en-US"/>
          </a:p>
        </p:txBody>
      </p:sp>
    </p:spTree>
    <p:extLst>
      <p:ext uri="{BB962C8B-B14F-4D97-AF65-F5344CB8AC3E}">
        <p14:creationId xmlns:p14="http://schemas.microsoft.com/office/powerpoint/2010/main" val="4018591013"/>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优化问题中的</a:t>
            </a:r>
            <a:r>
              <a:rPr lang="en-US" altLang="zh-CN" dirty="0"/>
              <a:t>1~5</a:t>
            </a:r>
            <a:r>
              <a:rPr lang="zh-CN" altLang="en-US" dirty="0"/>
              <a:t>需要对编译器产生的代码模板有一定认识</a:t>
            </a:r>
            <a:endParaRPr lang="en-US" altLang="zh-CN" dirty="0"/>
          </a:p>
          <a:p>
            <a:endParaRPr lang="en-US" altLang="zh-CN" dirty="0"/>
          </a:p>
          <a:p>
            <a:r>
              <a:rPr lang="en-US" altLang="zh-CN" dirty="0"/>
              <a:t>1</a:t>
            </a:r>
            <a:r>
              <a:rPr lang="zh-CN" altLang="en-US" dirty="0"/>
              <a:t>）编译器不是万能的，你知道他的工作原理才能知道它的局限性</a:t>
            </a:r>
            <a:endParaRPr lang="en-US" altLang="zh-CN" dirty="0"/>
          </a:p>
          <a:p>
            <a:r>
              <a:rPr lang="en-US" altLang="zh-CN" dirty="0"/>
              <a:t>	</a:t>
            </a:r>
            <a:r>
              <a:rPr lang="en-US" altLang="zh-CN" dirty="0" err="1"/>
              <a:t>gcc</a:t>
            </a:r>
            <a:r>
              <a:rPr lang="zh-CN" altLang="en-US" dirty="0"/>
              <a:t>对</a:t>
            </a:r>
            <a:r>
              <a:rPr lang="en-US" altLang="zh-CN" dirty="0" err="1"/>
              <a:t>swith</a:t>
            </a:r>
            <a:r>
              <a:rPr lang="zh-CN" altLang="en-US" dirty="0"/>
              <a:t>的编译，受到“编号数值的密集程度”和“分支总数”的影响，当使用跳转表示会更高效</a:t>
            </a:r>
            <a:endParaRPr lang="en-US" altLang="zh-CN" dirty="0"/>
          </a:p>
          <a:p>
            <a:r>
              <a:rPr lang="en-US" altLang="zh-CN" dirty="0"/>
              <a:t>	</a:t>
            </a:r>
            <a:r>
              <a:rPr lang="zh-CN" altLang="en-US" dirty="0"/>
              <a:t>函数调用开销在于调用的栈帧准备（含参数传递和返回）以及硬件跳转引起的“全局相关”对流水线的影响</a:t>
            </a:r>
            <a:endParaRPr lang="en-US" altLang="zh-CN" dirty="0"/>
          </a:p>
          <a:p>
            <a:r>
              <a:rPr lang="en-US" altLang="zh-CN" dirty="0"/>
              <a:t>	while</a:t>
            </a:r>
            <a:r>
              <a:rPr lang="zh-CN" altLang="en-US" dirty="0"/>
              <a:t>和</a:t>
            </a:r>
            <a:r>
              <a:rPr lang="en-US" altLang="zh-CN" dirty="0"/>
              <a:t>for</a:t>
            </a:r>
          </a:p>
          <a:p>
            <a:r>
              <a:rPr lang="en-US" altLang="zh-CN" dirty="0"/>
              <a:t>	</a:t>
            </a:r>
            <a:r>
              <a:rPr lang="zh-CN" altLang="en-US" dirty="0"/>
              <a:t>指针往往比数组快</a:t>
            </a:r>
            <a:endParaRPr lang="en-US" altLang="zh-CN" dirty="0"/>
          </a:p>
          <a:p>
            <a:r>
              <a:rPr lang="en-US" altLang="zh-CN" dirty="0"/>
              <a:t>	</a:t>
            </a:r>
            <a:r>
              <a:rPr lang="zh-CN" altLang="en-US" dirty="0"/>
              <a:t>本地变量可通常用寄存器实现，而传入变量则在堆栈中，需要慢速的内存访问</a:t>
            </a:r>
            <a:endParaRPr lang="en-US" altLang="zh-CN" dirty="0"/>
          </a:p>
          <a:p>
            <a:r>
              <a:rPr lang="en-US" altLang="zh-CN" dirty="0"/>
              <a:t>	</a:t>
            </a:r>
            <a:r>
              <a:rPr lang="zh-CN" altLang="en-US" dirty="0"/>
              <a:t>计算顺序改变依赖关系，流水线停顿可能变少而加快计算速度</a:t>
            </a:r>
            <a:endParaRPr lang="en-US" altLang="zh-CN" dirty="0"/>
          </a:p>
          <a:p>
            <a:r>
              <a:rPr lang="zh-CN" altLang="en-US" dirty="0"/>
              <a:t>      第三章对代码模板，第五章对代码优化，第六章对存储局部性的性能都有讨论</a:t>
            </a:r>
            <a:endParaRPr lang="en-US" altLang="zh-CN" dirty="0"/>
          </a:p>
          <a:p>
            <a:r>
              <a:rPr lang="en-US" altLang="zh-CN" dirty="0"/>
              <a:t>2</a:t>
            </a:r>
            <a:r>
              <a:rPr lang="zh-CN" altLang="en-US" dirty="0"/>
              <a:t>）连接器提示有符号无法解释、或者明明加了库却说找不到（次序有关），什么是静态变量什么是全局变量有区别吗？不同文件中两个同名全局变量如何处理？静态库和动态库什么区别？</a:t>
            </a:r>
            <a:endParaRPr lang="en-US" altLang="zh-CN" dirty="0"/>
          </a:p>
          <a:p>
            <a:r>
              <a:rPr lang="en-US" altLang="zh-CN" dirty="0"/>
              <a:t>3</a:t>
            </a:r>
            <a:r>
              <a:rPr lang="zh-CN" altLang="en-US" dirty="0"/>
              <a:t>）安全通告中常听到的缓冲区溢出是什么？</a:t>
            </a:r>
          </a:p>
        </p:txBody>
      </p:sp>
      <p:sp>
        <p:nvSpPr>
          <p:cNvPr id="4" name="灯片编号占位符 3"/>
          <p:cNvSpPr>
            <a:spLocks noGrp="1"/>
          </p:cNvSpPr>
          <p:nvPr>
            <p:ph type="sldNum" sz="quarter" idx="10"/>
          </p:nvPr>
        </p:nvSpPr>
        <p:spPr/>
        <p:txBody>
          <a:bodyPr/>
          <a:lstStyle/>
          <a:p>
            <a:fld id="{3BB21687-B0A7-4083-A9B7-8BE7ECAB6D13}" type="slidenum">
              <a:rPr lang="zh-CN" altLang="en-US" smtClean="0"/>
              <a:t>31</a:t>
            </a:fld>
            <a:endParaRPr lang="zh-CN" altLang="en-US"/>
          </a:p>
        </p:txBody>
      </p:sp>
    </p:spTree>
    <p:extLst>
      <p:ext uri="{BB962C8B-B14F-4D97-AF65-F5344CB8AC3E}">
        <p14:creationId xmlns:p14="http://schemas.microsoft.com/office/powerpoint/2010/main" val="639652773"/>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运行时的几个要素：命令行提示符代表的是谁？</a:t>
            </a:r>
            <a:endParaRPr lang="en-US" altLang="zh-CN" dirty="0"/>
          </a:p>
          <a:p>
            <a:r>
              <a:rPr lang="en-US" altLang="zh-CN" dirty="0"/>
              <a:t>	</a:t>
            </a:r>
            <a:r>
              <a:rPr lang="zh-CN" altLang="en-US" dirty="0"/>
              <a:t>“</a:t>
            </a:r>
            <a:r>
              <a:rPr lang="en-US" altLang="zh-CN" dirty="0"/>
              <a:t>./hello</a:t>
            </a:r>
            <a:r>
              <a:rPr lang="zh-CN" altLang="en-US" dirty="0"/>
              <a:t>”代表什么？字符串而以</a:t>
            </a:r>
            <a:r>
              <a:rPr lang="en-US" altLang="zh-CN" dirty="0"/>
              <a:t>——</a:t>
            </a:r>
            <a:r>
              <a:rPr lang="zh-CN" altLang="en-US" dirty="0"/>
              <a:t>代表那个磁盘文件</a:t>
            </a:r>
            <a:r>
              <a:rPr lang="en-US" altLang="zh-CN" dirty="0"/>
              <a:t>——</a:t>
            </a:r>
            <a:r>
              <a:rPr lang="zh-CN" altLang="en-US" dirty="0"/>
              <a:t>需要构建进程影像（不知直接执行磁盘上的东西，而是拷贝到内存中、然后在</a:t>
            </a:r>
            <a:r>
              <a:rPr lang="en-US" altLang="zh-CN" dirty="0"/>
              <a:t>CPU</a:t>
            </a:r>
            <a:r>
              <a:rPr lang="zh-CN" altLang="en-US" dirty="0"/>
              <a:t>控制下运行）</a:t>
            </a:r>
            <a:endParaRPr lang="en-US" altLang="zh-CN" dirty="0"/>
          </a:p>
          <a:p>
            <a:endParaRPr lang="en-US" altLang="zh-CN" dirty="0"/>
          </a:p>
          <a:p>
            <a:r>
              <a:rPr lang="en-US" altLang="zh-CN" dirty="0"/>
              <a:t>-&gt;</a:t>
            </a:r>
            <a:r>
              <a:rPr lang="zh-CN" altLang="en-US" dirty="0"/>
              <a:t>自然引出硬件：只处理数字，数字在不同位置流动处理和变换</a:t>
            </a:r>
            <a:endParaRPr lang="en-US" altLang="zh-CN" dirty="0"/>
          </a:p>
          <a:p>
            <a:endParaRPr lang="en-US" altLang="zh-CN" dirty="0"/>
          </a:p>
          <a:p>
            <a:r>
              <a:rPr lang="en-US" altLang="zh-CN" dirty="0"/>
              <a:t>1</a:t>
            </a:r>
            <a:r>
              <a:rPr lang="zh-CN" altLang="en-US" dirty="0"/>
              <a:t>）总线</a:t>
            </a:r>
            <a:r>
              <a:rPr lang="en-US" altLang="zh-CN" dirty="0"/>
              <a:t>——</a:t>
            </a:r>
            <a:r>
              <a:rPr lang="zh-CN" altLang="en-US" dirty="0"/>
              <a:t>数据的多方流动，一次传送若干字节（称为字）</a:t>
            </a:r>
            <a:r>
              <a:rPr lang="en-US" altLang="zh-CN" dirty="0"/>
              <a:t>	</a:t>
            </a:r>
            <a:r>
              <a:rPr lang="zh-CN" altLang="en-US" dirty="0"/>
              <a:t>软、硬件：机器</a:t>
            </a:r>
            <a:r>
              <a:rPr lang="en-US" altLang="zh-CN" dirty="0"/>
              <a:t>ISA</a:t>
            </a:r>
            <a:r>
              <a:rPr lang="zh-CN" altLang="en-US" dirty="0"/>
              <a:t>上有字的概念，汇编和</a:t>
            </a:r>
            <a:r>
              <a:rPr lang="en-US" altLang="zh-CN" dirty="0"/>
              <a:t>C</a:t>
            </a:r>
            <a:r>
              <a:rPr lang="zh-CN" altLang="en-US" dirty="0"/>
              <a:t>语言中也有字的概念</a:t>
            </a:r>
            <a:endParaRPr lang="en-US" altLang="zh-CN" dirty="0"/>
          </a:p>
          <a:p>
            <a:r>
              <a:rPr lang="en-US" altLang="zh-CN" dirty="0"/>
              <a:t>2</a:t>
            </a:r>
            <a:r>
              <a:rPr lang="zh-CN" altLang="en-US" dirty="0"/>
              <a:t>）</a:t>
            </a:r>
            <a:r>
              <a:rPr lang="en-US" altLang="zh-CN" dirty="0"/>
              <a:t>IO——</a:t>
            </a:r>
            <a:r>
              <a:rPr lang="zh-CN" altLang="en-US" dirty="0"/>
              <a:t>与外界的交流（内部是</a:t>
            </a:r>
            <a:r>
              <a:rPr lang="en-US" altLang="zh-CN" dirty="0" err="1"/>
              <a:t>CPU+Mem</a:t>
            </a:r>
            <a:r>
              <a:rPr lang="zh-CN" altLang="en-US" dirty="0"/>
              <a:t>），内部是数字，外部通过</a:t>
            </a:r>
            <a:r>
              <a:rPr lang="en-US" altLang="zh-CN" dirty="0"/>
              <a:t>adapter</a:t>
            </a:r>
            <a:r>
              <a:rPr lang="zh-CN" altLang="en-US" dirty="0"/>
              <a:t>变成声光热电等其他东西</a:t>
            </a:r>
            <a:endParaRPr lang="en-US" altLang="zh-CN" dirty="0"/>
          </a:p>
          <a:p>
            <a:r>
              <a:rPr lang="en-US" altLang="zh-CN" dirty="0"/>
              <a:t>3</a:t>
            </a:r>
            <a:r>
              <a:rPr lang="zh-CN" altLang="en-US" dirty="0"/>
              <a:t>）主存</a:t>
            </a:r>
            <a:r>
              <a:rPr lang="en-US" altLang="zh-CN" dirty="0"/>
              <a:t>——DRAM</a:t>
            </a:r>
            <a:r>
              <a:rPr lang="zh-CN" altLang="en-US" dirty="0"/>
              <a:t>，注意我们在物理内准之上建立了虚拟内存的概念</a:t>
            </a:r>
            <a:endParaRPr lang="en-US" altLang="zh-CN" dirty="0"/>
          </a:p>
          <a:p>
            <a:r>
              <a:rPr lang="en-US" altLang="zh-CN" dirty="0"/>
              <a:t>4</a:t>
            </a:r>
            <a:r>
              <a:rPr lang="zh-CN" altLang="en-US" dirty="0"/>
              <a:t>）</a:t>
            </a:r>
            <a:r>
              <a:rPr lang="en-US" altLang="zh-CN" dirty="0"/>
              <a:t>CPU——</a:t>
            </a:r>
            <a:r>
              <a:rPr lang="zh-CN" altLang="en-US" dirty="0"/>
              <a:t>依靠</a:t>
            </a:r>
            <a:r>
              <a:rPr lang="en-US" altLang="zh-CN" dirty="0"/>
              <a:t>PC</a:t>
            </a:r>
            <a:r>
              <a:rPr lang="zh-CN" altLang="en-US" dirty="0"/>
              <a:t>逐条指令执行（虚地址的），操作为围绕着 “寄存器文件</a:t>
            </a:r>
            <a:r>
              <a:rPr lang="en-US" altLang="zh-CN" dirty="0"/>
              <a:t>/ALU</a:t>
            </a:r>
            <a:r>
              <a:rPr lang="zh-CN" altLang="en-US" dirty="0"/>
              <a:t>和主存”</a:t>
            </a:r>
            <a:endParaRPr lang="en-US" altLang="zh-CN" dirty="0"/>
          </a:p>
          <a:p>
            <a:r>
              <a:rPr lang="en-US" altLang="zh-CN" dirty="0"/>
              <a:t>	</a:t>
            </a:r>
            <a:r>
              <a:rPr lang="zh-CN" altLang="en-US" dirty="0"/>
              <a:t>操作分为以下几类：加载</a:t>
            </a:r>
            <a:r>
              <a:rPr lang="en-US" altLang="zh-CN" dirty="0"/>
              <a:t>/</a:t>
            </a:r>
            <a:r>
              <a:rPr lang="zh-CN" altLang="en-US" dirty="0"/>
              <a:t>存储</a:t>
            </a:r>
            <a:r>
              <a:rPr lang="en-US" altLang="zh-CN" dirty="0"/>
              <a:t>/</a:t>
            </a:r>
            <a:r>
              <a:rPr lang="zh-CN" altLang="en-US" dirty="0"/>
              <a:t>运算</a:t>
            </a:r>
            <a:r>
              <a:rPr lang="en-US" altLang="zh-CN" dirty="0"/>
              <a:t>/</a:t>
            </a:r>
            <a:r>
              <a:rPr lang="zh-CN" altLang="en-US" dirty="0"/>
              <a:t>跳转</a:t>
            </a:r>
            <a:endParaRPr lang="en-US" altLang="zh-CN" dirty="0"/>
          </a:p>
          <a:p>
            <a:r>
              <a:rPr lang="en-US" altLang="zh-CN" dirty="0"/>
              <a:t>	</a:t>
            </a:r>
            <a:r>
              <a:rPr lang="zh-CN" altLang="en-US" dirty="0"/>
              <a:t>核心是一个状态机不断重复取指令和处理指令（也可更细分）</a:t>
            </a:r>
            <a:endParaRPr lang="en-US" altLang="zh-CN" dirty="0"/>
          </a:p>
          <a:p>
            <a:endParaRPr lang="en-US" altLang="zh-CN" dirty="0"/>
          </a:p>
          <a:p>
            <a:r>
              <a:rPr lang="en-US" altLang="zh-CN" dirty="0"/>
              <a:t>ISA</a:t>
            </a:r>
            <a:r>
              <a:rPr lang="zh-CN" altLang="en-US" dirty="0"/>
              <a:t>是对硬件的一个抽象，可以满足软件层面的需要</a:t>
            </a:r>
            <a:endParaRPr lang="en-US" altLang="zh-CN" dirty="0"/>
          </a:p>
        </p:txBody>
      </p:sp>
      <p:sp>
        <p:nvSpPr>
          <p:cNvPr id="4" name="灯片编号占位符 3"/>
          <p:cNvSpPr>
            <a:spLocks noGrp="1"/>
          </p:cNvSpPr>
          <p:nvPr>
            <p:ph type="sldNum" sz="quarter" idx="10"/>
          </p:nvPr>
        </p:nvSpPr>
        <p:spPr/>
        <p:txBody>
          <a:bodyPr/>
          <a:lstStyle/>
          <a:p>
            <a:fld id="{3BB21687-B0A7-4083-A9B7-8BE7ECAB6D13}" type="slidenum">
              <a:rPr lang="zh-CN" altLang="en-US" smtClean="0"/>
              <a:t>32</a:t>
            </a:fld>
            <a:endParaRPr lang="zh-CN" altLang="en-US"/>
          </a:p>
        </p:txBody>
      </p:sp>
    </p:spTree>
    <p:extLst>
      <p:ext uri="{BB962C8B-B14F-4D97-AF65-F5344CB8AC3E}">
        <p14:creationId xmlns:p14="http://schemas.microsoft.com/office/powerpoint/2010/main" val="4290518436"/>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此处可以在公共服务器上展示其运行过程，结合执行过程的各个步骤</a:t>
            </a:r>
          </a:p>
        </p:txBody>
      </p:sp>
      <p:sp>
        <p:nvSpPr>
          <p:cNvPr id="4" name="灯片编号占位符 3"/>
          <p:cNvSpPr>
            <a:spLocks noGrp="1"/>
          </p:cNvSpPr>
          <p:nvPr>
            <p:ph type="sldNum" sz="quarter" idx="10"/>
          </p:nvPr>
        </p:nvSpPr>
        <p:spPr/>
        <p:txBody>
          <a:bodyPr/>
          <a:lstStyle/>
          <a:p>
            <a:fld id="{3BB21687-B0A7-4083-A9B7-8BE7ECAB6D13}" type="slidenum">
              <a:rPr lang="zh-CN" altLang="en-US" smtClean="0"/>
              <a:t>33</a:t>
            </a:fld>
            <a:endParaRPr lang="zh-CN" altLang="en-US"/>
          </a:p>
        </p:txBody>
      </p:sp>
    </p:spTree>
    <p:extLst>
      <p:ext uri="{BB962C8B-B14F-4D97-AF65-F5344CB8AC3E}">
        <p14:creationId xmlns:p14="http://schemas.microsoft.com/office/powerpoint/2010/main" val="2507391057"/>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1</a:t>
            </a:r>
            <a:r>
              <a:rPr lang="zh-CN" altLang="en-US" dirty="0"/>
              <a:t>）读命令：引入按键与中断</a:t>
            </a:r>
            <a:r>
              <a:rPr lang="en-US" altLang="zh-CN" dirty="0"/>
              <a:t>——</a:t>
            </a:r>
            <a:r>
              <a:rPr lang="zh-CN" altLang="en-US" dirty="0"/>
              <a:t>处理器不会老等着（有其他任务需要计算）</a:t>
            </a:r>
            <a:endParaRPr lang="en-US" altLang="zh-CN" dirty="0"/>
          </a:p>
          <a:p>
            <a:r>
              <a:rPr lang="en-US" altLang="zh-CN" dirty="0"/>
              <a:t>2</a:t>
            </a:r>
            <a:r>
              <a:rPr lang="zh-CN" altLang="en-US" dirty="0"/>
              <a:t>）启动：当检测到按入回车，则开始</a:t>
            </a:r>
            <a:r>
              <a:rPr lang="en-US" altLang="zh-CN" dirty="0"/>
              <a:t>shell</a:t>
            </a:r>
            <a:r>
              <a:rPr lang="zh-CN" altLang="en-US" dirty="0"/>
              <a:t>处理</a:t>
            </a:r>
          </a:p>
        </p:txBody>
      </p:sp>
      <p:sp>
        <p:nvSpPr>
          <p:cNvPr id="4" name="灯片编号占位符 3"/>
          <p:cNvSpPr>
            <a:spLocks noGrp="1"/>
          </p:cNvSpPr>
          <p:nvPr>
            <p:ph type="sldNum" sz="quarter" idx="10"/>
          </p:nvPr>
        </p:nvSpPr>
        <p:spPr/>
        <p:txBody>
          <a:bodyPr/>
          <a:lstStyle/>
          <a:p>
            <a:fld id="{3BB21687-B0A7-4083-A9B7-8BE7ECAB6D13}" type="slidenum">
              <a:rPr lang="zh-CN" altLang="en-US" smtClean="0"/>
              <a:t>34</a:t>
            </a:fld>
            <a:endParaRPr lang="zh-CN" altLang="en-US"/>
          </a:p>
        </p:txBody>
      </p:sp>
    </p:spTree>
    <p:extLst>
      <p:ext uri="{BB962C8B-B14F-4D97-AF65-F5344CB8AC3E}">
        <p14:creationId xmlns:p14="http://schemas.microsoft.com/office/powerpoint/2010/main" val="259466920"/>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本步骤是</a:t>
            </a:r>
            <a:r>
              <a:rPr lang="en-US" altLang="zh-CN" dirty="0"/>
              <a:t>Shell</a:t>
            </a:r>
            <a:r>
              <a:rPr lang="zh-CN" altLang="en-US" dirty="0"/>
              <a:t>程序向操作系统要求创建</a:t>
            </a:r>
            <a:r>
              <a:rPr lang="en-US" altLang="zh-CN" dirty="0"/>
              <a:t>hello</a:t>
            </a:r>
            <a:r>
              <a:rPr lang="zh-CN" altLang="en-US" dirty="0"/>
              <a:t>进程</a:t>
            </a:r>
            <a:endParaRPr lang="en-US" altLang="zh-CN" dirty="0"/>
          </a:p>
          <a:p>
            <a:endParaRPr lang="en-US" altLang="zh-CN" dirty="0"/>
          </a:p>
          <a:p>
            <a:r>
              <a:rPr lang="zh-CN" altLang="en-US" dirty="0"/>
              <a:t>这回不是先进到寄存器再转出到存储器</a:t>
            </a:r>
            <a:r>
              <a:rPr lang="en-US" altLang="zh-CN" dirty="0"/>
              <a:t>——</a:t>
            </a:r>
            <a:r>
              <a:rPr lang="zh-CN" altLang="en-US" dirty="0"/>
              <a:t>用了</a:t>
            </a:r>
            <a:r>
              <a:rPr lang="en-US" altLang="zh-CN" dirty="0"/>
              <a:t>DMA</a:t>
            </a:r>
          </a:p>
          <a:p>
            <a:endParaRPr lang="en-US" altLang="zh-CN" dirty="0"/>
          </a:p>
          <a:p>
            <a:r>
              <a:rPr lang="zh-CN" altLang="en-US" dirty="0"/>
              <a:t>载入程序的具体过程可以是</a:t>
            </a:r>
            <a:r>
              <a:rPr lang="en-US" altLang="zh-CN" dirty="0"/>
              <a:t>DMA</a:t>
            </a:r>
            <a:r>
              <a:rPr lang="zh-CN" altLang="en-US" dirty="0"/>
              <a:t>为主的过程，</a:t>
            </a:r>
            <a:r>
              <a:rPr lang="en-US" altLang="zh-CN" dirty="0"/>
              <a:t>CPU</a:t>
            </a:r>
            <a:r>
              <a:rPr lang="zh-CN" altLang="en-US" dirty="0"/>
              <a:t>和</a:t>
            </a:r>
            <a:r>
              <a:rPr lang="en-US" altLang="zh-CN" dirty="0"/>
              <a:t>OS</a:t>
            </a:r>
            <a:r>
              <a:rPr lang="zh-CN" altLang="en-US" dirty="0"/>
              <a:t>仅作辅助</a:t>
            </a:r>
          </a:p>
        </p:txBody>
      </p:sp>
      <p:sp>
        <p:nvSpPr>
          <p:cNvPr id="4" name="灯片编号占位符 3"/>
          <p:cNvSpPr>
            <a:spLocks noGrp="1"/>
          </p:cNvSpPr>
          <p:nvPr>
            <p:ph type="sldNum" sz="quarter" idx="10"/>
          </p:nvPr>
        </p:nvSpPr>
        <p:spPr/>
        <p:txBody>
          <a:bodyPr/>
          <a:lstStyle/>
          <a:p>
            <a:fld id="{3BB21687-B0A7-4083-A9B7-8BE7ECAB6D13}" type="slidenum">
              <a:rPr lang="zh-CN" altLang="en-US" smtClean="0"/>
              <a:t>35</a:t>
            </a:fld>
            <a:endParaRPr lang="zh-CN" altLang="en-US"/>
          </a:p>
        </p:txBody>
      </p:sp>
    </p:spTree>
    <p:extLst>
      <p:ext uri="{BB962C8B-B14F-4D97-AF65-F5344CB8AC3E}">
        <p14:creationId xmlns:p14="http://schemas.microsoft.com/office/powerpoint/2010/main" val="1650615027"/>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然后在</a:t>
            </a:r>
            <a:r>
              <a:rPr lang="en-US" altLang="zh-CN" dirty="0"/>
              <a:t>OS</a:t>
            </a:r>
            <a:r>
              <a:rPr lang="zh-CN" altLang="en-US" dirty="0"/>
              <a:t>的调度下，获得运行</a:t>
            </a:r>
            <a:endParaRPr lang="en-US" altLang="zh-CN" dirty="0"/>
          </a:p>
          <a:p>
            <a:endParaRPr lang="en-US" altLang="zh-CN" dirty="0"/>
          </a:p>
          <a:p>
            <a:r>
              <a:rPr lang="zh-CN" altLang="en-US" dirty="0"/>
              <a:t>实际上系统并不允许用户进程直接控制设备来完成输出，</a:t>
            </a:r>
            <a:endParaRPr lang="en-US" altLang="zh-CN" dirty="0"/>
          </a:p>
          <a:p>
            <a:r>
              <a:rPr lang="zh-CN" altLang="en-US" dirty="0"/>
              <a:t>而是将“</a:t>
            </a:r>
            <a:r>
              <a:rPr lang="en-US" altLang="zh-CN" dirty="0"/>
              <a:t>hello, world!</a:t>
            </a:r>
            <a:r>
              <a:rPr lang="zh-CN" altLang="en-US" dirty="0"/>
              <a:t>”字符串拷贝到内核态，再由内核代码的驱动程序完成输出。</a:t>
            </a:r>
            <a:endParaRPr lang="en-US" altLang="zh-CN" dirty="0"/>
          </a:p>
          <a:p>
            <a:endParaRPr lang="en-US" altLang="zh-CN" dirty="0"/>
          </a:p>
          <a:p>
            <a:endParaRPr lang="en-US" altLang="zh-CN" dirty="0"/>
          </a:p>
          <a:p>
            <a:r>
              <a:rPr lang="zh-CN" altLang="en-US" dirty="0"/>
              <a:t>回想一下你的主板，哪里是</a:t>
            </a:r>
            <a:r>
              <a:rPr lang="en-US" altLang="zh-CN" dirty="0"/>
              <a:t>CPU</a:t>
            </a:r>
            <a:r>
              <a:rPr lang="zh-CN" altLang="en-US" dirty="0"/>
              <a:t>哪里是内存条哪里是各种设备控制器，哪里是扩展槽，哪里是总线</a:t>
            </a:r>
            <a:endParaRPr lang="en-US" altLang="zh-CN" dirty="0"/>
          </a:p>
          <a:p>
            <a:endParaRPr lang="en-US" altLang="zh-CN" dirty="0"/>
          </a:p>
          <a:p>
            <a:r>
              <a:rPr lang="zh-CN" altLang="en-US" dirty="0"/>
              <a:t>我们对硬件的“系统”认识先到这里，</a:t>
            </a:r>
            <a:r>
              <a:rPr lang="en-US" altLang="zh-CN" dirty="0"/>
              <a:t>CPU</a:t>
            </a:r>
            <a:r>
              <a:rPr lang="zh-CN" altLang="en-US" dirty="0"/>
              <a:t>和内存在后面还会更深入一点</a:t>
            </a:r>
            <a:endParaRPr lang="en-US" altLang="zh-CN" dirty="0"/>
          </a:p>
        </p:txBody>
      </p:sp>
      <p:sp>
        <p:nvSpPr>
          <p:cNvPr id="4" name="灯片编号占位符 3"/>
          <p:cNvSpPr>
            <a:spLocks noGrp="1"/>
          </p:cNvSpPr>
          <p:nvPr>
            <p:ph type="sldNum" sz="quarter" idx="10"/>
          </p:nvPr>
        </p:nvSpPr>
        <p:spPr/>
        <p:txBody>
          <a:bodyPr/>
          <a:lstStyle/>
          <a:p>
            <a:fld id="{3BB21687-B0A7-4083-A9B7-8BE7ECAB6D13}" type="slidenum">
              <a:rPr lang="zh-CN" altLang="en-US" smtClean="0"/>
              <a:t>36</a:t>
            </a:fld>
            <a:endParaRPr lang="zh-CN" altLang="en-US"/>
          </a:p>
        </p:txBody>
      </p:sp>
    </p:spTree>
    <p:extLst>
      <p:ext uri="{BB962C8B-B14F-4D97-AF65-F5344CB8AC3E}">
        <p14:creationId xmlns:p14="http://schemas.microsoft.com/office/powerpoint/2010/main" val="323037177"/>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除了</a:t>
            </a:r>
            <a:r>
              <a:rPr lang="en-US" altLang="zh-CN" dirty="0"/>
              <a:t>CPU</a:t>
            </a:r>
            <a:r>
              <a:rPr lang="zh-CN" altLang="en-US" dirty="0"/>
              <a:t>结构外，我们还需要关注存储系统的层次结构，它是影响性能的另一个主要因素，通常编程者并未给与足够重视</a:t>
            </a:r>
            <a:r>
              <a:rPr lang="en-US" altLang="zh-CN" dirty="0"/>
              <a:t>!!!!</a:t>
            </a:r>
          </a:p>
          <a:p>
            <a:endParaRPr lang="en-US" altLang="zh-CN" dirty="0"/>
          </a:p>
          <a:p>
            <a:r>
              <a:rPr lang="en-US" altLang="zh-CN" dirty="0"/>
              <a:t>CPU</a:t>
            </a:r>
            <a:r>
              <a:rPr lang="zh-CN" altLang="en-US" dirty="0"/>
              <a:t>内部处理速度很快，但是外部数据的搬移速度却很慢，因此很多系统时间花在了数据搬移（</a:t>
            </a:r>
            <a:r>
              <a:rPr lang="en-US" altLang="zh-CN" dirty="0"/>
              <a:t>load/store</a:t>
            </a:r>
            <a:r>
              <a:rPr lang="zh-CN" altLang="en-US" dirty="0"/>
              <a:t>等）上了</a:t>
            </a:r>
            <a:endParaRPr lang="en-US" altLang="zh-CN" dirty="0"/>
          </a:p>
        </p:txBody>
      </p:sp>
      <p:sp>
        <p:nvSpPr>
          <p:cNvPr id="4" name="灯片编号占位符 3"/>
          <p:cNvSpPr>
            <a:spLocks noGrp="1"/>
          </p:cNvSpPr>
          <p:nvPr>
            <p:ph type="sldNum" sz="quarter" idx="10"/>
          </p:nvPr>
        </p:nvSpPr>
        <p:spPr/>
        <p:txBody>
          <a:bodyPr/>
          <a:lstStyle/>
          <a:p>
            <a:fld id="{3BB21687-B0A7-4083-A9B7-8BE7ECAB6D13}" type="slidenum">
              <a:rPr lang="zh-CN" altLang="en-US" smtClean="0"/>
              <a:t>37</a:t>
            </a:fld>
            <a:endParaRPr lang="zh-CN" altLang="en-US"/>
          </a:p>
        </p:txBody>
      </p:sp>
    </p:spTree>
    <p:extLst>
      <p:ext uri="{BB962C8B-B14F-4D97-AF65-F5344CB8AC3E}">
        <p14:creationId xmlns:p14="http://schemas.microsoft.com/office/powerpoint/2010/main" val="3924816384"/>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3BB21687-B0A7-4083-A9B7-8BE7ECAB6D13}" type="slidenum">
              <a:rPr lang="zh-CN" altLang="en-US" smtClean="0"/>
              <a:t>38</a:t>
            </a:fld>
            <a:endParaRPr lang="zh-CN" altLang="en-US"/>
          </a:p>
        </p:txBody>
      </p:sp>
    </p:spTree>
    <p:extLst>
      <p:ext uri="{BB962C8B-B14F-4D97-AF65-F5344CB8AC3E}">
        <p14:creationId xmlns:p14="http://schemas.microsoft.com/office/powerpoint/2010/main" val="251858214"/>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考虑到快慢、容量和价格参数，因此存储层次结构整体上是一个多层</a:t>
            </a:r>
            <a:r>
              <a:rPr lang="en-US" altLang="zh-CN" dirty="0"/>
              <a:t>cache</a:t>
            </a:r>
            <a:r>
              <a:rPr lang="zh-CN" altLang="en-US" dirty="0"/>
              <a:t>，</a:t>
            </a:r>
            <a:endParaRPr lang="en-US" altLang="zh-CN" dirty="0"/>
          </a:p>
          <a:p>
            <a:pPr defTabSz="914332">
              <a:defRPr/>
            </a:pPr>
            <a:r>
              <a:rPr lang="zh-CN" altLang="en-US" dirty="0"/>
              <a:t>但是出于</a:t>
            </a:r>
            <a:r>
              <a:rPr lang="en-US" altLang="zh-CN" dirty="0"/>
              <a:t>OS</a:t>
            </a:r>
            <a:r>
              <a:rPr lang="zh-CN" altLang="en-US" dirty="0"/>
              <a:t>对进程空间的隔离，以及对物理内存容量的扩展需求，发展出了虚拟存储器技术（虚拟存储器不仅仅是主存和</a:t>
            </a:r>
            <a:r>
              <a:rPr lang="zh-CN" altLang="en-US"/>
              <a:t>磁盘之间解决速度问题的的</a:t>
            </a:r>
            <a:r>
              <a:rPr lang="en-US" altLang="zh-CN" dirty="0"/>
              <a:t>cache</a:t>
            </a:r>
            <a:r>
              <a:rPr lang="zh-CN" altLang="en-US" dirty="0"/>
              <a:t>关系！！）</a:t>
            </a:r>
            <a:endParaRPr lang="en-US" altLang="zh-CN" dirty="0"/>
          </a:p>
          <a:p>
            <a:pPr defTabSz="914332">
              <a:defRPr/>
            </a:pPr>
            <a:endParaRPr lang="en-US" altLang="zh-CN" dirty="0"/>
          </a:p>
          <a:p>
            <a:pPr defTabSz="914332">
              <a:defRPr/>
            </a:pPr>
            <a:r>
              <a:rPr lang="zh-CN" altLang="en-US" dirty="0"/>
              <a:t>需要同时将（“</a:t>
            </a:r>
            <a:r>
              <a:rPr lang="en-US" altLang="zh-CN" dirty="0"/>
              <a:t>cache</a:t>
            </a:r>
            <a:r>
              <a:rPr lang="zh-CN" altLang="en-US" dirty="0"/>
              <a:t>技术”）和（“虚拟存储技术”）结合起来，才能对存储体系由完整的理解。</a:t>
            </a:r>
            <a:endParaRPr lang="en-US" altLang="zh-CN" dirty="0"/>
          </a:p>
          <a:p>
            <a:endParaRPr lang="en-US" altLang="zh-CN" dirty="0"/>
          </a:p>
        </p:txBody>
      </p:sp>
      <p:sp>
        <p:nvSpPr>
          <p:cNvPr id="4" name="灯片编号占位符 3"/>
          <p:cNvSpPr>
            <a:spLocks noGrp="1"/>
          </p:cNvSpPr>
          <p:nvPr>
            <p:ph type="sldNum" sz="quarter" idx="10"/>
          </p:nvPr>
        </p:nvSpPr>
        <p:spPr/>
        <p:txBody>
          <a:bodyPr/>
          <a:lstStyle/>
          <a:p>
            <a:fld id="{3BB21687-B0A7-4083-A9B7-8BE7ECAB6D13}" type="slidenum">
              <a:rPr lang="zh-CN" altLang="en-US" smtClean="0"/>
              <a:t>39</a:t>
            </a:fld>
            <a:endParaRPr lang="zh-CN" altLang="en-US"/>
          </a:p>
        </p:txBody>
      </p:sp>
    </p:spTree>
    <p:extLst>
      <p:ext uri="{BB962C8B-B14F-4D97-AF65-F5344CB8AC3E}">
        <p14:creationId xmlns:p14="http://schemas.microsoft.com/office/powerpoint/2010/main" val="4094454667"/>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Unix</a:t>
            </a:r>
            <a:r>
              <a:rPr lang="zh-CN" altLang="en-US" dirty="0"/>
              <a:t>和</a:t>
            </a:r>
            <a:r>
              <a:rPr lang="en-US" altLang="zh-CN" dirty="0" err="1"/>
              <a:t>Posix</a:t>
            </a:r>
            <a:r>
              <a:rPr lang="zh-CN" altLang="en-US" dirty="0"/>
              <a:t>，</a:t>
            </a:r>
            <a:r>
              <a:rPr lang="en-US" altLang="zh-CN" dirty="0"/>
              <a:t>Linux</a:t>
            </a:r>
          </a:p>
          <a:p>
            <a:r>
              <a:rPr lang="en-US" altLang="zh-CN" dirty="0"/>
              <a:t>Ken</a:t>
            </a:r>
            <a:r>
              <a:rPr lang="zh-CN" altLang="en-US" dirty="0"/>
              <a:t> </a:t>
            </a:r>
            <a:r>
              <a:rPr lang="en-US" altLang="zh-CN" dirty="0"/>
              <a:t>Thompson,</a:t>
            </a:r>
            <a:r>
              <a:rPr lang="zh-CN" altLang="en-US" dirty="0"/>
              <a:t> </a:t>
            </a:r>
            <a:r>
              <a:rPr lang="en-US" altLang="zh-CN" dirty="0"/>
              <a:t>Dennis</a:t>
            </a:r>
            <a:r>
              <a:rPr lang="zh-CN" altLang="en-US" dirty="0"/>
              <a:t> </a:t>
            </a:r>
            <a:r>
              <a:rPr lang="en-US" altLang="zh-CN" dirty="0"/>
              <a:t>Ritchie</a:t>
            </a:r>
            <a:r>
              <a:rPr lang="zh-CN" altLang="en-US" dirty="0"/>
              <a:t>等</a:t>
            </a:r>
            <a:r>
              <a:rPr lang="en-US" altLang="zh-CN" dirty="0" err="1"/>
              <a:t>multics</a:t>
            </a:r>
            <a:endParaRPr lang="en-US" altLang="zh-CN" dirty="0"/>
          </a:p>
          <a:p>
            <a:endParaRPr lang="en-US" altLang="zh-CN" dirty="0"/>
          </a:p>
          <a:p>
            <a:r>
              <a:rPr lang="en-US" altLang="zh-CN" dirty="0"/>
              <a:t>hello</a:t>
            </a:r>
            <a:r>
              <a:rPr lang="zh-CN" altLang="en-US" dirty="0"/>
              <a:t>应用程序其实并没有直接和硬件打交道，而是通过</a:t>
            </a:r>
            <a:r>
              <a:rPr lang="en-US" altLang="zh-CN" dirty="0"/>
              <a:t>OS</a:t>
            </a:r>
            <a:r>
              <a:rPr lang="zh-CN" altLang="en-US" dirty="0"/>
              <a:t>（提供的系统调用）</a:t>
            </a:r>
            <a:endParaRPr lang="en-US" altLang="zh-CN" dirty="0"/>
          </a:p>
          <a:p>
            <a:endParaRPr lang="en-US" altLang="zh-CN" dirty="0"/>
          </a:p>
          <a:p>
            <a:r>
              <a:rPr lang="zh-CN" altLang="en-US" dirty="0"/>
              <a:t>下图：是指</a:t>
            </a:r>
            <a:r>
              <a:rPr lang="en-US" altLang="zh-CN" dirty="0"/>
              <a:t>OS</a:t>
            </a:r>
            <a:r>
              <a:rPr lang="zh-CN" altLang="en-US" dirty="0"/>
              <a:t>向进程提供的“资源”抽象（共享分享的）</a:t>
            </a:r>
            <a:endParaRPr lang="en-US" altLang="zh-CN" dirty="0"/>
          </a:p>
          <a:p>
            <a:endParaRPr lang="en-US" altLang="zh-CN" dirty="0"/>
          </a:p>
        </p:txBody>
      </p:sp>
      <p:sp>
        <p:nvSpPr>
          <p:cNvPr id="4" name="灯片编号占位符 3"/>
          <p:cNvSpPr>
            <a:spLocks noGrp="1"/>
          </p:cNvSpPr>
          <p:nvPr>
            <p:ph type="sldNum" sz="quarter" idx="10"/>
          </p:nvPr>
        </p:nvSpPr>
        <p:spPr/>
        <p:txBody>
          <a:bodyPr/>
          <a:lstStyle/>
          <a:p>
            <a:fld id="{3BB21687-B0A7-4083-A9B7-8BE7ECAB6D13}" type="slidenum">
              <a:rPr lang="zh-CN" altLang="en-US" smtClean="0"/>
              <a:t>40</a:t>
            </a:fld>
            <a:endParaRPr lang="zh-CN" altLang="en-US"/>
          </a:p>
        </p:txBody>
      </p:sp>
    </p:spTree>
    <p:extLst>
      <p:ext uri="{BB962C8B-B14F-4D97-AF65-F5344CB8AC3E}">
        <p14:creationId xmlns:p14="http://schemas.microsoft.com/office/powerpoint/2010/main" val="4029893196"/>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是从使用者角度上体验到的一种抽象</a:t>
            </a:r>
            <a:endParaRPr lang="en-US" altLang="zh-CN" dirty="0"/>
          </a:p>
          <a:p>
            <a:endParaRPr lang="en-US" altLang="zh-CN" dirty="0"/>
          </a:p>
          <a:p>
            <a:r>
              <a:rPr lang="zh-CN" altLang="en-US" dirty="0"/>
              <a:t>上下文</a:t>
            </a:r>
            <a:r>
              <a:rPr lang="en-US" altLang="zh-CN" dirty="0"/>
              <a:t>context</a:t>
            </a:r>
            <a:r>
              <a:rPr lang="zh-CN" altLang="en-US" dirty="0"/>
              <a:t>，或者成为环境</a:t>
            </a:r>
            <a:r>
              <a:rPr lang="en-US" altLang="zh-CN" dirty="0"/>
              <a:t>——</a:t>
            </a:r>
            <a:r>
              <a:rPr lang="zh-CN" altLang="en-US" dirty="0"/>
              <a:t>用炒菜例子来说明环境</a:t>
            </a:r>
            <a:endParaRPr lang="en-US" altLang="zh-CN" dirty="0"/>
          </a:p>
          <a:p>
            <a:endParaRPr lang="en-US" altLang="zh-CN" dirty="0"/>
          </a:p>
          <a:p>
            <a:endParaRPr lang="en-US" altLang="zh-CN" dirty="0"/>
          </a:p>
          <a:p>
            <a:r>
              <a:rPr lang="zh-CN" altLang="en-US" dirty="0"/>
              <a:t>操作系统</a:t>
            </a:r>
            <a:r>
              <a:rPr lang="en-US" altLang="zh-CN" dirty="0"/>
              <a:t>——</a:t>
            </a:r>
            <a:r>
              <a:rPr lang="zh-CN" altLang="en-US" dirty="0"/>
              <a:t>内核，常驻内存的代码，有系统调用供进程使用，但是自己会异步执行</a:t>
            </a:r>
          </a:p>
        </p:txBody>
      </p:sp>
      <p:sp>
        <p:nvSpPr>
          <p:cNvPr id="4" name="灯片编号占位符 3"/>
          <p:cNvSpPr>
            <a:spLocks noGrp="1"/>
          </p:cNvSpPr>
          <p:nvPr>
            <p:ph type="sldNum" sz="quarter" idx="10"/>
          </p:nvPr>
        </p:nvSpPr>
        <p:spPr/>
        <p:txBody>
          <a:bodyPr/>
          <a:lstStyle/>
          <a:p>
            <a:fld id="{3BB21687-B0A7-4083-A9B7-8BE7ECAB6D13}" type="slidenum">
              <a:rPr lang="zh-CN" altLang="en-US" smtClean="0"/>
              <a:t>41</a:t>
            </a:fld>
            <a:endParaRPr lang="zh-CN" altLang="en-US"/>
          </a:p>
        </p:txBody>
      </p:sp>
    </p:spTree>
    <p:extLst>
      <p:ext uri="{BB962C8B-B14F-4D97-AF65-F5344CB8AC3E}">
        <p14:creationId xmlns:p14="http://schemas.microsoft.com/office/powerpoint/2010/main" val="424855075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服务器代码，多个请求的独立服务时，资源开销的多少就非常重要了</a:t>
            </a:r>
          </a:p>
        </p:txBody>
      </p:sp>
      <p:sp>
        <p:nvSpPr>
          <p:cNvPr id="4" name="灯片编号占位符 3"/>
          <p:cNvSpPr>
            <a:spLocks noGrp="1"/>
          </p:cNvSpPr>
          <p:nvPr>
            <p:ph type="sldNum" sz="quarter" idx="10"/>
          </p:nvPr>
        </p:nvSpPr>
        <p:spPr/>
        <p:txBody>
          <a:bodyPr/>
          <a:lstStyle/>
          <a:p>
            <a:fld id="{3BB21687-B0A7-4083-A9B7-8BE7ECAB6D13}" type="slidenum">
              <a:rPr lang="zh-CN" altLang="en-US" smtClean="0"/>
              <a:t>42</a:t>
            </a:fld>
            <a:endParaRPr lang="zh-CN" altLang="en-US"/>
          </a:p>
        </p:txBody>
      </p:sp>
    </p:spTree>
    <p:extLst>
      <p:ext uri="{BB962C8B-B14F-4D97-AF65-F5344CB8AC3E}">
        <p14:creationId xmlns:p14="http://schemas.microsoft.com/office/powerpoint/2010/main" val="83147042"/>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3BB21687-B0A7-4083-A9B7-8BE7ECAB6D13}" type="slidenum">
              <a:rPr lang="zh-CN" altLang="en-US" smtClean="0"/>
              <a:t>43</a:t>
            </a:fld>
            <a:endParaRPr lang="zh-CN" altLang="en-US"/>
          </a:p>
        </p:txBody>
      </p:sp>
    </p:spTree>
    <p:extLst>
      <p:ext uri="{BB962C8B-B14F-4D97-AF65-F5344CB8AC3E}">
        <p14:creationId xmlns:p14="http://schemas.microsoft.com/office/powerpoint/2010/main" val="2859522397"/>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3BB21687-B0A7-4083-A9B7-8BE7ECAB6D13}" type="slidenum">
              <a:rPr lang="zh-CN" altLang="en-US" smtClean="0"/>
              <a:t>44</a:t>
            </a:fld>
            <a:endParaRPr lang="zh-CN" altLang="en-US"/>
          </a:p>
        </p:txBody>
      </p:sp>
    </p:spTree>
    <p:extLst>
      <p:ext uri="{BB962C8B-B14F-4D97-AF65-F5344CB8AC3E}">
        <p14:creationId xmlns:p14="http://schemas.microsoft.com/office/powerpoint/2010/main" val="669969018"/>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3BB21687-B0A7-4083-A9B7-8BE7ECAB6D13}" type="slidenum">
              <a:rPr lang="zh-CN" altLang="en-US" smtClean="0"/>
              <a:t>45</a:t>
            </a:fld>
            <a:endParaRPr lang="zh-CN" altLang="en-US"/>
          </a:p>
        </p:txBody>
      </p:sp>
    </p:spTree>
    <p:extLst>
      <p:ext uri="{BB962C8B-B14F-4D97-AF65-F5344CB8AC3E}">
        <p14:creationId xmlns:p14="http://schemas.microsoft.com/office/powerpoint/2010/main" val="22388166"/>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网络接口提供了计算机系统间互联协作的可能</a:t>
            </a:r>
            <a:endParaRPr lang="en-US" altLang="zh-CN" dirty="0"/>
          </a:p>
          <a:p>
            <a:endParaRPr lang="en-US" altLang="zh-CN" dirty="0"/>
          </a:p>
          <a:p>
            <a:r>
              <a:rPr lang="zh-CN" altLang="en-US" dirty="0"/>
              <a:t>网络数据的处理功能很复杂，通常分层处理</a:t>
            </a:r>
            <a:r>
              <a:rPr lang="en-US" altLang="zh-CN" dirty="0"/>
              <a:t>——</a:t>
            </a:r>
            <a:r>
              <a:rPr lang="zh-CN" altLang="en-US" dirty="0"/>
              <a:t>将来的</a:t>
            </a:r>
            <a:r>
              <a:rPr lang="en-US" altLang="zh-CN" dirty="0"/>
              <a:t>ISO</a:t>
            </a:r>
            <a:r>
              <a:rPr lang="zh-CN" altLang="en-US" dirty="0"/>
              <a:t>七层或者</a:t>
            </a:r>
            <a:r>
              <a:rPr lang="en-US" altLang="zh-CN" dirty="0"/>
              <a:t>TCP/IP</a:t>
            </a:r>
            <a:r>
              <a:rPr lang="zh-CN" altLang="en-US" dirty="0"/>
              <a:t>的四层，</a:t>
            </a:r>
            <a:endParaRPr lang="en-US" altLang="zh-CN" dirty="0"/>
          </a:p>
          <a:p>
            <a:r>
              <a:rPr lang="zh-CN" altLang="en-US" dirty="0"/>
              <a:t>是一个复杂的子系统，协议栈相当于文件系统的复杂程度。</a:t>
            </a:r>
            <a:endParaRPr lang="en-US" altLang="zh-CN" dirty="0"/>
          </a:p>
        </p:txBody>
      </p:sp>
      <p:sp>
        <p:nvSpPr>
          <p:cNvPr id="4" name="灯片编号占位符 3"/>
          <p:cNvSpPr>
            <a:spLocks noGrp="1"/>
          </p:cNvSpPr>
          <p:nvPr>
            <p:ph type="sldNum" sz="quarter" idx="10"/>
          </p:nvPr>
        </p:nvSpPr>
        <p:spPr/>
        <p:txBody>
          <a:bodyPr/>
          <a:lstStyle/>
          <a:p>
            <a:fld id="{3BB21687-B0A7-4083-A9B7-8BE7ECAB6D13}" type="slidenum">
              <a:rPr lang="zh-CN" altLang="en-US" smtClean="0"/>
              <a:t>46</a:t>
            </a:fld>
            <a:endParaRPr lang="zh-CN" altLang="en-US"/>
          </a:p>
        </p:txBody>
      </p:sp>
    </p:spTree>
    <p:extLst>
      <p:ext uri="{BB962C8B-B14F-4D97-AF65-F5344CB8AC3E}">
        <p14:creationId xmlns:p14="http://schemas.microsoft.com/office/powerpoint/2010/main" val="3482920910"/>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禁用网络接口硬件，不足以完成计算机系统间的协作。</a:t>
            </a:r>
            <a:endParaRPr lang="en-US" altLang="zh-CN" dirty="0"/>
          </a:p>
          <a:p>
            <a:endParaRPr lang="en-US" altLang="zh-CN" dirty="0"/>
          </a:p>
          <a:p>
            <a:r>
              <a:rPr lang="en-US" altLang="zh-CN" dirty="0"/>
              <a:t>TCP/IP</a:t>
            </a:r>
            <a:r>
              <a:rPr lang="zh-CN" altLang="en-US" dirty="0"/>
              <a:t>系列协议，在网络课程中将会详细解释</a:t>
            </a:r>
            <a:endParaRPr lang="en-US" altLang="zh-CN" dirty="0"/>
          </a:p>
          <a:p>
            <a:endParaRPr lang="en-US" altLang="zh-CN" dirty="0"/>
          </a:p>
          <a:p>
            <a:r>
              <a:rPr lang="zh-CN" altLang="en-US" dirty="0"/>
              <a:t>分布式系统就是通过这样的模式协调工作的</a:t>
            </a:r>
            <a:endParaRPr lang="en-US" altLang="zh-CN" dirty="0"/>
          </a:p>
        </p:txBody>
      </p:sp>
      <p:sp>
        <p:nvSpPr>
          <p:cNvPr id="4" name="灯片编号占位符 3"/>
          <p:cNvSpPr>
            <a:spLocks noGrp="1"/>
          </p:cNvSpPr>
          <p:nvPr>
            <p:ph type="sldNum" sz="quarter" idx="10"/>
          </p:nvPr>
        </p:nvSpPr>
        <p:spPr/>
        <p:txBody>
          <a:bodyPr/>
          <a:lstStyle/>
          <a:p>
            <a:fld id="{3BB21687-B0A7-4083-A9B7-8BE7ECAB6D13}" type="slidenum">
              <a:rPr lang="zh-CN" altLang="en-US" smtClean="0"/>
              <a:t>47</a:t>
            </a:fld>
            <a:endParaRPr lang="zh-CN" altLang="en-US"/>
          </a:p>
        </p:txBody>
      </p:sp>
    </p:spTree>
    <p:extLst>
      <p:ext uri="{BB962C8B-B14F-4D97-AF65-F5344CB8AC3E}">
        <p14:creationId xmlns:p14="http://schemas.microsoft.com/office/powerpoint/2010/main" val="832004019"/>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编程中与性能相关的工作，大多数与并行相关</a:t>
            </a:r>
            <a:endParaRPr lang="en-US" altLang="zh-CN" dirty="0"/>
          </a:p>
        </p:txBody>
      </p:sp>
      <p:sp>
        <p:nvSpPr>
          <p:cNvPr id="4" name="灯片编号占位符 3"/>
          <p:cNvSpPr>
            <a:spLocks noGrp="1"/>
          </p:cNvSpPr>
          <p:nvPr>
            <p:ph type="sldNum" sz="quarter" idx="10"/>
          </p:nvPr>
        </p:nvSpPr>
        <p:spPr/>
        <p:txBody>
          <a:bodyPr/>
          <a:lstStyle/>
          <a:p>
            <a:fld id="{3BB21687-B0A7-4083-A9B7-8BE7ECAB6D13}" type="slidenum">
              <a:rPr lang="zh-CN" altLang="en-US" smtClean="0"/>
              <a:t>48</a:t>
            </a:fld>
            <a:endParaRPr lang="zh-CN" altLang="en-US"/>
          </a:p>
        </p:txBody>
      </p:sp>
    </p:spTree>
    <p:extLst>
      <p:ext uri="{BB962C8B-B14F-4D97-AF65-F5344CB8AC3E}">
        <p14:creationId xmlns:p14="http://schemas.microsoft.com/office/powerpoint/2010/main" val="4230494918"/>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并行可以在不同层次上展现，各自使用不同的技术</a:t>
            </a:r>
            <a:endParaRPr lang="en-US" altLang="zh-CN" dirty="0"/>
          </a:p>
          <a:p>
            <a:endParaRPr lang="en-US" altLang="zh-CN" dirty="0"/>
          </a:p>
          <a:p>
            <a:endParaRPr lang="en-US" altLang="zh-CN" dirty="0"/>
          </a:p>
          <a:p>
            <a:r>
              <a:rPr lang="zh-CN" altLang="en-US" dirty="0"/>
              <a:t>超线程涉及到多个并行执行的硬件线程，其调度不由操作系统负责而是由硬件负责</a:t>
            </a:r>
            <a:r>
              <a:rPr lang="en-US" altLang="zh-CN" dirty="0"/>
              <a:t>——</a:t>
            </a:r>
            <a:r>
              <a:rPr lang="zh-CN" altLang="en-US" dirty="0"/>
              <a:t>根据是否有内存访问等停顿而调度执行另一个硬件线程</a:t>
            </a:r>
          </a:p>
        </p:txBody>
      </p:sp>
      <p:sp>
        <p:nvSpPr>
          <p:cNvPr id="4" name="灯片编号占位符 3"/>
          <p:cNvSpPr>
            <a:spLocks noGrp="1"/>
          </p:cNvSpPr>
          <p:nvPr>
            <p:ph type="sldNum" sz="quarter" idx="10"/>
          </p:nvPr>
        </p:nvSpPr>
        <p:spPr/>
        <p:txBody>
          <a:bodyPr/>
          <a:lstStyle/>
          <a:p>
            <a:fld id="{3BB21687-B0A7-4083-A9B7-8BE7ECAB6D13}" type="slidenum">
              <a:rPr lang="zh-CN" altLang="en-US" smtClean="0"/>
              <a:t>49</a:t>
            </a:fld>
            <a:endParaRPr lang="zh-CN" altLang="en-US"/>
          </a:p>
        </p:txBody>
      </p:sp>
    </p:spTree>
    <p:extLst>
      <p:ext uri="{BB962C8B-B14F-4D97-AF65-F5344CB8AC3E}">
        <p14:creationId xmlns:p14="http://schemas.microsoft.com/office/powerpoint/2010/main" val="704955482"/>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流水大约需要</a:t>
            </a:r>
            <a:r>
              <a:rPr lang="en-US" altLang="zh-CN" dirty="0"/>
              <a:t>20</a:t>
            </a:r>
            <a:r>
              <a:rPr lang="zh-CN" altLang="en-US" dirty="0"/>
              <a:t>个周期，同时处理的指令多达</a:t>
            </a:r>
            <a:r>
              <a:rPr lang="en-US" altLang="zh-CN" dirty="0"/>
              <a:t>100</a:t>
            </a:r>
            <a:r>
              <a:rPr lang="zh-CN" altLang="en-US" dirty="0"/>
              <a:t>多条，每周期发送</a:t>
            </a:r>
            <a:r>
              <a:rPr lang="en-US" altLang="zh-CN" dirty="0"/>
              <a:t>2~4</a:t>
            </a:r>
            <a:r>
              <a:rPr lang="zh-CN" altLang="en-US" dirty="0"/>
              <a:t>条指令</a:t>
            </a:r>
          </a:p>
        </p:txBody>
      </p:sp>
      <p:sp>
        <p:nvSpPr>
          <p:cNvPr id="4" name="灯片编号占位符 3"/>
          <p:cNvSpPr>
            <a:spLocks noGrp="1"/>
          </p:cNvSpPr>
          <p:nvPr>
            <p:ph type="sldNum" sz="quarter" idx="10"/>
          </p:nvPr>
        </p:nvSpPr>
        <p:spPr/>
        <p:txBody>
          <a:bodyPr/>
          <a:lstStyle/>
          <a:p>
            <a:fld id="{3BB21687-B0A7-4083-A9B7-8BE7ECAB6D13}" type="slidenum">
              <a:rPr lang="zh-CN" altLang="en-US" smtClean="0"/>
              <a:t>50</a:t>
            </a:fld>
            <a:endParaRPr lang="zh-CN" altLang="en-US"/>
          </a:p>
        </p:txBody>
      </p:sp>
    </p:spTree>
    <p:extLst>
      <p:ext uri="{BB962C8B-B14F-4D97-AF65-F5344CB8AC3E}">
        <p14:creationId xmlns:p14="http://schemas.microsoft.com/office/powerpoint/2010/main" val="3283912872"/>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3BB21687-B0A7-4083-A9B7-8BE7ECAB6D13}" type="slidenum">
              <a:rPr lang="zh-CN" altLang="en-US" smtClean="0"/>
              <a:t>51</a:t>
            </a:fld>
            <a:endParaRPr lang="zh-CN" altLang="en-US"/>
          </a:p>
        </p:txBody>
      </p:sp>
    </p:spTree>
    <p:extLst>
      <p:ext uri="{BB962C8B-B14F-4D97-AF65-F5344CB8AC3E}">
        <p14:creationId xmlns:p14="http://schemas.microsoft.com/office/powerpoint/2010/main" val="185469627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914400" y="2130426"/>
            <a:ext cx="10363200" cy="1470025"/>
          </a:xfrm>
        </p:spPr>
        <p:txBody>
          <a:bodyPr/>
          <a:lstStyle/>
          <a:p>
            <a:r>
              <a:rPr lang="zh-CN" altLang="en-US" dirty="0"/>
              <a:t>单击此处编辑母版标题样式</a:t>
            </a:r>
          </a:p>
        </p:txBody>
      </p:sp>
      <p:sp>
        <p:nvSpPr>
          <p:cNvPr id="3" name="副标题 2"/>
          <p:cNvSpPr>
            <a:spLocks noGrp="1"/>
          </p:cNvSpPr>
          <p:nvPr>
            <p:ph type="subTitle" idx="1"/>
          </p:nvPr>
        </p:nvSpPr>
        <p:spPr>
          <a:xfrm>
            <a:off x="1828800" y="3886200"/>
            <a:ext cx="85344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zh-CN" altLang="en-US"/>
              <a:t>单击此处编辑母版副标题样式</a:t>
            </a:r>
          </a:p>
        </p:txBody>
      </p:sp>
      <p:sp>
        <p:nvSpPr>
          <p:cNvPr id="4" name="日期占位符 3"/>
          <p:cNvSpPr>
            <a:spLocks noGrp="1"/>
          </p:cNvSpPr>
          <p:nvPr>
            <p:ph type="dt" sz="half" idx="10"/>
          </p:nvPr>
        </p:nvSpPr>
        <p:spPr/>
        <p:txBody>
          <a:bodyPr/>
          <a:lstStyle>
            <a:lvl1pPr>
              <a:defRPr smtClean="0"/>
            </a:lvl1pPr>
          </a:lstStyle>
          <a:p>
            <a:pPr>
              <a:defRPr/>
            </a:pPr>
            <a:fld id="{22715368-1108-4622-9707-1302AF29C5F4}" type="datetime1">
              <a:rPr lang="zh-CN" altLang="en-US"/>
              <a:pPr>
                <a:defRPr/>
              </a:pPr>
              <a:t>2021/3/8</a:t>
            </a:fld>
            <a:endParaRPr lang="zh-CN" altLang="en-US"/>
          </a:p>
        </p:txBody>
      </p:sp>
      <p:sp>
        <p:nvSpPr>
          <p:cNvPr id="5" name="页脚占位符 4"/>
          <p:cNvSpPr>
            <a:spLocks noGrp="1"/>
          </p:cNvSpPr>
          <p:nvPr>
            <p:ph type="ftr" sz="quarter" idx="11"/>
          </p:nvPr>
        </p:nvSpPr>
        <p:spPr/>
        <p:txBody>
          <a:bodyPr/>
          <a:lstStyle>
            <a:lvl1pPr>
              <a:defRPr/>
            </a:lvl1pPr>
          </a:lstStyle>
          <a:p>
            <a:pPr>
              <a:defRPr/>
            </a:pPr>
            <a:endParaRPr lang="zh-CN" altLang="en-US"/>
          </a:p>
        </p:txBody>
      </p:sp>
      <p:sp>
        <p:nvSpPr>
          <p:cNvPr id="6" name="灯片编号占位符 5"/>
          <p:cNvSpPr>
            <a:spLocks noGrp="1"/>
          </p:cNvSpPr>
          <p:nvPr>
            <p:ph type="sldNum" sz="quarter" idx="12"/>
          </p:nvPr>
        </p:nvSpPr>
        <p:spPr/>
        <p:txBody>
          <a:bodyPr/>
          <a:lstStyle>
            <a:lvl1pPr>
              <a:defRPr/>
            </a:lvl1pPr>
          </a:lstStyle>
          <a:p>
            <a:pPr>
              <a:defRPr/>
            </a:pPr>
            <a:r>
              <a:rPr lang="en-US" altLang="zh-CN"/>
              <a:t>Parallel Programming with  Intel Parallel Studio XE </a:t>
            </a:r>
            <a:fld id="{4EC9487D-EDE6-4240-988C-9B3801F6C3FE}" type="slidenum">
              <a:rPr lang="zh-CN" altLang="en-US"/>
              <a:pPr>
                <a:defRPr/>
              </a:pPr>
              <a:t>‹#›</a:t>
            </a:fld>
            <a:endParaRPr lang="zh-CN" altLang="en-US"/>
          </a:p>
        </p:txBody>
      </p:sp>
    </p:spTree>
    <p:extLst>
      <p:ext uri="{BB962C8B-B14F-4D97-AF65-F5344CB8AC3E}">
        <p14:creationId xmlns:p14="http://schemas.microsoft.com/office/powerpoint/2010/main" val="110849623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lvl1pPr>
              <a:defRPr/>
            </a:lvl1pPr>
          </a:lstStyle>
          <a:p>
            <a:pPr>
              <a:defRPr/>
            </a:pPr>
            <a:fld id="{078122B3-86C5-44B2-A31D-101270A77D2F}" type="datetime1">
              <a:rPr lang="zh-CN" altLang="en-US"/>
              <a:pPr>
                <a:defRPr/>
              </a:pPr>
              <a:t>2021/3/8</a:t>
            </a:fld>
            <a:endParaRPr lang="zh-CN" altLang="en-US"/>
          </a:p>
        </p:txBody>
      </p:sp>
      <p:sp>
        <p:nvSpPr>
          <p:cNvPr id="5" name="页脚占位符 4"/>
          <p:cNvSpPr>
            <a:spLocks noGrp="1"/>
          </p:cNvSpPr>
          <p:nvPr>
            <p:ph type="ftr" sz="quarter" idx="11"/>
          </p:nvPr>
        </p:nvSpPr>
        <p:spPr/>
        <p:txBody>
          <a:bodyPr/>
          <a:lstStyle>
            <a:lvl1pPr>
              <a:defRPr/>
            </a:lvl1pPr>
          </a:lstStyle>
          <a:p>
            <a:pPr>
              <a:defRPr/>
            </a:pPr>
            <a:endParaRPr lang="zh-CN" altLang="en-US"/>
          </a:p>
        </p:txBody>
      </p:sp>
      <p:sp>
        <p:nvSpPr>
          <p:cNvPr id="6" name="灯片编号占位符 5"/>
          <p:cNvSpPr>
            <a:spLocks noGrp="1"/>
          </p:cNvSpPr>
          <p:nvPr>
            <p:ph type="sldNum" sz="quarter" idx="12"/>
          </p:nvPr>
        </p:nvSpPr>
        <p:spPr/>
        <p:txBody>
          <a:bodyPr/>
          <a:lstStyle>
            <a:lvl1pPr>
              <a:defRPr/>
            </a:lvl1pPr>
          </a:lstStyle>
          <a:p>
            <a:pPr>
              <a:defRPr/>
            </a:pPr>
            <a:fld id="{392EB7A3-68BD-4CAE-8C14-8063AF6D8FB4}" type="slidenum">
              <a:rPr lang="zh-CN" altLang="en-US"/>
              <a:pPr>
                <a:defRPr/>
              </a:pPr>
              <a:t>‹#›</a:t>
            </a:fld>
            <a:endParaRPr lang="zh-CN" altLang="en-US"/>
          </a:p>
        </p:txBody>
      </p:sp>
    </p:spTree>
    <p:extLst>
      <p:ext uri="{BB962C8B-B14F-4D97-AF65-F5344CB8AC3E}">
        <p14:creationId xmlns:p14="http://schemas.microsoft.com/office/powerpoint/2010/main" val="299749588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963084" y="4406901"/>
            <a:ext cx="10363200" cy="1362075"/>
          </a:xfrm>
        </p:spPr>
        <p:txBody>
          <a:bodyPr anchor="t"/>
          <a:lstStyle>
            <a:lvl1pPr algn="l">
              <a:defRPr sz="4000" b="1" cap="all"/>
            </a:lvl1pPr>
          </a:lstStyle>
          <a:p>
            <a:r>
              <a:rPr lang="zh-CN" altLang="en-US"/>
              <a:t>单击此处编辑母版标题样式</a:t>
            </a:r>
          </a:p>
        </p:txBody>
      </p:sp>
      <p:sp>
        <p:nvSpPr>
          <p:cNvPr id="3" name="文本占位符 2"/>
          <p:cNvSpPr>
            <a:spLocks noGrp="1"/>
          </p:cNvSpPr>
          <p:nvPr>
            <p:ph type="body" idx="1"/>
          </p:nvPr>
        </p:nvSpPr>
        <p:spPr>
          <a:xfrm>
            <a:off x="963084" y="2906713"/>
            <a:ext cx="103632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zh-CN" altLang="en-US"/>
              <a:t>单击此处编辑母版文本样式</a:t>
            </a:r>
          </a:p>
        </p:txBody>
      </p:sp>
      <p:sp>
        <p:nvSpPr>
          <p:cNvPr id="4" name="日期占位符 3"/>
          <p:cNvSpPr>
            <a:spLocks noGrp="1"/>
          </p:cNvSpPr>
          <p:nvPr>
            <p:ph type="dt" sz="half" idx="10"/>
          </p:nvPr>
        </p:nvSpPr>
        <p:spPr/>
        <p:txBody>
          <a:bodyPr/>
          <a:lstStyle>
            <a:lvl1pPr>
              <a:defRPr/>
            </a:lvl1pPr>
          </a:lstStyle>
          <a:p>
            <a:pPr>
              <a:defRPr/>
            </a:pPr>
            <a:fld id="{CECE3F79-A974-43C6-80E9-65454845AAAF}" type="datetime1">
              <a:rPr lang="zh-CN" altLang="en-US"/>
              <a:pPr>
                <a:defRPr/>
              </a:pPr>
              <a:t>2021/3/8</a:t>
            </a:fld>
            <a:endParaRPr lang="zh-CN" altLang="en-US"/>
          </a:p>
        </p:txBody>
      </p:sp>
      <p:sp>
        <p:nvSpPr>
          <p:cNvPr id="5" name="页脚占位符 4"/>
          <p:cNvSpPr>
            <a:spLocks noGrp="1"/>
          </p:cNvSpPr>
          <p:nvPr>
            <p:ph type="ftr" sz="quarter" idx="11"/>
          </p:nvPr>
        </p:nvSpPr>
        <p:spPr/>
        <p:txBody>
          <a:bodyPr/>
          <a:lstStyle>
            <a:lvl1pPr>
              <a:defRPr/>
            </a:lvl1pPr>
          </a:lstStyle>
          <a:p>
            <a:pPr>
              <a:defRPr/>
            </a:pPr>
            <a:endParaRPr lang="zh-CN" altLang="en-US"/>
          </a:p>
        </p:txBody>
      </p:sp>
      <p:sp>
        <p:nvSpPr>
          <p:cNvPr id="6" name="灯片编号占位符 5"/>
          <p:cNvSpPr>
            <a:spLocks noGrp="1"/>
          </p:cNvSpPr>
          <p:nvPr>
            <p:ph type="sldNum" sz="quarter" idx="12"/>
          </p:nvPr>
        </p:nvSpPr>
        <p:spPr/>
        <p:txBody>
          <a:bodyPr/>
          <a:lstStyle>
            <a:lvl1pPr>
              <a:defRPr/>
            </a:lvl1pPr>
          </a:lstStyle>
          <a:p>
            <a:pPr>
              <a:defRPr/>
            </a:pPr>
            <a:fld id="{60CEB1A0-3023-43F0-97EE-02504FA71AA0}" type="slidenum">
              <a:rPr lang="zh-CN" altLang="en-US"/>
              <a:pPr>
                <a:defRPr/>
              </a:pPr>
              <a:t>‹#›</a:t>
            </a:fld>
            <a:endParaRPr lang="zh-CN" altLang="en-US"/>
          </a:p>
        </p:txBody>
      </p:sp>
    </p:spTree>
    <p:extLst>
      <p:ext uri="{BB962C8B-B14F-4D97-AF65-F5344CB8AC3E}">
        <p14:creationId xmlns:p14="http://schemas.microsoft.com/office/powerpoint/2010/main" val="336956423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609600" y="1600201"/>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6197600" y="1600201"/>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日期占位符 3"/>
          <p:cNvSpPr>
            <a:spLocks noGrp="1"/>
          </p:cNvSpPr>
          <p:nvPr>
            <p:ph type="dt" sz="half" idx="10"/>
          </p:nvPr>
        </p:nvSpPr>
        <p:spPr/>
        <p:txBody>
          <a:bodyPr/>
          <a:lstStyle>
            <a:lvl1pPr>
              <a:defRPr/>
            </a:lvl1pPr>
          </a:lstStyle>
          <a:p>
            <a:pPr>
              <a:defRPr/>
            </a:pPr>
            <a:fld id="{E1F5DBBD-6995-4DED-8717-653520402F37}" type="datetime1">
              <a:rPr lang="zh-CN" altLang="en-US"/>
              <a:pPr>
                <a:defRPr/>
              </a:pPr>
              <a:t>2021/3/8</a:t>
            </a:fld>
            <a:endParaRPr lang="zh-CN" altLang="en-US"/>
          </a:p>
        </p:txBody>
      </p:sp>
      <p:sp>
        <p:nvSpPr>
          <p:cNvPr id="6" name="页脚占位符 4"/>
          <p:cNvSpPr>
            <a:spLocks noGrp="1"/>
          </p:cNvSpPr>
          <p:nvPr>
            <p:ph type="ftr" sz="quarter" idx="11"/>
          </p:nvPr>
        </p:nvSpPr>
        <p:spPr/>
        <p:txBody>
          <a:bodyPr/>
          <a:lstStyle>
            <a:lvl1pPr>
              <a:defRPr/>
            </a:lvl1pPr>
          </a:lstStyle>
          <a:p>
            <a:pPr>
              <a:defRPr/>
            </a:pPr>
            <a:endParaRPr lang="zh-CN" altLang="en-US"/>
          </a:p>
        </p:txBody>
      </p:sp>
      <p:sp>
        <p:nvSpPr>
          <p:cNvPr id="7" name="灯片编号占位符 5"/>
          <p:cNvSpPr>
            <a:spLocks noGrp="1"/>
          </p:cNvSpPr>
          <p:nvPr>
            <p:ph type="sldNum" sz="quarter" idx="12"/>
          </p:nvPr>
        </p:nvSpPr>
        <p:spPr/>
        <p:txBody>
          <a:bodyPr/>
          <a:lstStyle>
            <a:lvl1pPr>
              <a:defRPr/>
            </a:lvl1pPr>
          </a:lstStyle>
          <a:p>
            <a:pPr>
              <a:defRPr/>
            </a:pPr>
            <a:fld id="{8FE5A321-DC3E-40F3-9C40-B0DC3FC0A8DA}" type="slidenum">
              <a:rPr lang="zh-CN" altLang="en-US"/>
              <a:pPr>
                <a:defRPr/>
              </a:pPr>
              <a:t>‹#›</a:t>
            </a:fld>
            <a:endParaRPr lang="zh-CN" altLang="en-US"/>
          </a:p>
        </p:txBody>
      </p:sp>
    </p:spTree>
    <p:extLst>
      <p:ext uri="{BB962C8B-B14F-4D97-AF65-F5344CB8AC3E}">
        <p14:creationId xmlns:p14="http://schemas.microsoft.com/office/powerpoint/2010/main" val="207197989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lvl1pPr>
              <a:defRPr/>
            </a:lvl1pPr>
          </a:lstStyle>
          <a:p>
            <a:r>
              <a:rPr lang="zh-CN" altLang="en-US"/>
              <a:t>单击此处编辑母版标题样式</a:t>
            </a:r>
          </a:p>
        </p:txBody>
      </p:sp>
      <p:sp>
        <p:nvSpPr>
          <p:cNvPr id="3" name="文本占位符 2"/>
          <p:cNvSpPr>
            <a:spLocks noGrp="1"/>
          </p:cNvSpPr>
          <p:nvPr>
            <p:ph type="body" idx="1"/>
          </p:nvPr>
        </p:nvSpPr>
        <p:spPr>
          <a:xfrm>
            <a:off x="609600" y="1535113"/>
            <a:ext cx="5386917"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609600" y="2174875"/>
            <a:ext cx="538691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6193368" y="1535113"/>
            <a:ext cx="5389033"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6193368" y="2174875"/>
            <a:ext cx="5389033"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日期占位符 3"/>
          <p:cNvSpPr>
            <a:spLocks noGrp="1"/>
          </p:cNvSpPr>
          <p:nvPr>
            <p:ph type="dt" sz="half" idx="10"/>
          </p:nvPr>
        </p:nvSpPr>
        <p:spPr/>
        <p:txBody>
          <a:bodyPr/>
          <a:lstStyle>
            <a:lvl1pPr>
              <a:defRPr/>
            </a:lvl1pPr>
          </a:lstStyle>
          <a:p>
            <a:pPr>
              <a:defRPr/>
            </a:pPr>
            <a:fld id="{EED07E25-5B42-4525-91B6-BC4BA244FC14}" type="datetime1">
              <a:rPr lang="zh-CN" altLang="en-US"/>
              <a:pPr>
                <a:defRPr/>
              </a:pPr>
              <a:t>2021/3/8</a:t>
            </a:fld>
            <a:endParaRPr lang="zh-CN" altLang="en-US"/>
          </a:p>
        </p:txBody>
      </p:sp>
      <p:sp>
        <p:nvSpPr>
          <p:cNvPr id="8" name="页脚占位符 4"/>
          <p:cNvSpPr>
            <a:spLocks noGrp="1"/>
          </p:cNvSpPr>
          <p:nvPr>
            <p:ph type="ftr" sz="quarter" idx="11"/>
          </p:nvPr>
        </p:nvSpPr>
        <p:spPr/>
        <p:txBody>
          <a:bodyPr/>
          <a:lstStyle>
            <a:lvl1pPr>
              <a:defRPr/>
            </a:lvl1pPr>
          </a:lstStyle>
          <a:p>
            <a:pPr>
              <a:defRPr/>
            </a:pPr>
            <a:endParaRPr lang="zh-CN" altLang="en-US"/>
          </a:p>
        </p:txBody>
      </p:sp>
      <p:sp>
        <p:nvSpPr>
          <p:cNvPr id="9" name="灯片编号占位符 5"/>
          <p:cNvSpPr>
            <a:spLocks noGrp="1"/>
          </p:cNvSpPr>
          <p:nvPr>
            <p:ph type="sldNum" sz="quarter" idx="12"/>
          </p:nvPr>
        </p:nvSpPr>
        <p:spPr/>
        <p:txBody>
          <a:bodyPr/>
          <a:lstStyle>
            <a:lvl1pPr>
              <a:defRPr/>
            </a:lvl1pPr>
          </a:lstStyle>
          <a:p>
            <a:pPr>
              <a:defRPr/>
            </a:pPr>
            <a:fld id="{1D7F7AEF-DFB1-4D8E-A0AD-E22BEDE34580}" type="slidenum">
              <a:rPr lang="zh-CN" altLang="en-US"/>
              <a:pPr>
                <a:defRPr/>
              </a:pPr>
              <a:t>‹#›</a:t>
            </a:fld>
            <a:endParaRPr lang="zh-CN" altLang="en-US"/>
          </a:p>
        </p:txBody>
      </p:sp>
    </p:spTree>
    <p:extLst>
      <p:ext uri="{BB962C8B-B14F-4D97-AF65-F5344CB8AC3E}">
        <p14:creationId xmlns:p14="http://schemas.microsoft.com/office/powerpoint/2010/main" val="183736743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3"/>
          <p:cNvSpPr>
            <a:spLocks noGrp="1"/>
          </p:cNvSpPr>
          <p:nvPr>
            <p:ph type="dt" sz="half" idx="10"/>
          </p:nvPr>
        </p:nvSpPr>
        <p:spPr/>
        <p:txBody>
          <a:bodyPr/>
          <a:lstStyle>
            <a:lvl1pPr>
              <a:defRPr/>
            </a:lvl1pPr>
          </a:lstStyle>
          <a:p>
            <a:pPr>
              <a:defRPr/>
            </a:pPr>
            <a:fld id="{9405611B-78D8-4A61-96EF-510306F2C2E5}" type="datetime1">
              <a:rPr lang="zh-CN" altLang="en-US"/>
              <a:pPr>
                <a:defRPr/>
              </a:pPr>
              <a:t>2021/3/8</a:t>
            </a:fld>
            <a:endParaRPr lang="zh-CN" altLang="en-US"/>
          </a:p>
        </p:txBody>
      </p:sp>
      <p:sp>
        <p:nvSpPr>
          <p:cNvPr id="4" name="页脚占位符 4"/>
          <p:cNvSpPr>
            <a:spLocks noGrp="1"/>
          </p:cNvSpPr>
          <p:nvPr>
            <p:ph type="ftr" sz="quarter" idx="11"/>
          </p:nvPr>
        </p:nvSpPr>
        <p:spPr/>
        <p:txBody>
          <a:bodyPr/>
          <a:lstStyle>
            <a:lvl1pPr>
              <a:defRPr/>
            </a:lvl1pPr>
          </a:lstStyle>
          <a:p>
            <a:pPr>
              <a:defRPr/>
            </a:pPr>
            <a:endParaRPr lang="zh-CN" altLang="en-US"/>
          </a:p>
        </p:txBody>
      </p:sp>
      <p:sp>
        <p:nvSpPr>
          <p:cNvPr id="5" name="灯片编号占位符 5"/>
          <p:cNvSpPr>
            <a:spLocks noGrp="1"/>
          </p:cNvSpPr>
          <p:nvPr>
            <p:ph type="sldNum" sz="quarter" idx="12"/>
          </p:nvPr>
        </p:nvSpPr>
        <p:spPr/>
        <p:txBody>
          <a:bodyPr/>
          <a:lstStyle>
            <a:lvl1pPr>
              <a:defRPr/>
            </a:lvl1pPr>
          </a:lstStyle>
          <a:p>
            <a:pPr>
              <a:defRPr/>
            </a:pPr>
            <a:fld id="{D307BB3E-743D-4008-8225-7E363631CBD4}" type="slidenum">
              <a:rPr lang="zh-CN" altLang="en-US"/>
              <a:pPr>
                <a:defRPr/>
              </a:pPr>
              <a:t>‹#›</a:t>
            </a:fld>
            <a:endParaRPr lang="zh-CN" altLang="en-US"/>
          </a:p>
        </p:txBody>
      </p:sp>
    </p:spTree>
    <p:extLst>
      <p:ext uri="{BB962C8B-B14F-4D97-AF65-F5344CB8AC3E}">
        <p14:creationId xmlns:p14="http://schemas.microsoft.com/office/powerpoint/2010/main" val="405895617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3"/>
          <p:cNvSpPr>
            <a:spLocks noGrp="1"/>
          </p:cNvSpPr>
          <p:nvPr>
            <p:ph type="dt" sz="half" idx="10"/>
          </p:nvPr>
        </p:nvSpPr>
        <p:spPr/>
        <p:txBody>
          <a:bodyPr/>
          <a:lstStyle>
            <a:lvl1pPr>
              <a:defRPr/>
            </a:lvl1pPr>
          </a:lstStyle>
          <a:p>
            <a:pPr>
              <a:defRPr/>
            </a:pPr>
            <a:fld id="{9FE8C386-04D6-401E-ABEB-7F953EC0AE82}" type="datetime1">
              <a:rPr lang="zh-CN" altLang="en-US"/>
              <a:pPr>
                <a:defRPr/>
              </a:pPr>
              <a:t>2021/3/8</a:t>
            </a:fld>
            <a:endParaRPr lang="zh-CN" altLang="en-US"/>
          </a:p>
        </p:txBody>
      </p:sp>
      <p:sp>
        <p:nvSpPr>
          <p:cNvPr id="3" name="页脚占位符 4"/>
          <p:cNvSpPr>
            <a:spLocks noGrp="1"/>
          </p:cNvSpPr>
          <p:nvPr>
            <p:ph type="ftr" sz="quarter" idx="11"/>
          </p:nvPr>
        </p:nvSpPr>
        <p:spPr/>
        <p:txBody>
          <a:bodyPr/>
          <a:lstStyle>
            <a:lvl1pPr>
              <a:defRPr/>
            </a:lvl1pPr>
          </a:lstStyle>
          <a:p>
            <a:pPr>
              <a:defRPr/>
            </a:pPr>
            <a:endParaRPr lang="zh-CN" altLang="en-US"/>
          </a:p>
        </p:txBody>
      </p:sp>
      <p:sp>
        <p:nvSpPr>
          <p:cNvPr id="4" name="灯片编号占位符 5"/>
          <p:cNvSpPr>
            <a:spLocks noGrp="1"/>
          </p:cNvSpPr>
          <p:nvPr>
            <p:ph type="sldNum" sz="quarter" idx="12"/>
          </p:nvPr>
        </p:nvSpPr>
        <p:spPr/>
        <p:txBody>
          <a:bodyPr/>
          <a:lstStyle>
            <a:lvl1pPr>
              <a:defRPr/>
            </a:lvl1pPr>
          </a:lstStyle>
          <a:p>
            <a:pPr>
              <a:defRPr/>
            </a:pPr>
            <a:fld id="{891184C0-916E-4CCA-8FFE-169A3289BBF6}" type="slidenum">
              <a:rPr lang="zh-CN" altLang="en-US"/>
              <a:pPr>
                <a:defRPr/>
              </a:pPr>
              <a:t>‹#›</a:t>
            </a:fld>
            <a:endParaRPr lang="zh-CN" altLang="en-US"/>
          </a:p>
        </p:txBody>
      </p:sp>
    </p:spTree>
    <p:extLst>
      <p:ext uri="{BB962C8B-B14F-4D97-AF65-F5344CB8AC3E}">
        <p14:creationId xmlns:p14="http://schemas.microsoft.com/office/powerpoint/2010/main" val="202456650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09601" y="273050"/>
            <a:ext cx="4011084" cy="1162050"/>
          </a:xfrm>
        </p:spPr>
        <p:txBody>
          <a:bodyPr anchor="b"/>
          <a:lstStyle>
            <a:lvl1pPr algn="l">
              <a:defRPr sz="2000" b="1"/>
            </a:lvl1pPr>
          </a:lstStyle>
          <a:p>
            <a:r>
              <a:rPr lang="zh-CN" altLang="en-US"/>
              <a:t>单击此处编辑母版标题样式</a:t>
            </a:r>
          </a:p>
        </p:txBody>
      </p:sp>
      <p:sp>
        <p:nvSpPr>
          <p:cNvPr id="3" name="内容占位符 2"/>
          <p:cNvSpPr>
            <a:spLocks noGrp="1"/>
          </p:cNvSpPr>
          <p:nvPr>
            <p:ph idx="1"/>
          </p:nvPr>
        </p:nvSpPr>
        <p:spPr>
          <a:xfrm>
            <a:off x="4766733" y="273051"/>
            <a:ext cx="6815667"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609601" y="1435101"/>
            <a:ext cx="4011084"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日期占位符 3"/>
          <p:cNvSpPr>
            <a:spLocks noGrp="1"/>
          </p:cNvSpPr>
          <p:nvPr>
            <p:ph type="dt" sz="half" idx="10"/>
          </p:nvPr>
        </p:nvSpPr>
        <p:spPr/>
        <p:txBody>
          <a:bodyPr/>
          <a:lstStyle>
            <a:lvl1pPr>
              <a:defRPr/>
            </a:lvl1pPr>
          </a:lstStyle>
          <a:p>
            <a:pPr>
              <a:defRPr/>
            </a:pPr>
            <a:fld id="{102C302E-8084-463D-98EB-665EE57F03FE}" type="datetime1">
              <a:rPr lang="zh-CN" altLang="en-US"/>
              <a:pPr>
                <a:defRPr/>
              </a:pPr>
              <a:t>2021/3/8</a:t>
            </a:fld>
            <a:endParaRPr lang="zh-CN" altLang="en-US"/>
          </a:p>
        </p:txBody>
      </p:sp>
      <p:sp>
        <p:nvSpPr>
          <p:cNvPr id="6" name="页脚占位符 4"/>
          <p:cNvSpPr>
            <a:spLocks noGrp="1"/>
          </p:cNvSpPr>
          <p:nvPr>
            <p:ph type="ftr" sz="quarter" idx="11"/>
          </p:nvPr>
        </p:nvSpPr>
        <p:spPr/>
        <p:txBody>
          <a:bodyPr/>
          <a:lstStyle>
            <a:lvl1pPr>
              <a:defRPr/>
            </a:lvl1pPr>
          </a:lstStyle>
          <a:p>
            <a:pPr>
              <a:defRPr/>
            </a:pPr>
            <a:endParaRPr lang="zh-CN" altLang="en-US"/>
          </a:p>
        </p:txBody>
      </p:sp>
      <p:sp>
        <p:nvSpPr>
          <p:cNvPr id="7" name="灯片编号占位符 5"/>
          <p:cNvSpPr>
            <a:spLocks noGrp="1"/>
          </p:cNvSpPr>
          <p:nvPr>
            <p:ph type="sldNum" sz="quarter" idx="12"/>
          </p:nvPr>
        </p:nvSpPr>
        <p:spPr/>
        <p:txBody>
          <a:bodyPr/>
          <a:lstStyle>
            <a:lvl1pPr>
              <a:defRPr/>
            </a:lvl1pPr>
          </a:lstStyle>
          <a:p>
            <a:pPr>
              <a:defRPr/>
            </a:pPr>
            <a:fld id="{5EC31BE3-27E6-45A3-9FD0-D6D377DA906F}" type="slidenum">
              <a:rPr lang="zh-CN" altLang="en-US"/>
              <a:pPr>
                <a:defRPr/>
              </a:pPr>
              <a:t>‹#›</a:t>
            </a:fld>
            <a:endParaRPr lang="zh-CN" altLang="en-US"/>
          </a:p>
        </p:txBody>
      </p:sp>
    </p:spTree>
    <p:extLst>
      <p:ext uri="{BB962C8B-B14F-4D97-AF65-F5344CB8AC3E}">
        <p14:creationId xmlns:p14="http://schemas.microsoft.com/office/powerpoint/2010/main" val="26252974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2389717" y="4800600"/>
            <a:ext cx="7315200" cy="566738"/>
          </a:xfrm>
        </p:spPr>
        <p:txBody>
          <a:bodyPr anchor="b"/>
          <a:lstStyle>
            <a:lvl1pPr algn="l">
              <a:defRPr sz="2000" b="1"/>
            </a:lvl1pPr>
          </a:lstStyle>
          <a:p>
            <a:r>
              <a:rPr lang="zh-CN" altLang="en-US"/>
              <a:t>单击此处编辑母版标题样式</a:t>
            </a:r>
          </a:p>
        </p:txBody>
      </p:sp>
      <p:sp>
        <p:nvSpPr>
          <p:cNvPr id="3" name="图片占位符 2"/>
          <p:cNvSpPr>
            <a:spLocks noGrp="1"/>
          </p:cNvSpPr>
          <p:nvPr>
            <p:ph type="pic" idx="1"/>
          </p:nvPr>
        </p:nvSpPr>
        <p:spPr>
          <a:xfrm>
            <a:off x="2389717" y="612775"/>
            <a:ext cx="7315200" cy="4114800"/>
          </a:xfrm>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a:p>
        </p:txBody>
      </p:sp>
      <p:sp>
        <p:nvSpPr>
          <p:cNvPr id="4" name="文本占位符 3"/>
          <p:cNvSpPr>
            <a:spLocks noGrp="1"/>
          </p:cNvSpPr>
          <p:nvPr>
            <p:ph type="body" sz="half" idx="2"/>
          </p:nvPr>
        </p:nvSpPr>
        <p:spPr>
          <a:xfrm>
            <a:off x="2389717" y="5367338"/>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日期占位符 3"/>
          <p:cNvSpPr>
            <a:spLocks noGrp="1"/>
          </p:cNvSpPr>
          <p:nvPr>
            <p:ph type="dt" sz="half" idx="10"/>
          </p:nvPr>
        </p:nvSpPr>
        <p:spPr/>
        <p:txBody>
          <a:bodyPr/>
          <a:lstStyle>
            <a:lvl1pPr>
              <a:defRPr/>
            </a:lvl1pPr>
          </a:lstStyle>
          <a:p>
            <a:pPr>
              <a:defRPr/>
            </a:pPr>
            <a:fld id="{57668163-2CD8-4BB8-820C-0D53A8BFBD48}" type="datetime1">
              <a:rPr lang="zh-CN" altLang="en-US"/>
              <a:pPr>
                <a:defRPr/>
              </a:pPr>
              <a:t>2021/3/8</a:t>
            </a:fld>
            <a:endParaRPr lang="zh-CN" altLang="en-US"/>
          </a:p>
        </p:txBody>
      </p:sp>
      <p:sp>
        <p:nvSpPr>
          <p:cNvPr id="6" name="页脚占位符 4"/>
          <p:cNvSpPr>
            <a:spLocks noGrp="1"/>
          </p:cNvSpPr>
          <p:nvPr>
            <p:ph type="ftr" sz="quarter" idx="11"/>
          </p:nvPr>
        </p:nvSpPr>
        <p:spPr/>
        <p:txBody>
          <a:bodyPr/>
          <a:lstStyle>
            <a:lvl1pPr>
              <a:defRPr/>
            </a:lvl1pPr>
          </a:lstStyle>
          <a:p>
            <a:pPr>
              <a:defRPr/>
            </a:pPr>
            <a:endParaRPr lang="zh-CN" altLang="en-US"/>
          </a:p>
        </p:txBody>
      </p:sp>
      <p:sp>
        <p:nvSpPr>
          <p:cNvPr id="7" name="灯片编号占位符 5"/>
          <p:cNvSpPr>
            <a:spLocks noGrp="1"/>
          </p:cNvSpPr>
          <p:nvPr>
            <p:ph type="sldNum" sz="quarter" idx="12"/>
          </p:nvPr>
        </p:nvSpPr>
        <p:spPr/>
        <p:txBody>
          <a:bodyPr/>
          <a:lstStyle>
            <a:lvl1pPr>
              <a:defRPr/>
            </a:lvl1pPr>
          </a:lstStyle>
          <a:p>
            <a:pPr>
              <a:defRPr/>
            </a:pPr>
            <a:fld id="{53531243-DBEA-4109-85A3-E82E485F61DF}" type="slidenum">
              <a:rPr lang="zh-CN" altLang="en-US"/>
              <a:pPr>
                <a:defRPr/>
              </a:pPr>
              <a:t>‹#›</a:t>
            </a:fld>
            <a:endParaRPr lang="zh-CN" altLang="en-US"/>
          </a:p>
        </p:txBody>
      </p:sp>
    </p:spTree>
    <p:extLst>
      <p:ext uri="{BB962C8B-B14F-4D97-AF65-F5344CB8AC3E}">
        <p14:creationId xmlns:p14="http://schemas.microsoft.com/office/powerpoint/2010/main" val="250198563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lvl1pPr>
              <a:defRPr/>
            </a:lvl1pPr>
          </a:lstStyle>
          <a:p>
            <a:pPr>
              <a:defRPr/>
            </a:pPr>
            <a:fld id="{C840575C-E412-4327-A2D3-6A3689C503B1}" type="datetime1">
              <a:rPr lang="zh-CN" altLang="en-US"/>
              <a:pPr>
                <a:defRPr/>
              </a:pPr>
              <a:t>2021/3/8</a:t>
            </a:fld>
            <a:endParaRPr lang="zh-CN" altLang="en-US"/>
          </a:p>
        </p:txBody>
      </p:sp>
      <p:sp>
        <p:nvSpPr>
          <p:cNvPr id="5" name="页脚占位符 4"/>
          <p:cNvSpPr>
            <a:spLocks noGrp="1"/>
          </p:cNvSpPr>
          <p:nvPr>
            <p:ph type="ftr" sz="quarter" idx="11"/>
          </p:nvPr>
        </p:nvSpPr>
        <p:spPr/>
        <p:txBody>
          <a:bodyPr/>
          <a:lstStyle>
            <a:lvl1pPr>
              <a:defRPr/>
            </a:lvl1pPr>
          </a:lstStyle>
          <a:p>
            <a:pPr>
              <a:defRPr/>
            </a:pPr>
            <a:endParaRPr lang="zh-CN" altLang="en-US"/>
          </a:p>
        </p:txBody>
      </p:sp>
      <p:sp>
        <p:nvSpPr>
          <p:cNvPr id="6" name="灯片编号占位符 5"/>
          <p:cNvSpPr>
            <a:spLocks noGrp="1"/>
          </p:cNvSpPr>
          <p:nvPr>
            <p:ph type="sldNum" sz="quarter" idx="12"/>
          </p:nvPr>
        </p:nvSpPr>
        <p:spPr/>
        <p:txBody>
          <a:bodyPr/>
          <a:lstStyle>
            <a:lvl1pPr>
              <a:defRPr/>
            </a:lvl1pPr>
          </a:lstStyle>
          <a:p>
            <a:pPr>
              <a:defRPr/>
            </a:pPr>
            <a:fld id="{10BBFE60-31ED-427F-A1F2-3D69A70E3895}" type="slidenum">
              <a:rPr lang="zh-CN" altLang="en-US"/>
              <a:pPr>
                <a:defRPr/>
              </a:pPr>
              <a:t>‹#›</a:t>
            </a:fld>
            <a:endParaRPr lang="zh-CN" altLang="en-US"/>
          </a:p>
        </p:txBody>
      </p:sp>
    </p:spTree>
    <p:extLst>
      <p:ext uri="{BB962C8B-B14F-4D97-AF65-F5344CB8AC3E}">
        <p14:creationId xmlns:p14="http://schemas.microsoft.com/office/powerpoint/2010/main" val="335129055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839200" y="274639"/>
            <a:ext cx="2743200" cy="5851525"/>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609600" y="274639"/>
            <a:ext cx="8026400" cy="5851525"/>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lvl1pPr>
              <a:defRPr/>
            </a:lvl1pPr>
          </a:lstStyle>
          <a:p>
            <a:pPr>
              <a:defRPr/>
            </a:pPr>
            <a:fld id="{432D07A6-638C-4D27-B6AB-268E34B0E210}" type="datetime1">
              <a:rPr lang="zh-CN" altLang="en-US"/>
              <a:pPr>
                <a:defRPr/>
              </a:pPr>
              <a:t>2021/3/8</a:t>
            </a:fld>
            <a:endParaRPr lang="zh-CN" altLang="en-US"/>
          </a:p>
        </p:txBody>
      </p:sp>
      <p:sp>
        <p:nvSpPr>
          <p:cNvPr id="5" name="页脚占位符 4"/>
          <p:cNvSpPr>
            <a:spLocks noGrp="1"/>
          </p:cNvSpPr>
          <p:nvPr>
            <p:ph type="ftr" sz="quarter" idx="11"/>
          </p:nvPr>
        </p:nvSpPr>
        <p:spPr/>
        <p:txBody>
          <a:bodyPr/>
          <a:lstStyle>
            <a:lvl1pPr>
              <a:defRPr/>
            </a:lvl1pPr>
          </a:lstStyle>
          <a:p>
            <a:pPr>
              <a:defRPr/>
            </a:pPr>
            <a:endParaRPr lang="zh-CN" altLang="en-US"/>
          </a:p>
        </p:txBody>
      </p:sp>
      <p:sp>
        <p:nvSpPr>
          <p:cNvPr id="6" name="灯片编号占位符 5"/>
          <p:cNvSpPr>
            <a:spLocks noGrp="1"/>
          </p:cNvSpPr>
          <p:nvPr>
            <p:ph type="sldNum" sz="quarter" idx="12"/>
          </p:nvPr>
        </p:nvSpPr>
        <p:spPr/>
        <p:txBody>
          <a:bodyPr/>
          <a:lstStyle>
            <a:lvl1pPr>
              <a:defRPr/>
            </a:lvl1pPr>
          </a:lstStyle>
          <a:p>
            <a:pPr>
              <a:defRPr/>
            </a:pPr>
            <a:fld id="{DC89239F-357D-482E-918D-3ED5A6357549}" type="slidenum">
              <a:rPr lang="zh-CN" altLang="en-US"/>
              <a:pPr>
                <a:defRPr/>
              </a:pPr>
              <a:t>‹#›</a:t>
            </a:fld>
            <a:endParaRPr lang="zh-CN" altLang="en-US"/>
          </a:p>
        </p:txBody>
      </p:sp>
    </p:spTree>
    <p:extLst>
      <p:ext uri="{BB962C8B-B14F-4D97-AF65-F5344CB8AC3E}">
        <p14:creationId xmlns:p14="http://schemas.microsoft.com/office/powerpoint/2010/main" val="98967418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026" name="标题占位符 1"/>
          <p:cNvSpPr>
            <a:spLocks noGrp="1"/>
          </p:cNvSpPr>
          <p:nvPr>
            <p:ph type="title"/>
          </p:nvPr>
        </p:nvSpPr>
        <p:spPr bwMode="auto">
          <a:xfrm>
            <a:off x="609600" y="274638"/>
            <a:ext cx="109728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zh-CN" altLang="en-US"/>
              <a:t>单击此处编辑母版标题样式</a:t>
            </a:r>
          </a:p>
        </p:txBody>
      </p:sp>
      <p:sp>
        <p:nvSpPr>
          <p:cNvPr id="1027" name="文本占位符 2"/>
          <p:cNvSpPr>
            <a:spLocks noGrp="1"/>
          </p:cNvSpPr>
          <p:nvPr>
            <p:ph type="body" idx="1"/>
          </p:nvPr>
        </p:nvSpPr>
        <p:spPr bwMode="auto">
          <a:xfrm>
            <a:off x="609600" y="1600201"/>
            <a:ext cx="10972800" cy="4525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2"/>
          </p:nvPr>
        </p:nvSpPr>
        <p:spPr>
          <a:xfrm>
            <a:off x="609600" y="6356351"/>
            <a:ext cx="2844800" cy="365125"/>
          </a:xfrm>
          <a:prstGeom prst="rect">
            <a:avLst/>
          </a:prstGeom>
        </p:spPr>
        <p:txBody>
          <a:bodyPr vert="horz" lIns="91440" tIns="45720" rIns="91440" bIns="45720" rtlCol="0" anchor="ctr"/>
          <a:lstStyle>
            <a:lvl1pPr algn="l" eaLnBrk="1" fontAlgn="auto" hangingPunct="1">
              <a:spcBef>
                <a:spcPts val="0"/>
              </a:spcBef>
              <a:spcAft>
                <a:spcPts val="0"/>
              </a:spcAft>
              <a:defRPr sz="1200" smtClean="0">
                <a:solidFill>
                  <a:schemeClr val="tx1">
                    <a:tint val="75000"/>
                  </a:schemeClr>
                </a:solidFill>
                <a:latin typeface="+mn-lt"/>
                <a:ea typeface="+mn-ea"/>
              </a:defRPr>
            </a:lvl1pPr>
          </a:lstStyle>
          <a:p>
            <a:pPr>
              <a:defRPr/>
            </a:pPr>
            <a:fld id="{F3A08E8D-C396-42F6-A6A4-94EA64FE17C5}" type="datetime1">
              <a:rPr lang="zh-CN" altLang="en-US"/>
              <a:pPr>
                <a:defRPr/>
              </a:pPr>
              <a:t>2021/3/8</a:t>
            </a:fld>
            <a:endParaRPr lang="zh-CN" altLang="en-US"/>
          </a:p>
        </p:txBody>
      </p:sp>
      <p:sp>
        <p:nvSpPr>
          <p:cNvPr id="5" name="页脚占位符 4"/>
          <p:cNvSpPr>
            <a:spLocks noGrp="1"/>
          </p:cNvSpPr>
          <p:nvPr>
            <p:ph type="ftr" sz="quarter" idx="3"/>
          </p:nvPr>
        </p:nvSpPr>
        <p:spPr>
          <a:xfrm>
            <a:off x="4165600" y="6356351"/>
            <a:ext cx="3860800" cy="365125"/>
          </a:xfrm>
          <a:prstGeom prst="rect">
            <a:avLst/>
          </a:prstGeom>
        </p:spPr>
        <p:txBody>
          <a:bodyPr vert="horz" lIns="91440" tIns="45720" rIns="91440" bIns="45720" rtlCol="0" anchor="ctr"/>
          <a:lstStyle>
            <a:lvl1pPr algn="ctr" eaLnBrk="1" fontAlgn="auto" hangingPunct="1">
              <a:spcBef>
                <a:spcPts val="0"/>
              </a:spcBef>
              <a:spcAft>
                <a:spcPts val="0"/>
              </a:spcAft>
              <a:defRPr sz="1200">
                <a:solidFill>
                  <a:schemeClr val="tx1">
                    <a:tint val="75000"/>
                  </a:schemeClr>
                </a:solidFill>
                <a:latin typeface="+mn-lt"/>
                <a:ea typeface="+mn-ea"/>
              </a:defRPr>
            </a:lvl1pPr>
          </a:lstStyle>
          <a:p>
            <a:pPr>
              <a:defRPr/>
            </a:pPr>
            <a:endParaRPr lang="zh-CN" altLang="en-US"/>
          </a:p>
        </p:txBody>
      </p:sp>
      <p:sp>
        <p:nvSpPr>
          <p:cNvPr id="6" name="灯片编号占位符 5"/>
          <p:cNvSpPr>
            <a:spLocks noGrp="1"/>
          </p:cNvSpPr>
          <p:nvPr>
            <p:ph type="sldNum" sz="quarter" idx="4"/>
          </p:nvPr>
        </p:nvSpPr>
        <p:spPr>
          <a:xfrm>
            <a:off x="8737600" y="6356351"/>
            <a:ext cx="2844800" cy="365125"/>
          </a:xfrm>
          <a:prstGeom prst="rect">
            <a:avLst/>
          </a:prstGeom>
        </p:spPr>
        <p:txBody>
          <a:bodyPr vert="horz" wrap="square" lIns="91440" tIns="45720" rIns="91440" bIns="45720" numCol="1" anchor="ctr" anchorCtr="0" compatLnSpc="1">
            <a:prstTxWarp prst="textNoShape">
              <a:avLst/>
            </a:prstTxWarp>
          </a:bodyPr>
          <a:lstStyle>
            <a:lvl1pPr algn="r" eaLnBrk="1" hangingPunct="1">
              <a:defRPr sz="1200">
                <a:solidFill>
                  <a:srgbClr val="898989"/>
                </a:solidFill>
                <a:latin typeface="Calibri" panose="020F0502020204030204" pitchFamily="34" charset="0"/>
              </a:defRPr>
            </a:lvl1pPr>
          </a:lstStyle>
          <a:p>
            <a:pPr>
              <a:defRPr/>
            </a:pPr>
            <a:fld id="{541F4F0B-1E44-4A40-8C56-CF8BFA97AA04}" type="slidenum">
              <a:rPr lang="zh-CN" altLang="en-US"/>
              <a:pPr>
                <a:defRPr/>
              </a:pPr>
              <a:t>‹#›</a:t>
            </a:fld>
            <a:endParaRPr lang="zh-CN" altLang="en-US"/>
          </a:p>
        </p:txBody>
      </p:sp>
      <p:pic>
        <p:nvPicPr>
          <p:cNvPr id="1031" name="图片 9" descr="ppt-nhpccsz-4.png"/>
          <p:cNvPicPr>
            <a:picLocks noChangeAspect="1"/>
          </p:cNvPicPr>
          <p:nvPr userDrawn="1"/>
        </p:nvPicPr>
        <p:blipFill>
          <a:blip r:embed="rId13">
            <a:extLst>
              <a:ext uri="{28A0092B-C50C-407E-A947-70E740481C1C}">
                <a14:useLocalDpi xmlns:a14="http://schemas.microsoft.com/office/drawing/2010/main" val="0"/>
              </a:ext>
            </a:extLst>
          </a:blip>
          <a:srcRect/>
          <a:stretch>
            <a:fillRect/>
          </a:stretch>
        </p:blipFill>
        <p:spPr bwMode="auto">
          <a:xfrm>
            <a:off x="394447" y="0"/>
            <a:ext cx="11331388"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772996318"/>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hf hdr="0" ftr="0" dt="0"/>
  <p:txStyles>
    <p:titleStyle>
      <a:lvl1pPr algn="ctr" rtl="0" eaLnBrk="0" fontAlgn="base" hangingPunct="0">
        <a:spcBef>
          <a:spcPct val="0"/>
        </a:spcBef>
        <a:spcAft>
          <a:spcPct val="0"/>
        </a:spcAft>
        <a:defRPr sz="4400" kern="1200">
          <a:solidFill>
            <a:schemeClr val="tx1"/>
          </a:solidFill>
          <a:latin typeface="+mj-lt"/>
          <a:ea typeface="+mj-ea"/>
          <a:cs typeface="+mj-cs"/>
        </a:defRPr>
      </a:lvl1pPr>
      <a:lvl2pPr algn="ctr" rtl="0" eaLnBrk="0" fontAlgn="base" hangingPunct="0">
        <a:spcBef>
          <a:spcPct val="0"/>
        </a:spcBef>
        <a:spcAft>
          <a:spcPct val="0"/>
        </a:spcAft>
        <a:defRPr sz="4400">
          <a:solidFill>
            <a:schemeClr val="tx1"/>
          </a:solidFill>
          <a:latin typeface="Calibri" pitchFamily="34" charset="0"/>
          <a:ea typeface="宋体" charset="-122"/>
        </a:defRPr>
      </a:lvl2pPr>
      <a:lvl3pPr algn="ctr" rtl="0" eaLnBrk="0" fontAlgn="base" hangingPunct="0">
        <a:spcBef>
          <a:spcPct val="0"/>
        </a:spcBef>
        <a:spcAft>
          <a:spcPct val="0"/>
        </a:spcAft>
        <a:defRPr sz="4400">
          <a:solidFill>
            <a:schemeClr val="tx1"/>
          </a:solidFill>
          <a:latin typeface="Calibri" pitchFamily="34" charset="0"/>
          <a:ea typeface="宋体" charset="-122"/>
        </a:defRPr>
      </a:lvl3pPr>
      <a:lvl4pPr algn="ctr" rtl="0" eaLnBrk="0" fontAlgn="base" hangingPunct="0">
        <a:spcBef>
          <a:spcPct val="0"/>
        </a:spcBef>
        <a:spcAft>
          <a:spcPct val="0"/>
        </a:spcAft>
        <a:defRPr sz="4400">
          <a:solidFill>
            <a:schemeClr val="tx1"/>
          </a:solidFill>
          <a:latin typeface="Calibri" pitchFamily="34" charset="0"/>
          <a:ea typeface="宋体" charset="-122"/>
        </a:defRPr>
      </a:lvl4pPr>
      <a:lvl5pPr algn="ctr" rtl="0" eaLnBrk="0" fontAlgn="base" hangingPunct="0">
        <a:spcBef>
          <a:spcPct val="0"/>
        </a:spcBef>
        <a:spcAft>
          <a:spcPct val="0"/>
        </a:spcAft>
        <a:defRPr sz="4400">
          <a:solidFill>
            <a:schemeClr val="tx1"/>
          </a:solidFill>
          <a:latin typeface="Calibri" pitchFamily="34" charset="0"/>
          <a:ea typeface="宋体" charset="-122"/>
        </a:defRPr>
      </a:lvl5pPr>
      <a:lvl6pPr marL="457200" algn="ctr" rtl="0" fontAlgn="base">
        <a:spcBef>
          <a:spcPct val="0"/>
        </a:spcBef>
        <a:spcAft>
          <a:spcPct val="0"/>
        </a:spcAft>
        <a:defRPr sz="4400">
          <a:solidFill>
            <a:schemeClr val="tx1"/>
          </a:solidFill>
          <a:latin typeface="Calibri" pitchFamily="34" charset="0"/>
          <a:ea typeface="宋体" charset="-122"/>
        </a:defRPr>
      </a:lvl6pPr>
      <a:lvl7pPr marL="914400" algn="ctr" rtl="0" fontAlgn="base">
        <a:spcBef>
          <a:spcPct val="0"/>
        </a:spcBef>
        <a:spcAft>
          <a:spcPct val="0"/>
        </a:spcAft>
        <a:defRPr sz="4400">
          <a:solidFill>
            <a:schemeClr val="tx1"/>
          </a:solidFill>
          <a:latin typeface="Calibri" pitchFamily="34" charset="0"/>
          <a:ea typeface="宋体" charset="-122"/>
        </a:defRPr>
      </a:lvl7pPr>
      <a:lvl8pPr marL="1371600" algn="ctr" rtl="0" fontAlgn="base">
        <a:spcBef>
          <a:spcPct val="0"/>
        </a:spcBef>
        <a:spcAft>
          <a:spcPct val="0"/>
        </a:spcAft>
        <a:defRPr sz="4400">
          <a:solidFill>
            <a:schemeClr val="tx1"/>
          </a:solidFill>
          <a:latin typeface="Calibri" pitchFamily="34" charset="0"/>
          <a:ea typeface="宋体" charset="-122"/>
        </a:defRPr>
      </a:lvl8pPr>
      <a:lvl9pPr marL="1828800" algn="ctr" rtl="0" fontAlgn="base">
        <a:spcBef>
          <a:spcPct val="0"/>
        </a:spcBef>
        <a:spcAft>
          <a:spcPct val="0"/>
        </a:spcAft>
        <a:defRPr sz="4400">
          <a:solidFill>
            <a:schemeClr val="tx1"/>
          </a:solidFill>
          <a:latin typeface="Calibri" pitchFamily="34" charset="0"/>
          <a:ea typeface="宋体" charset="-122"/>
        </a:defRPr>
      </a:lvl9pPr>
    </p:titleStyle>
    <p:bodyStyle>
      <a:lvl1pPr marL="342900" indent="-342900" algn="l" rtl="0" eaLnBrk="0" fontAlgn="base" hangingPunct="0">
        <a:spcBef>
          <a:spcPct val="20000"/>
        </a:spcBef>
        <a:spcAft>
          <a:spcPct val="0"/>
        </a:spcAft>
        <a:buFont typeface="Arial" panose="020B0604020202020204" pitchFamily="34"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hyperlink" Target="https://www.bilibili.com/video/av13130225?p=23" TargetMode="External"/><Relationship Id="rId2" Type="http://schemas.openxmlformats.org/officeDocument/2006/relationships/notesSlide" Target="../notesSlides/notesSlide3.xml"/><Relationship Id="rId1" Type="http://schemas.openxmlformats.org/officeDocument/2006/relationships/slideLayout" Target="../slideLayouts/slideLayout7.xml"/><Relationship Id="rId5" Type="http://schemas.openxmlformats.org/officeDocument/2006/relationships/image" Target="../media/image3.jpg"/><Relationship Id="rId4" Type="http://schemas.openxmlformats.org/officeDocument/2006/relationships/image" Target="../media/image2.jpg"/></Relationships>
</file>

<file path=ppt/slides/_rels/slide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3.xml"/><Relationship Id="rId1" Type="http://schemas.openxmlformats.org/officeDocument/2006/relationships/slideLayout" Target="../slideLayouts/slideLayout2.xml"/><Relationship Id="rId4" Type="http://schemas.openxmlformats.org/officeDocument/2006/relationships/image" Target="../media/image10.png"/></Relationships>
</file>

<file path=ppt/slides/_rels/slide15.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4.xml"/><Relationship Id="rId1" Type="http://schemas.openxmlformats.org/officeDocument/2006/relationships/slideLayout" Target="../slideLayouts/slideLayout2.xml"/><Relationship Id="rId6" Type="http://schemas.openxmlformats.org/officeDocument/2006/relationships/image" Target="../media/image12.png"/><Relationship Id="rId5" Type="http://schemas.openxmlformats.org/officeDocument/2006/relationships/image" Target="../media/image11.png"/><Relationship Id="rId4" Type="http://schemas.openxmlformats.org/officeDocument/2006/relationships/image" Target="../media/image10.png"/></Relationships>
</file>

<file path=ppt/slides/_rels/slide1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5.xml"/><Relationship Id="rId1" Type="http://schemas.openxmlformats.org/officeDocument/2006/relationships/slideLayout" Target="../slideLayouts/slideLayout2.xml"/><Relationship Id="rId6" Type="http://schemas.openxmlformats.org/officeDocument/2006/relationships/image" Target="../media/image12.png"/><Relationship Id="rId5" Type="http://schemas.openxmlformats.org/officeDocument/2006/relationships/image" Target="../media/image11.png"/><Relationship Id="rId4" Type="http://schemas.openxmlformats.org/officeDocument/2006/relationships/image" Target="../media/image10.png"/></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notesSlide" Target="../notesSlides/notesSlide22.xml"/><Relationship Id="rId1" Type="http://schemas.openxmlformats.org/officeDocument/2006/relationships/slideLayout" Target="../slideLayouts/slideLayout7.xml"/><Relationship Id="rId4" Type="http://schemas.openxmlformats.org/officeDocument/2006/relationships/image" Target="../media/image14.png"/></Relationships>
</file>

<file path=ppt/slides/_rels/slide24.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notesSlide" Target="../notesSlides/notesSlide23.xml"/><Relationship Id="rId1" Type="http://schemas.openxmlformats.org/officeDocument/2006/relationships/slideLayout" Target="../slideLayouts/slideLayout7.xml"/><Relationship Id="rId4" Type="http://schemas.openxmlformats.org/officeDocument/2006/relationships/image" Target="../media/image15.png"/></Relationships>
</file>

<file path=ppt/slides/_rels/slide25.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24.xml"/><Relationship Id="rId1" Type="http://schemas.openxmlformats.org/officeDocument/2006/relationships/slideLayout" Target="../slideLayouts/slideLayout7.xml"/><Relationship Id="rId4" Type="http://schemas.openxmlformats.org/officeDocument/2006/relationships/image" Target="../media/image17.jpg"/></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33.xml"/><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34.xml"/><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35.xml"/><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37.xml"/><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38.xml"/><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39.xml"/><Relationship Id="rId1" Type="http://schemas.openxmlformats.org/officeDocument/2006/relationships/slideLayout" Target="../slideLayouts/slideLayout2.xml"/><Relationship Id="rId4" Type="http://schemas.openxmlformats.org/officeDocument/2006/relationships/image" Target="../media/image27.png"/></Relationships>
</file>

<file path=ppt/slides/_rels/slide41.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40.xml"/><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42.xml"/><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43.xml"/><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45.xm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46.xml"/><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48.xml"/><Relationship Id="rId1" Type="http://schemas.openxmlformats.org/officeDocument/2006/relationships/slideLayout" Target="../slideLayouts/slideLayout7.xml"/><Relationship Id="rId4" Type="http://schemas.openxmlformats.org/officeDocument/2006/relationships/image" Target="../media/image34.png"/></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ctrTitle"/>
          </p:nvPr>
        </p:nvSpPr>
        <p:spPr>
          <a:xfrm>
            <a:off x="685800" y="2257426"/>
            <a:ext cx="10363200" cy="1470025"/>
          </a:xfrm>
        </p:spPr>
        <p:txBody>
          <a:bodyPr/>
          <a:lstStyle/>
          <a:p>
            <a:r>
              <a:rPr lang="zh-CN" altLang="en-US" sz="8000" baseline="30000" dirty="0">
                <a:solidFill>
                  <a:srgbClr val="0070C0"/>
                </a:solidFill>
              </a:rPr>
              <a:t>计算机系统（二）</a:t>
            </a:r>
            <a:br>
              <a:rPr lang="en-US" altLang="zh-CN" sz="8000" baseline="30000" dirty="0">
                <a:solidFill>
                  <a:srgbClr val="0070C0"/>
                </a:solidFill>
              </a:rPr>
            </a:br>
            <a:r>
              <a:rPr lang="en-US" altLang="zh-CN" sz="4800" baseline="30000" dirty="0">
                <a:solidFill>
                  <a:srgbClr val="0070C0"/>
                </a:solidFill>
              </a:rPr>
              <a:t>COMPUTER SYSTEMS II: </a:t>
            </a:r>
            <a:br>
              <a:rPr lang="en-US" altLang="zh-CN" sz="4800" baseline="30000" dirty="0">
                <a:solidFill>
                  <a:srgbClr val="0070C0"/>
                </a:solidFill>
              </a:rPr>
            </a:br>
            <a:r>
              <a:rPr lang="en-US" altLang="zh-CN" sz="4800" baseline="30000" dirty="0">
                <a:solidFill>
                  <a:srgbClr val="0070C0"/>
                </a:solidFill>
              </a:rPr>
              <a:t>ARCHITECTURE AND PROGRAMMING</a:t>
            </a:r>
            <a:endParaRPr lang="zh-CN" altLang="en-US" sz="4800" baseline="30000" dirty="0">
              <a:solidFill>
                <a:srgbClr val="0070C0"/>
              </a:solidFill>
            </a:endParaRPr>
          </a:p>
        </p:txBody>
      </p:sp>
      <p:sp>
        <p:nvSpPr>
          <p:cNvPr id="3" name="副标题 2"/>
          <p:cNvSpPr>
            <a:spLocks noGrp="1"/>
          </p:cNvSpPr>
          <p:nvPr>
            <p:ph type="subTitle" idx="1"/>
          </p:nvPr>
        </p:nvSpPr>
        <p:spPr>
          <a:xfrm>
            <a:off x="1828800" y="4603751"/>
            <a:ext cx="8534400" cy="1752600"/>
          </a:xfrm>
        </p:spPr>
        <p:txBody>
          <a:bodyPr/>
          <a:lstStyle/>
          <a:p>
            <a:pPr algn="r"/>
            <a:r>
              <a:rPr lang="zh-CN" altLang="en-US" dirty="0"/>
              <a:t>深圳大学 计算机与软件学院</a:t>
            </a:r>
            <a:endParaRPr lang="en-US" altLang="zh-CN" dirty="0"/>
          </a:p>
          <a:p>
            <a:pPr algn="r"/>
            <a:r>
              <a:rPr lang="zh-CN" altLang="en-US" dirty="0"/>
              <a:t>罗秋明</a:t>
            </a:r>
            <a:endParaRPr lang="en-US" altLang="zh-CN" dirty="0"/>
          </a:p>
          <a:p>
            <a:pPr algn="r"/>
            <a:r>
              <a:rPr lang="en-US" altLang="zh-CN" dirty="0"/>
              <a:t>2020-3-9</a:t>
            </a:r>
          </a:p>
        </p:txBody>
      </p:sp>
      <p:sp>
        <p:nvSpPr>
          <p:cNvPr id="4" name="灯片编号占位符 3"/>
          <p:cNvSpPr>
            <a:spLocks noGrp="1"/>
          </p:cNvSpPr>
          <p:nvPr>
            <p:ph type="sldNum" sz="quarter" idx="12"/>
          </p:nvPr>
        </p:nvSpPr>
        <p:spPr/>
        <p:txBody>
          <a:bodyPr/>
          <a:lstStyle/>
          <a:p>
            <a:pPr>
              <a:defRPr/>
            </a:pPr>
            <a:fld id="{4EC9487D-EDE6-4240-988C-9B3801F6C3FE}" type="slidenum">
              <a:rPr lang="zh-CN" altLang="en-US" smtClean="0"/>
              <a:pPr>
                <a:defRPr/>
              </a:pPr>
              <a:t>1</a:t>
            </a:fld>
            <a:endParaRPr lang="zh-CN" altLang="en-US" dirty="0"/>
          </a:p>
        </p:txBody>
      </p:sp>
    </p:spTree>
    <p:extLst>
      <p:ext uri="{BB962C8B-B14F-4D97-AF65-F5344CB8AC3E}">
        <p14:creationId xmlns:p14="http://schemas.microsoft.com/office/powerpoint/2010/main" val="118404200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2"/>
          </p:nvPr>
        </p:nvSpPr>
        <p:spPr/>
        <p:txBody>
          <a:bodyPr/>
          <a:lstStyle/>
          <a:p>
            <a:pPr>
              <a:defRPr/>
            </a:pPr>
            <a:fld id="{891184C0-916E-4CCA-8FFE-169A3289BBF6}" type="slidenum">
              <a:rPr lang="zh-CN" altLang="en-US" smtClean="0"/>
              <a:pPr>
                <a:defRPr/>
              </a:pPr>
              <a:t>2</a:t>
            </a:fld>
            <a:endParaRPr lang="zh-CN" altLang="en-US"/>
          </a:p>
        </p:txBody>
      </p:sp>
      <p:sp>
        <p:nvSpPr>
          <p:cNvPr id="3" name="矩形 2"/>
          <p:cNvSpPr/>
          <p:nvPr/>
        </p:nvSpPr>
        <p:spPr>
          <a:xfrm>
            <a:off x="1436370" y="1133178"/>
            <a:ext cx="9810750" cy="3416320"/>
          </a:xfrm>
          <a:prstGeom prst="rect">
            <a:avLst/>
          </a:prstGeom>
        </p:spPr>
        <p:txBody>
          <a:bodyPr wrap="square">
            <a:spAutoFit/>
          </a:bodyPr>
          <a:lstStyle/>
          <a:p>
            <a:r>
              <a:rPr lang="zh-CN" altLang="zh-CN" sz="2400" b="1" kern="100" dirty="0">
                <a:latin typeface="Times New Roman" panose="02020603050405020304" pitchFamily="18" charset="0"/>
              </a:rPr>
              <a:t>课程名称：</a:t>
            </a:r>
            <a:r>
              <a:rPr lang="en-US" altLang="zh-CN" sz="2400" b="1" kern="100" dirty="0">
                <a:latin typeface="Times New Roman" panose="02020603050405020304" pitchFamily="18" charset="0"/>
              </a:rPr>
              <a:t>	</a:t>
            </a:r>
            <a:r>
              <a:rPr lang="zh-CN" altLang="zh-CN" sz="2400" kern="100" dirty="0">
                <a:latin typeface="Times New Roman" panose="02020603050405020304" pitchFamily="18" charset="0"/>
              </a:rPr>
              <a:t>计算机系统</a:t>
            </a:r>
            <a:r>
              <a:rPr lang="en-US" altLang="zh-CN" sz="2400" kern="100" dirty="0">
                <a:latin typeface="Times New Roman" panose="02020603050405020304" pitchFamily="18" charset="0"/>
              </a:rPr>
              <a:t>(2)</a:t>
            </a:r>
            <a:endParaRPr lang="zh-CN" altLang="zh-CN" sz="2400" kern="100" dirty="0">
              <a:latin typeface="Times New Roman" panose="02020603050405020304" pitchFamily="18" charset="0"/>
            </a:endParaRPr>
          </a:p>
          <a:p>
            <a:r>
              <a:rPr lang="zh-CN" altLang="zh-CN" sz="2400" b="1" kern="100" dirty="0">
                <a:latin typeface="Times New Roman" panose="02020603050405020304" pitchFamily="18" charset="0"/>
              </a:rPr>
              <a:t>英文名称：</a:t>
            </a:r>
            <a:r>
              <a:rPr lang="en-US" altLang="zh-CN" sz="2400" b="1" kern="100" dirty="0">
                <a:latin typeface="Times New Roman" panose="02020603050405020304" pitchFamily="18" charset="0"/>
              </a:rPr>
              <a:t>	</a:t>
            </a:r>
            <a:r>
              <a:rPr lang="en-US" altLang="zh-CN" sz="2400" kern="100" dirty="0">
                <a:latin typeface="Times New Roman" panose="02020603050405020304" pitchFamily="18" charset="0"/>
              </a:rPr>
              <a:t>Computer Systems II: Architecture and Programming</a:t>
            </a:r>
            <a:endParaRPr lang="zh-CN" altLang="zh-CN" sz="2400" kern="100" dirty="0">
              <a:latin typeface="Times New Roman" panose="02020603050405020304" pitchFamily="18" charset="0"/>
            </a:endParaRPr>
          </a:p>
          <a:p>
            <a:r>
              <a:rPr lang="zh-CN" altLang="zh-CN" sz="2400" b="1" kern="100" dirty="0">
                <a:latin typeface="Times New Roman" panose="02020603050405020304" pitchFamily="18" charset="0"/>
              </a:rPr>
              <a:t>课程编号：</a:t>
            </a:r>
            <a:r>
              <a:rPr lang="en-US" altLang="zh-CN" sz="2400" b="1" kern="100" dirty="0">
                <a:latin typeface="Times New Roman" panose="02020603050405020304" pitchFamily="18" charset="0"/>
              </a:rPr>
              <a:t>	</a:t>
            </a:r>
            <a:r>
              <a:rPr lang="en-US" altLang="zh-CN" sz="2400" kern="100" dirty="0">
                <a:latin typeface="Times New Roman" panose="02020603050405020304" pitchFamily="18" charset="0"/>
              </a:rPr>
              <a:t>15027600</a:t>
            </a:r>
          </a:p>
          <a:p>
            <a:r>
              <a:rPr lang="zh-CN" altLang="zh-CN" sz="2400" b="1" kern="100" dirty="0">
                <a:latin typeface="Times New Roman" panose="02020603050405020304" pitchFamily="18" charset="0"/>
              </a:rPr>
              <a:t>课程性质：</a:t>
            </a:r>
            <a:r>
              <a:rPr lang="zh-CN" altLang="zh-CN" sz="2400" kern="100" dirty="0">
                <a:latin typeface="Times New Roman" panose="02020603050405020304" pitchFamily="18" charset="0"/>
              </a:rPr>
              <a:t>□综合必修</a:t>
            </a:r>
            <a:r>
              <a:rPr lang="en-US" altLang="zh-CN" sz="2400" kern="100" dirty="0">
                <a:latin typeface="Times New Roman" panose="02020603050405020304" pitchFamily="18" charset="0"/>
              </a:rPr>
              <a:t>  </a:t>
            </a:r>
            <a:r>
              <a:rPr lang="zh-CN" altLang="zh-CN" sz="2400" kern="100" dirty="0">
                <a:latin typeface="Times New Roman" panose="02020603050405020304" pitchFamily="18" charset="0"/>
              </a:rPr>
              <a:t>■专业必修</a:t>
            </a:r>
            <a:r>
              <a:rPr lang="en-US" altLang="zh-CN" sz="2400" kern="100" dirty="0">
                <a:latin typeface="Times New Roman" panose="02020603050405020304" pitchFamily="18" charset="0"/>
              </a:rPr>
              <a:t>  </a:t>
            </a:r>
            <a:r>
              <a:rPr lang="zh-CN" altLang="zh-CN" sz="2400" kern="100" dirty="0">
                <a:latin typeface="Times New Roman" panose="02020603050405020304" pitchFamily="18" charset="0"/>
              </a:rPr>
              <a:t>□专业选修</a:t>
            </a:r>
            <a:r>
              <a:rPr lang="en-US" altLang="zh-CN" sz="2400" kern="100" dirty="0">
                <a:latin typeface="Times New Roman" panose="02020603050405020304" pitchFamily="18" charset="0"/>
              </a:rPr>
              <a:t>  </a:t>
            </a:r>
            <a:r>
              <a:rPr lang="zh-CN" altLang="zh-CN" sz="2400" kern="100" dirty="0">
                <a:latin typeface="Times New Roman" panose="02020603050405020304" pitchFamily="18" charset="0"/>
              </a:rPr>
              <a:t>□全校公选</a:t>
            </a:r>
          </a:p>
          <a:p>
            <a:r>
              <a:rPr lang="zh-CN" altLang="zh-CN" sz="2400" b="1" kern="100" dirty="0">
                <a:latin typeface="Times New Roman" panose="02020603050405020304" pitchFamily="18" charset="0"/>
              </a:rPr>
              <a:t>总 学 时：</a:t>
            </a:r>
            <a:r>
              <a:rPr lang="en-US" altLang="zh-CN" sz="2400" b="1" kern="100" dirty="0">
                <a:latin typeface="Times New Roman" panose="02020603050405020304" pitchFamily="18" charset="0"/>
              </a:rPr>
              <a:t>	</a:t>
            </a:r>
            <a:r>
              <a:rPr lang="en-US" altLang="zh-CN" sz="2400" kern="100" dirty="0">
                <a:latin typeface="Times New Roman" panose="02020603050405020304" pitchFamily="18" charset="0"/>
              </a:rPr>
              <a:t>72</a:t>
            </a:r>
            <a:r>
              <a:rPr lang="zh-CN" altLang="zh-CN" sz="2400" kern="100" dirty="0">
                <a:latin typeface="Times New Roman" panose="02020603050405020304" pitchFamily="18" charset="0"/>
              </a:rPr>
              <a:t>学时，其中：实验课为</a:t>
            </a:r>
            <a:r>
              <a:rPr lang="en-US" altLang="zh-CN" sz="2400" kern="100" dirty="0">
                <a:latin typeface="Times New Roman" panose="02020603050405020304" pitchFamily="18" charset="0"/>
              </a:rPr>
              <a:t>18</a:t>
            </a:r>
            <a:r>
              <a:rPr lang="zh-CN" altLang="zh-CN" sz="2400" kern="100" dirty="0">
                <a:latin typeface="Times New Roman" panose="02020603050405020304" pitchFamily="18" charset="0"/>
              </a:rPr>
              <a:t>学时</a:t>
            </a:r>
          </a:p>
          <a:p>
            <a:r>
              <a:rPr lang="zh-CN" altLang="zh-CN" sz="2400" b="1" kern="100" dirty="0">
                <a:latin typeface="Times New Roman" panose="02020603050405020304" pitchFamily="18" charset="0"/>
              </a:rPr>
              <a:t>学</a:t>
            </a:r>
            <a:r>
              <a:rPr lang="en-US" altLang="zh-CN" sz="2400" b="1" kern="100" dirty="0">
                <a:latin typeface="Times New Roman" panose="02020603050405020304" pitchFamily="18" charset="0"/>
              </a:rPr>
              <a:t>    </a:t>
            </a:r>
            <a:r>
              <a:rPr lang="zh-CN" altLang="zh-CN" sz="2400" b="1" kern="100" dirty="0">
                <a:latin typeface="Times New Roman" panose="02020603050405020304" pitchFamily="18" charset="0"/>
              </a:rPr>
              <a:t>分：</a:t>
            </a:r>
            <a:r>
              <a:rPr lang="en-US" altLang="zh-CN" sz="2400" b="1" kern="100" dirty="0">
                <a:latin typeface="Times New Roman" panose="02020603050405020304" pitchFamily="18" charset="0"/>
              </a:rPr>
              <a:t>	</a:t>
            </a:r>
            <a:r>
              <a:rPr lang="en-US" altLang="zh-CN" sz="2400" kern="100" dirty="0">
                <a:latin typeface="Times New Roman" panose="02020603050405020304" pitchFamily="18" charset="0"/>
              </a:rPr>
              <a:t>3.5</a:t>
            </a:r>
            <a:endParaRPr lang="zh-CN" altLang="zh-CN" sz="2400" kern="100" dirty="0">
              <a:latin typeface="Times New Roman" panose="02020603050405020304" pitchFamily="18" charset="0"/>
            </a:endParaRPr>
          </a:p>
          <a:p>
            <a:r>
              <a:rPr lang="zh-CN" altLang="zh-CN" sz="2400" b="1" kern="100" dirty="0">
                <a:latin typeface="Times New Roman" panose="02020603050405020304" pitchFamily="18" charset="0"/>
              </a:rPr>
              <a:t>先修课程：</a:t>
            </a:r>
            <a:r>
              <a:rPr lang="en-US" altLang="zh-CN" sz="2400" b="1" kern="100" dirty="0">
                <a:latin typeface="Times New Roman" panose="02020603050405020304" pitchFamily="18" charset="0"/>
              </a:rPr>
              <a:t>	</a:t>
            </a:r>
            <a:r>
              <a:rPr lang="zh-CN" altLang="zh-CN" sz="2400" kern="100" dirty="0">
                <a:latin typeface="Times New Roman" panose="02020603050405020304" pitchFamily="18" charset="0"/>
              </a:rPr>
              <a:t>计算机系统</a:t>
            </a:r>
            <a:r>
              <a:rPr lang="en-US" altLang="zh-CN" sz="2400" kern="100" dirty="0">
                <a:latin typeface="Times New Roman" panose="02020603050405020304" pitchFamily="18" charset="0"/>
              </a:rPr>
              <a:t>(1)</a:t>
            </a:r>
            <a:r>
              <a:rPr lang="zh-CN" altLang="zh-CN" sz="2400" kern="100" dirty="0">
                <a:latin typeface="Times New Roman" panose="02020603050405020304" pitchFamily="18" charset="0"/>
              </a:rPr>
              <a:t>，面向对象程序设计</a:t>
            </a:r>
            <a:r>
              <a:rPr lang="zh-CN" altLang="en-US" sz="2400" kern="100" dirty="0">
                <a:latin typeface="Times New Roman" panose="02020603050405020304" pitchFamily="18" charset="0"/>
              </a:rPr>
              <a:t>（</a:t>
            </a:r>
            <a:r>
              <a:rPr lang="en-US" altLang="zh-CN" sz="2400" kern="100" dirty="0">
                <a:latin typeface="Times New Roman" panose="02020603050405020304" pitchFamily="18" charset="0"/>
              </a:rPr>
              <a:t>C</a:t>
            </a:r>
            <a:r>
              <a:rPr lang="zh-CN" altLang="en-US" sz="2400" kern="100" dirty="0">
                <a:latin typeface="Times New Roman" panose="02020603050405020304" pitchFamily="18" charset="0"/>
              </a:rPr>
              <a:t>语言或</a:t>
            </a:r>
            <a:r>
              <a:rPr lang="en-US" altLang="zh-CN" sz="2400" kern="100" dirty="0">
                <a:latin typeface="Times New Roman" panose="02020603050405020304" pitchFamily="18" charset="0"/>
              </a:rPr>
              <a:t>C++</a:t>
            </a:r>
            <a:r>
              <a:rPr lang="zh-CN" altLang="en-US" sz="2400" kern="100" dirty="0">
                <a:latin typeface="Times New Roman" panose="02020603050405020304" pitchFamily="18" charset="0"/>
              </a:rPr>
              <a:t>）</a:t>
            </a:r>
            <a:endParaRPr lang="en-US" altLang="zh-CN" sz="2400" kern="100" dirty="0">
              <a:latin typeface="Times New Roman" panose="02020603050405020304" pitchFamily="18" charset="0"/>
            </a:endParaRPr>
          </a:p>
          <a:p>
            <a:r>
              <a:rPr lang="zh-CN" altLang="zh-CN" sz="2400" b="1" kern="100" dirty="0">
                <a:latin typeface="Times New Roman" panose="02020603050405020304" pitchFamily="18" charset="0"/>
              </a:rPr>
              <a:t>授课对象</a:t>
            </a:r>
            <a:r>
              <a:rPr lang="zh-CN" altLang="zh-CN" sz="2400" kern="100" dirty="0">
                <a:latin typeface="Times New Roman" panose="02020603050405020304" pitchFamily="18" charset="0"/>
              </a:rPr>
              <a:t>：</a:t>
            </a:r>
            <a:r>
              <a:rPr lang="en-US" altLang="zh-CN" sz="2400" kern="100" dirty="0">
                <a:latin typeface="Times New Roman" panose="02020603050405020304" pitchFamily="18" charset="0"/>
              </a:rPr>
              <a:t>	</a:t>
            </a:r>
            <a:r>
              <a:rPr lang="zh-CN" altLang="zh-CN" sz="2400" kern="100" dirty="0">
                <a:latin typeface="Times New Roman" panose="02020603050405020304" pitchFamily="18" charset="0"/>
              </a:rPr>
              <a:t>计算机与软件学院所有专业二年级</a:t>
            </a:r>
          </a:p>
          <a:p>
            <a:endParaRPr lang="zh-CN" altLang="zh-CN" sz="2400" kern="100" dirty="0">
              <a:latin typeface="Times New Roman" panose="02020603050405020304" pitchFamily="18" charset="0"/>
            </a:endParaRPr>
          </a:p>
        </p:txBody>
      </p:sp>
      <p:sp>
        <p:nvSpPr>
          <p:cNvPr id="4" name="矩形 3"/>
          <p:cNvSpPr/>
          <p:nvPr/>
        </p:nvSpPr>
        <p:spPr>
          <a:xfrm>
            <a:off x="1436370" y="4589056"/>
            <a:ext cx="9959340" cy="923330"/>
          </a:xfrm>
          <a:prstGeom prst="rect">
            <a:avLst/>
          </a:prstGeom>
        </p:spPr>
        <p:txBody>
          <a:bodyPr wrap="square">
            <a:spAutoFit/>
          </a:bodyPr>
          <a:lstStyle/>
          <a:p>
            <a:pPr indent="361950"/>
            <a:r>
              <a:rPr lang="zh-CN" altLang="zh-CN" kern="100" dirty="0">
                <a:latin typeface="Times New Roman" panose="02020603050405020304" pitchFamily="18" charset="0"/>
              </a:rPr>
              <a:t>本课程的考核分为平时成绩和期末考试成绩两部分组成，平时成绩包括平时记录的出勤情况、课堂提问、课后作业以及实验成绩等。总成绩按以下公式计算：</a:t>
            </a:r>
          </a:p>
          <a:p>
            <a:pPr indent="361950"/>
            <a:r>
              <a:rPr lang="zh-CN" altLang="zh-CN" kern="100" dirty="0">
                <a:latin typeface="Times New Roman" panose="02020603050405020304" pitchFamily="18" charset="0"/>
              </a:rPr>
              <a:t>总成绩＝平时成绩×</a:t>
            </a:r>
            <a:r>
              <a:rPr lang="en-US" altLang="zh-CN" kern="100" dirty="0">
                <a:latin typeface="Times New Roman" panose="02020603050405020304" pitchFamily="18" charset="0"/>
              </a:rPr>
              <a:t>40%</a:t>
            </a:r>
            <a:r>
              <a:rPr lang="zh-CN" altLang="zh-CN" kern="100" dirty="0">
                <a:latin typeface="Times New Roman" panose="02020603050405020304" pitchFamily="18" charset="0"/>
              </a:rPr>
              <a:t>＋期末成绩×</a:t>
            </a:r>
            <a:r>
              <a:rPr lang="en-US" altLang="zh-CN" kern="100" dirty="0">
                <a:latin typeface="Times New Roman" panose="02020603050405020304" pitchFamily="18" charset="0"/>
              </a:rPr>
              <a:t>60%</a:t>
            </a:r>
            <a:endParaRPr lang="zh-CN" altLang="zh-CN" kern="100" dirty="0">
              <a:latin typeface="Times New Roman" panose="02020603050405020304" pitchFamily="18" charset="0"/>
            </a:endParaRPr>
          </a:p>
        </p:txBody>
      </p:sp>
    </p:spTree>
    <p:extLst>
      <p:ext uri="{BB962C8B-B14F-4D97-AF65-F5344CB8AC3E}">
        <p14:creationId xmlns:p14="http://schemas.microsoft.com/office/powerpoint/2010/main" val="170540837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2"/>
          </p:nvPr>
        </p:nvSpPr>
        <p:spPr/>
        <p:txBody>
          <a:bodyPr/>
          <a:lstStyle/>
          <a:p>
            <a:pPr>
              <a:defRPr/>
            </a:pPr>
            <a:fld id="{891184C0-916E-4CCA-8FFE-169A3289BBF6}" type="slidenum">
              <a:rPr lang="zh-CN" altLang="en-US" smtClean="0"/>
              <a:pPr>
                <a:defRPr/>
              </a:pPr>
              <a:t>3</a:t>
            </a:fld>
            <a:endParaRPr lang="zh-CN" altLang="en-US"/>
          </a:p>
        </p:txBody>
      </p:sp>
      <p:sp>
        <p:nvSpPr>
          <p:cNvPr id="3" name="矩形 2"/>
          <p:cNvSpPr/>
          <p:nvPr/>
        </p:nvSpPr>
        <p:spPr>
          <a:xfrm>
            <a:off x="544830" y="788302"/>
            <a:ext cx="10816590" cy="1569660"/>
          </a:xfrm>
          <a:prstGeom prst="rect">
            <a:avLst/>
          </a:prstGeom>
        </p:spPr>
        <p:txBody>
          <a:bodyPr wrap="square">
            <a:spAutoFit/>
          </a:bodyPr>
          <a:lstStyle/>
          <a:p>
            <a:r>
              <a:rPr lang="zh-CN" altLang="zh-CN" sz="2400" b="1" kern="100" dirty="0">
                <a:latin typeface="Times New Roman" panose="02020603050405020304" pitchFamily="18" charset="0"/>
              </a:rPr>
              <a:t>教</a:t>
            </a:r>
            <a:r>
              <a:rPr lang="en-US" altLang="zh-CN" sz="2400" b="1" kern="100" dirty="0">
                <a:latin typeface="Times New Roman" panose="02020603050405020304" pitchFamily="18" charset="0"/>
              </a:rPr>
              <a:t>    </a:t>
            </a:r>
            <a:r>
              <a:rPr lang="zh-CN" altLang="zh-CN" sz="2400" b="1" kern="100" dirty="0">
                <a:latin typeface="Times New Roman" panose="02020603050405020304" pitchFamily="18" charset="0"/>
              </a:rPr>
              <a:t>材：</a:t>
            </a:r>
            <a:r>
              <a:rPr lang="en-US" altLang="zh-CN" sz="2400" kern="100" dirty="0">
                <a:latin typeface="Times New Roman" panose="02020603050405020304" pitchFamily="18" charset="0"/>
              </a:rPr>
              <a:t>(</a:t>
            </a:r>
            <a:r>
              <a:rPr lang="zh-CN" altLang="zh-CN" sz="2400" kern="100" dirty="0">
                <a:latin typeface="Times New Roman" panose="02020603050405020304" pitchFamily="18" charset="0"/>
              </a:rPr>
              <a:t>美</a:t>
            </a:r>
            <a:r>
              <a:rPr lang="en-US" altLang="zh-CN" sz="2400" kern="100" dirty="0">
                <a:latin typeface="Times New Roman" panose="02020603050405020304" pitchFamily="18" charset="0"/>
              </a:rPr>
              <a:t>) Randal E. Bryant</a:t>
            </a:r>
            <a:r>
              <a:rPr lang="zh-CN" altLang="zh-CN" sz="2400" kern="100" dirty="0">
                <a:latin typeface="Times New Roman" panose="02020603050405020304" pitchFamily="18" charset="0"/>
              </a:rPr>
              <a:t>，</a:t>
            </a:r>
            <a:r>
              <a:rPr lang="en-US" altLang="zh-CN" sz="2400" kern="100" dirty="0">
                <a:latin typeface="Times New Roman" panose="02020603050405020304" pitchFamily="18" charset="0"/>
              </a:rPr>
              <a:t>David R.O </a:t>
            </a:r>
            <a:r>
              <a:rPr lang="en-US" altLang="zh-CN" sz="2400" kern="100" dirty="0" err="1">
                <a:latin typeface="Times New Roman" panose="02020603050405020304" pitchFamily="18" charset="0"/>
              </a:rPr>
              <a:t>Hallaren</a:t>
            </a:r>
            <a:r>
              <a:rPr lang="en-US" altLang="zh-CN" sz="2400" kern="100" dirty="0">
                <a:latin typeface="Times New Roman" panose="02020603050405020304" pitchFamily="18" charset="0"/>
              </a:rPr>
              <a:t> </a:t>
            </a:r>
            <a:r>
              <a:rPr lang="zh-CN" altLang="zh-CN" sz="2400" kern="100" dirty="0">
                <a:latin typeface="Times New Roman" panose="02020603050405020304" pitchFamily="18" charset="0"/>
              </a:rPr>
              <a:t>著</a:t>
            </a:r>
            <a:r>
              <a:rPr lang="en-US" altLang="zh-CN" sz="2400" kern="100" dirty="0">
                <a:latin typeface="Times New Roman" panose="02020603050405020304" pitchFamily="18" charset="0"/>
              </a:rPr>
              <a:t>, </a:t>
            </a:r>
            <a:r>
              <a:rPr lang="zh-CN" altLang="zh-CN" sz="2400" kern="100" dirty="0">
                <a:latin typeface="Times New Roman" panose="02020603050405020304" pitchFamily="18" charset="0"/>
              </a:rPr>
              <a:t>龚奕利，</a:t>
            </a:r>
            <a:r>
              <a:rPr lang="zh-CN" altLang="en-US" sz="2400" kern="100" dirty="0">
                <a:latin typeface="Times New Roman" panose="02020603050405020304" pitchFamily="18" charset="0"/>
              </a:rPr>
              <a:t>贺莲</a:t>
            </a:r>
            <a:r>
              <a:rPr lang="zh-CN" altLang="zh-CN" sz="2400" kern="100" dirty="0">
                <a:latin typeface="Times New Roman" panose="02020603050405020304" pitchFamily="18" charset="0"/>
              </a:rPr>
              <a:t>译，深入理解计算机系统（原书</a:t>
            </a:r>
            <a:r>
              <a:rPr lang="zh-CN" altLang="zh-CN" sz="2400" kern="100" dirty="0">
                <a:solidFill>
                  <a:srgbClr val="FF0000"/>
                </a:solidFill>
                <a:latin typeface="Times New Roman" panose="02020603050405020304" pitchFamily="18" charset="0"/>
              </a:rPr>
              <a:t>第</a:t>
            </a:r>
            <a:r>
              <a:rPr lang="en-US" altLang="zh-CN" sz="2400" kern="100" dirty="0">
                <a:solidFill>
                  <a:srgbClr val="FF0000"/>
                </a:solidFill>
                <a:latin typeface="Times New Roman" panose="02020603050405020304" pitchFamily="18" charset="0"/>
              </a:rPr>
              <a:t>3</a:t>
            </a:r>
            <a:r>
              <a:rPr lang="zh-CN" altLang="zh-CN" sz="2400" kern="100" dirty="0">
                <a:solidFill>
                  <a:srgbClr val="FF0000"/>
                </a:solidFill>
                <a:latin typeface="Times New Roman" panose="02020603050405020304" pitchFamily="18" charset="0"/>
              </a:rPr>
              <a:t>版</a:t>
            </a:r>
            <a:r>
              <a:rPr lang="zh-CN" altLang="zh-CN" sz="2400" kern="100" dirty="0">
                <a:latin typeface="Times New Roman" panose="02020603050405020304" pitchFamily="18" charset="0"/>
              </a:rPr>
              <a:t>），机械工业出版社，</a:t>
            </a:r>
            <a:r>
              <a:rPr lang="en-US" altLang="zh-CN" sz="2400" kern="100" dirty="0">
                <a:latin typeface="Times New Roman" panose="02020603050405020304" pitchFamily="18" charset="0"/>
              </a:rPr>
              <a:t>2016.</a:t>
            </a:r>
            <a:endParaRPr lang="zh-CN" altLang="zh-CN" sz="2400" kern="100" dirty="0">
              <a:latin typeface="Times New Roman" panose="02020603050405020304" pitchFamily="18" charset="0"/>
            </a:endParaRPr>
          </a:p>
          <a:p>
            <a:r>
              <a:rPr lang="zh-CN" altLang="zh-CN" sz="2400" b="1" kern="100" dirty="0">
                <a:latin typeface="Times New Roman" panose="02020603050405020304" pitchFamily="18" charset="0"/>
              </a:rPr>
              <a:t>参考教材：</a:t>
            </a:r>
            <a:r>
              <a:rPr lang="zh-CN" altLang="zh-CN" sz="2400" kern="100" dirty="0">
                <a:latin typeface="Times New Roman" panose="02020603050405020304" pitchFamily="18" charset="0"/>
              </a:rPr>
              <a:t>袁春风，计算机系统基础（第</a:t>
            </a:r>
            <a:r>
              <a:rPr lang="en-US" altLang="zh-CN" sz="2400" kern="100" dirty="0">
                <a:latin typeface="Times New Roman" panose="02020603050405020304" pitchFamily="18" charset="0"/>
              </a:rPr>
              <a:t>1</a:t>
            </a:r>
            <a:r>
              <a:rPr lang="zh-CN" altLang="zh-CN" sz="2400" kern="100" dirty="0">
                <a:latin typeface="Times New Roman" panose="02020603050405020304" pitchFamily="18" charset="0"/>
              </a:rPr>
              <a:t>版），机械工业出版社，</a:t>
            </a:r>
            <a:r>
              <a:rPr lang="en-US" altLang="zh-CN" sz="2400" kern="100" dirty="0">
                <a:latin typeface="Times New Roman" panose="02020603050405020304" pitchFamily="18" charset="0"/>
              </a:rPr>
              <a:t>2014</a:t>
            </a:r>
            <a:r>
              <a:rPr lang="zh-CN" altLang="zh-CN" sz="2400" kern="100" dirty="0">
                <a:latin typeface="Times New Roman" panose="02020603050405020304" pitchFamily="18" charset="0"/>
              </a:rPr>
              <a:t>年</a:t>
            </a:r>
            <a:r>
              <a:rPr lang="en-US" altLang="zh-CN" sz="2400" kern="100" dirty="0">
                <a:latin typeface="Times New Roman" panose="02020603050405020304" pitchFamily="18" charset="0"/>
              </a:rPr>
              <a:t>7</a:t>
            </a:r>
            <a:r>
              <a:rPr lang="zh-CN" altLang="zh-CN" sz="2400" kern="100" dirty="0">
                <a:latin typeface="Times New Roman" panose="02020603050405020304" pitchFamily="18" charset="0"/>
              </a:rPr>
              <a:t>月</a:t>
            </a:r>
            <a:endParaRPr lang="en-US" altLang="zh-CN" sz="2400" kern="100" dirty="0">
              <a:latin typeface="Times New Roman" panose="02020603050405020304" pitchFamily="18" charset="0"/>
            </a:endParaRPr>
          </a:p>
          <a:p>
            <a:r>
              <a:rPr lang="zh-CN" altLang="en-US" sz="2400" dirty="0">
                <a:hlinkClick r:id="rId3"/>
              </a:rPr>
              <a:t>教学视频：</a:t>
            </a:r>
            <a:r>
              <a:rPr lang="en-US" altLang="zh-CN" sz="2400" dirty="0"/>
              <a:t>https://www.bilibili.com/video/av13130225/</a:t>
            </a:r>
            <a:endParaRPr lang="zh-CN" altLang="zh-CN" sz="2400" kern="100" dirty="0">
              <a:latin typeface="Times New Roman" panose="02020603050405020304" pitchFamily="18" charset="0"/>
            </a:endParaRPr>
          </a:p>
        </p:txBody>
      </p:sp>
      <p:pic>
        <p:nvPicPr>
          <p:cNvPr id="6" name="图片 5"/>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641152" y="3021473"/>
            <a:ext cx="3048224" cy="3048224"/>
          </a:xfrm>
          <a:prstGeom prst="rect">
            <a:avLst/>
          </a:prstGeom>
        </p:spPr>
      </p:pic>
      <p:pic>
        <p:nvPicPr>
          <p:cNvPr id="7" name="图片 6"/>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5689376" y="3021474"/>
            <a:ext cx="3048224" cy="3048224"/>
          </a:xfrm>
          <a:prstGeom prst="rect">
            <a:avLst/>
          </a:prstGeom>
        </p:spPr>
      </p:pic>
    </p:spTree>
    <p:extLst>
      <p:ext uri="{BB962C8B-B14F-4D97-AF65-F5344CB8AC3E}">
        <p14:creationId xmlns:p14="http://schemas.microsoft.com/office/powerpoint/2010/main" val="313806832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2"/>
          </p:nvPr>
        </p:nvSpPr>
        <p:spPr/>
        <p:txBody>
          <a:bodyPr/>
          <a:lstStyle/>
          <a:p>
            <a:pPr>
              <a:defRPr/>
            </a:pPr>
            <a:fld id="{891184C0-916E-4CCA-8FFE-169A3289BBF6}" type="slidenum">
              <a:rPr lang="zh-CN" altLang="en-US" smtClean="0"/>
              <a:pPr>
                <a:defRPr/>
              </a:pPr>
              <a:t>4</a:t>
            </a:fld>
            <a:endParaRPr lang="zh-CN" altLang="en-US"/>
          </a:p>
        </p:txBody>
      </p:sp>
      <p:pic>
        <p:nvPicPr>
          <p:cNvPr id="3" name="图片 2"/>
          <p:cNvPicPr>
            <a:picLocks noChangeAspect="1"/>
          </p:cNvPicPr>
          <p:nvPr/>
        </p:nvPicPr>
        <p:blipFill>
          <a:blip r:embed="rId2"/>
          <a:stretch>
            <a:fillRect/>
          </a:stretch>
        </p:blipFill>
        <p:spPr>
          <a:xfrm>
            <a:off x="1329178" y="686315"/>
            <a:ext cx="9899199" cy="5881734"/>
          </a:xfrm>
          <a:prstGeom prst="rect">
            <a:avLst/>
          </a:prstGeom>
        </p:spPr>
      </p:pic>
      <p:sp>
        <p:nvSpPr>
          <p:cNvPr id="4" name="矩形 3"/>
          <p:cNvSpPr/>
          <p:nvPr/>
        </p:nvSpPr>
        <p:spPr>
          <a:xfrm>
            <a:off x="2528633" y="348222"/>
            <a:ext cx="3396635" cy="369332"/>
          </a:xfrm>
          <a:prstGeom prst="rect">
            <a:avLst/>
          </a:prstGeom>
        </p:spPr>
        <p:txBody>
          <a:bodyPr wrap="none">
            <a:spAutoFit/>
          </a:bodyPr>
          <a:lstStyle/>
          <a:p>
            <a:r>
              <a:rPr lang="en-US" altLang="zh-CN" dirty="0"/>
              <a:t>http://www.yiligong.org/csapp3e/</a:t>
            </a:r>
            <a:endParaRPr lang="zh-CN" altLang="en-US" dirty="0"/>
          </a:p>
        </p:txBody>
      </p:sp>
    </p:spTree>
    <p:extLst>
      <p:ext uri="{BB962C8B-B14F-4D97-AF65-F5344CB8AC3E}">
        <p14:creationId xmlns:p14="http://schemas.microsoft.com/office/powerpoint/2010/main" val="216723903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1" name="内容占位符 2">
            <a:extLst>
              <a:ext uri="{FF2B5EF4-FFF2-40B4-BE49-F238E27FC236}">
                <a16:creationId xmlns:a16="http://schemas.microsoft.com/office/drawing/2014/main" id="{8291D444-F8B7-4935-9485-FC09C5029341}"/>
              </a:ext>
            </a:extLst>
          </p:cNvPr>
          <p:cNvSpPr>
            <a:spLocks noGrp="1"/>
          </p:cNvSpPr>
          <p:nvPr>
            <p:ph idx="1"/>
          </p:nvPr>
        </p:nvSpPr>
        <p:spPr>
          <a:xfrm>
            <a:off x="1981200" y="1600201"/>
            <a:ext cx="3251200" cy="796925"/>
          </a:xfrm>
        </p:spPr>
        <p:txBody>
          <a:bodyPr/>
          <a:lstStyle/>
          <a:p>
            <a:r>
              <a:rPr lang="zh-CN" altLang="zh-CN"/>
              <a:t>专业必修课 </a:t>
            </a:r>
          </a:p>
          <a:p>
            <a:endParaRPr lang="zh-CN" altLang="en-US"/>
          </a:p>
        </p:txBody>
      </p:sp>
      <p:sp>
        <p:nvSpPr>
          <p:cNvPr id="7172" name="灯片编号占位符 1">
            <a:extLst>
              <a:ext uri="{FF2B5EF4-FFF2-40B4-BE49-F238E27FC236}">
                <a16:creationId xmlns:a16="http://schemas.microsoft.com/office/drawing/2014/main" id="{F90D581F-2819-499E-9A20-DD83E0367230}"/>
              </a:ext>
            </a:extLst>
          </p:cNvPr>
          <p:cNvSpPr>
            <a:spLocks noGrp="1"/>
          </p:cNvSpPr>
          <p:nvPr>
            <p:ph type="sldNum" sz="quarter" idx="12"/>
          </p:nvPr>
        </p:nvSpPr>
        <p:spPr bwMode="auto">
          <a:xfrm>
            <a:off x="8097838" y="6464301"/>
            <a:ext cx="2133600" cy="3651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a:spcBef>
                <a:spcPct val="0"/>
              </a:spcBef>
              <a:buFontTx/>
              <a:buNone/>
            </a:pPr>
            <a:fld id="{CC24497C-6D3D-47B8-ABF2-C98CD0D5904F}" type="slidenum">
              <a:rPr lang="zh-CN" altLang="en-US" sz="1200">
                <a:solidFill>
                  <a:srgbClr val="898989"/>
                </a:solidFill>
              </a:rPr>
              <a:pPr>
                <a:spcBef>
                  <a:spcPct val="0"/>
                </a:spcBef>
                <a:buFontTx/>
                <a:buNone/>
              </a:pPr>
              <a:t>5</a:t>
            </a:fld>
            <a:endParaRPr lang="zh-CN" altLang="en-US" sz="1200">
              <a:solidFill>
                <a:srgbClr val="898989"/>
              </a:solidFill>
            </a:endParaRPr>
          </a:p>
        </p:txBody>
      </p:sp>
      <p:sp>
        <p:nvSpPr>
          <p:cNvPr id="7173" name="文本框 1">
            <a:extLst>
              <a:ext uri="{FF2B5EF4-FFF2-40B4-BE49-F238E27FC236}">
                <a16:creationId xmlns:a16="http://schemas.microsoft.com/office/drawing/2014/main" id="{C435FD29-7DD8-443C-89AF-3B4FB48F5DFD}"/>
              </a:ext>
            </a:extLst>
          </p:cNvPr>
          <p:cNvSpPr txBox="1">
            <a:spLocks noChangeArrowheads="1"/>
          </p:cNvSpPr>
          <p:nvPr/>
        </p:nvSpPr>
        <p:spPr bwMode="auto">
          <a:xfrm>
            <a:off x="6045200" y="1708150"/>
            <a:ext cx="719138"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a:spcBef>
                <a:spcPct val="0"/>
              </a:spcBef>
              <a:buFontTx/>
              <a:buNone/>
            </a:pPr>
            <a:r>
              <a:rPr lang="zh-CN" altLang="en-US" sz="1800">
                <a:latin typeface="Arial" panose="020B0604020202020204" pitchFamily="34" charset="0"/>
              </a:rPr>
              <a:t>问题</a:t>
            </a:r>
          </a:p>
        </p:txBody>
      </p:sp>
      <p:sp>
        <p:nvSpPr>
          <p:cNvPr id="7174" name="文本框 5">
            <a:extLst>
              <a:ext uri="{FF2B5EF4-FFF2-40B4-BE49-F238E27FC236}">
                <a16:creationId xmlns:a16="http://schemas.microsoft.com/office/drawing/2014/main" id="{B7C81524-4F4B-44F9-A66E-3DE8DE9C7BE0}"/>
              </a:ext>
            </a:extLst>
          </p:cNvPr>
          <p:cNvSpPr txBox="1">
            <a:spLocks noChangeArrowheads="1"/>
          </p:cNvSpPr>
          <p:nvPr/>
        </p:nvSpPr>
        <p:spPr bwMode="auto">
          <a:xfrm>
            <a:off x="5232400" y="2676525"/>
            <a:ext cx="2357438"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a:spcBef>
                <a:spcPct val="0"/>
              </a:spcBef>
              <a:buFontTx/>
              <a:buNone/>
            </a:pPr>
            <a:r>
              <a:rPr lang="zh-CN" altLang="en-US" sz="1800">
                <a:latin typeface="Arial" panose="020B0604020202020204" pitchFamily="34" charset="0"/>
              </a:rPr>
              <a:t>源程序（</a:t>
            </a:r>
            <a:r>
              <a:rPr lang="en-US" altLang="zh-CN" sz="1800">
                <a:latin typeface="Arial" panose="020B0604020202020204" pitchFamily="34" charset="0"/>
              </a:rPr>
              <a:t>C</a:t>
            </a:r>
            <a:r>
              <a:rPr lang="zh-CN" altLang="en-US" sz="1800">
                <a:latin typeface="Arial" panose="020B0604020202020204" pitchFamily="34" charset="0"/>
              </a:rPr>
              <a:t>、</a:t>
            </a:r>
            <a:r>
              <a:rPr lang="en-US" altLang="zh-CN" sz="1800">
                <a:latin typeface="Arial" panose="020B0604020202020204" pitchFamily="34" charset="0"/>
              </a:rPr>
              <a:t>Java</a:t>
            </a:r>
            <a:r>
              <a:rPr lang="zh-CN" altLang="en-US" sz="1800">
                <a:latin typeface="Arial" panose="020B0604020202020204" pitchFamily="34" charset="0"/>
              </a:rPr>
              <a:t>）</a:t>
            </a:r>
          </a:p>
        </p:txBody>
      </p:sp>
      <p:sp>
        <p:nvSpPr>
          <p:cNvPr id="7" name="文本框 6">
            <a:extLst>
              <a:ext uri="{FF2B5EF4-FFF2-40B4-BE49-F238E27FC236}">
                <a16:creationId xmlns:a16="http://schemas.microsoft.com/office/drawing/2014/main" id="{3EF97699-5FB4-4EA3-A46C-67F781761845}"/>
              </a:ext>
            </a:extLst>
          </p:cNvPr>
          <p:cNvSpPr txBox="1"/>
          <p:nvPr/>
        </p:nvSpPr>
        <p:spPr>
          <a:xfrm>
            <a:off x="7897813" y="2197100"/>
            <a:ext cx="1892300" cy="368300"/>
          </a:xfrm>
          <a:prstGeom prst="rect">
            <a:avLst/>
          </a:prstGeom>
          <a:solidFill>
            <a:schemeClr val="accent6">
              <a:lumMod val="40000"/>
              <a:lumOff val="60000"/>
            </a:schemeClr>
          </a:solidFill>
        </p:spPr>
        <p:txBody>
          <a:bodyPr>
            <a:spAutoFit/>
          </a:bodyPr>
          <a:lstStyle/>
          <a:p>
            <a:pPr>
              <a:defRPr/>
            </a:pPr>
            <a:r>
              <a:rPr lang="zh-CN" altLang="en-US" dirty="0"/>
              <a:t>算法、数据结构</a:t>
            </a:r>
          </a:p>
        </p:txBody>
      </p:sp>
      <p:cxnSp>
        <p:nvCxnSpPr>
          <p:cNvPr id="4" name="直接箭头连接符 3">
            <a:extLst>
              <a:ext uri="{FF2B5EF4-FFF2-40B4-BE49-F238E27FC236}">
                <a16:creationId xmlns:a16="http://schemas.microsoft.com/office/drawing/2014/main" id="{48C3C37A-5AD4-4F5C-8830-327665CE70B3}"/>
              </a:ext>
            </a:extLst>
          </p:cNvPr>
          <p:cNvCxnSpPr>
            <a:cxnSpLocks/>
            <a:stCxn id="7173" idx="2"/>
            <a:endCxn id="7174" idx="0"/>
          </p:cNvCxnSpPr>
          <p:nvPr/>
        </p:nvCxnSpPr>
        <p:spPr>
          <a:xfrm>
            <a:off x="6403975" y="2078039"/>
            <a:ext cx="7938" cy="598487"/>
          </a:xfrm>
          <a:prstGeom prst="straightConnector1">
            <a:avLst/>
          </a:prstGeom>
          <a:ln w="12700">
            <a:tailEnd type="stealth" w="lg" len="lg"/>
          </a:ln>
        </p:spPr>
        <p:style>
          <a:lnRef idx="1">
            <a:schemeClr val="accent1"/>
          </a:lnRef>
          <a:fillRef idx="0">
            <a:schemeClr val="accent1"/>
          </a:fillRef>
          <a:effectRef idx="0">
            <a:schemeClr val="accent1"/>
          </a:effectRef>
          <a:fontRef idx="minor">
            <a:schemeClr val="tx1"/>
          </a:fontRef>
        </p:style>
      </p:cxnSp>
      <p:sp>
        <p:nvSpPr>
          <p:cNvPr id="7177" name="文本框 13">
            <a:extLst>
              <a:ext uri="{FF2B5EF4-FFF2-40B4-BE49-F238E27FC236}">
                <a16:creationId xmlns:a16="http://schemas.microsoft.com/office/drawing/2014/main" id="{5BE1A914-9038-49F0-88C3-09338783BB81}"/>
              </a:ext>
            </a:extLst>
          </p:cNvPr>
          <p:cNvSpPr txBox="1">
            <a:spLocks noChangeArrowheads="1"/>
          </p:cNvSpPr>
          <p:nvPr/>
        </p:nvSpPr>
        <p:spPr bwMode="auto">
          <a:xfrm>
            <a:off x="5253039" y="3348038"/>
            <a:ext cx="2357437" cy="647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a:spcBef>
                <a:spcPct val="0"/>
              </a:spcBef>
              <a:buFontTx/>
              <a:buNone/>
            </a:pPr>
            <a:r>
              <a:rPr lang="zh-CN" altLang="en-US" sz="1800">
                <a:latin typeface="Arial" panose="020B0604020202020204" pitchFamily="34" charset="0"/>
              </a:rPr>
              <a:t>汇编（</a:t>
            </a:r>
            <a:r>
              <a:rPr lang="en-US" altLang="zh-CN" sz="1800">
                <a:latin typeface="Arial" panose="020B0604020202020204" pitchFamily="34" charset="0"/>
              </a:rPr>
              <a:t>x86</a:t>
            </a:r>
            <a:r>
              <a:rPr lang="zh-CN" altLang="en-US" sz="1800">
                <a:latin typeface="Arial" panose="020B0604020202020204" pitchFamily="34" charset="0"/>
              </a:rPr>
              <a:t>、</a:t>
            </a:r>
            <a:r>
              <a:rPr lang="en-US" altLang="zh-CN" sz="1800">
                <a:latin typeface="Arial" panose="020B0604020202020204" pitchFamily="34" charset="0"/>
              </a:rPr>
              <a:t>MIPS</a:t>
            </a:r>
            <a:r>
              <a:rPr lang="zh-CN" altLang="en-US" sz="1800">
                <a:latin typeface="Arial" panose="020B0604020202020204" pitchFamily="34" charset="0"/>
              </a:rPr>
              <a:t>）</a:t>
            </a:r>
            <a:endParaRPr lang="en-US" altLang="zh-CN" sz="1800">
              <a:latin typeface="Arial" panose="020B0604020202020204" pitchFamily="34" charset="0"/>
            </a:endParaRPr>
          </a:p>
          <a:p>
            <a:pPr>
              <a:spcBef>
                <a:spcPct val="0"/>
              </a:spcBef>
              <a:buFontTx/>
              <a:buNone/>
            </a:pPr>
            <a:r>
              <a:rPr lang="zh-CN" altLang="en-US" sz="1800">
                <a:latin typeface="Arial" panose="020B0604020202020204" pitchFamily="34" charset="0"/>
              </a:rPr>
              <a:t>可执行程序（</a:t>
            </a:r>
            <a:r>
              <a:rPr lang="en-US" altLang="zh-CN" sz="1800">
                <a:latin typeface="Arial" panose="020B0604020202020204" pitchFamily="34" charset="0"/>
              </a:rPr>
              <a:t>ELF</a:t>
            </a:r>
            <a:r>
              <a:rPr lang="zh-CN" altLang="en-US" sz="1800">
                <a:latin typeface="Arial" panose="020B0604020202020204" pitchFamily="34" charset="0"/>
              </a:rPr>
              <a:t>）</a:t>
            </a:r>
          </a:p>
        </p:txBody>
      </p:sp>
      <p:sp>
        <p:nvSpPr>
          <p:cNvPr id="19" name="文本框 18">
            <a:extLst>
              <a:ext uri="{FF2B5EF4-FFF2-40B4-BE49-F238E27FC236}">
                <a16:creationId xmlns:a16="http://schemas.microsoft.com/office/drawing/2014/main" id="{944EC286-261E-485B-A346-918463FF6FB5}"/>
              </a:ext>
            </a:extLst>
          </p:cNvPr>
          <p:cNvSpPr txBox="1"/>
          <p:nvPr/>
        </p:nvSpPr>
        <p:spPr>
          <a:xfrm>
            <a:off x="7897813" y="3116263"/>
            <a:ext cx="1892300" cy="368300"/>
          </a:xfrm>
          <a:prstGeom prst="rect">
            <a:avLst/>
          </a:prstGeom>
          <a:solidFill>
            <a:schemeClr val="accent6">
              <a:lumMod val="40000"/>
              <a:lumOff val="60000"/>
            </a:schemeClr>
          </a:solidFill>
          <a:ln w="22225">
            <a:solidFill>
              <a:srgbClr val="FF0000"/>
            </a:solidFill>
          </a:ln>
        </p:spPr>
        <p:txBody>
          <a:bodyPr>
            <a:spAutoFit/>
          </a:bodyPr>
          <a:lstStyle/>
          <a:p>
            <a:pPr algn="ctr">
              <a:defRPr/>
            </a:pPr>
            <a:r>
              <a:rPr lang="zh-CN" altLang="en-US" b="1" dirty="0">
                <a:solidFill>
                  <a:srgbClr val="FF0000"/>
                </a:solidFill>
              </a:rPr>
              <a:t>计算机系统</a:t>
            </a:r>
            <a:r>
              <a:rPr lang="en-US" altLang="zh-CN" b="1" dirty="0">
                <a:solidFill>
                  <a:srgbClr val="FF0000"/>
                </a:solidFill>
              </a:rPr>
              <a:t>2</a:t>
            </a:r>
            <a:endParaRPr lang="zh-CN" altLang="en-US" b="1" dirty="0">
              <a:solidFill>
                <a:srgbClr val="FF0000"/>
              </a:solidFill>
            </a:endParaRPr>
          </a:p>
        </p:txBody>
      </p:sp>
      <p:sp>
        <p:nvSpPr>
          <p:cNvPr id="21" name="文本框 20">
            <a:extLst>
              <a:ext uri="{FF2B5EF4-FFF2-40B4-BE49-F238E27FC236}">
                <a16:creationId xmlns:a16="http://schemas.microsoft.com/office/drawing/2014/main" id="{3B498C26-90F2-431A-86D2-7794F86D6753}"/>
              </a:ext>
            </a:extLst>
          </p:cNvPr>
          <p:cNvSpPr txBox="1"/>
          <p:nvPr/>
        </p:nvSpPr>
        <p:spPr>
          <a:xfrm>
            <a:off x="2111376" y="4386263"/>
            <a:ext cx="1323975" cy="368300"/>
          </a:xfrm>
          <a:prstGeom prst="rect">
            <a:avLst/>
          </a:prstGeom>
          <a:noFill/>
          <a:ln>
            <a:solidFill>
              <a:schemeClr val="accent1">
                <a:shade val="95000"/>
                <a:satMod val="105000"/>
              </a:schemeClr>
            </a:solidFill>
          </a:ln>
        </p:spPr>
        <p:txBody>
          <a:bodyPr>
            <a:spAutoFit/>
          </a:bodyPr>
          <a:lstStyle/>
          <a:p>
            <a:pPr>
              <a:defRPr/>
            </a:pPr>
            <a:r>
              <a:rPr lang="en-US" altLang="zh-CN" dirty="0"/>
              <a:t>HelloWorld</a:t>
            </a:r>
            <a:endParaRPr lang="zh-CN" altLang="en-US" dirty="0"/>
          </a:p>
        </p:txBody>
      </p:sp>
      <p:sp>
        <p:nvSpPr>
          <p:cNvPr id="22" name="文本框 21">
            <a:extLst>
              <a:ext uri="{FF2B5EF4-FFF2-40B4-BE49-F238E27FC236}">
                <a16:creationId xmlns:a16="http://schemas.microsoft.com/office/drawing/2014/main" id="{24B3FD30-32B6-4D5A-8339-B14466CF7BF8}"/>
              </a:ext>
            </a:extLst>
          </p:cNvPr>
          <p:cNvSpPr txBox="1"/>
          <p:nvPr/>
        </p:nvSpPr>
        <p:spPr>
          <a:xfrm>
            <a:off x="3679825" y="4383089"/>
            <a:ext cx="1543050" cy="369887"/>
          </a:xfrm>
          <a:prstGeom prst="rect">
            <a:avLst/>
          </a:prstGeom>
          <a:noFill/>
          <a:ln>
            <a:solidFill>
              <a:schemeClr val="accent1">
                <a:shade val="95000"/>
                <a:satMod val="105000"/>
              </a:schemeClr>
            </a:solidFill>
          </a:ln>
        </p:spPr>
        <p:txBody>
          <a:bodyPr>
            <a:spAutoFit/>
          </a:bodyPr>
          <a:lstStyle/>
          <a:p>
            <a:pPr>
              <a:defRPr/>
            </a:pPr>
            <a:r>
              <a:rPr lang="en-US" altLang="zh-CN" dirty="0"/>
              <a:t>PowerPoint</a:t>
            </a:r>
            <a:endParaRPr lang="zh-CN" altLang="en-US" dirty="0"/>
          </a:p>
        </p:txBody>
      </p:sp>
      <p:sp>
        <p:nvSpPr>
          <p:cNvPr id="23" name="文本框 22">
            <a:extLst>
              <a:ext uri="{FF2B5EF4-FFF2-40B4-BE49-F238E27FC236}">
                <a16:creationId xmlns:a16="http://schemas.microsoft.com/office/drawing/2014/main" id="{2DBF9D48-844F-4980-B626-29A6A3AE2D47}"/>
              </a:ext>
            </a:extLst>
          </p:cNvPr>
          <p:cNvSpPr txBox="1"/>
          <p:nvPr/>
        </p:nvSpPr>
        <p:spPr>
          <a:xfrm>
            <a:off x="5467350" y="4397375"/>
            <a:ext cx="647700" cy="368300"/>
          </a:xfrm>
          <a:prstGeom prst="rect">
            <a:avLst/>
          </a:prstGeom>
          <a:noFill/>
          <a:ln>
            <a:solidFill>
              <a:schemeClr val="accent1">
                <a:shade val="95000"/>
                <a:satMod val="105000"/>
              </a:schemeClr>
            </a:solidFill>
          </a:ln>
        </p:spPr>
        <p:txBody>
          <a:bodyPr>
            <a:spAutoFit/>
          </a:bodyPr>
          <a:lstStyle/>
          <a:p>
            <a:pPr>
              <a:defRPr/>
            </a:pPr>
            <a:r>
              <a:rPr lang="en-US" altLang="zh-CN" dirty="0"/>
              <a:t>QQ</a:t>
            </a:r>
            <a:endParaRPr lang="zh-CN" altLang="en-US" dirty="0"/>
          </a:p>
        </p:txBody>
      </p:sp>
      <p:sp>
        <p:nvSpPr>
          <p:cNvPr id="34" name="文本框 33">
            <a:extLst>
              <a:ext uri="{FF2B5EF4-FFF2-40B4-BE49-F238E27FC236}">
                <a16:creationId xmlns:a16="http://schemas.microsoft.com/office/drawing/2014/main" id="{385A5675-51ED-41F5-9ACF-82E173A85139}"/>
              </a:ext>
            </a:extLst>
          </p:cNvPr>
          <p:cNvSpPr txBox="1"/>
          <p:nvPr/>
        </p:nvSpPr>
        <p:spPr>
          <a:xfrm>
            <a:off x="6359526" y="4397375"/>
            <a:ext cx="811213" cy="368300"/>
          </a:xfrm>
          <a:prstGeom prst="rect">
            <a:avLst/>
          </a:prstGeom>
          <a:noFill/>
          <a:ln>
            <a:solidFill>
              <a:schemeClr val="accent1">
                <a:shade val="95000"/>
                <a:satMod val="105000"/>
              </a:schemeClr>
            </a:solidFill>
          </a:ln>
        </p:spPr>
        <p:txBody>
          <a:bodyPr>
            <a:spAutoFit/>
          </a:bodyPr>
          <a:lstStyle/>
          <a:p>
            <a:pPr>
              <a:defRPr/>
            </a:pPr>
            <a:r>
              <a:rPr lang="en-US" altLang="zh-CN" dirty="0"/>
              <a:t>Word</a:t>
            </a:r>
            <a:endParaRPr lang="zh-CN" altLang="en-US" dirty="0"/>
          </a:p>
        </p:txBody>
      </p:sp>
      <p:cxnSp>
        <p:nvCxnSpPr>
          <p:cNvPr id="36" name="直接箭头连接符 35">
            <a:extLst>
              <a:ext uri="{FF2B5EF4-FFF2-40B4-BE49-F238E27FC236}">
                <a16:creationId xmlns:a16="http://schemas.microsoft.com/office/drawing/2014/main" id="{7F1F942E-8A10-4AEB-881B-DD9F259DB316}"/>
              </a:ext>
            </a:extLst>
          </p:cNvPr>
          <p:cNvCxnSpPr>
            <a:cxnSpLocks/>
          </p:cNvCxnSpPr>
          <p:nvPr/>
        </p:nvCxnSpPr>
        <p:spPr>
          <a:xfrm>
            <a:off x="6397625" y="3040064"/>
            <a:ext cx="6350" cy="312737"/>
          </a:xfrm>
          <a:prstGeom prst="straightConnector1">
            <a:avLst/>
          </a:prstGeom>
          <a:ln w="12700">
            <a:tailEnd type="stealth" w="lg" len="lg"/>
          </a:ln>
        </p:spPr>
        <p:style>
          <a:lnRef idx="1">
            <a:schemeClr val="accent1"/>
          </a:lnRef>
          <a:fillRef idx="0">
            <a:schemeClr val="accent1"/>
          </a:fillRef>
          <a:effectRef idx="0">
            <a:schemeClr val="accent1"/>
          </a:effectRef>
          <a:fontRef idx="minor">
            <a:schemeClr val="tx1"/>
          </a:fontRef>
        </p:style>
      </p:cxnSp>
      <p:sp>
        <p:nvSpPr>
          <p:cNvPr id="7184" name="文本框 37">
            <a:extLst>
              <a:ext uri="{FF2B5EF4-FFF2-40B4-BE49-F238E27FC236}">
                <a16:creationId xmlns:a16="http://schemas.microsoft.com/office/drawing/2014/main" id="{DF406012-7EC8-4B9A-958D-7D16489C336C}"/>
              </a:ext>
            </a:extLst>
          </p:cNvPr>
          <p:cNvSpPr txBox="1">
            <a:spLocks noChangeArrowheads="1"/>
          </p:cNvSpPr>
          <p:nvPr/>
        </p:nvSpPr>
        <p:spPr bwMode="auto">
          <a:xfrm>
            <a:off x="6115050" y="5362575"/>
            <a:ext cx="806450"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a:spcBef>
                <a:spcPct val="0"/>
              </a:spcBef>
              <a:buFontTx/>
              <a:buNone/>
            </a:pPr>
            <a:r>
              <a:rPr lang="en-US" altLang="zh-CN" sz="1800">
                <a:latin typeface="Arial" panose="020B0604020202020204" pitchFamily="34" charset="0"/>
              </a:rPr>
              <a:t>ISA </a:t>
            </a:r>
            <a:endParaRPr lang="zh-CN" altLang="en-US" sz="1800">
              <a:latin typeface="Arial" panose="020B0604020202020204" pitchFamily="34" charset="0"/>
            </a:endParaRPr>
          </a:p>
        </p:txBody>
      </p:sp>
      <p:sp>
        <p:nvSpPr>
          <p:cNvPr id="39" name="文本框 38">
            <a:extLst>
              <a:ext uri="{FF2B5EF4-FFF2-40B4-BE49-F238E27FC236}">
                <a16:creationId xmlns:a16="http://schemas.microsoft.com/office/drawing/2014/main" id="{A047AF9C-824E-4400-B674-6087EBCEE112}"/>
              </a:ext>
            </a:extLst>
          </p:cNvPr>
          <p:cNvSpPr txBox="1"/>
          <p:nvPr/>
        </p:nvSpPr>
        <p:spPr>
          <a:xfrm>
            <a:off x="7394576" y="4397375"/>
            <a:ext cx="809625" cy="368300"/>
          </a:xfrm>
          <a:prstGeom prst="rect">
            <a:avLst/>
          </a:prstGeom>
          <a:noFill/>
          <a:ln w="28575">
            <a:solidFill>
              <a:schemeClr val="accent1">
                <a:shade val="95000"/>
                <a:satMod val="105000"/>
              </a:schemeClr>
            </a:solidFill>
          </a:ln>
        </p:spPr>
        <p:txBody>
          <a:bodyPr>
            <a:spAutoFit/>
          </a:bodyPr>
          <a:lstStyle/>
          <a:p>
            <a:pPr algn="ctr">
              <a:defRPr/>
            </a:pPr>
            <a:r>
              <a:rPr lang="en-US" altLang="zh-CN" b="1" dirty="0">
                <a:solidFill>
                  <a:srgbClr val="FF0000"/>
                </a:solidFill>
              </a:rPr>
              <a:t>OS</a:t>
            </a:r>
            <a:endParaRPr lang="zh-CN" altLang="en-US" b="1" dirty="0">
              <a:solidFill>
                <a:srgbClr val="FF0000"/>
              </a:solidFill>
            </a:endParaRPr>
          </a:p>
        </p:txBody>
      </p:sp>
      <p:sp>
        <p:nvSpPr>
          <p:cNvPr id="40" name="文本框 39">
            <a:extLst>
              <a:ext uri="{FF2B5EF4-FFF2-40B4-BE49-F238E27FC236}">
                <a16:creationId xmlns:a16="http://schemas.microsoft.com/office/drawing/2014/main" id="{2B763340-F24B-47F4-B7FF-50028C6C1E88}"/>
              </a:ext>
            </a:extLst>
          </p:cNvPr>
          <p:cNvSpPr txBox="1"/>
          <p:nvPr/>
        </p:nvSpPr>
        <p:spPr>
          <a:xfrm>
            <a:off x="8537576" y="4397375"/>
            <a:ext cx="1254125" cy="368300"/>
          </a:xfrm>
          <a:prstGeom prst="rect">
            <a:avLst/>
          </a:prstGeom>
          <a:solidFill>
            <a:schemeClr val="accent6">
              <a:lumMod val="40000"/>
              <a:lumOff val="60000"/>
            </a:schemeClr>
          </a:solidFill>
          <a:ln w="22225">
            <a:noFill/>
          </a:ln>
        </p:spPr>
        <p:txBody>
          <a:bodyPr>
            <a:spAutoFit/>
          </a:bodyPr>
          <a:lstStyle/>
          <a:p>
            <a:pPr algn="ctr">
              <a:defRPr/>
            </a:pPr>
            <a:r>
              <a:rPr lang="zh-CN" altLang="en-US" dirty="0"/>
              <a:t>操作系统</a:t>
            </a:r>
          </a:p>
        </p:txBody>
      </p:sp>
      <p:cxnSp>
        <p:nvCxnSpPr>
          <p:cNvPr id="41" name="直接箭头连接符 40">
            <a:extLst>
              <a:ext uri="{FF2B5EF4-FFF2-40B4-BE49-F238E27FC236}">
                <a16:creationId xmlns:a16="http://schemas.microsoft.com/office/drawing/2014/main" id="{5B987B76-16E3-4601-82D3-69C16E3FC0A1}"/>
              </a:ext>
            </a:extLst>
          </p:cNvPr>
          <p:cNvCxnSpPr>
            <a:cxnSpLocks/>
            <a:stCxn id="21" idx="2"/>
            <a:endCxn id="7184" idx="0"/>
          </p:cNvCxnSpPr>
          <p:nvPr/>
        </p:nvCxnSpPr>
        <p:spPr>
          <a:xfrm>
            <a:off x="2773363" y="4754563"/>
            <a:ext cx="3744912" cy="608012"/>
          </a:xfrm>
          <a:prstGeom prst="straightConnector1">
            <a:avLst/>
          </a:prstGeom>
          <a:ln w="12700">
            <a:tailEnd type="stealth" w="lg" len="lg"/>
          </a:ln>
        </p:spPr>
        <p:style>
          <a:lnRef idx="1">
            <a:schemeClr val="accent1"/>
          </a:lnRef>
          <a:fillRef idx="0">
            <a:schemeClr val="accent1"/>
          </a:fillRef>
          <a:effectRef idx="0">
            <a:schemeClr val="accent1"/>
          </a:effectRef>
          <a:fontRef idx="minor">
            <a:schemeClr val="tx1"/>
          </a:fontRef>
        </p:style>
      </p:cxnSp>
      <p:cxnSp>
        <p:nvCxnSpPr>
          <p:cNvPr id="44" name="直接箭头连接符 43">
            <a:extLst>
              <a:ext uri="{FF2B5EF4-FFF2-40B4-BE49-F238E27FC236}">
                <a16:creationId xmlns:a16="http://schemas.microsoft.com/office/drawing/2014/main" id="{296F5D9A-8B18-4C51-857C-902E92EBF318}"/>
              </a:ext>
            </a:extLst>
          </p:cNvPr>
          <p:cNvCxnSpPr>
            <a:cxnSpLocks/>
            <a:stCxn id="22" idx="2"/>
            <a:endCxn id="7184" idx="0"/>
          </p:cNvCxnSpPr>
          <p:nvPr/>
        </p:nvCxnSpPr>
        <p:spPr>
          <a:xfrm>
            <a:off x="4451351" y="4752975"/>
            <a:ext cx="2066925" cy="609600"/>
          </a:xfrm>
          <a:prstGeom prst="straightConnector1">
            <a:avLst/>
          </a:prstGeom>
          <a:ln w="12700">
            <a:tailEnd type="stealth" w="lg" len="lg"/>
          </a:ln>
        </p:spPr>
        <p:style>
          <a:lnRef idx="1">
            <a:schemeClr val="accent1"/>
          </a:lnRef>
          <a:fillRef idx="0">
            <a:schemeClr val="accent1"/>
          </a:fillRef>
          <a:effectRef idx="0">
            <a:schemeClr val="accent1"/>
          </a:effectRef>
          <a:fontRef idx="minor">
            <a:schemeClr val="tx1"/>
          </a:fontRef>
        </p:style>
      </p:cxnSp>
      <p:cxnSp>
        <p:nvCxnSpPr>
          <p:cNvPr id="47" name="直接箭头连接符 46">
            <a:extLst>
              <a:ext uri="{FF2B5EF4-FFF2-40B4-BE49-F238E27FC236}">
                <a16:creationId xmlns:a16="http://schemas.microsoft.com/office/drawing/2014/main" id="{97E62630-2ADB-4B4F-8FBF-9912E26FCB2F}"/>
              </a:ext>
            </a:extLst>
          </p:cNvPr>
          <p:cNvCxnSpPr>
            <a:cxnSpLocks/>
            <a:stCxn id="23" idx="2"/>
            <a:endCxn id="7184" idx="0"/>
          </p:cNvCxnSpPr>
          <p:nvPr/>
        </p:nvCxnSpPr>
        <p:spPr>
          <a:xfrm>
            <a:off x="5791201" y="4765675"/>
            <a:ext cx="727075" cy="596900"/>
          </a:xfrm>
          <a:prstGeom prst="straightConnector1">
            <a:avLst/>
          </a:prstGeom>
          <a:ln w="12700">
            <a:tailEnd type="stealth" w="lg" len="lg"/>
          </a:ln>
        </p:spPr>
        <p:style>
          <a:lnRef idx="1">
            <a:schemeClr val="accent1"/>
          </a:lnRef>
          <a:fillRef idx="0">
            <a:schemeClr val="accent1"/>
          </a:fillRef>
          <a:effectRef idx="0">
            <a:schemeClr val="accent1"/>
          </a:effectRef>
          <a:fontRef idx="minor">
            <a:schemeClr val="tx1"/>
          </a:fontRef>
        </p:style>
      </p:cxnSp>
      <p:cxnSp>
        <p:nvCxnSpPr>
          <p:cNvPr id="50" name="直接箭头连接符 49">
            <a:extLst>
              <a:ext uri="{FF2B5EF4-FFF2-40B4-BE49-F238E27FC236}">
                <a16:creationId xmlns:a16="http://schemas.microsoft.com/office/drawing/2014/main" id="{483C6C0B-E50C-492F-A310-74F8C13D57D5}"/>
              </a:ext>
            </a:extLst>
          </p:cNvPr>
          <p:cNvCxnSpPr>
            <a:cxnSpLocks/>
            <a:stCxn id="34" idx="2"/>
            <a:endCxn id="7184" idx="0"/>
          </p:cNvCxnSpPr>
          <p:nvPr/>
        </p:nvCxnSpPr>
        <p:spPr>
          <a:xfrm flipH="1">
            <a:off x="6518276" y="4765675"/>
            <a:ext cx="246063" cy="596900"/>
          </a:xfrm>
          <a:prstGeom prst="straightConnector1">
            <a:avLst/>
          </a:prstGeom>
          <a:ln w="12700">
            <a:tailEnd type="stealth" w="lg" len="lg"/>
          </a:ln>
        </p:spPr>
        <p:style>
          <a:lnRef idx="1">
            <a:schemeClr val="accent1"/>
          </a:lnRef>
          <a:fillRef idx="0">
            <a:schemeClr val="accent1"/>
          </a:fillRef>
          <a:effectRef idx="0">
            <a:schemeClr val="accent1"/>
          </a:effectRef>
          <a:fontRef idx="minor">
            <a:schemeClr val="tx1"/>
          </a:fontRef>
        </p:style>
      </p:cxnSp>
      <p:cxnSp>
        <p:nvCxnSpPr>
          <p:cNvPr id="53" name="直接箭头连接符 52">
            <a:extLst>
              <a:ext uri="{FF2B5EF4-FFF2-40B4-BE49-F238E27FC236}">
                <a16:creationId xmlns:a16="http://schemas.microsoft.com/office/drawing/2014/main" id="{DA774865-EB73-40E1-9446-6F00AE710B2D}"/>
              </a:ext>
            </a:extLst>
          </p:cNvPr>
          <p:cNvCxnSpPr>
            <a:cxnSpLocks/>
            <a:stCxn id="39" idx="2"/>
            <a:endCxn id="7184" idx="0"/>
          </p:cNvCxnSpPr>
          <p:nvPr/>
        </p:nvCxnSpPr>
        <p:spPr>
          <a:xfrm flipH="1">
            <a:off x="6518276" y="4765675"/>
            <a:ext cx="1281113" cy="596900"/>
          </a:xfrm>
          <a:prstGeom prst="straightConnector1">
            <a:avLst/>
          </a:prstGeom>
          <a:ln w="12700">
            <a:tailEnd type="stealth" w="lg" len="lg"/>
          </a:ln>
        </p:spPr>
        <p:style>
          <a:lnRef idx="1">
            <a:schemeClr val="accent1"/>
          </a:lnRef>
          <a:fillRef idx="0">
            <a:schemeClr val="accent1"/>
          </a:fillRef>
          <a:effectRef idx="0">
            <a:schemeClr val="accent1"/>
          </a:effectRef>
          <a:fontRef idx="minor">
            <a:schemeClr val="tx1"/>
          </a:fontRef>
        </p:style>
      </p:cxnSp>
      <p:cxnSp>
        <p:nvCxnSpPr>
          <p:cNvPr id="59" name="直接箭头连接符 58">
            <a:extLst>
              <a:ext uri="{FF2B5EF4-FFF2-40B4-BE49-F238E27FC236}">
                <a16:creationId xmlns:a16="http://schemas.microsoft.com/office/drawing/2014/main" id="{5443C490-6890-4B82-8D50-BF6FD1DD3EEA}"/>
              </a:ext>
            </a:extLst>
          </p:cNvPr>
          <p:cNvCxnSpPr>
            <a:cxnSpLocks/>
          </p:cNvCxnSpPr>
          <p:nvPr/>
        </p:nvCxnSpPr>
        <p:spPr>
          <a:xfrm>
            <a:off x="6397625" y="5703889"/>
            <a:ext cx="6350" cy="312737"/>
          </a:xfrm>
          <a:prstGeom prst="straightConnector1">
            <a:avLst/>
          </a:prstGeom>
          <a:ln w="12700">
            <a:tailEnd type="stealth" w="lg" len="lg"/>
          </a:ln>
        </p:spPr>
        <p:style>
          <a:lnRef idx="1">
            <a:schemeClr val="accent1"/>
          </a:lnRef>
          <a:fillRef idx="0">
            <a:schemeClr val="accent1"/>
          </a:fillRef>
          <a:effectRef idx="0">
            <a:schemeClr val="accent1"/>
          </a:effectRef>
          <a:fontRef idx="minor">
            <a:schemeClr val="tx1"/>
          </a:fontRef>
        </p:style>
      </p:cxnSp>
      <p:sp>
        <p:nvSpPr>
          <p:cNvPr id="7193" name="文本框 65">
            <a:extLst>
              <a:ext uri="{FF2B5EF4-FFF2-40B4-BE49-F238E27FC236}">
                <a16:creationId xmlns:a16="http://schemas.microsoft.com/office/drawing/2014/main" id="{84015CE3-E5F0-4D7B-A85C-2A5BDE34D88E}"/>
              </a:ext>
            </a:extLst>
          </p:cNvPr>
          <p:cNvSpPr txBox="1">
            <a:spLocks noChangeArrowheads="1"/>
          </p:cNvSpPr>
          <p:nvPr/>
        </p:nvSpPr>
        <p:spPr bwMode="auto">
          <a:xfrm>
            <a:off x="3435351" y="5973764"/>
            <a:ext cx="4418013"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algn="ctr">
              <a:spcBef>
                <a:spcPct val="0"/>
              </a:spcBef>
              <a:buFontTx/>
              <a:buNone/>
            </a:pPr>
            <a:r>
              <a:rPr lang="en-US" altLang="zh-CN" sz="1800">
                <a:latin typeface="Arial" panose="020B0604020202020204" pitchFamily="34" charset="0"/>
              </a:rPr>
              <a:t>Micro ISA</a:t>
            </a:r>
            <a:r>
              <a:rPr lang="zh-CN" altLang="en-US" sz="1800">
                <a:latin typeface="Arial" panose="020B0604020202020204" pitchFamily="34" charset="0"/>
              </a:rPr>
              <a:t>（数据通路、存储层次</a:t>
            </a:r>
            <a:r>
              <a:rPr lang="en-US" altLang="zh-CN" sz="1800">
                <a:latin typeface="Arial" panose="020B0604020202020204" pitchFamily="34" charset="0"/>
              </a:rPr>
              <a:t>…</a:t>
            </a:r>
            <a:r>
              <a:rPr lang="zh-CN" altLang="en-US" sz="1800">
                <a:latin typeface="Arial" panose="020B0604020202020204" pitchFamily="34" charset="0"/>
              </a:rPr>
              <a:t>）</a:t>
            </a:r>
            <a:r>
              <a:rPr lang="en-US" altLang="zh-CN" sz="1800">
                <a:latin typeface="Arial" panose="020B0604020202020204" pitchFamily="34" charset="0"/>
              </a:rPr>
              <a:t> </a:t>
            </a:r>
            <a:endParaRPr lang="zh-CN" altLang="en-US" sz="1800">
              <a:latin typeface="Arial" panose="020B0604020202020204" pitchFamily="34" charset="0"/>
            </a:endParaRPr>
          </a:p>
        </p:txBody>
      </p:sp>
      <p:sp>
        <p:nvSpPr>
          <p:cNvPr id="69" name="文本框 68">
            <a:extLst>
              <a:ext uri="{FF2B5EF4-FFF2-40B4-BE49-F238E27FC236}">
                <a16:creationId xmlns:a16="http://schemas.microsoft.com/office/drawing/2014/main" id="{47D3AFAA-0421-44FF-8554-DFF9E53DFB55}"/>
              </a:ext>
            </a:extLst>
          </p:cNvPr>
          <p:cNvSpPr txBox="1"/>
          <p:nvPr/>
        </p:nvSpPr>
        <p:spPr>
          <a:xfrm>
            <a:off x="7897813" y="5915025"/>
            <a:ext cx="1892300" cy="369888"/>
          </a:xfrm>
          <a:prstGeom prst="rect">
            <a:avLst/>
          </a:prstGeom>
          <a:solidFill>
            <a:schemeClr val="accent6">
              <a:lumMod val="40000"/>
              <a:lumOff val="60000"/>
            </a:schemeClr>
          </a:solidFill>
        </p:spPr>
        <p:txBody>
          <a:bodyPr>
            <a:spAutoFit/>
          </a:bodyPr>
          <a:lstStyle/>
          <a:p>
            <a:pPr algn="ctr">
              <a:defRPr/>
            </a:pPr>
            <a:r>
              <a:rPr lang="zh-CN" altLang="en-US" dirty="0"/>
              <a:t>计算机系统</a:t>
            </a:r>
            <a:r>
              <a:rPr lang="en-US" altLang="zh-CN" dirty="0"/>
              <a:t>3</a:t>
            </a:r>
            <a:endParaRPr lang="zh-CN" altLang="en-US" dirty="0"/>
          </a:p>
        </p:txBody>
      </p:sp>
      <p:cxnSp>
        <p:nvCxnSpPr>
          <p:cNvPr id="7192" name="直接连接符 7191">
            <a:extLst>
              <a:ext uri="{FF2B5EF4-FFF2-40B4-BE49-F238E27FC236}">
                <a16:creationId xmlns:a16="http://schemas.microsoft.com/office/drawing/2014/main" id="{805F50D6-3A7F-496D-9179-3298767D29A4}"/>
              </a:ext>
            </a:extLst>
          </p:cNvPr>
          <p:cNvCxnSpPr/>
          <p:nvPr/>
        </p:nvCxnSpPr>
        <p:spPr>
          <a:xfrm>
            <a:off x="7269163" y="4113213"/>
            <a:ext cx="0" cy="1433512"/>
          </a:xfrm>
          <a:prstGeom prst="line">
            <a:avLst/>
          </a:prstGeom>
          <a:ln w="19050">
            <a:prstDash val="dash"/>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2"/>
          </p:nvPr>
        </p:nvSpPr>
        <p:spPr/>
        <p:txBody>
          <a:bodyPr/>
          <a:lstStyle/>
          <a:p>
            <a:pPr>
              <a:defRPr/>
            </a:pPr>
            <a:fld id="{891184C0-916E-4CCA-8FFE-169A3289BBF6}" type="slidenum">
              <a:rPr lang="zh-CN" altLang="en-US" smtClean="0"/>
              <a:pPr>
                <a:defRPr/>
              </a:pPr>
              <a:t>6</a:t>
            </a:fld>
            <a:endParaRPr lang="zh-CN" altLang="en-US"/>
          </a:p>
        </p:txBody>
      </p:sp>
      <p:sp>
        <p:nvSpPr>
          <p:cNvPr id="3" name="文本框 2"/>
          <p:cNvSpPr txBox="1"/>
          <p:nvPr/>
        </p:nvSpPr>
        <p:spPr>
          <a:xfrm>
            <a:off x="880110" y="868680"/>
            <a:ext cx="10206990" cy="830997"/>
          </a:xfrm>
          <a:prstGeom prst="rect">
            <a:avLst/>
          </a:prstGeom>
          <a:noFill/>
        </p:spPr>
        <p:txBody>
          <a:bodyPr wrap="square" rtlCol="0">
            <a:spAutoFit/>
          </a:bodyPr>
          <a:lstStyle/>
          <a:p>
            <a:r>
              <a:rPr lang="zh-CN" altLang="en-US" sz="2400" b="1" dirty="0"/>
              <a:t>计算机系统：</a:t>
            </a:r>
            <a:r>
              <a:rPr lang="zh-CN" altLang="en-US" sz="2400" dirty="0"/>
              <a:t>由硬件和系统软件组成，应用程序运行在计算机系统之上。</a:t>
            </a:r>
            <a:endParaRPr lang="en-US" altLang="zh-CN" sz="2400" dirty="0"/>
          </a:p>
          <a:p>
            <a:endParaRPr lang="en-US" altLang="zh-CN" sz="2400" dirty="0"/>
          </a:p>
        </p:txBody>
      </p:sp>
      <p:sp>
        <p:nvSpPr>
          <p:cNvPr id="4" name="矩形 3"/>
          <p:cNvSpPr/>
          <p:nvPr/>
        </p:nvSpPr>
        <p:spPr>
          <a:xfrm>
            <a:off x="1868239" y="2689186"/>
            <a:ext cx="6096000" cy="2308324"/>
          </a:xfrm>
          <a:prstGeom prst="rect">
            <a:avLst/>
          </a:prstGeom>
        </p:spPr>
        <p:txBody>
          <a:bodyPr>
            <a:spAutoFit/>
          </a:bodyPr>
          <a:lstStyle/>
          <a:p>
            <a:r>
              <a:rPr lang="en-US" altLang="zh-CN" i="1" dirty="0">
                <a:solidFill>
                  <a:srgbClr val="000000"/>
                </a:solidFill>
                <a:latin typeface="TimesTen-Italic"/>
              </a:rPr>
              <a:t>code/intro/</a:t>
            </a:r>
            <a:r>
              <a:rPr lang="en-US" altLang="zh-CN" i="1" dirty="0" err="1">
                <a:solidFill>
                  <a:srgbClr val="000000"/>
                </a:solidFill>
                <a:latin typeface="TimesTen-Italic"/>
              </a:rPr>
              <a:t>hello.c</a:t>
            </a:r>
            <a:endParaRPr lang="en-US" altLang="zh-CN" i="1" dirty="0">
              <a:solidFill>
                <a:srgbClr val="000000"/>
              </a:solidFill>
              <a:latin typeface="TimesTen-Italic"/>
            </a:endParaRPr>
          </a:p>
          <a:p>
            <a:r>
              <a:rPr lang="en-US" altLang="zh-CN" dirty="0">
                <a:solidFill>
                  <a:srgbClr val="00AEF0"/>
                </a:solidFill>
                <a:latin typeface="StoneSans"/>
              </a:rPr>
              <a:t>1 </a:t>
            </a:r>
            <a:r>
              <a:rPr lang="en-US" altLang="zh-CN" dirty="0">
                <a:solidFill>
                  <a:srgbClr val="000000"/>
                </a:solidFill>
                <a:latin typeface="ZztexMono-Regular"/>
              </a:rPr>
              <a:t>#include &lt;</a:t>
            </a:r>
            <a:r>
              <a:rPr lang="en-US" altLang="zh-CN" dirty="0" err="1">
                <a:solidFill>
                  <a:srgbClr val="000000"/>
                </a:solidFill>
                <a:latin typeface="ZztexMono-Regular"/>
              </a:rPr>
              <a:t>stdio.h</a:t>
            </a:r>
            <a:r>
              <a:rPr lang="en-US" altLang="zh-CN" dirty="0">
                <a:solidFill>
                  <a:srgbClr val="000000"/>
                </a:solidFill>
                <a:latin typeface="ZztexMono-Regular"/>
              </a:rPr>
              <a:t>&gt;</a:t>
            </a:r>
          </a:p>
          <a:p>
            <a:r>
              <a:rPr lang="en-US" altLang="zh-CN" dirty="0">
                <a:solidFill>
                  <a:srgbClr val="00AEF0"/>
                </a:solidFill>
                <a:latin typeface="StoneSans"/>
              </a:rPr>
              <a:t>2</a:t>
            </a:r>
          </a:p>
          <a:p>
            <a:r>
              <a:rPr lang="en-US" altLang="zh-CN" dirty="0">
                <a:solidFill>
                  <a:srgbClr val="00AEF0"/>
                </a:solidFill>
                <a:latin typeface="StoneSans"/>
              </a:rPr>
              <a:t>3 </a:t>
            </a:r>
            <a:r>
              <a:rPr lang="en-US" altLang="zh-CN" dirty="0" err="1">
                <a:solidFill>
                  <a:srgbClr val="000000"/>
                </a:solidFill>
                <a:latin typeface="ZztexMono-Regular"/>
              </a:rPr>
              <a:t>int</a:t>
            </a:r>
            <a:r>
              <a:rPr lang="en-US" altLang="zh-CN" dirty="0">
                <a:solidFill>
                  <a:srgbClr val="000000"/>
                </a:solidFill>
                <a:latin typeface="ZztexMono-Regular"/>
              </a:rPr>
              <a:t> main()</a:t>
            </a:r>
          </a:p>
          <a:p>
            <a:r>
              <a:rPr lang="en-US" altLang="zh-CN" dirty="0">
                <a:solidFill>
                  <a:srgbClr val="00AEF0"/>
                </a:solidFill>
                <a:latin typeface="StoneSans"/>
              </a:rPr>
              <a:t>4 </a:t>
            </a:r>
            <a:r>
              <a:rPr lang="en-US" altLang="zh-CN" dirty="0">
                <a:solidFill>
                  <a:srgbClr val="000000"/>
                </a:solidFill>
                <a:latin typeface="ZztexMono-Regular"/>
              </a:rPr>
              <a:t>{</a:t>
            </a:r>
          </a:p>
          <a:p>
            <a:r>
              <a:rPr lang="en-US" altLang="zh-CN" dirty="0">
                <a:solidFill>
                  <a:srgbClr val="00AEF0"/>
                </a:solidFill>
                <a:latin typeface="StoneSans"/>
              </a:rPr>
              <a:t>5 	</a:t>
            </a:r>
            <a:r>
              <a:rPr lang="en-US" altLang="zh-CN" dirty="0" err="1">
                <a:solidFill>
                  <a:srgbClr val="000000"/>
                </a:solidFill>
                <a:latin typeface="ZztexMono-Regular"/>
              </a:rPr>
              <a:t>printf</a:t>
            </a:r>
            <a:r>
              <a:rPr lang="en-US" altLang="zh-CN" dirty="0">
                <a:solidFill>
                  <a:srgbClr val="000000"/>
                </a:solidFill>
                <a:latin typeface="ZztexMono-Regular"/>
              </a:rPr>
              <a:t>("hello, world\n");</a:t>
            </a:r>
          </a:p>
          <a:p>
            <a:r>
              <a:rPr lang="en-US" altLang="zh-CN" dirty="0">
                <a:solidFill>
                  <a:srgbClr val="00AEF0"/>
                </a:solidFill>
                <a:latin typeface="StoneSans"/>
              </a:rPr>
              <a:t>6 </a:t>
            </a:r>
            <a:r>
              <a:rPr lang="en-US" altLang="zh-CN" dirty="0">
                <a:solidFill>
                  <a:srgbClr val="000000"/>
                </a:solidFill>
                <a:latin typeface="ZztexMono-Regular"/>
              </a:rPr>
              <a:t>}</a:t>
            </a:r>
          </a:p>
          <a:p>
            <a:r>
              <a:rPr lang="en-US" altLang="zh-CN" i="1" dirty="0">
                <a:solidFill>
                  <a:srgbClr val="000000"/>
                </a:solidFill>
                <a:latin typeface="TimesTen-Italic"/>
              </a:rPr>
              <a:t>code/intro/</a:t>
            </a:r>
            <a:r>
              <a:rPr lang="en-US" altLang="zh-CN" i="1" dirty="0" err="1">
                <a:solidFill>
                  <a:srgbClr val="000000"/>
                </a:solidFill>
                <a:latin typeface="TimesTen-Italic"/>
              </a:rPr>
              <a:t>hello.c</a:t>
            </a:r>
            <a:endParaRPr lang="zh-CN" altLang="en-US" dirty="0"/>
          </a:p>
        </p:txBody>
      </p:sp>
      <p:sp>
        <p:nvSpPr>
          <p:cNvPr id="5" name="文本框 4"/>
          <p:cNvSpPr txBox="1"/>
          <p:nvPr/>
        </p:nvSpPr>
        <p:spPr>
          <a:xfrm>
            <a:off x="1868239" y="2319854"/>
            <a:ext cx="4027170" cy="369332"/>
          </a:xfrm>
          <a:prstGeom prst="rect">
            <a:avLst/>
          </a:prstGeom>
          <a:noFill/>
        </p:spPr>
        <p:txBody>
          <a:bodyPr wrap="square" rtlCol="0">
            <a:spAutoFit/>
          </a:bodyPr>
          <a:lstStyle/>
          <a:p>
            <a:r>
              <a:rPr lang="zh-CN" altLang="en-US" dirty="0">
                <a:solidFill>
                  <a:srgbClr val="FF0000"/>
                </a:solidFill>
              </a:rPr>
              <a:t>揭示</a:t>
            </a:r>
            <a:r>
              <a:rPr lang="en-US" altLang="zh-CN" dirty="0" err="1">
                <a:solidFill>
                  <a:srgbClr val="FF0000"/>
                </a:solidFill>
              </a:rPr>
              <a:t>Helloworld</a:t>
            </a:r>
            <a:r>
              <a:rPr lang="zh-CN" altLang="en-US" dirty="0">
                <a:solidFill>
                  <a:srgbClr val="FF0000"/>
                </a:solidFill>
              </a:rPr>
              <a:t>程序后面的精彩！！！</a:t>
            </a:r>
          </a:p>
        </p:txBody>
      </p:sp>
    </p:spTree>
    <p:extLst>
      <p:ext uri="{BB962C8B-B14F-4D97-AF65-F5344CB8AC3E}">
        <p14:creationId xmlns:p14="http://schemas.microsoft.com/office/powerpoint/2010/main" val="207816792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16126" name="Picture 30"/>
          <p:cNvPicPr>
            <a:picLocks noChangeAspect="1" noChangeArrowheads="1"/>
          </p:cNvPicPr>
          <p:nvPr/>
        </p:nvPicPr>
        <p:blipFill>
          <a:blip r:embed="rId3"/>
          <a:srcRect/>
          <a:stretch>
            <a:fillRect/>
          </a:stretch>
        </p:blipFill>
        <p:spPr bwMode="auto">
          <a:xfrm>
            <a:off x="4801736" y="3118077"/>
            <a:ext cx="6192837" cy="2339975"/>
          </a:xfrm>
          <a:prstGeom prst="rect">
            <a:avLst/>
          </a:prstGeom>
          <a:noFill/>
        </p:spPr>
      </p:pic>
      <p:sp>
        <p:nvSpPr>
          <p:cNvPr id="516098" name="Rectangle 2"/>
          <p:cNvSpPr>
            <a:spLocks noGrp="1" noChangeArrowheads="1"/>
          </p:cNvSpPr>
          <p:nvPr>
            <p:ph type="title"/>
          </p:nvPr>
        </p:nvSpPr>
        <p:spPr>
          <a:xfrm>
            <a:off x="2686050" y="506638"/>
            <a:ext cx="5987143" cy="561975"/>
          </a:xfrm>
        </p:spPr>
        <p:txBody>
          <a:bodyPr>
            <a:noAutofit/>
          </a:bodyPr>
          <a:lstStyle/>
          <a:p>
            <a:r>
              <a:rPr lang="zh-CN" altLang="en-US" dirty="0"/>
              <a:t>课程内容概要</a:t>
            </a:r>
          </a:p>
        </p:txBody>
      </p:sp>
      <p:sp>
        <p:nvSpPr>
          <p:cNvPr id="516100" name="Rectangle 4"/>
          <p:cNvSpPr>
            <a:spLocks noChangeArrowheads="1"/>
          </p:cNvSpPr>
          <p:nvPr/>
        </p:nvSpPr>
        <p:spPr bwMode="auto">
          <a:xfrm>
            <a:off x="2029961" y="1047977"/>
            <a:ext cx="4167187" cy="2835275"/>
          </a:xfrm>
          <a:prstGeom prst="rect">
            <a:avLst/>
          </a:prstGeom>
          <a:noFill/>
          <a:ln w="9525">
            <a:noFill/>
            <a:miter lim="800000"/>
            <a:headEnd/>
            <a:tailEnd/>
          </a:ln>
        </p:spPr>
        <p:txBody>
          <a:bodyPr/>
          <a:lstStyle/>
          <a:p>
            <a:pPr marL="342900" indent="-342900" eaLnBrk="0" hangingPunct="0">
              <a:spcBef>
                <a:spcPct val="10000"/>
              </a:spcBef>
            </a:pPr>
            <a:r>
              <a:rPr lang="en-US" altLang="zh-CN" sz="2200" b="1">
                <a:solidFill>
                  <a:schemeClr val="accent2"/>
                </a:solidFill>
              </a:rPr>
              <a:t>/*---sum.c---*/</a:t>
            </a:r>
          </a:p>
          <a:p>
            <a:pPr marL="342900" indent="-342900" eaLnBrk="0" hangingPunct="0">
              <a:lnSpc>
                <a:spcPct val="115000"/>
              </a:lnSpc>
              <a:spcBef>
                <a:spcPct val="20000"/>
              </a:spcBef>
            </a:pPr>
            <a:r>
              <a:rPr lang="en-US" altLang="zh-CN" sz="2200" b="1"/>
              <a:t>int sum(int a[ ], unsigned len)</a:t>
            </a:r>
          </a:p>
          <a:p>
            <a:pPr marL="342900" indent="-342900" eaLnBrk="0" hangingPunct="0"/>
            <a:r>
              <a:rPr lang="en-US" altLang="zh-CN" sz="2200" b="1"/>
              <a:t>{</a:t>
            </a:r>
          </a:p>
          <a:p>
            <a:pPr marL="342900" indent="-342900" eaLnBrk="0" hangingPunct="0"/>
            <a:r>
              <a:rPr lang="en-US" altLang="zh-CN" sz="2200" b="1"/>
              <a:t>	int 	i</a:t>
            </a:r>
            <a:r>
              <a:rPr lang="zh-CN" altLang="en-US" sz="2200" b="1"/>
              <a:t>，</a:t>
            </a:r>
            <a:r>
              <a:rPr lang="en-US" altLang="zh-CN" sz="2200" b="1"/>
              <a:t>sum = 0;</a:t>
            </a:r>
          </a:p>
          <a:p>
            <a:pPr marL="342900" indent="-342900" eaLnBrk="0" hangingPunct="0"/>
            <a:r>
              <a:rPr lang="en-US" altLang="zh-CN" sz="2200" b="1"/>
              <a:t>	for	(i = 0; i &lt;= len–1; i++)</a:t>
            </a:r>
          </a:p>
          <a:p>
            <a:pPr marL="342900" indent="-342900" eaLnBrk="0" hangingPunct="0"/>
            <a:r>
              <a:rPr lang="en-US" altLang="zh-CN" sz="2200" b="1"/>
              <a:t>      	sum += a[i];</a:t>
            </a:r>
          </a:p>
          <a:p>
            <a:pPr marL="342900" indent="-342900" eaLnBrk="0" hangingPunct="0"/>
            <a:r>
              <a:rPr lang="en-US" altLang="zh-CN" sz="2200" b="1"/>
              <a:t>	return sum;</a:t>
            </a:r>
          </a:p>
          <a:p>
            <a:pPr marL="342900" indent="-342900" eaLnBrk="0" hangingPunct="0"/>
            <a:r>
              <a:rPr lang="en-US" altLang="zh-CN" sz="2200" b="1"/>
              <a:t>}</a:t>
            </a:r>
            <a:endParaRPr lang="zh-CN" altLang="en-US" sz="2200" b="1"/>
          </a:p>
        </p:txBody>
      </p:sp>
      <p:sp>
        <p:nvSpPr>
          <p:cNvPr id="516102" name="Rectangle 6"/>
          <p:cNvSpPr>
            <a:spLocks noChangeArrowheads="1"/>
          </p:cNvSpPr>
          <p:nvPr/>
        </p:nvSpPr>
        <p:spPr bwMode="auto">
          <a:xfrm>
            <a:off x="2056948" y="4062640"/>
            <a:ext cx="3376613" cy="2835275"/>
          </a:xfrm>
          <a:prstGeom prst="rect">
            <a:avLst/>
          </a:prstGeom>
          <a:noFill/>
          <a:ln w="9525">
            <a:noFill/>
            <a:miter lim="800000"/>
            <a:headEnd/>
            <a:tailEnd/>
          </a:ln>
        </p:spPr>
        <p:txBody>
          <a:bodyPr/>
          <a:lstStyle/>
          <a:p>
            <a:pPr marL="342900" indent="-342900" eaLnBrk="0" hangingPunct="0">
              <a:spcBef>
                <a:spcPct val="10000"/>
              </a:spcBef>
            </a:pPr>
            <a:r>
              <a:rPr lang="en-US" altLang="zh-CN" sz="2200" b="1">
                <a:solidFill>
                  <a:schemeClr val="accent2"/>
                </a:solidFill>
              </a:rPr>
              <a:t>/*---main.c---*/</a:t>
            </a:r>
          </a:p>
          <a:p>
            <a:pPr marL="342900" indent="-342900" eaLnBrk="0" hangingPunct="0">
              <a:spcBef>
                <a:spcPct val="10000"/>
              </a:spcBef>
            </a:pPr>
            <a:r>
              <a:rPr lang="en-US" altLang="zh-CN" sz="2200" b="1"/>
              <a:t>int main()</a:t>
            </a:r>
            <a:endParaRPr lang="zh-CN" altLang="en-US" sz="2200" b="1"/>
          </a:p>
          <a:p>
            <a:pPr marL="342900" indent="-342900" eaLnBrk="0" hangingPunct="0"/>
            <a:r>
              <a:rPr lang="en-US" altLang="zh-CN" sz="2200" b="1"/>
              <a:t>{</a:t>
            </a:r>
          </a:p>
          <a:p>
            <a:pPr marL="342900" indent="-342900" eaLnBrk="0" hangingPunct="0"/>
            <a:r>
              <a:rPr lang="en-US" altLang="zh-CN" sz="2200" b="1"/>
              <a:t>	int 	a[1]={100};</a:t>
            </a:r>
          </a:p>
          <a:p>
            <a:pPr marL="342900" indent="-342900" eaLnBrk="0" hangingPunct="0"/>
            <a:r>
              <a:rPr lang="en-US" altLang="zh-CN" sz="2200" b="1"/>
              <a:t>	int   sum; sum=sum(a,0);</a:t>
            </a:r>
          </a:p>
          <a:p>
            <a:pPr marL="342900" indent="-342900" eaLnBrk="0" hangingPunct="0"/>
            <a:r>
              <a:rPr lang="en-US" altLang="zh-CN" sz="2200" b="1"/>
              <a:t>    printf(“%d”,sum);</a:t>
            </a:r>
          </a:p>
          <a:p>
            <a:pPr marL="342900" indent="-342900" eaLnBrk="0" hangingPunct="0"/>
            <a:r>
              <a:rPr lang="en-US" altLang="zh-CN" sz="2200" b="1"/>
              <a:t>}</a:t>
            </a:r>
            <a:endParaRPr lang="zh-CN" altLang="en-US" sz="2200" b="1"/>
          </a:p>
        </p:txBody>
      </p:sp>
      <p:grpSp>
        <p:nvGrpSpPr>
          <p:cNvPr id="516127" name="Group 31"/>
          <p:cNvGrpSpPr>
            <a:grpSpLocks/>
          </p:cNvGrpSpPr>
          <p:nvPr/>
        </p:nvGrpSpPr>
        <p:grpSpPr bwMode="auto">
          <a:xfrm>
            <a:off x="3857173" y="1047977"/>
            <a:ext cx="6075363" cy="4454525"/>
            <a:chOff x="1264" y="516"/>
            <a:chExt cx="3827" cy="2806"/>
          </a:xfrm>
        </p:grpSpPr>
        <p:sp>
          <p:nvSpPr>
            <p:cNvPr id="516104" name="Line 8"/>
            <p:cNvSpPr>
              <a:spLocks noChangeShapeType="1"/>
            </p:cNvSpPr>
            <p:nvPr/>
          </p:nvSpPr>
          <p:spPr bwMode="auto">
            <a:xfrm>
              <a:off x="1264" y="3294"/>
              <a:ext cx="312" cy="0"/>
            </a:xfrm>
            <a:prstGeom prst="line">
              <a:avLst/>
            </a:prstGeom>
            <a:noFill/>
            <a:ln w="38100">
              <a:solidFill>
                <a:srgbClr val="FF0000"/>
              </a:solidFill>
              <a:round/>
              <a:headEnd/>
              <a:tailEnd/>
            </a:ln>
            <a:effectLst/>
          </p:spPr>
          <p:txBody>
            <a:bodyPr/>
            <a:lstStyle/>
            <a:p>
              <a:endParaRPr lang="zh-CN" altLang="en-US"/>
            </a:p>
          </p:txBody>
        </p:sp>
        <p:sp>
          <p:nvSpPr>
            <p:cNvPr id="516106" name="Line 10"/>
            <p:cNvSpPr>
              <a:spLocks noChangeShapeType="1"/>
            </p:cNvSpPr>
            <p:nvPr/>
          </p:nvSpPr>
          <p:spPr bwMode="auto">
            <a:xfrm flipV="1">
              <a:off x="1576" y="686"/>
              <a:ext cx="1786" cy="2636"/>
            </a:xfrm>
            <a:prstGeom prst="line">
              <a:avLst/>
            </a:prstGeom>
            <a:noFill/>
            <a:ln w="9525">
              <a:solidFill>
                <a:srgbClr val="FF0000"/>
              </a:solidFill>
              <a:round/>
              <a:headEnd/>
              <a:tailEnd type="triangle" w="med" len="med"/>
            </a:ln>
            <a:effectLst/>
          </p:spPr>
          <p:txBody>
            <a:bodyPr/>
            <a:lstStyle/>
            <a:p>
              <a:endParaRPr lang="zh-CN" altLang="en-US"/>
            </a:p>
          </p:txBody>
        </p:sp>
        <p:sp>
          <p:nvSpPr>
            <p:cNvPr id="516107" name="Text Box 11"/>
            <p:cNvSpPr txBox="1">
              <a:spLocks noChangeArrowheads="1"/>
            </p:cNvSpPr>
            <p:nvPr/>
          </p:nvSpPr>
          <p:spPr bwMode="auto">
            <a:xfrm>
              <a:off x="3334" y="516"/>
              <a:ext cx="1757" cy="250"/>
            </a:xfrm>
            <a:prstGeom prst="rect">
              <a:avLst/>
            </a:prstGeom>
            <a:noFill/>
            <a:ln w="9525">
              <a:noFill/>
              <a:miter lim="800000"/>
              <a:headEnd/>
              <a:tailEnd/>
            </a:ln>
            <a:effectLst/>
          </p:spPr>
          <p:txBody>
            <a:bodyPr wrap="square">
              <a:spAutoFit/>
            </a:bodyPr>
            <a:lstStyle/>
            <a:p>
              <a:pPr>
                <a:spcBef>
                  <a:spcPct val="50000"/>
                </a:spcBef>
              </a:pPr>
              <a:r>
                <a:rPr lang="zh-CN" altLang="en-US" sz="2000" b="1" dirty="0">
                  <a:solidFill>
                    <a:srgbClr val="FF0000"/>
                  </a:solidFill>
                  <a:ea typeface="微软雅黑" pitchFamily="34" charset="-122"/>
                </a:rPr>
                <a:t>数据的表示</a:t>
              </a:r>
              <a:r>
                <a:rPr lang="zh-CN" altLang="en-US" sz="2000" b="1" dirty="0">
                  <a:solidFill>
                    <a:schemeClr val="accent4"/>
                  </a:solidFill>
                  <a:ea typeface="微软雅黑" pitchFamily="34" charset="-122"/>
                </a:rPr>
                <a:t>（第</a:t>
              </a:r>
              <a:r>
                <a:rPr lang="en-US" altLang="zh-CN" sz="2000" b="1" dirty="0">
                  <a:solidFill>
                    <a:schemeClr val="accent4"/>
                  </a:solidFill>
                  <a:ea typeface="微软雅黑" pitchFamily="34" charset="-122"/>
                </a:rPr>
                <a:t>2</a:t>
              </a:r>
              <a:r>
                <a:rPr lang="zh-CN" altLang="en-US" sz="2000" b="1" dirty="0">
                  <a:solidFill>
                    <a:schemeClr val="accent4"/>
                  </a:solidFill>
                  <a:ea typeface="微软雅黑" pitchFamily="34" charset="-122"/>
                </a:rPr>
                <a:t>章）</a:t>
              </a:r>
            </a:p>
          </p:txBody>
        </p:sp>
      </p:grpSp>
      <p:grpSp>
        <p:nvGrpSpPr>
          <p:cNvPr id="516128" name="Group 32"/>
          <p:cNvGrpSpPr>
            <a:grpSpLocks/>
          </p:cNvGrpSpPr>
          <p:nvPr/>
        </p:nvGrpSpPr>
        <p:grpSpPr bwMode="auto">
          <a:xfrm>
            <a:off x="3001510" y="1452790"/>
            <a:ext cx="7156450" cy="1755775"/>
            <a:chOff x="725" y="771"/>
            <a:chExt cx="4508" cy="1106"/>
          </a:xfrm>
        </p:grpSpPr>
        <p:sp>
          <p:nvSpPr>
            <p:cNvPr id="516108" name="Line 12"/>
            <p:cNvSpPr>
              <a:spLocks noChangeShapeType="1"/>
            </p:cNvSpPr>
            <p:nvPr/>
          </p:nvSpPr>
          <p:spPr bwMode="auto">
            <a:xfrm>
              <a:off x="725" y="1877"/>
              <a:ext cx="993" cy="0"/>
            </a:xfrm>
            <a:prstGeom prst="line">
              <a:avLst/>
            </a:prstGeom>
            <a:noFill/>
            <a:ln w="38100">
              <a:solidFill>
                <a:srgbClr val="0066FF"/>
              </a:solidFill>
              <a:round/>
              <a:headEnd/>
              <a:tailEnd/>
            </a:ln>
            <a:effectLst/>
          </p:spPr>
          <p:txBody>
            <a:bodyPr/>
            <a:lstStyle/>
            <a:p>
              <a:endParaRPr lang="zh-CN" altLang="en-US"/>
            </a:p>
          </p:txBody>
        </p:sp>
        <p:sp>
          <p:nvSpPr>
            <p:cNvPr id="516109" name="Line 13"/>
            <p:cNvSpPr>
              <a:spLocks noChangeShapeType="1"/>
            </p:cNvSpPr>
            <p:nvPr/>
          </p:nvSpPr>
          <p:spPr bwMode="auto">
            <a:xfrm flipV="1">
              <a:off x="1718" y="941"/>
              <a:ext cx="1644" cy="936"/>
            </a:xfrm>
            <a:prstGeom prst="line">
              <a:avLst/>
            </a:prstGeom>
            <a:noFill/>
            <a:ln w="9525">
              <a:solidFill>
                <a:srgbClr val="0066FF"/>
              </a:solidFill>
              <a:round/>
              <a:headEnd/>
              <a:tailEnd type="triangle" w="med" len="med"/>
            </a:ln>
            <a:effectLst/>
          </p:spPr>
          <p:txBody>
            <a:bodyPr/>
            <a:lstStyle/>
            <a:p>
              <a:endParaRPr lang="zh-CN" altLang="en-US"/>
            </a:p>
          </p:txBody>
        </p:sp>
        <p:sp>
          <p:nvSpPr>
            <p:cNvPr id="516110" name="Text Box 14"/>
            <p:cNvSpPr txBox="1">
              <a:spLocks noChangeArrowheads="1"/>
            </p:cNvSpPr>
            <p:nvPr/>
          </p:nvSpPr>
          <p:spPr bwMode="auto">
            <a:xfrm>
              <a:off x="3334" y="771"/>
              <a:ext cx="1899" cy="252"/>
            </a:xfrm>
            <a:prstGeom prst="rect">
              <a:avLst/>
            </a:prstGeom>
            <a:noFill/>
            <a:ln w="9525">
              <a:noFill/>
              <a:miter lim="800000"/>
              <a:headEnd/>
              <a:tailEnd/>
            </a:ln>
            <a:effectLst/>
          </p:spPr>
          <p:txBody>
            <a:bodyPr wrap="square">
              <a:spAutoFit/>
            </a:bodyPr>
            <a:lstStyle/>
            <a:p>
              <a:pPr>
                <a:spcBef>
                  <a:spcPct val="50000"/>
                </a:spcBef>
              </a:pPr>
              <a:r>
                <a:rPr lang="zh-CN" altLang="en-US" sz="2000" b="1" dirty="0">
                  <a:solidFill>
                    <a:srgbClr val="0066CC"/>
                  </a:solidFill>
                  <a:ea typeface="微软雅黑" pitchFamily="34" charset="-122"/>
                </a:rPr>
                <a:t>数据的运算</a:t>
              </a:r>
              <a:r>
                <a:rPr lang="zh-CN" altLang="en-US" sz="2000" b="1" dirty="0">
                  <a:solidFill>
                    <a:schemeClr val="accent4"/>
                  </a:solidFill>
                  <a:ea typeface="微软雅黑" pitchFamily="34" charset="-122"/>
                </a:rPr>
                <a:t>（第</a:t>
              </a:r>
              <a:r>
                <a:rPr lang="en-US" altLang="zh-CN" sz="2000" b="1" dirty="0">
                  <a:solidFill>
                    <a:schemeClr val="accent4"/>
                  </a:solidFill>
                  <a:ea typeface="微软雅黑" pitchFamily="34" charset="-122"/>
                </a:rPr>
                <a:t>2</a:t>
              </a:r>
              <a:r>
                <a:rPr lang="zh-CN" altLang="en-US" sz="2000" b="1" dirty="0">
                  <a:solidFill>
                    <a:schemeClr val="accent4"/>
                  </a:solidFill>
                  <a:ea typeface="微软雅黑" pitchFamily="34" charset="-122"/>
                </a:rPr>
                <a:t>章）</a:t>
              </a:r>
            </a:p>
          </p:txBody>
        </p:sp>
      </p:grpSp>
      <p:grpSp>
        <p:nvGrpSpPr>
          <p:cNvPr id="516129" name="Group 33"/>
          <p:cNvGrpSpPr>
            <a:grpSpLocks/>
          </p:cNvGrpSpPr>
          <p:nvPr/>
        </p:nvGrpSpPr>
        <p:grpSpPr bwMode="auto">
          <a:xfrm>
            <a:off x="2415723" y="1902051"/>
            <a:ext cx="8145463" cy="1035050"/>
            <a:chOff x="356" y="1054"/>
            <a:chExt cx="5131" cy="652"/>
          </a:xfrm>
        </p:grpSpPr>
        <p:sp>
          <p:nvSpPr>
            <p:cNvPr id="516112" name="Line 16"/>
            <p:cNvSpPr>
              <a:spLocks noChangeShapeType="1"/>
            </p:cNvSpPr>
            <p:nvPr/>
          </p:nvSpPr>
          <p:spPr bwMode="auto">
            <a:xfrm flipV="1">
              <a:off x="356" y="1678"/>
              <a:ext cx="2041" cy="0"/>
            </a:xfrm>
            <a:prstGeom prst="line">
              <a:avLst/>
            </a:prstGeom>
            <a:noFill/>
            <a:ln w="38100">
              <a:solidFill>
                <a:srgbClr val="FF0000"/>
              </a:solidFill>
              <a:round/>
              <a:headEnd/>
              <a:tailEnd/>
            </a:ln>
            <a:effectLst/>
          </p:spPr>
          <p:txBody>
            <a:bodyPr/>
            <a:lstStyle/>
            <a:p>
              <a:endParaRPr lang="zh-CN" altLang="en-US"/>
            </a:p>
          </p:txBody>
        </p:sp>
        <p:sp>
          <p:nvSpPr>
            <p:cNvPr id="516113" name="Line 17"/>
            <p:cNvSpPr>
              <a:spLocks noChangeShapeType="1"/>
            </p:cNvSpPr>
            <p:nvPr/>
          </p:nvSpPr>
          <p:spPr bwMode="auto">
            <a:xfrm flipV="1">
              <a:off x="2397" y="1168"/>
              <a:ext cx="964" cy="538"/>
            </a:xfrm>
            <a:prstGeom prst="line">
              <a:avLst/>
            </a:prstGeom>
            <a:noFill/>
            <a:ln w="9525">
              <a:solidFill>
                <a:srgbClr val="FF0000"/>
              </a:solidFill>
              <a:round/>
              <a:headEnd/>
              <a:tailEnd type="triangle" w="med" len="med"/>
            </a:ln>
            <a:effectLst/>
          </p:spPr>
          <p:txBody>
            <a:bodyPr/>
            <a:lstStyle/>
            <a:p>
              <a:endParaRPr lang="zh-CN" altLang="en-US"/>
            </a:p>
          </p:txBody>
        </p:sp>
        <p:sp>
          <p:nvSpPr>
            <p:cNvPr id="516114" name="Text Box 18"/>
            <p:cNvSpPr txBox="1">
              <a:spLocks noChangeArrowheads="1"/>
            </p:cNvSpPr>
            <p:nvPr/>
          </p:nvSpPr>
          <p:spPr bwMode="auto">
            <a:xfrm>
              <a:off x="3305" y="1054"/>
              <a:ext cx="2182" cy="250"/>
            </a:xfrm>
            <a:prstGeom prst="rect">
              <a:avLst/>
            </a:prstGeom>
            <a:noFill/>
            <a:ln w="9525">
              <a:noFill/>
              <a:miter lim="800000"/>
              <a:headEnd/>
              <a:tailEnd/>
            </a:ln>
            <a:effectLst/>
          </p:spPr>
          <p:txBody>
            <a:bodyPr>
              <a:spAutoFit/>
            </a:bodyPr>
            <a:lstStyle/>
            <a:p>
              <a:pPr>
                <a:spcBef>
                  <a:spcPct val="50000"/>
                </a:spcBef>
              </a:pPr>
              <a:r>
                <a:rPr lang="zh-CN" altLang="en-US" sz="2000" b="1" dirty="0">
                  <a:solidFill>
                    <a:srgbClr val="FF0000"/>
                  </a:solidFill>
                  <a:ea typeface="微软雅黑" pitchFamily="34" charset="-122"/>
                </a:rPr>
                <a:t>各类语句的转换与表示</a:t>
              </a:r>
              <a:r>
                <a:rPr lang="en-US" altLang="zh-CN" sz="2000" b="1" dirty="0">
                  <a:solidFill>
                    <a:srgbClr val="FF0000"/>
                  </a:solidFill>
                  <a:ea typeface="微软雅黑" pitchFamily="34" charset="-122"/>
                </a:rPr>
                <a:t>(</a:t>
              </a:r>
              <a:r>
                <a:rPr lang="zh-CN" altLang="en-US" sz="2000" b="1" dirty="0">
                  <a:solidFill>
                    <a:srgbClr val="FF0000"/>
                  </a:solidFill>
                  <a:ea typeface="微软雅黑" pitchFamily="34" charset="-122"/>
                </a:rPr>
                <a:t>指令</a:t>
              </a:r>
              <a:r>
                <a:rPr lang="en-US" altLang="zh-CN" sz="2000" b="1" dirty="0">
                  <a:solidFill>
                    <a:srgbClr val="FF0000"/>
                  </a:solidFill>
                  <a:ea typeface="微软雅黑" pitchFamily="34" charset="-122"/>
                </a:rPr>
                <a:t>)</a:t>
              </a:r>
            </a:p>
          </p:txBody>
        </p:sp>
      </p:grpSp>
      <p:grpSp>
        <p:nvGrpSpPr>
          <p:cNvPr id="516130" name="Group 34"/>
          <p:cNvGrpSpPr>
            <a:grpSpLocks/>
          </p:cNvGrpSpPr>
          <p:nvPr/>
        </p:nvGrpSpPr>
        <p:grpSpPr bwMode="auto">
          <a:xfrm>
            <a:off x="2417310" y="2308451"/>
            <a:ext cx="8369300" cy="3194050"/>
            <a:chOff x="357" y="1310"/>
            <a:chExt cx="5272" cy="2012"/>
          </a:xfrm>
        </p:grpSpPr>
        <p:sp>
          <p:nvSpPr>
            <p:cNvPr id="516115" name="Line 19"/>
            <p:cNvSpPr>
              <a:spLocks noChangeShapeType="1"/>
            </p:cNvSpPr>
            <p:nvPr/>
          </p:nvSpPr>
          <p:spPr bwMode="auto">
            <a:xfrm>
              <a:off x="357" y="3322"/>
              <a:ext cx="794" cy="0"/>
            </a:xfrm>
            <a:prstGeom prst="line">
              <a:avLst/>
            </a:prstGeom>
            <a:noFill/>
            <a:ln w="38100">
              <a:solidFill>
                <a:srgbClr val="0066FF"/>
              </a:solidFill>
              <a:round/>
              <a:headEnd/>
              <a:tailEnd/>
            </a:ln>
            <a:effectLst/>
          </p:spPr>
          <p:txBody>
            <a:bodyPr/>
            <a:lstStyle/>
            <a:p>
              <a:endParaRPr lang="zh-CN" altLang="en-US"/>
            </a:p>
          </p:txBody>
        </p:sp>
        <p:sp>
          <p:nvSpPr>
            <p:cNvPr id="516116" name="Line 20"/>
            <p:cNvSpPr>
              <a:spLocks noChangeShapeType="1"/>
            </p:cNvSpPr>
            <p:nvPr/>
          </p:nvSpPr>
          <p:spPr bwMode="auto">
            <a:xfrm flipV="1">
              <a:off x="1094" y="1423"/>
              <a:ext cx="2211" cy="1899"/>
            </a:xfrm>
            <a:prstGeom prst="line">
              <a:avLst/>
            </a:prstGeom>
            <a:noFill/>
            <a:ln w="9525">
              <a:solidFill>
                <a:srgbClr val="0066FF"/>
              </a:solidFill>
              <a:round/>
              <a:headEnd/>
              <a:tailEnd type="triangle" w="med" len="med"/>
            </a:ln>
            <a:effectLst/>
          </p:spPr>
          <p:txBody>
            <a:bodyPr/>
            <a:lstStyle/>
            <a:p>
              <a:endParaRPr lang="zh-CN" altLang="en-US"/>
            </a:p>
          </p:txBody>
        </p:sp>
        <p:sp>
          <p:nvSpPr>
            <p:cNvPr id="516117" name="Text Box 21"/>
            <p:cNvSpPr txBox="1">
              <a:spLocks noChangeArrowheads="1"/>
            </p:cNvSpPr>
            <p:nvPr/>
          </p:nvSpPr>
          <p:spPr bwMode="auto">
            <a:xfrm>
              <a:off x="3277" y="1310"/>
              <a:ext cx="2352" cy="250"/>
            </a:xfrm>
            <a:prstGeom prst="rect">
              <a:avLst/>
            </a:prstGeom>
            <a:noFill/>
            <a:ln w="9525">
              <a:noFill/>
              <a:miter lim="800000"/>
              <a:headEnd/>
              <a:tailEnd/>
            </a:ln>
            <a:effectLst/>
          </p:spPr>
          <p:txBody>
            <a:bodyPr>
              <a:spAutoFit/>
            </a:bodyPr>
            <a:lstStyle/>
            <a:p>
              <a:pPr>
                <a:spcBef>
                  <a:spcPct val="50000"/>
                </a:spcBef>
              </a:pPr>
              <a:r>
                <a:rPr lang="zh-CN" altLang="en-US" sz="2000" b="1">
                  <a:solidFill>
                    <a:srgbClr val="0066CC"/>
                  </a:solidFill>
                  <a:ea typeface="微软雅黑" pitchFamily="34" charset="-122"/>
                </a:rPr>
                <a:t>各类复杂数据类型的转换表示</a:t>
              </a:r>
              <a:endParaRPr lang="en-US" altLang="zh-CN" sz="2000" b="1">
                <a:solidFill>
                  <a:srgbClr val="0066CC"/>
                </a:solidFill>
                <a:ea typeface="微软雅黑" pitchFamily="34" charset="-122"/>
              </a:endParaRPr>
            </a:p>
          </p:txBody>
        </p:sp>
      </p:grpSp>
      <p:grpSp>
        <p:nvGrpSpPr>
          <p:cNvPr id="516131" name="Group 35"/>
          <p:cNvGrpSpPr>
            <a:grpSpLocks/>
          </p:cNvGrpSpPr>
          <p:nvPr/>
        </p:nvGrpSpPr>
        <p:grpSpPr bwMode="auto">
          <a:xfrm>
            <a:off x="3226936" y="2713265"/>
            <a:ext cx="7559675" cy="3419475"/>
            <a:chOff x="867" y="1565"/>
            <a:chExt cx="4762" cy="2154"/>
          </a:xfrm>
        </p:grpSpPr>
        <p:sp>
          <p:nvSpPr>
            <p:cNvPr id="516118" name="Line 22"/>
            <p:cNvSpPr>
              <a:spLocks noChangeShapeType="1"/>
            </p:cNvSpPr>
            <p:nvPr/>
          </p:nvSpPr>
          <p:spPr bwMode="auto">
            <a:xfrm>
              <a:off x="867" y="3719"/>
              <a:ext cx="737" cy="0"/>
            </a:xfrm>
            <a:prstGeom prst="line">
              <a:avLst/>
            </a:prstGeom>
            <a:noFill/>
            <a:ln w="38100">
              <a:solidFill>
                <a:srgbClr val="FF0000"/>
              </a:solidFill>
              <a:round/>
              <a:headEnd/>
              <a:tailEnd/>
            </a:ln>
            <a:effectLst/>
          </p:spPr>
          <p:txBody>
            <a:bodyPr/>
            <a:lstStyle/>
            <a:p>
              <a:endParaRPr lang="zh-CN" altLang="en-US"/>
            </a:p>
          </p:txBody>
        </p:sp>
        <p:sp>
          <p:nvSpPr>
            <p:cNvPr id="516119" name="Line 23"/>
            <p:cNvSpPr>
              <a:spLocks noChangeShapeType="1"/>
            </p:cNvSpPr>
            <p:nvPr/>
          </p:nvSpPr>
          <p:spPr bwMode="auto">
            <a:xfrm flipV="1">
              <a:off x="1604" y="1678"/>
              <a:ext cx="1701" cy="2041"/>
            </a:xfrm>
            <a:prstGeom prst="line">
              <a:avLst/>
            </a:prstGeom>
            <a:noFill/>
            <a:ln w="9525">
              <a:solidFill>
                <a:srgbClr val="FF0000"/>
              </a:solidFill>
              <a:round/>
              <a:headEnd/>
              <a:tailEnd type="triangle" w="med" len="med"/>
            </a:ln>
            <a:effectLst/>
          </p:spPr>
          <p:txBody>
            <a:bodyPr/>
            <a:lstStyle/>
            <a:p>
              <a:endParaRPr lang="zh-CN" altLang="en-US"/>
            </a:p>
          </p:txBody>
        </p:sp>
        <p:sp>
          <p:nvSpPr>
            <p:cNvPr id="516120" name="Text Box 24"/>
            <p:cNvSpPr txBox="1">
              <a:spLocks noChangeArrowheads="1"/>
            </p:cNvSpPr>
            <p:nvPr/>
          </p:nvSpPr>
          <p:spPr bwMode="auto">
            <a:xfrm>
              <a:off x="3277" y="1565"/>
              <a:ext cx="2352" cy="250"/>
            </a:xfrm>
            <a:prstGeom prst="rect">
              <a:avLst/>
            </a:prstGeom>
            <a:noFill/>
            <a:ln w="9525">
              <a:noFill/>
              <a:miter lim="800000"/>
              <a:headEnd/>
              <a:tailEnd/>
            </a:ln>
            <a:effectLst/>
          </p:spPr>
          <p:txBody>
            <a:bodyPr>
              <a:spAutoFit/>
            </a:bodyPr>
            <a:lstStyle/>
            <a:p>
              <a:pPr>
                <a:spcBef>
                  <a:spcPct val="50000"/>
                </a:spcBef>
              </a:pPr>
              <a:r>
                <a:rPr lang="zh-CN" altLang="en-US" sz="2000" b="1">
                  <a:solidFill>
                    <a:srgbClr val="FF0000"/>
                  </a:solidFill>
                  <a:ea typeface="微软雅黑" pitchFamily="34" charset="-122"/>
                </a:rPr>
                <a:t>过程（函数）调用的转换表示</a:t>
              </a:r>
              <a:endParaRPr lang="en-US" altLang="zh-CN" sz="2000" b="1">
                <a:solidFill>
                  <a:srgbClr val="FF0000"/>
                </a:solidFill>
                <a:ea typeface="微软雅黑" pitchFamily="34" charset="-122"/>
              </a:endParaRPr>
            </a:p>
          </p:txBody>
        </p:sp>
      </p:grpSp>
      <p:sp>
        <p:nvSpPr>
          <p:cNvPr id="516121" name="Text Box 25"/>
          <p:cNvSpPr txBox="1">
            <a:spLocks noChangeArrowheads="1"/>
          </p:cNvSpPr>
          <p:nvPr/>
        </p:nvSpPr>
        <p:spPr bwMode="auto">
          <a:xfrm>
            <a:off x="6692447" y="5458051"/>
            <a:ext cx="4185620" cy="1415772"/>
          </a:xfrm>
          <a:prstGeom prst="rect">
            <a:avLst/>
          </a:prstGeom>
          <a:noFill/>
          <a:ln w="9525">
            <a:noFill/>
            <a:miter lim="800000"/>
            <a:headEnd/>
            <a:tailEnd/>
          </a:ln>
          <a:effectLst/>
        </p:spPr>
        <p:txBody>
          <a:bodyPr wrap="square">
            <a:spAutoFit/>
          </a:bodyPr>
          <a:lstStyle/>
          <a:p>
            <a:pPr>
              <a:spcBef>
                <a:spcPct val="10000"/>
              </a:spcBef>
            </a:pPr>
            <a:r>
              <a:rPr lang="zh-CN" altLang="en-US" sz="2000" b="1" dirty="0">
                <a:solidFill>
                  <a:srgbClr val="FF0000"/>
                </a:solidFill>
                <a:latin typeface="微软雅黑" pitchFamily="34" charset="-122"/>
                <a:ea typeface="微软雅黑" pitchFamily="34" charset="-122"/>
              </a:rPr>
              <a:t>链接（</a:t>
            </a:r>
            <a:r>
              <a:rPr lang="en-US" altLang="zh-CN" sz="2000" b="1" dirty="0">
                <a:solidFill>
                  <a:srgbClr val="FF0000"/>
                </a:solidFill>
                <a:latin typeface="微软雅黑" pitchFamily="34" charset="-122"/>
                <a:ea typeface="微软雅黑" pitchFamily="34" charset="-122"/>
              </a:rPr>
              <a:t>linker</a:t>
            </a:r>
            <a:r>
              <a:rPr lang="zh-CN" altLang="en-US" sz="2000" b="1" dirty="0">
                <a:solidFill>
                  <a:srgbClr val="FF0000"/>
                </a:solidFill>
                <a:latin typeface="微软雅黑" pitchFamily="34" charset="-122"/>
                <a:ea typeface="微软雅黑" pitchFamily="34" charset="-122"/>
              </a:rPr>
              <a:t>）和加载</a:t>
            </a:r>
            <a:r>
              <a:rPr lang="zh-CN" altLang="en-US" sz="2000" b="1" dirty="0">
                <a:solidFill>
                  <a:schemeClr val="accent4"/>
                </a:solidFill>
                <a:ea typeface="微软雅黑" pitchFamily="34" charset="-122"/>
              </a:rPr>
              <a:t>（第</a:t>
            </a:r>
            <a:r>
              <a:rPr lang="en-US" altLang="zh-CN" sz="2000" b="1" dirty="0">
                <a:solidFill>
                  <a:schemeClr val="accent4"/>
                </a:solidFill>
                <a:ea typeface="微软雅黑" pitchFamily="34" charset="-122"/>
              </a:rPr>
              <a:t>7</a:t>
            </a:r>
            <a:r>
              <a:rPr lang="zh-CN" altLang="en-US" sz="2000" b="1" dirty="0">
                <a:solidFill>
                  <a:schemeClr val="accent4"/>
                </a:solidFill>
                <a:ea typeface="微软雅黑" pitchFamily="34" charset="-122"/>
              </a:rPr>
              <a:t>章）</a:t>
            </a:r>
            <a:endParaRPr lang="zh-CN" altLang="en-US" sz="2000" b="1" dirty="0">
              <a:solidFill>
                <a:srgbClr val="FF0000"/>
              </a:solidFill>
              <a:latin typeface="微软雅黑" pitchFamily="34" charset="-122"/>
              <a:ea typeface="微软雅黑" pitchFamily="34" charset="-122"/>
            </a:endParaRPr>
          </a:p>
          <a:p>
            <a:pPr>
              <a:spcBef>
                <a:spcPct val="10000"/>
              </a:spcBef>
            </a:pPr>
            <a:r>
              <a:rPr lang="zh-CN" altLang="en-US" sz="2000" b="1" dirty="0">
                <a:solidFill>
                  <a:srgbClr val="0066CC"/>
                </a:solidFill>
                <a:latin typeface="微软雅黑" pitchFamily="34" charset="-122"/>
                <a:ea typeface="微软雅黑" pitchFamily="34" charset="-122"/>
              </a:rPr>
              <a:t>程序执行（存储器访问）</a:t>
            </a:r>
            <a:r>
              <a:rPr lang="zh-CN" altLang="en-US" sz="2000" b="1" dirty="0">
                <a:solidFill>
                  <a:schemeClr val="accent4"/>
                </a:solidFill>
                <a:ea typeface="微软雅黑" pitchFamily="34" charset="-122"/>
              </a:rPr>
              <a:t>（第</a:t>
            </a:r>
            <a:r>
              <a:rPr lang="en-US" altLang="zh-CN" sz="2000" b="1" dirty="0">
                <a:solidFill>
                  <a:schemeClr val="accent4"/>
                </a:solidFill>
                <a:ea typeface="微软雅黑" pitchFamily="34" charset="-122"/>
              </a:rPr>
              <a:t>7</a:t>
            </a:r>
            <a:r>
              <a:rPr lang="zh-CN" altLang="en-US" sz="2000" b="1" dirty="0">
                <a:solidFill>
                  <a:schemeClr val="accent4"/>
                </a:solidFill>
                <a:ea typeface="微软雅黑" pitchFamily="34" charset="-122"/>
              </a:rPr>
              <a:t>章）</a:t>
            </a:r>
            <a:endParaRPr lang="zh-CN" altLang="en-US" sz="2000" b="1" dirty="0">
              <a:solidFill>
                <a:srgbClr val="0066CC"/>
              </a:solidFill>
              <a:latin typeface="微软雅黑" pitchFamily="34" charset="-122"/>
              <a:ea typeface="微软雅黑" pitchFamily="34" charset="-122"/>
            </a:endParaRPr>
          </a:p>
          <a:p>
            <a:pPr>
              <a:spcBef>
                <a:spcPct val="10000"/>
              </a:spcBef>
            </a:pPr>
            <a:r>
              <a:rPr lang="zh-CN" altLang="en-US" sz="2000" b="1" dirty="0">
                <a:solidFill>
                  <a:srgbClr val="FF0000"/>
                </a:solidFill>
                <a:latin typeface="微软雅黑" pitchFamily="34" charset="-122"/>
                <a:ea typeface="微软雅黑" pitchFamily="34" charset="-122"/>
              </a:rPr>
              <a:t>异常和中断处理</a:t>
            </a:r>
            <a:r>
              <a:rPr lang="zh-CN" altLang="en-US" sz="2000" b="1" dirty="0">
                <a:solidFill>
                  <a:schemeClr val="accent4"/>
                </a:solidFill>
                <a:ea typeface="微软雅黑" pitchFamily="34" charset="-122"/>
              </a:rPr>
              <a:t>（第</a:t>
            </a:r>
            <a:r>
              <a:rPr lang="en-US" altLang="zh-CN" sz="2000" b="1" dirty="0">
                <a:solidFill>
                  <a:schemeClr val="accent4"/>
                </a:solidFill>
                <a:ea typeface="微软雅黑" pitchFamily="34" charset="-122"/>
              </a:rPr>
              <a:t>8</a:t>
            </a:r>
            <a:r>
              <a:rPr lang="zh-CN" altLang="en-US" sz="2000" b="1" dirty="0">
                <a:solidFill>
                  <a:schemeClr val="accent4"/>
                </a:solidFill>
                <a:ea typeface="微软雅黑" pitchFamily="34" charset="-122"/>
              </a:rPr>
              <a:t>章）</a:t>
            </a:r>
            <a:endParaRPr lang="zh-CN" altLang="en-US" sz="2000" b="1" dirty="0">
              <a:solidFill>
                <a:srgbClr val="FF0000"/>
              </a:solidFill>
              <a:latin typeface="微软雅黑" pitchFamily="34" charset="-122"/>
              <a:ea typeface="微软雅黑" pitchFamily="34" charset="-122"/>
            </a:endParaRPr>
          </a:p>
          <a:p>
            <a:pPr>
              <a:spcBef>
                <a:spcPct val="10000"/>
              </a:spcBef>
            </a:pPr>
            <a:r>
              <a:rPr lang="zh-CN" altLang="en-US" sz="2000" b="1" dirty="0">
                <a:solidFill>
                  <a:srgbClr val="0066CC"/>
                </a:solidFill>
                <a:latin typeface="微软雅黑" pitchFamily="34" charset="-122"/>
                <a:ea typeface="微软雅黑" pitchFamily="34" charset="-122"/>
              </a:rPr>
              <a:t>输入输出</a:t>
            </a:r>
            <a:r>
              <a:rPr lang="en-US" altLang="zh-CN" sz="2000" b="1" dirty="0">
                <a:solidFill>
                  <a:srgbClr val="0066CC"/>
                </a:solidFill>
                <a:latin typeface="微软雅黑" pitchFamily="34" charset="-122"/>
                <a:ea typeface="微软雅黑" pitchFamily="34" charset="-122"/>
              </a:rPr>
              <a:t>(I/O)</a:t>
            </a:r>
            <a:r>
              <a:rPr lang="zh-CN" altLang="en-US" sz="2000" b="1" dirty="0">
                <a:solidFill>
                  <a:schemeClr val="accent4"/>
                </a:solidFill>
                <a:ea typeface="微软雅黑" pitchFamily="34" charset="-122"/>
              </a:rPr>
              <a:t> （第</a:t>
            </a:r>
            <a:r>
              <a:rPr lang="en-US" altLang="zh-CN" sz="2000" b="1" dirty="0">
                <a:solidFill>
                  <a:schemeClr val="accent4"/>
                </a:solidFill>
                <a:ea typeface="微软雅黑" pitchFamily="34" charset="-122"/>
              </a:rPr>
              <a:t>10</a:t>
            </a:r>
            <a:r>
              <a:rPr lang="zh-CN" altLang="en-US" sz="2000" b="1" dirty="0">
                <a:solidFill>
                  <a:schemeClr val="accent4"/>
                </a:solidFill>
                <a:ea typeface="微软雅黑" pitchFamily="34" charset="-122"/>
              </a:rPr>
              <a:t>章）</a:t>
            </a:r>
          </a:p>
        </p:txBody>
      </p:sp>
      <p:sp>
        <p:nvSpPr>
          <p:cNvPr id="516123" name="Line 27"/>
          <p:cNvSpPr>
            <a:spLocks noChangeShapeType="1"/>
          </p:cNvSpPr>
          <p:nvPr/>
        </p:nvSpPr>
        <p:spPr bwMode="auto">
          <a:xfrm>
            <a:off x="4666797" y="6493101"/>
            <a:ext cx="2025650" cy="179388"/>
          </a:xfrm>
          <a:prstGeom prst="line">
            <a:avLst/>
          </a:prstGeom>
          <a:noFill/>
          <a:ln w="9525">
            <a:solidFill>
              <a:srgbClr val="0066FF"/>
            </a:solidFill>
            <a:round/>
            <a:headEnd/>
            <a:tailEnd type="triangle" w="med" len="med"/>
          </a:ln>
          <a:effectLst/>
        </p:spPr>
        <p:txBody>
          <a:bodyPr/>
          <a:lstStyle/>
          <a:p>
            <a:endParaRPr lang="zh-CN" altLang="en-US"/>
          </a:p>
        </p:txBody>
      </p:sp>
      <p:sp>
        <p:nvSpPr>
          <p:cNvPr id="516124" name="Line 28"/>
          <p:cNvSpPr>
            <a:spLocks noChangeShapeType="1"/>
          </p:cNvSpPr>
          <p:nvPr/>
        </p:nvSpPr>
        <p:spPr bwMode="auto">
          <a:xfrm>
            <a:off x="2417311" y="6493101"/>
            <a:ext cx="2205037" cy="0"/>
          </a:xfrm>
          <a:prstGeom prst="line">
            <a:avLst/>
          </a:prstGeom>
          <a:noFill/>
          <a:ln w="38100">
            <a:solidFill>
              <a:srgbClr val="0066FF"/>
            </a:solidFill>
            <a:round/>
            <a:headEnd/>
            <a:tailEnd/>
          </a:ln>
          <a:effectLst/>
        </p:spPr>
        <p:txBody>
          <a:bodyPr/>
          <a:lstStyle/>
          <a:p>
            <a:endParaRPr lang="zh-CN" altLang="en-US"/>
          </a:p>
        </p:txBody>
      </p:sp>
      <p:sp>
        <p:nvSpPr>
          <p:cNvPr id="2" name="矩形 1"/>
          <p:cNvSpPr/>
          <p:nvPr/>
        </p:nvSpPr>
        <p:spPr>
          <a:xfrm>
            <a:off x="10473023" y="1971233"/>
            <a:ext cx="461665" cy="1077660"/>
          </a:xfrm>
          <a:prstGeom prst="rect">
            <a:avLst/>
          </a:prstGeom>
        </p:spPr>
        <p:txBody>
          <a:bodyPr vert="eaVert" wrap="square">
            <a:spAutoFit/>
          </a:bodyPr>
          <a:lstStyle/>
          <a:p>
            <a:pPr>
              <a:spcBef>
                <a:spcPct val="50000"/>
              </a:spcBef>
            </a:pPr>
            <a:r>
              <a:rPr lang="zh-CN" altLang="en-US" b="1" dirty="0">
                <a:solidFill>
                  <a:schemeClr val="accent4"/>
                </a:solidFill>
                <a:ea typeface="微软雅黑" pitchFamily="34" charset="-122"/>
              </a:rPr>
              <a:t>（第</a:t>
            </a:r>
            <a:r>
              <a:rPr lang="en-US" altLang="zh-CN" b="1" dirty="0">
                <a:solidFill>
                  <a:schemeClr val="accent4"/>
                </a:solidFill>
                <a:ea typeface="微软雅黑" pitchFamily="34" charset="-122"/>
              </a:rPr>
              <a:t>3</a:t>
            </a:r>
            <a:r>
              <a:rPr lang="zh-CN" altLang="en-US" b="1" dirty="0">
                <a:solidFill>
                  <a:schemeClr val="accent4"/>
                </a:solidFill>
                <a:ea typeface="微软雅黑" pitchFamily="34" charset="-122"/>
              </a:rPr>
              <a:t>章）</a:t>
            </a:r>
          </a:p>
        </p:txBody>
      </p:sp>
      <p:sp>
        <p:nvSpPr>
          <p:cNvPr id="4" name="灯片编号占位符 3"/>
          <p:cNvSpPr>
            <a:spLocks noGrp="1"/>
          </p:cNvSpPr>
          <p:nvPr>
            <p:ph type="sldNum" sz="quarter" idx="12"/>
          </p:nvPr>
        </p:nvSpPr>
        <p:spPr/>
        <p:txBody>
          <a:bodyPr/>
          <a:lstStyle/>
          <a:p>
            <a:pPr>
              <a:defRPr/>
            </a:pPr>
            <a:fld id="{C04D5D84-F493-480C-9B02-1533CB18E289}" type="slidenum">
              <a:rPr lang="en-US" altLang="zh-CN" smtClean="0"/>
              <a:pPr>
                <a:defRPr/>
              </a:pPr>
              <a:t>7</a:t>
            </a:fld>
            <a:endParaRPr lang="en-US" altLang="zh-CN"/>
          </a:p>
        </p:txBody>
      </p:sp>
    </p:spTree>
    <p:extLst>
      <p:ext uri="{BB962C8B-B14F-4D97-AF65-F5344CB8AC3E}">
        <p14:creationId xmlns:p14="http://schemas.microsoft.com/office/powerpoint/2010/main" val="400040553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516127"/>
                                        </p:tgtEl>
                                        <p:attrNameLst>
                                          <p:attrName>style.visibility</p:attrName>
                                        </p:attrNameLst>
                                      </p:cBhvr>
                                      <p:to>
                                        <p:strVal val="visible"/>
                                      </p:to>
                                    </p:set>
                                    <p:animEffect transition="in" filter="blinds(horizontal)">
                                      <p:cBhvr>
                                        <p:cTn id="7" dur="500"/>
                                        <p:tgtEl>
                                          <p:spTgt spid="516127"/>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516128"/>
                                        </p:tgtEl>
                                        <p:attrNameLst>
                                          <p:attrName>style.visibility</p:attrName>
                                        </p:attrNameLst>
                                      </p:cBhvr>
                                      <p:to>
                                        <p:strVal val="visible"/>
                                      </p:to>
                                    </p:set>
                                    <p:animEffect transition="in" filter="blinds(horizontal)">
                                      <p:cBhvr>
                                        <p:cTn id="12" dur="500"/>
                                        <p:tgtEl>
                                          <p:spTgt spid="516128"/>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nodeType="clickEffect">
                                  <p:stCondLst>
                                    <p:cond delay="0"/>
                                  </p:stCondLst>
                                  <p:childTnLst>
                                    <p:set>
                                      <p:cBhvr>
                                        <p:cTn id="16" dur="1" fill="hold">
                                          <p:stCondLst>
                                            <p:cond delay="0"/>
                                          </p:stCondLst>
                                        </p:cTn>
                                        <p:tgtEl>
                                          <p:spTgt spid="516129"/>
                                        </p:tgtEl>
                                        <p:attrNameLst>
                                          <p:attrName>style.visibility</p:attrName>
                                        </p:attrNameLst>
                                      </p:cBhvr>
                                      <p:to>
                                        <p:strVal val="visible"/>
                                      </p:to>
                                    </p:set>
                                    <p:animEffect transition="in" filter="blinds(horizontal)">
                                      <p:cBhvr>
                                        <p:cTn id="17" dur="500"/>
                                        <p:tgtEl>
                                          <p:spTgt spid="516129"/>
                                        </p:tgtEl>
                                      </p:cBhvr>
                                    </p:animEffect>
                                  </p:childTnLst>
                                </p:cTn>
                              </p:par>
                            </p:childTnLst>
                          </p:cTn>
                        </p:par>
                      </p:childTnLst>
                    </p:cTn>
                  </p:par>
                  <p:par>
                    <p:cTn id="18" fill="hold">
                      <p:stCondLst>
                        <p:cond delay="indefinite"/>
                      </p:stCondLst>
                      <p:childTnLst>
                        <p:par>
                          <p:cTn id="19" fill="hold">
                            <p:stCondLst>
                              <p:cond delay="0"/>
                            </p:stCondLst>
                            <p:childTnLst>
                              <p:par>
                                <p:cTn id="20" presetID="1" presetClass="entr" presetSubtype="0" fill="hold" grpId="0" nodeType="clickEffect">
                                  <p:stCondLst>
                                    <p:cond delay="0"/>
                                  </p:stCondLst>
                                  <p:childTnLst>
                                    <p:set>
                                      <p:cBhvr>
                                        <p:cTn id="21" dur="1" fill="hold">
                                          <p:stCondLst>
                                            <p:cond delay="0"/>
                                          </p:stCondLst>
                                        </p:cTn>
                                        <p:tgtEl>
                                          <p:spTgt spid="2"/>
                                        </p:tgtEl>
                                        <p:attrNameLst>
                                          <p:attrName>style.visibility</p:attrName>
                                        </p:attrNameLst>
                                      </p:cBhvr>
                                      <p:to>
                                        <p:strVal val="visible"/>
                                      </p:to>
                                    </p:set>
                                  </p:childTnLst>
                                </p:cTn>
                              </p:par>
                            </p:childTnLst>
                          </p:cTn>
                        </p:par>
                      </p:childTnLst>
                    </p:cTn>
                  </p:par>
                  <p:par>
                    <p:cTn id="22" fill="hold">
                      <p:stCondLst>
                        <p:cond delay="indefinite"/>
                      </p:stCondLst>
                      <p:childTnLst>
                        <p:par>
                          <p:cTn id="23" fill="hold">
                            <p:stCondLst>
                              <p:cond delay="0"/>
                            </p:stCondLst>
                            <p:childTnLst>
                              <p:par>
                                <p:cTn id="24" presetID="3" presetClass="entr" presetSubtype="10" fill="hold" nodeType="clickEffect">
                                  <p:stCondLst>
                                    <p:cond delay="0"/>
                                  </p:stCondLst>
                                  <p:childTnLst>
                                    <p:set>
                                      <p:cBhvr>
                                        <p:cTn id="25" dur="1" fill="hold">
                                          <p:stCondLst>
                                            <p:cond delay="0"/>
                                          </p:stCondLst>
                                        </p:cTn>
                                        <p:tgtEl>
                                          <p:spTgt spid="516130"/>
                                        </p:tgtEl>
                                        <p:attrNameLst>
                                          <p:attrName>style.visibility</p:attrName>
                                        </p:attrNameLst>
                                      </p:cBhvr>
                                      <p:to>
                                        <p:strVal val="visible"/>
                                      </p:to>
                                    </p:set>
                                    <p:animEffect transition="in" filter="blinds(horizontal)">
                                      <p:cBhvr>
                                        <p:cTn id="26" dur="500"/>
                                        <p:tgtEl>
                                          <p:spTgt spid="516130"/>
                                        </p:tgtEl>
                                      </p:cBhvr>
                                    </p:animEffect>
                                  </p:childTnLst>
                                </p:cTn>
                              </p:par>
                            </p:childTnLst>
                          </p:cTn>
                        </p:par>
                      </p:childTnLst>
                    </p:cTn>
                  </p:par>
                  <p:par>
                    <p:cTn id="27" fill="hold">
                      <p:stCondLst>
                        <p:cond delay="indefinite"/>
                      </p:stCondLst>
                      <p:childTnLst>
                        <p:par>
                          <p:cTn id="28" fill="hold">
                            <p:stCondLst>
                              <p:cond delay="0"/>
                            </p:stCondLst>
                            <p:childTnLst>
                              <p:par>
                                <p:cTn id="29" presetID="3" presetClass="entr" presetSubtype="10" fill="hold" nodeType="clickEffect">
                                  <p:stCondLst>
                                    <p:cond delay="0"/>
                                  </p:stCondLst>
                                  <p:childTnLst>
                                    <p:set>
                                      <p:cBhvr>
                                        <p:cTn id="30" dur="1" fill="hold">
                                          <p:stCondLst>
                                            <p:cond delay="0"/>
                                          </p:stCondLst>
                                        </p:cTn>
                                        <p:tgtEl>
                                          <p:spTgt spid="516131"/>
                                        </p:tgtEl>
                                        <p:attrNameLst>
                                          <p:attrName>style.visibility</p:attrName>
                                        </p:attrNameLst>
                                      </p:cBhvr>
                                      <p:to>
                                        <p:strVal val="visible"/>
                                      </p:to>
                                    </p:set>
                                    <p:animEffect transition="in" filter="blinds(horizontal)">
                                      <p:cBhvr>
                                        <p:cTn id="31" dur="500"/>
                                        <p:tgtEl>
                                          <p:spTgt spid="516131"/>
                                        </p:tgtEl>
                                      </p:cBhvr>
                                    </p:animEffect>
                                  </p:childTnLst>
                                </p:cTn>
                              </p:par>
                            </p:childTnLst>
                          </p:cTn>
                        </p:par>
                      </p:childTnLst>
                    </p:cTn>
                  </p:par>
                  <p:par>
                    <p:cTn id="32" fill="hold">
                      <p:stCondLst>
                        <p:cond delay="indefinite"/>
                      </p:stCondLst>
                      <p:childTnLst>
                        <p:par>
                          <p:cTn id="33" fill="hold">
                            <p:stCondLst>
                              <p:cond delay="0"/>
                            </p:stCondLst>
                            <p:childTnLst>
                              <p:par>
                                <p:cTn id="34" presetID="3" presetClass="entr" presetSubtype="10" fill="hold" nodeType="clickEffect">
                                  <p:stCondLst>
                                    <p:cond delay="0"/>
                                  </p:stCondLst>
                                  <p:childTnLst>
                                    <p:set>
                                      <p:cBhvr>
                                        <p:cTn id="35" dur="1" fill="hold">
                                          <p:stCondLst>
                                            <p:cond delay="0"/>
                                          </p:stCondLst>
                                        </p:cTn>
                                        <p:tgtEl>
                                          <p:spTgt spid="516121">
                                            <p:txEl>
                                              <p:pRg st="0" end="0"/>
                                            </p:txEl>
                                          </p:spTgt>
                                        </p:tgtEl>
                                        <p:attrNameLst>
                                          <p:attrName>style.visibility</p:attrName>
                                        </p:attrNameLst>
                                      </p:cBhvr>
                                      <p:to>
                                        <p:strVal val="visible"/>
                                      </p:to>
                                    </p:set>
                                    <p:animEffect transition="in" filter="blinds(horizontal)">
                                      <p:cBhvr>
                                        <p:cTn id="36" dur="500"/>
                                        <p:tgtEl>
                                          <p:spTgt spid="516121">
                                            <p:txEl>
                                              <p:pRg st="0" end="0"/>
                                            </p:txEl>
                                          </p:spTgt>
                                        </p:tgtEl>
                                      </p:cBhvr>
                                    </p:animEffect>
                                  </p:childTnLst>
                                </p:cTn>
                              </p:par>
                            </p:childTnLst>
                          </p:cTn>
                        </p:par>
                      </p:childTnLst>
                    </p:cTn>
                  </p:par>
                  <p:par>
                    <p:cTn id="37" fill="hold">
                      <p:stCondLst>
                        <p:cond delay="indefinite"/>
                      </p:stCondLst>
                      <p:childTnLst>
                        <p:par>
                          <p:cTn id="38" fill="hold">
                            <p:stCondLst>
                              <p:cond delay="0"/>
                            </p:stCondLst>
                            <p:childTnLst>
                              <p:par>
                                <p:cTn id="39" presetID="3" presetClass="entr" presetSubtype="10" fill="hold" nodeType="clickEffect">
                                  <p:stCondLst>
                                    <p:cond delay="0"/>
                                  </p:stCondLst>
                                  <p:childTnLst>
                                    <p:set>
                                      <p:cBhvr>
                                        <p:cTn id="40" dur="1" fill="hold">
                                          <p:stCondLst>
                                            <p:cond delay="0"/>
                                          </p:stCondLst>
                                        </p:cTn>
                                        <p:tgtEl>
                                          <p:spTgt spid="516121">
                                            <p:txEl>
                                              <p:pRg st="1" end="1"/>
                                            </p:txEl>
                                          </p:spTgt>
                                        </p:tgtEl>
                                        <p:attrNameLst>
                                          <p:attrName>style.visibility</p:attrName>
                                        </p:attrNameLst>
                                      </p:cBhvr>
                                      <p:to>
                                        <p:strVal val="visible"/>
                                      </p:to>
                                    </p:set>
                                    <p:animEffect transition="in" filter="blinds(horizontal)">
                                      <p:cBhvr>
                                        <p:cTn id="41" dur="500"/>
                                        <p:tgtEl>
                                          <p:spTgt spid="516121">
                                            <p:txEl>
                                              <p:pRg st="1" end="1"/>
                                            </p:txEl>
                                          </p:spTgt>
                                        </p:tgtEl>
                                      </p:cBhvr>
                                    </p:animEffect>
                                  </p:childTnLst>
                                </p:cTn>
                              </p:par>
                            </p:childTnLst>
                          </p:cTn>
                        </p:par>
                      </p:childTnLst>
                    </p:cTn>
                  </p:par>
                  <p:par>
                    <p:cTn id="42" fill="hold">
                      <p:stCondLst>
                        <p:cond delay="indefinite"/>
                      </p:stCondLst>
                      <p:childTnLst>
                        <p:par>
                          <p:cTn id="43" fill="hold">
                            <p:stCondLst>
                              <p:cond delay="0"/>
                            </p:stCondLst>
                            <p:childTnLst>
                              <p:par>
                                <p:cTn id="44" presetID="3" presetClass="entr" presetSubtype="10" fill="hold" nodeType="clickEffect">
                                  <p:stCondLst>
                                    <p:cond delay="0"/>
                                  </p:stCondLst>
                                  <p:childTnLst>
                                    <p:set>
                                      <p:cBhvr>
                                        <p:cTn id="45" dur="1" fill="hold">
                                          <p:stCondLst>
                                            <p:cond delay="0"/>
                                          </p:stCondLst>
                                        </p:cTn>
                                        <p:tgtEl>
                                          <p:spTgt spid="516126"/>
                                        </p:tgtEl>
                                        <p:attrNameLst>
                                          <p:attrName>style.visibility</p:attrName>
                                        </p:attrNameLst>
                                      </p:cBhvr>
                                      <p:to>
                                        <p:strVal val="visible"/>
                                      </p:to>
                                    </p:set>
                                    <p:animEffect transition="in" filter="blinds(horizontal)">
                                      <p:cBhvr>
                                        <p:cTn id="46" dur="500"/>
                                        <p:tgtEl>
                                          <p:spTgt spid="516126"/>
                                        </p:tgtEl>
                                      </p:cBhvr>
                                    </p:animEffect>
                                  </p:childTnLst>
                                </p:cTn>
                              </p:par>
                            </p:childTnLst>
                          </p:cTn>
                        </p:par>
                      </p:childTnLst>
                    </p:cTn>
                  </p:par>
                  <p:par>
                    <p:cTn id="47" fill="hold">
                      <p:stCondLst>
                        <p:cond delay="indefinite"/>
                      </p:stCondLst>
                      <p:childTnLst>
                        <p:par>
                          <p:cTn id="48" fill="hold">
                            <p:stCondLst>
                              <p:cond delay="0"/>
                            </p:stCondLst>
                            <p:childTnLst>
                              <p:par>
                                <p:cTn id="49" presetID="3" presetClass="entr" presetSubtype="10" fill="hold" nodeType="clickEffect">
                                  <p:stCondLst>
                                    <p:cond delay="0"/>
                                  </p:stCondLst>
                                  <p:childTnLst>
                                    <p:set>
                                      <p:cBhvr>
                                        <p:cTn id="50" dur="1" fill="hold">
                                          <p:stCondLst>
                                            <p:cond delay="0"/>
                                          </p:stCondLst>
                                        </p:cTn>
                                        <p:tgtEl>
                                          <p:spTgt spid="516121">
                                            <p:txEl>
                                              <p:pRg st="2" end="2"/>
                                            </p:txEl>
                                          </p:spTgt>
                                        </p:tgtEl>
                                        <p:attrNameLst>
                                          <p:attrName>style.visibility</p:attrName>
                                        </p:attrNameLst>
                                      </p:cBhvr>
                                      <p:to>
                                        <p:strVal val="visible"/>
                                      </p:to>
                                    </p:set>
                                    <p:animEffect transition="in" filter="blinds(horizontal)">
                                      <p:cBhvr>
                                        <p:cTn id="51" dur="500"/>
                                        <p:tgtEl>
                                          <p:spTgt spid="516121">
                                            <p:txEl>
                                              <p:pRg st="2" end="2"/>
                                            </p:txEl>
                                          </p:spTgt>
                                        </p:tgtEl>
                                      </p:cBhvr>
                                    </p:animEffect>
                                  </p:childTnLst>
                                </p:cTn>
                              </p:par>
                            </p:childTnLst>
                          </p:cTn>
                        </p:par>
                      </p:childTnLst>
                    </p:cTn>
                  </p:par>
                  <p:par>
                    <p:cTn id="52" fill="hold">
                      <p:stCondLst>
                        <p:cond delay="indefinite"/>
                      </p:stCondLst>
                      <p:childTnLst>
                        <p:par>
                          <p:cTn id="53" fill="hold">
                            <p:stCondLst>
                              <p:cond delay="0"/>
                            </p:stCondLst>
                            <p:childTnLst>
                              <p:par>
                                <p:cTn id="54" presetID="3" presetClass="entr" presetSubtype="10" fill="hold" grpId="0" nodeType="clickEffect">
                                  <p:stCondLst>
                                    <p:cond delay="0"/>
                                  </p:stCondLst>
                                  <p:childTnLst>
                                    <p:set>
                                      <p:cBhvr>
                                        <p:cTn id="55" dur="1" fill="hold">
                                          <p:stCondLst>
                                            <p:cond delay="0"/>
                                          </p:stCondLst>
                                        </p:cTn>
                                        <p:tgtEl>
                                          <p:spTgt spid="516124"/>
                                        </p:tgtEl>
                                        <p:attrNameLst>
                                          <p:attrName>style.visibility</p:attrName>
                                        </p:attrNameLst>
                                      </p:cBhvr>
                                      <p:to>
                                        <p:strVal val="visible"/>
                                      </p:to>
                                    </p:set>
                                    <p:animEffect transition="in" filter="blinds(horizontal)">
                                      <p:cBhvr>
                                        <p:cTn id="56" dur="500"/>
                                        <p:tgtEl>
                                          <p:spTgt spid="516124"/>
                                        </p:tgtEl>
                                      </p:cBhvr>
                                    </p:animEffect>
                                  </p:childTnLst>
                                </p:cTn>
                              </p:par>
                              <p:par>
                                <p:cTn id="57" presetID="3" presetClass="entr" presetSubtype="10" fill="hold" grpId="0" nodeType="withEffect">
                                  <p:stCondLst>
                                    <p:cond delay="0"/>
                                  </p:stCondLst>
                                  <p:childTnLst>
                                    <p:set>
                                      <p:cBhvr>
                                        <p:cTn id="58" dur="1" fill="hold">
                                          <p:stCondLst>
                                            <p:cond delay="0"/>
                                          </p:stCondLst>
                                        </p:cTn>
                                        <p:tgtEl>
                                          <p:spTgt spid="516123"/>
                                        </p:tgtEl>
                                        <p:attrNameLst>
                                          <p:attrName>style.visibility</p:attrName>
                                        </p:attrNameLst>
                                      </p:cBhvr>
                                      <p:to>
                                        <p:strVal val="visible"/>
                                      </p:to>
                                    </p:set>
                                    <p:animEffect transition="in" filter="blinds(horizontal)">
                                      <p:cBhvr>
                                        <p:cTn id="59" dur="500"/>
                                        <p:tgtEl>
                                          <p:spTgt spid="516123"/>
                                        </p:tgtEl>
                                      </p:cBhvr>
                                    </p:animEffect>
                                  </p:childTnLst>
                                </p:cTn>
                              </p:par>
                            </p:childTnLst>
                          </p:cTn>
                        </p:par>
                      </p:childTnLst>
                    </p:cTn>
                  </p:par>
                  <p:par>
                    <p:cTn id="60" fill="hold">
                      <p:stCondLst>
                        <p:cond delay="indefinite"/>
                      </p:stCondLst>
                      <p:childTnLst>
                        <p:par>
                          <p:cTn id="61" fill="hold">
                            <p:stCondLst>
                              <p:cond delay="0"/>
                            </p:stCondLst>
                            <p:childTnLst>
                              <p:par>
                                <p:cTn id="62" presetID="3" presetClass="entr" presetSubtype="10" fill="hold" nodeType="clickEffect">
                                  <p:stCondLst>
                                    <p:cond delay="0"/>
                                  </p:stCondLst>
                                  <p:childTnLst>
                                    <p:set>
                                      <p:cBhvr>
                                        <p:cTn id="63" dur="1" fill="hold">
                                          <p:stCondLst>
                                            <p:cond delay="0"/>
                                          </p:stCondLst>
                                        </p:cTn>
                                        <p:tgtEl>
                                          <p:spTgt spid="516121">
                                            <p:txEl>
                                              <p:pRg st="3" end="3"/>
                                            </p:txEl>
                                          </p:spTgt>
                                        </p:tgtEl>
                                        <p:attrNameLst>
                                          <p:attrName>style.visibility</p:attrName>
                                        </p:attrNameLst>
                                      </p:cBhvr>
                                      <p:to>
                                        <p:strVal val="visible"/>
                                      </p:to>
                                    </p:set>
                                    <p:animEffect transition="in" filter="blinds(horizontal)">
                                      <p:cBhvr>
                                        <p:cTn id="64" dur="500"/>
                                        <p:tgtEl>
                                          <p:spTgt spid="516121">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16123" grpId="0" animBg="1"/>
      <p:bldP spid="516124" grpId="0" animBg="1"/>
      <p:bldP spid="2"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5747" name="Rectangle 3"/>
          <p:cNvSpPr>
            <a:spLocks noGrp="1" noChangeArrowheads="1"/>
          </p:cNvSpPr>
          <p:nvPr>
            <p:ph type="body" idx="1"/>
          </p:nvPr>
        </p:nvSpPr>
        <p:spPr>
          <a:xfrm>
            <a:off x="720436" y="819151"/>
            <a:ext cx="8461664" cy="5472113"/>
          </a:xfrm>
        </p:spPr>
        <p:txBody>
          <a:bodyPr/>
          <a:lstStyle/>
          <a:p>
            <a:pPr>
              <a:lnSpc>
                <a:spcPct val="105000"/>
              </a:lnSpc>
              <a:spcBef>
                <a:spcPct val="35000"/>
              </a:spcBef>
              <a:buFont typeface="Wingdings" pitchFamily="2" charset="2"/>
              <a:buChar char="l"/>
            </a:pPr>
            <a:r>
              <a:rPr lang="zh-CN" altLang="en-US" dirty="0">
                <a:latin typeface="微软雅黑" pitchFamily="34" charset="-122"/>
                <a:ea typeface="微软雅黑" pitchFamily="34" charset="-122"/>
              </a:rPr>
              <a:t>使学生清楚理解：</a:t>
            </a:r>
          </a:p>
          <a:p>
            <a:pPr>
              <a:lnSpc>
                <a:spcPct val="105000"/>
              </a:lnSpc>
              <a:spcBef>
                <a:spcPct val="35000"/>
              </a:spcBef>
              <a:buFont typeface="Wingdings" pitchFamily="2" charset="2"/>
              <a:buNone/>
            </a:pPr>
            <a:r>
              <a:rPr lang="zh-CN" altLang="en-US" dirty="0">
                <a:latin typeface="微软雅黑" pitchFamily="34" charset="-122"/>
                <a:ea typeface="微软雅黑" pitchFamily="34" charset="-122"/>
              </a:rPr>
              <a:t>   </a:t>
            </a:r>
            <a:r>
              <a:rPr lang="zh-CN" altLang="en-US" dirty="0">
                <a:solidFill>
                  <a:srgbClr val="FF0000"/>
                </a:solidFill>
                <a:latin typeface="微软雅黑" pitchFamily="34" charset="-122"/>
                <a:ea typeface="微软雅黑" pitchFamily="34" charset="-122"/>
              </a:rPr>
              <a:t>计算机是</a:t>
            </a:r>
            <a:r>
              <a:rPr lang="zh-CN" altLang="en-US" dirty="0">
                <a:solidFill>
                  <a:srgbClr val="008000"/>
                </a:solidFill>
                <a:latin typeface="微软雅黑" pitchFamily="34" charset="-122"/>
                <a:ea typeface="微软雅黑" pitchFamily="34" charset="-122"/>
              </a:rPr>
              <a:t>如何生成和运行</a:t>
            </a:r>
            <a:r>
              <a:rPr lang="zh-CN" altLang="en-US" dirty="0">
                <a:solidFill>
                  <a:srgbClr val="FF0000"/>
                </a:solidFill>
                <a:latin typeface="微软雅黑" pitchFamily="34" charset="-122"/>
                <a:ea typeface="微软雅黑" pitchFamily="34" charset="-122"/>
              </a:rPr>
              <a:t>可执行文件的！</a:t>
            </a:r>
          </a:p>
          <a:p>
            <a:pPr>
              <a:lnSpc>
                <a:spcPct val="105000"/>
              </a:lnSpc>
              <a:spcBef>
                <a:spcPct val="35000"/>
              </a:spcBef>
              <a:buFont typeface="Wingdings" pitchFamily="2" charset="2"/>
              <a:buChar char="l"/>
            </a:pPr>
            <a:r>
              <a:rPr lang="zh-CN" altLang="en-US" sz="2800" dirty="0">
                <a:latin typeface="微软雅黑" pitchFamily="34" charset="-122"/>
                <a:ea typeface="微软雅黑" pitchFamily="34" charset="-122"/>
              </a:rPr>
              <a:t>重点在高级语言以下各抽象层</a:t>
            </a:r>
            <a:endParaRPr lang="en-US" altLang="zh-CN" sz="2800" dirty="0">
              <a:latin typeface="微软雅黑" pitchFamily="34" charset="-122"/>
              <a:ea typeface="微软雅黑" pitchFamily="34" charset="-122"/>
            </a:endParaRPr>
          </a:p>
          <a:p>
            <a:pPr lvl="1">
              <a:lnSpc>
                <a:spcPct val="105000"/>
              </a:lnSpc>
              <a:spcBef>
                <a:spcPct val="35000"/>
              </a:spcBef>
              <a:buFont typeface="Wingdings" pitchFamily="2" charset="2"/>
              <a:buChar char="Ø"/>
            </a:pPr>
            <a:r>
              <a:rPr lang="en-US" altLang="zh-CN" sz="2400" dirty="0">
                <a:latin typeface="微软雅黑" pitchFamily="34" charset="-122"/>
                <a:ea typeface="微软雅黑" pitchFamily="34" charset="-122"/>
              </a:rPr>
              <a:t>C</a:t>
            </a:r>
            <a:r>
              <a:rPr lang="zh-CN" altLang="en-US" sz="2400" dirty="0">
                <a:latin typeface="微软雅黑" pitchFamily="34" charset="-122"/>
                <a:ea typeface="微软雅黑" pitchFamily="34" charset="-122"/>
              </a:rPr>
              <a:t>语言程序设计层往下</a:t>
            </a:r>
          </a:p>
          <a:p>
            <a:pPr lvl="2">
              <a:lnSpc>
                <a:spcPct val="105000"/>
              </a:lnSpc>
              <a:spcBef>
                <a:spcPct val="35000"/>
              </a:spcBef>
              <a:buFont typeface="Wingdings" pitchFamily="2" charset="2"/>
              <a:buChar char="Ø"/>
            </a:pPr>
            <a:r>
              <a:rPr lang="zh-CN" altLang="en-US" sz="1800" dirty="0">
                <a:latin typeface="微软雅黑" pitchFamily="34" charset="-122"/>
                <a:ea typeface="微软雅黑" pitchFamily="34" charset="-122"/>
              </a:rPr>
              <a:t>数据结构数据表式、运算</a:t>
            </a:r>
          </a:p>
          <a:p>
            <a:pPr lvl="2">
              <a:lnSpc>
                <a:spcPct val="105000"/>
              </a:lnSpc>
              <a:spcBef>
                <a:spcPct val="35000"/>
              </a:spcBef>
              <a:buFont typeface="Wingdings" pitchFamily="2" charset="2"/>
              <a:buChar char="Ø"/>
            </a:pPr>
            <a:r>
              <a:rPr lang="zh-CN" altLang="en-US" sz="1800" dirty="0">
                <a:latin typeface="微软雅黑" pitchFamily="34" charset="-122"/>
                <a:ea typeface="微软雅黑" pitchFamily="34" charset="-122"/>
              </a:rPr>
              <a:t>语句和过程调用的机器级表示</a:t>
            </a:r>
            <a:endParaRPr lang="en-US" altLang="zh-CN" sz="2000" dirty="0">
              <a:latin typeface="微软雅黑" pitchFamily="34" charset="-122"/>
              <a:ea typeface="微软雅黑" pitchFamily="34" charset="-122"/>
            </a:endParaRPr>
          </a:p>
          <a:p>
            <a:pPr lvl="1">
              <a:lnSpc>
                <a:spcPct val="105000"/>
              </a:lnSpc>
              <a:spcBef>
                <a:spcPct val="35000"/>
              </a:spcBef>
              <a:buFont typeface="Wingdings" pitchFamily="2" charset="2"/>
              <a:buChar char="Ø"/>
            </a:pPr>
            <a:r>
              <a:rPr lang="zh-CN" altLang="en-US" sz="2400" dirty="0">
                <a:latin typeface="微软雅黑" pitchFamily="34" charset="-122"/>
                <a:ea typeface="微软雅黑" pitchFamily="34" charset="-122"/>
              </a:rPr>
              <a:t>指令集体系结构（</a:t>
            </a:r>
            <a:r>
              <a:rPr lang="en-US" altLang="zh-CN" sz="2400" dirty="0">
                <a:latin typeface="微软雅黑" pitchFamily="34" charset="-122"/>
                <a:ea typeface="微软雅黑" pitchFamily="34" charset="-122"/>
              </a:rPr>
              <a:t>ISA</a:t>
            </a:r>
            <a:r>
              <a:rPr lang="zh-CN" altLang="en-US" sz="2400" dirty="0">
                <a:latin typeface="微软雅黑" pitchFamily="34" charset="-122"/>
                <a:ea typeface="微软雅黑" pitchFamily="34" charset="-122"/>
              </a:rPr>
              <a:t>）和汇编层 </a:t>
            </a:r>
          </a:p>
          <a:p>
            <a:pPr lvl="2">
              <a:lnSpc>
                <a:spcPct val="105000"/>
              </a:lnSpc>
              <a:spcBef>
                <a:spcPct val="35000"/>
              </a:spcBef>
              <a:buFont typeface="Wingdings" pitchFamily="2" charset="2"/>
              <a:buChar char="Ø"/>
            </a:pPr>
            <a:r>
              <a:rPr lang="zh-CN" altLang="en-US" sz="1800" dirty="0">
                <a:latin typeface="微软雅黑" pitchFamily="34" charset="-122"/>
                <a:ea typeface="微软雅黑" pitchFamily="34" charset="-122"/>
              </a:rPr>
              <a:t>指令系统、机器代码、汇编语言</a:t>
            </a:r>
          </a:p>
          <a:p>
            <a:pPr lvl="1">
              <a:lnSpc>
                <a:spcPct val="105000"/>
              </a:lnSpc>
              <a:spcBef>
                <a:spcPct val="35000"/>
              </a:spcBef>
              <a:buFont typeface="Wingdings" pitchFamily="2" charset="2"/>
              <a:buChar char="Ø"/>
            </a:pPr>
            <a:r>
              <a:rPr lang="zh-CN" altLang="en-US" sz="2400" dirty="0">
                <a:latin typeface="微软雅黑" pitchFamily="34" charset="-122"/>
                <a:ea typeface="微软雅黑" pitchFamily="34" charset="-122"/>
              </a:rPr>
              <a:t>微体系结构及硬件层</a:t>
            </a:r>
          </a:p>
          <a:p>
            <a:pPr lvl="2">
              <a:lnSpc>
                <a:spcPct val="105000"/>
              </a:lnSpc>
              <a:spcBef>
                <a:spcPct val="35000"/>
              </a:spcBef>
              <a:buFont typeface="Wingdings" pitchFamily="2" charset="2"/>
              <a:buChar char="Ø"/>
            </a:pPr>
            <a:r>
              <a:rPr lang="en-US" altLang="zh-CN" sz="1800" dirty="0">
                <a:latin typeface="微软雅黑" pitchFamily="34" charset="-122"/>
                <a:ea typeface="微软雅黑" pitchFamily="34" charset="-122"/>
              </a:rPr>
              <a:t>CPU</a:t>
            </a:r>
            <a:r>
              <a:rPr lang="zh-CN" altLang="en-US" sz="1800" dirty="0">
                <a:latin typeface="微软雅黑" pitchFamily="34" charset="-122"/>
                <a:ea typeface="微软雅黑" pitchFamily="34" charset="-122"/>
              </a:rPr>
              <a:t>的通用结构</a:t>
            </a:r>
          </a:p>
          <a:p>
            <a:pPr lvl="2">
              <a:lnSpc>
                <a:spcPct val="105000"/>
              </a:lnSpc>
              <a:spcBef>
                <a:spcPct val="35000"/>
              </a:spcBef>
              <a:buFont typeface="Wingdings" pitchFamily="2" charset="2"/>
              <a:buChar char="Ø"/>
            </a:pPr>
            <a:r>
              <a:rPr lang="zh-CN" altLang="en-US" sz="1800" dirty="0">
                <a:latin typeface="微软雅黑" pitchFamily="34" charset="-122"/>
                <a:ea typeface="微软雅黑" pitchFamily="34" charset="-122"/>
              </a:rPr>
              <a:t>层次结构存储系统</a:t>
            </a:r>
            <a:endParaRPr lang="en-US" altLang="zh-CN" sz="1800" dirty="0">
              <a:latin typeface="微软雅黑" pitchFamily="34" charset="-122"/>
              <a:ea typeface="微软雅黑" pitchFamily="34" charset="-122"/>
            </a:endParaRPr>
          </a:p>
          <a:p>
            <a:pPr lvl="1">
              <a:lnSpc>
                <a:spcPct val="105000"/>
              </a:lnSpc>
              <a:spcBef>
                <a:spcPct val="35000"/>
              </a:spcBef>
              <a:buFont typeface="Wingdings" pitchFamily="2" charset="2"/>
              <a:buChar char="Ø"/>
            </a:pPr>
            <a:r>
              <a:rPr lang="zh-CN" altLang="en-US" sz="2400" dirty="0">
                <a:ea typeface="微软雅黑" pitchFamily="34" charset="-122"/>
              </a:rPr>
              <a:t>操作系统、编译和链接的部分内容</a:t>
            </a:r>
          </a:p>
        </p:txBody>
      </p:sp>
      <p:pic>
        <p:nvPicPr>
          <p:cNvPr id="415748" name="Picture 4"/>
          <p:cNvPicPr>
            <a:picLocks noChangeAspect="1" noChangeArrowheads="1"/>
          </p:cNvPicPr>
          <p:nvPr/>
        </p:nvPicPr>
        <p:blipFill>
          <a:blip r:embed="rId3"/>
          <a:srcRect/>
          <a:stretch>
            <a:fillRect/>
          </a:stretch>
        </p:blipFill>
        <p:spPr bwMode="auto">
          <a:xfrm>
            <a:off x="6726238" y="1763714"/>
            <a:ext cx="3751262" cy="4725987"/>
          </a:xfrm>
          <a:prstGeom prst="rect">
            <a:avLst/>
          </a:prstGeom>
          <a:noFill/>
          <a:ln w="9525">
            <a:noFill/>
            <a:miter lim="800000"/>
            <a:headEnd/>
            <a:tailEnd/>
          </a:ln>
        </p:spPr>
      </p:pic>
      <p:grpSp>
        <p:nvGrpSpPr>
          <p:cNvPr id="415751" name="Group 7"/>
          <p:cNvGrpSpPr>
            <a:grpSpLocks/>
          </p:cNvGrpSpPr>
          <p:nvPr/>
        </p:nvGrpSpPr>
        <p:grpSpPr bwMode="auto">
          <a:xfrm>
            <a:off x="4116388" y="2303464"/>
            <a:ext cx="2519362" cy="2700337"/>
            <a:chOff x="1633" y="1451"/>
            <a:chExt cx="1587" cy="1701"/>
          </a:xfrm>
        </p:grpSpPr>
        <p:sp>
          <p:nvSpPr>
            <p:cNvPr id="415749" name="Line 5"/>
            <p:cNvSpPr>
              <a:spLocks noChangeShapeType="1"/>
            </p:cNvSpPr>
            <p:nvPr/>
          </p:nvSpPr>
          <p:spPr bwMode="auto">
            <a:xfrm>
              <a:off x="1633" y="1451"/>
              <a:ext cx="1587" cy="482"/>
            </a:xfrm>
            <a:prstGeom prst="line">
              <a:avLst/>
            </a:prstGeom>
            <a:noFill/>
            <a:ln w="38100">
              <a:solidFill>
                <a:srgbClr val="FF0000"/>
              </a:solidFill>
              <a:round/>
              <a:headEnd/>
              <a:tailEnd type="triangle" w="med" len="med"/>
            </a:ln>
            <a:effectLst/>
          </p:spPr>
          <p:txBody>
            <a:bodyPr/>
            <a:lstStyle/>
            <a:p>
              <a:endParaRPr lang="zh-CN" altLang="en-US"/>
            </a:p>
          </p:txBody>
        </p:sp>
        <p:sp>
          <p:nvSpPr>
            <p:cNvPr id="415750" name="Line 6"/>
            <p:cNvSpPr>
              <a:spLocks noChangeShapeType="1"/>
            </p:cNvSpPr>
            <p:nvPr/>
          </p:nvSpPr>
          <p:spPr bwMode="auto">
            <a:xfrm>
              <a:off x="3220" y="1933"/>
              <a:ext cx="0" cy="1219"/>
            </a:xfrm>
            <a:prstGeom prst="line">
              <a:avLst/>
            </a:prstGeom>
            <a:noFill/>
            <a:ln w="38100">
              <a:solidFill>
                <a:srgbClr val="FF0000"/>
              </a:solidFill>
              <a:round/>
              <a:headEnd/>
              <a:tailEnd type="triangle" w="med" len="med"/>
            </a:ln>
            <a:effectLst/>
          </p:spPr>
          <p:txBody>
            <a:bodyPr/>
            <a:lstStyle/>
            <a:p>
              <a:endParaRPr lang="zh-CN" altLang="en-US"/>
            </a:p>
          </p:txBody>
        </p:sp>
      </p:grpSp>
      <p:sp>
        <p:nvSpPr>
          <p:cNvPr id="415753" name="Rectangle 9"/>
          <p:cNvSpPr>
            <a:spLocks noChangeArrowheads="1"/>
          </p:cNvSpPr>
          <p:nvPr/>
        </p:nvSpPr>
        <p:spPr bwMode="auto">
          <a:xfrm>
            <a:off x="6816725" y="2889251"/>
            <a:ext cx="3600450" cy="449263"/>
          </a:xfrm>
          <a:prstGeom prst="rect">
            <a:avLst/>
          </a:prstGeom>
          <a:solidFill>
            <a:srgbClr val="008080">
              <a:alpha val="25000"/>
            </a:srgbClr>
          </a:solidFill>
          <a:ln w="9525">
            <a:solidFill>
              <a:schemeClr val="tx1"/>
            </a:solidFill>
            <a:miter lim="800000"/>
            <a:headEnd/>
            <a:tailEnd/>
          </a:ln>
          <a:effectLst/>
        </p:spPr>
        <p:txBody>
          <a:bodyPr wrap="none" anchor="ctr"/>
          <a:lstStyle/>
          <a:p>
            <a:endParaRPr lang="zh-CN" altLang="en-US"/>
          </a:p>
        </p:txBody>
      </p:sp>
      <p:sp>
        <p:nvSpPr>
          <p:cNvPr id="415754" name="Rectangle 10"/>
          <p:cNvSpPr>
            <a:spLocks noChangeArrowheads="1"/>
          </p:cNvSpPr>
          <p:nvPr/>
        </p:nvSpPr>
        <p:spPr bwMode="auto">
          <a:xfrm>
            <a:off x="6816725" y="3833813"/>
            <a:ext cx="3600450" cy="539750"/>
          </a:xfrm>
          <a:prstGeom prst="rect">
            <a:avLst/>
          </a:prstGeom>
          <a:solidFill>
            <a:srgbClr val="FFCC00">
              <a:alpha val="25000"/>
            </a:srgbClr>
          </a:solidFill>
          <a:ln w="9525">
            <a:solidFill>
              <a:schemeClr val="tx1"/>
            </a:solidFill>
            <a:miter lim="800000"/>
            <a:headEnd/>
            <a:tailEnd/>
          </a:ln>
          <a:effectLst/>
        </p:spPr>
        <p:txBody>
          <a:bodyPr wrap="none" anchor="ctr"/>
          <a:lstStyle/>
          <a:p>
            <a:endParaRPr lang="zh-CN" altLang="en-US"/>
          </a:p>
        </p:txBody>
      </p:sp>
      <p:sp>
        <p:nvSpPr>
          <p:cNvPr id="415755" name="Rectangle 11"/>
          <p:cNvSpPr>
            <a:spLocks noChangeArrowheads="1"/>
          </p:cNvSpPr>
          <p:nvPr/>
        </p:nvSpPr>
        <p:spPr bwMode="auto">
          <a:xfrm>
            <a:off x="6816725" y="4419601"/>
            <a:ext cx="3600450" cy="449263"/>
          </a:xfrm>
          <a:prstGeom prst="rect">
            <a:avLst/>
          </a:prstGeom>
          <a:solidFill>
            <a:srgbClr val="FF0000">
              <a:alpha val="25000"/>
            </a:srgbClr>
          </a:solidFill>
          <a:ln w="9525">
            <a:solidFill>
              <a:schemeClr val="tx1"/>
            </a:solidFill>
            <a:miter lim="800000"/>
            <a:headEnd/>
            <a:tailEnd/>
          </a:ln>
          <a:effectLst/>
        </p:spPr>
        <p:txBody>
          <a:bodyPr wrap="none" anchor="ctr"/>
          <a:lstStyle/>
          <a:p>
            <a:endParaRPr lang="zh-CN" altLang="en-US"/>
          </a:p>
        </p:txBody>
      </p:sp>
      <p:sp>
        <p:nvSpPr>
          <p:cNvPr id="415756" name="Rectangle 12"/>
          <p:cNvSpPr>
            <a:spLocks noChangeArrowheads="1"/>
          </p:cNvSpPr>
          <p:nvPr/>
        </p:nvSpPr>
        <p:spPr bwMode="auto">
          <a:xfrm>
            <a:off x="6816725" y="3338513"/>
            <a:ext cx="1920875" cy="495300"/>
          </a:xfrm>
          <a:prstGeom prst="rect">
            <a:avLst/>
          </a:prstGeom>
          <a:solidFill>
            <a:srgbClr val="800080">
              <a:alpha val="25000"/>
            </a:srgbClr>
          </a:solidFill>
          <a:ln w="9525">
            <a:solidFill>
              <a:schemeClr val="tx1"/>
            </a:solidFill>
            <a:miter lim="800000"/>
            <a:headEnd/>
            <a:tailEnd/>
          </a:ln>
          <a:effectLst/>
        </p:spPr>
        <p:txBody>
          <a:bodyPr wrap="none" anchor="ctr"/>
          <a:lstStyle/>
          <a:p>
            <a:endParaRPr lang="zh-CN" altLang="en-US"/>
          </a:p>
        </p:txBody>
      </p:sp>
      <p:grpSp>
        <p:nvGrpSpPr>
          <p:cNvPr id="415760" name="Group 16"/>
          <p:cNvGrpSpPr>
            <a:grpSpLocks/>
          </p:cNvGrpSpPr>
          <p:nvPr/>
        </p:nvGrpSpPr>
        <p:grpSpPr bwMode="auto">
          <a:xfrm>
            <a:off x="8210551" y="944563"/>
            <a:ext cx="3236913" cy="2330450"/>
            <a:chOff x="4184" y="579"/>
            <a:chExt cx="2039" cy="1468"/>
          </a:xfrm>
        </p:grpSpPr>
        <p:sp>
          <p:nvSpPr>
            <p:cNvPr id="415757" name="Text Box 13"/>
            <p:cNvSpPr txBox="1">
              <a:spLocks noChangeArrowheads="1"/>
            </p:cNvSpPr>
            <p:nvPr/>
          </p:nvSpPr>
          <p:spPr bwMode="auto">
            <a:xfrm>
              <a:off x="4184" y="579"/>
              <a:ext cx="2039" cy="407"/>
            </a:xfrm>
            <a:prstGeom prst="rect">
              <a:avLst/>
            </a:prstGeom>
            <a:solidFill>
              <a:schemeClr val="bg1"/>
            </a:solidFill>
            <a:ln w="9525">
              <a:solidFill>
                <a:srgbClr val="0000FF"/>
              </a:solidFill>
              <a:miter lim="800000"/>
              <a:headEnd/>
              <a:tailEnd/>
            </a:ln>
            <a:effectLst/>
          </p:spPr>
          <p:txBody>
            <a:bodyPr wrap="square">
              <a:spAutoFit/>
            </a:bodyPr>
            <a:lstStyle/>
            <a:p>
              <a:pPr>
                <a:spcBef>
                  <a:spcPct val="50000"/>
                </a:spcBef>
              </a:pPr>
              <a:r>
                <a:rPr lang="zh-CN" altLang="en-US" b="1" dirty="0">
                  <a:solidFill>
                    <a:srgbClr val="0000FF"/>
                  </a:solidFill>
                  <a:latin typeface="微软雅黑" pitchFamily="34" charset="-122"/>
                  <a:ea typeface="微软雅黑" pitchFamily="34" charset="-122"/>
                </a:rPr>
                <a:t>“问题求解”课程解决应用</a:t>
              </a:r>
              <a:r>
                <a:rPr lang="en-US" altLang="zh-CN" b="1" dirty="0">
                  <a:solidFill>
                    <a:srgbClr val="0000FF"/>
                  </a:solidFill>
                  <a:ea typeface="微软雅黑" pitchFamily="34" charset="-122"/>
                  <a:cs typeface="Arial" pitchFamily="34" charset="0"/>
                </a:rPr>
                <a:t>→</a:t>
              </a:r>
              <a:r>
                <a:rPr lang="zh-CN" altLang="en-US" b="1" dirty="0">
                  <a:solidFill>
                    <a:srgbClr val="0000FF"/>
                  </a:solidFill>
                  <a:latin typeface="微软雅黑" pitchFamily="34" charset="-122"/>
                  <a:ea typeface="微软雅黑" pitchFamily="34" charset="-122"/>
                </a:rPr>
                <a:t>算法（数据结构）</a:t>
              </a:r>
              <a:r>
                <a:rPr lang="en-US" altLang="zh-CN" b="1" dirty="0">
                  <a:solidFill>
                    <a:srgbClr val="0000FF"/>
                  </a:solidFill>
                </a:rPr>
                <a:t>→</a:t>
              </a:r>
              <a:r>
                <a:rPr lang="zh-CN" altLang="en-US" b="1" dirty="0">
                  <a:solidFill>
                    <a:srgbClr val="0000FF"/>
                  </a:solidFill>
                  <a:latin typeface="微软雅黑" pitchFamily="34" charset="-122"/>
                  <a:ea typeface="微软雅黑" pitchFamily="34" charset="-122"/>
                </a:rPr>
                <a:t>编程层</a:t>
              </a:r>
            </a:p>
          </p:txBody>
        </p:sp>
        <p:sp>
          <p:nvSpPr>
            <p:cNvPr id="415759" name="Line 15"/>
            <p:cNvSpPr>
              <a:spLocks noChangeShapeType="1"/>
            </p:cNvSpPr>
            <p:nvPr/>
          </p:nvSpPr>
          <p:spPr bwMode="auto">
            <a:xfrm>
              <a:off x="5658" y="1054"/>
              <a:ext cx="0" cy="993"/>
            </a:xfrm>
            <a:prstGeom prst="line">
              <a:avLst/>
            </a:prstGeom>
            <a:noFill/>
            <a:ln w="38100">
              <a:solidFill>
                <a:srgbClr val="FF0000"/>
              </a:solidFill>
              <a:round/>
              <a:headEnd/>
              <a:tailEnd type="triangle" w="med" len="med"/>
            </a:ln>
            <a:effectLst/>
          </p:spPr>
          <p:txBody>
            <a:bodyPr/>
            <a:lstStyle/>
            <a:p>
              <a:endParaRPr lang="zh-CN" altLang="en-US"/>
            </a:p>
          </p:txBody>
        </p:sp>
      </p:grpSp>
      <p:sp>
        <p:nvSpPr>
          <p:cNvPr id="3" name="灯片编号占位符 2"/>
          <p:cNvSpPr>
            <a:spLocks noGrp="1"/>
          </p:cNvSpPr>
          <p:nvPr>
            <p:ph type="sldNum" sz="quarter" idx="12"/>
          </p:nvPr>
        </p:nvSpPr>
        <p:spPr/>
        <p:txBody>
          <a:bodyPr/>
          <a:lstStyle/>
          <a:p>
            <a:pPr>
              <a:defRPr/>
            </a:pPr>
            <a:fld id="{C04D5D84-F493-480C-9B02-1533CB18E289}" type="slidenum">
              <a:rPr lang="en-US" altLang="zh-CN" smtClean="0"/>
              <a:pPr>
                <a:defRPr/>
              </a:pPr>
              <a:t>8</a:t>
            </a:fld>
            <a:endParaRPr lang="en-US" altLang="zh-CN"/>
          </a:p>
        </p:txBody>
      </p:sp>
    </p:spTree>
    <p:extLst>
      <p:ext uri="{BB962C8B-B14F-4D97-AF65-F5344CB8AC3E}">
        <p14:creationId xmlns:p14="http://schemas.microsoft.com/office/powerpoint/2010/main" val="4339180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415748"/>
                                        </p:tgtEl>
                                        <p:attrNameLst>
                                          <p:attrName>style.visibility</p:attrName>
                                        </p:attrNameLst>
                                      </p:cBhvr>
                                      <p:to>
                                        <p:strVal val="visible"/>
                                      </p:to>
                                    </p:set>
                                    <p:animEffect transition="in" filter="blinds(horizontal)">
                                      <p:cBhvr>
                                        <p:cTn id="7" dur="500"/>
                                        <p:tgtEl>
                                          <p:spTgt spid="415748"/>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415760"/>
                                        </p:tgtEl>
                                        <p:attrNameLst>
                                          <p:attrName>style.visibility</p:attrName>
                                        </p:attrNameLst>
                                      </p:cBhvr>
                                      <p:to>
                                        <p:strVal val="visible"/>
                                      </p:to>
                                    </p:set>
                                    <p:animEffect transition="in" filter="blinds(horizontal)">
                                      <p:cBhvr>
                                        <p:cTn id="12" dur="500"/>
                                        <p:tgtEl>
                                          <p:spTgt spid="415760"/>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nodeType="clickEffect">
                                  <p:stCondLst>
                                    <p:cond delay="0"/>
                                  </p:stCondLst>
                                  <p:childTnLst>
                                    <p:set>
                                      <p:cBhvr>
                                        <p:cTn id="16" dur="1" fill="hold">
                                          <p:stCondLst>
                                            <p:cond delay="0"/>
                                          </p:stCondLst>
                                        </p:cTn>
                                        <p:tgtEl>
                                          <p:spTgt spid="415751"/>
                                        </p:tgtEl>
                                        <p:attrNameLst>
                                          <p:attrName>style.visibility</p:attrName>
                                        </p:attrNameLst>
                                      </p:cBhvr>
                                      <p:to>
                                        <p:strVal val="visible"/>
                                      </p:to>
                                    </p:set>
                                    <p:animEffect transition="in" filter="blinds(horizontal)">
                                      <p:cBhvr>
                                        <p:cTn id="17" dur="500"/>
                                        <p:tgtEl>
                                          <p:spTgt spid="415751"/>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415753"/>
                                        </p:tgtEl>
                                        <p:attrNameLst>
                                          <p:attrName>style.visibility</p:attrName>
                                        </p:attrNameLst>
                                      </p:cBhvr>
                                      <p:to>
                                        <p:strVal val="visible"/>
                                      </p:to>
                                    </p:set>
                                    <p:animEffect transition="in" filter="blinds(horizontal)">
                                      <p:cBhvr>
                                        <p:cTn id="22" dur="500"/>
                                        <p:tgtEl>
                                          <p:spTgt spid="415753"/>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nodeType="clickEffect">
                                  <p:stCondLst>
                                    <p:cond delay="0"/>
                                  </p:stCondLst>
                                  <p:childTnLst>
                                    <p:set>
                                      <p:cBhvr>
                                        <p:cTn id="26" dur="1" fill="hold">
                                          <p:stCondLst>
                                            <p:cond delay="0"/>
                                          </p:stCondLst>
                                        </p:cTn>
                                        <p:tgtEl>
                                          <p:spTgt spid="415747">
                                            <p:txEl>
                                              <p:pRg st="3" end="3"/>
                                            </p:txEl>
                                          </p:spTgt>
                                        </p:tgtEl>
                                        <p:attrNameLst>
                                          <p:attrName>style.visibility</p:attrName>
                                        </p:attrNameLst>
                                      </p:cBhvr>
                                      <p:to>
                                        <p:strVal val="visible"/>
                                      </p:to>
                                    </p:set>
                                    <p:animEffect transition="in" filter="blinds(horizontal)">
                                      <p:cBhvr>
                                        <p:cTn id="27" dur="500"/>
                                        <p:tgtEl>
                                          <p:spTgt spid="415747">
                                            <p:txEl>
                                              <p:pRg st="3" end="3"/>
                                            </p:txEl>
                                          </p:spTgt>
                                        </p:tgtEl>
                                      </p:cBhvr>
                                    </p:animEffect>
                                  </p:childTnLst>
                                </p:cTn>
                              </p:par>
                              <p:par>
                                <p:cTn id="28" presetID="3" presetClass="entr" presetSubtype="10" fill="hold" nodeType="withEffect">
                                  <p:stCondLst>
                                    <p:cond delay="0"/>
                                  </p:stCondLst>
                                  <p:childTnLst>
                                    <p:set>
                                      <p:cBhvr>
                                        <p:cTn id="29" dur="1" fill="hold">
                                          <p:stCondLst>
                                            <p:cond delay="0"/>
                                          </p:stCondLst>
                                        </p:cTn>
                                        <p:tgtEl>
                                          <p:spTgt spid="415747">
                                            <p:txEl>
                                              <p:pRg st="4" end="4"/>
                                            </p:txEl>
                                          </p:spTgt>
                                        </p:tgtEl>
                                        <p:attrNameLst>
                                          <p:attrName>style.visibility</p:attrName>
                                        </p:attrNameLst>
                                      </p:cBhvr>
                                      <p:to>
                                        <p:strVal val="visible"/>
                                      </p:to>
                                    </p:set>
                                    <p:animEffect transition="in" filter="blinds(horizontal)">
                                      <p:cBhvr>
                                        <p:cTn id="30" dur="500"/>
                                        <p:tgtEl>
                                          <p:spTgt spid="415747">
                                            <p:txEl>
                                              <p:pRg st="4" end="4"/>
                                            </p:txEl>
                                          </p:spTgt>
                                        </p:tgtEl>
                                      </p:cBhvr>
                                    </p:animEffect>
                                  </p:childTnLst>
                                </p:cTn>
                              </p:par>
                              <p:par>
                                <p:cTn id="31" presetID="3" presetClass="entr" presetSubtype="10" fill="hold" nodeType="withEffect">
                                  <p:stCondLst>
                                    <p:cond delay="0"/>
                                  </p:stCondLst>
                                  <p:childTnLst>
                                    <p:set>
                                      <p:cBhvr>
                                        <p:cTn id="32" dur="1" fill="hold">
                                          <p:stCondLst>
                                            <p:cond delay="0"/>
                                          </p:stCondLst>
                                        </p:cTn>
                                        <p:tgtEl>
                                          <p:spTgt spid="415747">
                                            <p:txEl>
                                              <p:pRg st="5" end="5"/>
                                            </p:txEl>
                                          </p:spTgt>
                                        </p:tgtEl>
                                        <p:attrNameLst>
                                          <p:attrName>style.visibility</p:attrName>
                                        </p:attrNameLst>
                                      </p:cBhvr>
                                      <p:to>
                                        <p:strVal val="visible"/>
                                      </p:to>
                                    </p:set>
                                    <p:animEffect transition="in" filter="blinds(horizontal)">
                                      <p:cBhvr>
                                        <p:cTn id="33" dur="500"/>
                                        <p:tgtEl>
                                          <p:spTgt spid="415747">
                                            <p:txEl>
                                              <p:pRg st="5" end="5"/>
                                            </p:txEl>
                                          </p:spTgt>
                                        </p:tgtEl>
                                      </p:cBhvr>
                                    </p:animEffect>
                                  </p:childTnLst>
                                </p:cTn>
                              </p:par>
                            </p:childTnLst>
                          </p:cTn>
                        </p:par>
                      </p:childTnLst>
                    </p:cTn>
                  </p:par>
                  <p:par>
                    <p:cTn id="34" fill="hold">
                      <p:stCondLst>
                        <p:cond delay="indefinite"/>
                      </p:stCondLst>
                      <p:childTnLst>
                        <p:par>
                          <p:cTn id="35" fill="hold">
                            <p:stCondLst>
                              <p:cond delay="0"/>
                            </p:stCondLst>
                            <p:childTnLst>
                              <p:par>
                                <p:cTn id="36" presetID="3" presetClass="entr" presetSubtype="10" fill="hold" grpId="0" nodeType="clickEffect">
                                  <p:stCondLst>
                                    <p:cond delay="0"/>
                                  </p:stCondLst>
                                  <p:childTnLst>
                                    <p:set>
                                      <p:cBhvr>
                                        <p:cTn id="37" dur="1" fill="hold">
                                          <p:stCondLst>
                                            <p:cond delay="0"/>
                                          </p:stCondLst>
                                        </p:cTn>
                                        <p:tgtEl>
                                          <p:spTgt spid="415754"/>
                                        </p:tgtEl>
                                        <p:attrNameLst>
                                          <p:attrName>style.visibility</p:attrName>
                                        </p:attrNameLst>
                                      </p:cBhvr>
                                      <p:to>
                                        <p:strVal val="visible"/>
                                      </p:to>
                                    </p:set>
                                    <p:animEffect transition="in" filter="blinds(horizontal)">
                                      <p:cBhvr>
                                        <p:cTn id="38" dur="500"/>
                                        <p:tgtEl>
                                          <p:spTgt spid="415754"/>
                                        </p:tgtEl>
                                      </p:cBhvr>
                                    </p:animEffect>
                                  </p:childTnLst>
                                </p:cTn>
                              </p:par>
                            </p:childTnLst>
                          </p:cTn>
                        </p:par>
                      </p:childTnLst>
                    </p:cTn>
                  </p:par>
                  <p:par>
                    <p:cTn id="39" fill="hold">
                      <p:stCondLst>
                        <p:cond delay="indefinite"/>
                      </p:stCondLst>
                      <p:childTnLst>
                        <p:par>
                          <p:cTn id="40" fill="hold">
                            <p:stCondLst>
                              <p:cond delay="0"/>
                            </p:stCondLst>
                            <p:childTnLst>
                              <p:par>
                                <p:cTn id="41" presetID="3" presetClass="entr" presetSubtype="10" fill="hold" nodeType="clickEffect">
                                  <p:stCondLst>
                                    <p:cond delay="0"/>
                                  </p:stCondLst>
                                  <p:childTnLst>
                                    <p:set>
                                      <p:cBhvr>
                                        <p:cTn id="42" dur="1" fill="hold">
                                          <p:stCondLst>
                                            <p:cond delay="0"/>
                                          </p:stCondLst>
                                        </p:cTn>
                                        <p:tgtEl>
                                          <p:spTgt spid="415747">
                                            <p:txEl>
                                              <p:pRg st="6" end="6"/>
                                            </p:txEl>
                                          </p:spTgt>
                                        </p:tgtEl>
                                        <p:attrNameLst>
                                          <p:attrName>style.visibility</p:attrName>
                                        </p:attrNameLst>
                                      </p:cBhvr>
                                      <p:to>
                                        <p:strVal val="visible"/>
                                      </p:to>
                                    </p:set>
                                    <p:animEffect transition="in" filter="blinds(horizontal)">
                                      <p:cBhvr>
                                        <p:cTn id="43" dur="500"/>
                                        <p:tgtEl>
                                          <p:spTgt spid="415747">
                                            <p:txEl>
                                              <p:pRg st="6" end="6"/>
                                            </p:txEl>
                                          </p:spTgt>
                                        </p:tgtEl>
                                      </p:cBhvr>
                                    </p:animEffect>
                                  </p:childTnLst>
                                </p:cTn>
                              </p:par>
                              <p:par>
                                <p:cTn id="44" presetID="3" presetClass="entr" presetSubtype="10" fill="hold" nodeType="withEffect">
                                  <p:stCondLst>
                                    <p:cond delay="0"/>
                                  </p:stCondLst>
                                  <p:childTnLst>
                                    <p:set>
                                      <p:cBhvr>
                                        <p:cTn id="45" dur="1" fill="hold">
                                          <p:stCondLst>
                                            <p:cond delay="0"/>
                                          </p:stCondLst>
                                        </p:cTn>
                                        <p:tgtEl>
                                          <p:spTgt spid="415747">
                                            <p:txEl>
                                              <p:pRg st="7" end="7"/>
                                            </p:txEl>
                                          </p:spTgt>
                                        </p:tgtEl>
                                        <p:attrNameLst>
                                          <p:attrName>style.visibility</p:attrName>
                                        </p:attrNameLst>
                                      </p:cBhvr>
                                      <p:to>
                                        <p:strVal val="visible"/>
                                      </p:to>
                                    </p:set>
                                    <p:animEffect transition="in" filter="blinds(horizontal)">
                                      <p:cBhvr>
                                        <p:cTn id="46" dur="500"/>
                                        <p:tgtEl>
                                          <p:spTgt spid="415747">
                                            <p:txEl>
                                              <p:pRg st="7" end="7"/>
                                            </p:txEl>
                                          </p:spTgt>
                                        </p:tgtEl>
                                      </p:cBhvr>
                                    </p:animEffect>
                                  </p:childTnLst>
                                </p:cTn>
                              </p:par>
                            </p:childTnLst>
                          </p:cTn>
                        </p:par>
                      </p:childTnLst>
                    </p:cTn>
                  </p:par>
                  <p:par>
                    <p:cTn id="47" fill="hold">
                      <p:stCondLst>
                        <p:cond delay="indefinite"/>
                      </p:stCondLst>
                      <p:childTnLst>
                        <p:par>
                          <p:cTn id="48" fill="hold">
                            <p:stCondLst>
                              <p:cond delay="0"/>
                            </p:stCondLst>
                            <p:childTnLst>
                              <p:par>
                                <p:cTn id="49" presetID="3" presetClass="entr" presetSubtype="10" fill="hold" grpId="0" nodeType="clickEffect">
                                  <p:stCondLst>
                                    <p:cond delay="0"/>
                                  </p:stCondLst>
                                  <p:childTnLst>
                                    <p:set>
                                      <p:cBhvr>
                                        <p:cTn id="50" dur="1" fill="hold">
                                          <p:stCondLst>
                                            <p:cond delay="0"/>
                                          </p:stCondLst>
                                        </p:cTn>
                                        <p:tgtEl>
                                          <p:spTgt spid="415755"/>
                                        </p:tgtEl>
                                        <p:attrNameLst>
                                          <p:attrName>style.visibility</p:attrName>
                                        </p:attrNameLst>
                                      </p:cBhvr>
                                      <p:to>
                                        <p:strVal val="visible"/>
                                      </p:to>
                                    </p:set>
                                    <p:animEffect transition="in" filter="blinds(horizontal)">
                                      <p:cBhvr>
                                        <p:cTn id="51" dur="500"/>
                                        <p:tgtEl>
                                          <p:spTgt spid="415755"/>
                                        </p:tgtEl>
                                      </p:cBhvr>
                                    </p:animEffect>
                                  </p:childTnLst>
                                </p:cTn>
                              </p:par>
                            </p:childTnLst>
                          </p:cTn>
                        </p:par>
                      </p:childTnLst>
                    </p:cTn>
                  </p:par>
                  <p:par>
                    <p:cTn id="52" fill="hold">
                      <p:stCondLst>
                        <p:cond delay="indefinite"/>
                      </p:stCondLst>
                      <p:childTnLst>
                        <p:par>
                          <p:cTn id="53" fill="hold">
                            <p:stCondLst>
                              <p:cond delay="0"/>
                            </p:stCondLst>
                            <p:childTnLst>
                              <p:par>
                                <p:cTn id="54" presetID="3" presetClass="entr" presetSubtype="10" fill="hold" nodeType="clickEffect">
                                  <p:stCondLst>
                                    <p:cond delay="0"/>
                                  </p:stCondLst>
                                  <p:childTnLst>
                                    <p:set>
                                      <p:cBhvr>
                                        <p:cTn id="55" dur="1" fill="hold">
                                          <p:stCondLst>
                                            <p:cond delay="0"/>
                                          </p:stCondLst>
                                        </p:cTn>
                                        <p:tgtEl>
                                          <p:spTgt spid="415747">
                                            <p:txEl>
                                              <p:pRg st="8" end="8"/>
                                            </p:txEl>
                                          </p:spTgt>
                                        </p:tgtEl>
                                        <p:attrNameLst>
                                          <p:attrName>style.visibility</p:attrName>
                                        </p:attrNameLst>
                                      </p:cBhvr>
                                      <p:to>
                                        <p:strVal val="visible"/>
                                      </p:to>
                                    </p:set>
                                    <p:animEffect transition="in" filter="blinds(horizontal)">
                                      <p:cBhvr>
                                        <p:cTn id="56" dur="500"/>
                                        <p:tgtEl>
                                          <p:spTgt spid="415747">
                                            <p:txEl>
                                              <p:pRg st="8" end="8"/>
                                            </p:txEl>
                                          </p:spTgt>
                                        </p:tgtEl>
                                      </p:cBhvr>
                                    </p:animEffect>
                                  </p:childTnLst>
                                </p:cTn>
                              </p:par>
                              <p:par>
                                <p:cTn id="57" presetID="3" presetClass="entr" presetSubtype="10" fill="hold" nodeType="withEffect">
                                  <p:stCondLst>
                                    <p:cond delay="0"/>
                                  </p:stCondLst>
                                  <p:childTnLst>
                                    <p:set>
                                      <p:cBhvr>
                                        <p:cTn id="58" dur="1" fill="hold">
                                          <p:stCondLst>
                                            <p:cond delay="0"/>
                                          </p:stCondLst>
                                        </p:cTn>
                                        <p:tgtEl>
                                          <p:spTgt spid="415747">
                                            <p:txEl>
                                              <p:pRg st="9" end="9"/>
                                            </p:txEl>
                                          </p:spTgt>
                                        </p:tgtEl>
                                        <p:attrNameLst>
                                          <p:attrName>style.visibility</p:attrName>
                                        </p:attrNameLst>
                                      </p:cBhvr>
                                      <p:to>
                                        <p:strVal val="visible"/>
                                      </p:to>
                                    </p:set>
                                    <p:animEffect transition="in" filter="blinds(horizontal)">
                                      <p:cBhvr>
                                        <p:cTn id="59" dur="500"/>
                                        <p:tgtEl>
                                          <p:spTgt spid="415747">
                                            <p:txEl>
                                              <p:pRg st="9" end="9"/>
                                            </p:txEl>
                                          </p:spTgt>
                                        </p:tgtEl>
                                      </p:cBhvr>
                                    </p:animEffect>
                                  </p:childTnLst>
                                </p:cTn>
                              </p:par>
                              <p:par>
                                <p:cTn id="60" presetID="3" presetClass="entr" presetSubtype="10" fill="hold" nodeType="withEffect">
                                  <p:stCondLst>
                                    <p:cond delay="0"/>
                                  </p:stCondLst>
                                  <p:childTnLst>
                                    <p:set>
                                      <p:cBhvr>
                                        <p:cTn id="61" dur="1" fill="hold">
                                          <p:stCondLst>
                                            <p:cond delay="0"/>
                                          </p:stCondLst>
                                        </p:cTn>
                                        <p:tgtEl>
                                          <p:spTgt spid="415747">
                                            <p:txEl>
                                              <p:pRg st="10" end="10"/>
                                            </p:txEl>
                                          </p:spTgt>
                                        </p:tgtEl>
                                        <p:attrNameLst>
                                          <p:attrName>style.visibility</p:attrName>
                                        </p:attrNameLst>
                                      </p:cBhvr>
                                      <p:to>
                                        <p:strVal val="visible"/>
                                      </p:to>
                                    </p:set>
                                    <p:animEffect transition="in" filter="blinds(horizontal)">
                                      <p:cBhvr>
                                        <p:cTn id="62" dur="500"/>
                                        <p:tgtEl>
                                          <p:spTgt spid="415747">
                                            <p:txEl>
                                              <p:pRg st="10" end="10"/>
                                            </p:txEl>
                                          </p:spTgt>
                                        </p:tgtEl>
                                      </p:cBhvr>
                                    </p:animEffect>
                                  </p:childTnLst>
                                </p:cTn>
                              </p:par>
                            </p:childTnLst>
                          </p:cTn>
                        </p:par>
                      </p:childTnLst>
                    </p:cTn>
                  </p:par>
                  <p:par>
                    <p:cTn id="63" fill="hold">
                      <p:stCondLst>
                        <p:cond delay="indefinite"/>
                      </p:stCondLst>
                      <p:childTnLst>
                        <p:par>
                          <p:cTn id="64" fill="hold">
                            <p:stCondLst>
                              <p:cond delay="0"/>
                            </p:stCondLst>
                            <p:childTnLst>
                              <p:par>
                                <p:cTn id="65" presetID="3" presetClass="entr" presetSubtype="10" fill="hold" grpId="0" nodeType="clickEffect">
                                  <p:stCondLst>
                                    <p:cond delay="0"/>
                                  </p:stCondLst>
                                  <p:childTnLst>
                                    <p:set>
                                      <p:cBhvr>
                                        <p:cTn id="66" dur="1" fill="hold">
                                          <p:stCondLst>
                                            <p:cond delay="0"/>
                                          </p:stCondLst>
                                        </p:cTn>
                                        <p:tgtEl>
                                          <p:spTgt spid="415756"/>
                                        </p:tgtEl>
                                        <p:attrNameLst>
                                          <p:attrName>style.visibility</p:attrName>
                                        </p:attrNameLst>
                                      </p:cBhvr>
                                      <p:to>
                                        <p:strVal val="visible"/>
                                      </p:to>
                                    </p:set>
                                    <p:animEffect transition="in" filter="blinds(horizontal)">
                                      <p:cBhvr>
                                        <p:cTn id="67" dur="500"/>
                                        <p:tgtEl>
                                          <p:spTgt spid="415756"/>
                                        </p:tgtEl>
                                      </p:cBhvr>
                                    </p:animEffect>
                                  </p:childTnLst>
                                </p:cTn>
                              </p:par>
                            </p:childTnLst>
                          </p:cTn>
                        </p:par>
                      </p:childTnLst>
                    </p:cTn>
                  </p:par>
                  <p:par>
                    <p:cTn id="68" fill="hold">
                      <p:stCondLst>
                        <p:cond delay="indefinite"/>
                      </p:stCondLst>
                      <p:childTnLst>
                        <p:par>
                          <p:cTn id="69" fill="hold">
                            <p:stCondLst>
                              <p:cond delay="0"/>
                            </p:stCondLst>
                            <p:childTnLst>
                              <p:par>
                                <p:cTn id="70" presetID="3" presetClass="entr" presetSubtype="10" fill="hold" nodeType="clickEffect">
                                  <p:stCondLst>
                                    <p:cond delay="0"/>
                                  </p:stCondLst>
                                  <p:childTnLst>
                                    <p:set>
                                      <p:cBhvr>
                                        <p:cTn id="71" dur="1" fill="hold">
                                          <p:stCondLst>
                                            <p:cond delay="0"/>
                                          </p:stCondLst>
                                        </p:cTn>
                                        <p:tgtEl>
                                          <p:spTgt spid="415747">
                                            <p:txEl>
                                              <p:pRg st="11" end="11"/>
                                            </p:txEl>
                                          </p:spTgt>
                                        </p:tgtEl>
                                        <p:attrNameLst>
                                          <p:attrName>style.visibility</p:attrName>
                                        </p:attrNameLst>
                                      </p:cBhvr>
                                      <p:to>
                                        <p:strVal val="visible"/>
                                      </p:to>
                                    </p:set>
                                    <p:animEffect transition="in" filter="blinds(horizontal)">
                                      <p:cBhvr>
                                        <p:cTn id="72" dur="500"/>
                                        <p:tgtEl>
                                          <p:spTgt spid="415747">
                                            <p:txEl>
                                              <p:pRg st="11" end="1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15753" grpId="0" animBg="1"/>
      <p:bldP spid="415754" grpId="0" animBg="1"/>
      <p:bldP spid="415755" grpId="0" animBg="1"/>
      <p:bldP spid="415756" grpId="0" animBg="1"/>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图片 5"/>
          <p:cNvPicPr>
            <a:picLocks noChangeAspect="1"/>
          </p:cNvPicPr>
          <p:nvPr/>
        </p:nvPicPr>
        <p:blipFill>
          <a:blip r:embed="rId3"/>
          <a:stretch>
            <a:fillRect/>
          </a:stretch>
        </p:blipFill>
        <p:spPr>
          <a:xfrm>
            <a:off x="824865" y="1220152"/>
            <a:ext cx="6610350" cy="4257675"/>
          </a:xfrm>
          <a:prstGeom prst="rect">
            <a:avLst/>
          </a:prstGeom>
        </p:spPr>
      </p:pic>
      <p:sp>
        <p:nvSpPr>
          <p:cNvPr id="2" name="灯片编号占位符 1"/>
          <p:cNvSpPr>
            <a:spLocks noGrp="1"/>
          </p:cNvSpPr>
          <p:nvPr>
            <p:ph type="sldNum" sz="quarter" idx="12"/>
          </p:nvPr>
        </p:nvSpPr>
        <p:spPr/>
        <p:txBody>
          <a:bodyPr/>
          <a:lstStyle/>
          <a:p>
            <a:pPr>
              <a:defRPr/>
            </a:pPr>
            <a:fld id="{891184C0-916E-4CCA-8FFE-169A3289BBF6}" type="slidenum">
              <a:rPr lang="zh-CN" altLang="en-US" smtClean="0"/>
              <a:pPr>
                <a:defRPr/>
              </a:pPr>
              <a:t>9</a:t>
            </a:fld>
            <a:endParaRPr lang="zh-CN" altLang="en-US"/>
          </a:p>
        </p:txBody>
      </p:sp>
      <p:sp>
        <p:nvSpPr>
          <p:cNvPr id="4" name="椭圆 3"/>
          <p:cNvSpPr/>
          <p:nvPr/>
        </p:nvSpPr>
        <p:spPr>
          <a:xfrm>
            <a:off x="5474970" y="1475423"/>
            <a:ext cx="754380" cy="2776537"/>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椭圆 4"/>
          <p:cNvSpPr/>
          <p:nvPr/>
        </p:nvSpPr>
        <p:spPr>
          <a:xfrm>
            <a:off x="5634990" y="2548890"/>
            <a:ext cx="422910" cy="285750"/>
          </a:xfrm>
          <a:prstGeom prst="ellipse">
            <a:avLst/>
          </a:prstGeom>
          <a:noFill/>
          <a:ln>
            <a:solidFill>
              <a:srgbClr val="00B05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文本框 6"/>
          <p:cNvSpPr txBox="1"/>
          <p:nvPr/>
        </p:nvSpPr>
        <p:spPr>
          <a:xfrm>
            <a:off x="4023360" y="765810"/>
            <a:ext cx="3611880" cy="369332"/>
          </a:xfrm>
          <a:prstGeom prst="rect">
            <a:avLst/>
          </a:prstGeom>
          <a:noFill/>
        </p:spPr>
        <p:txBody>
          <a:bodyPr wrap="square" rtlCol="0">
            <a:spAutoFit/>
          </a:bodyPr>
          <a:lstStyle/>
          <a:p>
            <a:r>
              <a:rPr lang="zh-CN" altLang="en-US" dirty="0"/>
              <a:t>授课内容</a:t>
            </a:r>
          </a:p>
        </p:txBody>
      </p:sp>
      <p:sp>
        <p:nvSpPr>
          <p:cNvPr id="3" name="矩形 2"/>
          <p:cNvSpPr/>
          <p:nvPr/>
        </p:nvSpPr>
        <p:spPr>
          <a:xfrm>
            <a:off x="8131810" y="1394461"/>
            <a:ext cx="3450590" cy="4185761"/>
          </a:xfrm>
          <a:prstGeom prst="rect">
            <a:avLst/>
          </a:prstGeom>
        </p:spPr>
        <p:txBody>
          <a:bodyPr wrap="square">
            <a:spAutoFit/>
          </a:bodyPr>
          <a:lstStyle/>
          <a:p>
            <a:r>
              <a:rPr lang="zh-CN" altLang="en-US" dirty="0"/>
              <a:t>本课程作为桥梁，衔接计算机系统的的各领域知识，与</a:t>
            </a:r>
            <a:r>
              <a:rPr lang="en-US" altLang="zh-CN" dirty="0"/>
              <a:t>《</a:t>
            </a:r>
            <a:r>
              <a:rPr lang="zh-CN" altLang="en-US" dirty="0"/>
              <a:t>计算机系统</a:t>
            </a:r>
            <a:r>
              <a:rPr lang="en-US" altLang="zh-CN" dirty="0"/>
              <a:t>3》</a:t>
            </a:r>
            <a:r>
              <a:rPr lang="zh-CN" altLang="en-US" dirty="0"/>
              <a:t>、</a:t>
            </a:r>
            <a:r>
              <a:rPr lang="en-US" altLang="zh-CN" dirty="0"/>
              <a:t>《</a:t>
            </a:r>
            <a:r>
              <a:rPr lang="zh-CN" altLang="en-US" dirty="0"/>
              <a:t>编译原理</a:t>
            </a:r>
            <a:r>
              <a:rPr lang="en-US" altLang="zh-CN" dirty="0"/>
              <a:t>》</a:t>
            </a:r>
            <a:r>
              <a:rPr lang="zh-CN" altLang="en-US" dirty="0"/>
              <a:t>和</a:t>
            </a:r>
            <a:r>
              <a:rPr lang="en-US" altLang="zh-CN" dirty="0"/>
              <a:t>《</a:t>
            </a:r>
            <a:r>
              <a:rPr lang="zh-CN" altLang="en-US" dirty="0"/>
              <a:t>操作系统</a:t>
            </a:r>
            <a:r>
              <a:rPr lang="en-US" altLang="zh-CN" dirty="0"/>
              <a:t>》</a:t>
            </a:r>
            <a:r>
              <a:rPr lang="zh-CN" altLang="en-US" dirty="0"/>
              <a:t>有延续性，是这三门课程的先导。</a:t>
            </a:r>
            <a:endParaRPr lang="en-US" altLang="zh-CN" dirty="0"/>
          </a:p>
          <a:p>
            <a:endParaRPr lang="en-US" altLang="zh-CN" dirty="0"/>
          </a:p>
          <a:p>
            <a:r>
              <a:rPr lang="zh-CN" altLang="en-US" dirty="0"/>
              <a:t>本书从使用者角度而不是构造者角度讨论问题</a:t>
            </a:r>
            <a:endParaRPr lang="en-US" altLang="zh-CN" dirty="0"/>
          </a:p>
          <a:p>
            <a:endParaRPr lang="en-US" altLang="zh-CN" dirty="0"/>
          </a:p>
          <a:p>
            <a:endParaRPr lang="en-US" altLang="zh-CN" dirty="0"/>
          </a:p>
          <a:p>
            <a:r>
              <a:rPr lang="zh-CN" altLang="en-US" dirty="0"/>
              <a:t>课本中的源代码可以从</a:t>
            </a:r>
            <a:r>
              <a:rPr lang="en-US" altLang="zh-CN" sz="3200" b="1" u="sng" dirty="0">
                <a:solidFill>
                  <a:srgbClr val="FF0000"/>
                </a:solidFill>
                <a:uFill>
                  <a:solidFill>
                    <a:srgbClr val="00B050"/>
                  </a:solidFill>
                </a:uFill>
              </a:rPr>
              <a:t>csapp.cs.cmu.edu</a:t>
            </a:r>
          </a:p>
          <a:p>
            <a:r>
              <a:rPr lang="zh-CN" altLang="en-US" dirty="0"/>
              <a:t>下载，书中源代码都表明了详细的路径名</a:t>
            </a:r>
          </a:p>
        </p:txBody>
      </p:sp>
    </p:spTree>
    <p:extLst>
      <p:ext uri="{BB962C8B-B14F-4D97-AF65-F5344CB8AC3E}">
        <p14:creationId xmlns:p14="http://schemas.microsoft.com/office/powerpoint/2010/main" val="22272419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4723" name="Rectangle 3"/>
          <p:cNvSpPr>
            <a:spLocks noGrp="1" noChangeArrowheads="1"/>
          </p:cNvSpPr>
          <p:nvPr>
            <p:ph type="body" idx="1"/>
          </p:nvPr>
        </p:nvSpPr>
        <p:spPr>
          <a:xfrm>
            <a:off x="1351320" y="371296"/>
            <a:ext cx="8513762" cy="6350180"/>
          </a:xfrm>
        </p:spPr>
        <p:txBody>
          <a:bodyPr/>
          <a:lstStyle/>
          <a:p>
            <a:pPr>
              <a:buFontTx/>
              <a:buNone/>
            </a:pPr>
            <a:r>
              <a:rPr lang="zh-CN" altLang="en-US" sz="2200" dirty="0">
                <a:solidFill>
                  <a:srgbClr val="FF0000"/>
                </a:solidFill>
                <a:latin typeface="微软雅黑" pitchFamily="34" charset="-122"/>
                <a:ea typeface="微软雅黑" pitchFamily="34" charset="-122"/>
              </a:rPr>
              <a:t>三个主题：</a:t>
            </a:r>
          </a:p>
          <a:p>
            <a:r>
              <a:rPr lang="zh-CN" altLang="en-US" sz="2400" dirty="0">
                <a:latin typeface="微软雅黑" pitchFamily="34" charset="-122"/>
                <a:ea typeface="微软雅黑" pitchFamily="34" charset="-122"/>
              </a:rPr>
              <a:t>表示（</a:t>
            </a:r>
            <a:r>
              <a:rPr lang="en-US" altLang="zh-CN" sz="2400" dirty="0">
                <a:latin typeface="微软雅黑" pitchFamily="34" charset="-122"/>
                <a:ea typeface="微软雅黑" pitchFamily="34" charset="-122"/>
              </a:rPr>
              <a:t>Representation</a:t>
            </a:r>
            <a:r>
              <a:rPr lang="zh-CN" altLang="en-US" sz="2400" dirty="0">
                <a:latin typeface="微软雅黑" pitchFamily="34" charset="-122"/>
                <a:ea typeface="微软雅黑" pitchFamily="34" charset="-122"/>
              </a:rPr>
              <a:t>）</a:t>
            </a:r>
          </a:p>
          <a:p>
            <a:pPr lvl="1"/>
            <a:r>
              <a:rPr lang="zh-CN" altLang="en-US" sz="2000" dirty="0">
                <a:latin typeface="微软雅黑" pitchFamily="34" charset="-122"/>
                <a:ea typeface="微软雅黑" pitchFamily="34" charset="-122"/>
              </a:rPr>
              <a:t>不同数据类型（包括带符号整数、无符号整数、浮点数、数组、结构等）在寄存器或存储器中如何</a:t>
            </a:r>
            <a:r>
              <a:rPr lang="zh-CN" altLang="en-US" sz="2000" dirty="0">
                <a:solidFill>
                  <a:srgbClr val="FF0000"/>
                </a:solidFill>
                <a:latin typeface="微软雅黑" pitchFamily="34" charset="-122"/>
                <a:ea typeface="微软雅黑" pitchFamily="34" charset="-122"/>
              </a:rPr>
              <a:t>表示</a:t>
            </a:r>
            <a:r>
              <a:rPr lang="zh-CN" altLang="en-US" sz="2000" dirty="0">
                <a:latin typeface="微软雅黑" pitchFamily="34" charset="-122"/>
                <a:ea typeface="微软雅黑" pitchFamily="34" charset="-122"/>
              </a:rPr>
              <a:t>和</a:t>
            </a:r>
            <a:r>
              <a:rPr lang="zh-CN" altLang="en-US" sz="2000" dirty="0">
                <a:solidFill>
                  <a:srgbClr val="FF0000"/>
                </a:solidFill>
                <a:latin typeface="微软雅黑" pitchFamily="34" charset="-122"/>
                <a:ea typeface="微软雅黑" pitchFamily="34" charset="-122"/>
              </a:rPr>
              <a:t>存储</a:t>
            </a:r>
            <a:r>
              <a:rPr lang="zh-CN" altLang="en-US" sz="2000" dirty="0">
                <a:latin typeface="微软雅黑" pitchFamily="34" charset="-122"/>
                <a:ea typeface="微软雅黑" pitchFamily="34" charset="-122"/>
              </a:rPr>
              <a:t>？</a:t>
            </a:r>
          </a:p>
          <a:p>
            <a:pPr lvl="1"/>
            <a:r>
              <a:rPr lang="zh-CN" altLang="en-US" sz="2000" dirty="0">
                <a:latin typeface="微软雅黑" pitchFamily="34" charset="-122"/>
                <a:ea typeface="微软雅黑" pitchFamily="34" charset="-122"/>
              </a:rPr>
              <a:t>指令如何表示和编码？（需要结合系统</a:t>
            </a:r>
            <a:r>
              <a:rPr lang="en-US" altLang="zh-CN" sz="2000" dirty="0">
                <a:latin typeface="微软雅黑" pitchFamily="34" charset="-122"/>
                <a:ea typeface="微软雅黑" pitchFamily="34" charset="-122"/>
              </a:rPr>
              <a:t>3</a:t>
            </a:r>
            <a:r>
              <a:rPr lang="zh-CN" altLang="en-US" sz="2000" dirty="0">
                <a:latin typeface="微软雅黑" pitchFamily="34" charset="-122"/>
                <a:ea typeface="微软雅黑" pitchFamily="34" charset="-122"/>
              </a:rPr>
              <a:t>）</a:t>
            </a:r>
          </a:p>
          <a:p>
            <a:pPr lvl="1"/>
            <a:r>
              <a:rPr lang="zh-CN" altLang="en-US" sz="2000" dirty="0">
                <a:latin typeface="微软雅黑" pitchFamily="34" charset="-122"/>
                <a:ea typeface="微软雅黑" pitchFamily="34" charset="-122"/>
              </a:rPr>
              <a:t>存储地址（指针）如何表示以及如何生成复杂数据结构中数据元素的地址？</a:t>
            </a:r>
            <a:endParaRPr lang="en-US" altLang="zh-CN" sz="2000" dirty="0">
              <a:latin typeface="微软雅黑" pitchFamily="34" charset="-122"/>
              <a:ea typeface="微软雅黑" pitchFamily="34" charset="-122"/>
            </a:endParaRPr>
          </a:p>
          <a:p>
            <a:r>
              <a:rPr lang="zh-CN" altLang="en-US" sz="2400" dirty="0">
                <a:latin typeface="微软雅黑" pitchFamily="34" charset="-122"/>
                <a:ea typeface="微软雅黑" pitchFamily="34" charset="-122"/>
              </a:rPr>
              <a:t>转换（</a:t>
            </a:r>
            <a:r>
              <a:rPr lang="en-US" altLang="zh-CN" sz="2400" dirty="0">
                <a:latin typeface="微软雅黑" pitchFamily="34" charset="-122"/>
                <a:ea typeface="微软雅黑" pitchFamily="34" charset="-122"/>
              </a:rPr>
              <a:t>Translation</a:t>
            </a:r>
            <a:r>
              <a:rPr lang="zh-CN" altLang="en-US" sz="2400" dirty="0">
                <a:latin typeface="微软雅黑" pitchFamily="34" charset="-122"/>
                <a:ea typeface="微软雅黑" pitchFamily="34" charset="-122"/>
              </a:rPr>
              <a:t>）</a:t>
            </a:r>
          </a:p>
          <a:p>
            <a:pPr lvl="1"/>
            <a:r>
              <a:rPr lang="zh-CN" altLang="en-US" sz="2000" dirty="0">
                <a:latin typeface="微软雅黑" pitchFamily="34" charset="-122"/>
                <a:ea typeface="微软雅黑" pitchFamily="34" charset="-122"/>
              </a:rPr>
              <a:t>高级语言程序对应的机器级代码是怎样的？</a:t>
            </a:r>
            <a:endParaRPr lang="en-US" altLang="zh-CN" sz="2000" dirty="0">
              <a:latin typeface="微软雅黑" pitchFamily="34" charset="-122"/>
              <a:ea typeface="微软雅黑" pitchFamily="34" charset="-122"/>
            </a:endParaRPr>
          </a:p>
          <a:p>
            <a:r>
              <a:rPr lang="zh-CN" altLang="en-US" sz="2400" dirty="0">
                <a:latin typeface="微软雅黑" pitchFamily="34" charset="-122"/>
                <a:ea typeface="微软雅黑" pitchFamily="34" charset="-122"/>
              </a:rPr>
              <a:t>执行控制流（</a:t>
            </a:r>
            <a:r>
              <a:rPr lang="en-US" altLang="zh-CN" sz="2400" dirty="0">
                <a:latin typeface="微软雅黑" pitchFamily="34" charset="-122"/>
                <a:ea typeface="微软雅黑" pitchFamily="34" charset="-122"/>
              </a:rPr>
              <a:t>Control flow</a:t>
            </a:r>
            <a:r>
              <a:rPr lang="zh-CN" altLang="en-US" sz="2400" dirty="0">
                <a:latin typeface="微软雅黑" pitchFamily="34" charset="-122"/>
                <a:ea typeface="微软雅黑" pitchFamily="34" charset="-122"/>
              </a:rPr>
              <a:t>）</a:t>
            </a:r>
          </a:p>
          <a:p>
            <a:pPr lvl="1"/>
            <a:r>
              <a:rPr lang="zh-CN" altLang="en-US" sz="2000" dirty="0">
                <a:latin typeface="微软雅黑" pitchFamily="34" charset="-122"/>
                <a:ea typeface="微软雅黑" pitchFamily="34" charset="-122"/>
              </a:rPr>
              <a:t>计算机能理解的“程序”是如何组织和控制的？</a:t>
            </a:r>
          </a:p>
          <a:p>
            <a:pPr lvl="1"/>
            <a:r>
              <a:rPr lang="zh-CN" altLang="en-US" sz="2000" dirty="0">
                <a:latin typeface="微软雅黑" pitchFamily="34" charset="-122"/>
                <a:ea typeface="微软雅黑" pitchFamily="34" charset="-122"/>
              </a:rPr>
              <a:t>如何在计算机中组织多个程序的并发执行？</a:t>
            </a:r>
          </a:p>
          <a:p>
            <a:pPr lvl="1"/>
            <a:r>
              <a:rPr lang="zh-CN" altLang="en-US" sz="2000" dirty="0">
                <a:latin typeface="微软雅黑" pitchFamily="34" charset="-122"/>
                <a:ea typeface="微软雅黑" pitchFamily="34" charset="-122"/>
              </a:rPr>
              <a:t>逻辑控制流中的异常事件及其处理</a:t>
            </a:r>
          </a:p>
          <a:p>
            <a:pPr lvl="1"/>
            <a:r>
              <a:rPr lang="en-US" altLang="zh-CN" sz="2000" dirty="0">
                <a:latin typeface="微软雅黑" pitchFamily="34" charset="-122"/>
                <a:ea typeface="微软雅黑" pitchFamily="34" charset="-122"/>
              </a:rPr>
              <a:t>I/O</a:t>
            </a:r>
            <a:r>
              <a:rPr lang="zh-CN" altLang="en-US" sz="2000" dirty="0">
                <a:latin typeface="微软雅黑" pitchFamily="34" charset="-122"/>
                <a:ea typeface="微软雅黑" pitchFamily="34" charset="-122"/>
              </a:rPr>
              <a:t>操作的执行控制流（用户态→内核态）</a:t>
            </a:r>
            <a:endParaRPr lang="en-US" altLang="zh-CN" sz="2000" dirty="0">
              <a:latin typeface="微软雅黑" pitchFamily="34" charset="-122"/>
              <a:ea typeface="微软雅黑" pitchFamily="34" charset="-122"/>
            </a:endParaRPr>
          </a:p>
          <a:p>
            <a:pPr marL="0" indent="0">
              <a:buNone/>
            </a:pPr>
            <a:endParaRPr lang="en-US" altLang="zh-CN" sz="2600" dirty="0">
              <a:solidFill>
                <a:srgbClr val="FF0000"/>
              </a:solidFill>
              <a:latin typeface="微软雅黑" pitchFamily="34" charset="-122"/>
              <a:ea typeface="微软雅黑" pitchFamily="34" charset="-122"/>
            </a:endParaRPr>
          </a:p>
          <a:p>
            <a:pPr marL="0" indent="0">
              <a:buNone/>
            </a:pPr>
            <a:r>
              <a:rPr lang="zh-CN" altLang="en-US" sz="2200" dirty="0">
                <a:solidFill>
                  <a:srgbClr val="FF0000"/>
                </a:solidFill>
                <a:latin typeface="微软雅黑" pitchFamily="34" charset="-122"/>
                <a:ea typeface="微软雅黑" pitchFamily="34" charset="-122"/>
              </a:rPr>
              <a:t>一个格式：</a:t>
            </a:r>
            <a:r>
              <a:rPr lang="en-US" altLang="zh-CN" sz="2200" dirty="0">
                <a:solidFill>
                  <a:srgbClr val="FF0000"/>
                </a:solidFill>
                <a:latin typeface="微软雅黑" pitchFamily="34" charset="-122"/>
                <a:ea typeface="微软雅黑" pitchFamily="34" charset="-122"/>
              </a:rPr>
              <a:t>ELF</a:t>
            </a:r>
            <a:r>
              <a:rPr lang="zh-CN" altLang="en-US" sz="2200" dirty="0">
                <a:solidFill>
                  <a:srgbClr val="FF0000"/>
                </a:solidFill>
                <a:latin typeface="微软雅黑" pitchFamily="34" charset="-122"/>
                <a:ea typeface="微软雅黑" pitchFamily="34" charset="-122"/>
              </a:rPr>
              <a:t>格式</a:t>
            </a:r>
            <a:r>
              <a:rPr lang="en-US" altLang="zh-CN" sz="2200" dirty="0">
                <a:solidFill>
                  <a:srgbClr val="FF0000"/>
                </a:solidFill>
                <a:latin typeface="微软雅黑" pitchFamily="34" charset="-122"/>
                <a:ea typeface="微软雅黑" pitchFamily="34" charset="-122"/>
              </a:rPr>
              <a:t>-&gt;</a:t>
            </a:r>
            <a:r>
              <a:rPr lang="zh-CN" altLang="en-US" sz="2200" dirty="0">
                <a:solidFill>
                  <a:srgbClr val="FF0000"/>
                </a:solidFill>
                <a:latin typeface="微软雅黑" pitchFamily="34" charset="-122"/>
                <a:ea typeface="微软雅黑" pitchFamily="34" charset="-122"/>
              </a:rPr>
              <a:t>链接</a:t>
            </a:r>
            <a:r>
              <a:rPr lang="en-US" altLang="zh-CN" sz="2200" dirty="0">
                <a:solidFill>
                  <a:srgbClr val="FF0000"/>
                </a:solidFill>
                <a:latin typeface="微软雅黑" pitchFamily="34" charset="-122"/>
                <a:ea typeface="微软雅黑" pitchFamily="34" charset="-122"/>
              </a:rPr>
              <a:t>-&gt;</a:t>
            </a:r>
            <a:r>
              <a:rPr lang="zh-CN" altLang="en-US" sz="2200" dirty="0">
                <a:solidFill>
                  <a:srgbClr val="FF0000"/>
                </a:solidFill>
                <a:latin typeface="微软雅黑" pitchFamily="34" charset="-122"/>
                <a:ea typeface="微软雅黑" pitchFamily="34" charset="-122"/>
              </a:rPr>
              <a:t>进程映像</a:t>
            </a:r>
          </a:p>
        </p:txBody>
      </p:sp>
      <p:sp>
        <p:nvSpPr>
          <p:cNvPr id="3" name="灯片编号占位符 2"/>
          <p:cNvSpPr>
            <a:spLocks noGrp="1"/>
          </p:cNvSpPr>
          <p:nvPr>
            <p:ph type="sldNum" sz="quarter" idx="12"/>
          </p:nvPr>
        </p:nvSpPr>
        <p:spPr/>
        <p:txBody>
          <a:bodyPr/>
          <a:lstStyle/>
          <a:p>
            <a:pPr>
              <a:defRPr/>
            </a:pPr>
            <a:fld id="{C04D5D84-F493-480C-9B02-1533CB18E289}" type="slidenum">
              <a:rPr lang="en-US" altLang="zh-CN" smtClean="0"/>
              <a:pPr>
                <a:defRPr/>
              </a:pPr>
              <a:t>10</a:t>
            </a:fld>
            <a:endParaRPr lang="en-US" altLang="zh-CN"/>
          </a:p>
        </p:txBody>
      </p:sp>
    </p:spTree>
    <p:extLst>
      <p:ext uri="{BB962C8B-B14F-4D97-AF65-F5344CB8AC3E}">
        <p14:creationId xmlns:p14="http://schemas.microsoft.com/office/powerpoint/2010/main" val="60281832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414723">
                                            <p:txEl>
                                              <p:pRg st="2" end="2"/>
                                            </p:txEl>
                                          </p:spTgt>
                                        </p:tgtEl>
                                        <p:attrNameLst>
                                          <p:attrName>style.visibility</p:attrName>
                                        </p:attrNameLst>
                                      </p:cBhvr>
                                      <p:to>
                                        <p:strVal val="visible"/>
                                      </p:to>
                                    </p:set>
                                    <p:animEffect transition="in" filter="blinds(horizontal)">
                                      <p:cBhvr>
                                        <p:cTn id="7" dur="500"/>
                                        <p:tgtEl>
                                          <p:spTgt spid="414723">
                                            <p:txEl>
                                              <p:pRg st="2" end="2"/>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414723">
                                            <p:txEl>
                                              <p:pRg st="3" end="3"/>
                                            </p:txEl>
                                          </p:spTgt>
                                        </p:tgtEl>
                                        <p:attrNameLst>
                                          <p:attrName>style.visibility</p:attrName>
                                        </p:attrNameLst>
                                      </p:cBhvr>
                                      <p:to>
                                        <p:strVal val="visible"/>
                                      </p:to>
                                    </p:set>
                                    <p:animEffect transition="in" filter="blinds(horizontal)">
                                      <p:cBhvr>
                                        <p:cTn id="12" dur="500"/>
                                        <p:tgtEl>
                                          <p:spTgt spid="414723">
                                            <p:txEl>
                                              <p:pRg st="3" end="3"/>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nodeType="clickEffect">
                                  <p:stCondLst>
                                    <p:cond delay="0"/>
                                  </p:stCondLst>
                                  <p:childTnLst>
                                    <p:set>
                                      <p:cBhvr>
                                        <p:cTn id="16" dur="1" fill="hold">
                                          <p:stCondLst>
                                            <p:cond delay="0"/>
                                          </p:stCondLst>
                                        </p:cTn>
                                        <p:tgtEl>
                                          <p:spTgt spid="414723">
                                            <p:txEl>
                                              <p:pRg st="4" end="4"/>
                                            </p:txEl>
                                          </p:spTgt>
                                        </p:tgtEl>
                                        <p:attrNameLst>
                                          <p:attrName>style.visibility</p:attrName>
                                        </p:attrNameLst>
                                      </p:cBhvr>
                                      <p:to>
                                        <p:strVal val="visible"/>
                                      </p:to>
                                    </p:set>
                                    <p:animEffect transition="in" filter="blinds(horizontal)">
                                      <p:cBhvr>
                                        <p:cTn id="17" dur="500"/>
                                        <p:tgtEl>
                                          <p:spTgt spid="414723">
                                            <p:txEl>
                                              <p:pRg st="4" end="4"/>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nodeType="clickEffect">
                                  <p:stCondLst>
                                    <p:cond delay="0"/>
                                  </p:stCondLst>
                                  <p:childTnLst>
                                    <p:set>
                                      <p:cBhvr>
                                        <p:cTn id="21" dur="1" fill="hold">
                                          <p:stCondLst>
                                            <p:cond delay="0"/>
                                          </p:stCondLst>
                                        </p:cTn>
                                        <p:tgtEl>
                                          <p:spTgt spid="414723">
                                            <p:txEl>
                                              <p:pRg st="6" end="6"/>
                                            </p:txEl>
                                          </p:spTgt>
                                        </p:tgtEl>
                                        <p:attrNameLst>
                                          <p:attrName>style.visibility</p:attrName>
                                        </p:attrNameLst>
                                      </p:cBhvr>
                                      <p:to>
                                        <p:strVal val="visible"/>
                                      </p:to>
                                    </p:set>
                                    <p:animEffect transition="in" filter="blinds(horizontal)">
                                      <p:cBhvr>
                                        <p:cTn id="22" dur="500"/>
                                        <p:tgtEl>
                                          <p:spTgt spid="414723">
                                            <p:txEl>
                                              <p:pRg st="6" end="6"/>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nodeType="clickEffect">
                                  <p:stCondLst>
                                    <p:cond delay="0"/>
                                  </p:stCondLst>
                                  <p:childTnLst>
                                    <p:set>
                                      <p:cBhvr>
                                        <p:cTn id="26" dur="1" fill="hold">
                                          <p:stCondLst>
                                            <p:cond delay="0"/>
                                          </p:stCondLst>
                                        </p:cTn>
                                        <p:tgtEl>
                                          <p:spTgt spid="414723">
                                            <p:txEl>
                                              <p:pRg st="8" end="8"/>
                                            </p:txEl>
                                          </p:spTgt>
                                        </p:tgtEl>
                                        <p:attrNameLst>
                                          <p:attrName>style.visibility</p:attrName>
                                        </p:attrNameLst>
                                      </p:cBhvr>
                                      <p:to>
                                        <p:strVal val="visible"/>
                                      </p:to>
                                    </p:set>
                                    <p:animEffect transition="in" filter="blinds(horizontal)">
                                      <p:cBhvr>
                                        <p:cTn id="27" dur="500"/>
                                        <p:tgtEl>
                                          <p:spTgt spid="414723">
                                            <p:txEl>
                                              <p:pRg st="8" end="8"/>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3" presetClass="entr" presetSubtype="10" fill="hold" nodeType="clickEffect">
                                  <p:stCondLst>
                                    <p:cond delay="0"/>
                                  </p:stCondLst>
                                  <p:childTnLst>
                                    <p:set>
                                      <p:cBhvr>
                                        <p:cTn id="31" dur="1" fill="hold">
                                          <p:stCondLst>
                                            <p:cond delay="0"/>
                                          </p:stCondLst>
                                        </p:cTn>
                                        <p:tgtEl>
                                          <p:spTgt spid="414723">
                                            <p:txEl>
                                              <p:pRg st="9" end="9"/>
                                            </p:txEl>
                                          </p:spTgt>
                                        </p:tgtEl>
                                        <p:attrNameLst>
                                          <p:attrName>style.visibility</p:attrName>
                                        </p:attrNameLst>
                                      </p:cBhvr>
                                      <p:to>
                                        <p:strVal val="visible"/>
                                      </p:to>
                                    </p:set>
                                    <p:animEffect transition="in" filter="blinds(horizontal)">
                                      <p:cBhvr>
                                        <p:cTn id="32" dur="500"/>
                                        <p:tgtEl>
                                          <p:spTgt spid="414723">
                                            <p:txEl>
                                              <p:pRg st="9" end="9"/>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3" presetClass="entr" presetSubtype="10" fill="hold" nodeType="clickEffect">
                                  <p:stCondLst>
                                    <p:cond delay="0"/>
                                  </p:stCondLst>
                                  <p:childTnLst>
                                    <p:set>
                                      <p:cBhvr>
                                        <p:cTn id="36" dur="1" fill="hold">
                                          <p:stCondLst>
                                            <p:cond delay="0"/>
                                          </p:stCondLst>
                                        </p:cTn>
                                        <p:tgtEl>
                                          <p:spTgt spid="414723">
                                            <p:txEl>
                                              <p:pRg st="10" end="10"/>
                                            </p:txEl>
                                          </p:spTgt>
                                        </p:tgtEl>
                                        <p:attrNameLst>
                                          <p:attrName>style.visibility</p:attrName>
                                        </p:attrNameLst>
                                      </p:cBhvr>
                                      <p:to>
                                        <p:strVal val="visible"/>
                                      </p:to>
                                    </p:set>
                                    <p:animEffect transition="in" filter="blinds(horizontal)">
                                      <p:cBhvr>
                                        <p:cTn id="37" dur="500"/>
                                        <p:tgtEl>
                                          <p:spTgt spid="414723">
                                            <p:txEl>
                                              <p:pRg st="10" end="10"/>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3" presetClass="entr" presetSubtype="10" fill="hold" nodeType="clickEffect">
                                  <p:stCondLst>
                                    <p:cond delay="0"/>
                                  </p:stCondLst>
                                  <p:childTnLst>
                                    <p:set>
                                      <p:cBhvr>
                                        <p:cTn id="41" dur="1" fill="hold">
                                          <p:stCondLst>
                                            <p:cond delay="0"/>
                                          </p:stCondLst>
                                        </p:cTn>
                                        <p:tgtEl>
                                          <p:spTgt spid="414723">
                                            <p:txEl>
                                              <p:pRg st="11" end="11"/>
                                            </p:txEl>
                                          </p:spTgt>
                                        </p:tgtEl>
                                        <p:attrNameLst>
                                          <p:attrName>style.visibility</p:attrName>
                                        </p:attrNameLst>
                                      </p:cBhvr>
                                      <p:to>
                                        <p:strVal val="visible"/>
                                      </p:to>
                                    </p:set>
                                    <p:animEffect transition="in" filter="blinds(horizontal)">
                                      <p:cBhvr>
                                        <p:cTn id="42" dur="500"/>
                                        <p:tgtEl>
                                          <p:spTgt spid="414723">
                                            <p:txEl>
                                              <p:pRg st="11" end="11"/>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3" presetClass="entr" presetSubtype="10" fill="hold" nodeType="clickEffect">
                                  <p:stCondLst>
                                    <p:cond delay="0"/>
                                  </p:stCondLst>
                                  <p:childTnLst>
                                    <p:set>
                                      <p:cBhvr>
                                        <p:cTn id="46" dur="1" fill="hold">
                                          <p:stCondLst>
                                            <p:cond delay="0"/>
                                          </p:stCondLst>
                                        </p:cTn>
                                        <p:tgtEl>
                                          <p:spTgt spid="414723">
                                            <p:txEl>
                                              <p:pRg st="13" end="13"/>
                                            </p:txEl>
                                          </p:spTgt>
                                        </p:tgtEl>
                                        <p:attrNameLst>
                                          <p:attrName>style.visibility</p:attrName>
                                        </p:attrNameLst>
                                      </p:cBhvr>
                                      <p:to>
                                        <p:strVal val="visible"/>
                                      </p:to>
                                    </p:set>
                                    <p:animEffect transition="in" filter="blinds(horizontal)">
                                      <p:cBhvr>
                                        <p:cTn id="47" dur="500"/>
                                        <p:tgtEl>
                                          <p:spTgt spid="414723">
                                            <p:txEl>
                                              <p:pRg st="13" end="1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6050" name="Rectangle 2"/>
          <p:cNvSpPr>
            <a:spLocks noGrp="1" noChangeArrowheads="1"/>
          </p:cNvSpPr>
          <p:nvPr>
            <p:ph type="title"/>
          </p:nvPr>
        </p:nvSpPr>
        <p:spPr>
          <a:xfrm>
            <a:off x="1823683" y="420211"/>
            <a:ext cx="8229600" cy="561975"/>
          </a:xfrm>
        </p:spPr>
        <p:txBody>
          <a:bodyPr/>
          <a:lstStyle/>
          <a:p>
            <a:r>
              <a:rPr lang="zh-CN" altLang="en-US" dirty="0"/>
              <a:t>课程的意义</a:t>
            </a:r>
            <a:endParaRPr lang="zh-CN" altLang="en-US" sz="3600" dirty="0"/>
          </a:p>
        </p:txBody>
      </p:sp>
      <p:sp>
        <p:nvSpPr>
          <p:cNvPr id="386051" name="Rectangle 3"/>
          <p:cNvSpPr>
            <a:spLocks noGrp="1" noChangeArrowheads="1"/>
          </p:cNvSpPr>
          <p:nvPr>
            <p:ph type="body" idx="1"/>
          </p:nvPr>
        </p:nvSpPr>
        <p:spPr/>
        <p:txBody>
          <a:bodyPr/>
          <a:lstStyle/>
          <a:p>
            <a:pPr>
              <a:buFontTx/>
              <a:buNone/>
            </a:pPr>
            <a:r>
              <a:rPr lang="zh-CN" altLang="en-US" sz="2000" dirty="0">
                <a:latin typeface="微软雅黑" pitchFamily="34" charset="-122"/>
                <a:ea typeface="微软雅黑" pitchFamily="34" charset="-122"/>
              </a:rPr>
              <a:t>  </a:t>
            </a:r>
          </a:p>
          <a:p>
            <a:pPr>
              <a:buFontTx/>
              <a:buNone/>
            </a:pPr>
            <a:endParaRPr lang="zh-CN" altLang="en-US" sz="2000" dirty="0">
              <a:latin typeface="微软雅黑" pitchFamily="34" charset="-122"/>
              <a:ea typeface="微软雅黑" pitchFamily="34" charset="-122"/>
            </a:endParaRPr>
          </a:p>
          <a:p>
            <a:pPr>
              <a:buFontTx/>
              <a:buNone/>
            </a:pPr>
            <a:r>
              <a:rPr lang="zh-CN" altLang="en-US" sz="2000" dirty="0">
                <a:latin typeface="微软雅黑" pitchFamily="34" charset="-122"/>
                <a:ea typeface="微软雅黑" pitchFamily="34" charset="-122"/>
              </a:rPr>
              <a:t>   在有些</a:t>
            </a:r>
            <a:r>
              <a:rPr lang="en-US" altLang="zh-CN" sz="2000" dirty="0">
                <a:latin typeface="微软雅黑" pitchFamily="34" charset="-122"/>
                <a:ea typeface="微软雅黑" pitchFamily="34" charset="-122"/>
              </a:rPr>
              <a:t>32</a:t>
            </a:r>
            <a:r>
              <a:rPr lang="zh-CN" altLang="en-US" sz="2000" dirty="0">
                <a:latin typeface="微软雅黑" pitchFamily="34" charset="-122"/>
                <a:ea typeface="微软雅黑" pitchFamily="34" charset="-122"/>
              </a:rPr>
              <a:t>位系统上</a:t>
            </a:r>
          </a:p>
          <a:p>
            <a:pPr>
              <a:buFontTx/>
              <a:buNone/>
            </a:pPr>
            <a:endParaRPr lang="zh-CN" altLang="en-US" sz="2000" dirty="0">
              <a:latin typeface="微软雅黑" pitchFamily="34" charset="-122"/>
              <a:ea typeface="微软雅黑" pitchFamily="34" charset="-122"/>
            </a:endParaRPr>
          </a:p>
          <a:p>
            <a:pPr>
              <a:buFontTx/>
              <a:buNone/>
            </a:pPr>
            <a:r>
              <a:rPr lang="en-US" altLang="zh-CN" sz="2000" dirty="0">
                <a:latin typeface="微软雅黑" pitchFamily="34" charset="-122"/>
                <a:ea typeface="微软雅黑" pitchFamily="34" charset="-122"/>
              </a:rPr>
              <a:t>  -2147483648 &lt; 2147483647</a:t>
            </a:r>
          </a:p>
          <a:p>
            <a:pPr>
              <a:buFontTx/>
              <a:buNone/>
            </a:pPr>
            <a:r>
              <a:rPr lang="zh-CN" altLang="en-US" sz="2000" dirty="0">
                <a:latin typeface="微软雅黑" pitchFamily="34" charset="-122"/>
                <a:ea typeface="微软雅黑" pitchFamily="34" charset="-122"/>
              </a:rPr>
              <a:t>  结果为</a:t>
            </a:r>
            <a:r>
              <a:rPr lang="en-US" altLang="zh-CN" sz="2000" dirty="0">
                <a:latin typeface="微软雅黑" pitchFamily="34" charset="-122"/>
                <a:ea typeface="微软雅黑" pitchFamily="34" charset="-122"/>
              </a:rPr>
              <a:t>false</a:t>
            </a:r>
            <a:r>
              <a:rPr lang="zh-CN" altLang="en-US" sz="2000" dirty="0">
                <a:latin typeface="微软雅黑" pitchFamily="34" charset="-122"/>
                <a:ea typeface="微软雅黑" pitchFamily="34" charset="-122"/>
              </a:rPr>
              <a:t>（与事实不符），</a:t>
            </a:r>
            <a:r>
              <a:rPr lang="en-US" altLang="zh-CN" sz="2000" dirty="0">
                <a:solidFill>
                  <a:srgbClr val="FF0000"/>
                </a:solidFill>
                <a:latin typeface="微软雅黑" pitchFamily="34" charset="-122"/>
                <a:ea typeface="微软雅黑" pitchFamily="34" charset="-122"/>
              </a:rPr>
              <a:t>Why?</a:t>
            </a:r>
          </a:p>
          <a:p>
            <a:pPr>
              <a:buFontTx/>
              <a:buNone/>
            </a:pPr>
            <a:endParaRPr lang="zh-CN" altLang="en-US" sz="2000" dirty="0">
              <a:solidFill>
                <a:srgbClr val="FF0000"/>
              </a:solidFill>
              <a:latin typeface="微软雅黑" pitchFamily="34" charset="-122"/>
              <a:ea typeface="微软雅黑" pitchFamily="34" charset="-122"/>
            </a:endParaRPr>
          </a:p>
          <a:p>
            <a:pPr>
              <a:buFontTx/>
              <a:buNone/>
            </a:pPr>
            <a:r>
              <a:rPr lang="zh-CN" altLang="en-US" sz="2000" dirty="0">
                <a:latin typeface="微软雅黑" pitchFamily="34" charset="-122"/>
                <a:ea typeface="微软雅黑" pitchFamily="34" charset="-122"/>
              </a:rPr>
              <a:t>    </a:t>
            </a:r>
            <a:r>
              <a:rPr lang="en-US" altLang="zh-CN" sz="2000" dirty="0" err="1">
                <a:latin typeface="微软雅黑" pitchFamily="34" charset="-122"/>
                <a:ea typeface="微软雅黑" pitchFamily="34" charset="-122"/>
              </a:rPr>
              <a:t>int</a:t>
            </a:r>
            <a:r>
              <a:rPr lang="en-US" altLang="zh-CN" sz="2000" dirty="0">
                <a:latin typeface="微软雅黑" pitchFamily="34" charset="-122"/>
                <a:ea typeface="微软雅黑" pitchFamily="34" charset="-122"/>
              </a:rPr>
              <a:t> </a:t>
            </a:r>
            <a:r>
              <a:rPr lang="en-US" altLang="zh-CN" sz="2000" dirty="0" err="1">
                <a:latin typeface="微软雅黑" pitchFamily="34" charset="-122"/>
                <a:ea typeface="微软雅黑" pitchFamily="34" charset="-122"/>
              </a:rPr>
              <a:t>i</a:t>
            </a:r>
            <a:r>
              <a:rPr lang="en-US" altLang="zh-CN" sz="2000" dirty="0">
                <a:latin typeface="微软雅黑" pitchFamily="34" charset="-122"/>
                <a:ea typeface="微软雅黑" pitchFamily="34" charset="-122"/>
              </a:rPr>
              <a:t> = -2147483648;</a:t>
            </a:r>
          </a:p>
          <a:p>
            <a:pPr>
              <a:buFontTx/>
              <a:buNone/>
            </a:pPr>
            <a:r>
              <a:rPr lang="en-US" altLang="zh-CN" sz="2000" dirty="0">
                <a:latin typeface="微软雅黑" pitchFamily="34" charset="-122"/>
                <a:ea typeface="微软雅黑" pitchFamily="34" charset="-122"/>
              </a:rPr>
              <a:t>    </a:t>
            </a:r>
            <a:r>
              <a:rPr lang="en-US" altLang="zh-CN" sz="2000" dirty="0" err="1">
                <a:latin typeface="微软雅黑" pitchFamily="34" charset="-122"/>
                <a:ea typeface="微软雅黑" pitchFamily="34" charset="-122"/>
              </a:rPr>
              <a:t>i</a:t>
            </a:r>
            <a:r>
              <a:rPr lang="en-US" altLang="zh-CN" sz="2000" dirty="0">
                <a:latin typeface="微软雅黑" pitchFamily="34" charset="-122"/>
                <a:ea typeface="微软雅黑" pitchFamily="34" charset="-122"/>
              </a:rPr>
              <a:t> &lt; 2147483647</a:t>
            </a:r>
          </a:p>
          <a:p>
            <a:pPr>
              <a:buFontTx/>
              <a:buNone/>
            </a:pPr>
            <a:r>
              <a:rPr lang="en-US" altLang="zh-CN" sz="2000" dirty="0">
                <a:latin typeface="微软雅黑" pitchFamily="34" charset="-122"/>
                <a:ea typeface="微软雅黑" pitchFamily="34" charset="-122"/>
              </a:rPr>
              <a:t>    </a:t>
            </a:r>
            <a:r>
              <a:rPr lang="zh-CN" altLang="en-US" sz="2000" dirty="0">
                <a:latin typeface="微软雅黑" pitchFamily="34" charset="-122"/>
                <a:ea typeface="微软雅黑" pitchFamily="34" charset="-122"/>
              </a:rPr>
              <a:t>结果为</a:t>
            </a:r>
            <a:r>
              <a:rPr lang="en-US" altLang="zh-CN" sz="2000" dirty="0">
                <a:latin typeface="微软雅黑" pitchFamily="34" charset="-122"/>
                <a:ea typeface="微软雅黑" pitchFamily="34" charset="-122"/>
              </a:rPr>
              <a:t>true</a:t>
            </a:r>
            <a:r>
              <a:rPr lang="zh-CN" altLang="en-US" sz="2000" dirty="0">
                <a:latin typeface="微软雅黑" pitchFamily="34" charset="-122"/>
                <a:ea typeface="微软雅黑" pitchFamily="34" charset="-122"/>
              </a:rPr>
              <a:t>，</a:t>
            </a:r>
            <a:r>
              <a:rPr lang="en-US" altLang="zh-CN" sz="2000" dirty="0">
                <a:solidFill>
                  <a:srgbClr val="FF0000"/>
                </a:solidFill>
                <a:latin typeface="微软雅黑" pitchFamily="34" charset="-122"/>
                <a:ea typeface="微软雅黑" pitchFamily="34" charset="-122"/>
              </a:rPr>
              <a:t>Why?</a:t>
            </a:r>
            <a:endParaRPr lang="zh-CN" altLang="en-US" sz="2000" dirty="0">
              <a:solidFill>
                <a:srgbClr val="FF0000"/>
              </a:solidFill>
              <a:latin typeface="微软雅黑" pitchFamily="34" charset="-122"/>
              <a:ea typeface="微软雅黑" pitchFamily="34" charset="-122"/>
            </a:endParaRPr>
          </a:p>
          <a:p>
            <a:pPr>
              <a:buFontTx/>
              <a:buNone/>
            </a:pPr>
            <a:endParaRPr lang="zh-CN" altLang="en-US" sz="2000" dirty="0">
              <a:solidFill>
                <a:srgbClr val="FF0000"/>
              </a:solidFill>
              <a:latin typeface="微软雅黑" pitchFamily="34" charset="-122"/>
              <a:ea typeface="微软雅黑" pitchFamily="34" charset="-122"/>
            </a:endParaRPr>
          </a:p>
          <a:p>
            <a:pPr>
              <a:buFontTx/>
              <a:buNone/>
            </a:pPr>
            <a:r>
              <a:rPr lang="en-US" altLang="zh-CN" sz="2000" dirty="0">
                <a:latin typeface="微软雅黑" pitchFamily="34" charset="-122"/>
                <a:ea typeface="微软雅黑" pitchFamily="34" charset="-122"/>
              </a:rPr>
              <a:t>   -2147483647-1  &lt;  2147483647”</a:t>
            </a:r>
            <a:r>
              <a:rPr lang="zh-CN" altLang="en-US" sz="2000" dirty="0">
                <a:latin typeface="微软雅黑" pitchFamily="34" charset="-122"/>
                <a:ea typeface="微软雅黑" pitchFamily="34" charset="-122"/>
              </a:rPr>
              <a:t>，</a:t>
            </a:r>
            <a:r>
              <a:rPr lang="zh-CN" altLang="en-US" sz="2000" dirty="0">
                <a:solidFill>
                  <a:srgbClr val="FF0000"/>
                </a:solidFill>
                <a:latin typeface="微软雅黑" pitchFamily="34" charset="-122"/>
                <a:ea typeface="微软雅黑" pitchFamily="34" charset="-122"/>
              </a:rPr>
              <a:t>结果怎样？</a:t>
            </a:r>
          </a:p>
        </p:txBody>
      </p:sp>
      <p:sp>
        <p:nvSpPr>
          <p:cNvPr id="386052" name="Text Box 4"/>
          <p:cNvSpPr txBox="1">
            <a:spLocks noChangeArrowheads="1"/>
          </p:cNvSpPr>
          <p:nvPr/>
        </p:nvSpPr>
        <p:spPr bwMode="auto">
          <a:xfrm>
            <a:off x="7072312" y="2629504"/>
            <a:ext cx="3330575" cy="3095625"/>
          </a:xfrm>
          <a:prstGeom prst="rect">
            <a:avLst/>
          </a:prstGeom>
          <a:noFill/>
          <a:ln w="9525">
            <a:solidFill>
              <a:schemeClr val="tx1"/>
            </a:solidFill>
            <a:miter lim="800000"/>
            <a:headEnd/>
            <a:tailEnd/>
          </a:ln>
          <a:effectLst/>
        </p:spPr>
        <p:txBody>
          <a:bodyPr>
            <a:spAutoFit/>
          </a:bodyPr>
          <a:lstStyle/>
          <a:p>
            <a:pPr>
              <a:spcBef>
                <a:spcPct val="20000"/>
              </a:spcBef>
            </a:pPr>
            <a:r>
              <a:rPr lang="zh-CN" altLang="en-US" sz="2400" b="1" dirty="0">
                <a:ea typeface="黑体" pitchFamily="49" charset="-122"/>
              </a:rPr>
              <a:t>理解该问题需要知道：</a:t>
            </a:r>
          </a:p>
          <a:p>
            <a:pPr>
              <a:spcBef>
                <a:spcPct val="20000"/>
              </a:spcBef>
            </a:pPr>
            <a:r>
              <a:rPr lang="zh-CN" altLang="en-US" sz="2400" b="1" dirty="0">
                <a:solidFill>
                  <a:srgbClr val="FF0000"/>
                </a:solidFill>
                <a:ea typeface="黑体" pitchFamily="49" charset="-122"/>
              </a:rPr>
              <a:t>编译器如何处理字面量</a:t>
            </a:r>
          </a:p>
          <a:p>
            <a:pPr>
              <a:spcBef>
                <a:spcPct val="20000"/>
              </a:spcBef>
            </a:pPr>
            <a:r>
              <a:rPr lang="zh-CN" altLang="en-US" sz="2400" b="1" dirty="0">
                <a:solidFill>
                  <a:srgbClr val="3366FF"/>
                </a:solidFill>
                <a:ea typeface="黑体" pitchFamily="49" charset="-122"/>
              </a:rPr>
              <a:t>机器级数据的表示</a:t>
            </a:r>
          </a:p>
          <a:p>
            <a:pPr>
              <a:spcBef>
                <a:spcPct val="20000"/>
              </a:spcBef>
            </a:pPr>
            <a:r>
              <a:rPr lang="zh-CN" altLang="en-US" sz="2400" b="1" dirty="0">
                <a:solidFill>
                  <a:srgbClr val="3366FF"/>
                </a:solidFill>
                <a:ea typeface="黑体" pitchFamily="49" charset="-122"/>
              </a:rPr>
              <a:t>高级语言中运算规则</a:t>
            </a:r>
          </a:p>
          <a:p>
            <a:pPr>
              <a:spcBef>
                <a:spcPct val="20000"/>
              </a:spcBef>
            </a:pPr>
            <a:r>
              <a:rPr lang="zh-CN" altLang="en-US" sz="2400" b="1" dirty="0">
                <a:solidFill>
                  <a:srgbClr val="3366FF"/>
                </a:solidFill>
                <a:ea typeface="黑体" pitchFamily="49" charset="-122"/>
              </a:rPr>
              <a:t>机器指令的含义和执行</a:t>
            </a:r>
          </a:p>
          <a:p>
            <a:pPr>
              <a:spcBef>
                <a:spcPct val="20000"/>
              </a:spcBef>
            </a:pPr>
            <a:r>
              <a:rPr lang="zh-CN" altLang="en-US" sz="2400" b="1" dirty="0">
                <a:solidFill>
                  <a:srgbClr val="3366FF"/>
                </a:solidFill>
                <a:ea typeface="黑体" pitchFamily="49" charset="-122"/>
              </a:rPr>
              <a:t>计算机内部的运算电路</a:t>
            </a:r>
          </a:p>
          <a:p>
            <a:pPr>
              <a:spcBef>
                <a:spcPct val="20000"/>
              </a:spcBef>
            </a:pPr>
            <a:r>
              <a:rPr lang="en-US" altLang="zh-CN" sz="2400" b="1" dirty="0">
                <a:solidFill>
                  <a:srgbClr val="3366FF"/>
                </a:solidFill>
                <a:latin typeface="黑体"/>
                <a:ea typeface="黑体" pitchFamily="49" charset="-122"/>
              </a:rPr>
              <a:t>……</a:t>
            </a:r>
            <a:endParaRPr lang="en-US" altLang="zh-CN" sz="2400" b="1" dirty="0">
              <a:solidFill>
                <a:srgbClr val="3366FF"/>
              </a:solidFill>
              <a:ea typeface="黑体" pitchFamily="49" charset="-122"/>
            </a:endParaRPr>
          </a:p>
        </p:txBody>
      </p:sp>
      <p:sp>
        <p:nvSpPr>
          <p:cNvPr id="3" name="TextBox 2"/>
          <p:cNvSpPr txBox="1"/>
          <p:nvPr/>
        </p:nvSpPr>
        <p:spPr>
          <a:xfrm>
            <a:off x="5555941" y="3744035"/>
            <a:ext cx="765085" cy="369332"/>
          </a:xfrm>
          <a:prstGeom prst="rect">
            <a:avLst/>
          </a:prstGeom>
          <a:noFill/>
        </p:spPr>
        <p:txBody>
          <a:bodyPr wrap="square" rtlCol="0">
            <a:spAutoFit/>
          </a:bodyPr>
          <a:lstStyle/>
          <a:p>
            <a:r>
              <a:rPr lang="en-US" altLang="zh-CN" dirty="0"/>
              <a:t>-2</a:t>
            </a:r>
            <a:r>
              <a:rPr lang="en-US" altLang="zh-CN" baseline="30000" dirty="0"/>
              <a:t>31</a:t>
            </a:r>
            <a:endParaRPr lang="zh-CN" altLang="en-US" baseline="30000" dirty="0"/>
          </a:p>
        </p:txBody>
      </p:sp>
      <p:sp>
        <p:nvSpPr>
          <p:cNvPr id="4" name="灯片编号占位符 3"/>
          <p:cNvSpPr>
            <a:spLocks noGrp="1"/>
          </p:cNvSpPr>
          <p:nvPr>
            <p:ph type="sldNum" sz="quarter" idx="12"/>
          </p:nvPr>
        </p:nvSpPr>
        <p:spPr/>
        <p:txBody>
          <a:bodyPr/>
          <a:lstStyle/>
          <a:p>
            <a:pPr>
              <a:defRPr/>
            </a:pPr>
            <a:fld id="{C04D5D84-F493-480C-9B02-1533CB18E289}" type="slidenum">
              <a:rPr lang="en-US" altLang="zh-CN" smtClean="0"/>
              <a:pPr>
                <a:defRPr/>
              </a:pPr>
              <a:t>11</a:t>
            </a:fld>
            <a:endParaRPr lang="en-US" altLang="zh-CN"/>
          </a:p>
        </p:txBody>
      </p:sp>
      <p:sp>
        <p:nvSpPr>
          <p:cNvPr id="2" name="矩形 1">
            <a:extLst>
              <a:ext uri="{FF2B5EF4-FFF2-40B4-BE49-F238E27FC236}">
                <a16:creationId xmlns:a16="http://schemas.microsoft.com/office/drawing/2014/main" id="{92E0A1C0-1CC7-4703-AE37-8F92E65B78CA}"/>
              </a:ext>
            </a:extLst>
          </p:cNvPr>
          <p:cNvSpPr/>
          <p:nvPr/>
        </p:nvSpPr>
        <p:spPr>
          <a:xfrm>
            <a:off x="6996114" y="1132871"/>
            <a:ext cx="4768678" cy="646331"/>
          </a:xfrm>
          <a:prstGeom prst="rect">
            <a:avLst/>
          </a:prstGeom>
        </p:spPr>
        <p:txBody>
          <a:bodyPr wrap="none">
            <a:spAutoFit/>
          </a:bodyPr>
          <a:lstStyle/>
          <a:p>
            <a:r>
              <a:rPr lang="zh-CN" altLang="en-US" dirty="0"/>
              <a:t>教学视频（</a:t>
            </a:r>
            <a:r>
              <a:rPr lang="en-US" altLang="zh-CN" dirty="0"/>
              <a:t>23m</a:t>
            </a:r>
            <a:r>
              <a:rPr lang="zh-CN" altLang="en-US" dirty="0"/>
              <a:t>）：</a:t>
            </a:r>
            <a:endParaRPr lang="en-US" altLang="zh-CN" dirty="0"/>
          </a:p>
          <a:p>
            <a:r>
              <a:rPr lang="en-US" altLang="zh-CN" dirty="0"/>
              <a:t>https://www.bilibili.com/video/av13130225?p=1</a:t>
            </a:r>
          </a:p>
        </p:txBody>
      </p:sp>
    </p:spTree>
    <p:extLst>
      <p:ext uri="{BB962C8B-B14F-4D97-AF65-F5344CB8AC3E}">
        <p14:creationId xmlns:p14="http://schemas.microsoft.com/office/powerpoint/2010/main" val="226831084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386052"/>
                                        </p:tgtEl>
                                        <p:attrNameLst>
                                          <p:attrName>style.visibility</p:attrName>
                                        </p:attrNameLst>
                                      </p:cBhvr>
                                      <p:to>
                                        <p:strVal val="visible"/>
                                      </p:to>
                                    </p:set>
                                    <p:animEffect transition="in" filter="blinds(horizontal)">
                                      <p:cBhvr>
                                        <p:cTn id="7" dur="500"/>
                                        <p:tgtEl>
                                          <p:spTgt spid="38605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86052" grpId="0" animBg="1"/>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3619" name="Rectangle 3"/>
          <p:cNvSpPr>
            <a:spLocks noGrp="1" noChangeArrowheads="1"/>
          </p:cNvSpPr>
          <p:nvPr>
            <p:ph type="body" idx="1"/>
          </p:nvPr>
        </p:nvSpPr>
        <p:spPr>
          <a:xfrm>
            <a:off x="1774825" y="773114"/>
            <a:ext cx="8731250" cy="5446197"/>
          </a:xfrm>
        </p:spPr>
        <p:txBody>
          <a:bodyPr/>
          <a:lstStyle/>
          <a:p>
            <a:pPr>
              <a:lnSpc>
                <a:spcPct val="150000"/>
              </a:lnSpc>
              <a:spcBef>
                <a:spcPct val="25000"/>
              </a:spcBef>
              <a:buFontTx/>
              <a:buNone/>
            </a:pPr>
            <a:r>
              <a:rPr lang="en-US" altLang="zh-CN" sz="2000" dirty="0">
                <a:solidFill>
                  <a:srgbClr val="CC3300"/>
                </a:solidFill>
              </a:rPr>
              <a:t>1</a:t>
            </a:r>
            <a:r>
              <a:rPr lang="zh-CN" altLang="en-US" sz="2000" dirty="0">
                <a:solidFill>
                  <a:srgbClr val="CC3300"/>
                </a:solidFill>
              </a:rPr>
              <a:t>）在</a:t>
            </a:r>
            <a:r>
              <a:rPr lang="en-US" altLang="zh-CN" sz="2000" dirty="0">
                <a:solidFill>
                  <a:srgbClr val="CC3300"/>
                </a:solidFill>
              </a:rPr>
              <a:t>ISO C90</a:t>
            </a:r>
            <a:r>
              <a:rPr lang="zh-CN" altLang="en-US" sz="2000" dirty="0">
                <a:solidFill>
                  <a:srgbClr val="CC3300"/>
                </a:solidFill>
              </a:rPr>
              <a:t>标准下 </a:t>
            </a:r>
            <a:r>
              <a:rPr lang="zh-CN" altLang="en-US" sz="2000" dirty="0">
                <a:solidFill>
                  <a:srgbClr val="CC3300"/>
                </a:solidFill>
                <a:latin typeface="微软雅黑" pitchFamily="34" charset="-122"/>
                <a:ea typeface="微软雅黑" pitchFamily="34" charset="-122"/>
              </a:rPr>
              <a:t>，</a:t>
            </a:r>
            <a:r>
              <a:rPr lang="en-US" altLang="zh-CN" sz="2000" dirty="0">
                <a:solidFill>
                  <a:srgbClr val="CC3300"/>
                </a:solidFill>
                <a:latin typeface="微软雅黑" pitchFamily="34" charset="-122"/>
                <a:ea typeface="微软雅黑" pitchFamily="34" charset="-122"/>
              </a:rPr>
              <a:t> -2147483648</a:t>
            </a:r>
            <a:r>
              <a:rPr lang="zh-CN" altLang="en-US" sz="2000" dirty="0">
                <a:solidFill>
                  <a:srgbClr val="CC3300"/>
                </a:solidFill>
                <a:latin typeface="微软雅黑" pitchFamily="34" charset="-122"/>
                <a:ea typeface="微软雅黑" pitchFamily="34" charset="-122"/>
              </a:rPr>
              <a:t>看成</a:t>
            </a:r>
            <a:r>
              <a:rPr lang="en-US" altLang="zh-CN" sz="2000" dirty="0">
                <a:solidFill>
                  <a:srgbClr val="CC3300"/>
                </a:solidFill>
                <a:latin typeface="微软雅黑" pitchFamily="34" charset="-122"/>
                <a:ea typeface="微软雅黑" pitchFamily="34" charset="-122"/>
              </a:rPr>
              <a:t>2</a:t>
            </a:r>
            <a:r>
              <a:rPr lang="zh-CN" altLang="en-US" sz="2000" dirty="0">
                <a:solidFill>
                  <a:srgbClr val="CC3300"/>
                </a:solidFill>
                <a:latin typeface="微软雅黑" pitchFamily="34" charset="-122"/>
                <a:ea typeface="微软雅黑" pitchFamily="34" charset="-122"/>
              </a:rPr>
              <a:t>个部分，先把</a:t>
            </a:r>
            <a:r>
              <a:rPr lang="en-US" altLang="zh-CN" sz="2000" dirty="0">
                <a:solidFill>
                  <a:srgbClr val="CC3300"/>
                </a:solidFill>
                <a:latin typeface="微软雅黑" pitchFamily="34" charset="-122"/>
                <a:ea typeface="微软雅黑" pitchFamily="34" charset="-122"/>
              </a:rPr>
              <a:t>2147483648</a:t>
            </a:r>
            <a:r>
              <a:rPr lang="zh-CN" altLang="en-US" sz="2000" dirty="0">
                <a:solidFill>
                  <a:srgbClr val="CC3300"/>
                </a:solidFill>
                <a:latin typeface="微软雅黑" pitchFamily="34" charset="-122"/>
                <a:ea typeface="微软雅黑" pitchFamily="34" charset="-122"/>
              </a:rPr>
              <a:t>看成</a:t>
            </a:r>
            <a:r>
              <a:rPr lang="en-US" altLang="zh-CN" sz="2000" dirty="0">
                <a:solidFill>
                  <a:srgbClr val="CC3300"/>
                </a:solidFill>
                <a:latin typeface="微软雅黑" pitchFamily="34" charset="-122"/>
                <a:ea typeface="微软雅黑" pitchFamily="34" charset="-122"/>
              </a:rPr>
              <a:t>unsigned </a:t>
            </a:r>
            <a:r>
              <a:rPr lang="en-US" altLang="zh-CN" sz="2000" dirty="0" err="1">
                <a:solidFill>
                  <a:srgbClr val="CC3300"/>
                </a:solidFill>
                <a:latin typeface="微软雅黑" pitchFamily="34" charset="-122"/>
                <a:ea typeface="微软雅黑" pitchFamily="34" charset="-122"/>
              </a:rPr>
              <a:t>int</a:t>
            </a:r>
            <a:r>
              <a:rPr lang="zh-CN" altLang="en-US" sz="2000" dirty="0">
                <a:solidFill>
                  <a:srgbClr val="CC3300"/>
                </a:solidFill>
                <a:latin typeface="微软雅黑" pitchFamily="34" charset="-122"/>
                <a:ea typeface="微软雅黑" pitchFamily="34" charset="-122"/>
              </a:rPr>
              <a:t>型</a:t>
            </a:r>
            <a:r>
              <a:rPr lang="en-US" altLang="zh-CN" sz="2000" dirty="0">
                <a:solidFill>
                  <a:srgbClr val="CC3300"/>
                </a:solidFill>
                <a:latin typeface="微软雅黑" pitchFamily="34" charset="-122"/>
                <a:ea typeface="微软雅黑" pitchFamily="34" charset="-122"/>
              </a:rPr>
              <a:t>2</a:t>
            </a:r>
            <a:r>
              <a:rPr lang="zh-CN" altLang="en-US" sz="2000" dirty="0">
                <a:solidFill>
                  <a:srgbClr val="CC3300"/>
                </a:solidFill>
                <a:latin typeface="微软雅黑" pitchFamily="34" charset="-122"/>
                <a:ea typeface="微软雅黑" pitchFamily="34" charset="-122"/>
              </a:rPr>
              <a:t>的</a:t>
            </a:r>
            <a:r>
              <a:rPr lang="en-US" altLang="zh-CN" sz="2000" dirty="0">
                <a:solidFill>
                  <a:srgbClr val="CC3300"/>
                </a:solidFill>
                <a:latin typeface="微软雅黑" pitchFamily="34" charset="-122"/>
                <a:ea typeface="微软雅黑" pitchFamily="34" charset="-122"/>
              </a:rPr>
              <a:t>31</a:t>
            </a:r>
            <a:r>
              <a:rPr lang="zh-CN" altLang="en-US" sz="2000" dirty="0">
                <a:solidFill>
                  <a:srgbClr val="CC3300"/>
                </a:solidFill>
                <a:latin typeface="微软雅黑" pitchFamily="34" charset="-122"/>
                <a:ea typeface="微软雅黑" pitchFamily="34" charset="-122"/>
              </a:rPr>
              <a:t>次，机器数是</a:t>
            </a:r>
            <a:r>
              <a:rPr lang="en-US" altLang="zh-CN" sz="2000" dirty="0">
                <a:solidFill>
                  <a:srgbClr val="CC3300"/>
                </a:solidFill>
                <a:latin typeface="微软雅黑" pitchFamily="34" charset="-122"/>
                <a:ea typeface="微软雅黑" pitchFamily="34" charset="-122"/>
              </a:rPr>
              <a:t>0x80000000</a:t>
            </a:r>
            <a:r>
              <a:rPr lang="zh-CN" altLang="en-US" sz="2000" dirty="0">
                <a:solidFill>
                  <a:srgbClr val="CC3300"/>
                </a:solidFill>
                <a:latin typeface="微软雅黑" pitchFamily="34" charset="-122"/>
                <a:ea typeface="微软雅黑" pitchFamily="34" charset="-122"/>
              </a:rPr>
              <a:t>，然后对其取补码，结果仍为</a:t>
            </a:r>
            <a:r>
              <a:rPr lang="en-US" altLang="zh-CN" sz="2000" dirty="0">
                <a:solidFill>
                  <a:srgbClr val="CC3300"/>
                </a:solidFill>
                <a:latin typeface="微软雅黑" pitchFamily="34" charset="-122"/>
                <a:ea typeface="微软雅黑" pitchFamily="34" charset="-122"/>
              </a:rPr>
              <a:t>0x80000000</a:t>
            </a:r>
            <a:r>
              <a:rPr lang="zh-CN" altLang="en-US" sz="2000" dirty="0">
                <a:solidFill>
                  <a:srgbClr val="CC3300"/>
                </a:solidFill>
                <a:latin typeface="微软雅黑" pitchFamily="34" charset="-122"/>
                <a:ea typeface="微软雅黑" pitchFamily="34" charset="-122"/>
              </a:rPr>
              <a:t>，因此</a:t>
            </a:r>
          </a:p>
          <a:p>
            <a:pPr>
              <a:lnSpc>
                <a:spcPct val="150000"/>
              </a:lnSpc>
              <a:spcBef>
                <a:spcPct val="25000"/>
              </a:spcBef>
              <a:buFontTx/>
              <a:buNone/>
            </a:pPr>
            <a:r>
              <a:rPr lang="zh-CN" altLang="en-US" sz="2000" dirty="0">
                <a:solidFill>
                  <a:srgbClr val="CC3300"/>
                </a:solidFill>
                <a:latin typeface="微软雅黑" pitchFamily="34" charset="-122"/>
                <a:ea typeface="微软雅黑" pitchFamily="34" charset="-122"/>
              </a:rPr>
              <a:t>    </a:t>
            </a:r>
            <a:r>
              <a:rPr lang="zh-CN" altLang="en-US" sz="2000" dirty="0">
                <a:solidFill>
                  <a:srgbClr val="0033CC"/>
                </a:solidFill>
                <a:latin typeface="微软雅黑" pitchFamily="34" charset="-122"/>
                <a:ea typeface="微软雅黑" pitchFamily="34" charset="-122"/>
              </a:rPr>
              <a:t>“</a:t>
            </a:r>
            <a:r>
              <a:rPr lang="en-US" altLang="zh-CN" sz="2000" dirty="0">
                <a:solidFill>
                  <a:srgbClr val="0033CC"/>
                </a:solidFill>
                <a:latin typeface="微软雅黑" pitchFamily="34" charset="-122"/>
                <a:ea typeface="微软雅黑" pitchFamily="34" charset="-122"/>
              </a:rPr>
              <a:t>-2147483648 &lt; 2147483647”</a:t>
            </a:r>
            <a:r>
              <a:rPr lang="zh-CN" altLang="en-US" sz="2000" dirty="0">
                <a:solidFill>
                  <a:srgbClr val="CC3300"/>
                </a:solidFill>
                <a:latin typeface="微软雅黑" pitchFamily="34" charset="-122"/>
                <a:ea typeface="微软雅黑" pitchFamily="34" charset="-122"/>
              </a:rPr>
              <a:t>按无符号数比较，</a:t>
            </a:r>
          </a:p>
          <a:p>
            <a:pPr>
              <a:lnSpc>
                <a:spcPct val="150000"/>
              </a:lnSpc>
              <a:spcBef>
                <a:spcPct val="25000"/>
              </a:spcBef>
              <a:buFontTx/>
              <a:buNone/>
            </a:pPr>
            <a:r>
              <a:rPr lang="en-US" altLang="zh-CN" sz="2000" dirty="0">
                <a:solidFill>
                  <a:srgbClr val="CC3300"/>
                </a:solidFill>
                <a:latin typeface="微软雅黑" pitchFamily="34" charset="-122"/>
                <a:ea typeface="微软雅黑" pitchFamily="34" charset="-122"/>
              </a:rPr>
              <a:t>     10……0B</a:t>
            </a:r>
            <a:r>
              <a:rPr lang="zh-CN" altLang="en-US" sz="2000" dirty="0">
                <a:solidFill>
                  <a:srgbClr val="CC3300"/>
                </a:solidFill>
                <a:latin typeface="微软雅黑" pitchFamily="34" charset="-122"/>
                <a:ea typeface="微软雅黑" pitchFamily="34" charset="-122"/>
              </a:rPr>
              <a:t>比</a:t>
            </a:r>
            <a:r>
              <a:rPr lang="en-US" altLang="zh-CN" sz="2000" dirty="0">
                <a:solidFill>
                  <a:srgbClr val="CC3300"/>
                </a:solidFill>
                <a:latin typeface="微软雅黑" pitchFamily="34" charset="-122"/>
                <a:ea typeface="微软雅黑" pitchFamily="34" charset="-122"/>
              </a:rPr>
              <a:t>01……1</a:t>
            </a:r>
            <a:r>
              <a:rPr lang="zh-CN" altLang="en-US" sz="2000" dirty="0">
                <a:solidFill>
                  <a:srgbClr val="CC3300"/>
                </a:solidFill>
                <a:latin typeface="微软雅黑" pitchFamily="34" charset="-122"/>
                <a:ea typeface="微软雅黑" pitchFamily="34" charset="-122"/>
              </a:rPr>
              <a:t>大，结果为</a:t>
            </a:r>
            <a:r>
              <a:rPr lang="en-US" altLang="zh-CN" sz="2000" dirty="0">
                <a:solidFill>
                  <a:srgbClr val="CC3300"/>
                </a:solidFill>
                <a:latin typeface="微软雅黑" pitchFamily="34" charset="-122"/>
                <a:ea typeface="微软雅黑" pitchFamily="34" charset="-122"/>
              </a:rPr>
              <a:t>false</a:t>
            </a:r>
            <a:r>
              <a:rPr lang="zh-CN" altLang="en-US" sz="2000" dirty="0">
                <a:solidFill>
                  <a:srgbClr val="CC3300"/>
                </a:solidFill>
                <a:latin typeface="微软雅黑" pitchFamily="34" charset="-122"/>
                <a:ea typeface="微软雅黑" pitchFamily="34" charset="-122"/>
              </a:rPr>
              <a:t>。</a:t>
            </a:r>
          </a:p>
          <a:p>
            <a:pPr>
              <a:lnSpc>
                <a:spcPct val="150000"/>
              </a:lnSpc>
              <a:spcBef>
                <a:spcPct val="25000"/>
              </a:spcBef>
              <a:buFontTx/>
              <a:buNone/>
            </a:pPr>
            <a:r>
              <a:rPr lang="zh-CN" altLang="en-US" sz="2000" dirty="0">
                <a:solidFill>
                  <a:srgbClr val="CC3300"/>
                </a:solidFill>
              </a:rPr>
              <a:t>     </a:t>
            </a:r>
            <a:r>
              <a:rPr lang="zh-CN" altLang="en-US" sz="2000" dirty="0">
                <a:solidFill>
                  <a:srgbClr val="008000"/>
                </a:solidFill>
              </a:rPr>
              <a:t>在</a:t>
            </a:r>
            <a:r>
              <a:rPr lang="en-US" altLang="zh-CN" sz="2000" dirty="0">
                <a:solidFill>
                  <a:srgbClr val="008000"/>
                </a:solidFill>
              </a:rPr>
              <a:t>ISO C99</a:t>
            </a:r>
            <a:r>
              <a:rPr lang="zh-CN" altLang="en-US" sz="2000" dirty="0">
                <a:solidFill>
                  <a:srgbClr val="008000"/>
                </a:solidFill>
              </a:rPr>
              <a:t>标准下 ，</a:t>
            </a:r>
            <a:r>
              <a:rPr lang="en-US" altLang="zh-CN" sz="2000" dirty="0">
                <a:solidFill>
                  <a:srgbClr val="008000"/>
                </a:solidFill>
                <a:latin typeface="微软雅黑" pitchFamily="34" charset="-122"/>
                <a:ea typeface="微软雅黑" pitchFamily="34" charset="-122"/>
              </a:rPr>
              <a:t>2147483648</a:t>
            </a:r>
            <a:r>
              <a:rPr lang="zh-CN" altLang="en-US" sz="2000" dirty="0">
                <a:solidFill>
                  <a:srgbClr val="008000"/>
                </a:solidFill>
                <a:latin typeface="微软雅黑" pitchFamily="34" charset="-122"/>
                <a:ea typeface="微软雅黑" pitchFamily="34" charset="-122"/>
              </a:rPr>
              <a:t>为</a:t>
            </a:r>
            <a:r>
              <a:rPr lang="en-US" altLang="zh-CN" sz="2000" dirty="0">
                <a:solidFill>
                  <a:srgbClr val="008000"/>
                </a:solidFill>
                <a:latin typeface="微软雅黑" pitchFamily="34" charset="-122"/>
                <a:ea typeface="微软雅黑" pitchFamily="34" charset="-122"/>
              </a:rPr>
              <a:t>long </a:t>
            </a:r>
            <a:r>
              <a:rPr lang="en-US" altLang="zh-CN" sz="2000" dirty="0" err="1">
                <a:solidFill>
                  <a:srgbClr val="008000"/>
                </a:solidFill>
                <a:latin typeface="微软雅黑" pitchFamily="34" charset="-122"/>
                <a:ea typeface="微软雅黑" pitchFamily="34" charset="-122"/>
              </a:rPr>
              <a:t>long</a:t>
            </a:r>
            <a:r>
              <a:rPr lang="zh-CN" altLang="en-US" sz="2000" dirty="0">
                <a:solidFill>
                  <a:srgbClr val="008000"/>
                </a:solidFill>
                <a:latin typeface="微软雅黑" pitchFamily="34" charset="-122"/>
                <a:ea typeface="微软雅黑" pitchFamily="34" charset="-122"/>
              </a:rPr>
              <a:t>型，因此</a:t>
            </a:r>
          </a:p>
          <a:p>
            <a:pPr>
              <a:lnSpc>
                <a:spcPct val="150000"/>
              </a:lnSpc>
              <a:spcBef>
                <a:spcPct val="25000"/>
              </a:spcBef>
              <a:buFontTx/>
              <a:buNone/>
            </a:pPr>
            <a:r>
              <a:rPr lang="zh-CN" altLang="en-US" sz="2000" dirty="0">
                <a:solidFill>
                  <a:srgbClr val="008000"/>
                </a:solidFill>
                <a:latin typeface="微软雅黑" pitchFamily="34" charset="-122"/>
                <a:ea typeface="微软雅黑" pitchFamily="34" charset="-122"/>
              </a:rPr>
              <a:t>    </a:t>
            </a:r>
            <a:r>
              <a:rPr lang="zh-CN" altLang="en-US" sz="2000" dirty="0">
                <a:solidFill>
                  <a:srgbClr val="0033CC"/>
                </a:solidFill>
                <a:latin typeface="微软雅黑" pitchFamily="34" charset="-122"/>
                <a:ea typeface="微软雅黑" pitchFamily="34" charset="-122"/>
              </a:rPr>
              <a:t>“</a:t>
            </a:r>
            <a:r>
              <a:rPr lang="en-US" altLang="zh-CN" sz="2000" dirty="0">
                <a:solidFill>
                  <a:srgbClr val="0033CC"/>
                </a:solidFill>
                <a:latin typeface="微软雅黑" pitchFamily="34" charset="-122"/>
                <a:ea typeface="微软雅黑" pitchFamily="34" charset="-122"/>
              </a:rPr>
              <a:t>-2147483648 &lt; 2147483647”</a:t>
            </a:r>
            <a:r>
              <a:rPr lang="zh-CN" altLang="en-US" sz="2000" dirty="0">
                <a:solidFill>
                  <a:srgbClr val="008000"/>
                </a:solidFill>
                <a:latin typeface="微软雅黑" pitchFamily="34" charset="-122"/>
                <a:ea typeface="微软雅黑" pitchFamily="34" charset="-122"/>
              </a:rPr>
              <a:t>按带符号整数比较，</a:t>
            </a:r>
          </a:p>
          <a:p>
            <a:pPr>
              <a:lnSpc>
                <a:spcPct val="150000"/>
              </a:lnSpc>
              <a:spcBef>
                <a:spcPct val="25000"/>
              </a:spcBef>
              <a:buFontTx/>
              <a:buNone/>
            </a:pPr>
            <a:r>
              <a:rPr lang="en-US" altLang="zh-CN" sz="2000" dirty="0">
                <a:solidFill>
                  <a:srgbClr val="008000"/>
                </a:solidFill>
                <a:latin typeface="微软雅黑" pitchFamily="34" charset="-122"/>
                <a:ea typeface="微软雅黑" pitchFamily="34" charset="-122"/>
              </a:rPr>
              <a:t>     10……0B</a:t>
            </a:r>
            <a:r>
              <a:rPr lang="zh-CN" altLang="en-US" sz="2000" dirty="0">
                <a:solidFill>
                  <a:srgbClr val="008000"/>
                </a:solidFill>
                <a:latin typeface="微软雅黑" pitchFamily="34" charset="-122"/>
                <a:ea typeface="微软雅黑" pitchFamily="34" charset="-122"/>
              </a:rPr>
              <a:t>比</a:t>
            </a:r>
            <a:r>
              <a:rPr lang="en-US" altLang="zh-CN" sz="2000" dirty="0">
                <a:solidFill>
                  <a:srgbClr val="008000"/>
                </a:solidFill>
                <a:latin typeface="微软雅黑" pitchFamily="34" charset="-122"/>
                <a:ea typeface="微软雅黑" pitchFamily="34" charset="-122"/>
              </a:rPr>
              <a:t>01……1</a:t>
            </a:r>
            <a:r>
              <a:rPr lang="zh-CN" altLang="en-US" sz="2000" dirty="0">
                <a:solidFill>
                  <a:srgbClr val="008000"/>
                </a:solidFill>
                <a:latin typeface="微软雅黑" pitchFamily="34" charset="-122"/>
                <a:ea typeface="微软雅黑" pitchFamily="34" charset="-122"/>
              </a:rPr>
              <a:t>小，结果为</a:t>
            </a:r>
            <a:r>
              <a:rPr lang="en-US" altLang="zh-CN" sz="2000" dirty="0">
                <a:solidFill>
                  <a:srgbClr val="008000"/>
                </a:solidFill>
                <a:latin typeface="微软雅黑" pitchFamily="34" charset="-122"/>
                <a:ea typeface="微软雅黑" pitchFamily="34" charset="-122"/>
              </a:rPr>
              <a:t>true</a:t>
            </a:r>
            <a:r>
              <a:rPr lang="zh-CN" altLang="en-US" sz="2000" dirty="0">
                <a:solidFill>
                  <a:srgbClr val="008000"/>
                </a:solidFill>
                <a:latin typeface="微软雅黑" pitchFamily="34" charset="-122"/>
                <a:ea typeface="微软雅黑" pitchFamily="34" charset="-122"/>
              </a:rPr>
              <a:t>。</a:t>
            </a:r>
          </a:p>
          <a:p>
            <a:pPr>
              <a:lnSpc>
                <a:spcPct val="150000"/>
              </a:lnSpc>
              <a:spcBef>
                <a:spcPct val="25000"/>
              </a:spcBef>
              <a:buFontTx/>
              <a:buNone/>
            </a:pPr>
            <a:r>
              <a:rPr lang="en-US" altLang="zh-CN" sz="2000" dirty="0">
                <a:solidFill>
                  <a:srgbClr val="CC3300"/>
                </a:solidFill>
              </a:rPr>
              <a:t>2</a:t>
            </a:r>
            <a:r>
              <a:rPr lang="zh-CN" altLang="en-US" sz="2000" dirty="0">
                <a:solidFill>
                  <a:srgbClr val="CC3300"/>
                </a:solidFill>
              </a:rPr>
              <a:t>）</a:t>
            </a:r>
            <a:r>
              <a:rPr lang="en-US" altLang="zh-CN" sz="2000" dirty="0" err="1">
                <a:solidFill>
                  <a:srgbClr val="0033CC"/>
                </a:solidFill>
                <a:latin typeface="微软雅黑" pitchFamily="34" charset="-122"/>
                <a:ea typeface="微软雅黑" pitchFamily="34" charset="-122"/>
              </a:rPr>
              <a:t>i</a:t>
            </a:r>
            <a:r>
              <a:rPr lang="en-US" altLang="zh-CN" sz="2000" dirty="0">
                <a:solidFill>
                  <a:srgbClr val="0033CC"/>
                </a:solidFill>
                <a:latin typeface="微软雅黑" pitchFamily="34" charset="-122"/>
                <a:ea typeface="微软雅黑" pitchFamily="34" charset="-122"/>
              </a:rPr>
              <a:t> &lt; 2147483647 </a:t>
            </a:r>
            <a:r>
              <a:rPr lang="zh-CN" altLang="en-US" sz="2000" dirty="0">
                <a:latin typeface="微软雅黑" pitchFamily="34" charset="-122"/>
                <a:ea typeface="微软雅黑" pitchFamily="34" charset="-122"/>
              </a:rPr>
              <a:t>按</a:t>
            </a:r>
            <a:r>
              <a:rPr lang="en-US" altLang="zh-CN" sz="2000" dirty="0" err="1">
                <a:latin typeface="微软雅黑" pitchFamily="34" charset="-122"/>
                <a:ea typeface="微软雅黑" pitchFamily="34" charset="-122"/>
              </a:rPr>
              <a:t>int</a:t>
            </a:r>
            <a:r>
              <a:rPr lang="zh-CN" altLang="en-US" sz="2000" dirty="0">
                <a:latin typeface="微软雅黑" pitchFamily="34" charset="-122"/>
                <a:ea typeface="微软雅黑" pitchFamily="34" charset="-122"/>
              </a:rPr>
              <a:t>型数比较，结果为</a:t>
            </a:r>
            <a:r>
              <a:rPr lang="en-US" altLang="zh-CN" sz="2000" dirty="0">
                <a:latin typeface="微软雅黑" pitchFamily="34" charset="-122"/>
                <a:ea typeface="微软雅黑" pitchFamily="34" charset="-122"/>
              </a:rPr>
              <a:t>true</a:t>
            </a:r>
            <a:r>
              <a:rPr lang="zh-CN" altLang="en-US" sz="2000" dirty="0">
                <a:latin typeface="微软雅黑" pitchFamily="34" charset="-122"/>
                <a:ea typeface="微软雅黑" pitchFamily="34" charset="-122"/>
              </a:rPr>
              <a:t>。</a:t>
            </a:r>
          </a:p>
          <a:p>
            <a:pPr>
              <a:lnSpc>
                <a:spcPct val="150000"/>
              </a:lnSpc>
              <a:spcBef>
                <a:spcPct val="25000"/>
              </a:spcBef>
              <a:buFontTx/>
              <a:buNone/>
            </a:pPr>
            <a:r>
              <a:rPr lang="en-US" altLang="zh-CN" sz="2000" dirty="0">
                <a:solidFill>
                  <a:srgbClr val="CC3300"/>
                </a:solidFill>
              </a:rPr>
              <a:t>3</a:t>
            </a:r>
            <a:r>
              <a:rPr lang="zh-CN" altLang="en-US" sz="2000" dirty="0">
                <a:solidFill>
                  <a:srgbClr val="CC3300"/>
                </a:solidFill>
              </a:rPr>
              <a:t>）</a:t>
            </a:r>
            <a:r>
              <a:rPr lang="en-US" altLang="zh-CN" sz="2000" dirty="0">
                <a:solidFill>
                  <a:srgbClr val="0033CC"/>
                </a:solidFill>
                <a:latin typeface="微软雅黑" pitchFamily="34" charset="-122"/>
                <a:ea typeface="微软雅黑" pitchFamily="34" charset="-122"/>
              </a:rPr>
              <a:t>-2147483647-1 &lt; 2147483647 </a:t>
            </a:r>
            <a:r>
              <a:rPr lang="zh-CN" altLang="en-US" sz="2000" dirty="0">
                <a:latin typeface="微软雅黑" pitchFamily="34" charset="-122"/>
                <a:ea typeface="微软雅黑" pitchFamily="34" charset="-122"/>
              </a:rPr>
              <a:t>按</a:t>
            </a:r>
            <a:r>
              <a:rPr lang="en-US" altLang="zh-CN" sz="2000" dirty="0" err="1">
                <a:latin typeface="微软雅黑" pitchFamily="34" charset="-122"/>
                <a:ea typeface="微软雅黑" pitchFamily="34" charset="-122"/>
              </a:rPr>
              <a:t>int</a:t>
            </a:r>
            <a:r>
              <a:rPr lang="zh-CN" altLang="en-US" sz="2000" dirty="0">
                <a:latin typeface="微软雅黑" pitchFamily="34" charset="-122"/>
                <a:ea typeface="微软雅黑" pitchFamily="34" charset="-122"/>
              </a:rPr>
              <a:t>型比较，结果为</a:t>
            </a:r>
            <a:r>
              <a:rPr lang="en-US" altLang="zh-CN" sz="2000" dirty="0">
                <a:latin typeface="微软雅黑" pitchFamily="34" charset="-122"/>
                <a:ea typeface="微软雅黑" pitchFamily="34" charset="-122"/>
              </a:rPr>
              <a:t>true</a:t>
            </a:r>
            <a:r>
              <a:rPr lang="zh-CN" altLang="en-US" sz="2000" dirty="0">
                <a:latin typeface="微软雅黑" pitchFamily="34" charset="-122"/>
                <a:ea typeface="微软雅黑" pitchFamily="34" charset="-122"/>
              </a:rPr>
              <a:t>。</a:t>
            </a:r>
          </a:p>
        </p:txBody>
      </p:sp>
      <p:sp>
        <p:nvSpPr>
          <p:cNvPr id="623620" name="Text Box 4"/>
          <p:cNvSpPr txBox="1">
            <a:spLocks noChangeArrowheads="1"/>
          </p:cNvSpPr>
          <p:nvPr/>
        </p:nvSpPr>
        <p:spPr bwMode="auto">
          <a:xfrm>
            <a:off x="9066330" y="2213866"/>
            <a:ext cx="1350962" cy="1190625"/>
          </a:xfrm>
          <a:prstGeom prst="rect">
            <a:avLst/>
          </a:prstGeom>
          <a:noFill/>
          <a:ln w="9525">
            <a:noFill/>
            <a:miter lim="800000"/>
            <a:headEnd/>
            <a:tailEnd/>
          </a:ln>
          <a:effectLst/>
        </p:spPr>
        <p:txBody>
          <a:bodyPr lIns="0" rIns="0">
            <a:spAutoFit/>
          </a:bodyPr>
          <a:lstStyle/>
          <a:p>
            <a:pPr>
              <a:spcBef>
                <a:spcPct val="50000"/>
              </a:spcBef>
            </a:pPr>
            <a:r>
              <a:rPr lang="zh-CN" altLang="en-US" b="1" dirty="0">
                <a:solidFill>
                  <a:srgbClr val="FF0000"/>
                </a:solidFill>
                <a:latin typeface="微软雅黑" pitchFamily="34" charset="-122"/>
                <a:ea typeface="微软雅黑" pitchFamily="34" charset="-122"/>
              </a:rPr>
              <a:t>由</a:t>
            </a:r>
            <a:r>
              <a:rPr lang="en-US" altLang="zh-CN" b="1" dirty="0">
                <a:solidFill>
                  <a:srgbClr val="FF0000"/>
                </a:solidFill>
                <a:latin typeface="微软雅黑" pitchFamily="34" charset="-122"/>
                <a:ea typeface="微软雅黑" pitchFamily="34" charset="-122"/>
              </a:rPr>
              <a:t>C</a:t>
            </a:r>
            <a:r>
              <a:rPr lang="zh-CN" altLang="en-US" b="1" dirty="0">
                <a:solidFill>
                  <a:srgbClr val="FF0000"/>
                </a:solidFill>
                <a:latin typeface="微软雅黑" pitchFamily="34" charset="-122"/>
                <a:ea typeface="微软雅黑" pitchFamily="34" charset="-122"/>
              </a:rPr>
              <a:t>语言中的“</a:t>
            </a:r>
            <a:r>
              <a:rPr lang="en-US" altLang="zh-CN" b="1" dirty="0">
                <a:solidFill>
                  <a:srgbClr val="FF0000"/>
                </a:solidFill>
                <a:latin typeface="微软雅黑" pitchFamily="34" charset="-122"/>
                <a:ea typeface="微软雅黑" pitchFamily="34" charset="-122"/>
              </a:rPr>
              <a:t>Integer Promotion”</a:t>
            </a:r>
            <a:r>
              <a:rPr lang="zh-CN" altLang="en-US" b="1" dirty="0">
                <a:solidFill>
                  <a:srgbClr val="FF0000"/>
                </a:solidFill>
                <a:latin typeface="微软雅黑" pitchFamily="34" charset="-122"/>
                <a:ea typeface="微软雅黑" pitchFamily="34" charset="-122"/>
              </a:rPr>
              <a:t>规则决定的。</a:t>
            </a:r>
          </a:p>
        </p:txBody>
      </p:sp>
      <p:sp>
        <p:nvSpPr>
          <p:cNvPr id="3" name="灯片编号占位符 2"/>
          <p:cNvSpPr>
            <a:spLocks noGrp="1"/>
          </p:cNvSpPr>
          <p:nvPr>
            <p:ph type="sldNum" sz="quarter" idx="12"/>
          </p:nvPr>
        </p:nvSpPr>
        <p:spPr/>
        <p:txBody>
          <a:bodyPr/>
          <a:lstStyle/>
          <a:p>
            <a:pPr>
              <a:defRPr/>
            </a:pPr>
            <a:fld id="{8DE57753-3450-41C8-8B05-01BE0301526A}" type="slidenum">
              <a:rPr lang="en-US" altLang="zh-CN" smtClean="0">
                <a:solidFill>
                  <a:srgbClr val="000000"/>
                </a:solidFill>
              </a:rPr>
              <a:pPr>
                <a:defRPr/>
              </a:pPr>
              <a:t>12</a:t>
            </a:fld>
            <a:endParaRPr lang="en-US" altLang="zh-CN">
              <a:solidFill>
                <a:srgbClr val="000000"/>
              </a:solidFill>
            </a:endParaRPr>
          </a:p>
        </p:txBody>
      </p:sp>
    </p:spTree>
    <p:extLst>
      <p:ext uri="{BB962C8B-B14F-4D97-AF65-F5344CB8AC3E}">
        <p14:creationId xmlns:p14="http://schemas.microsoft.com/office/powerpoint/2010/main" val="396958753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623619">
                                            <p:txEl>
                                              <p:pRg st="0" end="0"/>
                                            </p:txEl>
                                          </p:spTgt>
                                        </p:tgtEl>
                                        <p:attrNameLst>
                                          <p:attrName>style.visibility</p:attrName>
                                        </p:attrNameLst>
                                      </p:cBhvr>
                                      <p:to>
                                        <p:strVal val="visible"/>
                                      </p:to>
                                    </p:set>
                                    <p:animEffect transition="in" filter="blinds(horizontal)">
                                      <p:cBhvr>
                                        <p:cTn id="7" dur="500"/>
                                        <p:tgtEl>
                                          <p:spTgt spid="623619">
                                            <p:txEl>
                                              <p:pRg st="0" end="0"/>
                                            </p:txEl>
                                          </p:spTgt>
                                        </p:tgtEl>
                                      </p:cBhvr>
                                    </p:animEffect>
                                  </p:childTnLst>
                                </p:cTn>
                              </p:par>
                              <p:par>
                                <p:cTn id="8" presetID="3" presetClass="entr" presetSubtype="10" fill="hold" nodeType="withEffect">
                                  <p:stCondLst>
                                    <p:cond delay="0"/>
                                  </p:stCondLst>
                                  <p:childTnLst>
                                    <p:set>
                                      <p:cBhvr>
                                        <p:cTn id="9" dur="1" fill="hold">
                                          <p:stCondLst>
                                            <p:cond delay="0"/>
                                          </p:stCondLst>
                                        </p:cTn>
                                        <p:tgtEl>
                                          <p:spTgt spid="623619">
                                            <p:txEl>
                                              <p:pRg st="1" end="1"/>
                                            </p:txEl>
                                          </p:spTgt>
                                        </p:tgtEl>
                                        <p:attrNameLst>
                                          <p:attrName>style.visibility</p:attrName>
                                        </p:attrNameLst>
                                      </p:cBhvr>
                                      <p:to>
                                        <p:strVal val="visible"/>
                                      </p:to>
                                    </p:set>
                                    <p:animEffect transition="in" filter="blinds(horizontal)">
                                      <p:cBhvr>
                                        <p:cTn id="10" dur="500"/>
                                        <p:tgtEl>
                                          <p:spTgt spid="623619">
                                            <p:txEl>
                                              <p:pRg st="1" end="1"/>
                                            </p:txEl>
                                          </p:spTgt>
                                        </p:tgtEl>
                                      </p:cBhvr>
                                    </p:animEffect>
                                  </p:childTnLst>
                                </p:cTn>
                              </p:par>
                              <p:par>
                                <p:cTn id="11" presetID="3" presetClass="entr" presetSubtype="10" fill="hold" nodeType="withEffect">
                                  <p:stCondLst>
                                    <p:cond delay="0"/>
                                  </p:stCondLst>
                                  <p:childTnLst>
                                    <p:set>
                                      <p:cBhvr>
                                        <p:cTn id="12" dur="1" fill="hold">
                                          <p:stCondLst>
                                            <p:cond delay="0"/>
                                          </p:stCondLst>
                                        </p:cTn>
                                        <p:tgtEl>
                                          <p:spTgt spid="623619">
                                            <p:txEl>
                                              <p:pRg st="2" end="2"/>
                                            </p:txEl>
                                          </p:spTgt>
                                        </p:tgtEl>
                                        <p:attrNameLst>
                                          <p:attrName>style.visibility</p:attrName>
                                        </p:attrNameLst>
                                      </p:cBhvr>
                                      <p:to>
                                        <p:strVal val="visible"/>
                                      </p:to>
                                    </p:set>
                                    <p:animEffect transition="in" filter="blinds(horizontal)">
                                      <p:cBhvr>
                                        <p:cTn id="13" dur="500"/>
                                        <p:tgtEl>
                                          <p:spTgt spid="623619">
                                            <p:txEl>
                                              <p:pRg st="2" end="2"/>
                                            </p:txEl>
                                          </p:spTgt>
                                        </p:tgtEl>
                                      </p:cBhvr>
                                    </p:animEffect>
                                  </p:childTnLst>
                                </p:cTn>
                              </p:par>
                            </p:childTnLst>
                          </p:cTn>
                        </p:par>
                      </p:childTnLst>
                    </p:cTn>
                  </p:par>
                  <p:par>
                    <p:cTn id="14" fill="hold">
                      <p:stCondLst>
                        <p:cond delay="indefinite"/>
                      </p:stCondLst>
                      <p:childTnLst>
                        <p:par>
                          <p:cTn id="15" fill="hold">
                            <p:stCondLst>
                              <p:cond delay="0"/>
                            </p:stCondLst>
                            <p:childTnLst>
                              <p:par>
                                <p:cTn id="16" presetID="3" presetClass="entr" presetSubtype="10" fill="hold" nodeType="clickEffect">
                                  <p:stCondLst>
                                    <p:cond delay="0"/>
                                  </p:stCondLst>
                                  <p:childTnLst>
                                    <p:set>
                                      <p:cBhvr>
                                        <p:cTn id="17" dur="1" fill="hold">
                                          <p:stCondLst>
                                            <p:cond delay="0"/>
                                          </p:stCondLst>
                                        </p:cTn>
                                        <p:tgtEl>
                                          <p:spTgt spid="623619">
                                            <p:txEl>
                                              <p:pRg st="3" end="3"/>
                                            </p:txEl>
                                          </p:spTgt>
                                        </p:tgtEl>
                                        <p:attrNameLst>
                                          <p:attrName>style.visibility</p:attrName>
                                        </p:attrNameLst>
                                      </p:cBhvr>
                                      <p:to>
                                        <p:strVal val="visible"/>
                                      </p:to>
                                    </p:set>
                                    <p:animEffect transition="in" filter="blinds(horizontal)">
                                      <p:cBhvr>
                                        <p:cTn id="18" dur="500"/>
                                        <p:tgtEl>
                                          <p:spTgt spid="623619">
                                            <p:txEl>
                                              <p:pRg st="3" end="3"/>
                                            </p:txEl>
                                          </p:spTgt>
                                        </p:tgtEl>
                                      </p:cBhvr>
                                    </p:animEffect>
                                  </p:childTnLst>
                                </p:cTn>
                              </p:par>
                              <p:par>
                                <p:cTn id="19" presetID="3" presetClass="entr" presetSubtype="10" fill="hold" nodeType="withEffect">
                                  <p:stCondLst>
                                    <p:cond delay="0"/>
                                  </p:stCondLst>
                                  <p:childTnLst>
                                    <p:set>
                                      <p:cBhvr>
                                        <p:cTn id="20" dur="1" fill="hold">
                                          <p:stCondLst>
                                            <p:cond delay="0"/>
                                          </p:stCondLst>
                                        </p:cTn>
                                        <p:tgtEl>
                                          <p:spTgt spid="623619">
                                            <p:txEl>
                                              <p:pRg st="4" end="4"/>
                                            </p:txEl>
                                          </p:spTgt>
                                        </p:tgtEl>
                                        <p:attrNameLst>
                                          <p:attrName>style.visibility</p:attrName>
                                        </p:attrNameLst>
                                      </p:cBhvr>
                                      <p:to>
                                        <p:strVal val="visible"/>
                                      </p:to>
                                    </p:set>
                                    <p:animEffect transition="in" filter="blinds(horizontal)">
                                      <p:cBhvr>
                                        <p:cTn id="21" dur="500"/>
                                        <p:tgtEl>
                                          <p:spTgt spid="623619">
                                            <p:txEl>
                                              <p:pRg st="4" end="4"/>
                                            </p:txEl>
                                          </p:spTgt>
                                        </p:tgtEl>
                                      </p:cBhvr>
                                    </p:animEffect>
                                  </p:childTnLst>
                                </p:cTn>
                              </p:par>
                              <p:par>
                                <p:cTn id="22" presetID="3" presetClass="entr" presetSubtype="10" fill="hold" nodeType="withEffect">
                                  <p:stCondLst>
                                    <p:cond delay="0"/>
                                  </p:stCondLst>
                                  <p:childTnLst>
                                    <p:set>
                                      <p:cBhvr>
                                        <p:cTn id="23" dur="1" fill="hold">
                                          <p:stCondLst>
                                            <p:cond delay="0"/>
                                          </p:stCondLst>
                                        </p:cTn>
                                        <p:tgtEl>
                                          <p:spTgt spid="623619">
                                            <p:txEl>
                                              <p:pRg st="5" end="5"/>
                                            </p:txEl>
                                          </p:spTgt>
                                        </p:tgtEl>
                                        <p:attrNameLst>
                                          <p:attrName>style.visibility</p:attrName>
                                        </p:attrNameLst>
                                      </p:cBhvr>
                                      <p:to>
                                        <p:strVal val="visible"/>
                                      </p:to>
                                    </p:set>
                                    <p:animEffect transition="in" filter="blinds(horizontal)">
                                      <p:cBhvr>
                                        <p:cTn id="24" dur="500"/>
                                        <p:tgtEl>
                                          <p:spTgt spid="623619">
                                            <p:txEl>
                                              <p:pRg st="5" end="5"/>
                                            </p:txEl>
                                          </p:spTgt>
                                        </p:tgtEl>
                                      </p:cBhvr>
                                    </p:animEffect>
                                  </p:childTnLst>
                                </p:cTn>
                              </p:par>
                            </p:childTnLst>
                          </p:cTn>
                        </p:par>
                      </p:childTnLst>
                    </p:cTn>
                  </p:par>
                  <p:par>
                    <p:cTn id="25" fill="hold">
                      <p:stCondLst>
                        <p:cond delay="indefinite"/>
                      </p:stCondLst>
                      <p:childTnLst>
                        <p:par>
                          <p:cTn id="26" fill="hold">
                            <p:stCondLst>
                              <p:cond delay="0"/>
                            </p:stCondLst>
                            <p:childTnLst>
                              <p:par>
                                <p:cTn id="27" presetID="3" presetClass="entr" presetSubtype="10" fill="hold" nodeType="clickEffect">
                                  <p:stCondLst>
                                    <p:cond delay="0"/>
                                  </p:stCondLst>
                                  <p:childTnLst>
                                    <p:set>
                                      <p:cBhvr>
                                        <p:cTn id="28" dur="1" fill="hold">
                                          <p:stCondLst>
                                            <p:cond delay="0"/>
                                          </p:stCondLst>
                                        </p:cTn>
                                        <p:tgtEl>
                                          <p:spTgt spid="623619">
                                            <p:txEl>
                                              <p:pRg st="6" end="6"/>
                                            </p:txEl>
                                          </p:spTgt>
                                        </p:tgtEl>
                                        <p:attrNameLst>
                                          <p:attrName>style.visibility</p:attrName>
                                        </p:attrNameLst>
                                      </p:cBhvr>
                                      <p:to>
                                        <p:strVal val="visible"/>
                                      </p:to>
                                    </p:set>
                                    <p:animEffect transition="in" filter="blinds(horizontal)">
                                      <p:cBhvr>
                                        <p:cTn id="29" dur="500"/>
                                        <p:tgtEl>
                                          <p:spTgt spid="623619">
                                            <p:txEl>
                                              <p:pRg st="6" end="6"/>
                                            </p:txEl>
                                          </p:spTgt>
                                        </p:tgtEl>
                                      </p:cBhvr>
                                    </p:animEffect>
                                  </p:childTnLst>
                                </p:cTn>
                              </p:par>
                            </p:childTnLst>
                          </p:cTn>
                        </p:par>
                      </p:childTnLst>
                    </p:cTn>
                  </p:par>
                  <p:par>
                    <p:cTn id="30" fill="hold">
                      <p:stCondLst>
                        <p:cond delay="indefinite"/>
                      </p:stCondLst>
                      <p:childTnLst>
                        <p:par>
                          <p:cTn id="31" fill="hold">
                            <p:stCondLst>
                              <p:cond delay="0"/>
                            </p:stCondLst>
                            <p:childTnLst>
                              <p:par>
                                <p:cTn id="32" presetID="3" presetClass="entr" presetSubtype="10" fill="hold" nodeType="clickEffect">
                                  <p:stCondLst>
                                    <p:cond delay="0"/>
                                  </p:stCondLst>
                                  <p:childTnLst>
                                    <p:set>
                                      <p:cBhvr>
                                        <p:cTn id="33" dur="1" fill="hold">
                                          <p:stCondLst>
                                            <p:cond delay="0"/>
                                          </p:stCondLst>
                                        </p:cTn>
                                        <p:tgtEl>
                                          <p:spTgt spid="623619">
                                            <p:txEl>
                                              <p:pRg st="7" end="7"/>
                                            </p:txEl>
                                          </p:spTgt>
                                        </p:tgtEl>
                                        <p:attrNameLst>
                                          <p:attrName>style.visibility</p:attrName>
                                        </p:attrNameLst>
                                      </p:cBhvr>
                                      <p:to>
                                        <p:strVal val="visible"/>
                                      </p:to>
                                    </p:set>
                                    <p:animEffect transition="in" filter="blinds(horizontal)">
                                      <p:cBhvr>
                                        <p:cTn id="34" dur="500"/>
                                        <p:tgtEl>
                                          <p:spTgt spid="623619">
                                            <p:txEl>
                                              <p:pRg st="7" end="7"/>
                                            </p:txEl>
                                          </p:spTgt>
                                        </p:tgtEl>
                                      </p:cBhvr>
                                    </p:animEffect>
                                  </p:childTnLst>
                                </p:cTn>
                              </p:par>
                            </p:childTnLst>
                          </p:cTn>
                        </p:par>
                      </p:childTnLst>
                    </p:cTn>
                  </p:par>
                  <p:par>
                    <p:cTn id="35" fill="hold">
                      <p:stCondLst>
                        <p:cond delay="indefinite"/>
                      </p:stCondLst>
                      <p:childTnLst>
                        <p:par>
                          <p:cTn id="36" fill="hold">
                            <p:stCondLst>
                              <p:cond delay="0"/>
                            </p:stCondLst>
                            <p:childTnLst>
                              <p:par>
                                <p:cTn id="37" presetID="3" presetClass="entr" presetSubtype="10" fill="hold" grpId="0" nodeType="clickEffect">
                                  <p:stCondLst>
                                    <p:cond delay="0"/>
                                  </p:stCondLst>
                                  <p:childTnLst>
                                    <p:set>
                                      <p:cBhvr>
                                        <p:cTn id="38" dur="1" fill="hold">
                                          <p:stCondLst>
                                            <p:cond delay="0"/>
                                          </p:stCondLst>
                                        </p:cTn>
                                        <p:tgtEl>
                                          <p:spTgt spid="623620"/>
                                        </p:tgtEl>
                                        <p:attrNameLst>
                                          <p:attrName>style.visibility</p:attrName>
                                        </p:attrNameLst>
                                      </p:cBhvr>
                                      <p:to>
                                        <p:strVal val="visible"/>
                                      </p:to>
                                    </p:set>
                                    <p:animEffect transition="in" filter="blinds(horizontal)">
                                      <p:cBhvr>
                                        <p:cTn id="39" dur="500"/>
                                        <p:tgtEl>
                                          <p:spTgt spid="6236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23620"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7074" name="Rectangle 2"/>
          <p:cNvSpPr>
            <a:spLocks noGrp="1" noChangeArrowheads="1"/>
          </p:cNvSpPr>
          <p:nvPr>
            <p:ph type="title"/>
          </p:nvPr>
        </p:nvSpPr>
        <p:spPr>
          <a:xfrm>
            <a:off x="6681018" y="98426"/>
            <a:ext cx="3529781" cy="561975"/>
          </a:xfrm>
        </p:spPr>
        <p:txBody>
          <a:bodyPr/>
          <a:lstStyle/>
          <a:p>
            <a:r>
              <a:rPr lang="zh-CN" altLang="en-US" dirty="0"/>
              <a:t>课程的意义</a:t>
            </a:r>
            <a:endParaRPr lang="zh-CN" altLang="en-US" sz="3600" dirty="0"/>
          </a:p>
        </p:txBody>
      </p:sp>
      <p:pic>
        <p:nvPicPr>
          <p:cNvPr id="539650" name="Picture 2"/>
          <p:cNvPicPr>
            <a:picLocks noChangeAspect="1" noChangeArrowheads="1"/>
          </p:cNvPicPr>
          <p:nvPr/>
        </p:nvPicPr>
        <p:blipFill>
          <a:blip r:embed="rId3"/>
          <a:srcRect/>
          <a:stretch>
            <a:fillRect/>
          </a:stretch>
        </p:blipFill>
        <p:spPr bwMode="auto">
          <a:xfrm>
            <a:off x="1881158" y="857232"/>
            <a:ext cx="8306639" cy="5429288"/>
          </a:xfrm>
          <a:prstGeom prst="rect">
            <a:avLst/>
          </a:prstGeom>
          <a:noFill/>
          <a:ln w="9525">
            <a:noFill/>
            <a:miter lim="800000"/>
            <a:headEnd/>
            <a:tailEnd/>
          </a:ln>
          <a:effectLst/>
        </p:spPr>
      </p:pic>
      <p:sp>
        <p:nvSpPr>
          <p:cNvPr id="3" name="灯片编号占位符 2"/>
          <p:cNvSpPr>
            <a:spLocks noGrp="1"/>
          </p:cNvSpPr>
          <p:nvPr>
            <p:ph type="sldNum" sz="quarter" idx="12"/>
          </p:nvPr>
        </p:nvSpPr>
        <p:spPr/>
        <p:txBody>
          <a:bodyPr/>
          <a:lstStyle/>
          <a:p>
            <a:pPr>
              <a:defRPr/>
            </a:pPr>
            <a:fld id="{8DE57753-3450-41C8-8B05-01BE0301526A}" type="slidenum">
              <a:rPr lang="en-US" altLang="zh-CN" smtClean="0">
                <a:solidFill>
                  <a:srgbClr val="000000"/>
                </a:solidFill>
              </a:rPr>
              <a:pPr>
                <a:defRPr/>
              </a:pPr>
              <a:t>13</a:t>
            </a:fld>
            <a:endParaRPr lang="en-US" altLang="zh-CN">
              <a:solidFill>
                <a:srgbClr val="000000"/>
              </a:solidFill>
            </a:endParaRPr>
          </a:p>
        </p:txBody>
      </p:sp>
    </p:spTree>
    <p:extLst>
      <p:ext uri="{BB962C8B-B14F-4D97-AF65-F5344CB8AC3E}">
        <p14:creationId xmlns:p14="http://schemas.microsoft.com/office/powerpoint/2010/main" val="405434781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84706" name="Picture 2"/>
          <p:cNvPicPr>
            <a:picLocks noChangeAspect="1" noChangeArrowheads="1"/>
          </p:cNvPicPr>
          <p:nvPr/>
        </p:nvPicPr>
        <p:blipFill>
          <a:blip r:embed="rId3"/>
          <a:srcRect/>
          <a:stretch>
            <a:fillRect/>
          </a:stretch>
        </p:blipFill>
        <p:spPr bwMode="auto">
          <a:xfrm>
            <a:off x="1666844" y="2786058"/>
            <a:ext cx="6458158" cy="3929090"/>
          </a:xfrm>
          <a:prstGeom prst="rect">
            <a:avLst/>
          </a:prstGeom>
          <a:noFill/>
          <a:ln w="9525">
            <a:noFill/>
            <a:miter lim="800000"/>
            <a:headEnd/>
            <a:tailEnd/>
          </a:ln>
          <a:effectLst/>
        </p:spPr>
      </p:pic>
      <p:pic>
        <p:nvPicPr>
          <p:cNvPr id="585731" name="Picture 3"/>
          <p:cNvPicPr>
            <a:picLocks noChangeAspect="1" noChangeArrowheads="1"/>
          </p:cNvPicPr>
          <p:nvPr/>
        </p:nvPicPr>
        <p:blipFill>
          <a:blip r:embed="rId4"/>
          <a:srcRect/>
          <a:stretch>
            <a:fillRect/>
          </a:stretch>
        </p:blipFill>
        <p:spPr bwMode="auto">
          <a:xfrm>
            <a:off x="4667241" y="71414"/>
            <a:ext cx="5880271" cy="3571900"/>
          </a:xfrm>
          <a:prstGeom prst="rect">
            <a:avLst/>
          </a:prstGeom>
          <a:noFill/>
          <a:ln w="9525">
            <a:noFill/>
            <a:miter lim="800000"/>
            <a:headEnd/>
            <a:tailEnd/>
          </a:ln>
          <a:effectLst/>
        </p:spPr>
      </p:pic>
      <p:cxnSp>
        <p:nvCxnSpPr>
          <p:cNvPr id="9" name="直接连接符 8"/>
          <p:cNvCxnSpPr/>
          <p:nvPr/>
        </p:nvCxnSpPr>
        <p:spPr>
          <a:xfrm rot="5400000">
            <a:off x="2809864" y="1857376"/>
            <a:ext cx="3714752" cy="1588"/>
          </a:xfrm>
          <a:prstGeom prst="line">
            <a:avLst/>
          </a:prstGeom>
          <a:ln w="25400">
            <a:solidFill>
              <a:srgbClr val="7030A0"/>
            </a:solidFill>
            <a:prstDash val="sysDash"/>
          </a:ln>
        </p:spPr>
        <p:style>
          <a:lnRef idx="1">
            <a:schemeClr val="accent1"/>
          </a:lnRef>
          <a:fillRef idx="0">
            <a:schemeClr val="accent1"/>
          </a:fillRef>
          <a:effectRef idx="0">
            <a:schemeClr val="accent1"/>
          </a:effectRef>
          <a:fontRef idx="minor">
            <a:schemeClr val="tx1"/>
          </a:fontRef>
        </p:style>
      </p:cxnSp>
      <p:cxnSp>
        <p:nvCxnSpPr>
          <p:cNvPr id="10" name="直接连接符 9"/>
          <p:cNvCxnSpPr/>
          <p:nvPr/>
        </p:nvCxnSpPr>
        <p:spPr>
          <a:xfrm rot="10800000">
            <a:off x="4667240" y="3714752"/>
            <a:ext cx="5857916" cy="1588"/>
          </a:xfrm>
          <a:prstGeom prst="line">
            <a:avLst/>
          </a:prstGeom>
          <a:ln w="25400">
            <a:solidFill>
              <a:srgbClr val="7030A0"/>
            </a:solidFill>
            <a:prstDash val="sysDash"/>
          </a:ln>
        </p:spPr>
        <p:style>
          <a:lnRef idx="1">
            <a:schemeClr val="accent1"/>
          </a:lnRef>
          <a:fillRef idx="0">
            <a:schemeClr val="accent1"/>
          </a:fillRef>
          <a:effectRef idx="0">
            <a:schemeClr val="accent1"/>
          </a:effectRef>
          <a:fontRef idx="minor">
            <a:schemeClr val="tx1"/>
          </a:fontRef>
        </p:style>
      </p:cxnSp>
      <p:sp>
        <p:nvSpPr>
          <p:cNvPr id="17" name="TextBox 16"/>
          <p:cNvSpPr txBox="1"/>
          <p:nvPr/>
        </p:nvSpPr>
        <p:spPr>
          <a:xfrm>
            <a:off x="1881159" y="1357298"/>
            <a:ext cx="2457917" cy="523220"/>
          </a:xfrm>
          <a:prstGeom prst="rect">
            <a:avLst/>
          </a:prstGeom>
          <a:noFill/>
        </p:spPr>
        <p:txBody>
          <a:bodyPr wrap="none" rtlCol="0">
            <a:spAutoFit/>
          </a:bodyPr>
          <a:lstStyle/>
          <a:p>
            <a:r>
              <a:rPr lang="en-US" altLang="zh-CN" sz="2800" dirty="0">
                <a:solidFill>
                  <a:srgbClr val="FF0000"/>
                </a:solidFill>
              </a:rPr>
              <a:t>Any difference?</a:t>
            </a:r>
            <a:endParaRPr lang="zh-CN" altLang="en-US" sz="2800" dirty="0">
              <a:solidFill>
                <a:srgbClr val="FF0000"/>
              </a:solidFill>
            </a:endParaRPr>
          </a:p>
        </p:txBody>
      </p:sp>
      <p:sp>
        <p:nvSpPr>
          <p:cNvPr id="3" name="灯片编号占位符 2"/>
          <p:cNvSpPr>
            <a:spLocks noGrp="1"/>
          </p:cNvSpPr>
          <p:nvPr>
            <p:ph type="sldNum" sz="quarter" idx="12"/>
          </p:nvPr>
        </p:nvSpPr>
        <p:spPr/>
        <p:txBody>
          <a:bodyPr/>
          <a:lstStyle/>
          <a:p>
            <a:pPr>
              <a:defRPr/>
            </a:pPr>
            <a:fld id="{8DE57753-3450-41C8-8B05-01BE0301526A}" type="slidenum">
              <a:rPr lang="en-US" altLang="zh-CN" smtClean="0">
                <a:solidFill>
                  <a:srgbClr val="000000"/>
                </a:solidFill>
              </a:rPr>
              <a:pPr>
                <a:defRPr/>
              </a:pPr>
              <a:t>14</a:t>
            </a:fld>
            <a:endParaRPr lang="en-US" altLang="zh-CN">
              <a:solidFill>
                <a:srgbClr val="000000"/>
              </a:solidFill>
            </a:endParaRPr>
          </a:p>
        </p:txBody>
      </p:sp>
    </p:spTree>
    <p:extLst>
      <p:ext uri="{BB962C8B-B14F-4D97-AF65-F5344CB8AC3E}">
        <p14:creationId xmlns:p14="http://schemas.microsoft.com/office/powerpoint/2010/main" val="314743358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84706" name="Picture 2"/>
          <p:cNvPicPr>
            <a:picLocks noChangeAspect="1" noChangeArrowheads="1"/>
          </p:cNvPicPr>
          <p:nvPr/>
        </p:nvPicPr>
        <p:blipFill>
          <a:blip r:embed="rId3"/>
          <a:srcRect/>
          <a:stretch>
            <a:fillRect/>
          </a:stretch>
        </p:blipFill>
        <p:spPr bwMode="auto">
          <a:xfrm>
            <a:off x="1666844" y="2786058"/>
            <a:ext cx="6458158" cy="3929090"/>
          </a:xfrm>
          <a:prstGeom prst="rect">
            <a:avLst/>
          </a:prstGeom>
          <a:noFill/>
          <a:ln w="9525">
            <a:noFill/>
            <a:miter lim="800000"/>
            <a:headEnd/>
            <a:tailEnd/>
          </a:ln>
          <a:effectLst/>
        </p:spPr>
      </p:pic>
      <p:pic>
        <p:nvPicPr>
          <p:cNvPr id="585731" name="Picture 3"/>
          <p:cNvPicPr>
            <a:picLocks noChangeAspect="1" noChangeArrowheads="1"/>
          </p:cNvPicPr>
          <p:nvPr/>
        </p:nvPicPr>
        <p:blipFill>
          <a:blip r:embed="rId4"/>
          <a:srcRect/>
          <a:stretch>
            <a:fillRect/>
          </a:stretch>
        </p:blipFill>
        <p:spPr bwMode="auto">
          <a:xfrm>
            <a:off x="4667241" y="71414"/>
            <a:ext cx="5880271" cy="3571900"/>
          </a:xfrm>
          <a:prstGeom prst="rect">
            <a:avLst/>
          </a:prstGeom>
          <a:noFill/>
          <a:ln w="9525">
            <a:noFill/>
            <a:miter lim="800000"/>
            <a:headEnd/>
            <a:tailEnd/>
          </a:ln>
          <a:effectLst/>
        </p:spPr>
      </p:pic>
      <p:cxnSp>
        <p:nvCxnSpPr>
          <p:cNvPr id="9" name="直接连接符 8"/>
          <p:cNvCxnSpPr/>
          <p:nvPr/>
        </p:nvCxnSpPr>
        <p:spPr>
          <a:xfrm rot="5400000">
            <a:off x="2809864" y="1857376"/>
            <a:ext cx="3714752" cy="1588"/>
          </a:xfrm>
          <a:prstGeom prst="line">
            <a:avLst/>
          </a:prstGeom>
          <a:ln w="25400">
            <a:solidFill>
              <a:srgbClr val="7030A0"/>
            </a:solidFill>
            <a:prstDash val="sysDash"/>
          </a:ln>
        </p:spPr>
        <p:style>
          <a:lnRef idx="1">
            <a:schemeClr val="accent1"/>
          </a:lnRef>
          <a:fillRef idx="0">
            <a:schemeClr val="accent1"/>
          </a:fillRef>
          <a:effectRef idx="0">
            <a:schemeClr val="accent1"/>
          </a:effectRef>
          <a:fontRef idx="minor">
            <a:schemeClr val="tx1"/>
          </a:fontRef>
        </p:style>
      </p:cxnSp>
      <p:cxnSp>
        <p:nvCxnSpPr>
          <p:cNvPr id="10" name="直接连接符 9"/>
          <p:cNvCxnSpPr/>
          <p:nvPr/>
        </p:nvCxnSpPr>
        <p:spPr>
          <a:xfrm rot="10800000">
            <a:off x="4667240" y="3714752"/>
            <a:ext cx="5857916" cy="1588"/>
          </a:xfrm>
          <a:prstGeom prst="line">
            <a:avLst/>
          </a:prstGeom>
          <a:ln w="25400">
            <a:solidFill>
              <a:srgbClr val="7030A0"/>
            </a:solidFill>
            <a:prstDash val="sysDash"/>
          </a:ln>
        </p:spPr>
        <p:style>
          <a:lnRef idx="1">
            <a:schemeClr val="accent1"/>
          </a:lnRef>
          <a:fillRef idx="0">
            <a:schemeClr val="accent1"/>
          </a:fillRef>
          <a:effectRef idx="0">
            <a:schemeClr val="accent1"/>
          </a:effectRef>
          <a:fontRef idx="minor">
            <a:schemeClr val="tx1"/>
          </a:fontRef>
        </p:style>
      </p:cxnSp>
      <p:pic>
        <p:nvPicPr>
          <p:cNvPr id="6" name="Picture 2"/>
          <p:cNvPicPr>
            <a:picLocks noChangeAspect="1" noChangeArrowheads="1"/>
          </p:cNvPicPr>
          <p:nvPr/>
        </p:nvPicPr>
        <p:blipFill>
          <a:blip r:embed="rId5"/>
          <a:srcRect/>
          <a:stretch>
            <a:fillRect/>
          </a:stretch>
        </p:blipFill>
        <p:spPr bwMode="auto">
          <a:xfrm>
            <a:off x="5589898" y="4429133"/>
            <a:ext cx="4720945" cy="1037731"/>
          </a:xfrm>
          <a:prstGeom prst="rect">
            <a:avLst/>
          </a:prstGeom>
          <a:noFill/>
          <a:ln w="9525">
            <a:noFill/>
            <a:miter lim="800000"/>
            <a:headEnd/>
            <a:tailEnd/>
          </a:ln>
          <a:effectLst/>
        </p:spPr>
      </p:pic>
      <p:pic>
        <p:nvPicPr>
          <p:cNvPr id="586754" name="Picture 2"/>
          <p:cNvPicPr>
            <a:picLocks noChangeAspect="1" noChangeArrowheads="1"/>
          </p:cNvPicPr>
          <p:nvPr/>
        </p:nvPicPr>
        <p:blipFill>
          <a:blip r:embed="rId6"/>
          <a:srcRect/>
          <a:stretch>
            <a:fillRect/>
          </a:stretch>
        </p:blipFill>
        <p:spPr bwMode="auto">
          <a:xfrm>
            <a:off x="6881818" y="2143116"/>
            <a:ext cx="3376752" cy="428628"/>
          </a:xfrm>
          <a:prstGeom prst="rect">
            <a:avLst/>
          </a:prstGeom>
          <a:noFill/>
          <a:ln w="9525">
            <a:noFill/>
            <a:miter lim="800000"/>
            <a:headEnd/>
            <a:tailEnd/>
          </a:ln>
          <a:effectLst/>
        </p:spPr>
      </p:pic>
      <p:sp>
        <p:nvSpPr>
          <p:cNvPr id="8" name="矩形 7"/>
          <p:cNvSpPr/>
          <p:nvPr/>
        </p:nvSpPr>
        <p:spPr>
          <a:xfrm>
            <a:off x="6881818" y="2000240"/>
            <a:ext cx="3286148" cy="642942"/>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矩形 11"/>
          <p:cNvSpPr/>
          <p:nvPr/>
        </p:nvSpPr>
        <p:spPr>
          <a:xfrm>
            <a:off x="5589897" y="4357694"/>
            <a:ext cx="4714908" cy="1143008"/>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TextBox 13"/>
          <p:cNvSpPr txBox="1"/>
          <p:nvPr/>
        </p:nvSpPr>
        <p:spPr>
          <a:xfrm>
            <a:off x="1881159" y="1357299"/>
            <a:ext cx="2128981" cy="954107"/>
          </a:xfrm>
          <a:prstGeom prst="rect">
            <a:avLst/>
          </a:prstGeom>
          <a:noFill/>
        </p:spPr>
        <p:txBody>
          <a:bodyPr wrap="none" rtlCol="0">
            <a:spAutoFit/>
          </a:bodyPr>
          <a:lstStyle/>
          <a:p>
            <a:r>
              <a:rPr lang="en-US" altLang="zh-CN" sz="2800" dirty="0">
                <a:solidFill>
                  <a:srgbClr val="FF0000"/>
                </a:solidFill>
              </a:rPr>
              <a:t>It’s different.</a:t>
            </a:r>
          </a:p>
          <a:p>
            <a:r>
              <a:rPr lang="en-US" altLang="zh-CN" sz="2800" dirty="0">
                <a:solidFill>
                  <a:srgbClr val="FF0000"/>
                </a:solidFill>
              </a:rPr>
              <a:t>Why?</a:t>
            </a:r>
            <a:endParaRPr lang="zh-CN" altLang="en-US" sz="2800" dirty="0">
              <a:solidFill>
                <a:srgbClr val="FF0000"/>
              </a:solidFill>
            </a:endParaRPr>
          </a:p>
        </p:txBody>
      </p:sp>
      <p:sp>
        <p:nvSpPr>
          <p:cNvPr id="3" name="灯片编号占位符 2"/>
          <p:cNvSpPr>
            <a:spLocks noGrp="1"/>
          </p:cNvSpPr>
          <p:nvPr>
            <p:ph type="sldNum" sz="quarter" idx="12"/>
          </p:nvPr>
        </p:nvSpPr>
        <p:spPr/>
        <p:txBody>
          <a:bodyPr/>
          <a:lstStyle/>
          <a:p>
            <a:pPr>
              <a:defRPr/>
            </a:pPr>
            <a:fld id="{8DE57753-3450-41C8-8B05-01BE0301526A}" type="slidenum">
              <a:rPr lang="en-US" altLang="zh-CN" smtClean="0">
                <a:solidFill>
                  <a:srgbClr val="000000"/>
                </a:solidFill>
              </a:rPr>
              <a:pPr>
                <a:defRPr/>
              </a:pPr>
              <a:t>15</a:t>
            </a:fld>
            <a:endParaRPr lang="en-US" altLang="zh-CN">
              <a:solidFill>
                <a:srgbClr val="000000"/>
              </a:solidFill>
            </a:endParaRPr>
          </a:p>
        </p:txBody>
      </p:sp>
    </p:spTree>
    <p:extLst>
      <p:ext uri="{BB962C8B-B14F-4D97-AF65-F5344CB8AC3E}">
        <p14:creationId xmlns:p14="http://schemas.microsoft.com/office/powerpoint/2010/main" val="399189762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84706" name="Picture 2"/>
          <p:cNvPicPr>
            <a:picLocks noChangeAspect="1" noChangeArrowheads="1"/>
          </p:cNvPicPr>
          <p:nvPr/>
        </p:nvPicPr>
        <p:blipFill>
          <a:blip r:embed="rId3"/>
          <a:srcRect/>
          <a:stretch>
            <a:fillRect/>
          </a:stretch>
        </p:blipFill>
        <p:spPr bwMode="auto">
          <a:xfrm>
            <a:off x="1666844" y="3292120"/>
            <a:ext cx="5743778" cy="3494467"/>
          </a:xfrm>
          <a:prstGeom prst="rect">
            <a:avLst/>
          </a:prstGeom>
          <a:noFill/>
          <a:ln w="9525">
            <a:noFill/>
            <a:miter lim="800000"/>
            <a:headEnd/>
            <a:tailEnd/>
          </a:ln>
          <a:effectLst/>
        </p:spPr>
      </p:pic>
      <p:pic>
        <p:nvPicPr>
          <p:cNvPr id="585731" name="Picture 3"/>
          <p:cNvPicPr>
            <a:picLocks noChangeAspect="1" noChangeArrowheads="1"/>
          </p:cNvPicPr>
          <p:nvPr/>
        </p:nvPicPr>
        <p:blipFill>
          <a:blip r:embed="rId4"/>
          <a:srcRect/>
          <a:stretch>
            <a:fillRect/>
          </a:stretch>
        </p:blipFill>
        <p:spPr bwMode="auto">
          <a:xfrm>
            <a:off x="5238745" y="418567"/>
            <a:ext cx="5308767" cy="3224747"/>
          </a:xfrm>
          <a:prstGeom prst="rect">
            <a:avLst/>
          </a:prstGeom>
          <a:noFill/>
          <a:ln w="9525">
            <a:noFill/>
            <a:miter lim="800000"/>
            <a:headEnd/>
            <a:tailEnd/>
          </a:ln>
          <a:effectLst/>
        </p:spPr>
      </p:pic>
      <p:cxnSp>
        <p:nvCxnSpPr>
          <p:cNvPr id="9" name="直接连接符 8"/>
          <p:cNvCxnSpPr/>
          <p:nvPr/>
        </p:nvCxnSpPr>
        <p:spPr>
          <a:xfrm rot="5400000">
            <a:off x="3310724" y="1856582"/>
            <a:ext cx="3714752" cy="1588"/>
          </a:xfrm>
          <a:prstGeom prst="line">
            <a:avLst/>
          </a:prstGeom>
          <a:ln w="25400">
            <a:solidFill>
              <a:srgbClr val="7030A0"/>
            </a:solidFill>
            <a:prstDash val="sysDash"/>
          </a:ln>
        </p:spPr>
        <p:style>
          <a:lnRef idx="1">
            <a:schemeClr val="accent1"/>
          </a:lnRef>
          <a:fillRef idx="0">
            <a:schemeClr val="accent1"/>
          </a:fillRef>
          <a:effectRef idx="0">
            <a:schemeClr val="accent1"/>
          </a:effectRef>
          <a:fontRef idx="minor">
            <a:schemeClr val="tx1"/>
          </a:fontRef>
        </p:style>
      </p:cxnSp>
      <p:cxnSp>
        <p:nvCxnSpPr>
          <p:cNvPr id="10" name="直接连接符 9"/>
          <p:cNvCxnSpPr/>
          <p:nvPr/>
        </p:nvCxnSpPr>
        <p:spPr>
          <a:xfrm rot="10800000">
            <a:off x="5167306" y="3714752"/>
            <a:ext cx="5357850" cy="1588"/>
          </a:xfrm>
          <a:prstGeom prst="line">
            <a:avLst/>
          </a:prstGeom>
          <a:ln w="25400">
            <a:solidFill>
              <a:srgbClr val="7030A0"/>
            </a:solidFill>
            <a:prstDash val="sysDash"/>
          </a:ln>
        </p:spPr>
        <p:style>
          <a:lnRef idx="1">
            <a:schemeClr val="accent1"/>
          </a:lnRef>
          <a:fillRef idx="0">
            <a:schemeClr val="accent1"/>
          </a:fillRef>
          <a:effectRef idx="0">
            <a:schemeClr val="accent1"/>
          </a:effectRef>
          <a:fontRef idx="minor">
            <a:schemeClr val="tx1"/>
          </a:fontRef>
        </p:style>
      </p:cxnSp>
      <p:pic>
        <p:nvPicPr>
          <p:cNvPr id="6" name="Picture 2"/>
          <p:cNvPicPr>
            <a:picLocks noChangeAspect="1" noChangeArrowheads="1"/>
          </p:cNvPicPr>
          <p:nvPr/>
        </p:nvPicPr>
        <p:blipFill>
          <a:blip r:embed="rId5"/>
          <a:srcRect/>
          <a:stretch>
            <a:fillRect/>
          </a:stretch>
        </p:blipFill>
        <p:spPr bwMode="auto">
          <a:xfrm>
            <a:off x="5589898" y="4429133"/>
            <a:ext cx="4720945" cy="1037731"/>
          </a:xfrm>
          <a:prstGeom prst="rect">
            <a:avLst/>
          </a:prstGeom>
          <a:noFill/>
          <a:ln w="9525">
            <a:noFill/>
            <a:miter lim="800000"/>
            <a:headEnd/>
            <a:tailEnd/>
          </a:ln>
          <a:effectLst/>
        </p:spPr>
      </p:pic>
      <p:pic>
        <p:nvPicPr>
          <p:cNvPr id="586754" name="Picture 2"/>
          <p:cNvPicPr>
            <a:picLocks noChangeAspect="1" noChangeArrowheads="1"/>
          </p:cNvPicPr>
          <p:nvPr/>
        </p:nvPicPr>
        <p:blipFill>
          <a:blip r:embed="rId6"/>
          <a:srcRect/>
          <a:stretch>
            <a:fillRect/>
          </a:stretch>
        </p:blipFill>
        <p:spPr bwMode="auto">
          <a:xfrm>
            <a:off x="6881818" y="2143116"/>
            <a:ext cx="3376752" cy="428628"/>
          </a:xfrm>
          <a:prstGeom prst="rect">
            <a:avLst/>
          </a:prstGeom>
          <a:noFill/>
          <a:ln w="9525">
            <a:noFill/>
            <a:miter lim="800000"/>
            <a:headEnd/>
            <a:tailEnd/>
          </a:ln>
          <a:effectLst/>
        </p:spPr>
      </p:pic>
      <p:sp>
        <p:nvSpPr>
          <p:cNvPr id="8" name="矩形 7"/>
          <p:cNvSpPr/>
          <p:nvPr/>
        </p:nvSpPr>
        <p:spPr>
          <a:xfrm>
            <a:off x="6881818" y="2000240"/>
            <a:ext cx="3286148" cy="642942"/>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矩形 11"/>
          <p:cNvSpPr/>
          <p:nvPr/>
        </p:nvSpPr>
        <p:spPr>
          <a:xfrm>
            <a:off x="5589897" y="4357694"/>
            <a:ext cx="4714908" cy="1143008"/>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Text Box 6"/>
          <p:cNvSpPr txBox="1">
            <a:spLocks noChangeArrowheads="1"/>
          </p:cNvSpPr>
          <p:nvPr/>
        </p:nvSpPr>
        <p:spPr bwMode="auto">
          <a:xfrm>
            <a:off x="1666845" y="71414"/>
            <a:ext cx="3330575" cy="2990850"/>
          </a:xfrm>
          <a:prstGeom prst="rect">
            <a:avLst/>
          </a:prstGeom>
          <a:solidFill>
            <a:schemeClr val="bg1"/>
          </a:solidFill>
          <a:ln w="9525">
            <a:solidFill>
              <a:schemeClr val="tx1"/>
            </a:solidFill>
            <a:miter lim="800000"/>
            <a:headEnd/>
            <a:tailEnd/>
          </a:ln>
          <a:effectLst/>
        </p:spPr>
        <p:txBody>
          <a:bodyPr>
            <a:spAutoFit/>
          </a:bodyPr>
          <a:lstStyle/>
          <a:p>
            <a:pPr>
              <a:spcBef>
                <a:spcPct val="15000"/>
              </a:spcBef>
            </a:pPr>
            <a:r>
              <a:rPr lang="zh-CN" altLang="en-US" sz="2400" b="1" dirty="0">
                <a:ea typeface="黑体" pitchFamily="49" charset="-122"/>
              </a:rPr>
              <a:t>理解该问题需要知道：</a:t>
            </a:r>
          </a:p>
          <a:p>
            <a:pPr>
              <a:spcBef>
                <a:spcPct val="15000"/>
              </a:spcBef>
            </a:pPr>
            <a:r>
              <a:rPr lang="zh-CN" altLang="en-US" sz="2400" b="1" dirty="0">
                <a:solidFill>
                  <a:srgbClr val="3366FF"/>
                </a:solidFill>
                <a:ea typeface="黑体" pitchFamily="49" charset="-122"/>
              </a:rPr>
              <a:t>高级语言中运算规则</a:t>
            </a:r>
          </a:p>
          <a:p>
            <a:pPr>
              <a:spcBef>
                <a:spcPct val="15000"/>
              </a:spcBef>
            </a:pPr>
            <a:r>
              <a:rPr lang="zh-CN" altLang="en-US" sz="2400" b="1" dirty="0">
                <a:solidFill>
                  <a:srgbClr val="996600"/>
                </a:solidFill>
                <a:ea typeface="黑体" pitchFamily="49" charset="-122"/>
              </a:rPr>
              <a:t>机器指令的含义和执行</a:t>
            </a:r>
          </a:p>
          <a:p>
            <a:pPr>
              <a:spcBef>
                <a:spcPct val="15000"/>
              </a:spcBef>
            </a:pPr>
            <a:r>
              <a:rPr lang="zh-CN" altLang="en-US" sz="2400" b="1" dirty="0">
                <a:solidFill>
                  <a:srgbClr val="FF0000"/>
                </a:solidFill>
                <a:ea typeface="黑体" pitchFamily="49" charset="-122"/>
              </a:rPr>
              <a:t>计算机内部的运算电路</a:t>
            </a:r>
          </a:p>
          <a:p>
            <a:pPr>
              <a:spcBef>
                <a:spcPct val="15000"/>
              </a:spcBef>
            </a:pPr>
            <a:r>
              <a:rPr lang="zh-CN" altLang="en-US" sz="2400" b="1" dirty="0">
                <a:solidFill>
                  <a:srgbClr val="008000"/>
                </a:solidFill>
                <a:ea typeface="黑体" pitchFamily="49" charset="-122"/>
              </a:rPr>
              <a:t>异常的检测和处理</a:t>
            </a:r>
          </a:p>
          <a:p>
            <a:pPr>
              <a:spcBef>
                <a:spcPct val="15000"/>
              </a:spcBef>
            </a:pPr>
            <a:r>
              <a:rPr lang="zh-CN" altLang="en-US" sz="2400" b="1" dirty="0">
                <a:solidFill>
                  <a:srgbClr val="FF0000"/>
                </a:solidFill>
                <a:ea typeface="黑体" pitchFamily="49" charset="-122"/>
              </a:rPr>
              <a:t>虚拟地址空间</a:t>
            </a:r>
          </a:p>
          <a:p>
            <a:pPr>
              <a:spcBef>
                <a:spcPct val="15000"/>
              </a:spcBef>
            </a:pPr>
            <a:r>
              <a:rPr lang="en-US" altLang="zh-CN" sz="2400" b="1" dirty="0">
                <a:solidFill>
                  <a:srgbClr val="FF0000"/>
                </a:solidFill>
                <a:latin typeface="黑体"/>
                <a:ea typeface="黑体" pitchFamily="49" charset="-122"/>
              </a:rPr>
              <a:t>……</a:t>
            </a:r>
            <a:endParaRPr lang="en-US" altLang="zh-CN" sz="2400" b="1" dirty="0">
              <a:solidFill>
                <a:srgbClr val="FF0000"/>
              </a:solidFill>
              <a:ea typeface="黑体" pitchFamily="49" charset="-122"/>
            </a:endParaRPr>
          </a:p>
        </p:txBody>
      </p:sp>
      <p:sp>
        <p:nvSpPr>
          <p:cNvPr id="3" name="灯片编号占位符 2"/>
          <p:cNvSpPr>
            <a:spLocks noGrp="1"/>
          </p:cNvSpPr>
          <p:nvPr>
            <p:ph type="sldNum" sz="quarter" idx="12"/>
          </p:nvPr>
        </p:nvSpPr>
        <p:spPr/>
        <p:txBody>
          <a:bodyPr/>
          <a:lstStyle/>
          <a:p>
            <a:pPr>
              <a:defRPr/>
            </a:pPr>
            <a:fld id="{8DE57753-3450-41C8-8B05-01BE0301526A}" type="slidenum">
              <a:rPr lang="en-US" altLang="zh-CN" smtClean="0">
                <a:solidFill>
                  <a:srgbClr val="000000"/>
                </a:solidFill>
              </a:rPr>
              <a:pPr>
                <a:defRPr/>
              </a:pPr>
              <a:t>16</a:t>
            </a:fld>
            <a:endParaRPr lang="en-US" altLang="zh-CN">
              <a:solidFill>
                <a:srgbClr val="000000"/>
              </a:solidFill>
            </a:endParaRPr>
          </a:p>
        </p:txBody>
      </p:sp>
    </p:spTree>
    <p:extLst>
      <p:ext uri="{BB962C8B-B14F-4D97-AF65-F5344CB8AC3E}">
        <p14:creationId xmlns:p14="http://schemas.microsoft.com/office/powerpoint/2010/main" val="202977521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Rectangle 2"/>
          <p:cNvSpPr>
            <a:spLocks noGrp="1" noChangeArrowheads="1"/>
          </p:cNvSpPr>
          <p:nvPr>
            <p:ph type="title"/>
          </p:nvPr>
        </p:nvSpPr>
        <p:spPr>
          <a:xfrm>
            <a:off x="6224587" y="98425"/>
            <a:ext cx="3741737" cy="528638"/>
          </a:xfrm>
        </p:spPr>
        <p:txBody>
          <a:bodyPr/>
          <a:lstStyle/>
          <a:p>
            <a:r>
              <a:rPr lang="zh-CN" altLang="en-US" dirty="0"/>
              <a:t>课程的意义</a:t>
            </a:r>
            <a:endParaRPr lang="zh-CN" altLang="en-US" sz="3600" dirty="0">
              <a:ea typeface="宋体" pitchFamily="2" charset="-122"/>
            </a:endParaRPr>
          </a:p>
        </p:txBody>
      </p:sp>
      <p:sp>
        <p:nvSpPr>
          <p:cNvPr id="38915" name="Rectangle 3"/>
          <p:cNvSpPr>
            <a:spLocks noGrp="1" noChangeArrowheads="1"/>
          </p:cNvSpPr>
          <p:nvPr>
            <p:ph type="body" idx="1"/>
          </p:nvPr>
        </p:nvSpPr>
        <p:spPr>
          <a:xfrm>
            <a:off x="1689100" y="773113"/>
            <a:ext cx="4535488" cy="2730500"/>
          </a:xfrm>
        </p:spPr>
        <p:txBody>
          <a:bodyPr/>
          <a:lstStyle/>
          <a:p>
            <a:pPr>
              <a:spcBef>
                <a:spcPct val="0"/>
              </a:spcBef>
              <a:buFontTx/>
              <a:buNone/>
            </a:pPr>
            <a:r>
              <a:rPr lang="en-US" altLang="zh-CN" sz="2200" dirty="0" err="1"/>
              <a:t>int</a:t>
            </a:r>
            <a:r>
              <a:rPr lang="en-US" altLang="zh-CN" sz="2200" dirty="0"/>
              <a:t> sum(</a:t>
            </a:r>
            <a:r>
              <a:rPr lang="en-US" altLang="zh-CN" sz="2200" dirty="0" err="1"/>
              <a:t>int</a:t>
            </a:r>
            <a:r>
              <a:rPr lang="en-US" altLang="zh-CN" sz="2200" dirty="0"/>
              <a:t> a[ ], </a:t>
            </a:r>
            <a:r>
              <a:rPr lang="en-US" altLang="zh-CN" sz="2200" dirty="0">
                <a:solidFill>
                  <a:srgbClr val="FF3300"/>
                </a:solidFill>
              </a:rPr>
              <a:t>unsigned</a:t>
            </a:r>
            <a:r>
              <a:rPr lang="en-US" altLang="zh-CN" sz="2200" dirty="0"/>
              <a:t> </a:t>
            </a:r>
            <a:r>
              <a:rPr lang="en-US" altLang="zh-CN" sz="2200" dirty="0" err="1"/>
              <a:t>len</a:t>
            </a:r>
            <a:r>
              <a:rPr lang="en-US" altLang="zh-CN" sz="2200" dirty="0"/>
              <a:t>)</a:t>
            </a:r>
          </a:p>
          <a:p>
            <a:pPr>
              <a:spcBef>
                <a:spcPct val="0"/>
              </a:spcBef>
              <a:buFontTx/>
              <a:buNone/>
            </a:pPr>
            <a:r>
              <a:rPr lang="en-US" altLang="zh-CN" sz="2200" dirty="0"/>
              <a:t>{</a:t>
            </a:r>
          </a:p>
          <a:p>
            <a:pPr>
              <a:spcBef>
                <a:spcPct val="0"/>
              </a:spcBef>
              <a:buFontTx/>
              <a:buNone/>
            </a:pPr>
            <a:r>
              <a:rPr lang="en-US" altLang="zh-CN" sz="2200" dirty="0"/>
              <a:t>   </a:t>
            </a:r>
            <a:r>
              <a:rPr lang="en-US" altLang="zh-CN" sz="2200" dirty="0" err="1"/>
              <a:t>int</a:t>
            </a:r>
            <a:r>
              <a:rPr lang="en-US" altLang="zh-CN" sz="2200" dirty="0"/>
              <a:t>  </a:t>
            </a:r>
            <a:r>
              <a:rPr lang="en-US" altLang="zh-CN" sz="2200" dirty="0" err="1"/>
              <a:t>i</a:t>
            </a:r>
            <a:r>
              <a:rPr lang="zh-CN" altLang="en-US" sz="2200" dirty="0"/>
              <a:t>，</a:t>
            </a:r>
            <a:r>
              <a:rPr lang="en-US" altLang="zh-CN" sz="2200" dirty="0"/>
              <a:t>sum = 0;</a:t>
            </a:r>
          </a:p>
          <a:p>
            <a:pPr>
              <a:spcBef>
                <a:spcPct val="0"/>
              </a:spcBef>
              <a:buFontTx/>
              <a:buNone/>
            </a:pPr>
            <a:r>
              <a:rPr lang="en-US" altLang="zh-CN" sz="2200" dirty="0"/>
              <a:t>   for (</a:t>
            </a:r>
            <a:r>
              <a:rPr lang="en-US" altLang="zh-CN" sz="2200" dirty="0" err="1"/>
              <a:t>i</a:t>
            </a:r>
            <a:r>
              <a:rPr lang="en-US" altLang="zh-CN" sz="2200" dirty="0"/>
              <a:t> = 0; </a:t>
            </a:r>
            <a:r>
              <a:rPr lang="en-US" altLang="zh-CN" sz="2200" dirty="0" err="1">
                <a:solidFill>
                  <a:srgbClr val="FF3300"/>
                </a:solidFill>
              </a:rPr>
              <a:t>i</a:t>
            </a:r>
            <a:r>
              <a:rPr lang="en-US" altLang="zh-CN" sz="2200" dirty="0">
                <a:solidFill>
                  <a:srgbClr val="FF3300"/>
                </a:solidFill>
              </a:rPr>
              <a:t> &lt;= </a:t>
            </a:r>
            <a:r>
              <a:rPr lang="en-US" altLang="zh-CN" sz="2200" dirty="0" err="1">
                <a:solidFill>
                  <a:srgbClr val="FF3300"/>
                </a:solidFill>
              </a:rPr>
              <a:t>len</a:t>
            </a:r>
            <a:r>
              <a:rPr lang="en-US" altLang="zh-CN" sz="2200" dirty="0">
                <a:solidFill>
                  <a:srgbClr val="FF3300"/>
                </a:solidFill>
              </a:rPr>
              <a:t>–1</a:t>
            </a:r>
            <a:r>
              <a:rPr lang="en-US" altLang="zh-CN" sz="2200" dirty="0"/>
              <a:t>; </a:t>
            </a:r>
            <a:r>
              <a:rPr lang="en-US" altLang="zh-CN" sz="2200" dirty="0" err="1"/>
              <a:t>i</a:t>
            </a:r>
            <a:r>
              <a:rPr lang="en-US" altLang="zh-CN" sz="2200" dirty="0"/>
              <a:t>++)</a:t>
            </a:r>
          </a:p>
          <a:p>
            <a:pPr>
              <a:spcBef>
                <a:spcPct val="0"/>
              </a:spcBef>
              <a:buFontTx/>
              <a:buNone/>
            </a:pPr>
            <a:r>
              <a:rPr lang="en-US" altLang="zh-CN" sz="2200" dirty="0"/>
              <a:t>	    sum += a[</a:t>
            </a:r>
            <a:r>
              <a:rPr lang="en-US" altLang="zh-CN" sz="2200" dirty="0" err="1"/>
              <a:t>i</a:t>
            </a:r>
            <a:r>
              <a:rPr lang="en-US" altLang="zh-CN" sz="2200" dirty="0"/>
              <a:t>];</a:t>
            </a:r>
          </a:p>
          <a:p>
            <a:pPr>
              <a:spcBef>
                <a:spcPct val="0"/>
              </a:spcBef>
              <a:buFontTx/>
              <a:buNone/>
            </a:pPr>
            <a:r>
              <a:rPr lang="en-US" altLang="zh-CN" sz="2200" dirty="0"/>
              <a:t>   return sum;</a:t>
            </a:r>
          </a:p>
          <a:p>
            <a:pPr>
              <a:spcBef>
                <a:spcPct val="0"/>
              </a:spcBef>
              <a:buFontTx/>
              <a:buNone/>
            </a:pPr>
            <a:r>
              <a:rPr lang="en-US" altLang="zh-CN" sz="2200" dirty="0"/>
              <a:t>}</a:t>
            </a:r>
            <a:endParaRPr lang="zh-CN" altLang="en-US" sz="2200" dirty="0"/>
          </a:p>
        </p:txBody>
      </p:sp>
      <p:sp>
        <p:nvSpPr>
          <p:cNvPr id="13" name="Rectangle 46"/>
          <p:cNvSpPr>
            <a:spLocks noChangeArrowheads="1"/>
          </p:cNvSpPr>
          <p:nvPr/>
        </p:nvSpPr>
        <p:spPr bwMode="auto">
          <a:xfrm>
            <a:off x="1738283" y="3571876"/>
            <a:ext cx="8447087" cy="3252172"/>
          </a:xfrm>
          <a:prstGeom prst="rect">
            <a:avLst/>
          </a:prstGeom>
          <a:solidFill>
            <a:schemeClr val="bg1"/>
          </a:solidFill>
          <a:ln w="12700">
            <a:noFill/>
            <a:miter lim="800000"/>
            <a:headEnd/>
            <a:tailEnd/>
          </a:ln>
        </p:spPr>
        <p:txBody>
          <a:bodyPr lIns="63500" tIns="25400" rIns="63500" bIns="25400">
            <a:spAutoFit/>
          </a:bodyPr>
          <a:lstStyle/>
          <a:p>
            <a:pPr eaLnBrk="0" hangingPunct="0">
              <a:lnSpc>
                <a:spcPct val="130000"/>
              </a:lnSpc>
            </a:pPr>
            <a:r>
              <a:rPr lang="en-US" altLang="zh-CN" sz="2000" dirty="0">
                <a:latin typeface="+mn-ea"/>
              </a:rPr>
              <a:t>unsigned </a:t>
            </a:r>
            <a:r>
              <a:rPr lang="en-US" altLang="zh-CN" sz="2000" dirty="0" err="1">
                <a:latin typeface="+mn-ea"/>
              </a:rPr>
              <a:t>int</a:t>
            </a:r>
            <a:r>
              <a:rPr lang="en-US" altLang="zh-CN" sz="2000" dirty="0">
                <a:latin typeface="+mn-ea"/>
              </a:rPr>
              <a:t> -- </a:t>
            </a:r>
            <a:r>
              <a:rPr lang="zh-CN" altLang="en-US" sz="2000" dirty="0">
                <a:latin typeface="+mn-ea"/>
              </a:rPr>
              <a:t>有的编译器处理成</a:t>
            </a:r>
            <a:r>
              <a:rPr lang="en-US" altLang="zh-CN" sz="2000" dirty="0">
                <a:latin typeface="+mn-ea"/>
              </a:rPr>
              <a:t>unsigned long </a:t>
            </a:r>
            <a:r>
              <a:rPr lang="en-US" altLang="zh-CN" sz="2000" dirty="0" err="1">
                <a:latin typeface="+mn-ea"/>
              </a:rPr>
              <a:t>int</a:t>
            </a:r>
            <a:r>
              <a:rPr lang="en-US" altLang="zh-CN" sz="2000" dirty="0">
                <a:latin typeface="+mn-ea"/>
              </a:rPr>
              <a:t>(32</a:t>
            </a:r>
            <a:r>
              <a:rPr lang="zh-CN" altLang="en-US" sz="2000" dirty="0">
                <a:latin typeface="+mn-ea"/>
              </a:rPr>
              <a:t>位</a:t>
            </a:r>
            <a:r>
              <a:rPr lang="en-US" altLang="zh-CN" sz="2000" dirty="0">
                <a:latin typeface="+mn-ea"/>
              </a:rPr>
              <a:t>), </a:t>
            </a:r>
            <a:r>
              <a:rPr lang="zh-CN" altLang="en-US" sz="2000" dirty="0">
                <a:latin typeface="+mn-ea"/>
              </a:rPr>
              <a:t>有的处理成</a:t>
            </a:r>
            <a:r>
              <a:rPr lang="en-US" altLang="zh-CN" sz="2000" dirty="0">
                <a:latin typeface="+mn-ea"/>
              </a:rPr>
              <a:t>unsigned short </a:t>
            </a:r>
            <a:r>
              <a:rPr lang="en-US" altLang="zh-CN" sz="2000" dirty="0" err="1">
                <a:latin typeface="+mn-ea"/>
              </a:rPr>
              <a:t>int</a:t>
            </a:r>
            <a:r>
              <a:rPr lang="en-US" altLang="zh-CN" sz="2000" dirty="0">
                <a:latin typeface="+mn-ea"/>
              </a:rPr>
              <a:t>(16</a:t>
            </a:r>
            <a:r>
              <a:rPr lang="zh-CN" altLang="en-US" sz="2000" dirty="0">
                <a:latin typeface="+mn-ea"/>
              </a:rPr>
              <a:t>位</a:t>
            </a:r>
            <a:r>
              <a:rPr lang="en-US" altLang="zh-CN" sz="2000" dirty="0">
                <a:latin typeface="+mn-ea"/>
              </a:rPr>
              <a:t>)</a:t>
            </a:r>
            <a:r>
              <a:rPr lang="zh-CN" altLang="en-US" sz="2000" dirty="0">
                <a:latin typeface="+mn-ea"/>
              </a:rPr>
              <a:t>，减法用补码加法实现</a:t>
            </a:r>
            <a:endParaRPr lang="en-US" altLang="zh-CN" sz="2000" dirty="0">
              <a:latin typeface="+mn-ea"/>
            </a:endParaRPr>
          </a:p>
          <a:p>
            <a:pPr eaLnBrk="0" hangingPunct="0">
              <a:lnSpc>
                <a:spcPct val="130000"/>
              </a:lnSpc>
            </a:pPr>
            <a:r>
              <a:rPr lang="en-US" altLang="zh-CN" sz="2000" dirty="0">
                <a:latin typeface="+mn-ea"/>
              </a:rPr>
              <a:t>-1</a:t>
            </a:r>
            <a:r>
              <a:rPr lang="zh-CN" altLang="en-US" sz="2000" dirty="0">
                <a:latin typeface="+mn-ea"/>
              </a:rPr>
              <a:t>的机器数为</a:t>
            </a:r>
            <a:r>
              <a:rPr lang="en-US" altLang="zh-CN" sz="2000" dirty="0">
                <a:latin typeface="+mn-ea"/>
              </a:rPr>
              <a:t>0xffffffff</a:t>
            </a:r>
          </a:p>
          <a:p>
            <a:pPr eaLnBrk="0" hangingPunct="0">
              <a:lnSpc>
                <a:spcPct val="130000"/>
              </a:lnSpc>
            </a:pPr>
            <a:r>
              <a:rPr lang="en-US" altLang="zh-CN" sz="2000" dirty="0">
                <a:latin typeface="+mn-ea"/>
              </a:rPr>
              <a:t>x = 0: 00000000 00000000 00000000 00000000</a:t>
            </a:r>
            <a:br>
              <a:rPr lang="en-US" altLang="zh-CN" sz="2000" dirty="0">
                <a:latin typeface="+mn-ea"/>
              </a:rPr>
            </a:br>
            <a:r>
              <a:rPr lang="en-US" altLang="zh-CN" sz="2000" dirty="0">
                <a:latin typeface="+mn-ea"/>
              </a:rPr>
              <a:t>x -1 = 00000000 00000000 00000000 00000000 + 11111111 11111111 11111111 11111111</a:t>
            </a:r>
            <a:endParaRPr lang="en-US" altLang="zh-CN" sz="2000" dirty="0">
              <a:solidFill>
                <a:srgbClr val="990000"/>
              </a:solidFill>
              <a:latin typeface="+mn-ea"/>
            </a:endParaRPr>
          </a:p>
          <a:p>
            <a:pPr eaLnBrk="0" hangingPunct="0">
              <a:lnSpc>
                <a:spcPct val="130000"/>
              </a:lnSpc>
            </a:pPr>
            <a:r>
              <a:rPr lang="zh-CN" altLang="en-US" sz="2000" dirty="0">
                <a:solidFill>
                  <a:srgbClr val="990000"/>
                </a:solidFill>
                <a:latin typeface="+mn-ea"/>
              </a:rPr>
              <a:t>显然，对于每个 </a:t>
            </a:r>
            <a:r>
              <a:rPr lang="en-US" altLang="zh-CN" sz="2000" dirty="0" err="1">
                <a:solidFill>
                  <a:srgbClr val="990000"/>
                </a:solidFill>
                <a:latin typeface="+mn-ea"/>
              </a:rPr>
              <a:t>i</a:t>
            </a:r>
            <a:r>
              <a:rPr lang="en-US" altLang="zh-CN" sz="2000" dirty="0">
                <a:solidFill>
                  <a:srgbClr val="990000"/>
                </a:solidFill>
                <a:latin typeface="+mn-ea"/>
              </a:rPr>
              <a:t> </a:t>
            </a:r>
            <a:r>
              <a:rPr lang="zh-CN" altLang="en-US" sz="2000" dirty="0">
                <a:solidFill>
                  <a:srgbClr val="990000"/>
                </a:solidFill>
                <a:latin typeface="+mn-ea"/>
              </a:rPr>
              <a:t>都满足条件，因为任何无符号数都比</a:t>
            </a:r>
            <a:r>
              <a:rPr lang="en-US" altLang="zh-CN" sz="2000" dirty="0">
                <a:solidFill>
                  <a:srgbClr val="990000"/>
                </a:solidFill>
                <a:latin typeface="+mn-ea"/>
              </a:rPr>
              <a:t>32</a:t>
            </a:r>
            <a:r>
              <a:rPr lang="zh-CN" altLang="en-US" sz="2000" dirty="0">
                <a:solidFill>
                  <a:srgbClr val="990000"/>
                </a:solidFill>
                <a:latin typeface="+mn-ea"/>
              </a:rPr>
              <a:t>个</a:t>
            </a:r>
            <a:r>
              <a:rPr lang="en-US" altLang="zh-CN" sz="2000" dirty="0">
                <a:solidFill>
                  <a:srgbClr val="990000"/>
                </a:solidFill>
                <a:latin typeface="+mn-ea"/>
              </a:rPr>
              <a:t>1</a:t>
            </a:r>
            <a:r>
              <a:rPr lang="zh-CN" altLang="en-US" sz="2000" dirty="0">
                <a:solidFill>
                  <a:srgbClr val="990000"/>
                </a:solidFill>
                <a:latin typeface="+mn-ea"/>
              </a:rPr>
              <a:t>小，因此循环体被不断执行，最终导致数组访问越界而发生存储器访问异常。</a:t>
            </a:r>
          </a:p>
        </p:txBody>
      </p:sp>
      <p:sp>
        <p:nvSpPr>
          <p:cNvPr id="3" name="灯片编号占位符 2"/>
          <p:cNvSpPr>
            <a:spLocks noGrp="1"/>
          </p:cNvSpPr>
          <p:nvPr>
            <p:ph type="sldNum" sz="quarter" idx="12"/>
          </p:nvPr>
        </p:nvSpPr>
        <p:spPr/>
        <p:txBody>
          <a:bodyPr/>
          <a:lstStyle/>
          <a:p>
            <a:pPr>
              <a:defRPr/>
            </a:pPr>
            <a:fld id="{C04D5D84-F493-480C-9B02-1533CB18E289}" type="slidenum">
              <a:rPr lang="en-US" altLang="zh-CN" smtClean="0"/>
              <a:pPr>
                <a:defRPr/>
              </a:pPr>
              <a:t>17</a:t>
            </a:fld>
            <a:endParaRPr lang="en-US" altLang="zh-CN"/>
          </a:p>
        </p:txBody>
      </p:sp>
    </p:spTree>
    <p:extLst>
      <p:ext uri="{BB962C8B-B14F-4D97-AF65-F5344CB8AC3E}">
        <p14:creationId xmlns:p14="http://schemas.microsoft.com/office/powerpoint/2010/main" val="844204082"/>
      </p:ext>
    </p:extLst>
  </p:cSld>
  <p:clrMapOvr>
    <a:masterClrMapping/>
  </p:clrMapOvr>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9330" name="Rectangle 2"/>
          <p:cNvSpPr>
            <a:spLocks noGrp="1" noChangeArrowheads="1"/>
          </p:cNvSpPr>
          <p:nvPr>
            <p:ph type="title"/>
          </p:nvPr>
        </p:nvSpPr>
        <p:spPr>
          <a:xfrm>
            <a:off x="6312310" y="266700"/>
            <a:ext cx="5270090" cy="561975"/>
          </a:xfrm>
        </p:spPr>
        <p:txBody>
          <a:bodyPr/>
          <a:lstStyle/>
          <a:p>
            <a:r>
              <a:rPr lang="zh-CN" altLang="en-US" sz="3600" dirty="0"/>
              <a:t>过程调用参数传递举例</a:t>
            </a:r>
          </a:p>
        </p:txBody>
      </p:sp>
      <p:sp>
        <p:nvSpPr>
          <p:cNvPr id="739331" name="Text Box 3"/>
          <p:cNvSpPr txBox="1">
            <a:spLocks noChangeArrowheads="1"/>
          </p:cNvSpPr>
          <p:nvPr/>
        </p:nvSpPr>
        <p:spPr bwMode="auto">
          <a:xfrm>
            <a:off x="2270125" y="5753100"/>
            <a:ext cx="2338388" cy="871538"/>
          </a:xfrm>
          <a:prstGeom prst="rect">
            <a:avLst/>
          </a:prstGeom>
          <a:noFill/>
          <a:ln w="9525" algn="ctr">
            <a:noFill/>
            <a:miter lim="800000"/>
            <a:headEnd/>
            <a:tailEnd/>
          </a:ln>
          <a:effectLst/>
        </p:spPr>
        <p:txBody>
          <a:bodyPr tIns="0" bIns="0"/>
          <a:lstStyle/>
          <a:p>
            <a:pPr algn="just" eaLnBrk="1" hangingPunct="1"/>
            <a:r>
              <a:rPr lang="zh-CN" altLang="en-US" sz="2000"/>
              <a:t>程序一的输出：</a:t>
            </a:r>
          </a:p>
          <a:p>
            <a:pPr algn="just" eaLnBrk="1" hangingPunct="1"/>
            <a:r>
              <a:rPr lang="en-US" altLang="zh-CN" sz="2000"/>
              <a:t>a=15	b=22</a:t>
            </a:r>
          </a:p>
          <a:p>
            <a:pPr algn="just" eaLnBrk="1" hangingPunct="1"/>
            <a:r>
              <a:rPr lang="en-US" altLang="zh-CN" sz="2000"/>
              <a:t>a=22	b=15</a:t>
            </a:r>
          </a:p>
        </p:txBody>
      </p:sp>
      <p:sp>
        <p:nvSpPr>
          <p:cNvPr id="739332" name="Text Box 4"/>
          <p:cNvSpPr txBox="1">
            <a:spLocks noChangeArrowheads="1"/>
          </p:cNvSpPr>
          <p:nvPr/>
        </p:nvSpPr>
        <p:spPr bwMode="auto">
          <a:xfrm>
            <a:off x="7221539" y="5724526"/>
            <a:ext cx="2212975" cy="900113"/>
          </a:xfrm>
          <a:prstGeom prst="rect">
            <a:avLst/>
          </a:prstGeom>
          <a:solidFill>
            <a:schemeClr val="bg1"/>
          </a:solidFill>
          <a:ln w="9525" algn="ctr">
            <a:noFill/>
            <a:miter lim="800000"/>
            <a:headEnd/>
            <a:tailEnd/>
          </a:ln>
          <a:effectLst/>
        </p:spPr>
        <p:txBody>
          <a:bodyPr tIns="0" bIns="0"/>
          <a:lstStyle/>
          <a:p>
            <a:pPr algn="just" eaLnBrk="1" hangingPunct="1"/>
            <a:r>
              <a:rPr lang="zh-CN" altLang="en-US" sz="2000"/>
              <a:t>程序二的输出：</a:t>
            </a:r>
          </a:p>
          <a:p>
            <a:pPr algn="just" eaLnBrk="1" hangingPunct="1"/>
            <a:r>
              <a:rPr lang="en-US" altLang="zh-CN" sz="2000"/>
              <a:t>a=15	b=22</a:t>
            </a:r>
          </a:p>
          <a:p>
            <a:pPr algn="just" eaLnBrk="1" hangingPunct="1"/>
            <a:r>
              <a:rPr lang="en-US" altLang="zh-CN" sz="2000"/>
              <a:t>a=15	b=22</a:t>
            </a:r>
          </a:p>
        </p:txBody>
      </p:sp>
      <p:sp>
        <p:nvSpPr>
          <p:cNvPr id="739333" name="Text Box 5"/>
          <p:cNvSpPr txBox="1">
            <a:spLocks noChangeArrowheads="1"/>
          </p:cNvSpPr>
          <p:nvPr/>
        </p:nvSpPr>
        <p:spPr bwMode="auto">
          <a:xfrm>
            <a:off x="1685925" y="908050"/>
            <a:ext cx="4184650" cy="4724400"/>
          </a:xfrm>
          <a:prstGeom prst="rect">
            <a:avLst/>
          </a:prstGeom>
          <a:noFill/>
          <a:ln w="9525" algn="ctr">
            <a:solidFill>
              <a:srgbClr val="000000"/>
            </a:solidFill>
            <a:miter lim="800000"/>
            <a:headEnd/>
            <a:tailEnd/>
          </a:ln>
          <a:effectLst/>
        </p:spPr>
        <p:txBody>
          <a:bodyPr/>
          <a:lstStyle/>
          <a:p>
            <a:pPr marL="342900" indent="-342900" algn="just"/>
            <a:r>
              <a:rPr lang="zh-CN" altLang="en-US" sz="2000">
                <a:latin typeface="Arial" pitchFamily="34" charset="0"/>
              </a:rPr>
              <a:t>程序一</a:t>
            </a:r>
          </a:p>
          <a:p>
            <a:pPr marL="342900" indent="-342900" algn="just"/>
            <a:r>
              <a:rPr lang="en-US" altLang="zh-CN" sz="2000">
                <a:latin typeface="Arial" pitchFamily="34" charset="0"/>
              </a:rPr>
              <a:t>#include &lt;stdio.h&gt;</a:t>
            </a:r>
          </a:p>
          <a:p>
            <a:pPr marL="342900" indent="-342900" algn="just"/>
            <a:r>
              <a:rPr lang="en-US" altLang="zh-CN" sz="2000">
                <a:latin typeface="Arial" pitchFamily="34" charset="0"/>
              </a:rPr>
              <a:t>main ( )</a:t>
            </a:r>
          </a:p>
          <a:p>
            <a:pPr marL="342900" indent="-342900" algn="just"/>
            <a:r>
              <a:rPr lang="en-US" altLang="zh-CN" sz="2000">
                <a:latin typeface="Arial" pitchFamily="34" charset="0"/>
              </a:rPr>
              <a:t>{ </a:t>
            </a:r>
          </a:p>
          <a:p>
            <a:pPr marL="342900" indent="-342900" algn="just"/>
            <a:r>
              <a:rPr lang="en-US" altLang="zh-CN" sz="2000">
                <a:latin typeface="Arial" pitchFamily="34" charset="0"/>
              </a:rPr>
              <a:t>   int a=15, b=22;</a:t>
            </a:r>
          </a:p>
          <a:p>
            <a:pPr marL="342900" indent="-342900" algn="just"/>
            <a:r>
              <a:rPr lang="en-US" altLang="zh-CN" sz="2000">
                <a:latin typeface="Arial" pitchFamily="34" charset="0"/>
              </a:rPr>
              <a:t>   printf (“a=%d\tb=%d\n”, a, b);</a:t>
            </a:r>
          </a:p>
          <a:p>
            <a:pPr marL="342900" indent="-342900" algn="just"/>
            <a:r>
              <a:rPr lang="en-US" altLang="zh-CN" sz="2000">
                <a:latin typeface="Arial" pitchFamily="34" charset="0"/>
              </a:rPr>
              <a:t>   </a:t>
            </a:r>
            <a:r>
              <a:rPr lang="en-US" altLang="zh-CN" sz="2000">
                <a:solidFill>
                  <a:srgbClr val="FF3300"/>
                </a:solidFill>
                <a:latin typeface="Arial" pitchFamily="34" charset="0"/>
              </a:rPr>
              <a:t>swap (&amp;a, &amp;b);</a:t>
            </a:r>
          </a:p>
          <a:p>
            <a:pPr marL="342900" indent="-342900" algn="just"/>
            <a:r>
              <a:rPr lang="en-US" altLang="zh-CN" sz="2000">
                <a:latin typeface="Arial" pitchFamily="34" charset="0"/>
              </a:rPr>
              <a:t>   printf (“a=%d\tb=%d\n”, a, b);</a:t>
            </a:r>
          </a:p>
          <a:p>
            <a:pPr marL="342900" indent="-342900" algn="just"/>
            <a:r>
              <a:rPr lang="en-US" altLang="zh-CN" sz="2000">
                <a:latin typeface="Arial" pitchFamily="34" charset="0"/>
              </a:rPr>
              <a:t>}</a:t>
            </a:r>
          </a:p>
          <a:p>
            <a:pPr marL="342900" indent="-342900" algn="just"/>
            <a:r>
              <a:rPr lang="en-US" altLang="zh-CN" sz="2000">
                <a:latin typeface="Arial" pitchFamily="34" charset="0"/>
              </a:rPr>
              <a:t>swap (int *x, int *y )</a:t>
            </a:r>
          </a:p>
          <a:p>
            <a:pPr marL="342900" indent="-342900" algn="just"/>
            <a:r>
              <a:rPr lang="en-US" altLang="zh-CN" sz="2000">
                <a:latin typeface="Arial" pitchFamily="34" charset="0"/>
              </a:rPr>
              <a:t>{</a:t>
            </a:r>
          </a:p>
          <a:p>
            <a:pPr marL="342900" indent="-342900" algn="just"/>
            <a:r>
              <a:rPr lang="en-US" altLang="zh-CN" sz="2000">
                <a:latin typeface="Arial" pitchFamily="34" charset="0"/>
              </a:rPr>
              <a:t>	int t=*x;</a:t>
            </a:r>
          </a:p>
          <a:p>
            <a:pPr marL="342900" indent="-342900" algn="just"/>
            <a:r>
              <a:rPr lang="en-US" altLang="zh-CN" sz="2000">
                <a:latin typeface="Arial" pitchFamily="34" charset="0"/>
              </a:rPr>
              <a:t>	*x=*y;</a:t>
            </a:r>
          </a:p>
          <a:p>
            <a:pPr marL="342900" indent="-342900" algn="just"/>
            <a:r>
              <a:rPr lang="en-US" altLang="zh-CN" sz="2000">
                <a:latin typeface="Arial" pitchFamily="34" charset="0"/>
              </a:rPr>
              <a:t>	*y=t;</a:t>
            </a:r>
          </a:p>
          <a:p>
            <a:pPr marL="342900" indent="-342900" algn="just"/>
            <a:r>
              <a:rPr lang="en-US" altLang="zh-CN" sz="2000">
                <a:latin typeface="Arial" pitchFamily="34" charset="0"/>
              </a:rPr>
              <a:t>}</a:t>
            </a:r>
          </a:p>
          <a:p>
            <a:pPr marL="342900" indent="-342900"/>
            <a:endParaRPr lang="en-US" altLang="zh-CN" sz="2000">
              <a:latin typeface="Arial" pitchFamily="34" charset="0"/>
            </a:endParaRPr>
          </a:p>
        </p:txBody>
      </p:sp>
      <p:sp>
        <p:nvSpPr>
          <p:cNvPr id="739334" name="Text Box 6"/>
          <p:cNvSpPr txBox="1">
            <a:spLocks noChangeArrowheads="1"/>
          </p:cNvSpPr>
          <p:nvPr/>
        </p:nvSpPr>
        <p:spPr bwMode="auto">
          <a:xfrm>
            <a:off x="6275389" y="863600"/>
            <a:ext cx="4186237" cy="4724400"/>
          </a:xfrm>
          <a:prstGeom prst="rect">
            <a:avLst/>
          </a:prstGeom>
          <a:noFill/>
          <a:ln w="9525" algn="ctr">
            <a:solidFill>
              <a:srgbClr val="000000"/>
            </a:solidFill>
            <a:miter lim="800000"/>
            <a:headEnd/>
            <a:tailEnd/>
          </a:ln>
          <a:effectLst/>
        </p:spPr>
        <p:txBody>
          <a:bodyPr/>
          <a:lstStyle/>
          <a:p>
            <a:pPr marL="342900" indent="-342900" algn="just"/>
            <a:r>
              <a:rPr lang="zh-CN" altLang="en-US" sz="2000">
                <a:latin typeface="Arial" pitchFamily="34" charset="0"/>
              </a:rPr>
              <a:t>程序二</a:t>
            </a:r>
          </a:p>
          <a:p>
            <a:pPr marL="342900" indent="-342900" algn="just"/>
            <a:r>
              <a:rPr lang="en-US" altLang="zh-CN" sz="2000">
                <a:latin typeface="Arial" pitchFamily="34" charset="0"/>
              </a:rPr>
              <a:t>#include &lt;stdio.h&gt;</a:t>
            </a:r>
          </a:p>
          <a:p>
            <a:pPr marL="342900" indent="-342900" algn="just"/>
            <a:r>
              <a:rPr lang="en-US" altLang="zh-CN" sz="2000">
                <a:latin typeface="Arial" pitchFamily="34" charset="0"/>
              </a:rPr>
              <a:t>main ( )</a:t>
            </a:r>
          </a:p>
          <a:p>
            <a:pPr marL="342900" indent="-342900" algn="just"/>
            <a:r>
              <a:rPr lang="en-US" altLang="zh-CN" sz="2000">
                <a:latin typeface="Arial" pitchFamily="34" charset="0"/>
              </a:rPr>
              <a:t>{ </a:t>
            </a:r>
          </a:p>
          <a:p>
            <a:pPr marL="342900" indent="-342900" algn="just"/>
            <a:r>
              <a:rPr lang="en-US" altLang="zh-CN" sz="2000">
                <a:latin typeface="Arial" pitchFamily="34" charset="0"/>
              </a:rPr>
              <a:t>   int a=15, b=22;</a:t>
            </a:r>
          </a:p>
          <a:p>
            <a:pPr marL="342900" indent="-342900" algn="just"/>
            <a:r>
              <a:rPr lang="en-US" altLang="zh-CN" sz="2000">
                <a:latin typeface="Arial" pitchFamily="34" charset="0"/>
              </a:rPr>
              <a:t>   printf (“a=%d\tb=%d\n”, a, b);</a:t>
            </a:r>
          </a:p>
          <a:p>
            <a:pPr marL="342900" indent="-342900" algn="just"/>
            <a:r>
              <a:rPr lang="en-US" altLang="zh-CN" sz="2000">
                <a:latin typeface="Arial" pitchFamily="34" charset="0"/>
              </a:rPr>
              <a:t>   </a:t>
            </a:r>
            <a:r>
              <a:rPr lang="en-US" altLang="zh-CN" sz="2000">
                <a:solidFill>
                  <a:srgbClr val="FF3300"/>
                </a:solidFill>
                <a:latin typeface="Arial" pitchFamily="34" charset="0"/>
              </a:rPr>
              <a:t>swap (a, b);</a:t>
            </a:r>
          </a:p>
          <a:p>
            <a:pPr marL="342900" indent="-342900" algn="just"/>
            <a:r>
              <a:rPr lang="en-US" altLang="zh-CN" sz="2000">
                <a:latin typeface="Arial" pitchFamily="34" charset="0"/>
              </a:rPr>
              <a:t>   printf (“a=%d\tb=%d\n”, a, b);</a:t>
            </a:r>
          </a:p>
          <a:p>
            <a:pPr marL="342900" indent="-342900" algn="just"/>
            <a:r>
              <a:rPr lang="en-US" altLang="zh-CN" sz="2000">
                <a:latin typeface="Arial" pitchFamily="34" charset="0"/>
              </a:rPr>
              <a:t>}</a:t>
            </a:r>
          </a:p>
          <a:p>
            <a:pPr marL="342900" indent="-342900" algn="just"/>
            <a:r>
              <a:rPr lang="en-US" altLang="zh-CN" sz="2000">
                <a:latin typeface="Arial" pitchFamily="34" charset="0"/>
              </a:rPr>
              <a:t>swap (int x, int y )</a:t>
            </a:r>
          </a:p>
          <a:p>
            <a:pPr marL="342900" indent="-342900" algn="just"/>
            <a:r>
              <a:rPr lang="en-US" altLang="zh-CN" sz="2000">
                <a:latin typeface="Arial" pitchFamily="34" charset="0"/>
              </a:rPr>
              <a:t>{</a:t>
            </a:r>
          </a:p>
          <a:p>
            <a:pPr marL="342900" indent="-342900" algn="just"/>
            <a:r>
              <a:rPr lang="en-US" altLang="zh-CN" sz="2000">
                <a:latin typeface="Arial" pitchFamily="34" charset="0"/>
              </a:rPr>
              <a:t>	int t=x;</a:t>
            </a:r>
          </a:p>
          <a:p>
            <a:pPr marL="342900" indent="-342900" algn="just"/>
            <a:r>
              <a:rPr lang="en-US" altLang="zh-CN" sz="2000">
                <a:latin typeface="Arial" pitchFamily="34" charset="0"/>
              </a:rPr>
              <a:t>	x=y;</a:t>
            </a:r>
          </a:p>
          <a:p>
            <a:pPr marL="342900" indent="-342900" algn="just"/>
            <a:r>
              <a:rPr lang="en-US" altLang="zh-CN" sz="2000">
                <a:latin typeface="Arial" pitchFamily="34" charset="0"/>
              </a:rPr>
              <a:t>	y=t;</a:t>
            </a:r>
          </a:p>
          <a:p>
            <a:pPr marL="342900" indent="-342900" algn="just"/>
            <a:r>
              <a:rPr lang="en-US" altLang="zh-CN" sz="2000">
                <a:latin typeface="Arial" pitchFamily="34" charset="0"/>
              </a:rPr>
              <a:t>}</a:t>
            </a:r>
          </a:p>
          <a:p>
            <a:pPr marL="342900" indent="-342900"/>
            <a:endParaRPr lang="en-US" altLang="zh-CN" sz="2000">
              <a:latin typeface="Arial" pitchFamily="34" charset="0"/>
            </a:endParaRPr>
          </a:p>
        </p:txBody>
      </p:sp>
      <p:sp>
        <p:nvSpPr>
          <p:cNvPr id="739335" name="Rectangle 7"/>
          <p:cNvSpPr>
            <a:spLocks noChangeArrowheads="1"/>
          </p:cNvSpPr>
          <p:nvPr/>
        </p:nvSpPr>
        <p:spPr bwMode="auto">
          <a:xfrm>
            <a:off x="3351213" y="4508500"/>
            <a:ext cx="2139950" cy="427038"/>
          </a:xfrm>
          <a:prstGeom prst="rect">
            <a:avLst/>
          </a:prstGeom>
          <a:noFill/>
          <a:ln w="9525" algn="ctr">
            <a:noFill/>
            <a:miter lim="800000"/>
            <a:headEnd/>
            <a:tailEnd/>
          </a:ln>
          <a:effectLst/>
        </p:spPr>
        <p:txBody>
          <a:bodyPr wrap="none">
            <a:spAutoFit/>
          </a:bodyPr>
          <a:lstStyle/>
          <a:p>
            <a:pPr marL="342900" indent="-342900"/>
            <a:r>
              <a:rPr lang="zh-CN" altLang="en-US" sz="2200">
                <a:solidFill>
                  <a:srgbClr val="FF3300"/>
                </a:solidFill>
              </a:rPr>
              <a:t>按地址传递参数</a:t>
            </a:r>
          </a:p>
        </p:txBody>
      </p:sp>
      <p:sp>
        <p:nvSpPr>
          <p:cNvPr id="739336" name="Rectangle 8"/>
          <p:cNvSpPr>
            <a:spLocks noChangeArrowheads="1"/>
          </p:cNvSpPr>
          <p:nvPr/>
        </p:nvSpPr>
        <p:spPr bwMode="auto">
          <a:xfrm>
            <a:off x="8121650" y="4554539"/>
            <a:ext cx="1860550" cy="427037"/>
          </a:xfrm>
          <a:prstGeom prst="rect">
            <a:avLst/>
          </a:prstGeom>
          <a:noFill/>
          <a:ln w="9525" algn="ctr">
            <a:noFill/>
            <a:miter lim="800000"/>
            <a:headEnd/>
            <a:tailEnd/>
          </a:ln>
          <a:effectLst/>
        </p:spPr>
        <p:txBody>
          <a:bodyPr wrap="none">
            <a:spAutoFit/>
          </a:bodyPr>
          <a:lstStyle/>
          <a:p>
            <a:pPr marL="342900" indent="-342900"/>
            <a:r>
              <a:rPr lang="zh-CN" altLang="en-US" sz="2200">
                <a:solidFill>
                  <a:srgbClr val="FF3300"/>
                </a:solidFill>
              </a:rPr>
              <a:t>按值传递参数</a:t>
            </a:r>
          </a:p>
        </p:txBody>
      </p:sp>
      <p:sp>
        <p:nvSpPr>
          <p:cNvPr id="739337" name="Text Box 9"/>
          <p:cNvSpPr txBox="1">
            <a:spLocks noChangeArrowheads="1"/>
          </p:cNvSpPr>
          <p:nvPr/>
        </p:nvSpPr>
        <p:spPr bwMode="auto">
          <a:xfrm>
            <a:off x="3216275" y="5138739"/>
            <a:ext cx="2700338" cy="427037"/>
          </a:xfrm>
          <a:prstGeom prst="rect">
            <a:avLst/>
          </a:prstGeom>
          <a:noFill/>
          <a:ln w="9525" algn="ctr">
            <a:noFill/>
            <a:miter lim="800000"/>
            <a:headEnd/>
            <a:tailEnd/>
          </a:ln>
          <a:effectLst/>
        </p:spPr>
        <p:txBody>
          <a:bodyPr>
            <a:spAutoFit/>
          </a:bodyPr>
          <a:lstStyle/>
          <a:p>
            <a:pPr marL="342900" indent="-342900">
              <a:spcBef>
                <a:spcPct val="50000"/>
              </a:spcBef>
            </a:pPr>
            <a:r>
              <a:rPr lang="zh-CN" altLang="en-US" sz="2200">
                <a:solidFill>
                  <a:srgbClr val="3333CC"/>
                </a:solidFill>
              </a:rPr>
              <a:t>执行结果？为什么？</a:t>
            </a:r>
          </a:p>
        </p:txBody>
      </p:sp>
      <p:sp>
        <p:nvSpPr>
          <p:cNvPr id="3" name="灯片编号占位符 2"/>
          <p:cNvSpPr>
            <a:spLocks noGrp="1"/>
          </p:cNvSpPr>
          <p:nvPr>
            <p:ph type="sldNum" sz="quarter" idx="12"/>
          </p:nvPr>
        </p:nvSpPr>
        <p:spPr/>
        <p:txBody>
          <a:bodyPr/>
          <a:lstStyle/>
          <a:p>
            <a:pPr>
              <a:defRPr/>
            </a:pPr>
            <a:fld id="{C04D5D84-F493-480C-9B02-1533CB18E289}" type="slidenum">
              <a:rPr lang="en-US" altLang="zh-CN" smtClean="0"/>
              <a:pPr>
                <a:defRPr/>
              </a:pPr>
              <a:t>18</a:t>
            </a:fld>
            <a:endParaRPr lang="en-US" altLang="zh-CN" dirty="0"/>
          </a:p>
        </p:txBody>
      </p:sp>
    </p:spTree>
    <p:extLst>
      <p:ext uri="{BB962C8B-B14F-4D97-AF65-F5344CB8AC3E}">
        <p14:creationId xmlns:p14="http://schemas.microsoft.com/office/powerpoint/2010/main" val="77119699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739335"/>
                                        </p:tgtEl>
                                        <p:attrNameLst>
                                          <p:attrName>style.visibility</p:attrName>
                                        </p:attrNameLst>
                                      </p:cBhvr>
                                      <p:to>
                                        <p:strVal val="visible"/>
                                      </p:to>
                                    </p:set>
                                    <p:animEffect transition="in" filter="blinds(horizontal)">
                                      <p:cBhvr>
                                        <p:cTn id="7" dur="500"/>
                                        <p:tgtEl>
                                          <p:spTgt spid="739335"/>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739336">
                                            <p:txEl>
                                              <p:pRg st="0" end="0"/>
                                            </p:txEl>
                                          </p:spTgt>
                                        </p:tgtEl>
                                        <p:attrNameLst>
                                          <p:attrName>style.visibility</p:attrName>
                                        </p:attrNameLst>
                                      </p:cBhvr>
                                      <p:to>
                                        <p:strVal val="visible"/>
                                      </p:to>
                                    </p:set>
                                    <p:animEffect transition="in" filter="blinds(horizontal)">
                                      <p:cBhvr>
                                        <p:cTn id="12" dur="500"/>
                                        <p:tgtEl>
                                          <p:spTgt spid="739336">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739337"/>
                                        </p:tgtEl>
                                        <p:attrNameLst>
                                          <p:attrName>style.visibility</p:attrName>
                                        </p:attrNameLst>
                                      </p:cBhvr>
                                      <p:to>
                                        <p:strVal val="visible"/>
                                      </p:to>
                                    </p:set>
                                    <p:animEffect transition="in" filter="blinds(horizontal)">
                                      <p:cBhvr>
                                        <p:cTn id="17" dur="500"/>
                                        <p:tgtEl>
                                          <p:spTgt spid="739337"/>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739331"/>
                                        </p:tgtEl>
                                        <p:attrNameLst>
                                          <p:attrName>style.visibility</p:attrName>
                                        </p:attrNameLst>
                                      </p:cBhvr>
                                      <p:to>
                                        <p:strVal val="visible"/>
                                      </p:to>
                                    </p:set>
                                    <p:animEffect transition="in" filter="blinds(horizontal)">
                                      <p:cBhvr>
                                        <p:cTn id="22" dur="500"/>
                                        <p:tgtEl>
                                          <p:spTgt spid="739331"/>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grpId="0" nodeType="clickEffect">
                                  <p:stCondLst>
                                    <p:cond delay="0"/>
                                  </p:stCondLst>
                                  <p:childTnLst>
                                    <p:set>
                                      <p:cBhvr>
                                        <p:cTn id="26" dur="1" fill="hold">
                                          <p:stCondLst>
                                            <p:cond delay="0"/>
                                          </p:stCondLst>
                                        </p:cTn>
                                        <p:tgtEl>
                                          <p:spTgt spid="739332"/>
                                        </p:tgtEl>
                                        <p:attrNameLst>
                                          <p:attrName>style.visibility</p:attrName>
                                        </p:attrNameLst>
                                      </p:cBhvr>
                                      <p:to>
                                        <p:strVal val="visible"/>
                                      </p:to>
                                    </p:set>
                                    <p:animEffect transition="in" filter="blinds(horizontal)">
                                      <p:cBhvr>
                                        <p:cTn id="27" dur="500"/>
                                        <p:tgtEl>
                                          <p:spTgt spid="7393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39331" grpId="0"/>
      <p:bldP spid="739332" grpId="0" animBg="1"/>
      <p:bldP spid="739335" grpId="0"/>
      <p:bldP spid="739337" grpId="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2706" name="Rectangle 2"/>
          <p:cNvSpPr>
            <a:spLocks noGrp="1" noChangeArrowheads="1"/>
          </p:cNvSpPr>
          <p:nvPr>
            <p:ph type="title"/>
          </p:nvPr>
        </p:nvSpPr>
        <p:spPr/>
        <p:txBody>
          <a:bodyPr/>
          <a:lstStyle/>
          <a:p>
            <a:r>
              <a:rPr lang="zh-CN" altLang="en-US" dirty="0"/>
              <a:t>课程的意义</a:t>
            </a:r>
          </a:p>
        </p:txBody>
      </p:sp>
      <p:sp>
        <p:nvSpPr>
          <p:cNvPr id="712708" name="Rectangle 4"/>
          <p:cNvSpPr>
            <a:spLocks noChangeArrowheads="1"/>
          </p:cNvSpPr>
          <p:nvPr/>
        </p:nvSpPr>
        <p:spPr bwMode="auto">
          <a:xfrm>
            <a:off x="1910225" y="2155033"/>
            <a:ext cx="1897063" cy="2244725"/>
          </a:xfrm>
          <a:prstGeom prst="rect">
            <a:avLst/>
          </a:prstGeom>
          <a:noFill/>
          <a:ln w="19050">
            <a:solidFill>
              <a:schemeClr val="tx1"/>
            </a:solidFill>
            <a:miter lim="800000"/>
            <a:headEnd/>
            <a:tailEnd/>
          </a:ln>
          <a:effectLst/>
        </p:spPr>
        <p:txBody>
          <a:bodyPr anchor="ctr">
            <a:spAutoFit/>
          </a:bodyPr>
          <a:lstStyle/>
          <a:p>
            <a:pPr indent="114300"/>
            <a:r>
              <a:rPr lang="en-US" altLang="zh-CN" sz="2000" b="1">
                <a:latin typeface="微软雅黑" pitchFamily="34" charset="-122"/>
                <a:ea typeface="微软雅黑" pitchFamily="34" charset="-122"/>
              </a:rPr>
              <a:t>int  </a:t>
            </a:r>
            <a:r>
              <a:rPr lang="en-US" altLang="zh-CN" sz="2000" b="1">
                <a:solidFill>
                  <a:srgbClr val="FF0000"/>
                </a:solidFill>
                <a:latin typeface="微软雅黑" pitchFamily="34" charset="-122"/>
                <a:ea typeface="微软雅黑" pitchFamily="34" charset="-122"/>
              </a:rPr>
              <a:t>x=10</a:t>
            </a:r>
            <a:r>
              <a:rPr lang="en-US" altLang="zh-CN" sz="2000" b="1">
                <a:latin typeface="微软雅黑" pitchFamily="34" charset="-122"/>
                <a:ea typeface="微软雅黑" pitchFamily="34" charset="-122"/>
              </a:rPr>
              <a:t>;</a:t>
            </a:r>
          </a:p>
          <a:p>
            <a:pPr indent="114300"/>
            <a:r>
              <a:rPr lang="en-US" altLang="zh-CN" sz="2000" b="1">
                <a:latin typeface="微软雅黑" pitchFamily="34" charset="-122"/>
                <a:ea typeface="微软雅黑" pitchFamily="34" charset="-122"/>
              </a:rPr>
              <a:t>int  </a:t>
            </a:r>
            <a:r>
              <a:rPr lang="en-US" altLang="zh-CN" sz="2000" b="1">
                <a:solidFill>
                  <a:srgbClr val="3366FF"/>
                </a:solidFill>
                <a:latin typeface="微软雅黑" pitchFamily="34" charset="-122"/>
                <a:ea typeface="微软雅黑" pitchFamily="34" charset="-122"/>
              </a:rPr>
              <a:t>p1</a:t>
            </a:r>
            <a:r>
              <a:rPr lang="en-US" altLang="zh-CN" sz="2000" b="1">
                <a:latin typeface="微软雅黑" pitchFamily="34" charset="-122"/>
                <a:ea typeface="微软雅黑" pitchFamily="34" charset="-122"/>
              </a:rPr>
              <a:t>(void);</a:t>
            </a:r>
          </a:p>
          <a:p>
            <a:pPr indent="114300"/>
            <a:r>
              <a:rPr lang="en-US" altLang="zh-CN" sz="2000" b="1">
                <a:latin typeface="微软雅黑" pitchFamily="34" charset="-122"/>
                <a:ea typeface="微软雅黑" pitchFamily="34" charset="-122"/>
              </a:rPr>
              <a:t>int </a:t>
            </a:r>
            <a:r>
              <a:rPr lang="en-US" altLang="zh-CN" sz="2000" b="1">
                <a:solidFill>
                  <a:srgbClr val="FF0000"/>
                </a:solidFill>
                <a:latin typeface="微软雅黑" pitchFamily="34" charset="-122"/>
                <a:ea typeface="微软雅黑" pitchFamily="34" charset="-122"/>
              </a:rPr>
              <a:t>main</a:t>
            </a:r>
            <a:r>
              <a:rPr lang="en-US" altLang="zh-CN" sz="2000" b="1">
                <a:latin typeface="微软雅黑" pitchFamily="34" charset="-122"/>
                <a:ea typeface="微软雅黑" pitchFamily="34" charset="-122"/>
              </a:rPr>
              <a:t>() </a:t>
            </a:r>
          </a:p>
          <a:p>
            <a:pPr indent="114300"/>
            <a:r>
              <a:rPr lang="en-US" altLang="zh-CN" sz="2000" b="1">
                <a:latin typeface="微软雅黑" pitchFamily="34" charset="-122"/>
                <a:ea typeface="微软雅黑" pitchFamily="34" charset="-122"/>
              </a:rPr>
              <a:t>{  </a:t>
            </a:r>
          </a:p>
          <a:p>
            <a:pPr indent="114300"/>
            <a:r>
              <a:rPr lang="en-US" altLang="zh-CN" sz="2000" b="1">
                <a:latin typeface="微软雅黑" pitchFamily="34" charset="-122"/>
                <a:ea typeface="微软雅黑" pitchFamily="34" charset="-122"/>
              </a:rPr>
              <a:t>     x=p1();</a:t>
            </a:r>
          </a:p>
          <a:p>
            <a:pPr indent="114300"/>
            <a:r>
              <a:rPr lang="en-US" altLang="zh-CN" sz="2000" b="1">
                <a:latin typeface="微软雅黑" pitchFamily="34" charset="-122"/>
                <a:ea typeface="微软雅黑" pitchFamily="34" charset="-122"/>
              </a:rPr>
              <a:t>     return x;</a:t>
            </a:r>
          </a:p>
          <a:p>
            <a:pPr indent="114300"/>
            <a:r>
              <a:rPr lang="en-US" altLang="zh-CN" sz="2000" b="1">
                <a:latin typeface="微软雅黑" pitchFamily="34" charset="-122"/>
                <a:ea typeface="微软雅黑" pitchFamily="34" charset="-122"/>
              </a:rPr>
              <a:t>}</a:t>
            </a:r>
          </a:p>
        </p:txBody>
      </p:sp>
      <p:sp>
        <p:nvSpPr>
          <p:cNvPr id="712709" name="Text Box 5"/>
          <p:cNvSpPr txBox="1">
            <a:spLocks noChangeArrowheads="1"/>
          </p:cNvSpPr>
          <p:nvPr/>
        </p:nvSpPr>
        <p:spPr bwMode="auto">
          <a:xfrm>
            <a:off x="2221375" y="4550571"/>
            <a:ext cx="1203325" cy="396875"/>
          </a:xfrm>
          <a:prstGeom prst="rect">
            <a:avLst/>
          </a:prstGeom>
          <a:noFill/>
          <a:ln w="9525">
            <a:noFill/>
            <a:miter lim="800000"/>
            <a:headEnd/>
            <a:tailEnd/>
          </a:ln>
          <a:effectLst/>
        </p:spPr>
        <p:txBody>
          <a:bodyPr>
            <a:spAutoFit/>
          </a:bodyPr>
          <a:lstStyle/>
          <a:p>
            <a:pPr>
              <a:spcBef>
                <a:spcPct val="50000"/>
              </a:spcBef>
            </a:pPr>
            <a:r>
              <a:rPr lang="en-US" altLang="zh-CN" sz="2000" b="1">
                <a:solidFill>
                  <a:srgbClr val="3366FF"/>
                </a:solidFill>
                <a:latin typeface="微软雅黑" pitchFamily="34" charset="-122"/>
                <a:ea typeface="微软雅黑" pitchFamily="34" charset="-122"/>
              </a:rPr>
              <a:t>main.c</a:t>
            </a:r>
          </a:p>
        </p:txBody>
      </p:sp>
      <p:sp>
        <p:nvSpPr>
          <p:cNvPr id="712710" name="Rectangle 6"/>
          <p:cNvSpPr>
            <a:spLocks noChangeArrowheads="1"/>
          </p:cNvSpPr>
          <p:nvPr/>
        </p:nvSpPr>
        <p:spPr bwMode="auto">
          <a:xfrm>
            <a:off x="4204162" y="2774158"/>
            <a:ext cx="1854200" cy="1635125"/>
          </a:xfrm>
          <a:prstGeom prst="rect">
            <a:avLst/>
          </a:prstGeom>
          <a:noFill/>
          <a:ln w="19050">
            <a:solidFill>
              <a:schemeClr val="tx1"/>
            </a:solidFill>
            <a:miter lim="800000"/>
            <a:headEnd/>
            <a:tailEnd/>
          </a:ln>
          <a:effectLst/>
        </p:spPr>
        <p:txBody>
          <a:bodyPr anchor="ctr">
            <a:spAutoFit/>
          </a:bodyPr>
          <a:lstStyle/>
          <a:p>
            <a:pPr indent="114300"/>
            <a:r>
              <a:rPr lang="en-US" altLang="zh-CN" sz="2000" b="1" dirty="0" err="1">
                <a:latin typeface="微软雅黑" pitchFamily="34" charset="-122"/>
                <a:ea typeface="微软雅黑" pitchFamily="34" charset="-122"/>
              </a:rPr>
              <a:t>int</a:t>
            </a:r>
            <a:r>
              <a:rPr lang="en-US" altLang="zh-CN" sz="2000" b="1" dirty="0">
                <a:latin typeface="微软雅黑" pitchFamily="34" charset="-122"/>
                <a:ea typeface="微软雅黑" pitchFamily="34" charset="-122"/>
              </a:rPr>
              <a:t>  </a:t>
            </a:r>
            <a:r>
              <a:rPr lang="en-US" altLang="zh-CN" sz="2000" b="1" dirty="0">
                <a:solidFill>
                  <a:srgbClr val="FF0000"/>
                </a:solidFill>
                <a:latin typeface="微软雅黑" pitchFamily="34" charset="-122"/>
                <a:ea typeface="微软雅黑" pitchFamily="34" charset="-122"/>
              </a:rPr>
              <a:t>x=20</a:t>
            </a:r>
            <a:r>
              <a:rPr lang="en-US" altLang="zh-CN" sz="2000" b="1" dirty="0">
                <a:latin typeface="微软雅黑" pitchFamily="34" charset="-122"/>
                <a:ea typeface="微软雅黑" pitchFamily="34" charset="-122"/>
              </a:rPr>
              <a:t>; </a:t>
            </a:r>
          </a:p>
          <a:p>
            <a:pPr indent="114300"/>
            <a:r>
              <a:rPr lang="en-US" altLang="zh-CN" sz="2000" b="1" dirty="0" err="1">
                <a:latin typeface="微软雅黑" pitchFamily="34" charset="-122"/>
                <a:ea typeface="微软雅黑" pitchFamily="34" charset="-122"/>
              </a:rPr>
              <a:t>int</a:t>
            </a:r>
            <a:r>
              <a:rPr lang="en-US" altLang="zh-CN" sz="2000" b="1" dirty="0">
                <a:solidFill>
                  <a:srgbClr val="FF0000"/>
                </a:solidFill>
                <a:latin typeface="微软雅黑" pitchFamily="34" charset="-122"/>
                <a:ea typeface="微软雅黑" pitchFamily="34" charset="-122"/>
              </a:rPr>
              <a:t> p1</a:t>
            </a:r>
            <a:r>
              <a:rPr lang="en-US" altLang="zh-CN" sz="2000" b="1" dirty="0">
                <a:latin typeface="微软雅黑" pitchFamily="34" charset="-122"/>
                <a:ea typeface="微软雅黑" pitchFamily="34" charset="-122"/>
              </a:rPr>
              <a:t>() </a:t>
            </a:r>
          </a:p>
          <a:p>
            <a:pPr indent="114300"/>
            <a:r>
              <a:rPr lang="en-US" altLang="zh-CN" sz="2000" b="1" dirty="0">
                <a:latin typeface="微软雅黑" pitchFamily="34" charset="-122"/>
                <a:ea typeface="微软雅黑" pitchFamily="34" charset="-122"/>
              </a:rPr>
              <a:t>{</a:t>
            </a:r>
          </a:p>
          <a:p>
            <a:pPr indent="114300"/>
            <a:r>
              <a:rPr lang="en-US" altLang="zh-CN" sz="2000" b="1" dirty="0">
                <a:latin typeface="微软雅黑" pitchFamily="34" charset="-122"/>
                <a:ea typeface="微软雅黑" pitchFamily="34" charset="-122"/>
              </a:rPr>
              <a:t>     return x;</a:t>
            </a:r>
          </a:p>
          <a:p>
            <a:pPr indent="114300"/>
            <a:r>
              <a:rPr lang="en-US" altLang="zh-CN" sz="2000" b="1" dirty="0">
                <a:latin typeface="微软雅黑" pitchFamily="34" charset="-122"/>
                <a:ea typeface="微软雅黑" pitchFamily="34" charset="-122"/>
              </a:rPr>
              <a:t>}</a:t>
            </a:r>
          </a:p>
        </p:txBody>
      </p:sp>
      <p:sp>
        <p:nvSpPr>
          <p:cNvPr id="712711" name="Text Box 7"/>
          <p:cNvSpPr txBox="1">
            <a:spLocks noChangeArrowheads="1"/>
          </p:cNvSpPr>
          <p:nvPr/>
        </p:nvSpPr>
        <p:spPr bwMode="auto">
          <a:xfrm>
            <a:off x="4551825" y="4521996"/>
            <a:ext cx="1203325" cy="396875"/>
          </a:xfrm>
          <a:prstGeom prst="rect">
            <a:avLst/>
          </a:prstGeom>
          <a:noFill/>
          <a:ln w="9525">
            <a:noFill/>
            <a:miter lim="800000"/>
            <a:headEnd/>
            <a:tailEnd/>
          </a:ln>
          <a:effectLst/>
        </p:spPr>
        <p:txBody>
          <a:bodyPr>
            <a:spAutoFit/>
          </a:bodyPr>
          <a:lstStyle/>
          <a:p>
            <a:pPr>
              <a:spcBef>
                <a:spcPct val="50000"/>
              </a:spcBef>
            </a:pPr>
            <a:r>
              <a:rPr lang="en-US" altLang="zh-CN" sz="2000" b="1">
                <a:solidFill>
                  <a:srgbClr val="3366FF"/>
                </a:solidFill>
                <a:latin typeface="微软雅黑" pitchFamily="34" charset="-122"/>
                <a:ea typeface="微软雅黑" pitchFamily="34" charset="-122"/>
              </a:rPr>
              <a:t>p1.c</a:t>
            </a:r>
          </a:p>
        </p:txBody>
      </p:sp>
      <p:sp>
        <p:nvSpPr>
          <p:cNvPr id="712712" name="Rectangle 8"/>
          <p:cNvSpPr>
            <a:spLocks noChangeArrowheads="1"/>
          </p:cNvSpPr>
          <p:nvPr/>
        </p:nvSpPr>
        <p:spPr bwMode="auto">
          <a:xfrm>
            <a:off x="6610967" y="1353677"/>
            <a:ext cx="3663950" cy="3171637"/>
          </a:xfrm>
          <a:prstGeom prst="rect">
            <a:avLst/>
          </a:prstGeom>
          <a:noFill/>
          <a:ln w="9525">
            <a:noFill/>
            <a:miter lim="800000"/>
            <a:headEnd/>
            <a:tailEnd/>
          </a:ln>
          <a:effectLst/>
        </p:spPr>
        <p:txBody>
          <a:bodyPr anchor="ctr">
            <a:spAutoFit/>
          </a:bodyPr>
          <a:lstStyle/>
          <a:p>
            <a:pPr eaLnBrk="0" hangingPunct="0">
              <a:lnSpc>
                <a:spcPct val="130000"/>
              </a:lnSpc>
              <a:spcBef>
                <a:spcPct val="45000"/>
              </a:spcBef>
            </a:pPr>
            <a:r>
              <a:rPr lang="en-US" altLang="zh-CN" sz="2300" b="1" dirty="0">
                <a:latin typeface="微软雅黑" pitchFamily="34" charset="-122"/>
                <a:ea typeface="微软雅黑" pitchFamily="34" charset="-122"/>
              </a:rPr>
              <a:t>main</a:t>
            </a:r>
            <a:r>
              <a:rPr lang="zh-CN" altLang="en-US" sz="2300" b="1" dirty="0">
                <a:latin typeface="微软雅黑" pitchFamily="34" charset="-122"/>
                <a:ea typeface="微软雅黑" pitchFamily="34" charset="-122"/>
              </a:rPr>
              <a:t>只有一次强定义</a:t>
            </a:r>
          </a:p>
          <a:p>
            <a:pPr eaLnBrk="0" hangingPunct="0">
              <a:lnSpc>
                <a:spcPct val="130000"/>
              </a:lnSpc>
              <a:spcBef>
                <a:spcPct val="45000"/>
              </a:spcBef>
            </a:pPr>
            <a:r>
              <a:rPr lang="en-US" altLang="zh-CN" sz="2300" b="1" dirty="0">
                <a:latin typeface="微软雅黑" pitchFamily="34" charset="-122"/>
                <a:ea typeface="微软雅黑" pitchFamily="34" charset="-122"/>
              </a:rPr>
              <a:t>p1</a:t>
            </a:r>
            <a:r>
              <a:rPr lang="zh-CN" altLang="en-US" sz="2300" b="1" dirty="0">
                <a:latin typeface="微软雅黑" pitchFamily="34" charset="-122"/>
                <a:ea typeface="微软雅黑" pitchFamily="34" charset="-122"/>
              </a:rPr>
              <a:t>有一次强定义，一次弱定义</a:t>
            </a:r>
          </a:p>
          <a:p>
            <a:pPr eaLnBrk="0" hangingPunct="0">
              <a:lnSpc>
                <a:spcPct val="130000"/>
              </a:lnSpc>
              <a:spcBef>
                <a:spcPct val="45000"/>
              </a:spcBef>
            </a:pPr>
            <a:r>
              <a:rPr lang="en-US" altLang="zh-CN" sz="2300" b="1" dirty="0">
                <a:latin typeface="微软雅黑" pitchFamily="34" charset="-122"/>
                <a:ea typeface="微软雅黑" pitchFamily="34" charset="-122"/>
              </a:rPr>
              <a:t>x</a:t>
            </a:r>
            <a:r>
              <a:rPr lang="zh-CN" altLang="en-US" sz="2300" b="1" dirty="0">
                <a:latin typeface="微软雅黑" pitchFamily="34" charset="-122"/>
                <a:ea typeface="微软雅黑" pitchFamily="34" charset="-122"/>
              </a:rPr>
              <a:t>有两次强定义，所以，</a:t>
            </a:r>
            <a:r>
              <a:rPr lang="zh-CN" altLang="en-US" sz="2300" b="1" dirty="0">
                <a:solidFill>
                  <a:srgbClr val="009242"/>
                </a:solidFill>
                <a:latin typeface="微软雅黑" pitchFamily="34" charset="-122"/>
                <a:ea typeface="微软雅黑" pitchFamily="34" charset="-122"/>
              </a:rPr>
              <a:t>链接器将输出一条出错信息</a:t>
            </a:r>
            <a:r>
              <a:rPr lang="zh-CN" altLang="en-US" sz="2300" b="1" dirty="0">
                <a:latin typeface="微软雅黑" pitchFamily="34" charset="-122"/>
                <a:ea typeface="微软雅黑" pitchFamily="34" charset="-122"/>
              </a:rPr>
              <a:t> </a:t>
            </a:r>
          </a:p>
          <a:p>
            <a:pPr eaLnBrk="0" hangingPunct="0">
              <a:lnSpc>
                <a:spcPct val="130000"/>
              </a:lnSpc>
            </a:pPr>
            <a:endParaRPr lang="zh-CN" altLang="en-US" sz="2300" b="1" dirty="0">
              <a:latin typeface="微软雅黑" pitchFamily="34" charset="-122"/>
              <a:ea typeface="微软雅黑" pitchFamily="34" charset="-122"/>
            </a:endParaRPr>
          </a:p>
        </p:txBody>
      </p:sp>
      <p:sp>
        <p:nvSpPr>
          <p:cNvPr id="712716" name="Text Box 12"/>
          <p:cNvSpPr txBox="1">
            <a:spLocks noChangeArrowheads="1"/>
          </p:cNvSpPr>
          <p:nvPr/>
        </p:nvSpPr>
        <p:spPr bwMode="auto">
          <a:xfrm>
            <a:off x="1770524" y="1221582"/>
            <a:ext cx="4324350" cy="457200"/>
          </a:xfrm>
          <a:prstGeom prst="rect">
            <a:avLst/>
          </a:prstGeom>
          <a:noFill/>
          <a:ln w="9525">
            <a:noFill/>
            <a:miter lim="800000"/>
            <a:headEnd/>
            <a:tailEnd/>
          </a:ln>
          <a:effectLst/>
        </p:spPr>
        <p:txBody>
          <a:bodyPr>
            <a:spAutoFit/>
          </a:bodyPr>
          <a:lstStyle/>
          <a:p>
            <a:pPr>
              <a:spcBef>
                <a:spcPct val="50000"/>
              </a:spcBef>
            </a:pPr>
            <a:r>
              <a:rPr lang="zh-CN" altLang="en-US" sz="2400" b="1">
                <a:ea typeface="微软雅黑" pitchFamily="34" charset="-122"/>
              </a:rPr>
              <a:t>以下程序会发生链接出错吗？</a:t>
            </a:r>
          </a:p>
        </p:txBody>
      </p:sp>
      <p:sp>
        <p:nvSpPr>
          <p:cNvPr id="9" name="Text Box 7"/>
          <p:cNvSpPr txBox="1">
            <a:spLocks noChangeArrowheads="1"/>
          </p:cNvSpPr>
          <p:nvPr/>
        </p:nvSpPr>
        <p:spPr bwMode="auto">
          <a:xfrm>
            <a:off x="6336175" y="4714083"/>
            <a:ext cx="3419475" cy="1838325"/>
          </a:xfrm>
          <a:prstGeom prst="rect">
            <a:avLst/>
          </a:prstGeom>
          <a:noFill/>
          <a:ln w="9525">
            <a:solidFill>
              <a:schemeClr val="tx1"/>
            </a:solidFill>
            <a:miter lim="800000"/>
            <a:headEnd/>
            <a:tailEnd/>
          </a:ln>
          <a:effectLst/>
        </p:spPr>
        <p:txBody>
          <a:bodyPr>
            <a:spAutoFit/>
          </a:bodyPr>
          <a:lstStyle/>
          <a:p>
            <a:pPr>
              <a:spcBef>
                <a:spcPct val="25000"/>
              </a:spcBef>
            </a:pPr>
            <a:r>
              <a:rPr lang="zh-CN" altLang="en-US" sz="2400" b="1">
                <a:ea typeface="黑体" pitchFamily="49" charset="-122"/>
              </a:rPr>
              <a:t>理解该问题需要知道：</a:t>
            </a:r>
          </a:p>
          <a:p>
            <a:pPr>
              <a:spcBef>
                <a:spcPct val="25000"/>
              </a:spcBef>
            </a:pPr>
            <a:r>
              <a:rPr lang="zh-CN" altLang="en-US" sz="2400" b="1">
                <a:solidFill>
                  <a:srgbClr val="3366FF"/>
                </a:solidFill>
                <a:ea typeface="黑体" pitchFamily="49" charset="-122"/>
              </a:rPr>
              <a:t>机器级数据的表示</a:t>
            </a:r>
          </a:p>
          <a:p>
            <a:pPr>
              <a:spcBef>
                <a:spcPct val="25000"/>
              </a:spcBef>
            </a:pPr>
            <a:r>
              <a:rPr lang="zh-CN" altLang="en-US" sz="2400" b="1">
                <a:solidFill>
                  <a:srgbClr val="FF0000"/>
                </a:solidFill>
                <a:ea typeface="黑体" pitchFamily="49" charset="-122"/>
              </a:rPr>
              <a:t>链接器的符号解析规则</a:t>
            </a:r>
          </a:p>
          <a:p>
            <a:pPr>
              <a:spcBef>
                <a:spcPct val="25000"/>
              </a:spcBef>
            </a:pPr>
            <a:r>
              <a:rPr lang="en-US" altLang="zh-CN" sz="2400" b="1">
                <a:solidFill>
                  <a:srgbClr val="3366FF"/>
                </a:solidFill>
                <a:latin typeface="黑体"/>
                <a:ea typeface="黑体" pitchFamily="49" charset="-122"/>
              </a:rPr>
              <a:t>……</a:t>
            </a:r>
            <a:endParaRPr lang="en-US" altLang="zh-CN" sz="2400" b="1">
              <a:solidFill>
                <a:srgbClr val="3366FF"/>
              </a:solidFill>
              <a:ea typeface="黑体" pitchFamily="49" charset="-122"/>
            </a:endParaRPr>
          </a:p>
        </p:txBody>
      </p:sp>
      <p:sp>
        <p:nvSpPr>
          <p:cNvPr id="3" name="灯片编号占位符 2"/>
          <p:cNvSpPr>
            <a:spLocks noGrp="1"/>
          </p:cNvSpPr>
          <p:nvPr>
            <p:ph type="sldNum" sz="quarter" idx="12"/>
          </p:nvPr>
        </p:nvSpPr>
        <p:spPr/>
        <p:txBody>
          <a:bodyPr/>
          <a:lstStyle/>
          <a:p>
            <a:pPr>
              <a:defRPr/>
            </a:pPr>
            <a:fld id="{C04D5D84-F493-480C-9B02-1533CB18E289}" type="slidenum">
              <a:rPr lang="en-US" altLang="zh-CN" smtClean="0"/>
              <a:pPr>
                <a:defRPr/>
              </a:pPr>
              <a:t>19</a:t>
            </a:fld>
            <a:endParaRPr lang="en-US" altLang="zh-CN"/>
          </a:p>
        </p:txBody>
      </p:sp>
    </p:spTree>
    <p:extLst>
      <p:ext uri="{BB962C8B-B14F-4D97-AF65-F5344CB8AC3E}">
        <p14:creationId xmlns:p14="http://schemas.microsoft.com/office/powerpoint/2010/main" val="201396222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712716"/>
                                        </p:tgtEl>
                                        <p:attrNameLst>
                                          <p:attrName>style.visibility</p:attrName>
                                        </p:attrNameLst>
                                      </p:cBhvr>
                                      <p:to>
                                        <p:strVal val="visible"/>
                                      </p:to>
                                    </p:set>
                                    <p:animEffect transition="in" filter="blinds(horizontal)">
                                      <p:cBhvr>
                                        <p:cTn id="7" dur="500"/>
                                        <p:tgtEl>
                                          <p:spTgt spid="712716"/>
                                        </p:tgtEl>
                                      </p:cBhvr>
                                    </p:animEffect>
                                  </p:childTnLst>
                                </p:cTn>
                              </p:par>
                              <p:par>
                                <p:cTn id="8" presetID="3" presetClass="entr" presetSubtype="10" fill="hold" grpId="0" nodeType="withEffect">
                                  <p:stCondLst>
                                    <p:cond delay="0"/>
                                  </p:stCondLst>
                                  <p:childTnLst>
                                    <p:set>
                                      <p:cBhvr>
                                        <p:cTn id="9" dur="1" fill="hold">
                                          <p:stCondLst>
                                            <p:cond delay="0"/>
                                          </p:stCondLst>
                                        </p:cTn>
                                        <p:tgtEl>
                                          <p:spTgt spid="9"/>
                                        </p:tgtEl>
                                        <p:attrNameLst>
                                          <p:attrName>style.visibility</p:attrName>
                                        </p:attrNameLst>
                                      </p:cBhvr>
                                      <p:to>
                                        <p:strVal val="visible"/>
                                      </p:to>
                                    </p:set>
                                    <p:animEffect transition="in" filter="blinds(horizontal)">
                                      <p:cBhvr>
                                        <p:cTn id="10" dur="500"/>
                                        <p:tgtEl>
                                          <p:spTgt spid="9"/>
                                        </p:tgtEl>
                                      </p:cBhvr>
                                    </p:animEffect>
                                  </p:childTnLst>
                                </p:cTn>
                              </p:par>
                            </p:childTnLst>
                          </p:cTn>
                        </p:par>
                      </p:childTnLst>
                    </p:cTn>
                  </p:par>
                  <p:par>
                    <p:cTn id="11" fill="hold">
                      <p:stCondLst>
                        <p:cond delay="indefinite"/>
                      </p:stCondLst>
                      <p:childTnLst>
                        <p:par>
                          <p:cTn id="12" fill="hold">
                            <p:stCondLst>
                              <p:cond delay="0"/>
                            </p:stCondLst>
                            <p:childTnLst>
                              <p:par>
                                <p:cTn id="13" presetID="3" presetClass="entr" presetSubtype="10" fill="hold" nodeType="clickEffect">
                                  <p:stCondLst>
                                    <p:cond delay="0"/>
                                  </p:stCondLst>
                                  <p:childTnLst>
                                    <p:set>
                                      <p:cBhvr>
                                        <p:cTn id="14" dur="1" fill="hold">
                                          <p:stCondLst>
                                            <p:cond delay="0"/>
                                          </p:stCondLst>
                                        </p:cTn>
                                        <p:tgtEl>
                                          <p:spTgt spid="712712">
                                            <p:txEl>
                                              <p:pRg st="0" end="0"/>
                                            </p:txEl>
                                          </p:spTgt>
                                        </p:tgtEl>
                                        <p:attrNameLst>
                                          <p:attrName>style.visibility</p:attrName>
                                        </p:attrNameLst>
                                      </p:cBhvr>
                                      <p:to>
                                        <p:strVal val="visible"/>
                                      </p:to>
                                    </p:set>
                                    <p:animEffect transition="in" filter="blinds(horizontal)">
                                      <p:cBhvr>
                                        <p:cTn id="15" dur="500"/>
                                        <p:tgtEl>
                                          <p:spTgt spid="712712">
                                            <p:txEl>
                                              <p:pRg st="0" end="0"/>
                                            </p:txEl>
                                          </p:spTgt>
                                        </p:tgtEl>
                                      </p:cBhvr>
                                    </p:animEffect>
                                  </p:childTnLst>
                                </p:cTn>
                              </p:par>
                            </p:childTnLst>
                          </p:cTn>
                        </p:par>
                      </p:childTnLst>
                    </p:cTn>
                  </p:par>
                  <p:par>
                    <p:cTn id="16" fill="hold">
                      <p:stCondLst>
                        <p:cond delay="indefinite"/>
                      </p:stCondLst>
                      <p:childTnLst>
                        <p:par>
                          <p:cTn id="17" fill="hold">
                            <p:stCondLst>
                              <p:cond delay="0"/>
                            </p:stCondLst>
                            <p:childTnLst>
                              <p:par>
                                <p:cTn id="18" presetID="3" presetClass="entr" presetSubtype="10" fill="hold" nodeType="clickEffect">
                                  <p:stCondLst>
                                    <p:cond delay="0"/>
                                  </p:stCondLst>
                                  <p:childTnLst>
                                    <p:set>
                                      <p:cBhvr>
                                        <p:cTn id="19" dur="1" fill="hold">
                                          <p:stCondLst>
                                            <p:cond delay="0"/>
                                          </p:stCondLst>
                                        </p:cTn>
                                        <p:tgtEl>
                                          <p:spTgt spid="712712">
                                            <p:txEl>
                                              <p:pRg st="1" end="1"/>
                                            </p:txEl>
                                          </p:spTgt>
                                        </p:tgtEl>
                                        <p:attrNameLst>
                                          <p:attrName>style.visibility</p:attrName>
                                        </p:attrNameLst>
                                      </p:cBhvr>
                                      <p:to>
                                        <p:strVal val="visible"/>
                                      </p:to>
                                    </p:set>
                                    <p:animEffect transition="in" filter="blinds(horizontal)">
                                      <p:cBhvr>
                                        <p:cTn id="20" dur="500"/>
                                        <p:tgtEl>
                                          <p:spTgt spid="712712">
                                            <p:txEl>
                                              <p:pRg st="1" end="1"/>
                                            </p:txEl>
                                          </p:spTgt>
                                        </p:tgtEl>
                                      </p:cBhvr>
                                    </p:animEffect>
                                  </p:childTnLst>
                                </p:cTn>
                              </p:par>
                            </p:childTnLst>
                          </p:cTn>
                        </p:par>
                      </p:childTnLst>
                    </p:cTn>
                  </p:par>
                  <p:par>
                    <p:cTn id="21" fill="hold">
                      <p:stCondLst>
                        <p:cond delay="indefinite"/>
                      </p:stCondLst>
                      <p:childTnLst>
                        <p:par>
                          <p:cTn id="22" fill="hold">
                            <p:stCondLst>
                              <p:cond delay="0"/>
                            </p:stCondLst>
                            <p:childTnLst>
                              <p:par>
                                <p:cTn id="23" presetID="3" presetClass="entr" presetSubtype="10" fill="hold" nodeType="clickEffect">
                                  <p:stCondLst>
                                    <p:cond delay="0"/>
                                  </p:stCondLst>
                                  <p:childTnLst>
                                    <p:set>
                                      <p:cBhvr>
                                        <p:cTn id="24" dur="1" fill="hold">
                                          <p:stCondLst>
                                            <p:cond delay="0"/>
                                          </p:stCondLst>
                                        </p:cTn>
                                        <p:tgtEl>
                                          <p:spTgt spid="712712">
                                            <p:txEl>
                                              <p:pRg st="2" end="2"/>
                                            </p:txEl>
                                          </p:spTgt>
                                        </p:tgtEl>
                                        <p:attrNameLst>
                                          <p:attrName>style.visibility</p:attrName>
                                        </p:attrNameLst>
                                      </p:cBhvr>
                                      <p:to>
                                        <p:strVal val="visible"/>
                                      </p:to>
                                    </p:set>
                                    <p:animEffect transition="in" filter="blinds(horizontal)">
                                      <p:cBhvr>
                                        <p:cTn id="25" dur="500"/>
                                        <p:tgtEl>
                                          <p:spTgt spid="712712">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12716" grpId="0"/>
      <p:bldP spid="9" grpId="0" animBg="1"/>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0146" name="Rectangle 2"/>
          <p:cNvSpPr>
            <a:spLocks noGrp="1" noChangeArrowheads="1"/>
          </p:cNvSpPr>
          <p:nvPr>
            <p:ph type="title"/>
          </p:nvPr>
        </p:nvSpPr>
        <p:spPr>
          <a:xfrm>
            <a:off x="1995948" y="590537"/>
            <a:ext cx="8229600" cy="561975"/>
          </a:xfrm>
        </p:spPr>
        <p:txBody>
          <a:bodyPr/>
          <a:lstStyle/>
          <a:p>
            <a:r>
              <a:rPr lang="zh-CN" altLang="en-US" dirty="0"/>
              <a:t>课程的意义</a:t>
            </a:r>
            <a:endParaRPr lang="zh-CN" altLang="en-US" sz="3600" dirty="0"/>
          </a:p>
        </p:txBody>
      </p:sp>
      <p:sp>
        <p:nvSpPr>
          <p:cNvPr id="390148" name="Rectangle 3"/>
          <p:cNvSpPr>
            <a:spLocks noChangeArrowheads="1"/>
          </p:cNvSpPr>
          <p:nvPr/>
        </p:nvSpPr>
        <p:spPr bwMode="auto">
          <a:xfrm>
            <a:off x="7685548" y="1746217"/>
            <a:ext cx="2116138" cy="1981200"/>
          </a:xfrm>
          <a:prstGeom prst="rect">
            <a:avLst/>
          </a:prstGeom>
          <a:noFill/>
          <a:ln w="3175">
            <a:solidFill>
              <a:srgbClr val="000000"/>
            </a:solidFill>
            <a:miter lim="800000"/>
            <a:headEnd/>
            <a:tailEnd/>
          </a:ln>
        </p:spPr>
        <p:txBody>
          <a:bodyPr lIns="80467" tIns="40234" rIns="80467" bIns="40234"/>
          <a:lstStyle/>
          <a:p>
            <a:pPr algn="just"/>
            <a:r>
              <a:rPr lang="en-US" altLang="zh-CN" sz="2000" b="1">
                <a:solidFill>
                  <a:srgbClr val="000000"/>
                </a:solidFill>
                <a:latin typeface="微软雅黑" pitchFamily="34" charset="-122"/>
                <a:ea typeface="微软雅黑" pitchFamily="34" charset="-122"/>
              </a:rPr>
              <a:t>1  double d;</a:t>
            </a:r>
          </a:p>
          <a:p>
            <a:pPr algn="just"/>
            <a:r>
              <a:rPr lang="en-US" altLang="zh-CN" sz="2000" b="1">
                <a:solidFill>
                  <a:srgbClr val="000000"/>
                </a:solidFill>
                <a:latin typeface="微软雅黑" pitchFamily="34" charset="-122"/>
                <a:ea typeface="微软雅黑" pitchFamily="34" charset="-122"/>
              </a:rPr>
              <a:t>2 </a:t>
            </a:r>
          </a:p>
          <a:p>
            <a:pPr algn="just"/>
            <a:r>
              <a:rPr lang="en-US" altLang="zh-CN" sz="2000" b="1">
                <a:solidFill>
                  <a:srgbClr val="000000"/>
                </a:solidFill>
                <a:latin typeface="微软雅黑" pitchFamily="34" charset="-122"/>
                <a:ea typeface="微软雅黑" pitchFamily="34" charset="-122"/>
              </a:rPr>
              <a:t>3  void p1( ) </a:t>
            </a:r>
          </a:p>
          <a:p>
            <a:pPr algn="just"/>
            <a:r>
              <a:rPr lang="en-US" altLang="zh-CN" sz="2000" b="1">
                <a:solidFill>
                  <a:srgbClr val="000000"/>
                </a:solidFill>
                <a:latin typeface="微软雅黑" pitchFamily="34" charset="-122"/>
                <a:ea typeface="微软雅黑" pitchFamily="34" charset="-122"/>
              </a:rPr>
              <a:t>4  {</a:t>
            </a:r>
          </a:p>
          <a:p>
            <a:pPr algn="just"/>
            <a:r>
              <a:rPr lang="en-US" altLang="zh-CN" sz="2000" b="1">
                <a:solidFill>
                  <a:srgbClr val="000000"/>
                </a:solidFill>
                <a:latin typeface="微软雅黑" pitchFamily="34" charset="-122"/>
                <a:ea typeface="微软雅黑" pitchFamily="34" charset="-122"/>
              </a:rPr>
              <a:t>5    d=1.0;</a:t>
            </a:r>
          </a:p>
          <a:p>
            <a:pPr algn="just"/>
            <a:r>
              <a:rPr lang="en-US" altLang="zh-CN" sz="2000" b="1">
                <a:solidFill>
                  <a:srgbClr val="000000"/>
                </a:solidFill>
                <a:latin typeface="微软雅黑" pitchFamily="34" charset="-122"/>
                <a:ea typeface="微软雅黑" pitchFamily="34" charset="-122"/>
              </a:rPr>
              <a:t>6  }</a:t>
            </a:r>
            <a:endParaRPr lang="en-US" altLang="zh-CN" sz="2000" b="1">
              <a:latin typeface="微软雅黑" pitchFamily="34" charset="-122"/>
              <a:ea typeface="微软雅黑" pitchFamily="34" charset="-122"/>
            </a:endParaRPr>
          </a:p>
        </p:txBody>
      </p:sp>
      <p:sp>
        <p:nvSpPr>
          <p:cNvPr id="390149" name="Rectangle 3"/>
          <p:cNvSpPr>
            <a:spLocks noChangeArrowheads="1"/>
          </p:cNvSpPr>
          <p:nvPr/>
        </p:nvSpPr>
        <p:spPr bwMode="auto">
          <a:xfrm>
            <a:off x="1970549" y="1746217"/>
            <a:ext cx="4905375" cy="2565400"/>
          </a:xfrm>
          <a:prstGeom prst="rect">
            <a:avLst/>
          </a:prstGeom>
          <a:noFill/>
          <a:ln w="3175">
            <a:solidFill>
              <a:srgbClr val="000000"/>
            </a:solidFill>
            <a:miter lim="800000"/>
            <a:headEnd/>
            <a:tailEnd/>
          </a:ln>
        </p:spPr>
        <p:txBody>
          <a:bodyPr lIns="80467" tIns="40234" rIns="80467" bIns="40234"/>
          <a:lstStyle/>
          <a:p>
            <a:pPr algn="just"/>
            <a:r>
              <a:rPr lang="en-US" altLang="zh-CN" sz="2000" b="1" dirty="0">
                <a:solidFill>
                  <a:srgbClr val="000000"/>
                </a:solidFill>
                <a:latin typeface="微软雅黑" pitchFamily="34" charset="-122"/>
                <a:ea typeface="微软雅黑" pitchFamily="34" charset="-122"/>
              </a:rPr>
              <a:t>1  </a:t>
            </a:r>
            <a:r>
              <a:rPr lang="en-US" altLang="zh-CN" sz="2000" b="1" dirty="0" err="1">
                <a:solidFill>
                  <a:srgbClr val="000000"/>
                </a:solidFill>
                <a:latin typeface="微软雅黑" pitchFamily="34" charset="-122"/>
                <a:ea typeface="微软雅黑" pitchFamily="34" charset="-122"/>
              </a:rPr>
              <a:t>int</a:t>
            </a:r>
            <a:r>
              <a:rPr lang="en-US" altLang="zh-CN" sz="2000" b="1" dirty="0">
                <a:solidFill>
                  <a:srgbClr val="000000"/>
                </a:solidFill>
                <a:latin typeface="微软雅黑" pitchFamily="34" charset="-122"/>
                <a:ea typeface="微软雅黑" pitchFamily="34" charset="-122"/>
              </a:rPr>
              <a:t> d=100;</a:t>
            </a:r>
          </a:p>
          <a:p>
            <a:pPr algn="just"/>
            <a:r>
              <a:rPr lang="en-US" altLang="zh-CN" sz="2000" b="1" dirty="0">
                <a:solidFill>
                  <a:srgbClr val="000000"/>
                </a:solidFill>
                <a:latin typeface="微软雅黑" pitchFamily="34" charset="-122"/>
                <a:ea typeface="微软雅黑" pitchFamily="34" charset="-122"/>
              </a:rPr>
              <a:t>2  </a:t>
            </a:r>
            <a:r>
              <a:rPr lang="en-US" altLang="zh-CN" sz="2000" b="1" dirty="0" err="1">
                <a:solidFill>
                  <a:srgbClr val="000000"/>
                </a:solidFill>
                <a:latin typeface="微软雅黑" pitchFamily="34" charset="-122"/>
                <a:ea typeface="微软雅黑" pitchFamily="34" charset="-122"/>
              </a:rPr>
              <a:t>int</a:t>
            </a:r>
            <a:r>
              <a:rPr lang="en-US" altLang="zh-CN" sz="2000" b="1" dirty="0">
                <a:solidFill>
                  <a:srgbClr val="000000"/>
                </a:solidFill>
                <a:latin typeface="微软雅黑" pitchFamily="34" charset="-122"/>
                <a:ea typeface="微软雅黑" pitchFamily="34" charset="-122"/>
              </a:rPr>
              <a:t> x=200;</a:t>
            </a:r>
          </a:p>
          <a:p>
            <a:pPr algn="just"/>
            <a:r>
              <a:rPr lang="en-US" altLang="zh-CN" sz="2000" b="1" dirty="0">
                <a:solidFill>
                  <a:srgbClr val="000000"/>
                </a:solidFill>
                <a:latin typeface="微软雅黑" pitchFamily="34" charset="-122"/>
                <a:ea typeface="微软雅黑" pitchFamily="34" charset="-122"/>
              </a:rPr>
              <a:t>3  </a:t>
            </a:r>
            <a:r>
              <a:rPr lang="en-US" altLang="zh-CN" sz="2000" b="1" dirty="0" err="1">
                <a:solidFill>
                  <a:srgbClr val="000000"/>
                </a:solidFill>
                <a:latin typeface="微软雅黑" pitchFamily="34" charset="-122"/>
                <a:ea typeface="微软雅黑" pitchFamily="34" charset="-122"/>
              </a:rPr>
              <a:t>int</a:t>
            </a:r>
            <a:r>
              <a:rPr lang="en-US" altLang="zh-CN" sz="2000" b="1" dirty="0">
                <a:solidFill>
                  <a:srgbClr val="000000"/>
                </a:solidFill>
                <a:latin typeface="微软雅黑" pitchFamily="34" charset="-122"/>
                <a:ea typeface="微软雅黑" pitchFamily="34" charset="-122"/>
              </a:rPr>
              <a:t> main() </a:t>
            </a:r>
          </a:p>
          <a:p>
            <a:pPr algn="just"/>
            <a:r>
              <a:rPr lang="en-US" altLang="zh-CN" sz="2000" b="1" dirty="0">
                <a:solidFill>
                  <a:srgbClr val="000000"/>
                </a:solidFill>
                <a:latin typeface="微软雅黑" pitchFamily="34" charset="-122"/>
                <a:ea typeface="微软雅黑" pitchFamily="34" charset="-122"/>
              </a:rPr>
              <a:t>4  {  </a:t>
            </a:r>
          </a:p>
          <a:p>
            <a:pPr algn="just"/>
            <a:r>
              <a:rPr lang="en-US" altLang="zh-CN" sz="2000" b="1" dirty="0">
                <a:solidFill>
                  <a:srgbClr val="000000"/>
                </a:solidFill>
                <a:latin typeface="微软雅黑" pitchFamily="34" charset="-122"/>
                <a:ea typeface="微软雅黑" pitchFamily="34" charset="-122"/>
              </a:rPr>
              <a:t>5    p1( );</a:t>
            </a:r>
          </a:p>
          <a:p>
            <a:pPr algn="just"/>
            <a:r>
              <a:rPr lang="en-US" altLang="zh-CN" sz="2000" b="1" dirty="0">
                <a:solidFill>
                  <a:srgbClr val="000000"/>
                </a:solidFill>
                <a:latin typeface="微软雅黑" pitchFamily="34" charset="-122"/>
                <a:ea typeface="微软雅黑" pitchFamily="34" charset="-122"/>
              </a:rPr>
              <a:t>6    </a:t>
            </a:r>
            <a:r>
              <a:rPr lang="en-US" altLang="zh-CN" sz="2000" b="1" dirty="0" err="1">
                <a:solidFill>
                  <a:srgbClr val="000000"/>
                </a:solidFill>
                <a:latin typeface="微软雅黑" pitchFamily="34" charset="-122"/>
                <a:ea typeface="微软雅黑" pitchFamily="34" charset="-122"/>
              </a:rPr>
              <a:t>printf</a:t>
            </a:r>
            <a:r>
              <a:rPr lang="en-US" altLang="zh-CN" sz="2000" b="1" dirty="0">
                <a:solidFill>
                  <a:srgbClr val="000000"/>
                </a:solidFill>
                <a:latin typeface="微软雅黑" pitchFamily="34" charset="-122"/>
                <a:ea typeface="微软雅黑" pitchFamily="34" charset="-122"/>
              </a:rPr>
              <a:t> (“d=%d, x=%d\n”, d, x );</a:t>
            </a:r>
          </a:p>
          <a:p>
            <a:pPr algn="just"/>
            <a:r>
              <a:rPr lang="en-US" altLang="zh-CN" sz="2000" b="1" dirty="0">
                <a:solidFill>
                  <a:srgbClr val="000000"/>
                </a:solidFill>
                <a:latin typeface="微软雅黑" pitchFamily="34" charset="-122"/>
                <a:ea typeface="微软雅黑" pitchFamily="34" charset="-122"/>
              </a:rPr>
              <a:t>7    return 0;</a:t>
            </a:r>
          </a:p>
          <a:p>
            <a:pPr algn="just"/>
            <a:r>
              <a:rPr lang="en-US" altLang="zh-CN" sz="2000" b="1" dirty="0">
                <a:solidFill>
                  <a:srgbClr val="000000"/>
                </a:solidFill>
                <a:latin typeface="微软雅黑" pitchFamily="34" charset="-122"/>
                <a:ea typeface="微软雅黑" pitchFamily="34" charset="-122"/>
              </a:rPr>
              <a:t>8  }</a:t>
            </a:r>
          </a:p>
          <a:p>
            <a:endParaRPr lang="en-US" altLang="zh-CN" sz="2000" b="1" dirty="0">
              <a:latin typeface="微软雅黑" pitchFamily="34" charset="-122"/>
              <a:ea typeface="微软雅黑" pitchFamily="34" charset="-122"/>
            </a:endParaRPr>
          </a:p>
        </p:txBody>
      </p:sp>
      <p:sp>
        <p:nvSpPr>
          <p:cNvPr id="390150" name="Rectangle 6"/>
          <p:cNvSpPr>
            <a:spLocks noChangeArrowheads="1"/>
          </p:cNvSpPr>
          <p:nvPr/>
        </p:nvSpPr>
        <p:spPr bwMode="auto">
          <a:xfrm>
            <a:off x="1926099" y="1206467"/>
            <a:ext cx="7561263" cy="584200"/>
          </a:xfrm>
          <a:prstGeom prst="rect">
            <a:avLst/>
          </a:prstGeom>
          <a:noFill/>
          <a:ln w="9525">
            <a:noFill/>
            <a:miter lim="800000"/>
            <a:headEnd/>
            <a:tailEnd/>
          </a:ln>
        </p:spPr>
        <p:txBody>
          <a:bodyPr/>
          <a:lstStyle/>
          <a:p>
            <a:pPr marL="342900" indent="-342900" eaLnBrk="0" hangingPunct="0">
              <a:lnSpc>
                <a:spcPct val="115000"/>
              </a:lnSpc>
              <a:spcBef>
                <a:spcPct val="20000"/>
              </a:spcBef>
            </a:pPr>
            <a:r>
              <a:rPr lang="en-US" altLang="zh-CN" sz="2400" b="1" dirty="0" err="1"/>
              <a:t>main.c</a:t>
            </a:r>
            <a:r>
              <a:rPr lang="en-US" altLang="zh-CN" sz="2400" b="1" dirty="0"/>
              <a:t>                                                        p1.c</a:t>
            </a:r>
          </a:p>
        </p:txBody>
      </p:sp>
      <p:pic>
        <p:nvPicPr>
          <p:cNvPr id="587778" name="Picture 2"/>
          <p:cNvPicPr>
            <a:picLocks noChangeAspect="1" noChangeArrowheads="1"/>
          </p:cNvPicPr>
          <p:nvPr/>
        </p:nvPicPr>
        <p:blipFill>
          <a:blip r:embed="rId3"/>
          <a:srcRect/>
          <a:stretch>
            <a:fillRect/>
          </a:stretch>
        </p:blipFill>
        <p:spPr bwMode="auto">
          <a:xfrm>
            <a:off x="1681592" y="4492615"/>
            <a:ext cx="8860246" cy="1571636"/>
          </a:xfrm>
          <a:prstGeom prst="rect">
            <a:avLst/>
          </a:prstGeom>
          <a:noFill/>
          <a:ln w="9525">
            <a:noFill/>
            <a:miter lim="800000"/>
            <a:headEnd/>
            <a:tailEnd/>
          </a:ln>
          <a:effectLst/>
        </p:spPr>
      </p:pic>
      <p:cxnSp>
        <p:nvCxnSpPr>
          <p:cNvPr id="11" name="直接连接符 10"/>
          <p:cNvCxnSpPr/>
          <p:nvPr/>
        </p:nvCxnSpPr>
        <p:spPr>
          <a:xfrm>
            <a:off x="1681592" y="4921243"/>
            <a:ext cx="8715436" cy="1588"/>
          </a:xfrm>
          <a:prstGeom prst="line">
            <a:avLst/>
          </a:prstGeom>
          <a:ln w="25400">
            <a:solidFill>
              <a:srgbClr val="FF0000"/>
            </a:solidFill>
          </a:ln>
        </p:spPr>
        <p:style>
          <a:lnRef idx="1">
            <a:schemeClr val="accent1"/>
          </a:lnRef>
          <a:fillRef idx="0">
            <a:schemeClr val="accent1"/>
          </a:fillRef>
          <a:effectRef idx="0">
            <a:schemeClr val="accent1"/>
          </a:effectRef>
          <a:fontRef idx="minor">
            <a:schemeClr val="tx1"/>
          </a:fontRef>
        </p:style>
      </p:cxnSp>
      <p:sp>
        <p:nvSpPr>
          <p:cNvPr id="12" name="右箭头 11"/>
          <p:cNvSpPr/>
          <p:nvPr/>
        </p:nvSpPr>
        <p:spPr>
          <a:xfrm rot="18724765">
            <a:off x="6643232" y="5111980"/>
            <a:ext cx="928694" cy="500066"/>
          </a:xfrm>
          <a:prstGeom prst="rightArrow">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 name="Rectangle 6"/>
          <p:cNvSpPr>
            <a:spLocks noChangeArrowheads="1"/>
          </p:cNvSpPr>
          <p:nvPr/>
        </p:nvSpPr>
        <p:spPr bwMode="auto">
          <a:xfrm>
            <a:off x="5396369" y="6064251"/>
            <a:ext cx="4572032" cy="584200"/>
          </a:xfrm>
          <a:prstGeom prst="rect">
            <a:avLst/>
          </a:prstGeom>
          <a:noFill/>
          <a:ln w="9525">
            <a:noFill/>
            <a:miter lim="800000"/>
            <a:headEnd/>
            <a:tailEnd/>
          </a:ln>
        </p:spPr>
        <p:txBody>
          <a:bodyPr/>
          <a:lstStyle/>
          <a:p>
            <a:pPr marL="342900" indent="-342900" eaLnBrk="0" hangingPunct="0">
              <a:lnSpc>
                <a:spcPct val="115000"/>
              </a:lnSpc>
              <a:spcBef>
                <a:spcPct val="20000"/>
              </a:spcBef>
            </a:pPr>
            <a:r>
              <a:rPr lang="zh-CN" altLang="en-US" sz="2400" b="1" dirty="0">
                <a:solidFill>
                  <a:srgbClr val="FF0000"/>
                </a:solidFill>
              </a:rPr>
              <a:t>永远不要无视编译</a:t>
            </a:r>
            <a:r>
              <a:rPr lang="en-US" altLang="zh-CN" sz="2400" b="1" dirty="0">
                <a:solidFill>
                  <a:srgbClr val="FF0000"/>
                </a:solidFill>
              </a:rPr>
              <a:t>warning</a:t>
            </a:r>
            <a:r>
              <a:rPr lang="zh-CN" altLang="en-US" sz="2400" b="1" dirty="0">
                <a:solidFill>
                  <a:srgbClr val="FF0000"/>
                </a:solidFill>
              </a:rPr>
              <a:t>信息</a:t>
            </a:r>
            <a:endParaRPr lang="en-US" altLang="zh-CN" sz="2400" b="1" dirty="0">
              <a:solidFill>
                <a:srgbClr val="FF0000"/>
              </a:solidFill>
            </a:endParaRPr>
          </a:p>
        </p:txBody>
      </p:sp>
      <p:sp>
        <p:nvSpPr>
          <p:cNvPr id="3" name="灯片编号占位符 2"/>
          <p:cNvSpPr>
            <a:spLocks noGrp="1"/>
          </p:cNvSpPr>
          <p:nvPr>
            <p:ph type="sldNum" sz="quarter" idx="12"/>
          </p:nvPr>
        </p:nvSpPr>
        <p:spPr/>
        <p:txBody>
          <a:bodyPr/>
          <a:lstStyle/>
          <a:p>
            <a:pPr>
              <a:defRPr/>
            </a:pPr>
            <a:fld id="{C04D5D84-F493-480C-9B02-1533CB18E289}" type="slidenum">
              <a:rPr lang="en-US" altLang="zh-CN" smtClean="0"/>
              <a:pPr>
                <a:defRPr/>
              </a:pPr>
              <a:t>20</a:t>
            </a:fld>
            <a:endParaRPr lang="en-US" altLang="zh-CN"/>
          </a:p>
        </p:txBody>
      </p:sp>
    </p:spTree>
    <p:extLst>
      <p:ext uri="{BB962C8B-B14F-4D97-AF65-F5344CB8AC3E}">
        <p14:creationId xmlns:p14="http://schemas.microsoft.com/office/powerpoint/2010/main" val="249347236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8274" name="Rectangle 2"/>
          <p:cNvSpPr>
            <a:spLocks noGrp="1" noChangeArrowheads="1"/>
          </p:cNvSpPr>
          <p:nvPr>
            <p:ph type="title"/>
          </p:nvPr>
        </p:nvSpPr>
        <p:spPr>
          <a:xfrm>
            <a:off x="6548284" y="98426"/>
            <a:ext cx="3662516" cy="561975"/>
          </a:xfrm>
        </p:spPr>
        <p:txBody>
          <a:bodyPr/>
          <a:lstStyle/>
          <a:p>
            <a:r>
              <a:rPr lang="zh-CN" altLang="en-US" dirty="0"/>
              <a:t>课程的意义</a:t>
            </a:r>
            <a:endParaRPr lang="zh-CN" altLang="en-US" sz="3600" dirty="0"/>
          </a:p>
        </p:txBody>
      </p:sp>
      <p:sp>
        <p:nvSpPr>
          <p:cNvPr id="438275" name="Rectangle 3"/>
          <p:cNvSpPr>
            <a:spLocks noGrp="1" noChangeArrowheads="1"/>
          </p:cNvSpPr>
          <p:nvPr>
            <p:ph type="body" idx="1"/>
          </p:nvPr>
        </p:nvSpPr>
        <p:spPr>
          <a:xfrm>
            <a:off x="1865313" y="863600"/>
            <a:ext cx="8229600" cy="4483100"/>
          </a:xfrm>
        </p:spPr>
        <p:txBody>
          <a:bodyPr/>
          <a:lstStyle/>
          <a:p>
            <a:pPr marL="457200" indent="-457200">
              <a:spcBef>
                <a:spcPct val="5000"/>
              </a:spcBef>
              <a:buNone/>
            </a:pPr>
            <a:r>
              <a:rPr lang="en-US" altLang="zh-CN" sz="2000" dirty="0">
                <a:latin typeface="微软雅黑" pitchFamily="34" charset="-122"/>
                <a:ea typeface="微软雅黑" pitchFamily="34" charset="-122"/>
              </a:rPr>
              <a:t>/* </a:t>
            </a:r>
            <a:r>
              <a:rPr lang="zh-CN" altLang="en-US" sz="2000" dirty="0">
                <a:latin typeface="微软雅黑" pitchFamily="34" charset="-122"/>
                <a:ea typeface="微软雅黑" pitchFamily="34" charset="-122"/>
              </a:rPr>
              <a:t>复制数组到堆中，</a:t>
            </a:r>
            <a:r>
              <a:rPr lang="en-US" altLang="zh-CN" sz="2000" dirty="0">
                <a:latin typeface="微软雅黑" pitchFamily="34" charset="-122"/>
                <a:ea typeface="微软雅黑" pitchFamily="34" charset="-122"/>
              </a:rPr>
              <a:t>count</a:t>
            </a:r>
            <a:r>
              <a:rPr lang="zh-CN" altLang="en-US" sz="2000" dirty="0">
                <a:latin typeface="微软雅黑" pitchFamily="34" charset="-122"/>
                <a:ea typeface="微软雅黑" pitchFamily="34" charset="-122"/>
              </a:rPr>
              <a:t>为数组元素个数 *</a:t>
            </a:r>
            <a:r>
              <a:rPr lang="en-US" altLang="zh-CN" sz="2000" dirty="0">
                <a:latin typeface="微软雅黑" pitchFamily="34" charset="-122"/>
                <a:ea typeface="微软雅黑" pitchFamily="34" charset="-122"/>
              </a:rPr>
              <a:t>/</a:t>
            </a:r>
          </a:p>
          <a:p>
            <a:pPr marL="457200" indent="-457200">
              <a:spcBef>
                <a:spcPct val="5000"/>
              </a:spcBef>
              <a:buNone/>
            </a:pPr>
            <a:r>
              <a:rPr lang="en-US" altLang="zh-CN" sz="2000" dirty="0" err="1">
                <a:latin typeface="微软雅黑" pitchFamily="34" charset="-122"/>
                <a:ea typeface="微软雅黑" pitchFamily="34" charset="-122"/>
              </a:rPr>
              <a:t>int</a:t>
            </a:r>
            <a:r>
              <a:rPr lang="en-US" altLang="zh-CN" sz="2000" dirty="0">
                <a:latin typeface="微软雅黑" pitchFamily="34" charset="-122"/>
                <a:ea typeface="微软雅黑" pitchFamily="34" charset="-122"/>
              </a:rPr>
              <a:t> </a:t>
            </a:r>
            <a:r>
              <a:rPr lang="en-US" altLang="zh-CN" sz="2000" dirty="0" err="1">
                <a:latin typeface="微软雅黑" pitchFamily="34" charset="-122"/>
                <a:ea typeface="微软雅黑" pitchFamily="34" charset="-122"/>
              </a:rPr>
              <a:t>copy_array</a:t>
            </a:r>
            <a:r>
              <a:rPr lang="en-US" altLang="zh-CN" sz="2000" dirty="0">
                <a:latin typeface="微软雅黑" pitchFamily="34" charset="-122"/>
                <a:ea typeface="微软雅黑" pitchFamily="34" charset="-122"/>
              </a:rPr>
              <a:t>(</a:t>
            </a:r>
            <a:r>
              <a:rPr lang="en-US" altLang="zh-CN" sz="2000" dirty="0" err="1">
                <a:latin typeface="微软雅黑" pitchFamily="34" charset="-122"/>
                <a:ea typeface="微软雅黑" pitchFamily="34" charset="-122"/>
              </a:rPr>
              <a:t>int</a:t>
            </a:r>
            <a:r>
              <a:rPr lang="en-US" altLang="zh-CN" sz="2000" dirty="0">
                <a:latin typeface="微软雅黑" pitchFamily="34" charset="-122"/>
                <a:ea typeface="微软雅黑" pitchFamily="34" charset="-122"/>
              </a:rPr>
              <a:t> *array, </a:t>
            </a:r>
            <a:r>
              <a:rPr lang="en-US" altLang="zh-CN" sz="2000" dirty="0" err="1">
                <a:latin typeface="微软雅黑" pitchFamily="34" charset="-122"/>
                <a:ea typeface="微软雅黑" pitchFamily="34" charset="-122"/>
              </a:rPr>
              <a:t>int</a:t>
            </a:r>
            <a:r>
              <a:rPr lang="en-US" altLang="zh-CN" sz="2000" dirty="0">
                <a:latin typeface="微软雅黑" pitchFamily="34" charset="-122"/>
                <a:ea typeface="微软雅黑" pitchFamily="34" charset="-122"/>
              </a:rPr>
              <a:t> count) { </a:t>
            </a:r>
          </a:p>
          <a:p>
            <a:pPr marL="457200" indent="-457200">
              <a:spcBef>
                <a:spcPct val="5000"/>
              </a:spcBef>
              <a:buNone/>
            </a:pPr>
            <a:r>
              <a:rPr lang="en-US" altLang="zh-CN" sz="2000" dirty="0">
                <a:latin typeface="微软雅黑" pitchFamily="34" charset="-122"/>
                <a:ea typeface="微软雅黑" pitchFamily="34" charset="-122"/>
              </a:rPr>
              <a:t>  	 </a:t>
            </a:r>
            <a:r>
              <a:rPr lang="en-US" altLang="zh-CN" sz="2000" dirty="0" err="1">
                <a:latin typeface="微软雅黑" pitchFamily="34" charset="-122"/>
                <a:ea typeface="微软雅黑" pitchFamily="34" charset="-122"/>
              </a:rPr>
              <a:t>int</a:t>
            </a:r>
            <a:r>
              <a:rPr lang="en-US" altLang="zh-CN" sz="2000" dirty="0">
                <a:latin typeface="微软雅黑" pitchFamily="34" charset="-122"/>
                <a:ea typeface="微软雅黑" pitchFamily="34" charset="-122"/>
              </a:rPr>
              <a:t> </a:t>
            </a:r>
            <a:r>
              <a:rPr lang="en-US" altLang="zh-CN" sz="2000" dirty="0" err="1">
                <a:latin typeface="微软雅黑" pitchFamily="34" charset="-122"/>
                <a:ea typeface="微软雅黑" pitchFamily="34" charset="-122"/>
              </a:rPr>
              <a:t>i</a:t>
            </a:r>
            <a:r>
              <a:rPr lang="en-US" altLang="zh-CN" sz="2000" dirty="0">
                <a:latin typeface="微软雅黑" pitchFamily="34" charset="-122"/>
                <a:ea typeface="微软雅黑" pitchFamily="34" charset="-122"/>
              </a:rPr>
              <a:t>;  </a:t>
            </a:r>
          </a:p>
          <a:p>
            <a:pPr marL="457200" indent="-457200">
              <a:spcBef>
                <a:spcPct val="5000"/>
              </a:spcBef>
              <a:buNone/>
            </a:pPr>
            <a:r>
              <a:rPr lang="en-US" altLang="zh-CN" sz="2000" dirty="0">
                <a:latin typeface="微软雅黑" pitchFamily="34" charset="-122"/>
                <a:ea typeface="微软雅黑" pitchFamily="34" charset="-122"/>
              </a:rPr>
              <a:t> 	/* </a:t>
            </a:r>
            <a:r>
              <a:rPr lang="zh-CN" altLang="en-US" sz="2000" dirty="0">
                <a:latin typeface="微软雅黑" pitchFamily="34" charset="-122"/>
                <a:ea typeface="微软雅黑" pitchFamily="34" charset="-122"/>
              </a:rPr>
              <a:t>在堆区申请一块内存 *</a:t>
            </a:r>
            <a:r>
              <a:rPr lang="en-US" altLang="zh-CN" sz="2000" dirty="0">
                <a:latin typeface="微软雅黑" pitchFamily="34" charset="-122"/>
                <a:ea typeface="微软雅黑" pitchFamily="34" charset="-122"/>
              </a:rPr>
              <a:t>/</a:t>
            </a:r>
          </a:p>
          <a:p>
            <a:pPr marL="457200" indent="-457200">
              <a:spcBef>
                <a:spcPct val="5000"/>
              </a:spcBef>
              <a:buNone/>
            </a:pPr>
            <a:r>
              <a:rPr lang="en-US" altLang="zh-CN" sz="2000" dirty="0">
                <a:latin typeface="微软雅黑" pitchFamily="34" charset="-122"/>
                <a:ea typeface="微软雅黑" pitchFamily="34" charset="-122"/>
              </a:rPr>
              <a:t>  	 </a:t>
            </a:r>
            <a:r>
              <a:rPr lang="en-US" altLang="zh-CN" sz="2000" dirty="0" err="1">
                <a:latin typeface="微软雅黑" pitchFamily="34" charset="-122"/>
                <a:ea typeface="微软雅黑" pitchFamily="34" charset="-122"/>
              </a:rPr>
              <a:t>int</a:t>
            </a:r>
            <a:r>
              <a:rPr lang="en-US" altLang="zh-CN" sz="2000" dirty="0">
                <a:latin typeface="微软雅黑" pitchFamily="34" charset="-122"/>
                <a:ea typeface="微软雅黑" pitchFamily="34" charset="-122"/>
              </a:rPr>
              <a:t> *</a:t>
            </a:r>
            <a:r>
              <a:rPr lang="en-US" altLang="zh-CN" sz="2000" dirty="0" err="1">
                <a:latin typeface="微软雅黑" pitchFamily="34" charset="-122"/>
                <a:ea typeface="微软雅黑" pitchFamily="34" charset="-122"/>
              </a:rPr>
              <a:t>myarray</a:t>
            </a:r>
            <a:r>
              <a:rPr lang="en-US" altLang="zh-CN" sz="2000" dirty="0">
                <a:latin typeface="微软雅黑" pitchFamily="34" charset="-122"/>
                <a:ea typeface="微软雅黑" pitchFamily="34" charset="-122"/>
              </a:rPr>
              <a:t> = (</a:t>
            </a:r>
            <a:r>
              <a:rPr lang="en-US" altLang="zh-CN" sz="2000" dirty="0" err="1">
                <a:latin typeface="微软雅黑" pitchFamily="34" charset="-122"/>
                <a:ea typeface="微软雅黑" pitchFamily="34" charset="-122"/>
              </a:rPr>
              <a:t>int</a:t>
            </a:r>
            <a:r>
              <a:rPr lang="en-US" altLang="zh-CN" sz="2000" dirty="0">
                <a:latin typeface="微软雅黑" pitchFamily="34" charset="-122"/>
                <a:ea typeface="微软雅黑" pitchFamily="34" charset="-122"/>
              </a:rPr>
              <a:t> *) </a:t>
            </a:r>
            <a:r>
              <a:rPr lang="en-US" altLang="zh-CN" sz="2000" dirty="0" err="1">
                <a:solidFill>
                  <a:srgbClr val="0000FF"/>
                </a:solidFill>
                <a:latin typeface="微软雅黑" pitchFamily="34" charset="-122"/>
                <a:ea typeface="微软雅黑" pitchFamily="34" charset="-122"/>
              </a:rPr>
              <a:t>malloc</a:t>
            </a:r>
            <a:r>
              <a:rPr lang="en-US" altLang="zh-CN" sz="2000" dirty="0">
                <a:solidFill>
                  <a:srgbClr val="0000FF"/>
                </a:solidFill>
                <a:latin typeface="微软雅黑" pitchFamily="34" charset="-122"/>
                <a:ea typeface="微软雅黑" pitchFamily="34" charset="-122"/>
              </a:rPr>
              <a:t>(</a:t>
            </a:r>
            <a:r>
              <a:rPr lang="en-US" altLang="zh-CN" sz="2000" dirty="0">
                <a:solidFill>
                  <a:srgbClr val="FF0000"/>
                </a:solidFill>
                <a:latin typeface="微软雅黑" pitchFamily="34" charset="-122"/>
                <a:ea typeface="微软雅黑" pitchFamily="34" charset="-122"/>
              </a:rPr>
              <a:t>count*</a:t>
            </a:r>
            <a:r>
              <a:rPr lang="en-US" altLang="zh-CN" sz="2000" dirty="0" err="1">
                <a:solidFill>
                  <a:srgbClr val="FF0000"/>
                </a:solidFill>
                <a:latin typeface="微软雅黑" pitchFamily="34" charset="-122"/>
                <a:ea typeface="微软雅黑" pitchFamily="34" charset="-122"/>
              </a:rPr>
              <a:t>sizeof</a:t>
            </a:r>
            <a:r>
              <a:rPr lang="en-US" altLang="zh-CN" sz="2000" dirty="0">
                <a:solidFill>
                  <a:srgbClr val="FF0000"/>
                </a:solidFill>
                <a:latin typeface="微软雅黑" pitchFamily="34" charset="-122"/>
                <a:ea typeface="微软雅黑" pitchFamily="34" charset="-122"/>
              </a:rPr>
              <a:t>(</a:t>
            </a:r>
            <a:r>
              <a:rPr lang="en-US" altLang="zh-CN" sz="2000" dirty="0" err="1">
                <a:solidFill>
                  <a:srgbClr val="FF0000"/>
                </a:solidFill>
                <a:latin typeface="微软雅黑" pitchFamily="34" charset="-122"/>
                <a:ea typeface="微软雅黑" pitchFamily="34" charset="-122"/>
              </a:rPr>
              <a:t>int</a:t>
            </a:r>
            <a:r>
              <a:rPr lang="en-US" altLang="zh-CN" sz="2000" dirty="0">
                <a:solidFill>
                  <a:srgbClr val="FF0000"/>
                </a:solidFill>
                <a:latin typeface="微软雅黑" pitchFamily="34" charset="-122"/>
                <a:ea typeface="微软雅黑" pitchFamily="34" charset="-122"/>
              </a:rPr>
              <a:t>)</a:t>
            </a:r>
            <a:r>
              <a:rPr lang="en-US" altLang="zh-CN" sz="2000" dirty="0">
                <a:solidFill>
                  <a:srgbClr val="0000FF"/>
                </a:solidFill>
                <a:latin typeface="微软雅黑" pitchFamily="34" charset="-122"/>
                <a:ea typeface="微软雅黑" pitchFamily="34" charset="-122"/>
              </a:rPr>
              <a:t>)</a:t>
            </a:r>
            <a:r>
              <a:rPr lang="en-US" altLang="zh-CN" sz="2000" dirty="0">
                <a:latin typeface="微软雅黑" pitchFamily="34" charset="-122"/>
                <a:ea typeface="微软雅黑" pitchFamily="34" charset="-122"/>
              </a:rPr>
              <a:t>; </a:t>
            </a:r>
          </a:p>
          <a:p>
            <a:pPr marL="457200" indent="-457200">
              <a:spcBef>
                <a:spcPct val="5000"/>
              </a:spcBef>
              <a:buNone/>
            </a:pPr>
            <a:r>
              <a:rPr lang="en-US" altLang="zh-CN" sz="2000" dirty="0">
                <a:latin typeface="微软雅黑" pitchFamily="34" charset="-122"/>
                <a:ea typeface="微软雅黑" pitchFamily="34" charset="-122"/>
              </a:rPr>
              <a:t>   	if (</a:t>
            </a:r>
            <a:r>
              <a:rPr lang="en-US" altLang="zh-CN" sz="2000" dirty="0" err="1">
                <a:latin typeface="微软雅黑" pitchFamily="34" charset="-122"/>
                <a:ea typeface="微软雅黑" pitchFamily="34" charset="-122"/>
              </a:rPr>
              <a:t>myarray</a:t>
            </a:r>
            <a:r>
              <a:rPr lang="en-US" altLang="zh-CN" sz="2000" dirty="0">
                <a:latin typeface="微软雅黑" pitchFamily="34" charset="-122"/>
                <a:ea typeface="微软雅黑" pitchFamily="34" charset="-122"/>
              </a:rPr>
              <a:t> == NULL) </a:t>
            </a:r>
          </a:p>
          <a:p>
            <a:pPr marL="457200" indent="-457200">
              <a:spcBef>
                <a:spcPct val="5000"/>
              </a:spcBef>
              <a:buNone/>
            </a:pPr>
            <a:r>
              <a:rPr lang="en-US" altLang="zh-CN" sz="2000" dirty="0">
                <a:latin typeface="微软雅黑" pitchFamily="34" charset="-122"/>
                <a:ea typeface="微软雅黑" pitchFamily="34" charset="-122"/>
              </a:rPr>
              <a:t>       	return -1;</a:t>
            </a:r>
          </a:p>
          <a:p>
            <a:pPr marL="457200" indent="-457200">
              <a:spcBef>
                <a:spcPct val="5000"/>
              </a:spcBef>
              <a:buNone/>
            </a:pPr>
            <a:r>
              <a:rPr lang="en-US" altLang="zh-CN" sz="2000" dirty="0">
                <a:latin typeface="微软雅黑" pitchFamily="34" charset="-122"/>
                <a:ea typeface="微软雅黑" pitchFamily="34" charset="-122"/>
              </a:rPr>
              <a:t>  	for (</a:t>
            </a:r>
            <a:r>
              <a:rPr lang="en-US" altLang="zh-CN" sz="2000" dirty="0" err="1">
                <a:latin typeface="微软雅黑" pitchFamily="34" charset="-122"/>
                <a:ea typeface="微软雅黑" pitchFamily="34" charset="-122"/>
              </a:rPr>
              <a:t>i</a:t>
            </a:r>
            <a:r>
              <a:rPr lang="en-US" altLang="zh-CN" sz="2000" dirty="0">
                <a:latin typeface="微软雅黑" pitchFamily="34" charset="-122"/>
                <a:ea typeface="微软雅黑" pitchFamily="34" charset="-122"/>
              </a:rPr>
              <a:t> = 0; </a:t>
            </a:r>
            <a:r>
              <a:rPr lang="en-US" altLang="zh-CN" sz="2000" dirty="0" err="1">
                <a:latin typeface="微软雅黑" pitchFamily="34" charset="-122"/>
                <a:ea typeface="微软雅黑" pitchFamily="34" charset="-122"/>
              </a:rPr>
              <a:t>i</a:t>
            </a:r>
            <a:r>
              <a:rPr lang="en-US" altLang="zh-CN" sz="2000" dirty="0">
                <a:latin typeface="微软雅黑" pitchFamily="34" charset="-122"/>
                <a:ea typeface="微软雅黑" pitchFamily="34" charset="-122"/>
              </a:rPr>
              <a:t> &lt; count; </a:t>
            </a:r>
            <a:r>
              <a:rPr lang="en-US" altLang="zh-CN" sz="2000" dirty="0" err="1">
                <a:latin typeface="微软雅黑" pitchFamily="34" charset="-122"/>
                <a:ea typeface="微软雅黑" pitchFamily="34" charset="-122"/>
              </a:rPr>
              <a:t>i</a:t>
            </a:r>
            <a:r>
              <a:rPr lang="en-US" altLang="zh-CN" sz="2000" dirty="0">
                <a:latin typeface="微软雅黑" pitchFamily="34" charset="-122"/>
                <a:ea typeface="微软雅黑" pitchFamily="34" charset="-122"/>
              </a:rPr>
              <a:t>++) </a:t>
            </a:r>
          </a:p>
          <a:p>
            <a:pPr marL="457200" indent="-457200">
              <a:spcBef>
                <a:spcPct val="5000"/>
              </a:spcBef>
              <a:buNone/>
            </a:pPr>
            <a:r>
              <a:rPr lang="en-US" altLang="zh-CN" sz="2000" dirty="0">
                <a:latin typeface="微软雅黑" pitchFamily="34" charset="-122"/>
                <a:ea typeface="微软雅黑" pitchFamily="34" charset="-122"/>
              </a:rPr>
              <a:t>       	</a:t>
            </a:r>
            <a:r>
              <a:rPr lang="en-US" altLang="zh-CN" sz="2000" dirty="0" err="1">
                <a:latin typeface="微软雅黑" pitchFamily="34" charset="-122"/>
                <a:ea typeface="微软雅黑" pitchFamily="34" charset="-122"/>
              </a:rPr>
              <a:t>myarray</a:t>
            </a:r>
            <a:r>
              <a:rPr lang="en-US" altLang="zh-CN" sz="2000" dirty="0">
                <a:latin typeface="微软雅黑" pitchFamily="34" charset="-122"/>
                <a:ea typeface="微软雅黑" pitchFamily="34" charset="-122"/>
              </a:rPr>
              <a:t>[</a:t>
            </a:r>
            <a:r>
              <a:rPr lang="en-US" altLang="zh-CN" sz="2000" dirty="0" err="1">
                <a:latin typeface="微软雅黑" pitchFamily="34" charset="-122"/>
                <a:ea typeface="微软雅黑" pitchFamily="34" charset="-122"/>
              </a:rPr>
              <a:t>i</a:t>
            </a:r>
            <a:r>
              <a:rPr lang="en-US" altLang="zh-CN" sz="2000" dirty="0">
                <a:latin typeface="微软雅黑" pitchFamily="34" charset="-122"/>
                <a:ea typeface="微软雅黑" pitchFamily="34" charset="-122"/>
              </a:rPr>
              <a:t>] = array[</a:t>
            </a:r>
            <a:r>
              <a:rPr lang="en-US" altLang="zh-CN" sz="2000" dirty="0" err="1">
                <a:latin typeface="微软雅黑" pitchFamily="34" charset="-122"/>
                <a:ea typeface="微软雅黑" pitchFamily="34" charset="-122"/>
              </a:rPr>
              <a:t>i</a:t>
            </a:r>
            <a:r>
              <a:rPr lang="en-US" altLang="zh-CN" sz="2000" dirty="0">
                <a:latin typeface="微软雅黑" pitchFamily="34" charset="-122"/>
                <a:ea typeface="微软雅黑" pitchFamily="34" charset="-122"/>
              </a:rPr>
              <a:t>]; </a:t>
            </a:r>
          </a:p>
          <a:p>
            <a:pPr marL="457200" indent="-457200">
              <a:spcBef>
                <a:spcPct val="5000"/>
              </a:spcBef>
              <a:buNone/>
            </a:pPr>
            <a:r>
              <a:rPr lang="en-US" altLang="zh-CN" sz="2000" dirty="0">
                <a:latin typeface="微软雅黑" pitchFamily="34" charset="-122"/>
                <a:ea typeface="微软雅黑" pitchFamily="34" charset="-122"/>
              </a:rPr>
              <a:t>   	return count; </a:t>
            </a:r>
          </a:p>
          <a:p>
            <a:pPr marL="457200" indent="-457200">
              <a:spcBef>
                <a:spcPct val="5000"/>
              </a:spcBef>
              <a:buNone/>
            </a:pPr>
            <a:r>
              <a:rPr lang="en-US" altLang="zh-CN" sz="2000" dirty="0">
                <a:latin typeface="微软雅黑" pitchFamily="34" charset="-122"/>
                <a:ea typeface="微软雅黑" pitchFamily="34" charset="-122"/>
              </a:rPr>
              <a:t>} </a:t>
            </a:r>
            <a:endParaRPr lang="zh-CN" altLang="en-US" sz="2000" dirty="0">
              <a:latin typeface="微软雅黑" pitchFamily="34" charset="-122"/>
              <a:ea typeface="微软雅黑" pitchFamily="34" charset="-122"/>
            </a:endParaRPr>
          </a:p>
        </p:txBody>
      </p:sp>
      <p:sp>
        <p:nvSpPr>
          <p:cNvPr id="438276" name="Rectangle 4"/>
          <p:cNvSpPr>
            <a:spLocks noChangeArrowheads="1"/>
          </p:cNvSpPr>
          <p:nvPr/>
        </p:nvSpPr>
        <p:spPr bwMode="auto">
          <a:xfrm>
            <a:off x="1909764" y="5086976"/>
            <a:ext cx="3735387" cy="1446550"/>
          </a:xfrm>
          <a:prstGeom prst="rect">
            <a:avLst/>
          </a:prstGeom>
          <a:noFill/>
          <a:ln w="9525">
            <a:noFill/>
            <a:miter lim="800000"/>
            <a:headEnd/>
            <a:tailEnd/>
          </a:ln>
          <a:effectLst/>
        </p:spPr>
        <p:txBody>
          <a:bodyPr anchor="ctr">
            <a:spAutoFit/>
          </a:bodyPr>
          <a:lstStyle/>
          <a:p>
            <a:pPr eaLnBrk="0" hangingPunct="0"/>
            <a:r>
              <a:rPr lang="zh-CN" altLang="en-US" sz="2200" b="1">
                <a:solidFill>
                  <a:srgbClr val="0000FF"/>
                </a:solidFill>
                <a:latin typeface="微软雅黑" pitchFamily="34" charset="-122"/>
                <a:ea typeface="微软雅黑" pitchFamily="34" charset="-122"/>
              </a:rPr>
              <a:t>当参数</a:t>
            </a:r>
            <a:r>
              <a:rPr lang="en-US" altLang="zh-CN" sz="2200" b="1">
                <a:solidFill>
                  <a:srgbClr val="0000FF"/>
                </a:solidFill>
                <a:latin typeface="微软雅黑" pitchFamily="34" charset="-122"/>
                <a:ea typeface="微软雅黑" pitchFamily="34" charset="-122"/>
              </a:rPr>
              <a:t>count</a:t>
            </a:r>
            <a:r>
              <a:rPr lang="zh-CN" altLang="en-US" sz="2200" b="1">
                <a:solidFill>
                  <a:srgbClr val="0000FF"/>
                </a:solidFill>
                <a:latin typeface="微软雅黑" pitchFamily="34" charset="-122"/>
                <a:ea typeface="微软雅黑" pitchFamily="34" charset="-122"/>
              </a:rPr>
              <a:t>很大时，则</a:t>
            </a:r>
            <a:r>
              <a:rPr lang="en-US" altLang="zh-CN" sz="2200" b="1">
                <a:solidFill>
                  <a:srgbClr val="0000FF"/>
                </a:solidFill>
                <a:latin typeface="微软雅黑" pitchFamily="34" charset="-122"/>
                <a:ea typeface="微软雅黑" pitchFamily="34" charset="-122"/>
              </a:rPr>
              <a:t>count*sizeof(int)</a:t>
            </a:r>
            <a:r>
              <a:rPr lang="zh-CN" altLang="en-US" sz="2200" b="1">
                <a:solidFill>
                  <a:srgbClr val="0000FF"/>
                </a:solidFill>
                <a:latin typeface="微软雅黑" pitchFamily="34" charset="-122"/>
                <a:ea typeface="微软雅黑" pitchFamily="34" charset="-122"/>
              </a:rPr>
              <a:t>会溢出。如</a:t>
            </a:r>
            <a:r>
              <a:rPr lang="en-US" altLang="zh-CN" sz="2200" b="1">
                <a:solidFill>
                  <a:srgbClr val="0000FF"/>
                </a:solidFill>
                <a:latin typeface="微软雅黑" pitchFamily="34" charset="-122"/>
                <a:ea typeface="微软雅黑" pitchFamily="34" charset="-122"/>
              </a:rPr>
              <a:t>count=2</a:t>
            </a:r>
            <a:r>
              <a:rPr lang="en-US" altLang="zh-CN" sz="2200" b="1" baseline="30000">
                <a:solidFill>
                  <a:srgbClr val="0000FF"/>
                </a:solidFill>
                <a:latin typeface="微软雅黑" pitchFamily="34" charset="-122"/>
                <a:ea typeface="微软雅黑" pitchFamily="34" charset="-122"/>
              </a:rPr>
              <a:t>30</a:t>
            </a:r>
            <a:r>
              <a:rPr lang="en-US" altLang="zh-CN" sz="2200" b="1">
                <a:solidFill>
                  <a:srgbClr val="0000FF"/>
                </a:solidFill>
                <a:latin typeface="微软雅黑" pitchFamily="34" charset="-122"/>
                <a:ea typeface="微软雅黑" pitchFamily="34" charset="-122"/>
              </a:rPr>
              <a:t>+1</a:t>
            </a:r>
            <a:r>
              <a:rPr lang="zh-CN" altLang="en-US" sz="2200" b="1">
                <a:solidFill>
                  <a:srgbClr val="0000FF"/>
                </a:solidFill>
                <a:latin typeface="微软雅黑" pitchFamily="34" charset="-122"/>
                <a:ea typeface="微软雅黑" pitchFamily="34" charset="-122"/>
              </a:rPr>
              <a:t>时， </a:t>
            </a:r>
            <a:r>
              <a:rPr lang="en-US" altLang="zh-CN" sz="2200" b="1">
                <a:solidFill>
                  <a:srgbClr val="0000FF"/>
                </a:solidFill>
                <a:latin typeface="微软雅黑" pitchFamily="34" charset="-122"/>
                <a:ea typeface="微软雅黑" pitchFamily="34" charset="-122"/>
              </a:rPr>
              <a:t>count*sizeof(int)=4</a:t>
            </a:r>
            <a:r>
              <a:rPr lang="zh-CN" altLang="en-US" sz="2200" b="1">
                <a:solidFill>
                  <a:srgbClr val="0000FF"/>
                </a:solidFill>
                <a:latin typeface="微软雅黑" pitchFamily="34" charset="-122"/>
                <a:ea typeface="微软雅黑" pitchFamily="34" charset="-122"/>
              </a:rPr>
              <a:t>。</a:t>
            </a:r>
          </a:p>
        </p:txBody>
      </p:sp>
      <p:sp>
        <p:nvSpPr>
          <p:cNvPr id="438278" name="AutoShape 6"/>
          <p:cNvSpPr>
            <a:spLocks noChangeArrowheads="1"/>
          </p:cNvSpPr>
          <p:nvPr/>
        </p:nvSpPr>
        <p:spPr bwMode="auto">
          <a:xfrm>
            <a:off x="5556250" y="5408613"/>
            <a:ext cx="628650" cy="539750"/>
          </a:xfrm>
          <a:prstGeom prst="rightArrow">
            <a:avLst>
              <a:gd name="adj1" fmla="val 50000"/>
              <a:gd name="adj2" fmla="val 29118"/>
            </a:avLst>
          </a:prstGeom>
          <a:solidFill>
            <a:schemeClr val="accent1"/>
          </a:solidFill>
          <a:ln w="9525">
            <a:solidFill>
              <a:schemeClr val="tx1"/>
            </a:solidFill>
            <a:miter lim="800000"/>
            <a:headEnd/>
            <a:tailEnd/>
          </a:ln>
          <a:effectLst/>
        </p:spPr>
        <p:txBody>
          <a:bodyPr wrap="none" anchor="ctr"/>
          <a:lstStyle/>
          <a:p>
            <a:endParaRPr lang="zh-CN" altLang="en-US"/>
          </a:p>
        </p:txBody>
      </p:sp>
      <p:sp>
        <p:nvSpPr>
          <p:cNvPr id="438279" name="Rectangle 7"/>
          <p:cNvSpPr>
            <a:spLocks noChangeArrowheads="1"/>
          </p:cNvSpPr>
          <p:nvPr/>
        </p:nvSpPr>
        <p:spPr bwMode="auto">
          <a:xfrm>
            <a:off x="6365875" y="5395913"/>
            <a:ext cx="2655888" cy="762000"/>
          </a:xfrm>
          <a:prstGeom prst="rect">
            <a:avLst/>
          </a:prstGeom>
          <a:noFill/>
          <a:ln w="9525">
            <a:noFill/>
            <a:miter lim="800000"/>
            <a:headEnd/>
            <a:tailEnd/>
          </a:ln>
          <a:effectLst/>
        </p:spPr>
        <p:txBody>
          <a:bodyPr anchor="ctr">
            <a:spAutoFit/>
          </a:bodyPr>
          <a:lstStyle/>
          <a:p>
            <a:pPr eaLnBrk="0" hangingPunct="0"/>
            <a:r>
              <a:rPr lang="zh-CN" altLang="en-US" sz="2200" b="1">
                <a:solidFill>
                  <a:srgbClr val="0000FF"/>
                </a:solidFill>
                <a:latin typeface="微软雅黑" pitchFamily="34" charset="-122"/>
                <a:ea typeface="微软雅黑" pitchFamily="34" charset="-122"/>
              </a:rPr>
              <a:t>堆（</a:t>
            </a:r>
            <a:r>
              <a:rPr lang="en-US" altLang="zh-CN" sz="2200" b="1">
                <a:solidFill>
                  <a:srgbClr val="0000FF"/>
                </a:solidFill>
                <a:latin typeface="微软雅黑" pitchFamily="34" charset="-122"/>
                <a:ea typeface="微软雅黑" pitchFamily="34" charset="-122"/>
              </a:rPr>
              <a:t>heap</a:t>
            </a:r>
            <a:r>
              <a:rPr lang="zh-CN" altLang="en-US" sz="2200" b="1">
                <a:solidFill>
                  <a:srgbClr val="0000FF"/>
                </a:solidFill>
                <a:latin typeface="微软雅黑" pitchFamily="34" charset="-122"/>
                <a:ea typeface="微软雅黑" pitchFamily="34" charset="-122"/>
              </a:rPr>
              <a:t>）中大量数据被破坏！</a:t>
            </a:r>
            <a:endParaRPr lang="en-US" altLang="zh-CN" sz="2200" b="1">
              <a:solidFill>
                <a:srgbClr val="0000FF"/>
              </a:solidFill>
              <a:latin typeface="微软雅黑" pitchFamily="34" charset="-122"/>
              <a:ea typeface="微软雅黑" pitchFamily="34" charset="-122"/>
            </a:endParaRPr>
          </a:p>
        </p:txBody>
      </p:sp>
      <p:sp>
        <p:nvSpPr>
          <p:cNvPr id="438280" name="Text Box 8"/>
          <p:cNvSpPr txBox="1">
            <a:spLocks noChangeArrowheads="1"/>
          </p:cNvSpPr>
          <p:nvPr/>
        </p:nvSpPr>
        <p:spPr bwMode="auto">
          <a:xfrm>
            <a:off x="7040564" y="2889251"/>
            <a:ext cx="3330575" cy="2219325"/>
          </a:xfrm>
          <a:prstGeom prst="rect">
            <a:avLst/>
          </a:prstGeom>
          <a:noFill/>
          <a:ln w="9525">
            <a:solidFill>
              <a:schemeClr val="tx1"/>
            </a:solidFill>
            <a:miter lim="800000"/>
            <a:headEnd/>
            <a:tailEnd/>
          </a:ln>
          <a:effectLst/>
        </p:spPr>
        <p:txBody>
          <a:bodyPr>
            <a:spAutoFit/>
          </a:bodyPr>
          <a:lstStyle/>
          <a:p>
            <a:pPr>
              <a:spcBef>
                <a:spcPct val="20000"/>
              </a:spcBef>
            </a:pPr>
            <a:r>
              <a:rPr lang="zh-CN" altLang="en-US" sz="2400" b="1">
                <a:ea typeface="黑体" pitchFamily="49" charset="-122"/>
              </a:rPr>
              <a:t>理解该问题需要知道：</a:t>
            </a:r>
          </a:p>
          <a:p>
            <a:pPr>
              <a:spcBef>
                <a:spcPct val="20000"/>
              </a:spcBef>
            </a:pPr>
            <a:r>
              <a:rPr lang="zh-CN" altLang="en-US" sz="2400" b="1">
                <a:solidFill>
                  <a:srgbClr val="FF0000"/>
                </a:solidFill>
                <a:ea typeface="黑体" pitchFamily="49" charset="-122"/>
              </a:rPr>
              <a:t>乘法运算及溢出</a:t>
            </a:r>
          </a:p>
          <a:p>
            <a:pPr>
              <a:spcBef>
                <a:spcPct val="20000"/>
              </a:spcBef>
            </a:pPr>
            <a:r>
              <a:rPr lang="zh-CN" altLang="en-US" sz="2400" b="1">
                <a:solidFill>
                  <a:srgbClr val="FF0000"/>
                </a:solidFill>
                <a:ea typeface="黑体" pitchFamily="49" charset="-122"/>
              </a:rPr>
              <a:t>虚拟地址空间</a:t>
            </a:r>
          </a:p>
          <a:p>
            <a:pPr>
              <a:spcBef>
                <a:spcPct val="20000"/>
              </a:spcBef>
            </a:pPr>
            <a:r>
              <a:rPr lang="zh-CN" altLang="en-US" sz="2400" b="1">
                <a:solidFill>
                  <a:srgbClr val="FF0000"/>
                </a:solidFill>
                <a:ea typeface="黑体" pitchFamily="49" charset="-122"/>
              </a:rPr>
              <a:t>存储空间映射</a:t>
            </a:r>
          </a:p>
          <a:p>
            <a:pPr>
              <a:spcBef>
                <a:spcPct val="20000"/>
              </a:spcBef>
            </a:pPr>
            <a:r>
              <a:rPr lang="en-US" altLang="zh-CN" sz="2400" b="1">
                <a:solidFill>
                  <a:srgbClr val="3366FF"/>
                </a:solidFill>
                <a:latin typeface="黑体"/>
                <a:ea typeface="黑体" pitchFamily="49" charset="-122"/>
              </a:rPr>
              <a:t>……</a:t>
            </a:r>
            <a:endParaRPr lang="en-US" altLang="zh-CN" sz="2400" b="1">
              <a:solidFill>
                <a:srgbClr val="3366FF"/>
              </a:solidFill>
              <a:ea typeface="黑体" pitchFamily="49" charset="-122"/>
            </a:endParaRPr>
          </a:p>
        </p:txBody>
      </p:sp>
      <p:sp>
        <p:nvSpPr>
          <p:cNvPr id="3" name="灯片编号占位符 2"/>
          <p:cNvSpPr>
            <a:spLocks noGrp="1"/>
          </p:cNvSpPr>
          <p:nvPr>
            <p:ph type="sldNum" sz="quarter" idx="12"/>
          </p:nvPr>
        </p:nvSpPr>
        <p:spPr/>
        <p:txBody>
          <a:bodyPr/>
          <a:lstStyle/>
          <a:p>
            <a:pPr>
              <a:defRPr/>
            </a:pPr>
            <a:fld id="{C04D5D84-F493-480C-9B02-1533CB18E289}" type="slidenum">
              <a:rPr lang="en-US" altLang="zh-CN" smtClean="0"/>
              <a:pPr>
                <a:defRPr/>
              </a:pPr>
              <a:t>21</a:t>
            </a:fld>
            <a:endParaRPr lang="en-US" altLang="zh-CN"/>
          </a:p>
        </p:txBody>
      </p:sp>
    </p:spTree>
    <p:extLst>
      <p:ext uri="{BB962C8B-B14F-4D97-AF65-F5344CB8AC3E}">
        <p14:creationId xmlns:p14="http://schemas.microsoft.com/office/powerpoint/2010/main" val="329679853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438276"/>
                                        </p:tgtEl>
                                        <p:attrNameLst>
                                          <p:attrName>style.visibility</p:attrName>
                                        </p:attrNameLst>
                                      </p:cBhvr>
                                      <p:to>
                                        <p:strVal val="visible"/>
                                      </p:to>
                                    </p:set>
                                    <p:animEffect transition="in" filter="blinds(horizontal)">
                                      <p:cBhvr>
                                        <p:cTn id="7" dur="500"/>
                                        <p:tgtEl>
                                          <p:spTgt spid="438276"/>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438278"/>
                                        </p:tgtEl>
                                        <p:attrNameLst>
                                          <p:attrName>style.visibility</p:attrName>
                                        </p:attrNameLst>
                                      </p:cBhvr>
                                      <p:to>
                                        <p:strVal val="visible"/>
                                      </p:to>
                                    </p:set>
                                    <p:animEffect transition="in" filter="blinds(horizontal)">
                                      <p:cBhvr>
                                        <p:cTn id="12" dur="500"/>
                                        <p:tgtEl>
                                          <p:spTgt spid="438278"/>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nodeType="clickEffect">
                                  <p:stCondLst>
                                    <p:cond delay="0"/>
                                  </p:stCondLst>
                                  <p:childTnLst>
                                    <p:set>
                                      <p:cBhvr>
                                        <p:cTn id="16" dur="1" fill="hold">
                                          <p:stCondLst>
                                            <p:cond delay="0"/>
                                          </p:stCondLst>
                                        </p:cTn>
                                        <p:tgtEl>
                                          <p:spTgt spid="438279">
                                            <p:txEl>
                                              <p:pRg st="0" end="0"/>
                                            </p:txEl>
                                          </p:spTgt>
                                        </p:tgtEl>
                                        <p:attrNameLst>
                                          <p:attrName>style.visibility</p:attrName>
                                        </p:attrNameLst>
                                      </p:cBhvr>
                                      <p:to>
                                        <p:strVal val="visible"/>
                                      </p:to>
                                    </p:set>
                                    <p:animEffect transition="in" filter="blinds(horizontal)">
                                      <p:cBhvr>
                                        <p:cTn id="17" dur="500"/>
                                        <p:tgtEl>
                                          <p:spTgt spid="438279">
                                            <p:txEl>
                                              <p:pRg st="0" end="0"/>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438280"/>
                                        </p:tgtEl>
                                        <p:attrNameLst>
                                          <p:attrName>style.visibility</p:attrName>
                                        </p:attrNameLst>
                                      </p:cBhvr>
                                      <p:to>
                                        <p:strVal val="visible"/>
                                      </p:to>
                                    </p:set>
                                    <p:animEffect transition="in" filter="blinds(horizontal)">
                                      <p:cBhvr>
                                        <p:cTn id="22" dur="500"/>
                                        <p:tgtEl>
                                          <p:spTgt spid="43828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38276" grpId="0"/>
      <p:bldP spid="438278" grpId="0" animBg="1"/>
      <p:bldP spid="438280" grpId="0" animBg="1"/>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1170" name="Rectangle 2"/>
          <p:cNvSpPr>
            <a:spLocks noGrp="1" noChangeArrowheads="1"/>
          </p:cNvSpPr>
          <p:nvPr>
            <p:ph type="title"/>
          </p:nvPr>
        </p:nvSpPr>
        <p:spPr>
          <a:xfrm>
            <a:off x="6858000" y="98426"/>
            <a:ext cx="3378200" cy="561975"/>
          </a:xfrm>
        </p:spPr>
        <p:txBody>
          <a:bodyPr/>
          <a:lstStyle/>
          <a:p>
            <a:r>
              <a:rPr lang="zh-CN" altLang="en-US" dirty="0"/>
              <a:t>课程的意义</a:t>
            </a:r>
            <a:endParaRPr lang="zh-CN" altLang="en-US" sz="3600" dirty="0"/>
          </a:p>
        </p:txBody>
      </p:sp>
      <p:sp>
        <p:nvSpPr>
          <p:cNvPr id="391171" name="Rectangle 3"/>
          <p:cNvSpPr>
            <a:spLocks noGrp="1" noChangeArrowheads="1"/>
          </p:cNvSpPr>
          <p:nvPr>
            <p:ph type="body" idx="1"/>
          </p:nvPr>
        </p:nvSpPr>
        <p:spPr>
          <a:xfrm>
            <a:off x="1865313" y="773113"/>
            <a:ext cx="8229600" cy="990600"/>
          </a:xfrm>
        </p:spPr>
        <p:txBody>
          <a:bodyPr/>
          <a:lstStyle/>
          <a:p>
            <a:r>
              <a:rPr lang="zh-CN" altLang="en-US"/>
              <a:t>以下两个程序功能完全一样，算法完全一样，因此，时间和空间复杂度完全一样，但是性能相差</a:t>
            </a:r>
            <a:r>
              <a:rPr lang="en-US" altLang="zh-CN"/>
              <a:t>21</a:t>
            </a:r>
            <a:r>
              <a:rPr lang="zh-CN" altLang="en-US"/>
              <a:t>倍。</a:t>
            </a:r>
            <a:r>
              <a:rPr lang="en-US" altLang="zh-CN">
                <a:solidFill>
                  <a:srgbClr val="FF0000"/>
                </a:solidFill>
              </a:rPr>
              <a:t>Why</a:t>
            </a:r>
            <a:r>
              <a:rPr lang="zh-CN" altLang="en-US">
                <a:solidFill>
                  <a:srgbClr val="FF0000"/>
                </a:solidFill>
              </a:rPr>
              <a:t>？</a:t>
            </a:r>
          </a:p>
        </p:txBody>
      </p:sp>
      <p:sp>
        <p:nvSpPr>
          <p:cNvPr id="21509" name="Rectangle 5"/>
          <p:cNvSpPr>
            <a:spLocks/>
          </p:cNvSpPr>
          <p:nvPr/>
        </p:nvSpPr>
        <p:spPr bwMode="auto">
          <a:xfrm>
            <a:off x="6256338" y="1628800"/>
            <a:ext cx="4114800" cy="2273300"/>
          </a:xfrm>
          <a:prstGeom prst="rect">
            <a:avLst/>
          </a:prstGeom>
          <a:solidFill>
            <a:srgbClr val="D3F2D3"/>
          </a:solidFill>
          <a:ln w="6350">
            <a:solidFill>
              <a:schemeClr val="tx1"/>
            </a:solidFill>
            <a:miter lim="800000"/>
            <a:headEnd/>
            <a:tailEnd/>
          </a:ln>
        </p:spPr>
        <p:txBody>
          <a:bodyPr lIns="63500" tIns="63500" rIns="63500" bIns="63500"/>
          <a:lstStyle/>
          <a:p>
            <a:pPr>
              <a:tabLst>
                <a:tab pos="914400" algn="l"/>
                <a:tab pos="2286000" algn="l"/>
              </a:tabLst>
            </a:pPr>
            <a:r>
              <a:rPr lang="en-US" altLang="zh-CN" b="1" dirty="0">
                <a:latin typeface="微软雅黑" pitchFamily="34" charset="-122"/>
                <a:ea typeface="微软雅黑" pitchFamily="34" charset="-122"/>
                <a:cs typeface="Monaco"/>
                <a:sym typeface="Monaco"/>
              </a:rPr>
              <a:t>void </a:t>
            </a:r>
            <a:r>
              <a:rPr lang="en-US" altLang="zh-CN" b="1" dirty="0" err="1">
                <a:latin typeface="微软雅黑" pitchFamily="34" charset="-122"/>
                <a:ea typeface="微软雅黑" pitchFamily="34" charset="-122"/>
                <a:cs typeface="Monaco"/>
                <a:sym typeface="Monaco"/>
              </a:rPr>
              <a:t>copyji</a:t>
            </a:r>
            <a:r>
              <a:rPr lang="en-US" altLang="zh-CN" b="1" dirty="0">
                <a:latin typeface="微软雅黑" pitchFamily="34" charset="-122"/>
                <a:ea typeface="微软雅黑" pitchFamily="34" charset="-122"/>
                <a:cs typeface="Monaco"/>
                <a:sym typeface="Monaco"/>
              </a:rPr>
              <a:t> (</a:t>
            </a:r>
            <a:r>
              <a:rPr lang="en-US" altLang="zh-CN" b="1" dirty="0" err="1">
                <a:latin typeface="微软雅黑" pitchFamily="34" charset="-122"/>
                <a:ea typeface="微软雅黑" pitchFamily="34" charset="-122"/>
                <a:cs typeface="Monaco"/>
                <a:sym typeface="Monaco"/>
              </a:rPr>
              <a:t>int</a:t>
            </a:r>
            <a:r>
              <a:rPr lang="en-US" altLang="zh-CN" b="1" dirty="0">
                <a:latin typeface="微软雅黑" pitchFamily="34" charset="-122"/>
                <a:ea typeface="微软雅黑" pitchFamily="34" charset="-122"/>
                <a:cs typeface="Monaco"/>
                <a:sym typeface="Monaco"/>
              </a:rPr>
              <a:t> </a:t>
            </a:r>
            <a:r>
              <a:rPr lang="en-US" altLang="zh-CN" b="1" dirty="0" err="1">
                <a:latin typeface="微软雅黑" pitchFamily="34" charset="-122"/>
                <a:ea typeface="微软雅黑" pitchFamily="34" charset="-122"/>
                <a:cs typeface="Monaco"/>
                <a:sym typeface="Monaco"/>
              </a:rPr>
              <a:t>src</a:t>
            </a:r>
            <a:r>
              <a:rPr lang="en-US" altLang="zh-CN" b="1" dirty="0">
                <a:latin typeface="微软雅黑" pitchFamily="34" charset="-122"/>
                <a:ea typeface="微软雅黑" pitchFamily="34" charset="-122"/>
                <a:cs typeface="Monaco"/>
                <a:sym typeface="Monaco"/>
              </a:rPr>
              <a:t>[2048][2048],</a:t>
            </a:r>
          </a:p>
          <a:p>
            <a:pPr>
              <a:tabLst>
                <a:tab pos="914400" algn="l"/>
                <a:tab pos="2286000" algn="l"/>
              </a:tabLst>
            </a:pPr>
            <a:r>
              <a:rPr lang="en-US" altLang="zh-CN" b="1" dirty="0">
                <a:latin typeface="微软雅黑" pitchFamily="34" charset="-122"/>
                <a:ea typeface="微软雅黑" pitchFamily="34" charset="-122"/>
                <a:cs typeface="Monaco"/>
                <a:sym typeface="Monaco"/>
              </a:rPr>
              <a:t>            </a:t>
            </a:r>
            <a:r>
              <a:rPr lang="en-US" altLang="zh-CN" b="1" dirty="0" err="1">
                <a:latin typeface="微软雅黑" pitchFamily="34" charset="-122"/>
                <a:ea typeface="微软雅黑" pitchFamily="34" charset="-122"/>
                <a:cs typeface="Monaco"/>
                <a:sym typeface="Monaco"/>
              </a:rPr>
              <a:t>int</a:t>
            </a:r>
            <a:r>
              <a:rPr lang="en-US" altLang="zh-CN" b="1" dirty="0">
                <a:latin typeface="微软雅黑" pitchFamily="34" charset="-122"/>
                <a:ea typeface="微软雅黑" pitchFamily="34" charset="-122"/>
                <a:cs typeface="Monaco"/>
                <a:sym typeface="Monaco"/>
              </a:rPr>
              <a:t> </a:t>
            </a:r>
            <a:r>
              <a:rPr lang="en-US" altLang="zh-CN" b="1" dirty="0" err="1">
                <a:latin typeface="微软雅黑" pitchFamily="34" charset="-122"/>
                <a:ea typeface="微软雅黑" pitchFamily="34" charset="-122"/>
                <a:cs typeface="Monaco"/>
                <a:sym typeface="Monaco"/>
              </a:rPr>
              <a:t>dst</a:t>
            </a:r>
            <a:r>
              <a:rPr lang="en-US" altLang="zh-CN" b="1" dirty="0">
                <a:latin typeface="微软雅黑" pitchFamily="34" charset="-122"/>
                <a:ea typeface="微软雅黑" pitchFamily="34" charset="-122"/>
                <a:cs typeface="Monaco"/>
                <a:sym typeface="Monaco"/>
              </a:rPr>
              <a:t>[2048][2048])</a:t>
            </a:r>
          </a:p>
          <a:p>
            <a:pPr>
              <a:tabLst>
                <a:tab pos="914400" algn="l"/>
                <a:tab pos="2286000" algn="l"/>
              </a:tabLst>
            </a:pPr>
            <a:r>
              <a:rPr lang="en-US" altLang="zh-CN" b="1" dirty="0">
                <a:latin typeface="微软雅黑" pitchFamily="34" charset="-122"/>
                <a:ea typeface="微软雅黑" pitchFamily="34" charset="-122"/>
                <a:cs typeface="Monaco"/>
                <a:sym typeface="Monaco"/>
              </a:rPr>
              <a:t>{</a:t>
            </a:r>
          </a:p>
          <a:p>
            <a:pPr>
              <a:tabLst>
                <a:tab pos="914400" algn="l"/>
                <a:tab pos="2286000" algn="l"/>
              </a:tabLst>
            </a:pPr>
            <a:r>
              <a:rPr lang="en-US" altLang="zh-CN" b="1" dirty="0">
                <a:latin typeface="微软雅黑" pitchFamily="34" charset="-122"/>
                <a:ea typeface="微软雅黑" pitchFamily="34" charset="-122"/>
                <a:cs typeface="Monaco"/>
                <a:sym typeface="Monaco"/>
              </a:rPr>
              <a:t>  </a:t>
            </a:r>
            <a:r>
              <a:rPr lang="en-US" altLang="zh-CN" b="1" dirty="0" err="1">
                <a:latin typeface="微软雅黑" pitchFamily="34" charset="-122"/>
                <a:ea typeface="微软雅黑" pitchFamily="34" charset="-122"/>
                <a:cs typeface="Monaco"/>
                <a:sym typeface="Monaco"/>
              </a:rPr>
              <a:t>int</a:t>
            </a:r>
            <a:r>
              <a:rPr lang="en-US" altLang="zh-CN" b="1" dirty="0">
                <a:latin typeface="微软雅黑" pitchFamily="34" charset="-122"/>
                <a:ea typeface="微软雅黑" pitchFamily="34" charset="-122"/>
                <a:cs typeface="Monaco"/>
                <a:sym typeface="Monaco"/>
              </a:rPr>
              <a:t> </a:t>
            </a:r>
            <a:r>
              <a:rPr lang="en-US" altLang="zh-CN" b="1" dirty="0" err="1">
                <a:latin typeface="微软雅黑" pitchFamily="34" charset="-122"/>
                <a:ea typeface="微软雅黑" pitchFamily="34" charset="-122"/>
                <a:cs typeface="Monaco"/>
                <a:sym typeface="Monaco"/>
              </a:rPr>
              <a:t>i,j</a:t>
            </a:r>
            <a:r>
              <a:rPr lang="en-US" altLang="zh-CN" b="1" dirty="0">
                <a:latin typeface="微软雅黑" pitchFamily="34" charset="-122"/>
                <a:ea typeface="微软雅黑" pitchFamily="34" charset="-122"/>
                <a:cs typeface="Monaco"/>
                <a:sym typeface="Monaco"/>
              </a:rPr>
              <a:t>;</a:t>
            </a:r>
          </a:p>
          <a:p>
            <a:pPr>
              <a:tabLst>
                <a:tab pos="914400" algn="l"/>
                <a:tab pos="2286000" algn="l"/>
              </a:tabLst>
            </a:pPr>
            <a:r>
              <a:rPr lang="en-US" altLang="zh-CN" b="1" dirty="0">
                <a:latin typeface="微软雅黑" pitchFamily="34" charset="-122"/>
                <a:ea typeface="微软雅黑" pitchFamily="34" charset="-122"/>
                <a:cs typeface="Monaco"/>
                <a:sym typeface="Monaco"/>
              </a:rPr>
              <a:t>  </a:t>
            </a:r>
            <a:r>
              <a:rPr lang="en-US" altLang="zh-CN" b="1" dirty="0">
                <a:solidFill>
                  <a:srgbClr val="21218A"/>
                </a:solidFill>
                <a:latin typeface="微软雅黑" pitchFamily="34" charset="-122"/>
                <a:ea typeface="微软雅黑" pitchFamily="34" charset="-122"/>
                <a:cs typeface="Monaco"/>
                <a:sym typeface="Monaco"/>
              </a:rPr>
              <a:t>for (j = 0; j &lt; 2048; j++)</a:t>
            </a:r>
            <a:endParaRPr lang="en-US" altLang="zh-CN" b="1" dirty="0">
              <a:latin typeface="微软雅黑" pitchFamily="34" charset="-122"/>
              <a:ea typeface="微软雅黑" pitchFamily="34" charset="-122"/>
              <a:cs typeface="Monaco"/>
              <a:sym typeface="Monaco"/>
            </a:endParaRPr>
          </a:p>
          <a:p>
            <a:pPr>
              <a:tabLst>
                <a:tab pos="914400" algn="l"/>
                <a:tab pos="2286000" algn="l"/>
              </a:tabLst>
            </a:pPr>
            <a:r>
              <a:rPr lang="en-US" altLang="zh-CN" b="1" dirty="0">
                <a:latin typeface="微软雅黑" pitchFamily="34" charset="-122"/>
                <a:ea typeface="微软雅黑" pitchFamily="34" charset="-122"/>
                <a:cs typeface="Monaco"/>
                <a:sym typeface="Monaco"/>
              </a:rPr>
              <a:t>    </a:t>
            </a:r>
            <a:r>
              <a:rPr lang="en-US" altLang="zh-CN" b="1" dirty="0">
                <a:solidFill>
                  <a:srgbClr val="C00000"/>
                </a:solidFill>
                <a:latin typeface="微软雅黑" pitchFamily="34" charset="-122"/>
                <a:ea typeface="微软雅黑" pitchFamily="34" charset="-122"/>
                <a:cs typeface="Monaco"/>
                <a:sym typeface="Monaco"/>
              </a:rPr>
              <a:t>for (</a:t>
            </a:r>
            <a:r>
              <a:rPr lang="en-US" altLang="zh-CN" b="1" dirty="0" err="1">
                <a:solidFill>
                  <a:srgbClr val="C00000"/>
                </a:solidFill>
                <a:latin typeface="微软雅黑" pitchFamily="34" charset="-122"/>
                <a:ea typeface="微软雅黑" pitchFamily="34" charset="-122"/>
                <a:cs typeface="Monaco"/>
                <a:sym typeface="Monaco"/>
              </a:rPr>
              <a:t>i</a:t>
            </a:r>
            <a:r>
              <a:rPr lang="en-US" altLang="zh-CN" b="1" dirty="0">
                <a:solidFill>
                  <a:srgbClr val="C00000"/>
                </a:solidFill>
                <a:latin typeface="微软雅黑" pitchFamily="34" charset="-122"/>
                <a:ea typeface="微软雅黑" pitchFamily="34" charset="-122"/>
                <a:cs typeface="Monaco"/>
                <a:sym typeface="Monaco"/>
              </a:rPr>
              <a:t> = 0; </a:t>
            </a:r>
            <a:r>
              <a:rPr lang="en-US" altLang="zh-CN" b="1" dirty="0" err="1">
                <a:solidFill>
                  <a:srgbClr val="C00000"/>
                </a:solidFill>
                <a:latin typeface="微软雅黑" pitchFamily="34" charset="-122"/>
                <a:ea typeface="微软雅黑" pitchFamily="34" charset="-122"/>
                <a:cs typeface="Monaco"/>
                <a:sym typeface="Monaco"/>
              </a:rPr>
              <a:t>i</a:t>
            </a:r>
            <a:r>
              <a:rPr lang="en-US" altLang="zh-CN" b="1" dirty="0">
                <a:solidFill>
                  <a:srgbClr val="C00000"/>
                </a:solidFill>
                <a:latin typeface="微软雅黑" pitchFamily="34" charset="-122"/>
                <a:ea typeface="微软雅黑" pitchFamily="34" charset="-122"/>
                <a:cs typeface="Monaco"/>
                <a:sym typeface="Monaco"/>
              </a:rPr>
              <a:t> &lt; 2048; </a:t>
            </a:r>
            <a:r>
              <a:rPr lang="en-US" altLang="zh-CN" b="1" dirty="0" err="1">
                <a:solidFill>
                  <a:srgbClr val="C00000"/>
                </a:solidFill>
                <a:latin typeface="微软雅黑" pitchFamily="34" charset="-122"/>
                <a:ea typeface="微软雅黑" pitchFamily="34" charset="-122"/>
                <a:cs typeface="Monaco"/>
                <a:sym typeface="Monaco"/>
              </a:rPr>
              <a:t>i</a:t>
            </a:r>
            <a:r>
              <a:rPr lang="en-US" altLang="zh-CN" b="1" dirty="0">
                <a:solidFill>
                  <a:srgbClr val="C00000"/>
                </a:solidFill>
                <a:latin typeface="微软雅黑" pitchFamily="34" charset="-122"/>
                <a:ea typeface="微软雅黑" pitchFamily="34" charset="-122"/>
                <a:cs typeface="Monaco"/>
                <a:sym typeface="Monaco"/>
              </a:rPr>
              <a:t>++)</a:t>
            </a:r>
            <a:endParaRPr lang="en-US" altLang="zh-CN" b="1" dirty="0">
              <a:latin typeface="微软雅黑" pitchFamily="34" charset="-122"/>
              <a:ea typeface="微软雅黑" pitchFamily="34" charset="-122"/>
              <a:cs typeface="Monaco"/>
              <a:sym typeface="Monaco"/>
            </a:endParaRPr>
          </a:p>
          <a:p>
            <a:pPr>
              <a:tabLst>
                <a:tab pos="914400" algn="l"/>
                <a:tab pos="2286000" algn="l"/>
              </a:tabLst>
            </a:pPr>
            <a:r>
              <a:rPr lang="en-US" altLang="zh-CN" b="1" dirty="0">
                <a:latin typeface="微软雅黑" pitchFamily="34" charset="-122"/>
                <a:ea typeface="微软雅黑" pitchFamily="34" charset="-122"/>
                <a:cs typeface="Monaco"/>
                <a:sym typeface="Monaco"/>
              </a:rPr>
              <a:t>      </a:t>
            </a:r>
            <a:r>
              <a:rPr lang="en-US" altLang="zh-CN" b="1" dirty="0" err="1">
                <a:latin typeface="微软雅黑" pitchFamily="34" charset="-122"/>
                <a:ea typeface="微软雅黑" pitchFamily="34" charset="-122"/>
                <a:cs typeface="Monaco"/>
                <a:sym typeface="Monaco"/>
              </a:rPr>
              <a:t>dst</a:t>
            </a:r>
            <a:r>
              <a:rPr lang="en-US" altLang="zh-CN" b="1" dirty="0">
                <a:latin typeface="微软雅黑" pitchFamily="34" charset="-122"/>
                <a:ea typeface="微软雅黑" pitchFamily="34" charset="-122"/>
                <a:cs typeface="Monaco"/>
                <a:sym typeface="Monaco"/>
              </a:rPr>
              <a:t>[</a:t>
            </a:r>
            <a:r>
              <a:rPr lang="en-US" altLang="zh-CN" b="1" dirty="0" err="1">
                <a:latin typeface="微软雅黑" pitchFamily="34" charset="-122"/>
                <a:ea typeface="微软雅黑" pitchFamily="34" charset="-122"/>
                <a:cs typeface="Monaco"/>
                <a:sym typeface="Monaco"/>
              </a:rPr>
              <a:t>i</a:t>
            </a:r>
            <a:r>
              <a:rPr lang="en-US" altLang="zh-CN" b="1" dirty="0">
                <a:latin typeface="微软雅黑" pitchFamily="34" charset="-122"/>
                <a:ea typeface="微软雅黑" pitchFamily="34" charset="-122"/>
                <a:cs typeface="Monaco"/>
                <a:sym typeface="Monaco"/>
              </a:rPr>
              <a:t>][j] = </a:t>
            </a:r>
            <a:r>
              <a:rPr lang="en-US" altLang="zh-CN" b="1" dirty="0" err="1">
                <a:latin typeface="微软雅黑" pitchFamily="34" charset="-122"/>
                <a:ea typeface="微软雅黑" pitchFamily="34" charset="-122"/>
                <a:cs typeface="Monaco"/>
                <a:sym typeface="Monaco"/>
              </a:rPr>
              <a:t>src</a:t>
            </a:r>
            <a:r>
              <a:rPr lang="en-US" altLang="zh-CN" b="1" dirty="0">
                <a:latin typeface="微软雅黑" pitchFamily="34" charset="-122"/>
                <a:ea typeface="微软雅黑" pitchFamily="34" charset="-122"/>
                <a:cs typeface="Monaco"/>
                <a:sym typeface="Monaco"/>
              </a:rPr>
              <a:t>[</a:t>
            </a:r>
            <a:r>
              <a:rPr lang="en-US" altLang="zh-CN" b="1" dirty="0" err="1">
                <a:latin typeface="微软雅黑" pitchFamily="34" charset="-122"/>
                <a:ea typeface="微软雅黑" pitchFamily="34" charset="-122"/>
                <a:cs typeface="Monaco"/>
                <a:sym typeface="Monaco"/>
              </a:rPr>
              <a:t>i</a:t>
            </a:r>
            <a:r>
              <a:rPr lang="en-US" altLang="zh-CN" b="1" dirty="0">
                <a:latin typeface="微软雅黑" pitchFamily="34" charset="-122"/>
                <a:ea typeface="微软雅黑" pitchFamily="34" charset="-122"/>
                <a:cs typeface="Monaco"/>
                <a:sym typeface="Monaco"/>
              </a:rPr>
              <a:t>][j];</a:t>
            </a:r>
          </a:p>
          <a:p>
            <a:pPr>
              <a:tabLst>
                <a:tab pos="914400" algn="l"/>
                <a:tab pos="2286000" algn="l"/>
              </a:tabLst>
            </a:pPr>
            <a:r>
              <a:rPr lang="en-US" altLang="zh-CN" b="1" dirty="0">
                <a:latin typeface="微软雅黑" pitchFamily="34" charset="-122"/>
                <a:ea typeface="微软雅黑" pitchFamily="34" charset="-122"/>
                <a:cs typeface="Monaco"/>
                <a:sym typeface="Monaco"/>
              </a:rPr>
              <a:t>}</a:t>
            </a:r>
          </a:p>
        </p:txBody>
      </p:sp>
      <p:sp>
        <p:nvSpPr>
          <p:cNvPr id="391174" name="Rectangle 6"/>
          <p:cNvSpPr>
            <a:spLocks/>
          </p:cNvSpPr>
          <p:nvPr/>
        </p:nvSpPr>
        <p:spPr bwMode="auto">
          <a:xfrm>
            <a:off x="1839913" y="1638325"/>
            <a:ext cx="4114800" cy="2273300"/>
          </a:xfrm>
          <a:prstGeom prst="rect">
            <a:avLst/>
          </a:prstGeom>
          <a:solidFill>
            <a:srgbClr val="F8F6D9"/>
          </a:solidFill>
          <a:ln w="6350">
            <a:solidFill>
              <a:schemeClr val="tx1"/>
            </a:solidFill>
            <a:miter lim="800000"/>
            <a:headEnd/>
            <a:tailEnd/>
          </a:ln>
        </p:spPr>
        <p:txBody>
          <a:bodyPr lIns="63500" tIns="63500" rIns="63500" bIns="63500"/>
          <a:lstStyle/>
          <a:p>
            <a:pPr>
              <a:tabLst>
                <a:tab pos="914400" algn="l"/>
                <a:tab pos="2286000" algn="l"/>
              </a:tabLst>
            </a:pPr>
            <a:r>
              <a:rPr lang="en-US" altLang="zh-CN" b="1" dirty="0">
                <a:latin typeface="微软雅黑" pitchFamily="34" charset="-122"/>
                <a:ea typeface="微软雅黑" pitchFamily="34" charset="-122"/>
                <a:cs typeface="Monaco"/>
                <a:sym typeface="Monaco"/>
              </a:rPr>
              <a:t>void </a:t>
            </a:r>
            <a:r>
              <a:rPr lang="en-US" altLang="zh-CN" b="1" dirty="0" err="1">
                <a:latin typeface="微软雅黑" pitchFamily="34" charset="-122"/>
                <a:ea typeface="微软雅黑" pitchFamily="34" charset="-122"/>
                <a:cs typeface="Monaco"/>
                <a:sym typeface="Monaco"/>
              </a:rPr>
              <a:t>copyij</a:t>
            </a:r>
            <a:r>
              <a:rPr lang="en-US" altLang="zh-CN" b="1" dirty="0">
                <a:latin typeface="微软雅黑" pitchFamily="34" charset="-122"/>
                <a:ea typeface="微软雅黑" pitchFamily="34" charset="-122"/>
                <a:cs typeface="Monaco"/>
                <a:sym typeface="Monaco"/>
              </a:rPr>
              <a:t> (</a:t>
            </a:r>
            <a:r>
              <a:rPr lang="en-US" altLang="zh-CN" b="1" dirty="0" err="1">
                <a:latin typeface="微软雅黑" pitchFamily="34" charset="-122"/>
                <a:ea typeface="微软雅黑" pitchFamily="34" charset="-122"/>
                <a:cs typeface="Monaco"/>
                <a:sym typeface="Monaco"/>
              </a:rPr>
              <a:t>int</a:t>
            </a:r>
            <a:r>
              <a:rPr lang="en-US" altLang="zh-CN" b="1" dirty="0">
                <a:latin typeface="微软雅黑" pitchFamily="34" charset="-122"/>
                <a:ea typeface="微软雅黑" pitchFamily="34" charset="-122"/>
                <a:cs typeface="Monaco"/>
                <a:sym typeface="Monaco"/>
              </a:rPr>
              <a:t> </a:t>
            </a:r>
            <a:r>
              <a:rPr lang="en-US" altLang="zh-CN" b="1" dirty="0" err="1">
                <a:latin typeface="微软雅黑" pitchFamily="34" charset="-122"/>
                <a:ea typeface="微软雅黑" pitchFamily="34" charset="-122"/>
                <a:cs typeface="Monaco"/>
                <a:sym typeface="Monaco"/>
              </a:rPr>
              <a:t>src</a:t>
            </a:r>
            <a:r>
              <a:rPr lang="en-US" altLang="zh-CN" b="1" dirty="0">
                <a:latin typeface="微软雅黑" pitchFamily="34" charset="-122"/>
                <a:ea typeface="微软雅黑" pitchFamily="34" charset="-122"/>
                <a:cs typeface="Monaco"/>
                <a:sym typeface="Monaco"/>
              </a:rPr>
              <a:t>[2048][2048],</a:t>
            </a:r>
          </a:p>
          <a:p>
            <a:pPr>
              <a:tabLst>
                <a:tab pos="914400" algn="l"/>
                <a:tab pos="2286000" algn="l"/>
              </a:tabLst>
            </a:pPr>
            <a:r>
              <a:rPr lang="en-US" altLang="zh-CN" b="1" dirty="0">
                <a:latin typeface="微软雅黑" pitchFamily="34" charset="-122"/>
                <a:ea typeface="微软雅黑" pitchFamily="34" charset="-122"/>
                <a:cs typeface="Monaco"/>
                <a:sym typeface="Monaco"/>
              </a:rPr>
              <a:t>            </a:t>
            </a:r>
            <a:r>
              <a:rPr lang="en-US" altLang="zh-CN" b="1" dirty="0" err="1">
                <a:latin typeface="微软雅黑" pitchFamily="34" charset="-122"/>
                <a:ea typeface="微软雅黑" pitchFamily="34" charset="-122"/>
                <a:cs typeface="Monaco"/>
                <a:sym typeface="Monaco"/>
              </a:rPr>
              <a:t>int</a:t>
            </a:r>
            <a:r>
              <a:rPr lang="en-US" altLang="zh-CN" b="1" dirty="0">
                <a:latin typeface="微软雅黑" pitchFamily="34" charset="-122"/>
                <a:ea typeface="微软雅黑" pitchFamily="34" charset="-122"/>
                <a:cs typeface="Monaco"/>
                <a:sym typeface="Monaco"/>
              </a:rPr>
              <a:t> </a:t>
            </a:r>
            <a:r>
              <a:rPr lang="en-US" altLang="zh-CN" b="1" dirty="0" err="1">
                <a:latin typeface="微软雅黑" pitchFamily="34" charset="-122"/>
                <a:ea typeface="微软雅黑" pitchFamily="34" charset="-122"/>
                <a:cs typeface="Monaco"/>
                <a:sym typeface="Monaco"/>
              </a:rPr>
              <a:t>dst</a:t>
            </a:r>
            <a:r>
              <a:rPr lang="en-US" altLang="zh-CN" b="1" dirty="0">
                <a:latin typeface="微软雅黑" pitchFamily="34" charset="-122"/>
                <a:ea typeface="微软雅黑" pitchFamily="34" charset="-122"/>
                <a:cs typeface="Monaco"/>
                <a:sym typeface="Monaco"/>
              </a:rPr>
              <a:t>[2048][2048])</a:t>
            </a:r>
          </a:p>
          <a:p>
            <a:pPr>
              <a:tabLst>
                <a:tab pos="914400" algn="l"/>
                <a:tab pos="2286000" algn="l"/>
              </a:tabLst>
            </a:pPr>
            <a:r>
              <a:rPr lang="en-US" altLang="zh-CN" b="1" dirty="0">
                <a:latin typeface="微软雅黑" pitchFamily="34" charset="-122"/>
                <a:ea typeface="微软雅黑" pitchFamily="34" charset="-122"/>
                <a:cs typeface="Monaco"/>
                <a:sym typeface="Monaco"/>
              </a:rPr>
              <a:t>{</a:t>
            </a:r>
          </a:p>
          <a:p>
            <a:pPr>
              <a:tabLst>
                <a:tab pos="914400" algn="l"/>
                <a:tab pos="2286000" algn="l"/>
              </a:tabLst>
            </a:pPr>
            <a:r>
              <a:rPr lang="en-US" altLang="zh-CN" b="1" dirty="0">
                <a:latin typeface="微软雅黑" pitchFamily="34" charset="-122"/>
                <a:ea typeface="微软雅黑" pitchFamily="34" charset="-122"/>
                <a:cs typeface="Monaco"/>
                <a:sym typeface="Monaco"/>
              </a:rPr>
              <a:t>  </a:t>
            </a:r>
            <a:r>
              <a:rPr lang="en-US" altLang="zh-CN" b="1" dirty="0" err="1">
                <a:latin typeface="微软雅黑" pitchFamily="34" charset="-122"/>
                <a:ea typeface="微软雅黑" pitchFamily="34" charset="-122"/>
                <a:cs typeface="Monaco"/>
                <a:sym typeface="Monaco"/>
              </a:rPr>
              <a:t>int</a:t>
            </a:r>
            <a:r>
              <a:rPr lang="en-US" altLang="zh-CN" b="1" dirty="0">
                <a:latin typeface="微软雅黑" pitchFamily="34" charset="-122"/>
                <a:ea typeface="微软雅黑" pitchFamily="34" charset="-122"/>
                <a:cs typeface="Monaco"/>
                <a:sym typeface="Monaco"/>
              </a:rPr>
              <a:t> </a:t>
            </a:r>
            <a:r>
              <a:rPr lang="en-US" altLang="zh-CN" b="1" dirty="0" err="1">
                <a:latin typeface="微软雅黑" pitchFamily="34" charset="-122"/>
                <a:ea typeface="微软雅黑" pitchFamily="34" charset="-122"/>
                <a:cs typeface="Monaco"/>
                <a:sym typeface="Monaco"/>
              </a:rPr>
              <a:t>i,j</a:t>
            </a:r>
            <a:r>
              <a:rPr lang="en-US" altLang="zh-CN" b="1" dirty="0">
                <a:latin typeface="微软雅黑" pitchFamily="34" charset="-122"/>
                <a:ea typeface="微软雅黑" pitchFamily="34" charset="-122"/>
                <a:cs typeface="Monaco"/>
                <a:sym typeface="Monaco"/>
              </a:rPr>
              <a:t>;</a:t>
            </a:r>
          </a:p>
          <a:p>
            <a:pPr>
              <a:tabLst>
                <a:tab pos="914400" algn="l"/>
                <a:tab pos="2286000" algn="l"/>
              </a:tabLst>
            </a:pPr>
            <a:r>
              <a:rPr lang="en-US" altLang="zh-CN" b="1" dirty="0">
                <a:latin typeface="微软雅黑" pitchFamily="34" charset="-122"/>
                <a:ea typeface="微软雅黑" pitchFamily="34" charset="-122"/>
                <a:cs typeface="Monaco"/>
                <a:sym typeface="Monaco"/>
              </a:rPr>
              <a:t>  </a:t>
            </a:r>
            <a:r>
              <a:rPr lang="en-US" altLang="zh-CN" b="1" dirty="0">
                <a:solidFill>
                  <a:srgbClr val="C00000"/>
                </a:solidFill>
                <a:latin typeface="微软雅黑" pitchFamily="34" charset="-122"/>
                <a:ea typeface="微软雅黑" pitchFamily="34" charset="-122"/>
                <a:cs typeface="Monaco"/>
                <a:sym typeface="Monaco"/>
              </a:rPr>
              <a:t>for (</a:t>
            </a:r>
            <a:r>
              <a:rPr lang="en-US" altLang="zh-CN" b="1" dirty="0" err="1">
                <a:solidFill>
                  <a:srgbClr val="C00000"/>
                </a:solidFill>
                <a:latin typeface="微软雅黑" pitchFamily="34" charset="-122"/>
                <a:ea typeface="微软雅黑" pitchFamily="34" charset="-122"/>
                <a:cs typeface="Monaco"/>
                <a:sym typeface="Monaco"/>
              </a:rPr>
              <a:t>i</a:t>
            </a:r>
            <a:r>
              <a:rPr lang="en-US" altLang="zh-CN" b="1" dirty="0">
                <a:solidFill>
                  <a:srgbClr val="C00000"/>
                </a:solidFill>
                <a:latin typeface="微软雅黑" pitchFamily="34" charset="-122"/>
                <a:ea typeface="微软雅黑" pitchFamily="34" charset="-122"/>
                <a:cs typeface="Monaco"/>
                <a:sym typeface="Monaco"/>
              </a:rPr>
              <a:t> = 0; </a:t>
            </a:r>
            <a:r>
              <a:rPr lang="en-US" altLang="zh-CN" b="1" dirty="0" err="1">
                <a:solidFill>
                  <a:srgbClr val="C00000"/>
                </a:solidFill>
                <a:latin typeface="微软雅黑" pitchFamily="34" charset="-122"/>
                <a:ea typeface="微软雅黑" pitchFamily="34" charset="-122"/>
                <a:cs typeface="Monaco"/>
                <a:sym typeface="Monaco"/>
              </a:rPr>
              <a:t>i</a:t>
            </a:r>
            <a:r>
              <a:rPr lang="en-US" altLang="zh-CN" b="1" dirty="0">
                <a:solidFill>
                  <a:srgbClr val="C00000"/>
                </a:solidFill>
                <a:latin typeface="微软雅黑" pitchFamily="34" charset="-122"/>
                <a:ea typeface="微软雅黑" pitchFamily="34" charset="-122"/>
                <a:cs typeface="Monaco"/>
                <a:sym typeface="Monaco"/>
              </a:rPr>
              <a:t> &lt; 2048; </a:t>
            </a:r>
            <a:r>
              <a:rPr lang="en-US" altLang="zh-CN" b="1" dirty="0" err="1">
                <a:solidFill>
                  <a:srgbClr val="C00000"/>
                </a:solidFill>
                <a:latin typeface="微软雅黑" pitchFamily="34" charset="-122"/>
                <a:ea typeface="微软雅黑" pitchFamily="34" charset="-122"/>
                <a:cs typeface="Monaco"/>
                <a:sym typeface="Monaco"/>
              </a:rPr>
              <a:t>i</a:t>
            </a:r>
            <a:r>
              <a:rPr lang="en-US" altLang="zh-CN" b="1" dirty="0">
                <a:solidFill>
                  <a:srgbClr val="C00000"/>
                </a:solidFill>
                <a:latin typeface="微软雅黑" pitchFamily="34" charset="-122"/>
                <a:ea typeface="微软雅黑" pitchFamily="34" charset="-122"/>
                <a:cs typeface="Monaco"/>
                <a:sym typeface="Monaco"/>
              </a:rPr>
              <a:t>++)</a:t>
            </a:r>
            <a:endParaRPr lang="en-US" altLang="zh-CN" b="1" dirty="0">
              <a:latin typeface="微软雅黑" pitchFamily="34" charset="-122"/>
              <a:ea typeface="微软雅黑" pitchFamily="34" charset="-122"/>
              <a:cs typeface="Monaco"/>
              <a:sym typeface="Monaco"/>
            </a:endParaRPr>
          </a:p>
          <a:p>
            <a:pPr>
              <a:tabLst>
                <a:tab pos="914400" algn="l"/>
                <a:tab pos="2286000" algn="l"/>
              </a:tabLst>
            </a:pPr>
            <a:r>
              <a:rPr lang="en-US" altLang="zh-CN" b="1" dirty="0">
                <a:latin typeface="微软雅黑" pitchFamily="34" charset="-122"/>
                <a:ea typeface="微软雅黑" pitchFamily="34" charset="-122"/>
                <a:cs typeface="Monaco"/>
                <a:sym typeface="Monaco"/>
              </a:rPr>
              <a:t>    </a:t>
            </a:r>
            <a:r>
              <a:rPr lang="en-US" altLang="zh-CN" b="1" dirty="0">
                <a:solidFill>
                  <a:srgbClr val="21218A"/>
                </a:solidFill>
                <a:latin typeface="微软雅黑" pitchFamily="34" charset="-122"/>
                <a:ea typeface="微软雅黑" pitchFamily="34" charset="-122"/>
                <a:cs typeface="Monaco"/>
                <a:sym typeface="Monaco"/>
              </a:rPr>
              <a:t>for (j = 0; j &lt; 2048; </a:t>
            </a:r>
            <a:r>
              <a:rPr lang="en-US" altLang="zh-CN" b="1" dirty="0" err="1">
                <a:solidFill>
                  <a:srgbClr val="21218A"/>
                </a:solidFill>
                <a:latin typeface="微软雅黑" pitchFamily="34" charset="-122"/>
                <a:ea typeface="微软雅黑" pitchFamily="34" charset="-122"/>
                <a:cs typeface="Monaco"/>
                <a:sym typeface="Monaco"/>
              </a:rPr>
              <a:t>j++</a:t>
            </a:r>
            <a:r>
              <a:rPr lang="en-US" altLang="zh-CN" b="1" dirty="0">
                <a:solidFill>
                  <a:srgbClr val="21218A"/>
                </a:solidFill>
                <a:latin typeface="微软雅黑" pitchFamily="34" charset="-122"/>
                <a:ea typeface="微软雅黑" pitchFamily="34" charset="-122"/>
                <a:cs typeface="Monaco"/>
                <a:sym typeface="Monaco"/>
              </a:rPr>
              <a:t>)</a:t>
            </a:r>
            <a:endParaRPr lang="en-US" altLang="zh-CN" b="1" dirty="0">
              <a:latin typeface="微软雅黑" pitchFamily="34" charset="-122"/>
              <a:ea typeface="微软雅黑" pitchFamily="34" charset="-122"/>
              <a:cs typeface="Monaco"/>
              <a:sym typeface="Monaco"/>
            </a:endParaRPr>
          </a:p>
          <a:p>
            <a:pPr>
              <a:tabLst>
                <a:tab pos="914400" algn="l"/>
                <a:tab pos="2286000" algn="l"/>
              </a:tabLst>
            </a:pPr>
            <a:r>
              <a:rPr lang="en-US" altLang="zh-CN" b="1" dirty="0">
                <a:latin typeface="微软雅黑" pitchFamily="34" charset="-122"/>
                <a:ea typeface="微软雅黑" pitchFamily="34" charset="-122"/>
                <a:cs typeface="Monaco"/>
                <a:sym typeface="Monaco"/>
              </a:rPr>
              <a:t>      </a:t>
            </a:r>
            <a:r>
              <a:rPr lang="en-US" altLang="zh-CN" b="1" dirty="0" err="1">
                <a:latin typeface="微软雅黑" pitchFamily="34" charset="-122"/>
                <a:ea typeface="微软雅黑" pitchFamily="34" charset="-122"/>
                <a:cs typeface="Monaco"/>
                <a:sym typeface="Monaco"/>
              </a:rPr>
              <a:t>dst</a:t>
            </a:r>
            <a:r>
              <a:rPr lang="en-US" altLang="zh-CN" b="1" dirty="0">
                <a:latin typeface="微软雅黑" pitchFamily="34" charset="-122"/>
                <a:ea typeface="微软雅黑" pitchFamily="34" charset="-122"/>
                <a:cs typeface="Monaco"/>
                <a:sym typeface="Monaco"/>
              </a:rPr>
              <a:t>[</a:t>
            </a:r>
            <a:r>
              <a:rPr lang="en-US" altLang="zh-CN" b="1" dirty="0" err="1">
                <a:latin typeface="微软雅黑" pitchFamily="34" charset="-122"/>
                <a:ea typeface="微软雅黑" pitchFamily="34" charset="-122"/>
                <a:cs typeface="Monaco"/>
                <a:sym typeface="Monaco"/>
              </a:rPr>
              <a:t>i</a:t>
            </a:r>
            <a:r>
              <a:rPr lang="en-US" altLang="zh-CN" b="1" dirty="0">
                <a:latin typeface="微软雅黑" pitchFamily="34" charset="-122"/>
                <a:ea typeface="微软雅黑" pitchFamily="34" charset="-122"/>
                <a:cs typeface="Monaco"/>
                <a:sym typeface="Monaco"/>
              </a:rPr>
              <a:t>][j] = </a:t>
            </a:r>
            <a:r>
              <a:rPr lang="en-US" altLang="zh-CN" b="1" dirty="0" err="1">
                <a:latin typeface="微软雅黑" pitchFamily="34" charset="-122"/>
                <a:ea typeface="微软雅黑" pitchFamily="34" charset="-122"/>
                <a:cs typeface="Monaco"/>
                <a:sym typeface="Monaco"/>
              </a:rPr>
              <a:t>src</a:t>
            </a:r>
            <a:r>
              <a:rPr lang="en-US" altLang="zh-CN" b="1" dirty="0">
                <a:latin typeface="微软雅黑" pitchFamily="34" charset="-122"/>
                <a:ea typeface="微软雅黑" pitchFamily="34" charset="-122"/>
                <a:cs typeface="Monaco"/>
                <a:sym typeface="Monaco"/>
              </a:rPr>
              <a:t>[</a:t>
            </a:r>
            <a:r>
              <a:rPr lang="en-US" altLang="zh-CN" b="1" dirty="0" err="1">
                <a:latin typeface="微软雅黑" pitchFamily="34" charset="-122"/>
                <a:ea typeface="微软雅黑" pitchFamily="34" charset="-122"/>
                <a:cs typeface="Monaco"/>
                <a:sym typeface="Monaco"/>
              </a:rPr>
              <a:t>i</a:t>
            </a:r>
            <a:r>
              <a:rPr lang="en-US" altLang="zh-CN" b="1" dirty="0">
                <a:latin typeface="微软雅黑" pitchFamily="34" charset="-122"/>
                <a:ea typeface="微软雅黑" pitchFamily="34" charset="-122"/>
                <a:cs typeface="Monaco"/>
                <a:sym typeface="Monaco"/>
              </a:rPr>
              <a:t>][j];</a:t>
            </a:r>
          </a:p>
          <a:p>
            <a:pPr>
              <a:tabLst>
                <a:tab pos="914400" algn="l"/>
                <a:tab pos="2286000" algn="l"/>
              </a:tabLst>
            </a:pPr>
            <a:r>
              <a:rPr lang="en-US" altLang="zh-CN" b="1" dirty="0">
                <a:latin typeface="微软雅黑" pitchFamily="34" charset="-122"/>
                <a:ea typeface="微软雅黑" pitchFamily="34" charset="-122"/>
                <a:cs typeface="Monaco"/>
                <a:sym typeface="Monaco"/>
              </a:rPr>
              <a:t>}</a:t>
            </a:r>
          </a:p>
        </p:txBody>
      </p:sp>
      <p:grpSp>
        <p:nvGrpSpPr>
          <p:cNvPr id="21511" name="Group 7"/>
          <p:cNvGrpSpPr>
            <a:grpSpLocks/>
          </p:cNvGrpSpPr>
          <p:nvPr/>
        </p:nvGrpSpPr>
        <p:grpSpPr bwMode="auto">
          <a:xfrm>
            <a:off x="4945064" y="2898801"/>
            <a:ext cx="1438275" cy="315913"/>
            <a:chOff x="0" y="0"/>
            <a:chExt cx="480" cy="144"/>
          </a:xfrm>
        </p:grpSpPr>
        <p:sp>
          <p:nvSpPr>
            <p:cNvPr id="391176" name="Line 8"/>
            <p:cNvSpPr>
              <a:spLocks noChangeShapeType="1"/>
            </p:cNvSpPr>
            <p:nvPr/>
          </p:nvSpPr>
          <p:spPr bwMode="auto">
            <a:xfrm>
              <a:off x="0" y="0"/>
              <a:ext cx="480" cy="144"/>
            </a:xfrm>
            <a:prstGeom prst="line">
              <a:avLst/>
            </a:prstGeom>
            <a:noFill/>
            <a:ln w="38100">
              <a:solidFill>
                <a:schemeClr val="tx1"/>
              </a:solidFill>
              <a:round/>
              <a:headEnd/>
              <a:tailEnd type="triangle" w="sm" len="sm"/>
            </a:ln>
          </p:spPr>
          <p:txBody>
            <a:bodyPr lIns="0" tIns="0" rIns="0" bIns="0"/>
            <a:lstStyle/>
            <a:p>
              <a:endParaRPr lang="zh-CN" altLang="en-US"/>
            </a:p>
          </p:txBody>
        </p:sp>
        <p:sp>
          <p:nvSpPr>
            <p:cNvPr id="391177" name="Line 9"/>
            <p:cNvSpPr>
              <a:spLocks noChangeShapeType="1"/>
            </p:cNvSpPr>
            <p:nvPr/>
          </p:nvSpPr>
          <p:spPr bwMode="auto">
            <a:xfrm rot="10800000" flipH="1">
              <a:off x="0" y="0"/>
              <a:ext cx="480" cy="144"/>
            </a:xfrm>
            <a:prstGeom prst="line">
              <a:avLst/>
            </a:prstGeom>
            <a:noFill/>
            <a:ln w="38100">
              <a:solidFill>
                <a:schemeClr val="tx1"/>
              </a:solidFill>
              <a:round/>
              <a:headEnd/>
              <a:tailEnd type="triangle" w="sm" len="sm"/>
            </a:ln>
          </p:spPr>
          <p:txBody>
            <a:bodyPr lIns="0" tIns="0" rIns="0" bIns="0"/>
            <a:lstStyle/>
            <a:p>
              <a:endParaRPr lang="zh-CN" altLang="en-US"/>
            </a:p>
          </p:txBody>
        </p:sp>
      </p:grpSp>
      <p:sp>
        <p:nvSpPr>
          <p:cNvPr id="21514" name="Rectangle 10"/>
          <p:cNvSpPr>
            <a:spLocks/>
          </p:cNvSpPr>
          <p:nvPr/>
        </p:nvSpPr>
        <p:spPr bwMode="auto">
          <a:xfrm>
            <a:off x="7688263" y="4173539"/>
            <a:ext cx="2411412" cy="930275"/>
          </a:xfrm>
          <a:prstGeom prst="rect">
            <a:avLst/>
          </a:prstGeom>
          <a:noFill/>
          <a:ln w="12700" cap="rnd">
            <a:noFill/>
            <a:round/>
            <a:headEnd/>
            <a:tailEnd/>
          </a:ln>
        </p:spPr>
        <p:txBody>
          <a:bodyPr wrap="none" lIns="38100" tIns="38100" rIns="38100" bIns="38100">
            <a:spAutoFit/>
          </a:bodyPr>
          <a:lstStyle/>
          <a:p>
            <a:pPr algn="ctr"/>
            <a:r>
              <a:rPr lang="en-US" altLang="zh-CN" sz="2800" b="1">
                <a:latin typeface="Calibri" pitchFamily="34" charset="0"/>
                <a:ea typeface="ヒラギノ角ゴ ProN W3"/>
                <a:cs typeface="Calibri" pitchFamily="34" charset="0"/>
                <a:sym typeface="Calibri" pitchFamily="34" charset="0"/>
              </a:rPr>
              <a:t>21 times slower</a:t>
            </a:r>
            <a:br>
              <a:rPr lang="en-US" altLang="zh-CN" sz="2800" b="1">
                <a:latin typeface="Calibri" pitchFamily="34" charset="0"/>
                <a:ea typeface="ヒラギノ角ゴ ProN W3"/>
                <a:cs typeface="Calibri" pitchFamily="34" charset="0"/>
                <a:sym typeface="Calibri" pitchFamily="34" charset="0"/>
              </a:rPr>
            </a:br>
            <a:r>
              <a:rPr lang="en-US" altLang="zh-CN" sz="2800" b="1">
                <a:latin typeface="Calibri" pitchFamily="34" charset="0"/>
                <a:ea typeface="ヒラギノ角ゴ ProN W3"/>
                <a:cs typeface="Calibri" pitchFamily="34" charset="0"/>
                <a:sym typeface="Calibri" pitchFamily="34" charset="0"/>
              </a:rPr>
              <a:t>(Pentium 4)</a:t>
            </a:r>
          </a:p>
        </p:txBody>
      </p:sp>
      <p:sp>
        <p:nvSpPr>
          <p:cNvPr id="391179" name="Text Box 11"/>
          <p:cNvSpPr txBox="1">
            <a:spLocks noChangeArrowheads="1"/>
          </p:cNvSpPr>
          <p:nvPr/>
        </p:nvSpPr>
        <p:spPr bwMode="auto">
          <a:xfrm>
            <a:off x="1955801" y="4778376"/>
            <a:ext cx="3330575" cy="1781175"/>
          </a:xfrm>
          <a:prstGeom prst="rect">
            <a:avLst/>
          </a:prstGeom>
          <a:noFill/>
          <a:ln w="9525">
            <a:solidFill>
              <a:schemeClr val="tx1"/>
            </a:solidFill>
            <a:miter lim="800000"/>
            <a:headEnd/>
            <a:tailEnd/>
          </a:ln>
          <a:effectLst/>
        </p:spPr>
        <p:txBody>
          <a:bodyPr>
            <a:spAutoFit/>
          </a:bodyPr>
          <a:lstStyle/>
          <a:p>
            <a:pPr>
              <a:spcBef>
                <a:spcPct val="20000"/>
              </a:spcBef>
            </a:pPr>
            <a:r>
              <a:rPr lang="zh-CN" altLang="en-US" sz="2400" b="1">
                <a:ea typeface="黑体" pitchFamily="49" charset="-122"/>
              </a:rPr>
              <a:t>理解该问题需要知道：</a:t>
            </a:r>
          </a:p>
          <a:p>
            <a:pPr>
              <a:spcBef>
                <a:spcPct val="20000"/>
              </a:spcBef>
            </a:pPr>
            <a:r>
              <a:rPr lang="en-US" altLang="zh-CN" sz="2400" b="1">
                <a:solidFill>
                  <a:srgbClr val="FF0000"/>
                </a:solidFill>
                <a:ea typeface="黑体" pitchFamily="49" charset="-122"/>
              </a:rPr>
              <a:t>Cache</a:t>
            </a:r>
            <a:r>
              <a:rPr lang="zh-CN" altLang="en-US" sz="2400" b="1">
                <a:solidFill>
                  <a:srgbClr val="FF0000"/>
                </a:solidFill>
                <a:ea typeface="黑体" pitchFamily="49" charset="-122"/>
              </a:rPr>
              <a:t>机制</a:t>
            </a:r>
          </a:p>
          <a:p>
            <a:pPr>
              <a:spcBef>
                <a:spcPct val="20000"/>
              </a:spcBef>
            </a:pPr>
            <a:r>
              <a:rPr lang="zh-CN" altLang="en-US" sz="2400" b="1">
                <a:solidFill>
                  <a:srgbClr val="FF0000"/>
                </a:solidFill>
                <a:ea typeface="黑体" pitchFamily="49" charset="-122"/>
              </a:rPr>
              <a:t>访问局部性</a:t>
            </a:r>
          </a:p>
          <a:p>
            <a:pPr>
              <a:spcBef>
                <a:spcPct val="20000"/>
              </a:spcBef>
            </a:pPr>
            <a:r>
              <a:rPr lang="en-US" altLang="zh-CN" sz="2400" b="1">
                <a:solidFill>
                  <a:srgbClr val="3366FF"/>
                </a:solidFill>
                <a:latin typeface="黑体"/>
                <a:ea typeface="黑体" pitchFamily="49" charset="-122"/>
              </a:rPr>
              <a:t>……</a:t>
            </a:r>
            <a:endParaRPr lang="en-US" altLang="zh-CN" sz="2400" b="1">
              <a:solidFill>
                <a:srgbClr val="3366FF"/>
              </a:solidFill>
              <a:ea typeface="黑体" pitchFamily="49" charset="-122"/>
            </a:endParaRPr>
          </a:p>
        </p:txBody>
      </p:sp>
      <p:sp>
        <p:nvSpPr>
          <p:cNvPr id="2" name="矩形 1"/>
          <p:cNvSpPr/>
          <p:nvPr/>
        </p:nvSpPr>
        <p:spPr>
          <a:xfrm>
            <a:off x="1798112" y="4188171"/>
            <a:ext cx="8650147" cy="1785104"/>
          </a:xfrm>
          <a:prstGeom prst="rect">
            <a:avLst/>
          </a:prstGeom>
          <a:solidFill>
            <a:srgbClr val="FFFF00"/>
          </a:solidFill>
        </p:spPr>
        <p:txBody>
          <a:bodyPr wrap="square">
            <a:spAutoFit/>
          </a:bodyPr>
          <a:lstStyle/>
          <a:p>
            <a:r>
              <a:rPr lang="en-US" altLang="zh-CN" sz="2000" b="1" dirty="0">
                <a:solidFill>
                  <a:schemeClr val="accent2"/>
                </a:solidFill>
                <a:cs typeface="Arial" panose="020B0604020202020204" pitchFamily="34" charset="0"/>
              </a:rPr>
              <a:t>A</a:t>
            </a:r>
            <a:r>
              <a:rPr lang="zh-CN" altLang="en-US" sz="2000" b="1" dirty="0">
                <a:solidFill>
                  <a:schemeClr val="accent2"/>
                </a:solidFill>
                <a:cs typeface="Arial" panose="020B0604020202020204" pitchFamily="34" charset="0"/>
              </a:rPr>
              <a:t>中数组访问顺序与存放顺序相同，首地址位于一个主存块开始，故</a:t>
            </a:r>
            <a:r>
              <a:rPr lang="zh-CN" altLang="en-US" sz="2000" b="1" dirty="0">
                <a:solidFill>
                  <a:srgbClr val="FF0000"/>
                </a:solidFill>
                <a:cs typeface="Arial" panose="020B0604020202020204" pitchFamily="34" charset="0"/>
              </a:rPr>
              <a:t>每个主存块总是第一个元素缺失，其他都命中</a:t>
            </a:r>
            <a:r>
              <a:rPr lang="zh-CN" altLang="en-US" sz="2000" b="1" dirty="0">
                <a:solidFill>
                  <a:schemeClr val="accent2"/>
                </a:solidFill>
                <a:cs typeface="Arial" panose="020B0604020202020204" pitchFamily="34" charset="0"/>
              </a:rPr>
              <a:t>，命中率很高。</a:t>
            </a:r>
            <a:endParaRPr lang="en-US" altLang="zh-CN" sz="2000" b="1" dirty="0">
              <a:solidFill>
                <a:schemeClr val="accent2"/>
              </a:solidFill>
              <a:cs typeface="Arial" panose="020B0604020202020204" pitchFamily="34" charset="0"/>
            </a:endParaRPr>
          </a:p>
          <a:p>
            <a:pPr>
              <a:spcBef>
                <a:spcPts val="1200"/>
              </a:spcBef>
            </a:pPr>
            <a:r>
              <a:rPr lang="en-US" altLang="zh-CN" sz="2000" b="1" dirty="0">
                <a:solidFill>
                  <a:schemeClr val="accent2"/>
                </a:solidFill>
                <a:cs typeface="Arial" panose="020B0604020202020204" pitchFamily="34" charset="0"/>
              </a:rPr>
              <a:t>B</a:t>
            </a:r>
            <a:r>
              <a:rPr lang="zh-CN" altLang="en-US" sz="2000" b="1" dirty="0">
                <a:solidFill>
                  <a:schemeClr val="accent2"/>
                </a:solidFill>
                <a:cs typeface="Arial" panose="020B0604020202020204" pitchFamily="34" charset="0"/>
              </a:rPr>
              <a:t>中访问顺序与存放顺序不同，依次访问的元素分布在相隔较远的单元处，它们都不在同一个主存块中，若</a:t>
            </a:r>
            <a:r>
              <a:rPr lang="en-US" altLang="zh-CN" sz="2000" b="1" dirty="0">
                <a:solidFill>
                  <a:schemeClr val="accent2"/>
                </a:solidFill>
                <a:cs typeface="Arial" panose="020B0604020202020204" pitchFamily="34" charset="0"/>
              </a:rPr>
              <a:t>cache</a:t>
            </a:r>
            <a:r>
              <a:rPr lang="zh-CN" altLang="en-US" sz="2000" b="1" dirty="0">
                <a:solidFill>
                  <a:schemeClr val="accent2"/>
                </a:solidFill>
                <a:cs typeface="Arial" panose="020B0604020202020204" pitchFamily="34" charset="0"/>
              </a:rPr>
              <a:t>共</a:t>
            </a:r>
            <a:r>
              <a:rPr lang="en-US" altLang="zh-CN" sz="2000" b="1" dirty="0">
                <a:solidFill>
                  <a:schemeClr val="accent2"/>
                </a:solidFill>
                <a:cs typeface="Arial" panose="020B0604020202020204" pitchFamily="34" charset="0"/>
              </a:rPr>
              <a:t>8</a:t>
            </a:r>
            <a:r>
              <a:rPr lang="zh-CN" altLang="en-US" sz="2000" b="1" dirty="0">
                <a:solidFill>
                  <a:schemeClr val="accent2"/>
                </a:solidFill>
                <a:cs typeface="Arial" panose="020B0604020202020204" pitchFamily="34" charset="0"/>
              </a:rPr>
              <a:t>行，一次内循环访问</a:t>
            </a:r>
            <a:r>
              <a:rPr lang="en-US" altLang="zh-CN" sz="2000" b="1" dirty="0">
                <a:solidFill>
                  <a:schemeClr val="accent2"/>
                </a:solidFill>
                <a:cs typeface="Arial" panose="020B0604020202020204" pitchFamily="34" charset="0"/>
              </a:rPr>
              <a:t>16</a:t>
            </a:r>
            <a:r>
              <a:rPr lang="zh-CN" altLang="en-US" sz="2000" b="1" dirty="0">
                <a:solidFill>
                  <a:schemeClr val="accent2"/>
                </a:solidFill>
                <a:cs typeface="Arial" panose="020B0604020202020204" pitchFamily="34" charset="0"/>
              </a:rPr>
              <a:t>块，故再次访问同一块时，已被调出</a:t>
            </a:r>
            <a:r>
              <a:rPr lang="en-US" altLang="zh-CN" sz="2000" b="1" dirty="0">
                <a:solidFill>
                  <a:schemeClr val="accent2"/>
                </a:solidFill>
                <a:cs typeface="Arial" panose="020B0604020202020204" pitchFamily="34" charset="0"/>
              </a:rPr>
              <a:t>cache</a:t>
            </a:r>
            <a:r>
              <a:rPr lang="zh-CN" altLang="en-US" sz="2000" b="1" dirty="0">
                <a:solidFill>
                  <a:schemeClr val="accent2"/>
                </a:solidFill>
                <a:cs typeface="Arial" panose="020B0604020202020204" pitchFamily="34" charset="0"/>
              </a:rPr>
              <a:t>，因而</a:t>
            </a:r>
            <a:r>
              <a:rPr lang="zh-CN" altLang="en-US" sz="2000" b="1" dirty="0">
                <a:solidFill>
                  <a:srgbClr val="FF0000"/>
                </a:solidFill>
                <a:cs typeface="Arial" panose="020B0604020202020204" pitchFamily="34" charset="0"/>
              </a:rPr>
              <a:t>每次都缺失</a:t>
            </a:r>
            <a:r>
              <a:rPr lang="zh-CN" altLang="en-US" sz="2000" b="1" dirty="0">
                <a:solidFill>
                  <a:schemeClr val="accent2"/>
                </a:solidFill>
                <a:cs typeface="Arial" panose="020B0604020202020204" pitchFamily="34" charset="0"/>
              </a:rPr>
              <a:t>，命中率为很低。</a:t>
            </a:r>
          </a:p>
        </p:txBody>
      </p:sp>
      <p:sp>
        <p:nvSpPr>
          <p:cNvPr id="4" name="灯片编号占位符 3"/>
          <p:cNvSpPr>
            <a:spLocks noGrp="1"/>
          </p:cNvSpPr>
          <p:nvPr>
            <p:ph type="sldNum" sz="quarter" idx="12"/>
          </p:nvPr>
        </p:nvSpPr>
        <p:spPr/>
        <p:txBody>
          <a:bodyPr/>
          <a:lstStyle/>
          <a:p>
            <a:pPr>
              <a:defRPr/>
            </a:pPr>
            <a:fld id="{C04D5D84-F493-480C-9B02-1533CB18E289}" type="slidenum">
              <a:rPr lang="en-US" altLang="zh-CN" smtClean="0"/>
              <a:pPr>
                <a:defRPr/>
              </a:pPr>
              <a:t>22</a:t>
            </a:fld>
            <a:endParaRPr lang="en-US" altLang="zh-CN"/>
          </a:p>
        </p:txBody>
      </p:sp>
    </p:spTree>
    <p:extLst>
      <p:ext uri="{BB962C8B-B14F-4D97-AF65-F5344CB8AC3E}">
        <p14:creationId xmlns:p14="http://schemas.microsoft.com/office/powerpoint/2010/main" val="426917284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91174"/>
                                        </p:tgtEl>
                                        <p:attrNameLst>
                                          <p:attrName>style.visibility</p:attrName>
                                        </p:attrNameLst>
                                      </p:cBhvr>
                                      <p:to>
                                        <p:strVal val="visible"/>
                                      </p:to>
                                    </p:set>
                                    <p:anim calcmode="lin" valueType="num">
                                      <p:cBhvr additive="base">
                                        <p:cTn id="7" dur="500" fill="hold"/>
                                        <p:tgtEl>
                                          <p:spTgt spid="391174"/>
                                        </p:tgtEl>
                                        <p:attrNameLst>
                                          <p:attrName>ppt_x</p:attrName>
                                        </p:attrNameLst>
                                      </p:cBhvr>
                                      <p:tavLst>
                                        <p:tav tm="0">
                                          <p:val>
                                            <p:strVal val="#ppt_x"/>
                                          </p:val>
                                        </p:tav>
                                        <p:tav tm="100000">
                                          <p:val>
                                            <p:strVal val="#ppt_x"/>
                                          </p:val>
                                        </p:tav>
                                      </p:tavLst>
                                    </p:anim>
                                    <p:anim calcmode="lin" valueType="num">
                                      <p:cBhvr additive="base">
                                        <p:cTn id="8" dur="500" fill="hold"/>
                                        <p:tgtEl>
                                          <p:spTgt spid="391174"/>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21509"/>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499"/>
                                          </p:stCondLst>
                                        </p:cTn>
                                        <p:tgtEl>
                                          <p:spTgt spid="21511"/>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9" presetClass="entr" presetSubtype="0" fill="hold" grpId="0" nodeType="clickEffect">
                                  <p:stCondLst>
                                    <p:cond delay="0"/>
                                  </p:stCondLst>
                                  <p:childTnLst>
                                    <p:set>
                                      <p:cBhvr>
                                        <p:cTn id="20" dur="1" fill="hold">
                                          <p:stCondLst>
                                            <p:cond delay="0"/>
                                          </p:stCondLst>
                                        </p:cTn>
                                        <p:tgtEl>
                                          <p:spTgt spid="21514"/>
                                        </p:tgtEl>
                                        <p:attrNameLst>
                                          <p:attrName>style.visibility</p:attrName>
                                        </p:attrNameLst>
                                      </p:cBhvr>
                                      <p:to>
                                        <p:strVal val="visible"/>
                                      </p:to>
                                    </p:set>
                                    <p:animEffect transition="in" filter="dissolve">
                                      <p:cBhvr>
                                        <p:cTn id="21" dur="500"/>
                                        <p:tgtEl>
                                          <p:spTgt spid="21514"/>
                                        </p:tgtEl>
                                      </p:cBhvr>
                                    </p:animEffect>
                                  </p:childTnLst>
                                </p:cTn>
                              </p:par>
                            </p:childTnLst>
                          </p:cTn>
                        </p:par>
                      </p:childTnLst>
                    </p:cTn>
                  </p:par>
                  <p:par>
                    <p:cTn id="22" fill="hold">
                      <p:stCondLst>
                        <p:cond delay="indefinite"/>
                      </p:stCondLst>
                      <p:childTnLst>
                        <p:par>
                          <p:cTn id="23" fill="hold">
                            <p:stCondLst>
                              <p:cond delay="0"/>
                            </p:stCondLst>
                            <p:childTnLst>
                              <p:par>
                                <p:cTn id="24" presetID="3" presetClass="entr" presetSubtype="10" fill="hold" grpId="0" nodeType="clickEffect">
                                  <p:stCondLst>
                                    <p:cond delay="0"/>
                                  </p:stCondLst>
                                  <p:childTnLst>
                                    <p:set>
                                      <p:cBhvr>
                                        <p:cTn id="25" dur="1" fill="hold">
                                          <p:stCondLst>
                                            <p:cond delay="0"/>
                                          </p:stCondLst>
                                        </p:cTn>
                                        <p:tgtEl>
                                          <p:spTgt spid="391179"/>
                                        </p:tgtEl>
                                        <p:attrNameLst>
                                          <p:attrName>style.visibility</p:attrName>
                                        </p:attrNameLst>
                                      </p:cBhvr>
                                      <p:to>
                                        <p:strVal val="visible"/>
                                      </p:to>
                                    </p:set>
                                    <p:animEffect transition="in" filter="blinds(horizontal)">
                                      <p:cBhvr>
                                        <p:cTn id="26" dur="500"/>
                                        <p:tgtEl>
                                          <p:spTgt spid="391179"/>
                                        </p:tgtEl>
                                      </p:cBhvr>
                                    </p:animEffec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509" grpId="0" animBg="1"/>
      <p:bldP spid="391174" grpId="0" animBg="1"/>
      <p:bldP spid="21514" grpId="0"/>
      <p:bldP spid="391179" grpId="0" animBg="1"/>
      <p:bldP spid="2" grpId="0" animBg="1"/>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1588" name="Rectangle 3"/>
          <p:cNvSpPr>
            <a:spLocks noGrp="1" noChangeArrowheads="1"/>
          </p:cNvSpPr>
          <p:nvPr>
            <p:ph type="title" idx="4294967295"/>
          </p:nvPr>
        </p:nvSpPr>
        <p:spPr>
          <a:xfrm>
            <a:off x="1804220" y="720726"/>
            <a:ext cx="8229600" cy="561975"/>
          </a:xfrm>
        </p:spPr>
        <p:txBody>
          <a:bodyPr vert="horz" wrap="square" lIns="38100" tIns="38100" rIns="38100" bIns="38100" numCol="1" anchor="ctr" anchorCtr="0" compatLnSpc="1">
            <a:prstTxWarp prst="textNoShape">
              <a:avLst/>
            </a:prstTxWarp>
          </a:bodyPr>
          <a:lstStyle/>
          <a:p>
            <a:pPr marL="119063" indent="-119063" eaLnBrk="1" hangingPunct="1"/>
            <a:r>
              <a:rPr lang="zh-CN" altLang="en-US"/>
              <a:t>用</a:t>
            </a:r>
            <a:r>
              <a:rPr lang="zh-CN" altLang="en-US">
                <a:latin typeface="黑体"/>
              </a:rPr>
              <a:t>“</a:t>
            </a:r>
            <a:r>
              <a:rPr lang="zh-CN" altLang="en-US"/>
              <a:t>系统思维</a:t>
            </a:r>
            <a:r>
              <a:rPr lang="zh-CN" altLang="en-US">
                <a:latin typeface="黑体"/>
              </a:rPr>
              <a:t>”</a:t>
            </a:r>
            <a:r>
              <a:rPr lang="zh-CN" altLang="en-US"/>
              <a:t>分析问题</a:t>
            </a:r>
          </a:p>
        </p:txBody>
      </p:sp>
      <p:sp>
        <p:nvSpPr>
          <p:cNvPr id="451589" name="Rectangle 4"/>
          <p:cNvSpPr>
            <a:spLocks noGrp="1" noChangeArrowheads="1"/>
          </p:cNvSpPr>
          <p:nvPr>
            <p:ph type="body" idx="4294967295"/>
          </p:nvPr>
        </p:nvSpPr>
        <p:spPr>
          <a:xfrm>
            <a:off x="1815333" y="5392739"/>
            <a:ext cx="8229600" cy="1328737"/>
          </a:xfrm>
        </p:spPr>
        <p:txBody>
          <a:bodyPr vert="horz" wrap="square" lIns="38100" tIns="38100" rIns="38100" bIns="38100" numCol="1" anchor="t" anchorCtr="0" compatLnSpc="1">
            <a:prstTxWarp prst="textNoShape">
              <a:avLst/>
            </a:prstTxWarp>
          </a:bodyPr>
          <a:lstStyle/>
          <a:p>
            <a:pPr marL="254000" indent="-254000" eaLnBrk="1" hangingPunct="1">
              <a:spcBef>
                <a:spcPct val="0"/>
              </a:spcBef>
            </a:pPr>
            <a:r>
              <a:rPr lang="en-US" altLang="zh-CN" sz="2100" dirty="0"/>
              <a:t>Standard desktop computer, vendor compiler, using optimization flags</a:t>
            </a:r>
          </a:p>
          <a:p>
            <a:pPr marL="254000" indent="-254000" eaLnBrk="1" hangingPunct="1">
              <a:spcBef>
                <a:spcPts val="538"/>
              </a:spcBef>
            </a:pPr>
            <a:r>
              <a:rPr lang="en-US" altLang="zh-CN" sz="2100" dirty="0"/>
              <a:t>Both implementations have </a:t>
            </a:r>
            <a:r>
              <a:rPr lang="en-US" altLang="zh-CN" sz="2100" dirty="0">
                <a:solidFill>
                  <a:srgbClr val="A40800"/>
                </a:solidFill>
              </a:rPr>
              <a:t>exactly</a:t>
            </a:r>
            <a:r>
              <a:rPr lang="en-US" altLang="zh-CN" sz="2100" dirty="0"/>
              <a:t> the same operations count (2n</a:t>
            </a:r>
            <a:r>
              <a:rPr lang="en-US" altLang="zh-CN" sz="2100" baseline="32000" dirty="0"/>
              <a:t>3</a:t>
            </a:r>
            <a:r>
              <a:rPr lang="en-US" altLang="zh-CN" sz="2100" dirty="0"/>
              <a:t>)</a:t>
            </a:r>
          </a:p>
          <a:p>
            <a:pPr marL="254000" indent="-254000" eaLnBrk="1" hangingPunct="1">
              <a:spcBef>
                <a:spcPts val="538"/>
              </a:spcBef>
            </a:pPr>
            <a:r>
              <a:rPr lang="en-US" altLang="zh-CN" sz="2100" dirty="0">
                <a:solidFill>
                  <a:srgbClr val="A40800"/>
                </a:solidFill>
              </a:rPr>
              <a:t>What is going on?</a:t>
            </a:r>
          </a:p>
        </p:txBody>
      </p:sp>
      <p:graphicFrame>
        <p:nvGraphicFramePr>
          <p:cNvPr id="451590" name="Object 6"/>
          <p:cNvGraphicFramePr>
            <a:graphicFrameLocks/>
          </p:cNvGraphicFramePr>
          <p:nvPr>
            <p:extLst>
              <p:ext uri="{D42A27DB-BD31-4B8C-83A1-F6EECF244321}">
                <p14:modId xmlns:p14="http://schemas.microsoft.com/office/powerpoint/2010/main" val="2427080620"/>
              </p:ext>
            </p:extLst>
          </p:nvPr>
        </p:nvGraphicFramePr>
        <p:xfrm>
          <a:off x="2603117" y="1327152"/>
          <a:ext cx="8210550" cy="4216400"/>
        </p:xfrm>
        <a:graphic>
          <a:graphicData uri="http://schemas.openxmlformats.org/presentationml/2006/ole">
            <mc:AlternateContent xmlns:mc="http://schemas.openxmlformats.org/markup-compatibility/2006">
              <mc:Choice xmlns:v="urn:schemas-microsoft-com:vml" Requires="v">
                <p:oleObj name="Chart" r:id="rId3" imgW="11534720" imgH="5923890" progId="MSGraph.Chart.8">
                  <p:embed/>
                </p:oleObj>
              </mc:Choice>
              <mc:Fallback>
                <p:oleObj name="Chart" r:id="rId3" imgW="11534720" imgH="5923890" progId="MSGraph.Chart.8">
                  <p:embed/>
                  <p:pic>
                    <p:nvPicPr>
                      <p:cNvPr id="0" name=""/>
                      <p:cNvPicPr>
                        <a:picLocks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603117" y="1327152"/>
                        <a:ext cx="8210550" cy="4216400"/>
                      </a:xfrm>
                      <a:prstGeom prst="rect">
                        <a:avLst/>
                      </a:prstGeom>
                      <a:noFill/>
                      <a:extLst>
                        <a:ext uri="{909E8E84-426E-40DD-AFC4-6F175D3DCCD1}">
                          <a14:hiddenFill xmlns:a14="http://schemas.microsoft.com/office/drawing/2010/main">
                            <a:blipFill dpi="0" rotWithShape="0">
                              <a:blip/>
                              <a:srcRect/>
                              <a:stretch>
                                <a:fillRect/>
                              </a:stretch>
                            </a:blipFill>
                          </a14:hiddenFill>
                        </a:ext>
                      </a:extLst>
                    </p:spPr>
                  </p:pic>
                </p:oleObj>
              </mc:Fallback>
            </mc:AlternateContent>
          </a:graphicData>
        </a:graphic>
      </p:graphicFrame>
      <p:grpSp>
        <p:nvGrpSpPr>
          <p:cNvPr id="451591" name="Group 6"/>
          <p:cNvGrpSpPr>
            <a:grpSpLocks/>
          </p:cNvGrpSpPr>
          <p:nvPr/>
        </p:nvGrpSpPr>
        <p:grpSpPr bwMode="auto">
          <a:xfrm>
            <a:off x="1732783" y="1439863"/>
            <a:ext cx="7835900" cy="584200"/>
            <a:chOff x="0" y="0"/>
            <a:chExt cx="4936" cy="368"/>
          </a:xfrm>
        </p:grpSpPr>
        <p:sp>
          <p:nvSpPr>
            <p:cNvPr id="451592" name="Rectangle 7"/>
            <p:cNvSpPr>
              <a:spLocks/>
            </p:cNvSpPr>
            <p:nvPr/>
          </p:nvSpPr>
          <p:spPr bwMode="auto">
            <a:xfrm>
              <a:off x="0" y="0"/>
              <a:ext cx="4936" cy="368"/>
            </a:xfrm>
            <a:prstGeom prst="rect">
              <a:avLst/>
            </a:prstGeom>
            <a:noFill/>
            <a:ln w="9525">
              <a:noFill/>
              <a:round/>
              <a:headEnd/>
              <a:tailEnd/>
            </a:ln>
          </p:spPr>
          <p:txBody>
            <a:bodyPr lIns="12700" tIns="12700" rIns="12700" bIns="12700"/>
            <a:lstStyle/>
            <a:p>
              <a:r>
                <a:rPr lang="en-US" altLang="zh-CN" sz="1600" b="1">
                  <a:latin typeface="Helvetica Neue"/>
                  <a:ea typeface="Helvetica Neue"/>
                  <a:cs typeface="Helvetica Neue"/>
                  <a:sym typeface="Helvetica Neue"/>
                </a:rPr>
                <a:t>Matrix-Matrix Multiplication (MMM) on 2 x Core 2 Duo 3 GHz (double precision)</a:t>
              </a:r>
              <a:endParaRPr lang="en-US" altLang="zh-CN" sz="1400" b="1">
                <a:latin typeface="Helvetica Neue"/>
                <a:ea typeface="Helvetica Neue"/>
                <a:cs typeface="Helvetica Neue"/>
                <a:sym typeface="Helvetica Neue"/>
              </a:endParaRPr>
            </a:p>
            <a:p>
              <a:r>
                <a:rPr lang="en-US" altLang="zh-CN" sz="1400" b="1">
                  <a:solidFill>
                    <a:srgbClr val="5F5F5F"/>
                  </a:solidFill>
                  <a:latin typeface="Helvetica Neue"/>
                  <a:ea typeface="Helvetica Neue"/>
                  <a:cs typeface="Helvetica Neue"/>
                  <a:sym typeface="Helvetica Neue"/>
                </a:rPr>
                <a:t>Gflop/s</a:t>
              </a:r>
            </a:p>
          </p:txBody>
        </p:sp>
      </p:grpSp>
      <p:grpSp>
        <p:nvGrpSpPr>
          <p:cNvPr id="24584" name="Group 8"/>
          <p:cNvGrpSpPr>
            <a:grpSpLocks/>
          </p:cNvGrpSpPr>
          <p:nvPr/>
        </p:nvGrpSpPr>
        <p:grpSpPr bwMode="auto">
          <a:xfrm>
            <a:off x="5153845" y="2474913"/>
            <a:ext cx="928688" cy="2451100"/>
            <a:chOff x="0" y="0"/>
            <a:chExt cx="584" cy="1544"/>
          </a:xfrm>
        </p:grpSpPr>
        <p:sp>
          <p:nvSpPr>
            <p:cNvPr id="451594" name="AutoShape 9"/>
            <p:cNvSpPr>
              <a:spLocks/>
            </p:cNvSpPr>
            <p:nvPr/>
          </p:nvSpPr>
          <p:spPr bwMode="auto">
            <a:xfrm>
              <a:off x="0" y="0"/>
              <a:ext cx="584" cy="1544"/>
            </a:xfrm>
            <a:custGeom>
              <a:avLst/>
              <a:gdLst>
                <a:gd name="T0" fmla="*/ 292 w 21600"/>
                <a:gd name="T1" fmla="*/ 772 h 21600"/>
                <a:gd name="T2" fmla="*/ 0 60000 65536"/>
                <a:gd name="T3" fmla="*/ 0 w 21600"/>
                <a:gd name="T4" fmla="*/ 0 h 21600"/>
                <a:gd name="T5" fmla="*/ 21600 w 21600"/>
                <a:gd name="T6" fmla="*/ 21600 h 21600"/>
              </a:gdLst>
              <a:ahLst/>
              <a:cxnLst>
                <a:cxn ang="T2">
                  <a:pos x="T0" y="T1"/>
                </a:cxn>
              </a:cxnLst>
              <a:rect l="T3" t="T4" r="T5" b="T6"/>
              <a:pathLst>
                <a:path w="21600" h="21600">
                  <a:moveTo>
                    <a:pt x="0" y="4320"/>
                  </a:moveTo>
                  <a:lnTo>
                    <a:pt x="10800" y="0"/>
                  </a:lnTo>
                  <a:lnTo>
                    <a:pt x="21600" y="4320"/>
                  </a:lnTo>
                  <a:lnTo>
                    <a:pt x="16200" y="4320"/>
                  </a:lnTo>
                  <a:lnTo>
                    <a:pt x="16200" y="17280"/>
                  </a:lnTo>
                  <a:lnTo>
                    <a:pt x="21600" y="17280"/>
                  </a:lnTo>
                  <a:lnTo>
                    <a:pt x="10800" y="21600"/>
                  </a:lnTo>
                  <a:lnTo>
                    <a:pt x="0" y="17280"/>
                  </a:lnTo>
                  <a:lnTo>
                    <a:pt x="5400" y="17280"/>
                  </a:lnTo>
                  <a:lnTo>
                    <a:pt x="5400" y="4320"/>
                  </a:lnTo>
                  <a:close/>
                  <a:moveTo>
                    <a:pt x="0" y="4320"/>
                  </a:moveTo>
                </a:path>
              </a:pathLst>
            </a:custGeom>
            <a:solidFill>
              <a:srgbClr val="808080"/>
            </a:solidFill>
            <a:ln w="50800" cap="flat">
              <a:noFill/>
              <a:miter lim="800000"/>
              <a:headEnd type="none" w="med" len="med"/>
              <a:tailEnd type="none" w="med" len="med"/>
            </a:ln>
          </p:spPr>
          <p:txBody>
            <a:bodyPr lIns="0" tIns="0" rIns="0" bIns="0"/>
            <a:lstStyle/>
            <a:p>
              <a:endParaRPr lang="zh-CN" altLang="en-US"/>
            </a:p>
          </p:txBody>
        </p:sp>
        <p:sp>
          <p:nvSpPr>
            <p:cNvPr id="451595" name="Rectangle 10"/>
            <p:cNvSpPr>
              <a:spLocks/>
            </p:cNvSpPr>
            <p:nvPr/>
          </p:nvSpPr>
          <p:spPr bwMode="auto">
            <a:xfrm>
              <a:off x="124" y="651"/>
              <a:ext cx="336" cy="242"/>
            </a:xfrm>
            <a:prstGeom prst="rect">
              <a:avLst/>
            </a:prstGeom>
            <a:noFill/>
            <a:ln w="12700">
              <a:noFill/>
              <a:miter lim="800000"/>
              <a:headEnd/>
              <a:tailEnd/>
            </a:ln>
          </p:spPr>
          <p:txBody>
            <a:bodyPr wrap="none" lIns="38100" tIns="38100" rIns="38100" bIns="38100" anchor="ctr">
              <a:spAutoFit/>
            </a:bodyPr>
            <a:lstStyle/>
            <a:p>
              <a:pPr algn="ctr"/>
              <a:r>
                <a:rPr lang="en-US" altLang="zh-CN" sz="2000">
                  <a:solidFill>
                    <a:srgbClr val="FFFFFF"/>
                  </a:solidFill>
                  <a:latin typeface="Arial Narrow" pitchFamily="34" charset="0"/>
                  <a:ea typeface="ヒラギノ角ゴ ProN W3"/>
                  <a:cs typeface="ヒラギノ角ゴ ProN W3"/>
                  <a:sym typeface="Arial Narrow" pitchFamily="34" charset="0"/>
                </a:rPr>
                <a:t>160x</a:t>
              </a:r>
            </a:p>
          </p:txBody>
        </p:sp>
      </p:grpSp>
      <p:sp>
        <p:nvSpPr>
          <p:cNvPr id="451596" name="Rectangle 11"/>
          <p:cNvSpPr>
            <a:spLocks/>
          </p:cNvSpPr>
          <p:nvPr/>
        </p:nvSpPr>
        <p:spPr bwMode="auto">
          <a:xfrm>
            <a:off x="3260685" y="4365625"/>
            <a:ext cx="1859099" cy="446276"/>
          </a:xfrm>
          <a:prstGeom prst="rect">
            <a:avLst/>
          </a:prstGeom>
          <a:noFill/>
          <a:ln w="50800">
            <a:noFill/>
            <a:miter lim="800000"/>
            <a:headEnd/>
            <a:tailEnd/>
          </a:ln>
        </p:spPr>
        <p:txBody>
          <a:bodyPr wrap="none" lIns="38100" tIns="38100" rIns="38100" bIns="38100">
            <a:spAutoFit/>
          </a:bodyPr>
          <a:lstStyle/>
          <a:p>
            <a:pPr algn="ctr"/>
            <a:r>
              <a:rPr lang="en-US" altLang="zh-CN" sz="2400">
                <a:solidFill>
                  <a:srgbClr val="5F5F5F"/>
                </a:solidFill>
                <a:latin typeface="Arial Black" pitchFamily="34" charset="0"/>
                <a:ea typeface="ヒラギノ角ゴ ProN W3"/>
                <a:cs typeface="ヒラギノ角ゴ ProN W3"/>
                <a:sym typeface="Arial Black" pitchFamily="34" charset="0"/>
              </a:rPr>
              <a:t>Triple loop</a:t>
            </a:r>
          </a:p>
        </p:txBody>
      </p:sp>
      <p:sp>
        <p:nvSpPr>
          <p:cNvPr id="451597" name="Rectangle 12"/>
          <p:cNvSpPr>
            <a:spLocks/>
          </p:cNvSpPr>
          <p:nvPr/>
        </p:nvSpPr>
        <p:spPr bwMode="auto">
          <a:xfrm>
            <a:off x="6538145" y="2744788"/>
            <a:ext cx="3416300" cy="495300"/>
          </a:xfrm>
          <a:prstGeom prst="rect">
            <a:avLst/>
          </a:prstGeom>
          <a:noFill/>
          <a:ln w="50800">
            <a:noFill/>
            <a:miter lim="800000"/>
            <a:headEnd/>
            <a:tailEnd/>
          </a:ln>
        </p:spPr>
        <p:txBody>
          <a:bodyPr lIns="38100" tIns="38100" rIns="38100" bIns="38100"/>
          <a:lstStyle/>
          <a:p>
            <a:pPr algn="ctr"/>
            <a:r>
              <a:rPr lang="en-US" altLang="zh-CN" sz="2400">
                <a:solidFill>
                  <a:srgbClr val="C00000"/>
                </a:solidFill>
                <a:latin typeface="Arial Black" pitchFamily="34" charset="0"/>
                <a:ea typeface="ヒラギノ角ゴ ProN W3"/>
                <a:cs typeface="ヒラギノ角ゴ ProN W3"/>
                <a:sym typeface="Arial Black" pitchFamily="34" charset="0"/>
              </a:rPr>
              <a:t>Best code (K. Goto)</a:t>
            </a:r>
          </a:p>
        </p:txBody>
      </p:sp>
      <p:sp>
        <p:nvSpPr>
          <p:cNvPr id="3" name="灯片编号占位符 2"/>
          <p:cNvSpPr>
            <a:spLocks noGrp="1"/>
          </p:cNvSpPr>
          <p:nvPr>
            <p:ph type="sldNum" sz="quarter" idx="12"/>
          </p:nvPr>
        </p:nvSpPr>
        <p:spPr/>
        <p:txBody>
          <a:bodyPr/>
          <a:lstStyle/>
          <a:p>
            <a:pPr>
              <a:defRPr/>
            </a:pPr>
            <a:fld id="{C216BFF0-EFD3-4032-AB41-10732D6B42A9}" type="slidenum">
              <a:rPr lang="en-US" altLang="zh-CN" smtClean="0"/>
              <a:pPr>
                <a:defRPr/>
              </a:pPr>
              <a:t>23</a:t>
            </a:fld>
            <a:endParaRPr lang="en-US" altLang="zh-CN"/>
          </a:p>
        </p:txBody>
      </p:sp>
    </p:spTree>
    <p:extLst>
      <p:ext uri="{BB962C8B-B14F-4D97-AF65-F5344CB8AC3E}">
        <p14:creationId xmlns:p14="http://schemas.microsoft.com/office/powerpoint/2010/main" val="1246545423"/>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499"/>
                                          </p:stCondLst>
                                        </p:cTn>
                                        <p:tgtEl>
                                          <p:spTgt spid="2458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3636" name="Rectangle 3"/>
          <p:cNvSpPr>
            <a:spLocks noGrp="1" noChangeArrowheads="1"/>
          </p:cNvSpPr>
          <p:nvPr>
            <p:ph type="title" idx="4294967295"/>
          </p:nvPr>
        </p:nvSpPr>
        <p:spPr>
          <a:xfrm>
            <a:off x="2016125" y="454485"/>
            <a:ext cx="8229600" cy="561975"/>
          </a:xfrm>
        </p:spPr>
        <p:txBody>
          <a:bodyPr vert="horz" wrap="square" lIns="38100" tIns="38100" rIns="38100" bIns="38100" numCol="1" anchor="ctr" anchorCtr="0" compatLnSpc="1">
            <a:prstTxWarp prst="textNoShape">
              <a:avLst/>
            </a:prstTxWarp>
          </a:bodyPr>
          <a:lstStyle/>
          <a:p>
            <a:pPr marL="119063" indent="-119063" eaLnBrk="1" hangingPunct="1"/>
            <a:r>
              <a:rPr lang="zh-CN" altLang="en-US" dirty="0"/>
              <a:t>用</a:t>
            </a:r>
            <a:r>
              <a:rPr lang="zh-CN" altLang="en-US" dirty="0">
                <a:latin typeface="黑体"/>
              </a:rPr>
              <a:t>“</a:t>
            </a:r>
            <a:r>
              <a:rPr lang="zh-CN" altLang="en-US" dirty="0"/>
              <a:t>系统思维</a:t>
            </a:r>
            <a:r>
              <a:rPr lang="zh-CN" altLang="en-US" dirty="0">
                <a:latin typeface="黑体"/>
              </a:rPr>
              <a:t>”</a:t>
            </a:r>
            <a:r>
              <a:rPr lang="zh-CN" altLang="en-US" dirty="0"/>
              <a:t>分析问题</a:t>
            </a:r>
            <a:endParaRPr lang="en-US" altLang="zh-CN" dirty="0"/>
          </a:p>
        </p:txBody>
      </p:sp>
      <p:graphicFrame>
        <p:nvGraphicFramePr>
          <p:cNvPr id="453637" name="Object 5"/>
          <p:cNvGraphicFramePr>
            <a:graphicFrameLocks/>
          </p:cNvGraphicFramePr>
          <p:nvPr>
            <p:extLst>
              <p:ext uri="{D42A27DB-BD31-4B8C-83A1-F6EECF244321}">
                <p14:modId xmlns:p14="http://schemas.microsoft.com/office/powerpoint/2010/main" val="3665162738"/>
              </p:ext>
            </p:extLst>
          </p:nvPr>
        </p:nvGraphicFramePr>
        <p:xfrm>
          <a:off x="1791264" y="1560512"/>
          <a:ext cx="8362950" cy="4251787"/>
        </p:xfrm>
        <a:graphic>
          <a:graphicData uri="http://schemas.openxmlformats.org/presentationml/2006/ole">
            <mc:AlternateContent xmlns:mc="http://schemas.openxmlformats.org/markup-compatibility/2006">
              <mc:Choice xmlns:v="urn:schemas-microsoft-com:vml" Requires="v">
                <p:oleObj name="Chart" r:id="rId3" imgW="11936508" imgH="6173239" progId="MSGraph.Chart.8">
                  <p:embed/>
                </p:oleObj>
              </mc:Choice>
              <mc:Fallback>
                <p:oleObj name="Chart" r:id="rId3" imgW="11936508" imgH="6173239" progId="MSGraph.Chart.8">
                  <p:embed/>
                  <p:pic>
                    <p:nvPicPr>
                      <p:cNvPr id="0" name=""/>
                      <p:cNvPicPr>
                        <a:picLocks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791264" y="1560512"/>
                        <a:ext cx="8362950" cy="4251787"/>
                      </a:xfrm>
                      <a:prstGeom prst="rect">
                        <a:avLst/>
                      </a:prstGeom>
                      <a:noFill/>
                    </p:spPr>
                  </p:pic>
                </p:oleObj>
              </mc:Fallback>
            </mc:AlternateContent>
          </a:graphicData>
        </a:graphic>
      </p:graphicFrame>
      <p:grpSp>
        <p:nvGrpSpPr>
          <p:cNvPr id="453638" name="Group 5"/>
          <p:cNvGrpSpPr>
            <a:grpSpLocks/>
          </p:cNvGrpSpPr>
          <p:nvPr/>
        </p:nvGrpSpPr>
        <p:grpSpPr bwMode="auto">
          <a:xfrm>
            <a:off x="2016125" y="998538"/>
            <a:ext cx="6934200" cy="1308100"/>
            <a:chOff x="0" y="0"/>
            <a:chExt cx="4368" cy="824"/>
          </a:xfrm>
        </p:grpSpPr>
        <p:sp>
          <p:nvSpPr>
            <p:cNvPr id="453639" name="Rectangle 6"/>
            <p:cNvSpPr>
              <a:spLocks/>
            </p:cNvSpPr>
            <p:nvPr/>
          </p:nvSpPr>
          <p:spPr bwMode="auto">
            <a:xfrm>
              <a:off x="0" y="0"/>
              <a:ext cx="4368" cy="824"/>
            </a:xfrm>
            <a:prstGeom prst="rect">
              <a:avLst/>
            </a:prstGeom>
            <a:noFill/>
            <a:ln w="9525">
              <a:noFill/>
              <a:round/>
              <a:headEnd/>
              <a:tailEnd/>
            </a:ln>
          </p:spPr>
          <p:txBody>
            <a:bodyPr lIns="12700" tIns="12700" rIns="12700" bIns="12700"/>
            <a:lstStyle/>
            <a:p>
              <a:r>
                <a:rPr lang="en-US" altLang="zh-CN" b="1">
                  <a:latin typeface="Helvetica Neue"/>
                  <a:ea typeface="Helvetica Neue"/>
                  <a:cs typeface="Helvetica Neue"/>
                  <a:sym typeface="Helvetica Neue"/>
                </a:rPr>
                <a:t>Matrix-Matrix Multiplication (MMM) on 2 x Core 2 Duo 3 GHz</a:t>
              </a:r>
              <a:endParaRPr lang="en-US" altLang="zh-CN" sz="1600" b="1">
                <a:latin typeface="Helvetica Neue"/>
                <a:ea typeface="Helvetica Neue"/>
                <a:cs typeface="Helvetica Neue"/>
                <a:sym typeface="Helvetica Neue"/>
              </a:endParaRPr>
            </a:p>
            <a:p>
              <a:r>
                <a:rPr lang="en-US" altLang="zh-CN" sz="1600" b="1">
                  <a:solidFill>
                    <a:srgbClr val="5F5F5F"/>
                  </a:solidFill>
                  <a:latin typeface="Helvetica Neue"/>
                  <a:ea typeface="Helvetica Neue"/>
                  <a:cs typeface="Helvetica Neue"/>
                  <a:sym typeface="Helvetica Neue"/>
                </a:rPr>
                <a:t>Gflop/s</a:t>
              </a:r>
            </a:p>
          </p:txBody>
        </p:sp>
      </p:grpSp>
      <p:sp>
        <p:nvSpPr>
          <p:cNvPr id="453640" name="Rectangle 7"/>
          <p:cNvSpPr>
            <a:spLocks/>
          </p:cNvSpPr>
          <p:nvPr/>
        </p:nvSpPr>
        <p:spPr bwMode="auto">
          <a:xfrm>
            <a:off x="4353451" y="4722572"/>
            <a:ext cx="4384149" cy="292388"/>
          </a:xfrm>
          <a:prstGeom prst="rect">
            <a:avLst/>
          </a:prstGeom>
          <a:noFill/>
          <a:ln w="50800">
            <a:noFill/>
            <a:miter lim="800000"/>
            <a:headEnd/>
            <a:tailEnd/>
          </a:ln>
        </p:spPr>
        <p:txBody>
          <a:bodyPr wrap="none" lIns="38100" tIns="38100" rIns="38100" bIns="38100">
            <a:spAutoFit/>
          </a:bodyPr>
          <a:lstStyle/>
          <a:p>
            <a:pPr algn="ctr">
              <a:spcBef>
                <a:spcPts val="325"/>
              </a:spcBef>
            </a:pPr>
            <a:r>
              <a:rPr lang="en-US" altLang="zh-CN" sz="1400" dirty="0">
                <a:solidFill>
                  <a:srgbClr val="5F5F5F"/>
                </a:solidFill>
                <a:latin typeface="Verdana" pitchFamily="34" charset="0"/>
                <a:ea typeface="ヒラギノ角ゴ ProN W3"/>
                <a:cs typeface="ヒラギノ角ゴ ProN W3"/>
                <a:sym typeface="Verdana" pitchFamily="34" charset="0"/>
              </a:rPr>
              <a:t>Memory hierarchy and other optimizations: 20x</a:t>
            </a:r>
          </a:p>
        </p:txBody>
      </p:sp>
      <p:sp>
        <p:nvSpPr>
          <p:cNvPr id="453641" name="Rectangle 8"/>
          <p:cNvSpPr>
            <a:spLocks/>
          </p:cNvSpPr>
          <p:nvPr/>
        </p:nvSpPr>
        <p:spPr bwMode="auto">
          <a:xfrm>
            <a:off x="4857750" y="4194175"/>
            <a:ext cx="2692400" cy="350838"/>
          </a:xfrm>
          <a:prstGeom prst="rect">
            <a:avLst/>
          </a:prstGeom>
          <a:noFill/>
          <a:ln w="50800">
            <a:noFill/>
            <a:miter lim="800000"/>
            <a:headEnd/>
            <a:tailEnd/>
          </a:ln>
        </p:spPr>
        <p:txBody>
          <a:bodyPr wrap="none" lIns="38100" tIns="38100" rIns="38100" bIns="38100">
            <a:spAutoFit/>
          </a:bodyPr>
          <a:lstStyle/>
          <a:p>
            <a:pPr algn="ctr">
              <a:spcBef>
                <a:spcPts val="425"/>
              </a:spcBef>
            </a:pPr>
            <a:r>
              <a:rPr lang="en-US" altLang="zh-CN" dirty="0">
                <a:solidFill>
                  <a:srgbClr val="EA6966"/>
                </a:solidFill>
                <a:latin typeface="Verdana" pitchFamily="34" charset="0"/>
                <a:ea typeface="ヒラギノ角ゴ ProN W3"/>
                <a:cs typeface="ヒラギノ角ゴ ProN W3"/>
                <a:sym typeface="Verdana" pitchFamily="34" charset="0"/>
              </a:rPr>
              <a:t>Vector instructions: 4x</a:t>
            </a:r>
          </a:p>
        </p:txBody>
      </p:sp>
      <p:sp>
        <p:nvSpPr>
          <p:cNvPr id="453642" name="Rectangle 9"/>
          <p:cNvSpPr>
            <a:spLocks/>
          </p:cNvSpPr>
          <p:nvPr/>
        </p:nvSpPr>
        <p:spPr bwMode="auto">
          <a:xfrm>
            <a:off x="4290218" y="2153904"/>
            <a:ext cx="2386013" cy="350837"/>
          </a:xfrm>
          <a:prstGeom prst="rect">
            <a:avLst/>
          </a:prstGeom>
          <a:noFill/>
          <a:ln w="50800">
            <a:noFill/>
            <a:miter lim="800000"/>
            <a:headEnd/>
            <a:tailEnd/>
          </a:ln>
        </p:spPr>
        <p:txBody>
          <a:bodyPr wrap="none" lIns="38100" tIns="38100" rIns="38100" bIns="38100">
            <a:spAutoFit/>
          </a:bodyPr>
          <a:lstStyle/>
          <a:p>
            <a:pPr algn="ctr">
              <a:spcBef>
                <a:spcPts val="425"/>
              </a:spcBef>
            </a:pPr>
            <a:r>
              <a:rPr lang="en-US" altLang="zh-CN" dirty="0">
                <a:solidFill>
                  <a:srgbClr val="CC0000"/>
                </a:solidFill>
                <a:latin typeface="Verdana" pitchFamily="34" charset="0"/>
                <a:ea typeface="ヒラギノ角ゴ ProN W3"/>
                <a:cs typeface="ヒラギノ角ゴ ProN W3"/>
                <a:sym typeface="Verdana" pitchFamily="34" charset="0"/>
              </a:rPr>
              <a:t>Multiple threads: 4x</a:t>
            </a:r>
          </a:p>
        </p:txBody>
      </p:sp>
      <p:sp>
        <p:nvSpPr>
          <p:cNvPr id="453643" name="Rectangle 10"/>
          <p:cNvSpPr>
            <a:spLocks/>
          </p:cNvSpPr>
          <p:nvPr/>
        </p:nvSpPr>
        <p:spPr bwMode="auto">
          <a:xfrm>
            <a:off x="2046288" y="5634038"/>
            <a:ext cx="8242300" cy="1054100"/>
          </a:xfrm>
          <a:prstGeom prst="rect">
            <a:avLst/>
          </a:prstGeom>
          <a:noFill/>
          <a:ln w="9525">
            <a:noFill/>
            <a:miter lim="800000"/>
            <a:headEnd/>
            <a:tailEnd/>
          </a:ln>
        </p:spPr>
        <p:txBody>
          <a:bodyPr lIns="38100" tIns="38100" rIns="38100" bIns="38100"/>
          <a:lstStyle/>
          <a:p>
            <a:pPr marL="304800" indent="-304800">
              <a:spcBef>
                <a:spcPts val="475"/>
              </a:spcBef>
              <a:buClr>
                <a:srgbClr val="990000"/>
              </a:buClr>
              <a:buSzPct val="60000"/>
              <a:buFont typeface="Wingdings 2" pitchFamily="18" charset="2"/>
              <a:buChar char="¢"/>
            </a:pPr>
            <a:r>
              <a:rPr lang="en-US" altLang="zh-CN" sz="2000">
                <a:latin typeface="Calibri" pitchFamily="34" charset="0"/>
                <a:ea typeface="ヒラギノ角ゴ ProN W3"/>
                <a:cs typeface="ヒラギノ角ゴ ProN W3"/>
                <a:sym typeface="Calibri" pitchFamily="34" charset="0"/>
              </a:rPr>
              <a:t>Reason for 20x: Blocking or tiling, loop unrolling, array scalarization, instruction scheduling, search to find best choice</a:t>
            </a:r>
            <a:endParaRPr lang="en-US" altLang="zh-CN" sz="4200">
              <a:latin typeface="Arial Narrow" pitchFamily="34" charset="0"/>
              <a:ea typeface="Lucida Grande"/>
              <a:cs typeface="Lucida Grande"/>
              <a:sym typeface="Arial Narrow" pitchFamily="34" charset="0"/>
            </a:endParaRPr>
          </a:p>
          <a:p>
            <a:pPr marL="304800" indent="-304800">
              <a:spcBef>
                <a:spcPts val="475"/>
              </a:spcBef>
              <a:buClr>
                <a:srgbClr val="990000"/>
              </a:buClr>
              <a:buSzPct val="60000"/>
              <a:buFont typeface="Wingdings 2" pitchFamily="18" charset="2"/>
              <a:buChar char="¢"/>
            </a:pPr>
            <a:r>
              <a:rPr lang="en-US" altLang="zh-CN" sz="2000">
                <a:solidFill>
                  <a:srgbClr val="C00000"/>
                </a:solidFill>
                <a:latin typeface="Calibri Bold Italic" pitchFamily="34" charset="0"/>
                <a:ea typeface="ヒラギノ角ゴ ProN W3"/>
                <a:cs typeface="ヒラギノ角ゴ ProN W3"/>
                <a:sym typeface="Calibri Bold Italic" pitchFamily="34" charset="0"/>
              </a:rPr>
              <a:t>Effect: fewer register spills,  L1/L2 cache misses, and TLB misses</a:t>
            </a:r>
          </a:p>
        </p:txBody>
      </p:sp>
      <p:sp>
        <p:nvSpPr>
          <p:cNvPr id="3" name="灯片编号占位符 2"/>
          <p:cNvSpPr>
            <a:spLocks noGrp="1"/>
          </p:cNvSpPr>
          <p:nvPr>
            <p:ph type="sldNum" sz="quarter" idx="12"/>
          </p:nvPr>
        </p:nvSpPr>
        <p:spPr/>
        <p:txBody>
          <a:bodyPr/>
          <a:lstStyle/>
          <a:p>
            <a:pPr>
              <a:defRPr/>
            </a:pPr>
            <a:fld id="{C216BFF0-EFD3-4032-AB41-10732D6B42A9}" type="slidenum">
              <a:rPr lang="en-US" altLang="zh-CN" smtClean="0"/>
              <a:pPr>
                <a:defRPr/>
              </a:pPr>
              <a:t>24</a:t>
            </a:fld>
            <a:endParaRPr lang="en-US" altLang="zh-CN"/>
          </a:p>
        </p:txBody>
      </p:sp>
      <p:sp>
        <p:nvSpPr>
          <p:cNvPr id="2" name="文本框 1">
            <a:extLst>
              <a:ext uri="{FF2B5EF4-FFF2-40B4-BE49-F238E27FC236}">
                <a16:creationId xmlns:a16="http://schemas.microsoft.com/office/drawing/2014/main" id="{C9CAEDDC-4030-419C-9B38-34150D6B87A7}"/>
              </a:ext>
            </a:extLst>
          </p:cNvPr>
          <p:cNvSpPr txBox="1"/>
          <p:nvPr/>
        </p:nvSpPr>
        <p:spPr>
          <a:xfrm>
            <a:off x="9843541" y="3105834"/>
            <a:ext cx="1738859" cy="923330"/>
          </a:xfrm>
          <a:prstGeom prst="rect">
            <a:avLst/>
          </a:prstGeom>
          <a:noFill/>
        </p:spPr>
        <p:txBody>
          <a:bodyPr wrap="square" rtlCol="0">
            <a:spAutoFit/>
          </a:bodyPr>
          <a:lstStyle/>
          <a:p>
            <a:r>
              <a:rPr lang="en-US" altLang="zh-CN" dirty="0"/>
              <a:t>X86 MMX/SSE</a:t>
            </a:r>
          </a:p>
          <a:p>
            <a:r>
              <a:rPr lang="en-US" altLang="zh-CN" dirty="0"/>
              <a:t>ARM NEON</a:t>
            </a:r>
          </a:p>
          <a:p>
            <a:r>
              <a:rPr lang="zh-CN" altLang="en-US" dirty="0"/>
              <a:t>向量编程例子</a:t>
            </a:r>
          </a:p>
        </p:txBody>
      </p:sp>
      <p:cxnSp>
        <p:nvCxnSpPr>
          <p:cNvPr id="5" name="直接箭头连接符 4">
            <a:extLst>
              <a:ext uri="{FF2B5EF4-FFF2-40B4-BE49-F238E27FC236}">
                <a16:creationId xmlns:a16="http://schemas.microsoft.com/office/drawing/2014/main" id="{3A48A787-2232-4101-82CE-14FE38B86B44}"/>
              </a:ext>
            </a:extLst>
          </p:cNvPr>
          <p:cNvCxnSpPr/>
          <p:nvPr/>
        </p:nvCxnSpPr>
        <p:spPr>
          <a:xfrm flipH="1">
            <a:off x="7550150" y="3428999"/>
            <a:ext cx="2293391" cy="940595"/>
          </a:xfrm>
          <a:prstGeom prst="straightConnector1">
            <a:avLst/>
          </a:prstGeom>
          <a:ln w="38100">
            <a:prstDash val="dash"/>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358306574"/>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additive="base">
                                        <p:cTn id="7" dur="500" fill="hold"/>
                                        <p:tgtEl>
                                          <p:spTgt spid="5"/>
                                        </p:tgtEl>
                                        <p:attrNameLst>
                                          <p:attrName>ppt_x</p:attrName>
                                        </p:attrNameLst>
                                      </p:cBhvr>
                                      <p:tavLst>
                                        <p:tav tm="0">
                                          <p:val>
                                            <p:strVal val="#ppt_x"/>
                                          </p:val>
                                        </p:tav>
                                        <p:tav tm="100000">
                                          <p:val>
                                            <p:strVal val="#ppt_x"/>
                                          </p:val>
                                        </p:tav>
                                      </p:tavLst>
                                    </p:anim>
                                    <p:anim calcmode="lin" valueType="num">
                                      <p:cBhvr additive="base">
                                        <p:cTn id="8" dur="500" fill="hold"/>
                                        <p:tgtEl>
                                          <p:spTgt spid="5"/>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2"/>
                                        </p:tgtEl>
                                        <p:attrNameLst>
                                          <p:attrName>style.visibility</p:attrName>
                                        </p:attrNameLst>
                                      </p:cBhvr>
                                      <p:to>
                                        <p:strVal val="visible"/>
                                      </p:to>
                                    </p:set>
                                    <p:anim calcmode="lin" valueType="num">
                                      <p:cBhvr additive="base">
                                        <p:cTn id="11" dur="500" fill="hold"/>
                                        <p:tgtEl>
                                          <p:spTgt spid="2"/>
                                        </p:tgtEl>
                                        <p:attrNameLst>
                                          <p:attrName>ppt_x</p:attrName>
                                        </p:attrNameLst>
                                      </p:cBhvr>
                                      <p:tavLst>
                                        <p:tav tm="0">
                                          <p:val>
                                            <p:strVal val="#ppt_x"/>
                                          </p:val>
                                        </p:tav>
                                        <p:tav tm="100000">
                                          <p:val>
                                            <p:strVal val="#ppt_x"/>
                                          </p:val>
                                        </p:tav>
                                      </p:tavLst>
                                    </p:anim>
                                    <p:anim calcmode="lin" valueType="num">
                                      <p:cBhvr additive="base">
                                        <p:cTn id="12" dur="500" fill="hold"/>
                                        <p:tgtEl>
                                          <p:spTgt spid="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2"/>
          </p:nvPr>
        </p:nvSpPr>
        <p:spPr>
          <a:xfrm>
            <a:off x="11149236" y="6294567"/>
            <a:ext cx="2844800" cy="365125"/>
          </a:xfrm>
        </p:spPr>
        <p:txBody>
          <a:bodyPr/>
          <a:lstStyle/>
          <a:p>
            <a:pPr>
              <a:defRPr/>
            </a:pPr>
            <a:fld id="{891184C0-916E-4CCA-8FFE-169A3289BBF6}" type="slidenum">
              <a:rPr lang="zh-CN" altLang="en-US" smtClean="0"/>
              <a:pPr>
                <a:defRPr/>
              </a:pPr>
              <a:t>25</a:t>
            </a:fld>
            <a:endParaRPr lang="zh-CN" altLang="en-US"/>
          </a:p>
        </p:txBody>
      </p:sp>
      <p:pic>
        <p:nvPicPr>
          <p:cNvPr id="3" name="图片 2"/>
          <p:cNvPicPr>
            <a:picLocks noChangeAspect="1"/>
          </p:cNvPicPr>
          <p:nvPr/>
        </p:nvPicPr>
        <p:blipFill>
          <a:blip r:embed="rId3"/>
          <a:stretch>
            <a:fillRect/>
          </a:stretch>
        </p:blipFill>
        <p:spPr>
          <a:xfrm>
            <a:off x="4576316" y="3025660"/>
            <a:ext cx="2485777" cy="3153335"/>
          </a:xfrm>
          <a:prstGeom prst="rect">
            <a:avLst/>
          </a:prstGeom>
        </p:spPr>
      </p:pic>
      <p:sp>
        <p:nvSpPr>
          <p:cNvPr id="4" name="文本框 3"/>
          <p:cNvSpPr txBox="1"/>
          <p:nvPr/>
        </p:nvSpPr>
        <p:spPr>
          <a:xfrm>
            <a:off x="1712574" y="4309939"/>
            <a:ext cx="2158116" cy="584775"/>
          </a:xfrm>
          <a:prstGeom prst="rect">
            <a:avLst/>
          </a:prstGeom>
          <a:noFill/>
        </p:spPr>
        <p:txBody>
          <a:bodyPr wrap="square" rtlCol="0">
            <a:spAutoFit/>
          </a:bodyPr>
          <a:lstStyle/>
          <a:p>
            <a:r>
              <a:rPr lang="zh-CN" altLang="en-US" sz="3200" dirty="0"/>
              <a:t>辅助阅读</a:t>
            </a:r>
          </a:p>
        </p:txBody>
      </p:sp>
      <p:pic>
        <p:nvPicPr>
          <p:cNvPr id="5" name="图片 4"/>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8473346" y="3025660"/>
            <a:ext cx="3153335" cy="3153335"/>
          </a:xfrm>
          <a:prstGeom prst="rect">
            <a:avLst/>
          </a:prstGeom>
        </p:spPr>
      </p:pic>
      <p:sp>
        <p:nvSpPr>
          <p:cNvPr id="6" name="矩形 5"/>
          <p:cNvSpPr/>
          <p:nvPr/>
        </p:nvSpPr>
        <p:spPr>
          <a:xfrm>
            <a:off x="1466333" y="1152990"/>
            <a:ext cx="8999840" cy="1477328"/>
          </a:xfrm>
          <a:prstGeom prst="rect">
            <a:avLst/>
          </a:prstGeom>
        </p:spPr>
        <p:txBody>
          <a:bodyPr wrap="square">
            <a:spAutoFit/>
          </a:bodyPr>
          <a:lstStyle/>
          <a:p>
            <a:r>
              <a:rPr lang="zh-CN" altLang="en-US" b="1" dirty="0"/>
              <a:t>实验环境</a:t>
            </a:r>
            <a:endParaRPr lang="en-US" altLang="zh-CN" b="1" dirty="0"/>
          </a:p>
          <a:p>
            <a:r>
              <a:rPr lang="zh-CN" altLang="en-US" b="1" dirty="0"/>
              <a:t>自建：</a:t>
            </a:r>
            <a:r>
              <a:rPr lang="zh-CN" altLang="en-US" dirty="0"/>
              <a:t>要求学生要架设一个</a:t>
            </a:r>
            <a:r>
              <a:rPr lang="en-US" altLang="zh-CN" dirty="0"/>
              <a:t>Linux/IA32</a:t>
            </a:r>
            <a:r>
              <a:rPr lang="zh-CN" altLang="en-US" dirty="0"/>
              <a:t>或</a:t>
            </a:r>
            <a:r>
              <a:rPr lang="en-US" altLang="zh-CN" dirty="0"/>
              <a:t>Linux/IA64</a:t>
            </a:r>
            <a:r>
              <a:rPr lang="zh-CN" altLang="en-US" dirty="0"/>
              <a:t>的计算机系统；或者在</a:t>
            </a:r>
            <a:r>
              <a:rPr lang="en-US" altLang="zh-CN" dirty="0"/>
              <a:t>windows</a:t>
            </a:r>
            <a:r>
              <a:rPr lang="zh-CN" altLang="en-US" dirty="0"/>
              <a:t>下使用</a:t>
            </a:r>
            <a:r>
              <a:rPr lang="en-US" altLang="zh-CN" dirty="0" err="1"/>
              <a:t>cygwin</a:t>
            </a:r>
            <a:r>
              <a:rPr lang="zh-CN" altLang="en-US" dirty="0"/>
              <a:t>环境作替代。</a:t>
            </a:r>
            <a:endParaRPr lang="en-US" altLang="zh-CN" dirty="0"/>
          </a:p>
          <a:p>
            <a:endParaRPr lang="en-US" altLang="zh-CN" dirty="0"/>
          </a:p>
          <a:p>
            <a:r>
              <a:rPr lang="zh-CN" altLang="en-US" b="1" dirty="0"/>
              <a:t>公共服务器</a:t>
            </a:r>
            <a:r>
              <a:rPr lang="zh-CN" altLang="en-US" dirty="0"/>
              <a:t>：</a:t>
            </a:r>
            <a:r>
              <a:rPr lang="en-US" altLang="zh-CN" dirty="0"/>
              <a:t>telnet</a:t>
            </a:r>
            <a:r>
              <a:rPr lang="zh-CN" altLang="en-US" dirty="0"/>
              <a:t>或</a:t>
            </a:r>
            <a:r>
              <a:rPr lang="en-US" altLang="zh-CN" dirty="0" err="1"/>
              <a:t>ssh</a:t>
            </a:r>
            <a:r>
              <a:rPr lang="zh-CN" altLang="en-US" dirty="0"/>
              <a:t>到</a:t>
            </a:r>
            <a:r>
              <a:rPr lang="en-US" altLang="zh-CN" dirty="0"/>
              <a:t>hpc.szu.edu.cn</a:t>
            </a:r>
            <a:r>
              <a:rPr lang="zh-CN" altLang="en-US" dirty="0"/>
              <a:t>上</a:t>
            </a:r>
          </a:p>
        </p:txBody>
      </p:sp>
    </p:spTree>
    <p:extLst>
      <p:ext uri="{BB962C8B-B14F-4D97-AF65-F5344CB8AC3E}">
        <p14:creationId xmlns:p14="http://schemas.microsoft.com/office/powerpoint/2010/main" val="3076276018"/>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5074" name="Rectangle 2"/>
          <p:cNvSpPr>
            <a:spLocks noGrp="1" noChangeArrowheads="1"/>
          </p:cNvSpPr>
          <p:nvPr>
            <p:ph type="title"/>
          </p:nvPr>
        </p:nvSpPr>
        <p:spPr>
          <a:xfrm>
            <a:off x="4838700" y="361259"/>
            <a:ext cx="6379029" cy="561975"/>
          </a:xfrm>
        </p:spPr>
        <p:txBody>
          <a:bodyPr/>
          <a:lstStyle/>
          <a:p>
            <a:r>
              <a:rPr lang="zh-CN" altLang="en-US" sz="3600" dirty="0"/>
              <a:t>课程实验</a:t>
            </a:r>
            <a:endParaRPr lang="en-US" altLang="zh-CN" sz="3600" dirty="0"/>
          </a:p>
        </p:txBody>
      </p:sp>
      <p:graphicFrame>
        <p:nvGraphicFramePr>
          <p:cNvPr id="4" name="表格 3"/>
          <p:cNvGraphicFramePr>
            <a:graphicFrameLocks noGrp="1"/>
          </p:cNvGraphicFramePr>
          <p:nvPr>
            <p:extLst>
              <p:ext uri="{D42A27DB-BD31-4B8C-83A1-F6EECF244321}">
                <p14:modId xmlns:p14="http://schemas.microsoft.com/office/powerpoint/2010/main" val="2339773078"/>
              </p:ext>
            </p:extLst>
          </p:nvPr>
        </p:nvGraphicFramePr>
        <p:xfrm>
          <a:off x="1808229" y="923234"/>
          <a:ext cx="8518240" cy="5701121"/>
        </p:xfrm>
        <a:graphic>
          <a:graphicData uri="http://schemas.openxmlformats.org/drawingml/2006/table">
            <a:tbl>
              <a:tblPr firstRow="1" bandRow="1">
                <a:tableStyleId>{5C22544A-7EE6-4342-B048-85BDC9FD1C3A}</a:tableStyleId>
              </a:tblPr>
              <a:tblGrid>
                <a:gridCol w="372336">
                  <a:extLst>
                    <a:ext uri="{9D8B030D-6E8A-4147-A177-3AD203B41FA5}">
                      <a16:colId xmlns:a16="http://schemas.microsoft.com/office/drawing/2014/main" val="20000"/>
                    </a:ext>
                  </a:extLst>
                </a:gridCol>
                <a:gridCol w="1575175">
                  <a:extLst>
                    <a:ext uri="{9D8B030D-6E8A-4147-A177-3AD203B41FA5}">
                      <a16:colId xmlns:a16="http://schemas.microsoft.com/office/drawing/2014/main" val="20001"/>
                    </a:ext>
                  </a:extLst>
                </a:gridCol>
                <a:gridCol w="5850650">
                  <a:extLst>
                    <a:ext uri="{9D8B030D-6E8A-4147-A177-3AD203B41FA5}">
                      <a16:colId xmlns:a16="http://schemas.microsoft.com/office/drawing/2014/main" val="20002"/>
                    </a:ext>
                  </a:extLst>
                </a:gridCol>
                <a:gridCol w="720079">
                  <a:extLst>
                    <a:ext uri="{9D8B030D-6E8A-4147-A177-3AD203B41FA5}">
                      <a16:colId xmlns:a16="http://schemas.microsoft.com/office/drawing/2014/main" val="20003"/>
                    </a:ext>
                  </a:extLst>
                </a:gridCol>
              </a:tblGrid>
              <a:tr h="403126">
                <a:tc>
                  <a:txBody>
                    <a:bodyPr/>
                    <a:lstStyle/>
                    <a:p>
                      <a:pPr algn="just">
                        <a:spcAft>
                          <a:spcPts val="0"/>
                        </a:spcAft>
                      </a:pPr>
                      <a:endParaRPr lang="zh-CN" sz="1800" b="0" kern="100" dirty="0">
                        <a:solidFill>
                          <a:schemeClr val="tx1"/>
                        </a:solidFill>
                        <a:effectLst/>
                        <a:latin typeface="Times New Roman" panose="02020603050405020304" pitchFamily="18" charset="0"/>
                        <a:ea typeface="+mn-ea"/>
                        <a:cs typeface="Times New Roman" panose="02020603050405020304" pitchFamily="18" charset="0"/>
                      </a:endParaRPr>
                    </a:p>
                  </a:txBody>
                  <a:tcPr marL="65692" marR="65692" marT="0" marB="0" anchor="ctr"/>
                </a:tc>
                <a:tc>
                  <a:txBody>
                    <a:bodyPr/>
                    <a:lstStyle/>
                    <a:p>
                      <a:pPr algn="ctr">
                        <a:spcAft>
                          <a:spcPts val="0"/>
                        </a:spcAft>
                      </a:pPr>
                      <a:r>
                        <a:rPr lang="zh-CN" sz="1800" b="0" kern="100" dirty="0">
                          <a:solidFill>
                            <a:schemeClr val="tx1"/>
                          </a:solidFill>
                          <a:effectLst/>
                          <a:latin typeface="Times New Roman" panose="02020603050405020304" pitchFamily="18" charset="0"/>
                          <a:ea typeface="+mn-ea"/>
                          <a:cs typeface="Times New Roman" panose="02020603050405020304" pitchFamily="18" charset="0"/>
                        </a:rPr>
                        <a:t>实验名称</a:t>
                      </a:r>
                    </a:p>
                  </a:txBody>
                  <a:tcPr marL="65692" marR="65692" marT="0" marB="0" anchor="ctr"/>
                </a:tc>
                <a:tc>
                  <a:txBody>
                    <a:bodyPr/>
                    <a:lstStyle/>
                    <a:p>
                      <a:pPr algn="ctr">
                        <a:spcAft>
                          <a:spcPts val="0"/>
                        </a:spcAft>
                      </a:pPr>
                      <a:r>
                        <a:rPr lang="zh-CN" sz="1800" b="0" kern="100" dirty="0">
                          <a:solidFill>
                            <a:schemeClr val="tx1"/>
                          </a:solidFill>
                          <a:effectLst/>
                          <a:latin typeface="Times New Roman" panose="02020603050405020304" pitchFamily="18" charset="0"/>
                          <a:ea typeface="+mn-ea"/>
                          <a:cs typeface="Times New Roman" panose="02020603050405020304" pitchFamily="18" charset="0"/>
                        </a:rPr>
                        <a:t>实验内容</a:t>
                      </a:r>
                    </a:p>
                  </a:txBody>
                  <a:tcPr marL="65692" marR="65692" marT="0" marB="0" anchor="ctr"/>
                </a:tc>
                <a:tc>
                  <a:txBody>
                    <a:bodyPr/>
                    <a:lstStyle/>
                    <a:p>
                      <a:pPr algn="just">
                        <a:spcAft>
                          <a:spcPts val="0"/>
                        </a:spcAft>
                      </a:pPr>
                      <a:r>
                        <a:rPr lang="zh-CN" sz="1800" b="0" kern="100" dirty="0">
                          <a:solidFill>
                            <a:schemeClr val="tx1"/>
                          </a:solidFill>
                          <a:effectLst/>
                          <a:latin typeface="Times New Roman" panose="02020603050405020304" pitchFamily="18" charset="0"/>
                          <a:ea typeface="+mn-ea"/>
                          <a:cs typeface="Times New Roman" panose="02020603050405020304" pitchFamily="18" charset="0"/>
                        </a:rPr>
                        <a:t>类型</a:t>
                      </a:r>
                    </a:p>
                  </a:txBody>
                  <a:tcPr marL="65692" marR="65692" marT="0" marB="0"/>
                </a:tc>
                <a:extLst>
                  <a:ext uri="{0D108BD9-81ED-4DB2-BD59-A6C34878D82A}">
                    <a16:rowId xmlns:a16="http://schemas.microsoft.com/office/drawing/2014/main" val="10000"/>
                  </a:ext>
                </a:extLst>
              </a:tr>
              <a:tr h="596406">
                <a:tc>
                  <a:txBody>
                    <a:bodyPr/>
                    <a:lstStyle/>
                    <a:p>
                      <a:pPr algn="just">
                        <a:spcAft>
                          <a:spcPts val="0"/>
                        </a:spcAft>
                      </a:pPr>
                      <a:r>
                        <a:rPr lang="en-US" sz="1800" b="0" kern="100">
                          <a:solidFill>
                            <a:schemeClr val="tx1"/>
                          </a:solidFill>
                          <a:effectLst/>
                          <a:latin typeface="Times New Roman" panose="02020603050405020304" pitchFamily="18" charset="0"/>
                          <a:ea typeface="+mn-ea"/>
                          <a:cs typeface="Times New Roman" panose="02020603050405020304" pitchFamily="18" charset="0"/>
                        </a:rPr>
                        <a:t>1</a:t>
                      </a:r>
                      <a:endParaRPr lang="zh-CN" sz="1800" b="0" kern="100">
                        <a:solidFill>
                          <a:schemeClr val="tx1"/>
                        </a:solidFill>
                        <a:effectLst/>
                        <a:latin typeface="Times New Roman" panose="02020603050405020304" pitchFamily="18" charset="0"/>
                        <a:ea typeface="+mn-ea"/>
                        <a:cs typeface="Times New Roman" panose="02020603050405020304" pitchFamily="18" charset="0"/>
                      </a:endParaRPr>
                    </a:p>
                  </a:txBody>
                  <a:tcPr marL="65692" marR="65692" marT="0" marB="0"/>
                </a:tc>
                <a:tc>
                  <a:txBody>
                    <a:bodyPr/>
                    <a:lstStyle/>
                    <a:p>
                      <a:pPr algn="just">
                        <a:spcAft>
                          <a:spcPts val="0"/>
                        </a:spcAft>
                      </a:pPr>
                      <a:r>
                        <a:rPr lang="zh-CN" sz="1800" b="0" kern="100">
                          <a:solidFill>
                            <a:schemeClr val="tx1"/>
                          </a:solidFill>
                          <a:effectLst/>
                          <a:latin typeface="Times New Roman" panose="02020603050405020304" pitchFamily="18" charset="0"/>
                          <a:ea typeface="+mn-ea"/>
                          <a:cs typeface="Times New Roman" panose="02020603050405020304" pitchFamily="18" charset="0"/>
                        </a:rPr>
                        <a:t>实验环境配置与使用</a:t>
                      </a:r>
                    </a:p>
                  </a:txBody>
                  <a:tcPr marL="65692" marR="65692" marT="0" marB="0"/>
                </a:tc>
                <a:tc>
                  <a:txBody>
                    <a:bodyPr/>
                    <a:lstStyle/>
                    <a:p>
                      <a:pPr algn="just">
                        <a:spcAft>
                          <a:spcPts val="0"/>
                        </a:spcAft>
                      </a:pPr>
                      <a:r>
                        <a:rPr lang="zh-CN" sz="1800" b="0" kern="100" dirty="0">
                          <a:solidFill>
                            <a:schemeClr val="tx1"/>
                          </a:solidFill>
                          <a:effectLst/>
                          <a:latin typeface="Times New Roman" panose="02020603050405020304" pitchFamily="18" charset="0"/>
                          <a:ea typeface="+mn-ea"/>
                          <a:cs typeface="Times New Roman" panose="02020603050405020304" pitchFamily="18" charset="0"/>
                        </a:rPr>
                        <a:t>配置</a:t>
                      </a:r>
                      <a:r>
                        <a:rPr lang="en-US" sz="1800" b="0" kern="100" dirty="0">
                          <a:solidFill>
                            <a:schemeClr val="tx1"/>
                          </a:solidFill>
                          <a:effectLst/>
                          <a:latin typeface="Times New Roman" panose="02020603050405020304" pitchFamily="18" charset="0"/>
                          <a:ea typeface="+mn-ea"/>
                          <a:cs typeface="Times New Roman" panose="02020603050405020304" pitchFamily="18" charset="0"/>
                        </a:rPr>
                        <a:t>Linux</a:t>
                      </a:r>
                      <a:r>
                        <a:rPr lang="zh-CN" sz="1800" b="0" kern="100" dirty="0">
                          <a:solidFill>
                            <a:schemeClr val="tx1"/>
                          </a:solidFill>
                          <a:effectLst/>
                          <a:latin typeface="Times New Roman" panose="02020603050405020304" pitchFamily="18" charset="0"/>
                          <a:ea typeface="+mn-ea"/>
                          <a:cs typeface="Times New Roman" panose="02020603050405020304" pitchFamily="18" charset="0"/>
                        </a:rPr>
                        <a:t>实验环境</a:t>
                      </a:r>
                      <a:r>
                        <a:rPr lang="zh-CN" altLang="en-US" sz="1800" b="0" kern="100" dirty="0">
                          <a:solidFill>
                            <a:schemeClr val="tx1"/>
                          </a:solidFill>
                          <a:effectLst/>
                          <a:latin typeface="Times New Roman" panose="02020603050405020304" pitchFamily="18" charset="0"/>
                          <a:ea typeface="+mn-ea"/>
                          <a:cs typeface="Times New Roman" panose="02020603050405020304" pitchFamily="18" charset="0"/>
                        </a:rPr>
                        <a:t>，</a:t>
                      </a:r>
                      <a:r>
                        <a:rPr lang="zh-CN" sz="1800" b="0" kern="100" dirty="0">
                          <a:solidFill>
                            <a:schemeClr val="tx1"/>
                          </a:solidFill>
                          <a:effectLst/>
                          <a:latin typeface="Times New Roman" panose="02020603050405020304" pitchFamily="18" charset="0"/>
                          <a:ea typeface="+mn-ea"/>
                          <a:cs typeface="Times New Roman" panose="02020603050405020304" pitchFamily="18" charset="0"/>
                        </a:rPr>
                        <a:t>掌握</a:t>
                      </a:r>
                      <a:r>
                        <a:rPr lang="en-US" sz="1800" b="0" kern="100" dirty="0">
                          <a:solidFill>
                            <a:schemeClr val="tx1"/>
                          </a:solidFill>
                          <a:effectLst/>
                          <a:latin typeface="Times New Roman" panose="02020603050405020304" pitchFamily="18" charset="0"/>
                          <a:ea typeface="+mn-ea"/>
                          <a:cs typeface="Times New Roman" panose="02020603050405020304" pitchFamily="18" charset="0"/>
                        </a:rPr>
                        <a:t>Linux</a:t>
                      </a:r>
                      <a:r>
                        <a:rPr lang="zh-CN" sz="1800" b="0" kern="100" dirty="0">
                          <a:solidFill>
                            <a:schemeClr val="tx1"/>
                          </a:solidFill>
                          <a:effectLst/>
                          <a:latin typeface="Times New Roman" panose="02020603050405020304" pitchFamily="18" charset="0"/>
                          <a:ea typeface="+mn-ea"/>
                          <a:cs typeface="Times New Roman" panose="02020603050405020304" pitchFamily="18" charset="0"/>
                        </a:rPr>
                        <a:t>下的</a:t>
                      </a:r>
                      <a:r>
                        <a:rPr lang="en-US" sz="1800" b="0" kern="100" dirty="0">
                          <a:solidFill>
                            <a:schemeClr val="tx1"/>
                          </a:solidFill>
                          <a:effectLst/>
                          <a:latin typeface="Times New Roman" panose="02020603050405020304" pitchFamily="18" charset="0"/>
                          <a:ea typeface="+mn-ea"/>
                          <a:cs typeface="Times New Roman" panose="02020603050405020304" pitchFamily="18" charset="0"/>
                        </a:rPr>
                        <a:t>C</a:t>
                      </a:r>
                      <a:r>
                        <a:rPr lang="zh-CN" sz="1800" b="0" kern="100" dirty="0">
                          <a:solidFill>
                            <a:schemeClr val="tx1"/>
                          </a:solidFill>
                          <a:effectLst/>
                          <a:latin typeface="Times New Roman" panose="02020603050405020304" pitchFamily="18" charset="0"/>
                          <a:ea typeface="+mn-ea"/>
                          <a:cs typeface="Times New Roman" panose="02020603050405020304" pitchFamily="18" charset="0"/>
                        </a:rPr>
                        <a:t>编程、</a:t>
                      </a:r>
                      <a:r>
                        <a:rPr lang="en-US" sz="1800" b="0" kern="100" dirty="0">
                          <a:solidFill>
                            <a:schemeClr val="tx1"/>
                          </a:solidFill>
                          <a:effectLst/>
                          <a:latin typeface="Times New Roman" panose="02020603050405020304" pitchFamily="18" charset="0"/>
                          <a:ea typeface="+mn-ea"/>
                          <a:cs typeface="Times New Roman" panose="02020603050405020304" pitchFamily="18" charset="0"/>
                        </a:rPr>
                        <a:t>GCC</a:t>
                      </a:r>
                      <a:r>
                        <a:rPr lang="zh-CN" sz="1800" b="0" kern="100" dirty="0">
                          <a:solidFill>
                            <a:schemeClr val="tx1"/>
                          </a:solidFill>
                          <a:effectLst/>
                          <a:latin typeface="Times New Roman" panose="02020603050405020304" pitchFamily="18" charset="0"/>
                          <a:ea typeface="+mn-ea"/>
                          <a:cs typeface="Times New Roman" panose="02020603050405020304" pitchFamily="18" charset="0"/>
                        </a:rPr>
                        <a:t>编译与链接、</a:t>
                      </a:r>
                      <a:r>
                        <a:rPr lang="en-US" sz="1800" b="0" kern="100" dirty="0">
                          <a:solidFill>
                            <a:schemeClr val="tx1"/>
                          </a:solidFill>
                          <a:effectLst/>
                          <a:latin typeface="Times New Roman" panose="02020603050405020304" pitchFamily="18" charset="0"/>
                          <a:ea typeface="+mn-ea"/>
                          <a:cs typeface="Times New Roman" panose="02020603050405020304" pitchFamily="18" charset="0"/>
                        </a:rPr>
                        <a:t>GDB</a:t>
                      </a:r>
                      <a:r>
                        <a:rPr lang="zh-CN" sz="1800" b="0" kern="100" dirty="0">
                          <a:solidFill>
                            <a:schemeClr val="tx1"/>
                          </a:solidFill>
                          <a:effectLst/>
                          <a:latin typeface="Times New Roman" panose="02020603050405020304" pitchFamily="18" charset="0"/>
                          <a:ea typeface="+mn-ea"/>
                          <a:cs typeface="Times New Roman" panose="02020603050405020304" pitchFamily="18" charset="0"/>
                        </a:rPr>
                        <a:t>调试</a:t>
                      </a:r>
                      <a:r>
                        <a:rPr lang="zh-CN" altLang="en-US" sz="1800" b="0" kern="100" dirty="0">
                          <a:solidFill>
                            <a:schemeClr val="tx1"/>
                          </a:solidFill>
                          <a:effectLst/>
                          <a:latin typeface="Times New Roman" panose="02020603050405020304" pitchFamily="18" charset="0"/>
                          <a:ea typeface="+mn-ea"/>
                          <a:cs typeface="Times New Roman" panose="02020603050405020304" pitchFamily="18" charset="0"/>
                        </a:rPr>
                        <a:t>等</a:t>
                      </a:r>
                      <a:r>
                        <a:rPr lang="zh-CN" sz="1800" b="0" kern="100" dirty="0">
                          <a:solidFill>
                            <a:schemeClr val="tx1"/>
                          </a:solidFill>
                          <a:effectLst/>
                          <a:latin typeface="Times New Roman" panose="02020603050405020304" pitchFamily="18" charset="0"/>
                          <a:ea typeface="+mn-ea"/>
                          <a:cs typeface="Times New Roman" panose="02020603050405020304" pitchFamily="18" charset="0"/>
                        </a:rPr>
                        <a:t>方法。</a:t>
                      </a:r>
                    </a:p>
                  </a:txBody>
                  <a:tcPr marL="65692" marR="65692" marT="0" marB="0"/>
                </a:tc>
                <a:tc>
                  <a:txBody>
                    <a:bodyPr/>
                    <a:lstStyle/>
                    <a:p>
                      <a:pPr algn="l">
                        <a:spcAft>
                          <a:spcPts val="0"/>
                        </a:spcAft>
                      </a:pPr>
                      <a:r>
                        <a:rPr lang="zh-CN" sz="1800" b="0" kern="100" dirty="0">
                          <a:solidFill>
                            <a:schemeClr val="tx1"/>
                          </a:solidFill>
                          <a:effectLst/>
                          <a:latin typeface="Times New Roman" panose="02020603050405020304" pitchFamily="18" charset="0"/>
                          <a:ea typeface="+mn-ea"/>
                          <a:cs typeface="Times New Roman" panose="02020603050405020304" pitchFamily="18" charset="0"/>
                        </a:rPr>
                        <a:t>验证</a:t>
                      </a:r>
                    </a:p>
                  </a:txBody>
                  <a:tcPr marL="65692" marR="65692" marT="0" marB="0"/>
                </a:tc>
                <a:extLst>
                  <a:ext uri="{0D108BD9-81ED-4DB2-BD59-A6C34878D82A}">
                    <a16:rowId xmlns:a16="http://schemas.microsoft.com/office/drawing/2014/main" val="10001"/>
                  </a:ext>
                </a:extLst>
              </a:tr>
              <a:tr h="894608">
                <a:tc>
                  <a:txBody>
                    <a:bodyPr/>
                    <a:lstStyle/>
                    <a:p>
                      <a:pPr algn="just">
                        <a:spcAft>
                          <a:spcPts val="0"/>
                        </a:spcAft>
                      </a:pPr>
                      <a:r>
                        <a:rPr lang="en-US" sz="1800" b="0" kern="100">
                          <a:solidFill>
                            <a:schemeClr val="tx1"/>
                          </a:solidFill>
                          <a:effectLst/>
                          <a:latin typeface="Times New Roman" panose="02020603050405020304" pitchFamily="18" charset="0"/>
                          <a:ea typeface="+mn-ea"/>
                          <a:cs typeface="Times New Roman" panose="02020603050405020304" pitchFamily="18" charset="0"/>
                        </a:rPr>
                        <a:t>2</a:t>
                      </a:r>
                      <a:endParaRPr lang="zh-CN" sz="1800" b="0" kern="100">
                        <a:solidFill>
                          <a:schemeClr val="tx1"/>
                        </a:solidFill>
                        <a:effectLst/>
                        <a:latin typeface="Times New Roman" panose="02020603050405020304" pitchFamily="18" charset="0"/>
                        <a:ea typeface="+mn-ea"/>
                        <a:cs typeface="Times New Roman" panose="02020603050405020304" pitchFamily="18" charset="0"/>
                      </a:endParaRPr>
                    </a:p>
                  </a:txBody>
                  <a:tcPr marL="65692" marR="65692" marT="0" marB="0"/>
                </a:tc>
                <a:tc>
                  <a:txBody>
                    <a:bodyPr/>
                    <a:lstStyle/>
                    <a:p>
                      <a:pPr algn="just">
                        <a:spcAft>
                          <a:spcPts val="0"/>
                        </a:spcAft>
                      </a:pPr>
                      <a:r>
                        <a:rPr lang="zh-CN" sz="1800" b="0" kern="100">
                          <a:solidFill>
                            <a:schemeClr val="tx1"/>
                          </a:solidFill>
                          <a:effectLst/>
                          <a:latin typeface="Times New Roman" panose="02020603050405020304" pitchFamily="18" charset="0"/>
                          <a:ea typeface="+mn-ea"/>
                          <a:cs typeface="Times New Roman" panose="02020603050405020304" pitchFamily="18" charset="0"/>
                        </a:rPr>
                        <a:t>数据表示实验</a:t>
                      </a:r>
                    </a:p>
                  </a:txBody>
                  <a:tcPr marL="65692" marR="65692" marT="0" marB="0"/>
                </a:tc>
                <a:tc>
                  <a:txBody>
                    <a:bodyPr/>
                    <a:lstStyle/>
                    <a:p>
                      <a:pPr algn="just">
                        <a:spcAft>
                          <a:spcPts val="0"/>
                        </a:spcAft>
                      </a:pPr>
                      <a:r>
                        <a:rPr lang="zh-CN" sz="1800" b="0" kern="100" dirty="0">
                          <a:solidFill>
                            <a:schemeClr val="tx1"/>
                          </a:solidFill>
                          <a:effectLst/>
                          <a:latin typeface="Times New Roman" panose="02020603050405020304" pitchFamily="18" charset="0"/>
                          <a:ea typeface="+mn-ea"/>
                          <a:cs typeface="Times New Roman" panose="02020603050405020304" pitchFamily="18" charset="0"/>
                        </a:rPr>
                        <a:t>使用有限类型和数量的运算操作实现一组给定功能（位操作、补码运算和浮点数操作）的函数。此实验将加深对数据二进制编码表示的了解。</a:t>
                      </a:r>
                    </a:p>
                  </a:txBody>
                  <a:tcPr marL="65692" marR="65692" marT="0" marB="0"/>
                </a:tc>
                <a:tc>
                  <a:txBody>
                    <a:bodyPr/>
                    <a:lstStyle/>
                    <a:p>
                      <a:pPr algn="l">
                        <a:spcAft>
                          <a:spcPts val="0"/>
                        </a:spcAft>
                      </a:pPr>
                      <a:r>
                        <a:rPr lang="zh-CN" sz="1800" b="0" kern="100" dirty="0">
                          <a:solidFill>
                            <a:schemeClr val="tx1"/>
                          </a:solidFill>
                          <a:effectLst/>
                          <a:latin typeface="Times New Roman" panose="02020603050405020304" pitchFamily="18" charset="0"/>
                          <a:ea typeface="+mn-ea"/>
                          <a:cs typeface="Times New Roman" panose="02020603050405020304" pitchFamily="18" charset="0"/>
                        </a:rPr>
                        <a:t>设计</a:t>
                      </a:r>
                    </a:p>
                  </a:txBody>
                  <a:tcPr marL="65692" marR="65692" marT="0" marB="0"/>
                </a:tc>
                <a:extLst>
                  <a:ext uri="{0D108BD9-81ED-4DB2-BD59-A6C34878D82A}">
                    <a16:rowId xmlns:a16="http://schemas.microsoft.com/office/drawing/2014/main" val="10002"/>
                  </a:ext>
                </a:extLst>
              </a:tr>
              <a:tr h="894608">
                <a:tc>
                  <a:txBody>
                    <a:bodyPr/>
                    <a:lstStyle/>
                    <a:p>
                      <a:pPr algn="just">
                        <a:spcAft>
                          <a:spcPts val="0"/>
                        </a:spcAft>
                      </a:pPr>
                      <a:r>
                        <a:rPr lang="en-US" sz="1800" b="0" kern="100">
                          <a:solidFill>
                            <a:schemeClr val="tx1"/>
                          </a:solidFill>
                          <a:effectLst/>
                          <a:latin typeface="Times New Roman" panose="02020603050405020304" pitchFamily="18" charset="0"/>
                          <a:ea typeface="+mn-ea"/>
                          <a:cs typeface="Times New Roman" panose="02020603050405020304" pitchFamily="18" charset="0"/>
                        </a:rPr>
                        <a:t>3</a:t>
                      </a:r>
                      <a:endParaRPr lang="zh-CN" sz="1800" b="0" kern="100">
                        <a:solidFill>
                          <a:schemeClr val="tx1"/>
                        </a:solidFill>
                        <a:effectLst/>
                        <a:latin typeface="Times New Roman" panose="02020603050405020304" pitchFamily="18" charset="0"/>
                        <a:ea typeface="+mn-ea"/>
                        <a:cs typeface="Times New Roman" panose="02020603050405020304" pitchFamily="18" charset="0"/>
                      </a:endParaRPr>
                    </a:p>
                  </a:txBody>
                  <a:tcPr marL="65692" marR="65692" marT="0" marB="0"/>
                </a:tc>
                <a:tc>
                  <a:txBody>
                    <a:bodyPr/>
                    <a:lstStyle/>
                    <a:p>
                      <a:pPr algn="just">
                        <a:spcAft>
                          <a:spcPts val="0"/>
                        </a:spcAft>
                      </a:pPr>
                      <a:r>
                        <a:rPr lang="zh-CN" sz="1800" b="0" kern="100">
                          <a:solidFill>
                            <a:schemeClr val="tx1"/>
                          </a:solidFill>
                          <a:effectLst/>
                          <a:latin typeface="Times New Roman" panose="02020603050405020304" pitchFamily="18" charset="0"/>
                          <a:ea typeface="+mn-ea"/>
                          <a:cs typeface="Times New Roman" panose="02020603050405020304" pitchFamily="18" charset="0"/>
                        </a:rPr>
                        <a:t>逆向工程实验</a:t>
                      </a:r>
                    </a:p>
                    <a:p>
                      <a:pPr algn="just">
                        <a:spcAft>
                          <a:spcPts val="0"/>
                        </a:spcAft>
                      </a:pPr>
                      <a:r>
                        <a:rPr lang="en-US" sz="1800" b="0" kern="100">
                          <a:solidFill>
                            <a:schemeClr val="tx1"/>
                          </a:solidFill>
                          <a:effectLst/>
                          <a:latin typeface="Times New Roman" panose="02020603050405020304" pitchFamily="18" charset="0"/>
                          <a:ea typeface="+mn-ea"/>
                          <a:cs typeface="Times New Roman" panose="02020603050405020304" pitchFamily="18" charset="0"/>
                        </a:rPr>
                        <a:t> </a:t>
                      </a:r>
                      <a:endParaRPr lang="zh-CN" sz="1800" b="0" kern="100">
                        <a:solidFill>
                          <a:schemeClr val="tx1"/>
                        </a:solidFill>
                        <a:effectLst/>
                        <a:latin typeface="Times New Roman" panose="02020603050405020304" pitchFamily="18" charset="0"/>
                        <a:ea typeface="+mn-ea"/>
                        <a:cs typeface="Times New Roman" panose="02020603050405020304" pitchFamily="18" charset="0"/>
                      </a:endParaRPr>
                    </a:p>
                  </a:txBody>
                  <a:tcPr marL="65692" marR="65692" marT="0" marB="0"/>
                </a:tc>
                <a:tc>
                  <a:txBody>
                    <a:bodyPr/>
                    <a:lstStyle/>
                    <a:p>
                      <a:pPr algn="just">
                        <a:spcAft>
                          <a:spcPts val="0"/>
                        </a:spcAft>
                      </a:pPr>
                      <a:r>
                        <a:rPr lang="zh-CN" sz="1800" b="0" kern="100" dirty="0">
                          <a:solidFill>
                            <a:schemeClr val="tx1"/>
                          </a:solidFill>
                          <a:effectLst/>
                          <a:latin typeface="Times New Roman" panose="02020603050405020304" pitchFamily="18" charset="0"/>
                          <a:ea typeface="+mn-ea"/>
                          <a:cs typeface="Times New Roman" panose="02020603050405020304" pitchFamily="18" charset="0"/>
                        </a:rPr>
                        <a:t>从字符串比较、循环、条件</a:t>
                      </a:r>
                      <a:r>
                        <a:rPr lang="en-US" sz="1800" b="0" kern="100" dirty="0">
                          <a:solidFill>
                            <a:schemeClr val="tx1"/>
                          </a:solidFill>
                          <a:effectLst/>
                          <a:latin typeface="Times New Roman" panose="02020603050405020304" pitchFamily="18" charset="0"/>
                          <a:ea typeface="+mn-ea"/>
                          <a:cs typeface="Times New Roman" panose="02020603050405020304" pitchFamily="18" charset="0"/>
                        </a:rPr>
                        <a:t>/</a:t>
                      </a:r>
                      <a:r>
                        <a:rPr lang="zh-CN" sz="1800" b="0" kern="100" dirty="0">
                          <a:solidFill>
                            <a:schemeClr val="tx1"/>
                          </a:solidFill>
                          <a:effectLst/>
                          <a:latin typeface="Times New Roman" panose="02020603050405020304" pitchFamily="18" charset="0"/>
                          <a:ea typeface="+mn-ea"/>
                          <a:cs typeface="Times New Roman" panose="02020603050405020304" pitchFamily="18" charset="0"/>
                        </a:rPr>
                        <a:t>分支、递归调用和栈、指针、链表</a:t>
                      </a:r>
                      <a:r>
                        <a:rPr lang="en-US" sz="1800" b="0" kern="100" dirty="0">
                          <a:solidFill>
                            <a:schemeClr val="tx1"/>
                          </a:solidFill>
                          <a:effectLst/>
                          <a:latin typeface="Times New Roman" panose="02020603050405020304" pitchFamily="18" charset="0"/>
                          <a:ea typeface="+mn-ea"/>
                          <a:cs typeface="Times New Roman" panose="02020603050405020304" pitchFamily="18" charset="0"/>
                        </a:rPr>
                        <a:t>/</a:t>
                      </a:r>
                      <a:r>
                        <a:rPr lang="zh-CN" sz="1800" b="0" kern="100" dirty="0">
                          <a:solidFill>
                            <a:schemeClr val="tx1"/>
                          </a:solidFill>
                          <a:effectLst/>
                          <a:latin typeface="Times New Roman" panose="02020603050405020304" pitchFamily="18" charset="0"/>
                          <a:ea typeface="+mn-ea"/>
                          <a:cs typeface="Times New Roman" panose="02020603050405020304" pitchFamily="18" charset="0"/>
                        </a:rPr>
                        <a:t>指针</a:t>
                      </a:r>
                      <a:r>
                        <a:rPr lang="en-US" sz="1800" b="0" kern="100" dirty="0">
                          <a:solidFill>
                            <a:schemeClr val="tx1"/>
                          </a:solidFill>
                          <a:effectLst/>
                          <a:latin typeface="Times New Roman" panose="02020603050405020304" pitchFamily="18" charset="0"/>
                          <a:ea typeface="+mn-ea"/>
                          <a:cs typeface="Times New Roman" panose="02020603050405020304" pitchFamily="18" charset="0"/>
                        </a:rPr>
                        <a:t>/</a:t>
                      </a:r>
                      <a:r>
                        <a:rPr lang="zh-CN" sz="1800" b="0" kern="100" dirty="0">
                          <a:solidFill>
                            <a:schemeClr val="tx1"/>
                          </a:solidFill>
                          <a:effectLst/>
                          <a:latin typeface="Times New Roman" panose="02020603050405020304" pitchFamily="18" charset="0"/>
                          <a:ea typeface="+mn-ea"/>
                          <a:cs typeface="Times New Roman" panose="02020603050405020304" pitchFamily="18" charset="0"/>
                        </a:rPr>
                        <a:t>结构这六个方面增强对程序的机器级表示、汇编语言、</a:t>
                      </a:r>
                      <a:r>
                        <a:rPr lang="en-US" sz="1800" b="0" kern="100" dirty="0">
                          <a:solidFill>
                            <a:schemeClr val="tx1"/>
                          </a:solidFill>
                          <a:effectLst/>
                          <a:latin typeface="Times New Roman" panose="02020603050405020304" pitchFamily="18" charset="0"/>
                          <a:ea typeface="+mn-ea"/>
                          <a:cs typeface="Times New Roman" panose="02020603050405020304" pitchFamily="18" charset="0"/>
                        </a:rPr>
                        <a:t>GDB</a:t>
                      </a:r>
                      <a:r>
                        <a:rPr lang="zh-CN" sz="1800" b="0" kern="100" dirty="0">
                          <a:solidFill>
                            <a:schemeClr val="tx1"/>
                          </a:solidFill>
                          <a:effectLst/>
                          <a:latin typeface="Times New Roman" panose="02020603050405020304" pitchFamily="18" charset="0"/>
                          <a:ea typeface="+mn-ea"/>
                          <a:cs typeface="Times New Roman" panose="02020603050405020304" pitchFamily="18" charset="0"/>
                        </a:rPr>
                        <a:t>调试器和反汇编等方面原理与技能的掌握。</a:t>
                      </a:r>
                    </a:p>
                  </a:txBody>
                  <a:tcPr marL="65692" marR="65692" marT="0" marB="0"/>
                </a:tc>
                <a:tc>
                  <a:txBody>
                    <a:bodyPr/>
                    <a:lstStyle/>
                    <a:p>
                      <a:pPr algn="l">
                        <a:spcAft>
                          <a:spcPts val="0"/>
                        </a:spcAft>
                      </a:pPr>
                      <a:r>
                        <a:rPr lang="zh-CN" sz="1800" b="0" kern="100" dirty="0">
                          <a:solidFill>
                            <a:schemeClr val="tx1"/>
                          </a:solidFill>
                          <a:effectLst/>
                          <a:latin typeface="Times New Roman" panose="02020603050405020304" pitchFamily="18" charset="0"/>
                          <a:ea typeface="+mn-ea"/>
                          <a:cs typeface="Times New Roman" panose="02020603050405020304" pitchFamily="18" charset="0"/>
                        </a:rPr>
                        <a:t>设计</a:t>
                      </a:r>
                    </a:p>
                  </a:txBody>
                  <a:tcPr marL="65692" marR="65692" marT="0" marB="0"/>
                </a:tc>
                <a:extLst>
                  <a:ext uri="{0D108BD9-81ED-4DB2-BD59-A6C34878D82A}">
                    <a16:rowId xmlns:a16="http://schemas.microsoft.com/office/drawing/2014/main" val="10003"/>
                  </a:ext>
                </a:extLst>
              </a:tr>
              <a:tr h="1007583">
                <a:tc>
                  <a:txBody>
                    <a:bodyPr/>
                    <a:lstStyle/>
                    <a:p>
                      <a:pPr algn="just">
                        <a:spcAft>
                          <a:spcPts val="0"/>
                        </a:spcAft>
                      </a:pPr>
                      <a:r>
                        <a:rPr lang="en-US" sz="1800" b="0" kern="100">
                          <a:solidFill>
                            <a:schemeClr val="tx1"/>
                          </a:solidFill>
                          <a:effectLst/>
                          <a:latin typeface="Times New Roman" panose="02020603050405020304" pitchFamily="18" charset="0"/>
                          <a:ea typeface="+mn-ea"/>
                          <a:cs typeface="Times New Roman" panose="02020603050405020304" pitchFamily="18" charset="0"/>
                        </a:rPr>
                        <a:t>4</a:t>
                      </a:r>
                      <a:endParaRPr lang="zh-CN" sz="1800" b="0" kern="100">
                        <a:solidFill>
                          <a:schemeClr val="tx1"/>
                        </a:solidFill>
                        <a:effectLst/>
                        <a:latin typeface="Times New Roman" panose="02020603050405020304" pitchFamily="18" charset="0"/>
                        <a:ea typeface="+mn-ea"/>
                        <a:cs typeface="Times New Roman" panose="02020603050405020304" pitchFamily="18" charset="0"/>
                      </a:endParaRPr>
                    </a:p>
                  </a:txBody>
                  <a:tcPr marL="65692" marR="65692" marT="0" marB="0"/>
                </a:tc>
                <a:tc>
                  <a:txBody>
                    <a:bodyPr/>
                    <a:lstStyle/>
                    <a:p>
                      <a:pPr algn="just">
                        <a:spcAft>
                          <a:spcPts val="0"/>
                        </a:spcAft>
                      </a:pPr>
                      <a:r>
                        <a:rPr lang="zh-CN" sz="1800" b="0" kern="100">
                          <a:solidFill>
                            <a:schemeClr val="tx1"/>
                          </a:solidFill>
                          <a:effectLst/>
                          <a:latin typeface="Times New Roman" panose="02020603050405020304" pitchFamily="18" charset="0"/>
                          <a:ea typeface="+mn-ea"/>
                          <a:cs typeface="Times New Roman" panose="02020603050405020304" pitchFamily="18" charset="0"/>
                        </a:rPr>
                        <a:t>缓冲区溢出攻击实验</a:t>
                      </a:r>
                    </a:p>
                  </a:txBody>
                  <a:tcPr marL="65692" marR="65692" marT="0" marB="0"/>
                </a:tc>
                <a:tc>
                  <a:txBody>
                    <a:bodyPr/>
                    <a:lstStyle/>
                    <a:p>
                      <a:pPr algn="just">
                        <a:spcAft>
                          <a:spcPts val="0"/>
                        </a:spcAft>
                      </a:pPr>
                      <a:r>
                        <a:rPr lang="zh-CN" sz="1800" b="0" kern="100" dirty="0">
                          <a:solidFill>
                            <a:schemeClr val="tx1"/>
                          </a:solidFill>
                          <a:effectLst/>
                          <a:latin typeface="Times New Roman" panose="02020603050405020304" pitchFamily="18" charset="0"/>
                          <a:ea typeface="+mn-ea"/>
                          <a:cs typeface="Times New Roman" panose="02020603050405020304" pitchFamily="18" charset="0"/>
                        </a:rPr>
                        <a:t>对一个可执行程序实施一系列缓冲区溢出攻击，即设法通过造成缓冲区溢出来改变该可执行程序的运行内存映像。本实验的目的是加深对函数调用规则和堆栈结构的理解。</a:t>
                      </a:r>
                    </a:p>
                  </a:txBody>
                  <a:tcPr marL="65692" marR="65692" marT="0" marB="0"/>
                </a:tc>
                <a:tc>
                  <a:txBody>
                    <a:bodyPr/>
                    <a:lstStyle/>
                    <a:p>
                      <a:pPr algn="l">
                        <a:spcAft>
                          <a:spcPts val="0"/>
                        </a:spcAft>
                      </a:pPr>
                      <a:r>
                        <a:rPr lang="zh-CN" sz="1800" b="0" kern="100" dirty="0">
                          <a:solidFill>
                            <a:schemeClr val="tx1"/>
                          </a:solidFill>
                          <a:effectLst/>
                          <a:latin typeface="Times New Roman" panose="02020603050405020304" pitchFamily="18" charset="0"/>
                          <a:ea typeface="+mn-ea"/>
                          <a:cs typeface="Times New Roman" panose="02020603050405020304" pitchFamily="18" charset="0"/>
                        </a:rPr>
                        <a:t>设计</a:t>
                      </a:r>
                    </a:p>
                  </a:txBody>
                  <a:tcPr marL="65692" marR="65692" marT="0" marB="0"/>
                </a:tc>
                <a:extLst>
                  <a:ext uri="{0D108BD9-81ED-4DB2-BD59-A6C34878D82A}">
                    <a16:rowId xmlns:a16="http://schemas.microsoft.com/office/drawing/2014/main" val="10004"/>
                  </a:ext>
                </a:extLst>
              </a:tr>
              <a:tr h="1010182">
                <a:tc>
                  <a:txBody>
                    <a:bodyPr/>
                    <a:lstStyle/>
                    <a:p>
                      <a:pPr algn="just">
                        <a:spcAft>
                          <a:spcPts val="0"/>
                        </a:spcAft>
                      </a:pPr>
                      <a:r>
                        <a:rPr lang="en-US" sz="1800" b="0" kern="100">
                          <a:solidFill>
                            <a:schemeClr val="tx1"/>
                          </a:solidFill>
                          <a:effectLst/>
                          <a:latin typeface="Times New Roman" panose="02020603050405020304" pitchFamily="18" charset="0"/>
                          <a:ea typeface="+mn-ea"/>
                          <a:cs typeface="Times New Roman" panose="02020603050405020304" pitchFamily="18" charset="0"/>
                        </a:rPr>
                        <a:t>5</a:t>
                      </a:r>
                      <a:endParaRPr lang="zh-CN" sz="1800" b="0" kern="100">
                        <a:solidFill>
                          <a:schemeClr val="tx1"/>
                        </a:solidFill>
                        <a:effectLst/>
                        <a:latin typeface="Times New Roman" panose="02020603050405020304" pitchFamily="18" charset="0"/>
                        <a:ea typeface="+mn-ea"/>
                        <a:cs typeface="Times New Roman" panose="02020603050405020304" pitchFamily="18" charset="0"/>
                      </a:endParaRPr>
                    </a:p>
                  </a:txBody>
                  <a:tcPr marL="65692" marR="65692" marT="0" marB="0"/>
                </a:tc>
                <a:tc>
                  <a:txBody>
                    <a:bodyPr/>
                    <a:lstStyle/>
                    <a:p>
                      <a:pPr algn="just">
                        <a:spcAft>
                          <a:spcPts val="0"/>
                        </a:spcAft>
                      </a:pPr>
                      <a:r>
                        <a:rPr lang="en-US" sz="1800" b="0" kern="100">
                          <a:solidFill>
                            <a:schemeClr val="tx1"/>
                          </a:solidFill>
                          <a:effectLst/>
                          <a:latin typeface="Times New Roman" panose="02020603050405020304" pitchFamily="18" charset="0"/>
                          <a:ea typeface="+mn-ea"/>
                          <a:cs typeface="Times New Roman" panose="02020603050405020304" pitchFamily="18" charset="0"/>
                        </a:rPr>
                        <a:t>Cache</a:t>
                      </a:r>
                      <a:r>
                        <a:rPr lang="zh-CN" sz="1800" b="0" kern="100">
                          <a:solidFill>
                            <a:schemeClr val="tx1"/>
                          </a:solidFill>
                          <a:effectLst/>
                          <a:latin typeface="Times New Roman" panose="02020603050405020304" pitchFamily="18" charset="0"/>
                          <a:ea typeface="+mn-ea"/>
                          <a:cs typeface="Times New Roman" panose="02020603050405020304" pitchFamily="18" charset="0"/>
                        </a:rPr>
                        <a:t>实验</a:t>
                      </a:r>
                    </a:p>
                  </a:txBody>
                  <a:tcPr marL="65692" marR="65692" marT="0" marB="0"/>
                </a:tc>
                <a:tc>
                  <a:txBody>
                    <a:bodyPr/>
                    <a:lstStyle/>
                    <a:p>
                      <a:pPr algn="just">
                        <a:spcAft>
                          <a:spcPts val="0"/>
                        </a:spcAft>
                      </a:pPr>
                      <a:r>
                        <a:rPr lang="zh-CN" sz="1800" b="0" kern="100" dirty="0">
                          <a:solidFill>
                            <a:schemeClr val="tx1"/>
                          </a:solidFill>
                          <a:effectLst/>
                          <a:latin typeface="Times New Roman" panose="02020603050405020304" pitchFamily="18" charset="0"/>
                          <a:ea typeface="+mn-ea"/>
                          <a:cs typeface="Times New Roman" panose="02020603050405020304" pitchFamily="18" charset="0"/>
                        </a:rPr>
                        <a:t>本实验通过一个</a:t>
                      </a:r>
                      <a:r>
                        <a:rPr lang="en-US" sz="1800" b="0" kern="100" dirty="0">
                          <a:solidFill>
                            <a:schemeClr val="tx1"/>
                          </a:solidFill>
                          <a:effectLst/>
                          <a:latin typeface="Times New Roman" panose="02020603050405020304" pitchFamily="18" charset="0"/>
                          <a:ea typeface="+mn-ea"/>
                          <a:cs typeface="Times New Roman" panose="02020603050405020304" pitchFamily="18" charset="0"/>
                        </a:rPr>
                        <a:t>Cache</a:t>
                      </a:r>
                      <a:r>
                        <a:rPr lang="zh-CN" sz="1800" b="0" kern="100" dirty="0">
                          <a:solidFill>
                            <a:schemeClr val="tx1"/>
                          </a:solidFill>
                          <a:effectLst/>
                          <a:latin typeface="Times New Roman" panose="02020603050405020304" pitchFamily="18" charset="0"/>
                          <a:ea typeface="+mn-ea"/>
                          <a:cs typeface="Times New Roman" panose="02020603050405020304" pitchFamily="18" charset="0"/>
                        </a:rPr>
                        <a:t>模拟器，利用</a:t>
                      </a:r>
                      <a:r>
                        <a:rPr lang="en-US" sz="1800" b="0" kern="100" dirty="0">
                          <a:solidFill>
                            <a:schemeClr val="tx1"/>
                          </a:solidFill>
                          <a:effectLst/>
                          <a:latin typeface="Times New Roman" panose="02020603050405020304" pitchFamily="18" charset="0"/>
                          <a:ea typeface="+mn-ea"/>
                          <a:cs typeface="Times New Roman" panose="02020603050405020304" pitchFamily="18" charset="0"/>
                        </a:rPr>
                        <a:t>Cache</a:t>
                      </a:r>
                      <a:r>
                        <a:rPr lang="zh-CN" sz="1800" b="0" kern="100" dirty="0">
                          <a:solidFill>
                            <a:schemeClr val="tx1"/>
                          </a:solidFill>
                          <a:effectLst/>
                          <a:latin typeface="Times New Roman" panose="02020603050405020304" pitchFamily="18" charset="0"/>
                          <a:ea typeface="+mn-ea"/>
                          <a:cs typeface="Times New Roman" panose="02020603050405020304" pitchFamily="18" charset="0"/>
                        </a:rPr>
                        <a:t>来优化一个矩阵的转置以达到缺失率最小，从而分析</a:t>
                      </a:r>
                      <a:r>
                        <a:rPr lang="en-US" sz="1800" b="0" kern="100" dirty="0">
                          <a:solidFill>
                            <a:schemeClr val="tx1"/>
                          </a:solidFill>
                          <a:effectLst/>
                          <a:latin typeface="Times New Roman" panose="02020603050405020304" pitchFamily="18" charset="0"/>
                          <a:ea typeface="+mn-ea"/>
                          <a:cs typeface="Times New Roman" panose="02020603050405020304" pitchFamily="18" charset="0"/>
                        </a:rPr>
                        <a:t>cache</a:t>
                      </a:r>
                      <a:r>
                        <a:rPr lang="zh-CN" sz="1800" b="0" kern="100" dirty="0">
                          <a:solidFill>
                            <a:schemeClr val="tx1"/>
                          </a:solidFill>
                          <a:effectLst/>
                          <a:latin typeface="Times New Roman" panose="02020603050405020304" pitchFamily="18" charset="0"/>
                          <a:ea typeface="+mn-ea"/>
                          <a:cs typeface="Times New Roman" panose="02020603050405020304" pitchFamily="18" charset="0"/>
                        </a:rPr>
                        <a:t>对程序性能的影响。</a:t>
                      </a:r>
                    </a:p>
                  </a:txBody>
                  <a:tcPr marL="65692" marR="65692" marT="0" marB="0"/>
                </a:tc>
                <a:tc>
                  <a:txBody>
                    <a:bodyPr/>
                    <a:lstStyle/>
                    <a:p>
                      <a:pPr marL="0" indent="0" algn="l">
                        <a:spcAft>
                          <a:spcPts val="0"/>
                        </a:spcAft>
                      </a:pPr>
                      <a:r>
                        <a:rPr lang="zh-CN" sz="1800" b="0" kern="100" dirty="0">
                          <a:solidFill>
                            <a:schemeClr val="tx1"/>
                          </a:solidFill>
                          <a:effectLst/>
                          <a:latin typeface="Times New Roman" panose="02020603050405020304" pitchFamily="18" charset="0"/>
                          <a:ea typeface="+mn-ea"/>
                          <a:cs typeface="Times New Roman" panose="02020603050405020304" pitchFamily="18" charset="0"/>
                        </a:rPr>
                        <a:t>设计</a:t>
                      </a:r>
                    </a:p>
                  </a:txBody>
                  <a:tcPr marL="65692" marR="65692" marT="0" marB="0"/>
                </a:tc>
                <a:extLst>
                  <a:ext uri="{0D108BD9-81ED-4DB2-BD59-A6C34878D82A}">
                    <a16:rowId xmlns:a16="http://schemas.microsoft.com/office/drawing/2014/main" val="10005"/>
                  </a:ext>
                </a:extLst>
              </a:tr>
              <a:tr h="894608">
                <a:tc>
                  <a:txBody>
                    <a:bodyPr/>
                    <a:lstStyle/>
                    <a:p>
                      <a:pPr algn="just">
                        <a:spcAft>
                          <a:spcPts val="0"/>
                        </a:spcAft>
                      </a:pPr>
                      <a:r>
                        <a:rPr lang="en-US" sz="1800" b="0" kern="100">
                          <a:solidFill>
                            <a:schemeClr val="bg1">
                              <a:lumMod val="50000"/>
                            </a:schemeClr>
                          </a:solidFill>
                          <a:effectLst/>
                          <a:latin typeface="Times New Roman" panose="02020603050405020304" pitchFamily="18" charset="0"/>
                          <a:ea typeface="+mn-ea"/>
                          <a:cs typeface="Times New Roman" panose="02020603050405020304" pitchFamily="18" charset="0"/>
                        </a:rPr>
                        <a:t>6</a:t>
                      </a:r>
                      <a:endParaRPr lang="zh-CN" sz="1800" b="0" kern="100">
                        <a:solidFill>
                          <a:schemeClr val="bg1">
                            <a:lumMod val="50000"/>
                          </a:schemeClr>
                        </a:solidFill>
                        <a:effectLst/>
                        <a:latin typeface="Times New Roman" panose="02020603050405020304" pitchFamily="18" charset="0"/>
                        <a:ea typeface="+mn-ea"/>
                        <a:cs typeface="Times New Roman" panose="02020603050405020304" pitchFamily="18" charset="0"/>
                      </a:endParaRPr>
                    </a:p>
                  </a:txBody>
                  <a:tcPr marL="65692" marR="65692" marT="0" marB="0"/>
                </a:tc>
                <a:tc>
                  <a:txBody>
                    <a:bodyPr/>
                    <a:lstStyle/>
                    <a:p>
                      <a:pPr algn="just">
                        <a:spcAft>
                          <a:spcPts val="0"/>
                        </a:spcAft>
                      </a:pPr>
                      <a:r>
                        <a:rPr lang="zh-CN" sz="1800" b="0" kern="100" dirty="0">
                          <a:solidFill>
                            <a:schemeClr val="bg1">
                              <a:lumMod val="50000"/>
                            </a:schemeClr>
                          </a:solidFill>
                          <a:effectLst/>
                          <a:latin typeface="Times New Roman" panose="02020603050405020304" pitchFamily="18" charset="0"/>
                          <a:ea typeface="+mn-ea"/>
                          <a:cs typeface="Times New Roman" panose="02020603050405020304" pitchFamily="18" charset="0"/>
                        </a:rPr>
                        <a:t>性能优化实验</a:t>
                      </a:r>
                    </a:p>
                  </a:txBody>
                  <a:tcPr marL="65692" marR="65692" marT="0" marB="0"/>
                </a:tc>
                <a:tc>
                  <a:txBody>
                    <a:bodyPr/>
                    <a:lstStyle/>
                    <a:p>
                      <a:pPr algn="just">
                        <a:spcAft>
                          <a:spcPts val="0"/>
                        </a:spcAft>
                      </a:pPr>
                      <a:r>
                        <a:rPr lang="zh-CN" sz="1800" b="0" kern="100" dirty="0">
                          <a:solidFill>
                            <a:schemeClr val="bg1">
                              <a:lumMod val="50000"/>
                            </a:schemeClr>
                          </a:solidFill>
                          <a:effectLst/>
                          <a:latin typeface="Times New Roman" panose="02020603050405020304" pitchFamily="18" charset="0"/>
                          <a:ea typeface="+mn-ea"/>
                          <a:cs typeface="Times New Roman" panose="02020603050405020304" pitchFamily="18" charset="0"/>
                        </a:rPr>
                        <a:t>本实验旨在让学生掌握测量程序执行时间的方法，并综合利用循环展开、</a:t>
                      </a:r>
                      <a:r>
                        <a:rPr lang="en-US" sz="1800" b="0" kern="100" dirty="0">
                          <a:solidFill>
                            <a:schemeClr val="bg1">
                              <a:lumMod val="50000"/>
                            </a:schemeClr>
                          </a:solidFill>
                          <a:effectLst/>
                          <a:latin typeface="Times New Roman" panose="02020603050405020304" pitchFamily="18" charset="0"/>
                          <a:ea typeface="+mn-ea"/>
                          <a:cs typeface="Times New Roman" panose="02020603050405020304" pitchFamily="18" charset="0"/>
                        </a:rPr>
                        <a:t>cache</a:t>
                      </a:r>
                      <a:r>
                        <a:rPr lang="zh-CN" sz="1800" b="0" kern="100" dirty="0">
                          <a:solidFill>
                            <a:schemeClr val="bg1">
                              <a:lumMod val="50000"/>
                            </a:schemeClr>
                          </a:solidFill>
                          <a:effectLst/>
                          <a:latin typeface="Times New Roman" panose="02020603050405020304" pitchFamily="18" charset="0"/>
                          <a:ea typeface="+mn-ea"/>
                          <a:cs typeface="Times New Roman" panose="02020603050405020304" pitchFamily="18" charset="0"/>
                        </a:rPr>
                        <a:t>友好、替换变量等多种优化手段来对两个函数进行代码优化，从而提升程序执行效率。</a:t>
                      </a:r>
                    </a:p>
                  </a:txBody>
                  <a:tcPr marL="65692" marR="65692" marT="0" marB="0"/>
                </a:tc>
                <a:tc>
                  <a:txBody>
                    <a:bodyPr/>
                    <a:lstStyle/>
                    <a:p>
                      <a:pPr algn="l">
                        <a:spcAft>
                          <a:spcPts val="0"/>
                        </a:spcAft>
                      </a:pPr>
                      <a:r>
                        <a:rPr lang="zh-CN" sz="1800" b="0" kern="100" dirty="0">
                          <a:solidFill>
                            <a:schemeClr val="bg1">
                              <a:lumMod val="50000"/>
                            </a:schemeClr>
                          </a:solidFill>
                          <a:effectLst/>
                          <a:latin typeface="Times New Roman" panose="02020603050405020304" pitchFamily="18" charset="0"/>
                          <a:ea typeface="+mn-ea"/>
                          <a:cs typeface="Times New Roman" panose="02020603050405020304" pitchFamily="18" charset="0"/>
                        </a:rPr>
                        <a:t>综合</a:t>
                      </a:r>
                    </a:p>
                  </a:txBody>
                  <a:tcPr marL="65692" marR="65692" marT="0" marB="0"/>
                </a:tc>
                <a:extLst>
                  <a:ext uri="{0D108BD9-81ED-4DB2-BD59-A6C34878D82A}">
                    <a16:rowId xmlns:a16="http://schemas.microsoft.com/office/drawing/2014/main" val="10006"/>
                  </a:ext>
                </a:extLst>
              </a:tr>
            </a:tbl>
          </a:graphicData>
        </a:graphic>
      </p:graphicFrame>
      <p:sp>
        <p:nvSpPr>
          <p:cNvPr id="3" name="灯片编号占位符 2"/>
          <p:cNvSpPr>
            <a:spLocks noGrp="1"/>
          </p:cNvSpPr>
          <p:nvPr>
            <p:ph type="sldNum" sz="quarter" idx="12"/>
          </p:nvPr>
        </p:nvSpPr>
        <p:spPr/>
        <p:txBody>
          <a:bodyPr/>
          <a:lstStyle/>
          <a:p>
            <a:pPr>
              <a:defRPr/>
            </a:pPr>
            <a:fld id="{C04D5D84-F493-480C-9B02-1533CB18E289}" type="slidenum">
              <a:rPr lang="en-US" altLang="zh-CN" smtClean="0"/>
              <a:pPr>
                <a:defRPr/>
              </a:pPr>
              <a:t>26</a:t>
            </a:fld>
            <a:endParaRPr lang="en-US" altLang="zh-CN"/>
          </a:p>
        </p:txBody>
      </p:sp>
    </p:spTree>
    <p:extLst>
      <p:ext uri="{BB962C8B-B14F-4D97-AF65-F5344CB8AC3E}">
        <p14:creationId xmlns:p14="http://schemas.microsoft.com/office/powerpoint/2010/main" val="2314761107"/>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00" name="灯片编号占位符 1"/>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r>
              <a:rPr lang="en-US" altLang="zh-CN" dirty="0">
                <a:solidFill>
                  <a:srgbClr val="898989"/>
                </a:solidFill>
                <a:latin typeface="Calibri" panose="020F0502020204030204" pitchFamily="34" charset="0"/>
              </a:rPr>
              <a:t>Luo </a:t>
            </a:r>
            <a:r>
              <a:rPr lang="en-US" altLang="zh-CN" dirty="0" err="1">
                <a:solidFill>
                  <a:srgbClr val="898989"/>
                </a:solidFill>
                <a:latin typeface="Calibri" panose="020F0502020204030204" pitchFamily="34" charset="0"/>
              </a:rPr>
              <a:t>Qiuiming</a:t>
            </a:r>
            <a:r>
              <a:rPr lang="en-US" altLang="zh-CN" dirty="0">
                <a:solidFill>
                  <a:srgbClr val="898989"/>
                </a:solidFill>
                <a:latin typeface="Calibri" panose="020F0502020204030204" pitchFamily="34" charset="0"/>
              </a:rPr>
              <a:t>    </a:t>
            </a:r>
            <a:fld id="{4604BEF5-A037-4E21-B91C-9683FF4C0271}" type="slidenum">
              <a:rPr lang="zh-CN" altLang="en-US" smtClean="0">
                <a:solidFill>
                  <a:srgbClr val="898989"/>
                </a:solidFill>
                <a:latin typeface="Calibri" panose="020F0502020204030204" pitchFamily="34" charset="0"/>
              </a:rPr>
              <a:pPr/>
              <a:t>27</a:t>
            </a:fld>
            <a:endParaRPr lang="zh-CN" altLang="en-US" dirty="0">
              <a:solidFill>
                <a:srgbClr val="898989"/>
              </a:solidFill>
              <a:latin typeface="Calibri" panose="020F0502020204030204" pitchFamily="34" charset="0"/>
            </a:endParaRPr>
          </a:p>
        </p:txBody>
      </p:sp>
      <p:sp>
        <p:nvSpPr>
          <p:cNvPr id="4098" name="标题 1"/>
          <p:cNvSpPr>
            <a:spLocks noGrp="1"/>
          </p:cNvSpPr>
          <p:nvPr>
            <p:ph type="ctrTitle" idx="4294967295"/>
          </p:nvPr>
        </p:nvSpPr>
        <p:spPr>
          <a:xfrm>
            <a:off x="1016000" y="968454"/>
            <a:ext cx="9144000" cy="2387600"/>
          </a:xfrm>
        </p:spPr>
        <p:txBody>
          <a:bodyPr/>
          <a:lstStyle/>
          <a:p>
            <a:pPr eaLnBrk="1" hangingPunct="1"/>
            <a:r>
              <a:rPr lang="en-US" altLang="zh-CN" dirty="0"/>
              <a:t>Chapter 1 </a:t>
            </a:r>
            <a:r>
              <a:rPr lang="zh-CN" altLang="en-US" dirty="0"/>
              <a:t>计算机系统简介</a:t>
            </a:r>
          </a:p>
        </p:txBody>
      </p:sp>
      <p:sp>
        <p:nvSpPr>
          <p:cNvPr id="3" name="副标题 2"/>
          <p:cNvSpPr>
            <a:spLocks noGrp="1"/>
          </p:cNvSpPr>
          <p:nvPr>
            <p:ph type="subTitle" idx="4294967295"/>
          </p:nvPr>
        </p:nvSpPr>
        <p:spPr>
          <a:xfrm>
            <a:off x="1016000" y="3004508"/>
            <a:ext cx="9144000" cy="3247702"/>
          </a:xfrm>
        </p:spPr>
        <p:txBody>
          <a:bodyPr rtlCol="0">
            <a:normAutofit lnSpcReduction="10000"/>
          </a:bodyPr>
          <a:lstStyle/>
          <a:p>
            <a:pPr marL="0" indent="0">
              <a:buNone/>
              <a:defRPr/>
            </a:pPr>
            <a:r>
              <a:rPr lang="en-US" altLang="zh-CN" dirty="0"/>
              <a:t>1.1</a:t>
            </a:r>
            <a:r>
              <a:rPr lang="zh-CN" altLang="en-US" dirty="0"/>
              <a:t>数据及其解读</a:t>
            </a:r>
            <a:endParaRPr lang="en-US" altLang="zh-CN" dirty="0"/>
          </a:p>
          <a:p>
            <a:pPr marL="0" indent="0">
              <a:buNone/>
              <a:defRPr/>
            </a:pPr>
            <a:r>
              <a:rPr lang="en-US" altLang="zh-CN" dirty="0"/>
              <a:t>1.2</a:t>
            </a:r>
            <a:r>
              <a:rPr lang="zh-CN" altLang="en-US" dirty="0"/>
              <a:t> 编译</a:t>
            </a:r>
            <a:r>
              <a:rPr lang="en-US" altLang="zh-CN" dirty="0"/>
              <a:t>/</a:t>
            </a:r>
            <a:r>
              <a:rPr lang="zh-CN" altLang="en-US" dirty="0"/>
              <a:t>链接过程</a:t>
            </a:r>
            <a:endParaRPr lang="en-US" altLang="zh-CN" dirty="0"/>
          </a:p>
          <a:p>
            <a:pPr marL="0" indent="0">
              <a:buNone/>
              <a:defRPr/>
            </a:pPr>
            <a:r>
              <a:rPr lang="en-US" altLang="zh-CN" dirty="0"/>
              <a:t>1.3 </a:t>
            </a:r>
            <a:r>
              <a:rPr lang="zh-CN" altLang="en-US" dirty="0"/>
              <a:t>指令的执行</a:t>
            </a:r>
            <a:endParaRPr lang="en-US" altLang="zh-CN" dirty="0"/>
          </a:p>
          <a:p>
            <a:pPr marL="0" indent="0">
              <a:buNone/>
              <a:defRPr/>
            </a:pPr>
            <a:r>
              <a:rPr lang="en-US" altLang="zh-CN" dirty="0"/>
              <a:t>1.4</a:t>
            </a:r>
            <a:r>
              <a:rPr lang="zh-CN" altLang="en-US" dirty="0"/>
              <a:t> 存储设备的层次结构</a:t>
            </a:r>
            <a:endParaRPr lang="en-US" altLang="zh-CN" dirty="0"/>
          </a:p>
          <a:p>
            <a:pPr marL="0" indent="0">
              <a:buNone/>
              <a:defRPr/>
            </a:pPr>
            <a:r>
              <a:rPr lang="en-US" altLang="zh-CN" dirty="0"/>
              <a:t>1.5</a:t>
            </a:r>
            <a:r>
              <a:rPr lang="zh-CN" altLang="en-US" dirty="0"/>
              <a:t> 计算机系统中的</a:t>
            </a:r>
            <a:r>
              <a:rPr lang="en-US" altLang="zh-CN" dirty="0"/>
              <a:t>OS</a:t>
            </a:r>
          </a:p>
          <a:p>
            <a:pPr marL="0" indent="0">
              <a:buNone/>
              <a:defRPr/>
            </a:pPr>
            <a:r>
              <a:rPr lang="en-US" altLang="zh-CN" dirty="0"/>
              <a:t>1.6</a:t>
            </a:r>
            <a:r>
              <a:rPr lang="zh-CN" altLang="en-US" dirty="0"/>
              <a:t> 并行概念</a:t>
            </a:r>
            <a:endParaRPr lang="en-US" altLang="zh-CN" dirty="0"/>
          </a:p>
        </p:txBody>
      </p:sp>
    </p:spTree>
    <p:extLst>
      <p:ext uri="{BB962C8B-B14F-4D97-AF65-F5344CB8AC3E}">
        <p14:creationId xmlns:p14="http://schemas.microsoft.com/office/powerpoint/2010/main" val="1657002827"/>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p:cNvSpPr/>
          <p:nvPr/>
        </p:nvSpPr>
        <p:spPr>
          <a:xfrm>
            <a:off x="955530" y="2679264"/>
            <a:ext cx="3413760" cy="2154436"/>
          </a:xfrm>
          <a:prstGeom prst="rect">
            <a:avLst/>
          </a:prstGeom>
        </p:spPr>
        <p:txBody>
          <a:bodyPr wrap="square">
            <a:spAutoFit/>
          </a:bodyPr>
          <a:lstStyle/>
          <a:p>
            <a:r>
              <a:rPr lang="en-US" altLang="zh-CN" i="1" dirty="0">
                <a:solidFill>
                  <a:srgbClr val="000000"/>
                </a:solidFill>
                <a:latin typeface="TimesTen-Italic"/>
              </a:rPr>
              <a:t>code/intro/</a:t>
            </a:r>
            <a:r>
              <a:rPr lang="en-US" altLang="zh-CN" i="1" dirty="0" err="1">
                <a:solidFill>
                  <a:srgbClr val="000000"/>
                </a:solidFill>
                <a:latin typeface="TimesTen-Italic"/>
              </a:rPr>
              <a:t>hello.c</a:t>
            </a:r>
            <a:endParaRPr lang="en-US" altLang="zh-CN" i="1" dirty="0">
              <a:solidFill>
                <a:srgbClr val="000000"/>
              </a:solidFill>
              <a:latin typeface="TimesTen-Italic"/>
            </a:endParaRPr>
          </a:p>
          <a:p>
            <a:r>
              <a:rPr lang="en-US" altLang="zh-CN" sz="800" dirty="0">
                <a:solidFill>
                  <a:srgbClr val="00AEF0"/>
                </a:solidFill>
                <a:latin typeface="StoneSans"/>
              </a:rPr>
              <a:t>1 </a:t>
            </a:r>
            <a:r>
              <a:rPr lang="en-US" altLang="zh-CN" dirty="0">
                <a:solidFill>
                  <a:srgbClr val="000000"/>
                </a:solidFill>
                <a:latin typeface="ZztexMono-Regular"/>
              </a:rPr>
              <a:t>#include &lt;</a:t>
            </a:r>
            <a:r>
              <a:rPr lang="en-US" altLang="zh-CN" dirty="0" err="1">
                <a:solidFill>
                  <a:srgbClr val="000000"/>
                </a:solidFill>
                <a:latin typeface="ZztexMono-Regular"/>
              </a:rPr>
              <a:t>stdio.h</a:t>
            </a:r>
            <a:r>
              <a:rPr lang="en-US" altLang="zh-CN" dirty="0">
                <a:solidFill>
                  <a:srgbClr val="000000"/>
                </a:solidFill>
                <a:latin typeface="ZztexMono-Regular"/>
              </a:rPr>
              <a:t>&gt;</a:t>
            </a:r>
          </a:p>
          <a:p>
            <a:r>
              <a:rPr lang="en-US" altLang="zh-CN" sz="800" dirty="0">
                <a:solidFill>
                  <a:srgbClr val="00AEF0"/>
                </a:solidFill>
                <a:latin typeface="StoneSans"/>
              </a:rPr>
              <a:t>2</a:t>
            </a:r>
          </a:p>
          <a:p>
            <a:r>
              <a:rPr lang="en-US" altLang="zh-CN" sz="800" dirty="0">
                <a:solidFill>
                  <a:srgbClr val="00AEF0"/>
                </a:solidFill>
                <a:latin typeface="StoneSans"/>
              </a:rPr>
              <a:t>3 </a:t>
            </a:r>
            <a:r>
              <a:rPr lang="en-US" altLang="zh-CN" dirty="0" err="1">
                <a:solidFill>
                  <a:srgbClr val="000000"/>
                </a:solidFill>
                <a:latin typeface="ZztexMono-Regular"/>
              </a:rPr>
              <a:t>int</a:t>
            </a:r>
            <a:r>
              <a:rPr lang="en-US" altLang="zh-CN" dirty="0">
                <a:solidFill>
                  <a:srgbClr val="000000"/>
                </a:solidFill>
                <a:latin typeface="ZztexMono-Regular"/>
              </a:rPr>
              <a:t> main()</a:t>
            </a:r>
          </a:p>
          <a:p>
            <a:r>
              <a:rPr lang="en-US" altLang="zh-CN" sz="800" dirty="0">
                <a:solidFill>
                  <a:srgbClr val="00AEF0"/>
                </a:solidFill>
                <a:latin typeface="StoneSans"/>
              </a:rPr>
              <a:t>4 </a:t>
            </a:r>
            <a:r>
              <a:rPr lang="en-US" altLang="zh-CN" dirty="0">
                <a:solidFill>
                  <a:srgbClr val="000000"/>
                </a:solidFill>
                <a:latin typeface="ZztexMono-Regular"/>
              </a:rPr>
              <a:t>{</a:t>
            </a:r>
          </a:p>
          <a:p>
            <a:r>
              <a:rPr lang="en-US" altLang="zh-CN" sz="800" dirty="0">
                <a:solidFill>
                  <a:srgbClr val="00AEF0"/>
                </a:solidFill>
                <a:latin typeface="StoneSans"/>
              </a:rPr>
              <a:t>5 </a:t>
            </a:r>
            <a:r>
              <a:rPr lang="en-US" altLang="zh-CN" dirty="0" err="1">
                <a:solidFill>
                  <a:srgbClr val="000000"/>
                </a:solidFill>
                <a:latin typeface="ZztexMono-Regular"/>
              </a:rPr>
              <a:t>printf</a:t>
            </a:r>
            <a:r>
              <a:rPr lang="en-US" altLang="zh-CN" dirty="0">
                <a:solidFill>
                  <a:srgbClr val="000000"/>
                </a:solidFill>
                <a:latin typeface="ZztexMono-Regular"/>
              </a:rPr>
              <a:t>("hello, world\n");</a:t>
            </a:r>
          </a:p>
          <a:p>
            <a:r>
              <a:rPr lang="en-US" altLang="zh-CN" sz="800" dirty="0">
                <a:solidFill>
                  <a:srgbClr val="00AEF0"/>
                </a:solidFill>
                <a:latin typeface="StoneSans"/>
              </a:rPr>
              <a:t>6 </a:t>
            </a:r>
            <a:r>
              <a:rPr lang="en-US" altLang="zh-CN" dirty="0">
                <a:solidFill>
                  <a:srgbClr val="000000"/>
                </a:solidFill>
                <a:latin typeface="ZztexMono-Regular"/>
              </a:rPr>
              <a:t>}</a:t>
            </a:r>
          </a:p>
          <a:p>
            <a:r>
              <a:rPr lang="en-US" altLang="zh-CN" i="1" dirty="0">
                <a:solidFill>
                  <a:srgbClr val="000000"/>
                </a:solidFill>
                <a:latin typeface="TimesTen-Italic"/>
              </a:rPr>
              <a:t>code/intro/</a:t>
            </a:r>
            <a:r>
              <a:rPr lang="en-US" altLang="zh-CN" i="1" dirty="0" err="1">
                <a:solidFill>
                  <a:srgbClr val="000000"/>
                </a:solidFill>
                <a:latin typeface="TimesTen-Italic"/>
              </a:rPr>
              <a:t>hello.c</a:t>
            </a:r>
            <a:endParaRPr lang="zh-CN" altLang="en-US" dirty="0"/>
          </a:p>
        </p:txBody>
      </p:sp>
      <p:sp>
        <p:nvSpPr>
          <p:cNvPr id="2" name="标题 1"/>
          <p:cNvSpPr>
            <a:spLocks noGrp="1"/>
          </p:cNvSpPr>
          <p:nvPr>
            <p:ph type="title"/>
          </p:nvPr>
        </p:nvSpPr>
        <p:spPr/>
        <p:txBody>
          <a:bodyPr/>
          <a:lstStyle/>
          <a:p>
            <a:r>
              <a:rPr lang="en-US" altLang="zh-CN" dirty="0"/>
              <a:t>1.1 </a:t>
            </a:r>
            <a:r>
              <a:rPr lang="zh-CN" altLang="en-US" dirty="0"/>
              <a:t>数据及其解读</a:t>
            </a:r>
          </a:p>
        </p:txBody>
      </p:sp>
      <p:sp>
        <p:nvSpPr>
          <p:cNvPr id="4" name="灯片编号占位符 3"/>
          <p:cNvSpPr>
            <a:spLocks noGrp="1"/>
          </p:cNvSpPr>
          <p:nvPr>
            <p:ph type="sldNum" sz="quarter" idx="12"/>
          </p:nvPr>
        </p:nvSpPr>
        <p:spPr/>
        <p:txBody>
          <a:bodyPr/>
          <a:lstStyle/>
          <a:p>
            <a:pPr>
              <a:defRPr/>
            </a:pPr>
            <a:fld id="{392EB7A3-68BD-4CAE-8C14-8063AF6D8FB4}" type="slidenum">
              <a:rPr lang="zh-CN" altLang="en-US" smtClean="0"/>
              <a:pPr>
                <a:defRPr/>
              </a:pPr>
              <a:t>28</a:t>
            </a:fld>
            <a:endParaRPr lang="zh-CN" altLang="en-US" dirty="0"/>
          </a:p>
        </p:txBody>
      </p:sp>
      <p:sp>
        <p:nvSpPr>
          <p:cNvPr id="9" name="文本框 8"/>
          <p:cNvSpPr txBox="1"/>
          <p:nvPr/>
        </p:nvSpPr>
        <p:spPr>
          <a:xfrm>
            <a:off x="1371600" y="1611630"/>
            <a:ext cx="6899564" cy="369332"/>
          </a:xfrm>
          <a:prstGeom prst="rect">
            <a:avLst/>
          </a:prstGeom>
          <a:noFill/>
        </p:spPr>
        <p:txBody>
          <a:bodyPr wrap="square" rtlCol="0">
            <a:spAutoFit/>
          </a:bodyPr>
          <a:lstStyle/>
          <a:p>
            <a:r>
              <a:rPr lang="en-US" altLang="zh-CN" dirty="0" err="1"/>
              <a:t>hello.c</a:t>
            </a:r>
            <a:r>
              <a:rPr lang="zh-CN" altLang="en-US" dirty="0"/>
              <a:t>源代码</a:t>
            </a:r>
            <a:r>
              <a:rPr lang="en-US" altLang="zh-CN" dirty="0"/>
              <a:t>	</a:t>
            </a:r>
            <a:r>
              <a:rPr lang="en-US" altLang="zh-CN" b="1" dirty="0">
                <a:solidFill>
                  <a:srgbClr val="FF0000"/>
                </a:solidFill>
              </a:rPr>
              <a:t>http://csapp.cs.cmu.edu/3e/code.html</a:t>
            </a:r>
            <a:endParaRPr lang="zh-CN" altLang="en-US" b="1" dirty="0">
              <a:solidFill>
                <a:srgbClr val="FF0000"/>
              </a:solidFill>
            </a:endParaRPr>
          </a:p>
        </p:txBody>
      </p:sp>
      <p:pic>
        <p:nvPicPr>
          <p:cNvPr id="11" name="图片 10"/>
          <p:cNvPicPr>
            <a:picLocks noChangeAspect="1"/>
          </p:cNvPicPr>
          <p:nvPr/>
        </p:nvPicPr>
        <p:blipFill>
          <a:blip r:embed="rId3"/>
          <a:stretch>
            <a:fillRect/>
          </a:stretch>
        </p:blipFill>
        <p:spPr>
          <a:xfrm>
            <a:off x="4216890" y="2629313"/>
            <a:ext cx="7115175" cy="2428875"/>
          </a:xfrm>
          <a:prstGeom prst="rect">
            <a:avLst/>
          </a:prstGeom>
        </p:spPr>
      </p:pic>
      <p:sp>
        <p:nvSpPr>
          <p:cNvPr id="12" name="文本框 11"/>
          <p:cNvSpPr txBox="1"/>
          <p:nvPr/>
        </p:nvSpPr>
        <p:spPr>
          <a:xfrm>
            <a:off x="1371600" y="5397024"/>
            <a:ext cx="7978140" cy="923330"/>
          </a:xfrm>
          <a:prstGeom prst="rect">
            <a:avLst/>
          </a:prstGeom>
          <a:noFill/>
        </p:spPr>
        <p:txBody>
          <a:bodyPr wrap="square" rtlCol="0">
            <a:spAutoFit/>
          </a:bodyPr>
          <a:lstStyle/>
          <a:p>
            <a:r>
              <a:rPr lang="zh-CN" altLang="en-US" b="1" dirty="0"/>
              <a:t>数据表示</a:t>
            </a:r>
            <a:endParaRPr lang="en-US" altLang="zh-CN" b="1" dirty="0"/>
          </a:p>
          <a:p>
            <a:r>
              <a:rPr lang="zh-CN" altLang="en-US" dirty="0"/>
              <a:t>计算机系统中通过“</a:t>
            </a:r>
            <a:r>
              <a:rPr lang="zh-CN" altLang="en-US" b="1" dirty="0">
                <a:solidFill>
                  <a:srgbClr val="FF0000"/>
                </a:solidFill>
              </a:rPr>
              <a:t>数值</a:t>
            </a:r>
            <a:r>
              <a:rPr lang="zh-CN" altLang="en-US" dirty="0"/>
              <a:t>”和“</a:t>
            </a:r>
            <a:r>
              <a:rPr lang="zh-CN" altLang="en-US" b="1" dirty="0">
                <a:solidFill>
                  <a:srgbClr val="FF0000"/>
                </a:solidFill>
              </a:rPr>
              <a:t>解读规则</a:t>
            </a:r>
            <a:r>
              <a:rPr lang="zh-CN" altLang="en-US" dirty="0"/>
              <a:t>”可以表示：</a:t>
            </a:r>
            <a:endParaRPr lang="en-US" altLang="zh-CN" dirty="0"/>
          </a:p>
          <a:p>
            <a:r>
              <a:rPr lang="en-US" altLang="zh-CN" dirty="0"/>
              <a:t>	</a:t>
            </a:r>
            <a:r>
              <a:rPr lang="zh-CN" altLang="en-US" dirty="0"/>
              <a:t>整数、浮点数、字符（字符串）和机器指令等</a:t>
            </a:r>
          </a:p>
        </p:txBody>
      </p:sp>
      <p:sp>
        <p:nvSpPr>
          <p:cNvPr id="5" name="椭圆 4"/>
          <p:cNvSpPr/>
          <p:nvPr/>
        </p:nvSpPr>
        <p:spPr>
          <a:xfrm>
            <a:off x="4114800" y="2507673"/>
            <a:ext cx="443345" cy="651163"/>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矩形 5">
            <a:extLst>
              <a:ext uri="{FF2B5EF4-FFF2-40B4-BE49-F238E27FC236}">
                <a16:creationId xmlns:a16="http://schemas.microsoft.com/office/drawing/2014/main" id="{35A3C61D-4A2B-41F5-B72B-5CCE4C8D6821}"/>
              </a:ext>
            </a:extLst>
          </p:cNvPr>
          <p:cNvSpPr/>
          <p:nvPr/>
        </p:nvSpPr>
        <p:spPr>
          <a:xfrm>
            <a:off x="2280772" y="2088426"/>
            <a:ext cx="9662699" cy="2308324"/>
          </a:xfrm>
          <a:prstGeom prst="rect">
            <a:avLst/>
          </a:prstGeom>
          <a:solidFill>
            <a:schemeClr val="bg1"/>
          </a:solidFill>
          <a:ln>
            <a:solidFill>
              <a:schemeClr val="accent6"/>
            </a:solidFill>
          </a:ln>
        </p:spPr>
        <p:txBody>
          <a:bodyPr wrap="square">
            <a:spAutoFit/>
          </a:bodyPr>
          <a:lstStyle/>
          <a:p>
            <a:r>
              <a:rPr lang="en-US" altLang="zh-CN" dirty="0">
                <a:latin typeface="FangSong" panose="02010609060101010101" pitchFamily="49" charset="-122"/>
                <a:ea typeface="FangSong" panose="02010609060101010101" pitchFamily="49" charset="-122"/>
              </a:rPr>
              <a:t>[</a:t>
            </a:r>
            <a:r>
              <a:rPr lang="en-US" altLang="zh-CN" dirty="0" err="1">
                <a:latin typeface="FangSong" panose="02010609060101010101" pitchFamily="49" charset="-122"/>
                <a:ea typeface="FangSong" panose="02010609060101010101" pitchFamily="49" charset="-122"/>
              </a:rPr>
              <a:t>lqm@localhost</a:t>
            </a:r>
            <a:r>
              <a:rPr lang="en-US" altLang="zh-CN" dirty="0">
                <a:latin typeface="FangSong" panose="02010609060101010101" pitchFamily="49" charset="-122"/>
                <a:ea typeface="FangSong" panose="02010609060101010101" pitchFamily="49" charset="-122"/>
              </a:rPr>
              <a:t> cs2]$ </a:t>
            </a:r>
            <a:r>
              <a:rPr lang="en-US" altLang="zh-CN" b="1" dirty="0" err="1">
                <a:solidFill>
                  <a:srgbClr val="FF0000"/>
                </a:solidFill>
                <a:latin typeface="FangSong" panose="02010609060101010101" pitchFamily="49" charset="-122"/>
                <a:ea typeface="FangSong" panose="02010609060101010101" pitchFamily="49" charset="-122"/>
              </a:rPr>
              <a:t>hexdump</a:t>
            </a:r>
            <a:r>
              <a:rPr lang="en-US" altLang="zh-CN" b="1" dirty="0">
                <a:solidFill>
                  <a:srgbClr val="FF0000"/>
                </a:solidFill>
                <a:latin typeface="FangSong" panose="02010609060101010101" pitchFamily="49" charset="-122"/>
                <a:ea typeface="FangSong" panose="02010609060101010101" pitchFamily="49" charset="-122"/>
              </a:rPr>
              <a:t> -C</a:t>
            </a:r>
            <a:r>
              <a:rPr lang="en-US" altLang="zh-CN" dirty="0">
                <a:latin typeface="FangSong" panose="02010609060101010101" pitchFamily="49" charset="-122"/>
                <a:ea typeface="FangSong" panose="02010609060101010101" pitchFamily="49" charset="-122"/>
              </a:rPr>
              <a:t> div-0.c</a:t>
            </a:r>
          </a:p>
          <a:p>
            <a:r>
              <a:rPr lang="en-US" altLang="zh-CN" dirty="0">
                <a:latin typeface="FangSong" panose="02010609060101010101" pitchFamily="49" charset="-122"/>
                <a:ea typeface="FangSong" panose="02010609060101010101" pitchFamily="49" charset="-122"/>
              </a:rPr>
              <a:t>00000000  23 69 6e 63 6c 75 64 65  20 3c 73 74 64 69 6f 2e  </a:t>
            </a:r>
            <a:r>
              <a:rPr lang="en-US" altLang="zh-CN" b="1" dirty="0">
                <a:solidFill>
                  <a:srgbClr val="00B0F0"/>
                </a:solidFill>
                <a:latin typeface="FangSong" panose="02010609060101010101" pitchFamily="49" charset="-122"/>
                <a:ea typeface="FangSong" panose="02010609060101010101" pitchFamily="49" charset="-122"/>
              </a:rPr>
              <a:t>|#include &lt;</a:t>
            </a:r>
            <a:r>
              <a:rPr lang="en-US" altLang="zh-CN" b="1" dirty="0" err="1">
                <a:solidFill>
                  <a:srgbClr val="00B0F0"/>
                </a:solidFill>
                <a:latin typeface="FangSong" panose="02010609060101010101" pitchFamily="49" charset="-122"/>
                <a:ea typeface="FangSong" panose="02010609060101010101" pitchFamily="49" charset="-122"/>
              </a:rPr>
              <a:t>stdio</a:t>
            </a:r>
            <a:r>
              <a:rPr lang="en-US" altLang="zh-CN" b="1" dirty="0">
                <a:solidFill>
                  <a:srgbClr val="00B0F0"/>
                </a:solidFill>
                <a:latin typeface="FangSong" panose="02010609060101010101" pitchFamily="49" charset="-122"/>
                <a:ea typeface="FangSong" panose="02010609060101010101" pitchFamily="49" charset="-122"/>
              </a:rPr>
              <a:t>.|</a:t>
            </a:r>
          </a:p>
          <a:p>
            <a:r>
              <a:rPr lang="en-US" altLang="zh-CN" dirty="0">
                <a:latin typeface="FangSong" panose="02010609060101010101" pitchFamily="49" charset="-122"/>
                <a:ea typeface="FangSong" panose="02010609060101010101" pitchFamily="49" charset="-122"/>
              </a:rPr>
              <a:t>00000010  68 3e 0a 69 6e 74 20 6d  61 69 6e 28 29 0a 7b 0a  </a:t>
            </a:r>
            <a:r>
              <a:rPr lang="en-US" altLang="zh-CN" b="1" dirty="0">
                <a:solidFill>
                  <a:srgbClr val="00B0F0"/>
                </a:solidFill>
                <a:latin typeface="FangSong" panose="02010609060101010101" pitchFamily="49" charset="-122"/>
                <a:ea typeface="FangSong" panose="02010609060101010101" pitchFamily="49" charset="-122"/>
              </a:rPr>
              <a:t>|h&gt;.int main().{.|</a:t>
            </a:r>
          </a:p>
          <a:p>
            <a:r>
              <a:rPr lang="en-US" altLang="zh-CN" dirty="0">
                <a:latin typeface="FangSong" panose="02010609060101010101" pitchFamily="49" charset="-122"/>
                <a:ea typeface="FangSong" panose="02010609060101010101" pitchFamily="49" charset="-122"/>
              </a:rPr>
              <a:t>00000020  09 69 6e 74 20 64 61 74  61 3b 0a 09 64 61 74 61  </a:t>
            </a:r>
            <a:r>
              <a:rPr lang="en-US" altLang="zh-CN" b="1" dirty="0">
                <a:solidFill>
                  <a:srgbClr val="00B0F0"/>
                </a:solidFill>
                <a:latin typeface="FangSong" panose="02010609060101010101" pitchFamily="49" charset="-122"/>
                <a:ea typeface="FangSong" panose="02010609060101010101" pitchFamily="49" charset="-122"/>
              </a:rPr>
              <a:t>|.int </a:t>
            </a:r>
            <a:r>
              <a:rPr lang="en-US" altLang="zh-CN" b="1" dirty="0" err="1">
                <a:solidFill>
                  <a:srgbClr val="00B0F0"/>
                </a:solidFill>
                <a:latin typeface="FangSong" panose="02010609060101010101" pitchFamily="49" charset="-122"/>
                <a:ea typeface="FangSong" panose="02010609060101010101" pitchFamily="49" charset="-122"/>
              </a:rPr>
              <a:t>data;..data</a:t>
            </a:r>
            <a:r>
              <a:rPr lang="en-US" altLang="zh-CN" b="1" dirty="0">
                <a:solidFill>
                  <a:srgbClr val="00B0F0"/>
                </a:solidFill>
                <a:latin typeface="FangSong" panose="02010609060101010101" pitchFamily="49" charset="-122"/>
                <a:ea typeface="FangSong" panose="02010609060101010101" pitchFamily="49" charset="-122"/>
              </a:rPr>
              <a:t>|</a:t>
            </a:r>
          </a:p>
          <a:p>
            <a:r>
              <a:rPr lang="en-US" altLang="zh-CN" dirty="0">
                <a:latin typeface="FangSong" panose="02010609060101010101" pitchFamily="49" charset="-122"/>
                <a:ea typeface="FangSong" panose="02010609060101010101" pitchFamily="49" charset="-122"/>
              </a:rPr>
              <a:t>00000030  2b 3d 33 32 3b 0a 09 72  65 74 75 72 6e 20 30 3b  </a:t>
            </a:r>
            <a:r>
              <a:rPr lang="en-US" altLang="zh-CN" b="1" dirty="0">
                <a:solidFill>
                  <a:srgbClr val="00B0F0"/>
                </a:solidFill>
                <a:latin typeface="FangSong" panose="02010609060101010101" pitchFamily="49" charset="-122"/>
                <a:ea typeface="FangSong" panose="02010609060101010101" pitchFamily="49" charset="-122"/>
              </a:rPr>
              <a:t>|+=32;..return 0;|</a:t>
            </a:r>
          </a:p>
          <a:p>
            <a:r>
              <a:rPr lang="en-US" altLang="zh-CN" dirty="0">
                <a:latin typeface="FangSong" panose="02010609060101010101" pitchFamily="49" charset="-122"/>
                <a:ea typeface="FangSong" panose="02010609060101010101" pitchFamily="49" charset="-122"/>
              </a:rPr>
              <a:t>00000040  0a 7d 0a                                          </a:t>
            </a:r>
            <a:r>
              <a:rPr lang="en-US" altLang="zh-CN" b="1" dirty="0">
                <a:solidFill>
                  <a:srgbClr val="00B0F0"/>
                </a:solidFill>
                <a:latin typeface="FangSong" panose="02010609060101010101" pitchFamily="49" charset="-122"/>
                <a:ea typeface="FangSong" panose="02010609060101010101" pitchFamily="49" charset="-122"/>
              </a:rPr>
              <a:t>|.}.|</a:t>
            </a:r>
          </a:p>
          <a:p>
            <a:r>
              <a:rPr lang="en-US" altLang="zh-CN" dirty="0">
                <a:latin typeface="FangSong" panose="02010609060101010101" pitchFamily="49" charset="-122"/>
                <a:ea typeface="FangSong" panose="02010609060101010101" pitchFamily="49" charset="-122"/>
              </a:rPr>
              <a:t>00000043</a:t>
            </a:r>
          </a:p>
          <a:p>
            <a:r>
              <a:rPr lang="en-US" altLang="zh-CN" dirty="0">
                <a:latin typeface="FangSong" panose="02010609060101010101" pitchFamily="49" charset="-122"/>
                <a:ea typeface="FangSong" panose="02010609060101010101" pitchFamily="49" charset="-122"/>
              </a:rPr>
              <a:t>[</a:t>
            </a:r>
            <a:r>
              <a:rPr lang="en-US" altLang="zh-CN" dirty="0" err="1">
                <a:latin typeface="FangSong" panose="02010609060101010101" pitchFamily="49" charset="-122"/>
                <a:ea typeface="FangSong" panose="02010609060101010101" pitchFamily="49" charset="-122"/>
              </a:rPr>
              <a:t>lqm@localhost</a:t>
            </a:r>
            <a:r>
              <a:rPr lang="en-US" altLang="zh-CN" dirty="0">
                <a:latin typeface="FangSong" panose="02010609060101010101" pitchFamily="49" charset="-122"/>
                <a:ea typeface="FangSong" panose="02010609060101010101" pitchFamily="49" charset="-122"/>
              </a:rPr>
              <a:t> cs2]$ </a:t>
            </a:r>
          </a:p>
        </p:txBody>
      </p:sp>
    </p:spTree>
    <p:extLst>
      <p:ext uri="{BB962C8B-B14F-4D97-AF65-F5344CB8AC3E}">
        <p14:creationId xmlns:p14="http://schemas.microsoft.com/office/powerpoint/2010/main" val="40347525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additive="base">
                                        <p:cTn id="7" dur="500" fill="hold"/>
                                        <p:tgtEl>
                                          <p:spTgt spid="6"/>
                                        </p:tgtEl>
                                        <p:attrNameLst>
                                          <p:attrName>ppt_x</p:attrName>
                                        </p:attrNameLst>
                                      </p:cBhvr>
                                      <p:tavLst>
                                        <p:tav tm="0">
                                          <p:val>
                                            <p:strVal val="#ppt_x"/>
                                          </p:val>
                                        </p:tav>
                                        <p:tav tm="100000">
                                          <p:val>
                                            <p:strVal val="#ppt_x"/>
                                          </p:val>
                                        </p:tav>
                                      </p:tavLst>
                                    </p:anim>
                                    <p:anim calcmode="lin" valueType="num">
                                      <p:cBhvr additive="base">
                                        <p:cTn id="8" dur="500" fill="hold"/>
                                        <p:tgtEl>
                                          <p:spTgt spid="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2" name="图片 31"/>
          <p:cNvPicPr>
            <a:picLocks noChangeAspect="1"/>
          </p:cNvPicPr>
          <p:nvPr/>
        </p:nvPicPr>
        <p:blipFill>
          <a:blip r:embed="rId3"/>
          <a:stretch>
            <a:fillRect/>
          </a:stretch>
        </p:blipFill>
        <p:spPr>
          <a:xfrm>
            <a:off x="1558267" y="2954675"/>
            <a:ext cx="9075465" cy="1831320"/>
          </a:xfrm>
          <a:prstGeom prst="rect">
            <a:avLst/>
          </a:prstGeom>
        </p:spPr>
      </p:pic>
      <p:sp>
        <p:nvSpPr>
          <p:cNvPr id="2" name="标题 1"/>
          <p:cNvSpPr>
            <a:spLocks noGrp="1"/>
          </p:cNvSpPr>
          <p:nvPr>
            <p:ph type="title"/>
          </p:nvPr>
        </p:nvSpPr>
        <p:spPr/>
        <p:txBody>
          <a:bodyPr/>
          <a:lstStyle/>
          <a:p>
            <a:r>
              <a:rPr lang="en-US" altLang="zh-CN" dirty="0"/>
              <a:t>1.2 </a:t>
            </a:r>
            <a:r>
              <a:rPr lang="zh-CN" altLang="en-US" dirty="0"/>
              <a:t>编译</a:t>
            </a:r>
            <a:r>
              <a:rPr lang="en-US" altLang="zh-CN" dirty="0"/>
              <a:t>/</a:t>
            </a:r>
            <a:r>
              <a:rPr lang="zh-CN" altLang="en-US" dirty="0"/>
              <a:t>链接过程</a:t>
            </a:r>
          </a:p>
        </p:txBody>
      </p:sp>
      <p:sp>
        <p:nvSpPr>
          <p:cNvPr id="4" name="灯片编号占位符 3"/>
          <p:cNvSpPr>
            <a:spLocks noGrp="1"/>
          </p:cNvSpPr>
          <p:nvPr>
            <p:ph type="sldNum" sz="quarter" idx="12"/>
          </p:nvPr>
        </p:nvSpPr>
        <p:spPr/>
        <p:txBody>
          <a:bodyPr/>
          <a:lstStyle/>
          <a:p>
            <a:pPr>
              <a:defRPr/>
            </a:pPr>
            <a:fld id="{392EB7A3-68BD-4CAE-8C14-8063AF6D8FB4}" type="slidenum">
              <a:rPr lang="zh-CN" altLang="en-US" smtClean="0"/>
              <a:pPr>
                <a:defRPr/>
              </a:pPr>
              <a:t>29</a:t>
            </a:fld>
            <a:endParaRPr lang="zh-CN" altLang="en-US"/>
          </a:p>
        </p:txBody>
      </p:sp>
      <p:sp>
        <p:nvSpPr>
          <p:cNvPr id="3" name="文本框 2"/>
          <p:cNvSpPr txBox="1"/>
          <p:nvPr/>
        </p:nvSpPr>
        <p:spPr>
          <a:xfrm>
            <a:off x="1554480" y="1417638"/>
            <a:ext cx="5932170" cy="369332"/>
          </a:xfrm>
          <a:prstGeom prst="rect">
            <a:avLst/>
          </a:prstGeom>
          <a:noFill/>
        </p:spPr>
        <p:txBody>
          <a:bodyPr wrap="square" rtlCol="0">
            <a:spAutoFit/>
          </a:bodyPr>
          <a:lstStyle/>
          <a:p>
            <a:r>
              <a:rPr lang="zh-CN" altLang="en-US" dirty="0"/>
              <a:t>源代码经过编译</a:t>
            </a:r>
            <a:r>
              <a:rPr lang="en-US" altLang="zh-CN" dirty="0"/>
              <a:t>/</a:t>
            </a:r>
            <a:r>
              <a:rPr lang="zh-CN" altLang="en-US" dirty="0"/>
              <a:t>链接后生成可执行文件：</a:t>
            </a:r>
          </a:p>
        </p:txBody>
      </p:sp>
      <p:sp>
        <p:nvSpPr>
          <p:cNvPr id="5" name="矩形 4"/>
          <p:cNvSpPr/>
          <p:nvPr/>
        </p:nvSpPr>
        <p:spPr>
          <a:xfrm>
            <a:off x="3463126" y="1786970"/>
            <a:ext cx="3185487" cy="369332"/>
          </a:xfrm>
          <a:prstGeom prst="rect">
            <a:avLst/>
          </a:prstGeom>
        </p:spPr>
        <p:txBody>
          <a:bodyPr wrap="none">
            <a:spAutoFit/>
          </a:bodyPr>
          <a:lstStyle/>
          <a:p>
            <a:r>
              <a:rPr lang="en-US" altLang="zh-CN" dirty="0" err="1">
                <a:latin typeface="ZztexMono-Regular"/>
              </a:rPr>
              <a:t>unix</a:t>
            </a:r>
            <a:r>
              <a:rPr lang="en-US" altLang="zh-CN" dirty="0">
                <a:latin typeface="ZztexMono-Regular"/>
              </a:rPr>
              <a:t>&gt; </a:t>
            </a:r>
            <a:r>
              <a:rPr lang="en-US" altLang="zh-CN" i="1" dirty="0" err="1">
                <a:latin typeface="ZztexMono-Italic"/>
              </a:rPr>
              <a:t>gcc</a:t>
            </a:r>
            <a:r>
              <a:rPr lang="en-US" altLang="zh-CN" i="1" dirty="0">
                <a:latin typeface="ZztexMono-Italic"/>
              </a:rPr>
              <a:t> -o hello </a:t>
            </a:r>
            <a:r>
              <a:rPr lang="en-US" altLang="zh-CN" i="1" dirty="0" err="1">
                <a:latin typeface="ZztexMono-Italic"/>
              </a:rPr>
              <a:t>hello.c</a:t>
            </a:r>
            <a:endParaRPr lang="zh-CN" altLang="en-US" dirty="0"/>
          </a:p>
        </p:txBody>
      </p:sp>
      <p:sp>
        <p:nvSpPr>
          <p:cNvPr id="7" name="文本框 6"/>
          <p:cNvSpPr txBox="1"/>
          <p:nvPr/>
        </p:nvSpPr>
        <p:spPr>
          <a:xfrm>
            <a:off x="8737600" y="1232972"/>
            <a:ext cx="2354580" cy="369332"/>
          </a:xfrm>
          <a:prstGeom prst="rect">
            <a:avLst/>
          </a:prstGeom>
          <a:noFill/>
        </p:spPr>
        <p:txBody>
          <a:bodyPr wrap="square" rtlCol="0">
            <a:spAutoFit/>
          </a:bodyPr>
          <a:lstStyle/>
          <a:p>
            <a:r>
              <a:rPr lang="zh-CN" altLang="en-US" dirty="0"/>
              <a:t>编译器驱动程序</a:t>
            </a:r>
          </a:p>
        </p:txBody>
      </p:sp>
      <p:sp>
        <p:nvSpPr>
          <p:cNvPr id="8" name="任意多边形 7"/>
          <p:cNvSpPr/>
          <p:nvPr/>
        </p:nvSpPr>
        <p:spPr>
          <a:xfrm>
            <a:off x="4640580" y="1417320"/>
            <a:ext cx="4069080" cy="491490"/>
          </a:xfrm>
          <a:custGeom>
            <a:avLst/>
            <a:gdLst>
              <a:gd name="connsiteX0" fmla="*/ 4069080 w 4069080"/>
              <a:gd name="connsiteY0" fmla="*/ 0 h 491490"/>
              <a:gd name="connsiteX1" fmla="*/ 1863090 w 4069080"/>
              <a:gd name="connsiteY1" fmla="*/ 148590 h 491490"/>
              <a:gd name="connsiteX2" fmla="*/ 0 w 4069080"/>
              <a:gd name="connsiteY2" fmla="*/ 491490 h 491490"/>
            </a:gdLst>
            <a:ahLst/>
            <a:cxnLst>
              <a:cxn ang="0">
                <a:pos x="connsiteX0" y="connsiteY0"/>
              </a:cxn>
              <a:cxn ang="0">
                <a:pos x="connsiteX1" y="connsiteY1"/>
              </a:cxn>
              <a:cxn ang="0">
                <a:pos x="connsiteX2" y="connsiteY2"/>
              </a:cxn>
            </a:cxnLst>
            <a:rect l="l" t="t" r="r" b="b"/>
            <a:pathLst>
              <a:path w="4069080" h="491490">
                <a:moveTo>
                  <a:pt x="4069080" y="0"/>
                </a:moveTo>
                <a:cubicBezTo>
                  <a:pt x="3305175" y="33337"/>
                  <a:pt x="2541270" y="66675"/>
                  <a:pt x="1863090" y="148590"/>
                </a:cubicBezTo>
                <a:cubicBezTo>
                  <a:pt x="1184910" y="230505"/>
                  <a:pt x="592455" y="360997"/>
                  <a:pt x="0" y="491490"/>
                </a:cubicBezTo>
              </a:path>
            </a:pathLst>
          </a:custGeom>
          <a:noFill/>
          <a:ln>
            <a:solidFill>
              <a:srgbClr val="FF0000"/>
            </a:solidFill>
            <a:tailEnd type="stealth" w="lg" len="lg"/>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文本框 9"/>
          <p:cNvSpPr txBox="1"/>
          <p:nvPr/>
        </p:nvSpPr>
        <p:spPr>
          <a:xfrm>
            <a:off x="2571750" y="2900522"/>
            <a:ext cx="1131570" cy="369332"/>
          </a:xfrm>
          <a:prstGeom prst="rect">
            <a:avLst/>
          </a:prstGeom>
          <a:noFill/>
        </p:spPr>
        <p:txBody>
          <a:bodyPr wrap="square" rtlCol="0">
            <a:spAutoFit/>
          </a:bodyPr>
          <a:lstStyle/>
          <a:p>
            <a:r>
              <a:rPr lang="zh-CN" altLang="en-US" b="1" dirty="0">
                <a:solidFill>
                  <a:schemeClr val="accent6">
                    <a:lumMod val="75000"/>
                  </a:schemeClr>
                </a:solidFill>
              </a:rPr>
              <a:t>预处理器</a:t>
            </a:r>
          </a:p>
        </p:txBody>
      </p:sp>
      <p:sp>
        <p:nvSpPr>
          <p:cNvPr id="13" name="文本框 12"/>
          <p:cNvSpPr txBox="1"/>
          <p:nvPr/>
        </p:nvSpPr>
        <p:spPr>
          <a:xfrm>
            <a:off x="4640580" y="2900522"/>
            <a:ext cx="981074" cy="369332"/>
          </a:xfrm>
          <a:prstGeom prst="rect">
            <a:avLst/>
          </a:prstGeom>
          <a:noFill/>
        </p:spPr>
        <p:txBody>
          <a:bodyPr wrap="square" rtlCol="0">
            <a:spAutoFit/>
          </a:bodyPr>
          <a:lstStyle/>
          <a:p>
            <a:r>
              <a:rPr lang="zh-CN" altLang="en-US" b="1" dirty="0">
                <a:solidFill>
                  <a:schemeClr val="accent6">
                    <a:lumMod val="75000"/>
                  </a:schemeClr>
                </a:solidFill>
              </a:rPr>
              <a:t>编译器</a:t>
            </a:r>
          </a:p>
        </p:txBody>
      </p:sp>
      <p:sp>
        <p:nvSpPr>
          <p:cNvPr id="14" name="文本框 13"/>
          <p:cNvSpPr txBox="1"/>
          <p:nvPr/>
        </p:nvSpPr>
        <p:spPr>
          <a:xfrm>
            <a:off x="6505576" y="2900522"/>
            <a:ext cx="981074" cy="369332"/>
          </a:xfrm>
          <a:prstGeom prst="rect">
            <a:avLst/>
          </a:prstGeom>
          <a:noFill/>
        </p:spPr>
        <p:txBody>
          <a:bodyPr wrap="square" rtlCol="0">
            <a:spAutoFit/>
          </a:bodyPr>
          <a:lstStyle/>
          <a:p>
            <a:r>
              <a:rPr lang="zh-CN" altLang="en-US" b="1" dirty="0">
                <a:solidFill>
                  <a:schemeClr val="accent6">
                    <a:lumMod val="75000"/>
                  </a:schemeClr>
                </a:solidFill>
              </a:rPr>
              <a:t>汇编器</a:t>
            </a:r>
          </a:p>
        </p:txBody>
      </p:sp>
      <p:sp>
        <p:nvSpPr>
          <p:cNvPr id="15" name="文本框 14"/>
          <p:cNvSpPr txBox="1"/>
          <p:nvPr/>
        </p:nvSpPr>
        <p:spPr>
          <a:xfrm>
            <a:off x="8627928" y="2900522"/>
            <a:ext cx="981074" cy="369332"/>
          </a:xfrm>
          <a:prstGeom prst="rect">
            <a:avLst/>
          </a:prstGeom>
          <a:noFill/>
        </p:spPr>
        <p:txBody>
          <a:bodyPr wrap="square" rtlCol="0">
            <a:spAutoFit/>
          </a:bodyPr>
          <a:lstStyle/>
          <a:p>
            <a:r>
              <a:rPr lang="zh-CN" altLang="en-US" b="1" dirty="0">
                <a:solidFill>
                  <a:schemeClr val="accent6">
                    <a:lumMod val="75000"/>
                  </a:schemeClr>
                </a:solidFill>
              </a:rPr>
              <a:t>链接器</a:t>
            </a:r>
          </a:p>
        </p:txBody>
      </p:sp>
      <p:sp>
        <p:nvSpPr>
          <p:cNvPr id="16" name="矩形 15"/>
          <p:cNvSpPr/>
          <p:nvPr/>
        </p:nvSpPr>
        <p:spPr>
          <a:xfrm>
            <a:off x="2571750" y="2843054"/>
            <a:ext cx="7037252" cy="1439288"/>
          </a:xfrm>
          <a:prstGeom prst="rect">
            <a:avLst/>
          </a:prstGeom>
          <a:noFill/>
          <a:ln>
            <a:solidFill>
              <a:srgbClr val="00B05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 name="文本框 16"/>
          <p:cNvSpPr txBox="1"/>
          <p:nvPr/>
        </p:nvSpPr>
        <p:spPr>
          <a:xfrm>
            <a:off x="5280679" y="2468305"/>
            <a:ext cx="1482253" cy="461665"/>
          </a:xfrm>
          <a:prstGeom prst="rect">
            <a:avLst/>
          </a:prstGeom>
          <a:noFill/>
        </p:spPr>
        <p:txBody>
          <a:bodyPr wrap="square" rtlCol="0">
            <a:spAutoFit/>
          </a:bodyPr>
          <a:lstStyle/>
          <a:p>
            <a:r>
              <a:rPr lang="zh-CN" altLang="en-US" sz="2400" b="1" dirty="0"/>
              <a:t>编译系统</a:t>
            </a:r>
          </a:p>
        </p:txBody>
      </p:sp>
      <p:sp>
        <p:nvSpPr>
          <p:cNvPr id="18" name="文本框 17"/>
          <p:cNvSpPr txBox="1"/>
          <p:nvPr/>
        </p:nvSpPr>
        <p:spPr>
          <a:xfrm>
            <a:off x="2423159" y="5951299"/>
            <a:ext cx="1380079" cy="369332"/>
          </a:xfrm>
          <a:prstGeom prst="rect">
            <a:avLst/>
          </a:prstGeom>
          <a:noFill/>
        </p:spPr>
        <p:txBody>
          <a:bodyPr wrap="square" rtlCol="0">
            <a:spAutoFit/>
          </a:bodyPr>
          <a:lstStyle/>
          <a:p>
            <a:r>
              <a:rPr lang="zh-CN" altLang="en-US" b="1" dirty="0">
                <a:solidFill>
                  <a:srgbClr val="0070C0"/>
                </a:solidFill>
              </a:rPr>
              <a:t>预处理阶段</a:t>
            </a:r>
          </a:p>
        </p:txBody>
      </p:sp>
      <p:sp>
        <p:nvSpPr>
          <p:cNvPr id="19" name="文本框 18"/>
          <p:cNvSpPr txBox="1"/>
          <p:nvPr/>
        </p:nvSpPr>
        <p:spPr>
          <a:xfrm>
            <a:off x="4469130" y="5951299"/>
            <a:ext cx="1152524" cy="369332"/>
          </a:xfrm>
          <a:prstGeom prst="rect">
            <a:avLst/>
          </a:prstGeom>
          <a:noFill/>
        </p:spPr>
        <p:txBody>
          <a:bodyPr wrap="square" rtlCol="0">
            <a:spAutoFit/>
          </a:bodyPr>
          <a:lstStyle/>
          <a:p>
            <a:r>
              <a:rPr lang="zh-CN" altLang="en-US" b="1" dirty="0">
                <a:solidFill>
                  <a:srgbClr val="0070C0"/>
                </a:solidFill>
              </a:rPr>
              <a:t>编译阶段</a:t>
            </a:r>
          </a:p>
        </p:txBody>
      </p:sp>
      <p:sp>
        <p:nvSpPr>
          <p:cNvPr id="20" name="文本框 19"/>
          <p:cNvSpPr txBox="1"/>
          <p:nvPr/>
        </p:nvSpPr>
        <p:spPr>
          <a:xfrm>
            <a:off x="6505576" y="5951299"/>
            <a:ext cx="1129664" cy="369332"/>
          </a:xfrm>
          <a:prstGeom prst="rect">
            <a:avLst/>
          </a:prstGeom>
          <a:noFill/>
        </p:spPr>
        <p:txBody>
          <a:bodyPr wrap="square" rtlCol="0">
            <a:spAutoFit/>
          </a:bodyPr>
          <a:lstStyle/>
          <a:p>
            <a:r>
              <a:rPr lang="zh-CN" altLang="en-US" b="1" dirty="0">
                <a:solidFill>
                  <a:srgbClr val="0070C0"/>
                </a:solidFill>
              </a:rPr>
              <a:t>汇编阶段</a:t>
            </a:r>
          </a:p>
        </p:txBody>
      </p:sp>
      <p:sp>
        <p:nvSpPr>
          <p:cNvPr id="21" name="文本框 20"/>
          <p:cNvSpPr txBox="1"/>
          <p:nvPr/>
        </p:nvSpPr>
        <p:spPr>
          <a:xfrm>
            <a:off x="8627928" y="5951299"/>
            <a:ext cx="1167582" cy="369332"/>
          </a:xfrm>
          <a:prstGeom prst="rect">
            <a:avLst/>
          </a:prstGeom>
          <a:noFill/>
        </p:spPr>
        <p:txBody>
          <a:bodyPr wrap="square" rtlCol="0">
            <a:spAutoFit/>
          </a:bodyPr>
          <a:lstStyle/>
          <a:p>
            <a:r>
              <a:rPr lang="zh-CN" altLang="en-US" b="1" dirty="0">
                <a:solidFill>
                  <a:srgbClr val="0070C0"/>
                </a:solidFill>
              </a:rPr>
              <a:t>链接阶段</a:t>
            </a:r>
          </a:p>
        </p:txBody>
      </p:sp>
      <p:sp>
        <p:nvSpPr>
          <p:cNvPr id="22" name="文本框 21"/>
          <p:cNvSpPr txBox="1"/>
          <p:nvPr/>
        </p:nvSpPr>
        <p:spPr>
          <a:xfrm>
            <a:off x="1441632" y="4664155"/>
            <a:ext cx="1333498" cy="369332"/>
          </a:xfrm>
          <a:prstGeom prst="rect">
            <a:avLst/>
          </a:prstGeom>
          <a:noFill/>
        </p:spPr>
        <p:txBody>
          <a:bodyPr wrap="square" rtlCol="0">
            <a:spAutoFit/>
          </a:bodyPr>
          <a:lstStyle/>
          <a:p>
            <a:r>
              <a:rPr lang="zh-CN" altLang="en-US" dirty="0"/>
              <a:t>源程序</a:t>
            </a:r>
          </a:p>
        </p:txBody>
      </p:sp>
      <p:sp>
        <p:nvSpPr>
          <p:cNvPr id="23" name="文本框 22"/>
          <p:cNvSpPr txBox="1"/>
          <p:nvPr/>
        </p:nvSpPr>
        <p:spPr>
          <a:xfrm>
            <a:off x="3250517" y="4664155"/>
            <a:ext cx="1561513" cy="646331"/>
          </a:xfrm>
          <a:prstGeom prst="rect">
            <a:avLst/>
          </a:prstGeom>
          <a:noFill/>
        </p:spPr>
        <p:txBody>
          <a:bodyPr wrap="square" rtlCol="0">
            <a:spAutoFit/>
          </a:bodyPr>
          <a:lstStyle/>
          <a:p>
            <a:r>
              <a:rPr lang="zh-CN" altLang="en-US" dirty="0"/>
              <a:t>填充头文件后的源程序</a:t>
            </a:r>
          </a:p>
        </p:txBody>
      </p:sp>
      <p:sp>
        <p:nvSpPr>
          <p:cNvPr id="24" name="文本框 23"/>
          <p:cNvSpPr txBox="1"/>
          <p:nvPr/>
        </p:nvSpPr>
        <p:spPr>
          <a:xfrm>
            <a:off x="5524048" y="4664155"/>
            <a:ext cx="1129664" cy="369332"/>
          </a:xfrm>
          <a:prstGeom prst="rect">
            <a:avLst/>
          </a:prstGeom>
          <a:noFill/>
        </p:spPr>
        <p:txBody>
          <a:bodyPr wrap="square" rtlCol="0">
            <a:spAutoFit/>
          </a:bodyPr>
          <a:lstStyle/>
          <a:p>
            <a:r>
              <a:rPr lang="zh-CN" altLang="en-US" dirty="0"/>
              <a:t>汇编程序</a:t>
            </a:r>
          </a:p>
        </p:txBody>
      </p:sp>
      <p:sp>
        <p:nvSpPr>
          <p:cNvPr id="25" name="文本框 24"/>
          <p:cNvSpPr txBox="1"/>
          <p:nvPr/>
        </p:nvSpPr>
        <p:spPr>
          <a:xfrm>
            <a:off x="7258050" y="4664155"/>
            <a:ext cx="1555932" cy="646331"/>
          </a:xfrm>
          <a:prstGeom prst="rect">
            <a:avLst/>
          </a:prstGeom>
          <a:noFill/>
        </p:spPr>
        <p:txBody>
          <a:bodyPr wrap="square" rtlCol="0">
            <a:spAutoFit/>
          </a:bodyPr>
          <a:lstStyle/>
          <a:p>
            <a:r>
              <a:rPr lang="zh-CN" altLang="en-US" dirty="0"/>
              <a:t>可重定位目标程序（二进制）</a:t>
            </a:r>
          </a:p>
        </p:txBody>
      </p:sp>
      <p:cxnSp>
        <p:nvCxnSpPr>
          <p:cNvPr id="27" name="直接连接符 26"/>
          <p:cNvCxnSpPr/>
          <p:nvPr/>
        </p:nvCxnSpPr>
        <p:spPr>
          <a:xfrm>
            <a:off x="4080510" y="5497512"/>
            <a:ext cx="11430" cy="1174434"/>
          </a:xfrm>
          <a:prstGeom prst="line">
            <a:avLst/>
          </a:prstGeom>
          <a:ln>
            <a:prstDash val="dash"/>
          </a:ln>
        </p:spPr>
        <p:style>
          <a:lnRef idx="1">
            <a:schemeClr val="accent1"/>
          </a:lnRef>
          <a:fillRef idx="0">
            <a:schemeClr val="accent1"/>
          </a:fillRef>
          <a:effectRef idx="0">
            <a:schemeClr val="accent1"/>
          </a:effectRef>
          <a:fontRef idx="minor">
            <a:schemeClr val="tx1"/>
          </a:fontRef>
        </p:style>
      </p:cxnSp>
      <p:cxnSp>
        <p:nvCxnSpPr>
          <p:cNvPr id="29" name="直接连接符 28"/>
          <p:cNvCxnSpPr/>
          <p:nvPr/>
        </p:nvCxnSpPr>
        <p:spPr>
          <a:xfrm>
            <a:off x="5951218" y="5497512"/>
            <a:ext cx="11430" cy="1174434"/>
          </a:xfrm>
          <a:prstGeom prst="line">
            <a:avLst/>
          </a:prstGeom>
          <a:ln>
            <a:prstDash val="dash"/>
          </a:ln>
        </p:spPr>
        <p:style>
          <a:lnRef idx="1">
            <a:schemeClr val="accent1"/>
          </a:lnRef>
          <a:fillRef idx="0">
            <a:schemeClr val="accent1"/>
          </a:fillRef>
          <a:effectRef idx="0">
            <a:schemeClr val="accent1"/>
          </a:effectRef>
          <a:fontRef idx="minor">
            <a:schemeClr val="tx1"/>
          </a:fontRef>
        </p:style>
      </p:cxnSp>
      <p:cxnSp>
        <p:nvCxnSpPr>
          <p:cNvPr id="30" name="直接连接符 29"/>
          <p:cNvCxnSpPr/>
          <p:nvPr/>
        </p:nvCxnSpPr>
        <p:spPr>
          <a:xfrm>
            <a:off x="8110627" y="5497512"/>
            <a:ext cx="11430" cy="1174434"/>
          </a:xfrm>
          <a:prstGeom prst="line">
            <a:avLst/>
          </a:prstGeom>
          <a:ln>
            <a:prstDash val="dash"/>
          </a:ln>
        </p:spPr>
        <p:style>
          <a:lnRef idx="1">
            <a:schemeClr val="accent1"/>
          </a:lnRef>
          <a:fillRef idx="0">
            <a:schemeClr val="accent1"/>
          </a:fillRef>
          <a:effectRef idx="0">
            <a:schemeClr val="accent1"/>
          </a:effectRef>
          <a:fontRef idx="minor">
            <a:schemeClr val="tx1"/>
          </a:fontRef>
        </p:style>
      </p:cxnSp>
      <p:sp>
        <p:nvSpPr>
          <p:cNvPr id="31" name="文本框 30"/>
          <p:cNvSpPr txBox="1"/>
          <p:nvPr/>
        </p:nvSpPr>
        <p:spPr>
          <a:xfrm>
            <a:off x="9490371" y="4664155"/>
            <a:ext cx="1864247" cy="646331"/>
          </a:xfrm>
          <a:prstGeom prst="rect">
            <a:avLst/>
          </a:prstGeom>
          <a:noFill/>
        </p:spPr>
        <p:txBody>
          <a:bodyPr wrap="square" rtlCol="0">
            <a:spAutoFit/>
          </a:bodyPr>
          <a:lstStyle/>
          <a:p>
            <a:r>
              <a:rPr lang="zh-CN" altLang="en-US" dirty="0"/>
              <a:t>可执行目标程序（二进制）</a:t>
            </a:r>
          </a:p>
        </p:txBody>
      </p:sp>
      <p:sp>
        <p:nvSpPr>
          <p:cNvPr id="6" name="文本框 5">
            <a:extLst>
              <a:ext uri="{FF2B5EF4-FFF2-40B4-BE49-F238E27FC236}">
                <a16:creationId xmlns:a16="http://schemas.microsoft.com/office/drawing/2014/main" id="{46F984D1-B71C-4F6D-B262-0EEBEF51CF01}"/>
              </a:ext>
            </a:extLst>
          </p:cNvPr>
          <p:cNvSpPr txBox="1"/>
          <p:nvPr/>
        </p:nvSpPr>
        <p:spPr>
          <a:xfrm>
            <a:off x="2714309" y="5489634"/>
            <a:ext cx="797778" cy="369332"/>
          </a:xfrm>
          <a:prstGeom prst="rect">
            <a:avLst/>
          </a:prstGeom>
          <a:noFill/>
        </p:spPr>
        <p:txBody>
          <a:bodyPr wrap="square" rtlCol="0">
            <a:spAutoFit/>
          </a:bodyPr>
          <a:lstStyle/>
          <a:p>
            <a:r>
              <a:rPr lang="en-US" altLang="zh-CN" dirty="0" err="1">
                <a:solidFill>
                  <a:srgbClr val="FF0000"/>
                </a:solidFill>
              </a:rPr>
              <a:t>gcc</a:t>
            </a:r>
            <a:r>
              <a:rPr lang="en-US" altLang="zh-CN" dirty="0">
                <a:solidFill>
                  <a:srgbClr val="FF0000"/>
                </a:solidFill>
              </a:rPr>
              <a:t> -E</a:t>
            </a:r>
            <a:endParaRPr lang="zh-CN" altLang="en-US" dirty="0">
              <a:solidFill>
                <a:srgbClr val="FF0000"/>
              </a:solidFill>
            </a:endParaRPr>
          </a:p>
        </p:txBody>
      </p:sp>
      <p:sp>
        <p:nvSpPr>
          <p:cNvPr id="33" name="文本框 32">
            <a:extLst>
              <a:ext uri="{FF2B5EF4-FFF2-40B4-BE49-F238E27FC236}">
                <a16:creationId xmlns:a16="http://schemas.microsoft.com/office/drawing/2014/main" id="{A0848401-6DD9-485B-BFCC-7382E5D88677}"/>
              </a:ext>
            </a:extLst>
          </p:cNvPr>
          <p:cNvSpPr txBox="1"/>
          <p:nvPr/>
        </p:nvSpPr>
        <p:spPr>
          <a:xfrm>
            <a:off x="4660363" y="5489634"/>
            <a:ext cx="797778" cy="369332"/>
          </a:xfrm>
          <a:prstGeom prst="rect">
            <a:avLst/>
          </a:prstGeom>
          <a:noFill/>
        </p:spPr>
        <p:txBody>
          <a:bodyPr wrap="square" rtlCol="0">
            <a:spAutoFit/>
          </a:bodyPr>
          <a:lstStyle/>
          <a:p>
            <a:r>
              <a:rPr lang="en-US" altLang="zh-CN" dirty="0" err="1">
                <a:solidFill>
                  <a:srgbClr val="FF0000"/>
                </a:solidFill>
              </a:rPr>
              <a:t>gcc</a:t>
            </a:r>
            <a:r>
              <a:rPr lang="en-US" altLang="zh-CN" dirty="0">
                <a:solidFill>
                  <a:srgbClr val="FF0000"/>
                </a:solidFill>
              </a:rPr>
              <a:t> -S</a:t>
            </a:r>
            <a:endParaRPr lang="zh-CN" altLang="en-US" dirty="0">
              <a:solidFill>
                <a:srgbClr val="FF0000"/>
              </a:solidFill>
            </a:endParaRPr>
          </a:p>
        </p:txBody>
      </p:sp>
      <p:sp>
        <p:nvSpPr>
          <p:cNvPr id="34" name="文本框 33">
            <a:extLst>
              <a:ext uri="{FF2B5EF4-FFF2-40B4-BE49-F238E27FC236}">
                <a16:creationId xmlns:a16="http://schemas.microsoft.com/office/drawing/2014/main" id="{D5F73AE7-14BF-4525-89A6-294E1FE0E759}"/>
              </a:ext>
            </a:extLst>
          </p:cNvPr>
          <p:cNvSpPr txBox="1"/>
          <p:nvPr/>
        </p:nvSpPr>
        <p:spPr>
          <a:xfrm>
            <a:off x="6697306" y="5489634"/>
            <a:ext cx="797778" cy="369332"/>
          </a:xfrm>
          <a:prstGeom prst="rect">
            <a:avLst/>
          </a:prstGeom>
          <a:noFill/>
        </p:spPr>
        <p:txBody>
          <a:bodyPr wrap="square" rtlCol="0">
            <a:spAutoFit/>
          </a:bodyPr>
          <a:lstStyle/>
          <a:p>
            <a:r>
              <a:rPr lang="en-US" altLang="zh-CN" dirty="0" err="1">
                <a:solidFill>
                  <a:srgbClr val="FF0000"/>
                </a:solidFill>
              </a:rPr>
              <a:t>gcc</a:t>
            </a:r>
            <a:r>
              <a:rPr lang="en-US" altLang="zh-CN" dirty="0">
                <a:solidFill>
                  <a:srgbClr val="FF0000"/>
                </a:solidFill>
              </a:rPr>
              <a:t> -c</a:t>
            </a:r>
            <a:endParaRPr lang="zh-CN" altLang="en-US" dirty="0">
              <a:solidFill>
                <a:srgbClr val="FF0000"/>
              </a:solidFill>
            </a:endParaRPr>
          </a:p>
        </p:txBody>
      </p:sp>
      <p:sp>
        <p:nvSpPr>
          <p:cNvPr id="35" name="文本框 34">
            <a:extLst>
              <a:ext uri="{FF2B5EF4-FFF2-40B4-BE49-F238E27FC236}">
                <a16:creationId xmlns:a16="http://schemas.microsoft.com/office/drawing/2014/main" id="{6327D6D7-5BEC-43DA-A208-DE0A28CE0A43}"/>
              </a:ext>
            </a:extLst>
          </p:cNvPr>
          <p:cNvSpPr txBox="1"/>
          <p:nvPr/>
        </p:nvSpPr>
        <p:spPr>
          <a:xfrm>
            <a:off x="8861572" y="5489634"/>
            <a:ext cx="797778" cy="369332"/>
          </a:xfrm>
          <a:prstGeom prst="rect">
            <a:avLst/>
          </a:prstGeom>
          <a:noFill/>
        </p:spPr>
        <p:txBody>
          <a:bodyPr wrap="square" rtlCol="0">
            <a:spAutoFit/>
          </a:bodyPr>
          <a:lstStyle/>
          <a:p>
            <a:r>
              <a:rPr lang="en-US" altLang="zh-CN" dirty="0" err="1">
                <a:solidFill>
                  <a:srgbClr val="FF0000"/>
                </a:solidFill>
              </a:rPr>
              <a:t>gcc</a:t>
            </a:r>
            <a:endParaRPr lang="zh-CN" altLang="en-US" dirty="0">
              <a:solidFill>
                <a:srgbClr val="FF0000"/>
              </a:solidFill>
            </a:endParaRPr>
          </a:p>
        </p:txBody>
      </p:sp>
    </p:spTree>
    <p:extLst>
      <p:ext uri="{BB962C8B-B14F-4D97-AF65-F5344CB8AC3E}">
        <p14:creationId xmlns:p14="http://schemas.microsoft.com/office/powerpoint/2010/main" val="240032049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 calcmode="lin" valueType="num">
                                      <p:cBhvr additive="base">
                                        <p:cTn id="7" dur="500" fill="hold"/>
                                        <p:tgtEl>
                                          <p:spTgt spid="8"/>
                                        </p:tgtEl>
                                        <p:attrNameLst>
                                          <p:attrName>ppt_x</p:attrName>
                                        </p:attrNameLst>
                                      </p:cBhvr>
                                      <p:tavLst>
                                        <p:tav tm="0">
                                          <p:val>
                                            <p:strVal val="#ppt_x"/>
                                          </p:val>
                                        </p:tav>
                                        <p:tav tm="100000">
                                          <p:val>
                                            <p:strVal val="#ppt_x"/>
                                          </p:val>
                                        </p:tav>
                                      </p:tavLst>
                                    </p:anim>
                                    <p:anim calcmode="lin" valueType="num">
                                      <p:cBhvr additive="base">
                                        <p:cTn id="8" dur="500" fill="hold"/>
                                        <p:tgtEl>
                                          <p:spTgt spid="8"/>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7"/>
                                        </p:tgtEl>
                                        <p:attrNameLst>
                                          <p:attrName>style.visibility</p:attrName>
                                        </p:attrNameLst>
                                      </p:cBhvr>
                                      <p:to>
                                        <p:strVal val="visible"/>
                                      </p:to>
                                    </p:set>
                                    <p:anim calcmode="lin" valueType="num">
                                      <p:cBhvr additive="base">
                                        <p:cTn id="11" dur="500" fill="hold"/>
                                        <p:tgtEl>
                                          <p:spTgt spid="7"/>
                                        </p:tgtEl>
                                        <p:attrNameLst>
                                          <p:attrName>ppt_x</p:attrName>
                                        </p:attrNameLst>
                                      </p:cBhvr>
                                      <p:tavLst>
                                        <p:tav tm="0">
                                          <p:val>
                                            <p:strVal val="#ppt_x"/>
                                          </p:val>
                                        </p:tav>
                                        <p:tav tm="100000">
                                          <p:val>
                                            <p:strVal val="#ppt_x"/>
                                          </p:val>
                                        </p:tav>
                                      </p:tavLst>
                                    </p:anim>
                                    <p:anim calcmode="lin" valueType="num">
                                      <p:cBhvr additive="base">
                                        <p:cTn id="12" dur="500" fill="hold"/>
                                        <p:tgtEl>
                                          <p:spTgt spid="7"/>
                                        </p:tgtEl>
                                        <p:attrNameLst>
                                          <p:attrName>ppt_y</p:attrName>
                                        </p:attrNameLst>
                                      </p:cBhvr>
                                      <p:tavLst>
                                        <p:tav tm="0">
                                          <p:val>
                                            <p:strVal val="1+#ppt_h/2"/>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grpId="0" nodeType="clickEffect">
                                  <p:stCondLst>
                                    <p:cond delay="0"/>
                                  </p:stCondLst>
                                  <p:childTnLst>
                                    <p:set>
                                      <p:cBhvr>
                                        <p:cTn id="16" dur="1" fill="hold">
                                          <p:stCondLst>
                                            <p:cond delay="0"/>
                                          </p:stCondLst>
                                        </p:cTn>
                                        <p:tgtEl>
                                          <p:spTgt spid="6"/>
                                        </p:tgtEl>
                                        <p:attrNameLst>
                                          <p:attrName>style.visibility</p:attrName>
                                        </p:attrNameLst>
                                      </p:cBhvr>
                                      <p:to>
                                        <p:strVal val="visible"/>
                                      </p:to>
                                    </p:set>
                                    <p:anim calcmode="lin" valueType="num">
                                      <p:cBhvr additive="base">
                                        <p:cTn id="17" dur="500" fill="hold"/>
                                        <p:tgtEl>
                                          <p:spTgt spid="6"/>
                                        </p:tgtEl>
                                        <p:attrNameLst>
                                          <p:attrName>ppt_x</p:attrName>
                                        </p:attrNameLst>
                                      </p:cBhvr>
                                      <p:tavLst>
                                        <p:tav tm="0">
                                          <p:val>
                                            <p:strVal val="#ppt_x"/>
                                          </p:val>
                                        </p:tav>
                                        <p:tav tm="100000">
                                          <p:val>
                                            <p:strVal val="#ppt_x"/>
                                          </p:val>
                                        </p:tav>
                                      </p:tavLst>
                                    </p:anim>
                                    <p:anim calcmode="lin" valueType="num">
                                      <p:cBhvr additive="base">
                                        <p:cTn id="18" dur="500" fill="hold"/>
                                        <p:tgtEl>
                                          <p:spTgt spid="6"/>
                                        </p:tgtEl>
                                        <p:attrNameLst>
                                          <p:attrName>ppt_y</p:attrName>
                                        </p:attrNameLst>
                                      </p:cBhvr>
                                      <p:tavLst>
                                        <p:tav tm="0">
                                          <p:val>
                                            <p:strVal val="1+#ppt_h/2"/>
                                          </p:val>
                                        </p:tav>
                                        <p:tav tm="100000">
                                          <p:val>
                                            <p:strVal val="#ppt_y"/>
                                          </p:val>
                                        </p:tav>
                                      </p:tavLst>
                                    </p:anim>
                                  </p:childTnLst>
                                </p:cTn>
                              </p:par>
                            </p:childTnLst>
                          </p:cTn>
                        </p:par>
                      </p:childTnLst>
                    </p:cTn>
                  </p:par>
                  <p:par>
                    <p:cTn id="19" fill="hold">
                      <p:stCondLst>
                        <p:cond delay="indefinite"/>
                      </p:stCondLst>
                      <p:childTnLst>
                        <p:par>
                          <p:cTn id="20" fill="hold">
                            <p:stCondLst>
                              <p:cond delay="0"/>
                            </p:stCondLst>
                            <p:childTnLst>
                              <p:par>
                                <p:cTn id="21" presetID="2" presetClass="entr" presetSubtype="4" fill="hold" grpId="0" nodeType="clickEffect">
                                  <p:stCondLst>
                                    <p:cond delay="0"/>
                                  </p:stCondLst>
                                  <p:childTnLst>
                                    <p:set>
                                      <p:cBhvr>
                                        <p:cTn id="22" dur="1" fill="hold">
                                          <p:stCondLst>
                                            <p:cond delay="0"/>
                                          </p:stCondLst>
                                        </p:cTn>
                                        <p:tgtEl>
                                          <p:spTgt spid="33"/>
                                        </p:tgtEl>
                                        <p:attrNameLst>
                                          <p:attrName>style.visibility</p:attrName>
                                        </p:attrNameLst>
                                      </p:cBhvr>
                                      <p:to>
                                        <p:strVal val="visible"/>
                                      </p:to>
                                    </p:set>
                                    <p:anim calcmode="lin" valueType="num">
                                      <p:cBhvr additive="base">
                                        <p:cTn id="23" dur="500" fill="hold"/>
                                        <p:tgtEl>
                                          <p:spTgt spid="33"/>
                                        </p:tgtEl>
                                        <p:attrNameLst>
                                          <p:attrName>ppt_x</p:attrName>
                                        </p:attrNameLst>
                                      </p:cBhvr>
                                      <p:tavLst>
                                        <p:tav tm="0">
                                          <p:val>
                                            <p:strVal val="#ppt_x"/>
                                          </p:val>
                                        </p:tav>
                                        <p:tav tm="100000">
                                          <p:val>
                                            <p:strVal val="#ppt_x"/>
                                          </p:val>
                                        </p:tav>
                                      </p:tavLst>
                                    </p:anim>
                                    <p:anim calcmode="lin" valueType="num">
                                      <p:cBhvr additive="base">
                                        <p:cTn id="24" dur="500" fill="hold"/>
                                        <p:tgtEl>
                                          <p:spTgt spid="33"/>
                                        </p:tgtEl>
                                        <p:attrNameLst>
                                          <p:attrName>ppt_y</p:attrName>
                                        </p:attrNameLst>
                                      </p:cBhvr>
                                      <p:tavLst>
                                        <p:tav tm="0">
                                          <p:val>
                                            <p:strVal val="1+#ppt_h/2"/>
                                          </p:val>
                                        </p:tav>
                                        <p:tav tm="100000">
                                          <p:val>
                                            <p:strVal val="#ppt_y"/>
                                          </p:val>
                                        </p:tav>
                                      </p:tavLst>
                                    </p:anim>
                                  </p:childTnLst>
                                </p:cTn>
                              </p:par>
                            </p:childTnLst>
                          </p:cTn>
                        </p:par>
                      </p:childTnLst>
                    </p:cTn>
                  </p:par>
                  <p:par>
                    <p:cTn id="25" fill="hold">
                      <p:stCondLst>
                        <p:cond delay="indefinite"/>
                      </p:stCondLst>
                      <p:childTnLst>
                        <p:par>
                          <p:cTn id="26" fill="hold">
                            <p:stCondLst>
                              <p:cond delay="0"/>
                            </p:stCondLst>
                            <p:childTnLst>
                              <p:par>
                                <p:cTn id="27" presetID="2" presetClass="entr" presetSubtype="4" fill="hold" grpId="0" nodeType="clickEffect">
                                  <p:stCondLst>
                                    <p:cond delay="0"/>
                                  </p:stCondLst>
                                  <p:childTnLst>
                                    <p:set>
                                      <p:cBhvr>
                                        <p:cTn id="28" dur="1" fill="hold">
                                          <p:stCondLst>
                                            <p:cond delay="0"/>
                                          </p:stCondLst>
                                        </p:cTn>
                                        <p:tgtEl>
                                          <p:spTgt spid="34"/>
                                        </p:tgtEl>
                                        <p:attrNameLst>
                                          <p:attrName>style.visibility</p:attrName>
                                        </p:attrNameLst>
                                      </p:cBhvr>
                                      <p:to>
                                        <p:strVal val="visible"/>
                                      </p:to>
                                    </p:set>
                                    <p:anim calcmode="lin" valueType="num">
                                      <p:cBhvr additive="base">
                                        <p:cTn id="29" dur="500" fill="hold"/>
                                        <p:tgtEl>
                                          <p:spTgt spid="34"/>
                                        </p:tgtEl>
                                        <p:attrNameLst>
                                          <p:attrName>ppt_x</p:attrName>
                                        </p:attrNameLst>
                                      </p:cBhvr>
                                      <p:tavLst>
                                        <p:tav tm="0">
                                          <p:val>
                                            <p:strVal val="#ppt_x"/>
                                          </p:val>
                                        </p:tav>
                                        <p:tav tm="100000">
                                          <p:val>
                                            <p:strVal val="#ppt_x"/>
                                          </p:val>
                                        </p:tav>
                                      </p:tavLst>
                                    </p:anim>
                                    <p:anim calcmode="lin" valueType="num">
                                      <p:cBhvr additive="base">
                                        <p:cTn id="30" dur="500" fill="hold"/>
                                        <p:tgtEl>
                                          <p:spTgt spid="34"/>
                                        </p:tgtEl>
                                        <p:attrNameLst>
                                          <p:attrName>ppt_y</p:attrName>
                                        </p:attrNameLst>
                                      </p:cBhvr>
                                      <p:tavLst>
                                        <p:tav tm="0">
                                          <p:val>
                                            <p:strVal val="1+#ppt_h/2"/>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2" presetClass="entr" presetSubtype="4" fill="hold" grpId="0" nodeType="clickEffect">
                                  <p:stCondLst>
                                    <p:cond delay="0"/>
                                  </p:stCondLst>
                                  <p:childTnLst>
                                    <p:set>
                                      <p:cBhvr>
                                        <p:cTn id="34" dur="1" fill="hold">
                                          <p:stCondLst>
                                            <p:cond delay="0"/>
                                          </p:stCondLst>
                                        </p:cTn>
                                        <p:tgtEl>
                                          <p:spTgt spid="35"/>
                                        </p:tgtEl>
                                        <p:attrNameLst>
                                          <p:attrName>style.visibility</p:attrName>
                                        </p:attrNameLst>
                                      </p:cBhvr>
                                      <p:to>
                                        <p:strVal val="visible"/>
                                      </p:to>
                                    </p:set>
                                    <p:anim calcmode="lin" valueType="num">
                                      <p:cBhvr additive="base">
                                        <p:cTn id="35" dur="500" fill="hold"/>
                                        <p:tgtEl>
                                          <p:spTgt spid="35"/>
                                        </p:tgtEl>
                                        <p:attrNameLst>
                                          <p:attrName>ppt_x</p:attrName>
                                        </p:attrNameLst>
                                      </p:cBhvr>
                                      <p:tavLst>
                                        <p:tav tm="0">
                                          <p:val>
                                            <p:strVal val="#ppt_x"/>
                                          </p:val>
                                        </p:tav>
                                        <p:tav tm="100000">
                                          <p:val>
                                            <p:strVal val="#ppt_x"/>
                                          </p:val>
                                        </p:tav>
                                      </p:tavLst>
                                    </p:anim>
                                    <p:anim calcmode="lin" valueType="num">
                                      <p:cBhvr additive="base">
                                        <p:cTn id="36" dur="500" fill="hold"/>
                                        <p:tgtEl>
                                          <p:spTgt spid="3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8" grpId="0" animBg="1"/>
      <p:bldP spid="6" grpId="0"/>
      <p:bldP spid="33" grpId="0"/>
      <p:bldP spid="34" grpId="0"/>
      <p:bldP spid="35" grpId="0"/>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2"/>
          </p:nvPr>
        </p:nvSpPr>
        <p:spPr/>
        <p:txBody>
          <a:bodyPr/>
          <a:lstStyle/>
          <a:p>
            <a:pPr>
              <a:defRPr/>
            </a:pPr>
            <a:fld id="{891184C0-916E-4CCA-8FFE-169A3289BBF6}" type="slidenum">
              <a:rPr lang="zh-CN" altLang="en-US" smtClean="0"/>
              <a:pPr>
                <a:defRPr/>
              </a:pPr>
              <a:t>30</a:t>
            </a:fld>
            <a:endParaRPr lang="zh-CN" altLang="en-US"/>
          </a:p>
        </p:txBody>
      </p:sp>
      <p:sp>
        <p:nvSpPr>
          <p:cNvPr id="3" name="文本框 2"/>
          <p:cNvSpPr txBox="1"/>
          <p:nvPr/>
        </p:nvSpPr>
        <p:spPr>
          <a:xfrm>
            <a:off x="1427019" y="1025237"/>
            <a:ext cx="5181600" cy="2031325"/>
          </a:xfrm>
          <a:prstGeom prst="rect">
            <a:avLst/>
          </a:prstGeom>
          <a:noFill/>
        </p:spPr>
        <p:txBody>
          <a:bodyPr wrap="square" rtlCol="0">
            <a:spAutoFit/>
          </a:bodyPr>
          <a:lstStyle/>
          <a:p>
            <a:r>
              <a:rPr lang="zh-CN" altLang="en-US" dirty="0"/>
              <a:t>课本的输出</a:t>
            </a:r>
            <a:endParaRPr lang="en-US" altLang="zh-CN" dirty="0"/>
          </a:p>
          <a:p>
            <a:r>
              <a:rPr lang="en-US" altLang="zh-CN" dirty="0"/>
              <a:t>main:</a:t>
            </a:r>
          </a:p>
          <a:p>
            <a:r>
              <a:rPr lang="en-US" altLang="zh-CN" dirty="0"/>
              <a:t>	</a:t>
            </a:r>
            <a:r>
              <a:rPr lang="en-US" altLang="zh-CN" dirty="0" err="1"/>
              <a:t>subq</a:t>
            </a:r>
            <a:r>
              <a:rPr lang="en-US" altLang="zh-CN" dirty="0"/>
              <a:t>	$8, 	%</a:t>
            </a:r>
            <a:r>
              <a:rPr lang="en-US" altLang="zh-CN" dirty="0" err="1"/>
              <a:t>rsp</a:t>
            </a:r>
            <a:endParaRPr lang="en-US" altLang="zh-CN" dirty="0"/>
          </a:p>
          <a:p>
            <a:r>
              <a:rPr lang="en-US" altLang="zh-CN" dirty="0"/>
              <a:t>	</a:t>
            </a:r>
            <a:r>
              <a:rPr lang="en-US" altLang="zh-CN" dirty="0" err="1"/>
              <a:t>movl</a:t>
            </a:r>
            <a:r>
              <a:rPr lang="en-US" altLang="zh-CN" dirty="0"/>
              <a:t>	$.LC0, 	%</a:t>
            </a:r>
            <a:r>
              <a:rPr lang="en-US" altLang="zh-CN" dirty="0" err="1"/>
              <a:t>edi</a:t>
            </a:r>
            <a:endParaRPr lang="en-US" altLang="zh-CN" dirty="0"/>
          </a:p>
          <a:p>
            <a:r>
              <a:rPr lang="en-US" altLang="zh-CN" dirty="0"/>
              <a:t>	call	puts</a:t>
            </a:r>
          </a:p>
          <a:p>
            <a:r>
              <a:rPr lang="en-US" altLang="zh-CN" dirty="0"/>
              <a:t>	</a:t>
            </a:r>
            <a:r>
              <a:rPr lang="en-US" altLang="zh-CN" dirty="0" err="1"/>
              <a:t>movl</a:t>
            </a:r>
            <a:r>
              <a:rPr lang="en-US" altLang="zh-CN" dirty="0"/>
              <a:t> 	$0,	%</a:t>
            </a:r>
            <a:r>
              <a:rPr lang="en-US" altLang="zh-CN" dirty="0" err="1"/>
              <a:t>eax</a:t>
            </a:r>
            <a:endParaRPr lang="en-US" altLang="zh-CN" dirty="0"/>
          </a:p>
          <a:p>
            <a:r>
              <a:rPr lang="en-US" altLang="zh-CN" dirty="0"/>
              <a:t>	</a:t>
            </a:r>
            <a:r>
              <a:rPr lang="en-US" altLang="zh-CN" dirty="0" err="1"/>
              <a:t>addq</a:t>
            </a:r>
            <a:r>
              <a:rPr lang="en-US" altLang="zh-CN" dirty="0"/>
              <a:t>	$8,	%</a:t>
            </a:r>
            <a:r>
              <a:rPr lang="en-US" altLang="zh-CN" dirty="0" err="1"/>
              <a:t>rsp</a:t>
            </a:r>
            <a:endParaRPr lang="zh-CN" altLang="en-US" dirty="0"/>
          </a:p>
        </p:txBody>
      </p:sp>
      <p:sp>
        <p:nvSpPr>
          <p:cNvPr id="4" name="文本框 3"/>
          <p:cNvSpPr txBox="1"/>
          <p:nvPr/>
        </p:nvSpPr>
        <p:spPr>
          <a:xfrm>
            <a:off x="1427019" y="3588327"/>
            <a:ext cx="6885708" cy="2585323"/>
          </a:xfrm>
          <a:prstGeom prst="rect">
            <a:avLst/>
          </a:prstGeom>
          <a:noFill/>
        </p:spPr>
        <p:txBody>
          <a:bodyPr wrap="square" rtlCol="0">
            <a:spAutoFit/>
          </a:bodyPr>
          <a:lstStyle/>
          <a:p>
            <a:r>
              <a:rPr lang="zh-CN" altLang="en-US" dirty="0"/>
              <a:t>实验虚拟机上</a:t>
            </a:r>
            <a:r>
              <a:rPr lang="en-US" altLang="zh-CN" dirty="0"/>
              <a:t>GCC</a:t>
            </a:r>
            <a:r>
              <a:rPr lang="zh-CN" altLang="en-US" dirty="0"/>
              <a:t> </a:t>
            </a:r>
            <a:r>
              <a:rPr lang="en-US" altLang="zh-CN" dirty="0"/>
              <a:t>4.8.5</a:t>
            </a:r>
            <a:r>
              <a:rPr lang="zh-CN" altLang="en-US" dirty="0"/>
              <a:t>的</a:t>
            </a:r>
            <a:r>
              <a:rPr lang="en-US" altLang="zh-CN" b="1" dirty="0" err="1">
                <a:solidFill>
                  <a:srgbClr val="FF0000"/>
                </a:solidFill>
              </a:rPr>
              <a:t>objdump</a:t>
            </a:r>
            <a:r>
              <a:rPr lang="en-US" altLang="zh-CN" b="1" dirty="0">
                <a:solidFill>
                  <a:srgbClr val="FF0000"/>
                </a:solidFill>
              </a:rPr>
              <a:t> </a:t>
            </a:r>
            <a:r>
              <a:rPr lang="en-US" altLang="zh-CN" dirty="0"/>
              <a:t>–d </a:t>
            </a:r>
            <a:r>
              <a:rPr lang="en-US" altLang="zh-CN" dirty="0" err="1"/>
              <a:t>hello.o</a:t>
            </a:r>
            <a:r>
              <a:rPr lang="zh-CN" altLang="en-US" dirty="0"/>
              <a:t>的输出</a:t>
            </a:r>
            <a:endParaRPr lang="en-US" altLang="zh-CN" dirty="0"/>
          </a:p>
          <a:p>
            <a:r>
              <a:rPr lang="en-US" altLang="zh-CN" dirty="0"/>
              <a:t>0000000000000000 &lt;main&gt;:</a:t>
            </a:r>
          </a:p>
          <a:p>
            <a:r>
              <a:rPr lang="en-US" altLang="zh-CN" dirty="0"/>
              <a:t>   0:	55                   	push   %</a:t>
            </a:r>
            <a:r>
              <a:rPr lang="en-US" altLang="zh-CN" dirty="0" err="1"/>
              <a:t>rbp</a:t>
            </a:r>
            <a:endParaRPr lang="en-US" altLang="zh-CN" dirty="0"/>
          </a:p>
          <a:p>
            <a:r>
              <a:rPr lang="en-US" altLang="zh-CN" dirty="0"/>
              <a:t>   1:	48 89 e5             	</a:t>
            </a:r>
            <a:r>
              <a:rPr lang="en-US" altLang="zh-CN" dirty="0" err="1"/>
              <a:t>mov</a:t>
            </a:r>
            <a:r>
              <a:rPr lang="en-US" altLang="zh-CN" dirty="0"/>
              <a:t>    %</a:t>
            </a:r>
            <a:r>
              <a:rPr lang="en-US" altLang="zh-CN" dirty="0" err="1"/>
              <a:t>rsp</a:t>
            </a:r>
            <a:r>
              <a:rPr lang="en-US" altLang="zh-CN" dirty="0"/>
              <a:t>,%</a:t>
            </a:r>
            <a:r>
              <a:rPr lang="en-US" altLang="zh-CN" dirty="0" err="1"/>
              <a:t>rbp</a:t>
            </a:r>
            <a:endParaRPr lang="en-US" altLang="zh-CN" dirty="0"/>
          </a:p>
          <a:p>
            <a:r>
              <a:rPr lang="en-US" altLang="zh-CN" dirty="0"/>
              <a:t>   4:	bf 00 00 00 00       	</a:t>
            </a:r>
            <a:r>
              <a:rPr lang="en-US" altLang="zh-CN" dirty="0" err="1"/>
              <a:t>mov</a:t>
            </a:r>
            <a:r>
              <a:rPr lang="en-US" altLang="zh-CN" dirty="0"/>
              <a:t>    $0x0,%edi</a:t>
            </a:r>
          </a:p>
          <a:p>
            <a:r>
              <a:rPr lang="en-US" altLang="zh-CN" dirty="0"/>
              <a:t>   9:	e8 00 00 00 00       	</a:t>
            </a:r>
            <a:r>
              <a:rPr lang="en-US" altLang="zh-CN" dirty="0" err="1"/>
              <a:t>callq</a:t>
            </a:r>
            <a:r>
              <a:rPr lang="en-US" altLang="zh-CN" dirty="0"/>
              <a:t>  e &lt;main+0xe&gt;</a:t>
            </a:r>
          </a:p>
          <a:p>
            <a:r>
              <a:rPr lang="en-US" altLang="zh-CN" dirty="0"/>
              <a:t>   e:	b8 00 00 00 00       	</a:t>
            </a:r>
            <a:r>
              <a:rPr lang="en-US" altLang="zh-CN" dirty="0" err="1"/>
              <a:t>mov</a:t>
            </a:r>
            <a:r>
              <a:rPr lang="en-US" altLang="zh-CN" dirty="0"/>
              <a:t>    $0x0,%eax</a:t>
            </a:r>
          </a:p>
          <a:p>
            <a:r>
              <a:rPr lang="en-US" altLang="zh-CN" dirty="0"/>
              <a:t>  13:	5d                   	pop    %</a:t>
            </a:r>
            <a:r>
              <a:rPr lang="en-US" altLang="zh-CN" dirty="0" err="1"/>
              <a:t>rbp</a:t>
            </a:r>
            <a:endParaRPr lang="en-US" altLang="zh-CN" dirty="0"/>
          </a:p>
          <a:p>
            <a:r>
              <a:rPr lang="en-US" altLang="zh-CN" dirty="0"/>
              <a:t>  14:	c3                   	</a:t>
            </a:r>
            <a:r>
              <a:rPr lang="en-US" altLang="zh-CN" dirty="0" err="1"/>
              <a:t>retq</a:t>
            </a:r>
            <a:r>
              <a:rPr lang="en-US" altLang="zh-CN" dirty="0"/>
              <a:t> </a:t>
            </a:r>
            <a:endParaRPr lang="zh-CN" altLang="en-US" dirty="0"/>
          </a:p>
        </p:txBody>
      </p:sp>
    </p:spTree>
    <p:extLst>
      <p:ext uri="{BB962C8B-B14F-4D97-AF65-F5344CB8AC3E}">
        <p14:creationId xmlns:p14="http://schemas.microsoft.com/office/powerpoint/2010/main" val="3139257680"/>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2"/>
          </p:nvPr>
        </p:nvSpPr>
        <p:spPr/>
        <p:txBody>
          <a:bodyPr/>
          <a:lstStyle/>
          <a:p>
            <a:pPr>
              <a:defRPr/>
            </a:pPr>
            <a:fld id="{891184C0-916E-4CCA-8FFE-169A3289BBF6}" type="slidenum">
              <a:rPr lang="zh-CN" altLang="en-US" smtClean="0"/>
              <a:pPr>
                <a:defRPr/>
              </a:pPr>
              <a:t>31</a:t>
            </a:fld>
            <a:endParaRPr lang="zh-CN" altLang="en-US"/>
          </a:p>
        </p:txBody>
      </p:sp>
      <p:sp>
        <p:nvSpPr>
          <p:cNvPr id="3" name="矩形 2"/>
          <p:cNvSpPr/>
          <p:nvPr/>
        </p:nvSpPr>
        <p:spPr>
          <a:xfrm>
            <a:off x="1276350" y="1138535"/>
            <a:ext cx="7113270" cy="4247317"/>
          </a:xfrm>
          <a:prstGeom prst="rect">
            <a:avLst/>
          </a:prstGeom>
        </p:spPr>
        <p:txBody>
          <a:bodyPr wrap="square">
            <a:spAutoFit/>
          </a:bodyPr>
          <a:lstStyle/>
          <a:p>
            <a:r>
              <a:rPr lang="zh-CN" altLang="en-US" dirty="0">
                <a:solidFill>
                  <a:srgbClr val="FF0000"/>
                </a:solidFill>
              </a:rPr>
              <a:t>学习编译</a:t>
            </a:r>
            <a:r>
              <a:rPr lang="en-US" altLang="zh-CN" dirty="0">
                <a:solidFill>
                  <a:srgbClr val="FF0000"/>
                </a:solidFill>
              </a:rPr>
              <a:t>/</a:t>
            </a:r>
            <a:r>
              <a:rPr lang="zh-CN" altLang="en-US" dirty="0">
                <a:solidFill>
                  <a:srgbClr val="FF0000"/>
                </a:solidFill>
              </a:rPr>
              <a:t>链接的目的</a:t>
            </a:r>
            <a:endParaRPr lang="en-US" altLang="zh-CN" dirty="0">
              <a:solidFill>
                <a:srgbClr val="FF0000"/>
              </a:solidFill>
            </a:endParaRPr>
          </a:p>
          <a:p>
            <a:r>
              <a:rPr lang="en-US" altLang="zh-CN" dirty="0"/>
              <a:t>1</a:t>
            </a:r>
            <a:r>
              <a:rPr lang="zh-CN" altLang="en-US" dirty="0"/>
              <a:t>）写出正确程序</a:t>
            </a:r>
            <a:endParaRPr lang="en-US" altLang="zh-CN" dirty="0"/>
          </a:p>
          <a:p>
            <a:r>
              <a:rPr lang="en-US" altLang="zh-CN" dirty="0"/>
              <a:t>2</a:t>
            </a:r>
            <a:r>
              <a:rPr lang="zh-CN" altLang="en-US" dirty="0"/>
              <a:t>）优化程序性能</a:t>
            </a:r>
            <a:endParaRPr lang="en-US" altLang="zh-CN" dirty="0"/>
          </a:p>
          <a:p>
            <a:r>
              <a:rPr lang="en-US" altLang="zh-CN" dirty="0"/>
              <a:t>	</a:t>
            </a:r>
            <a:r>
              <a:rPr lang="en-US" altLang="zh-CN" dirty="0" err="1"/>
              <a:t>swith</a:t>
            </a:r>
            <a:r>
              <a:rPr lang="zh-CN" altLang="en-US" dirty="0"/>
              <a:t>语句比</a:t>
            </a:r>
            <a:r>
              <a:rPr lang="en-US" altLang="zh-CN" dirty="0"/>
              <a:t>if-then-else</a:t>
            </a:r>
            <a:r>
              <a:rPr lang="zh-CN" altLang="en-US" dirty="0"/>
              <a:t>语句效率高吗？</a:t>
            </a:r>
            <a:endParaRPr lang="en-US" altLang="zh-CN" dirty="0"/>
          </a:p>
          <a:p>
            <a:r>
              <a:rPr lang="en-US" altLang="zh-CN" dirty="0"/>
              <a:t>	</a:t>
            </a:r>
            <a:r>
              <a:rPr lang="zh-CN" altLang="en-US" dirty="0"/>
              <a:t>函数调用的开销有多大？</a:t>
            </a:r>
            <a:endParaRPr lang="en-US" altLang="zh-CN" dirty="0"/>
          </a:p>
          <a:p>
            <a:r>
              <a:rPr lang="en-US" altLang="zh-CN" dirty="0"/>
              <a:t>	while</a:t>
            </a:r>
            <a:r>
              <a:rPr lang="zh-CN" altLang="en-US" dirty="0"/>
              <a:t>循环比</a:t>
            </a:r>
            <a:r>
              <a:rPr lang="en-US" altLang="zh-CN" dirty="0"/>
              <a:t>for</a:t>
            </a:r>
            <a:r>
              <a:rPr lang="zh-CN" altLang="en-US" dirty="0"/>
              <a:t>循环高效吗？</a:t>
            </a:r>
            <a:endParaRPr lang="en-US" altLang="zh-CN" dirty="0"/>
          </a:p>
          <a:p>
            <a:r>
              <a:rPr lang="en-US" altLang="zh-CN" dirty="0"/>
              <a:t>	</a:t>
            </a:r>
            <a:r>
              <a:rPr lang="zh-CN" altLang="en-US" dirty="0"/>
              <a:t>指针引用比数组索引效率高吗？</a:t>
            </a:r>
            <a:endParaRPr lang="en-US" altLang="zh-CN" dirty="0"/>
          </a:p>
          <a:p>
            <a:r>
              <a:rPr lang="en-US" altLang="zh-CN" dirty="0"/>
              <a:t>	</a:t>
            </a:r>
            <a:r>
              <a:rPr lang="zh-CN" altLang="en-US" dirty="0"/>
              <a:t>循环求和的结果放在本地变量要比传入的变量快？</a:t>
            </a:r>
            <a:endParaRPr lang="en-US" altLang="zh-CN" dirty="0"/>
          </a:p>
          <a:p>
            <a:r>
              <a:rPr lang="en-US" altLang="zh-CN" dirty="0"/>
              <a:t>	</a:t>
            </a:r>
            <a:r>
              <a:rPr lang="zh-CN" altLang="en-US" dirty="0"/>
              <a:t>优化：</a:t>
            </a:r>
            <a:r>
              <a:rPr lang="en-US" altLang="zh-CN" dirty="0"/>
              <a:t>C</a:t>
            </a:r>
            <a:r>
              <a:rPr lang="zh-CN" altLang="en-US" dirty="0"/>
              <a:t>语言变换</a:t>
            </a:r>
            <a:r>
              <a:rPr lang="en-US" altLang="zh-CN" dirty="0"/>
              <a:t>/</a:t>
            </a:r>
            <a:r>
              <a:rPr lang="zh-CN" altLang="en-US" dirty="0"/>
              <a:t>存储层次结构</a:t>
            </a:r>
            <a:endParaRPr lang="en-US" altLang="zh-CN" dirty="0"/>
          </a:p>
          <a:p>
            <a:endParaRPr lang="en-US" altLang="zh-CN" dirty="0"/>
          </a:p>
          <a:p>
            <a:r>
              <a:rPr lang="en-US" altLang="zh-CN" dirty="0"/>
              <a:t>3</a:t>
            </a:r>
            <a:r>
              <a:rPr lang="zh-CN" altLang="en-US" dirty="0"/>
              <a:t>）处理链接时出现的错误</a:t>
            </a:r>
            <a:endParaRPr lang="en-US" altLang="zh-CN" dirty="0"/>
          </a:p>
          <a:p>
            <a:r>
              <a:rPr lang="en-US" altLang="zh-CN" dirty="0"/>
              <a:t>	</a:t>
            </a:r>
            <a:r>
              <a:rPr lang="zh-CN" altLang="en-US" dirty="0"/>
              <a:t>大型的开源软件在编译时往往会出现库不完整的情况</a:t>
            </a:r>
            <a:endParaRPr lang="en-US" altLang="zh-CN" dirty="0"/>
          </a:p>
          <a:p>
            <a:r>
              <a:rPr lang="en-US" altLang="zh-CN" dirty="0"/>
              <a:t>	</a:t>
            </a:r>
          </a:p>
          <a:p>
            <a:r>
              <a:rPr lang="en-US" altLang="zh-CN" dirty="0"/>
              <a:t>4</a:t>
            </a:r>
            <a:r>
              <a:rPr lang="zh-CN" altLang="en-US" dirty="0"/>
              <a:t>）避免安全漏洞</a:t>
            </a:r>
            <a:endParaRPr lang="en-US" altLang="zh-CN" dirty="0"/>
          </a:p>
          <a:p>
            <a:r>
              <a:rPr lang="en-US" altLang="zh-CN" dirty="0"/>
              <a:t>	</a:t>
            </a:r>
            <a:r>
              <a:rPr lang="zh-CN" altLang="en-US" dirty="0"/>
              <a:t>例如缓冲区溢出攻击中的数据的数量和格式问题</a:t>
            </a:r>
          </a:p>
        </p:txBody>
      </p:sp>
    </p:spTree>
    <p:extLst>
      <p:ext uri="{BB962C8B-B14F-4D97-AF65-F5344CB8AC3E}">
        <p14:creationId xmlns:p14="http://schemas.microsoft.com/office/powerpoint/2010/main" val="3130972537"/>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图片 4"/>
          <p:cNvPicPr>
            <a:picLocks noChangeAspect="1"/>
          </p:cNvPicPr>
          <p:nvPr/>
        </p:nvPicPr>
        <p:blipFill>
          <a:blip r:embed="rId3"/>
          <a:stretch>
            <a:fillRect/>
          </a:stretch>
        </p:blipFill>
        <p:spPr>
          <a:xfrm>
            <a:off x="5796915" y="1582500"/>
            <a:ext cx="6325870" cy="4515285"/>
          </a:xfrm>
          <a:prstGeom prst="rect">
            <a:avLst/>
          </a:prstGeom>
        </p:spPr>
      </p:pic>
      <p:sp>
        <p:nvSpPr>
          <p:cNvPr id="2" name="标题 1"/>
          <p:cNvSpPr>
            <a:spLocks noGrp="1"/>
          </p:cNvSpPr>
          <p:nvPr>
            <p:ph type="title"/>
          </p:nvPr>
        </p:nvSpPr>
        <p:spPr/>
        <p:txBody>
          <a:bodyPr/>
          <a:lstStyle/>
          <a:p>
            <a:r>
              <a:rPr lang="en-US" altLang="zh-CN" dirty="0"/>
              <a:t>1.3 </a:t>
            </a:r>
            <a:r>
              <a:rPr lang="zh-CN" altLang="en-US" dirty="0"/>
              <a:t>指令的执行</a:t>
            </a:r>
          </a:p>
        </p:txBody>
      </p:sp>
      <p:sp>
        <p:nvSpPr>
          <p:cNvPr id="4" name="灯片编号占位符 3"/>
          <p:cNvSpPr>
            <a:spLocks noGrp="1"/>
          </p:cNvSpPr>
          <p:nvPr>
            <p:ph type="sldNum" sz="quarter" idx="12"/>
          </p:nvPr>
        </p:nvSpPr>
        <p:spPr/>
        <p:txBody>
          <a:bodyPr/>
          <a:lstStyle/>
          <a:p>
            <a:pPr>
              <a:defRPr/>
            </a:pPr>
            <a:fld id="{392EB7A3-68BD-4CAE-8C14-8063AF6D8FB4}" type="slidenum">
              <a:rPr lang="zh-CN" altLang="en-US" smtClean="0"/>
              <a:pPr>
                <a:defRPr/>
              </a:pPr>
              <a:t>32</a:t>
            </a:fld>
            <a:endParaRPr lang="zh-CN" altLang="en-US"/>
          </a:p>
        </p:txBody>
      </p:sp>
      <p:sp>
        <p:nvSpPr>
          <p:cNvPr id="9" name="文本框 8"/>
          <p:cNvSpPr txBox="1"/>
          <p:nvPr/>
        </p:nvSpPr>
        <p:spPr>
          <a:xfrm>
            <a:off x="1047750" y="1232972"/>
            <a:ext cx="2377440" cy="369332"/>
          </a:xfrm>
          <a:prstGeom prst="rect">
            <a:avLst/>
          </a:prstGeom>
          <a:noFill/>
        </p:spPr>
        <p:txBody>
          <a:bodyPr wrap="square" rtlCol="0">
            <a:spAutoFit/>
          </a:bodyPr>
          <a:lstStyle/>
          <a:p>
            <a:r>
              <a:rPr lang="zh-CN" altLang="en-US" b="1" dirty="0"/>
              <a:t>程序的执行</a:t>
            </a:r>
            <a:r>
              <a:rPr lang="zh-CN" altLang="en-US" dirty="0"/>
              <a:t>：</a:t>
            </a:r>
          </a:p>
        </p:txBody>
      </p:sp>
      <p:sp>
        <p:nvSpPr>
          <p:cNvPr id="3" name="矩形 2"/>
          <p:cNvSpPr/>
          <p:nvPr/>
        </p:nvSpPr>
        <p:spPr>
          <a:xfrm>
            <a:off x="2641600" y="1195684"/>
            <a:ext cx="6096000" cy="646331"/>
          </a:xfrm>
          <a:prstGeom prst="rect">
            <a:avLst/>
          </a:prstGeom>
        </p:spPr>
        <p:txBody>
          <a:bodyPr>
            <a:spAutoFit/>
          </a:bodyPr>
          <a:lstStyle/>
          <a:p>
            <a:r>
              <a:rPr lang="en-US" altLang="zh-CN" dirty="0" err="1">
                <a:latin typeface="ZztexMono-Regular"/>
              </a:rPr>
              <a:t>unix</a:t>
            </a:r>
            <a:r>
              <a:rPr lang="en-US" altLang="zh-CN" dirty="0">
                <a:latin typeface="ZztexMono-Regular"/>
              </a:rPr>
              <a:t>&gt; </a:t>
            </a:r>
            <a:r>
              <a:rPr lang="en-US" altLang="zh-CN" i="1" dirty="0">
                <a:latin typeface="ZztexMono-Italic"/>
              </a:rPr>
              <a:t>./hello</a:t>
            </a:r>
          </a:p>
          <a:p>
            <a:r>
              <a:rPr lang="en-US" altLang="zh-CN" dirty="0">
                <a:latin typeface="ZztexMono-Regular"/>
              </a:rPr>
              <a:t>hello, world</a:t>
            </a:r>
          </a:p>
        </p:txBody>
      </p:sp>
      <p:sp>
        <p:nvSpPr>
          <p:cNvPr id="8" name="内容占位符 2"/>
          <p:cNvSpPr txBox="1">
            <a:spLocks/>
          </p:cNvSpPr>
          <p:nvPr/>
        </p:nvSpPr>
        <p:spPr>
          <a:xfrm>
            <a:off x="781050" y="1861723"/>
            <a:ext cx="10972800" cy="608845"/>
          </a:xfrm>
          <a:prstGeom prst="rect">
            <a:avLst/>
          </a:prstGeom>
        </p:spPr>
        <p:txBody>
          <a:bodyPr/>
          <a:lstStyle>
            <a:lvl1pPr marL="342900" indent="-342900" algn="l" rtl="0" eaLnBrk="0" fontAlgn="base" hangingPunct="0">
              <a:spcBef>
                <a:spcPct val="20000"/>
              </a:spcBef>
              <a:spcAft>
                <a:spcPct val="0"/>
              </a:spcAft>
              <a:buFont typeface="Arial" panose="020B0604020202020204" pitchFamily="34"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en-US" altLang="zh-CN" dirty="0"/>
              <a:t>1.3.1</a:t>
            </a:r>
            <a:r>
              <a:rPr lang="zh-CN" altLang="en-US" dirty="0"/>
              <a:t> 系统硬件：</a:t>
            </a:r>
            <a:endParaRPr lang="en-US" altLang="zh-CN" dirty="0"/>
          </a:p>
          <a:p>
            <a:pPr lvl="1"/>
            <a:r>
              <a:rPr lang="zh-CN" altLang="en-US" dirty="0"/>
              <a:t>总线</a:t>
            </a:r>
            <a:endParaRPr lang="en-US" altLang="zh-CN" dirty="0"/>
          </a:p>
          <a:p>
            <a:pPr lvl="2"/>
            <a:r>
              <a:rPr lang="zh-CN" altLang="en-US" dirty="0"/>
              <a:t>字，</a:t>
            </a:r>
            <a:r>
              <a:rPr lang="en-US" altLang="zh-CN" dirty="0"/>
              <a:t>32</a:t>
            </a:r>
            <a:r>
              <a:rPr lang="zh-CN" altLang="en-US" dirty="0"/>
              <a:t>位</a:t>
            </a:r>
            <a:r>
              <a:rPr lang="en-US" altLang="zh-CN" dirty="0"/>
              <a:t>/64</a:t>
            </a:r>
            <a:r>
              <a:rPr lang="zh-CN" altLang="en-US" dirty="0"/>
              <a:t>位</a:t>
            </a:r>
            <a:endParaRPr lang="en-US" altLang="zh-CN" dirty="0"/>
          </a:p>
          <a:p>
            <a:pPr lvl="1"/>
            <a:r>
              <a:rPr lang="en-US" altLang="zh-CN" dirty="0"/>
              <a:t>IO</a:t>
            </a:r>
            <a:r>
              <a:rPr lang="zh-CN" altLang="en-US" dirty="0"/>
              <a:t>设备</a:t>
            </a:r>
            <a:endParaRPr lang="en-US" altLang="zh-CN" dirty="0"/>
          </a:p>
          <a:p>
            <a:pPr lvl="2"/>
            <a:r>
              <a:rPr lang="zh-CN" altLang="en-US" dirty="0"/>
              <a:t>控制器</a:t>
            </a:r>
            <a:r>
              <a:rPr lang="en-US" altLang="zh-CN" dirty="0"/>
              <a:t>/</a:t>
            </a:r>
            <a:r>
              <a:rPr lang="zh-CN" altLang="en-US" dirty="0"/>
              <a:t>适配器</a:t>
            </a:r>
            <a:endParaRPr lang="en-US" altLang="zh-CN" dirty="0"/>
          </a:p>
          <a:p>
            <a:pPr lvl="2"/>
            <a:r>
              <a:rPr lang="zh-CN" altLang="en-US" dirty="0"/>
              <a:t>扩展槽</a:t>
            </a:r>
            <a:endParaRPr lang="en-US" altLang="zh-CN" dirty="0"/>
          </a:p>
          <a:p>
            <a:pPr lvl="1"/>
            <a:r>
              <a:rPr lang="zh-CN" altLang="en-US" dirty="0"/>
              <a:t>主存</a:t>
            </a:r>
            <a:endParaRPr lang="en-US" altLang="zh-CN" dirty="0"/>
          </a:p>
          <a:p>
            <a:pPr lvl="1"/>
            <a:r>
              <a:rPr lang="en-US" altLang="zh-CN" dirty="0"/>
              <a:t>CPU</a:t>
            </a:r>
          </a:p>
          <a:p>
            <a:pPr lvl="2"/>
            <a:r>
              <a:rPr lang="zh-CN" altLang="en-US" dirty="0"/>
              <a:t>程序计数器</a:t>
            </a:r>
            <a:r>
              <a:rPr lang="en-US" altLang="zh-CN" dirty="0"/>
              <a:t>/</a:t>
            </a:r>
            <a:r>
              <a:rPr lang="zh-CN" altLang="en-US" dirty="0"/>
              <a:t>寄存器文件</a:t>
            </a:r>
            <a:r>
              <a:rPr lang="en-US" altLang="zh-CN" dirty="0"/>
              <a:t>/</a:t>
            </a:r>
            <a:r>
              <a:rPr lang="zh-CN" altLang="en-US" dirty="0"/>
              <a:t>算术逻辑单元</a:t>
            </a:r>
            <a:endParaRPr lang="en-US" altLang="zh-CN" dirty="0"/>
          </a:p>
          <a:p>
            <a:pPr lvl="2"/>
            <a:r>
              <a:rPr lang="en-US" altLang="zh-CN" dirty="0"/>
              <a:t>ISA</a:t>
            </a:r>
            <a:r>
              <a:rPr lang="zh-CN" altLang="en-US" dirty="0"/>
              <a:t>和微体系结构</a:t>
            </a:r>
            <a:endParaRPr lang="en-US" altLang="zh-CN" dirty="0"/>
          </a:p>
        </p:txBody>
      </p:sp>
      <p:sp>
        <p:nvSpPr>
          <p:cNvPr id="6" name="文本框 5"/>
          <p:cNvSpPr txBox="1"/>
          <p:nvPr/>
        </p:nvSpPr>
        <p:spPr>
          <a:xfrm>
            <a:off x="9144317" y="1158054"/>
            <a:ext cx="2571750" cy="369332"/>
          </a:xfrm>
          <a:prstGeom prst="rect">
            <a:avLst/>
          </a:prstGeom>
          <a:noFill/>
        </p:spPr>
        <p:txBody>
          <a:bodyPr wrap="square" rtlCol="0">
            <a:spAutoFit/>
          </a:bodyPr>
          <a:lstStyle/>
          <a:p>
            <a:r>
              <a:rPr lang="en-US" altLang="zh-CN" dirty="0"/>
              <a:t>Intel Pentium</a:t>
            </a:r>
            <a:r>
              <a:rPr lang="zh-CN" altLang="en-US" dirty="0"/>
              <a:t>系统模型</a:t>
            </a:r>
          </a:p>
        </p:txBody>
      </p:sp>
      <p:sp>
        <p:nvSpPr>
          <p:cNvPr id="7" name="左右箭头 6"/>
          <p:cNvSpPr/>
          <p:nvPr/>
        </p:nvSpPr>
        <p:spPr>
          <a:xfrm>
            <a:off x="2988945" y="2517659"/>
            <a:ext cx="872490" cy="396994"/>
          </a:xfrm>
          <a:prstGeom prst="leftRightArrow">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1451239424"/>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2"/>
          </p:nvPr>
        </p:nvSpPr>
        <p:spPr/>
        <p:txBody>
          <a:bodyPr/>
          <a:lstStyle/>
          <a:p>
            <a:pPr>
              <a:defRPr/>
            </a:pPr>
            <a:fld id="{891184C0-916E-4CCA-8FFE-169A3289BBF6}" type="slidenum">
              <a:rPr lang="zh-CN" altLang="en-US" smtClean="0"/>
              <a:pPr>
                <a:defRPr/>
              </a:pPr>
              <a:t>33</a:t>
            </a:fld>
            <a:endParaRPr lang="zh-CN" altLang="en-US"/>
          </a:p>
        </p:txBody>
      </p:sp>
      <p:sp>
        <p:nvSpPr>
          <p:cNvPr id="3" name="内容占位符 2"/>
          <p:cNvSpPr txBox="1">
            <a:spLocks/>
          </p:cNvSpPr>
          <p:nvPr/>
        </p:nvSpPr>
        <p:spPr>
          <a:xfrm>
            <a:off x="792480" y="731521"/>
            <a:ext cx="10972800" cy="608845"/>
          </a:xfrm>
          <a:prstGeom prst="rect">
            <a:avLst/>
          </a:prstGeom>
        </p:spPr>
        <p:txBody>
          <a:bodyPr/>
          <a:lstStyle>
            <a:lvl1pPr marL="342900" indent="-342900" algn="l" rtl="0" eaLnBrk="0" fontAlgn="base" hangingPunct="0">
              <a:spcBef>
                <a:spcPct val="20000"/>
              </a:spcBef>
              <a:spcAft>
                <a:spcPct val="0"/>
              </a:spcAft>
              <a:buFont typeface="Arial" panose="020B0604020202020204" pitchFamily="34"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en-US" altLang="zh-CN" dirty="0"/>
              <a:t>1.3.2</a:t>
            </a:r>
            <a:r>
              <a:rPr lang="zh-CN" altLang="en-US" dirty="0"/>
              <a:t> </a:t>
            </a:r>
            <a:r>
              <a:rPr lang="en-US" altLang="zh-CN" dirty="0"/>
              <a:t>hello</a:t>
            </a:r>
            <a:r>
              <a:rPr lang="zh-CN" altLang="en-US" dirty="0"/>
              <a:t>程序的执行</a:t>
            </a:r>
            <a:endParaRPr lang="en-US" altLang="zh-CN" dirty="0"/>
          </a:p>
          <a:p>
            <a:pPr lvl="1"/>
            <a:r>
              <a:rPr lang="zh-CN" altLang="en-US" dirty="0"/>
              <a:t>用户通过键盘输入</a:t>
            </a:r>
            <a:r>
              <a:rPr lang="en-US" altLang="zh-CN" dirty="0"/>
              <a:t>hello</a:t>
            </a:r>
            <a:r>
              <a:rPr lang="zh-CN" altLang="en-US" dirty="0"/>
              <a:t>命令，</a:t>
            </a:r>
            <a:r>
              <a:rPr lang="en-US" altLang="zh-CN" dirty="0"/>
              <a:t>OS</a:t>
            </a:r>
            <a:r>
              <a:rPr lang="zh-CN" altLang="en-US" dirty="0"/>
              <a:t>的</a:t>
            </a:r>
            <a:r>
              <a:rPr lang="en-US" altLang="zh-CN" dirty="0"/>
              <a:t>shell</a:t>
            </a:r>
            <a:r>
              <a:rPr lang="zh-CN" altLang="en-US" dirty="0"/>
              <a:t>外壳程序创建</a:t>
            </a:r>
            <a:r>
              <a:rPr lang="en-US" altLang="zh-CN" dirty="0"/>
              <a:t>hello</a:t>
            </a:r>
            <a:r>
              <a:rPr lang="zh-CN" altLang="en-US" dirty="0"/>
              <a:t>进程</a:t>
            </a:r>
            <a:endParaRPr lang="en-US" altLang="zh-CN" dirty="0"/>
          </a:p>
          <a:p>
            <a:pPr lvl="1"/>
            <a:r>
              <a:rPr lang="en-US" altLang="zh-CN" dirty="0"/>
              <a:t>hello</a:t>
            </a:r>
            <a:r>
              <a:rPr lang="zh-CN" altLang="en-US" dirty="0"/>
              <a:t>程序被装入内存中，经调度后由</a:t>
            </a:r>
            <a:r>
              <a:rPr lang="en-US" altLang="zh-CN" dirty="0"/>
              <a:t>CPU</a:t>
            </a:r>
            <a:r>
              <a:rPr lang="zh-CN" altLang="en-US" dirty="0"/>
              <a:t>执行</a:t>
            </a:r>
            <a:endParaRPr lang="en-US" altLang="zh-CN" dirty="0"/>
          </a:p>
          <a:p>
            <a:pPr lvl="1"/>
            <a:r>
              <a:rPr lang="en-US" altLang="zh-CN" dirty="0"/>
              <a:t>CPU</a:t>
            </a:r>
          </a:p>
          <a:p>
            <a:pPr lvl="2"/>
            <a:r>
              <a:rPr lang="zh-CN" altLang="en-US" dirty="0"/>
              <a:t>依靠</a:t>
            </a:r>
            <a:r>
              <a:rPr lang="en-US" altLang="zh-CN" dirty="0"/>
              <a:t>PC</a:t>
            </a:r>
            <a:r>
              <a:rPr lang="zh-CN" altLang="en-US" dirty="0"/>
              <a:t>逐条指令执行，操作围绕着 “寄存器文件</a:t>
            </a:r>
            <a:r>
              <a:rPr lang="en-US" altLang="zh-CN" dirty="0"/>
              <a:t>/ALU</a:t>
            </a:r>
            <a:r>
              <a:rPr lang="zh-CN" altLang="en-US" dirty="0"/>
              <a:t>和主存”</a:t>
            </a:r>
            <a:endParaRPr lang="en-US" altLang="zh-CN" dirty="0"/>
          </a:p>
          <a:p>
            <a:pPr lvl="2"/>
            <a:r>
              <a:rPr lang="zh-CN" altLang="en-US" dirty="0"/>
              <a:t>操作分为以下几类：加载</a:t>
            </a:r>
            <a:r>
              <a:rPr lang="en-US" altLang="zh-CN" dirty="0"/>
              <a:t>/</a:t>
            </a:r>
            <a:r>
              <a:rPr lang="zh-CN" altLang="en-US" dirty="0"/>
              <a:t>存储</a:t>
            </a:r>
            <a:r>
              <a:rPr lang="en-US" altLang="zh-CN" dirty="0"/>
              <a:t>/</a:t>
            </a:r>
            <a:r>
              <a:rPr lang="zh-CN" altLang="en-US" dirty="0"/>
              <a:t>运算</a:t>
            </a:r>
            <a:r>
              <a:rPr lang="en-US" altLang="zh-CN" dirty="0"/>
              <a:t>/</a:t>
            </a:r>
            <a:r>
              <a:rPr lang="zh-CN" altLang="en-US" dirty="0"/>
              <a:t>跳转</a:t>
            </a:r>
            <a:endParaRPr lang="en-US" altLang="zh-CN" dirty="0"/>
          </a:p>
          <a:p>
            <a:pPr lvl="1"/>
            <a:endParaRPr lang="en-US" altLang="zh-CN" dirty="0"/>
          </a:p>
          <a:p>
            <a:pPr lvl="1"/>
            <a:endParaRPr lang="en-US" altLang="zh-CN" dirty="0"/>
          </a:p>
        </p:txBody>
      </p:sp>
    </p:spTree>
    <p:extLst>
      <p:ext uri="{BB962C8B-B14F-4D97-AF65-F5344CB8AC3E}">
        <p14:creationId xmlns:p14="http://schemas.microsoft.com/office/powerpoint/2010/main" val="4231233016"/>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2"/>
          </p:nvPr>
        </p:nvSpPr>
        <p:spPr/>
        <p:txBody>
          <a:bodyPr/>
          <a:lstStyle/>
          <a:p>
            <a:pPr>
              <a:defRPr/>
            </a:pPr>
            <a:fld id="{891184C0-916E-4CCA-8FFE-169A3289BBF6}" type="slidenum">
              <a:rPr lang="zh-CN" altLang="en-US" smtClean="0"/>
              <a:pPr>
                <a:defRPr/>
              </a:pPr>
              <a:t>34</a:t>
            </a:fld>
            <a:endParaRPr lang="zh-CN" altLang="en-US"/>
          </a:p>
        </p:txBody>
      </p:sp>
      <p:pic>
        <p:nvPicPr>
          <p:cNvPr id="3" name="图片 2"/>
          <p:cNvPicPr>
            <a:picLocks noChangeAspect="1"/>
          </p:cNvPicPr>
          <p:nvPr/>
        </p:nvPicPr>
        <p:blipFill>
          <a:blip r:embed="rId3"/>
          <a:stretch>
            <a:fillRect/>
          </a:stretch>
        </p:blipFill>
        <p:spPr>
          <a:xfrm>
            <a:off x="3569017" y="976631"/>
            <a:ext cx="7020781" cy="5379720"/>
          </a:xfrm>
          <a:prstGeom prst="rect">
            <a:avLst/>
          </a:prstGeom>
        </p:spPr>
      </p:pic>
      <p:sp>
        <p:nvSpPr>
          <p:cNvPr id="4" name="文本框 3"/>
          <p:cNvSpPr txBox="1"/>
          <p:nvPr/>
        </p:nvSpPr>
        <p:spPr>
          <a:xfrm>
            <a:off x="605790" y="1177290"/>
            <a:ext cx="2137410" cy="369332"/>
          </a:xfrm>
          <a:prstGeom prst="rect">
            <a:avLst/>
          </a:prstGeom>
          <a:noFill/>
        </p:spPr>
        <p:txBody>
          <a:bodyPr wrap="square" rtlCol="0">
            <a:spAutoFit/>
          </a:bodyPr>
          <a:lstStyle/>
          <a:p>
            <a:r>
              <a:rPr lang="zh-CN" altLang="en-US" dirty="0"/>
              <a:t>用户键入</a:t>
            </a:r>
            <a:r>
              <a:rPr lang="en-US" altLang="zh-CN" dirty="0"/>
              <a:t>hello</a:t>
            </a:r>
            <a:r>
              <a:rPr lang="zh-CN" altLang="en-US" dirty="0"/>
              <a:t>命令</a:t>
            </a:r>
          </a:p>
        </p:txBody>
      </p:sp>
      <p:sp>
        <p:nvSpPr>
          <p:cNvPr id="5" name="文本框 4"/>
          <p:cNvSpPr txBox="1"/>
          <p:nvPr/>
        </p:nvSpPr>
        <p:spPr>
          <a:xfrm>
            <a:off x="9429750" y="1725930"/>
            <a:ext cx="1851660" cy="646331"/>
          </a:xfrm>
          <a:prstGeom prst="rect">
            <a:avLst/>
          </a:prstGeom>
          <a:noFill/>
        </p:spPr>
        <p:txBody>
          <a:bodyPr wrap="square" rtlCol="0">
            <a:spAutoFit/>
          </a:bodyPr>
          <a:lstStyle/>
          <a:p>
            <a:r>
              <a:rPr lang="zh-CN" altLang="en-US" b="1" dirty="0">
                <a:solidFill>
                  <a:srgbClr val="00B0F0"/>
                </a:solidFill>
              </a:rPr>
              <a:t>读入到</a:t>
            </a:r>
            <a:r>
              <a:rPr lang="en-US" altLang="zh-CN" b="1" dirty="0">
                <a:solidFill>
                  <a:srgbClr val="00B0F0"/>
                </a:solidFill>
              </a:rPr>
              <a:t>shell</a:t>
            </a:r>
            <a:r>
              <a:rPr lang="zh-CN" altLang="en-US" b="1" dirty="0">
                <a:solidFill>
                  <a:srgbClr val="00B0F0"/>
                </a:solidFill>
              </a:rPr>
              <a:t>程序的数据缓冲区</a:t>
            </a:r>
          </a:p>
        </p:txBody>
      </p:sp>
    </p:spTree>
    <p:extLst>
      <p:ext uri="{BB962C8B-B14F-4D97-AF65-F5344CB8AC3E}">
        <p14:creationId xmlns:p14="http://schemas.microsoft.com/office/powerpoint/2010/main" val="3430192414"/>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2"/>
          </p:nvPr>
        </p:nvSpPr>
        <p:spPr/>
        <p:txBody>
          <a:bodyPr/>
          <a:lstStyle/>
          <a:p>
            <a:pPr>
              <a:defRPr/>
            </a:pPr>
            <a:fld id="{891184C0-916E-4CCA-8FFE-169A3289BBF6}" type="slidenum">
              <a:rPr lang="zh-CN" altLang="en-US" smtClean="0"/>
              <a:pPr>
                <a:defRPr/>
              </a:pPr>
              <a:t>35</a:t>
            </a:fld>
            <a:endParaRPr lang="zh-CN" altLang="en-US"/>
          </a:p>
        </p:txBody>
      </p:sp>
      <p:sp>
        <p:nvSpPr>
          <p:cNvPr id="4" name="文本框 3"/>
          <p:cNvSpPr txBox="1"/>
          <p:nvPr/>
        </p:nvSpPr>
        <p:spPr>
          <a:xfrm>
            <a:off x="605790" y="1177290"/>
            <a:ext cx="1970625" cy="646331"/>
          </a:xfrm>
          <a:prstGeom prst="rect">
            <a:avLst/>
          </a:prstGeom>
          <a:noFill/>
        </p:spPr>
        <p:txBody>
          <a:bodyPr wrap="square" rtlCol="0">
            <a:spAutoFit/>
          </a:bodyPr>
          <a:lstStyle/>
          <a:p>
            <a:r>
              <a:rPr lang="zh-CN" altLang="en-US" dirty="0"/>
              <a:t>从磁盘加载</a:t>
            </a:r>
            <a:r>
              <a:rPr lang="en-US" altLang="zh-CN" dirty="0"/>
              <a:t>hello</a:t>
            </a:r>
            <a:r>
              <a:rPr lang="zh-CN" altLang="en-US" dirty="0"/>
              <a:t>可执行文件</a:t>
            </a:r>
          </a:p>
        </p:txBody>
      </p:sp>
      <p:pic>
        <p:nvPicPr>
          <p:cNvPr id="5" name="图片 4"/>
          <p:cNvPicPr>
            <a:picLocks noChangeAspect="1"/>
          </p:cNvPicPr>
          <p:nvPr/>
        </p:nvPicPr>
        <p:blipFill>
          <a:blip r:embed="rId3"/>
          <a:stretch>
            <a:fillRect/>
          </a:stretch>
        </p:blipFill>
        <p:spPr>
          <a:xfrm>
            <a:off x="3547965" y="1123265"/>
            <a:ext cx="7401975" cy="5008301"/>
          </a:xfrm>
          <a:prstGeom prst="rect">
            <a:avLst/>
          </a:prstGeom>
        </p:spPr>
      </p:pic>
      <p:sp>
        <p:nvSpPr>
          <p:cNvPr id="6" name="文本框 5"/>
          <p:cNvSpPr txBox="1"/>
          <p:nvPr/>
        </p:nvSpPr>
        <p:spPr>
          <a:xfrm>
            <a:off x="8954770" y="2003375"/>
            <a:ext cx="2966720" cy="646331"/>
          </a:xfrm>
          <a:prstGeom prst="rect">
            <a:avLst/>
          </a:prstGeom>
          <a:noFill/>
        </p:spPr>
        <p:txBody>
          <a:bodyPr wrap="square" rtlCol="0">
            <a:spAutoFit/>
          </a:bodyPr>
          <a:lstStyle/>
          <a:p>
            <a:r>
              <a:rPr lang="en-US" altLang="zh-CN" b="1" dirty="0">
                <a:solidFill>
                  <a:srgbClr val="00B0F0"/>
                </a:solidFill>
              </a:rPr>
              <a:t>hello</a:t>
            </a:r>
            <a:r>
              <a:rPr lang="zh-CN" altLang="en-US" b="1" dirty="0">
                <a:solidFill>
                  <a:srgbClr val="00B0F0"/>
                </a:solidFill>
              </a:rPr>
              <a:t>程序的代码和数据（含字符串“</a:t>
            </a:r>
            <a:r>
              <a:rPr lang="en-US" altLang="zh-CN" b="1" dirty="0">
                <a:solidFill>
                  <a:srgbClr val="00B0F0"/>
                </a:solidFill>
              </a:rPr>
              <a:t>hello, world!</a:t>
            </a:r>
            <a:r>
              <a:rPr lang="zh-CN" altLang="en-US" b="1" dirty="0">
                <a:solidFill>
                  <a:srgbClr val="00B0F0"/>
                </a:solidFill>
              </a:rPr>
              <a:t>”）</a:t>
            </a:r>
          </a:p>
        </p:txBody>
      </p:sp>
    </p:spTree>
    <p:extLst>
      <p:ext uri="{BB962C8B-B14F-4D97-AF65-F5344CB8AC3E}">
        <p14:creationId xmlns:p14="http://schemas.microsoft.com/office/powerpoint/2010/main" val="1699335882"/>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2"/>
          </p:nvPr>
        </p:nvSpPr>
        <p:spPr/>
        <p:txBody>
          <a:bodyPr/>
          <a:lstStyle/>
          <a:p>
            <a:pPr>
              <a:defRPr/>
            </a:pPr>
            <a:fld id="{891184C0-916E-4CCA-8FFE-169A3289BBF6}" type="slidenum">
              <a:rPr lang="zh-CN" altLang="en-US" smtClean="0"/>
              <a:pPr>
                <a:defRPr/>
              </a:pPr>
              <a:t>36</a:t>
            </a:fld>
            <a:endParaRPr lang="zh-CN" altLang="en-US"/>
          </a:p>
        </p:txBody>
      </p:sp>
      <p:sp>
        <p:nvSpPr>
          <p:cNvPr id="4" name="文本框 3"/>
          <p:cNvSpPr txBox="1"/>
          <p:nvPr/>
        </p:nvSpPr>
        <p:spPr>
          <a:xfrm>
            <a:off x="605790" y="1177290"/>
            <a:ext cx="1970625" cy="646331"/>
          </a:xfrm>
          <a:prstGeom prst="rect">
            <a:avLst/>
          </a:prstGeom>
          <a:noFill/>
        </p:spPr>
        <p:txBody>
          <a:bodyPr wrap="square" rtlCol="0">
            <a:spAutoFit/>
          </a:bodyPr>
          <a:lstStyle/>
          <a:p>
            <a:r>
              <a:rPr lang="zh-CN" altLang="en-US" dirty="0"/>
              <a:t>将字符串输出到显示器</a:t>
            </a:r>
          </a:p>
        </p:txBody>
      </p:sp>
      <p:pic>
        <p:nvPicPr>
          <p:cNvPr id="3" name="图片 2"/>
          <p:cNvPicPr>
            <a:picLocks noChangeAspect="1"/>
          </p:cNvPicPr>
          <p:nvPr/>
        </p:nvPicPr>
        <p:blipFill>
          <a:blip r:embed="rId3"/>
          <a:stretch>
            <a:fillRect/>
          </a:stretch>
        </p:blipFill>
        <p:spPr>
          <a:xfrm>
            <a:off x="3296505" y="985521"/>
            <a:ext cx="7575370" cy="5008301"/>
          </a:xfrm>
          <a:prstGeom prst="rect">
            <a:avLst/>
          </a:prstGeom>
        </p:spPr>
      </p:pic>
    </p:spTree>
    <p:extLst>
      <p:ext uri="{BB962C8B-B14F-4D97-AF65-F5344CB8AC3E}">
        <p14:creationId xmlns:p14="http://schemas.microsoft.com/office/powerpoint/2010/main" val="2364184678"/>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1.4 </a:t>
            </a:r>
            <a:r>
              <a:rPr lang="zh-CN" altLang="en-US" dirty="0"/>
              <a:t>存储设备的层次结构</a:t>
            </a:r>
          </a:p>
        </p:txBody>
      </p:sp>
      <p:sp>
        <p:nvSpPr>
          <p:cNvPr id="4" name="灯片编号占位符 3"/>
          <p:cNvSpPr>
            <a:spLocks noGrp="1"/>
          </p:cNvSpPr>
          <p:nvPr>
            <p:ph type="sldNum" sz="quarter" idx="12"/>
          </p:nvPr>
        </p:nvSpPr>
        <p:spPr/>
        <p:txBody>
          <a:bodyPr/>
          <a:lstStyle/>
          <a:p>
            <a:pPr>
              <a:defRPr/>
            </a:pPr>
            <a:fld id="{392EB7A3-68BD-4CAE-8C14-8063AF6D8FB4}" type="slidenum">
              <a:rPr lang="zh-CN" altLang="en-US" smtClean="0"/>
              <a:pPr>
                <a:defRPr/>
              </a:pPr>
              <a:t>37</a:t>
            </a:fld>
            <a:endParaRPr lang="zh-CN" altLang="en-US"/>
          </a:p>
        </p:txBody>
      </p:sp>
      <p:sp>
        <p:nvSpPr>
          <p:cNvPr id="8" name="内容占位符 2"/>
          <p:cNvSpPr txBox="1">
            <a:spLocks/>
          </p:cNvSpPr>
          <p:nvPr/>
        </p:nvSpPr>
        <p:spPr>
          <a:xfrm>
            <a:off x="769620" y="1113215"/>
            <a:ext cx="10972800" cy="608845"/>
          </a:xfrm>
          <a:prstGeom prst="rect">
            <a:avLst/>
          </a:prstGeom>
        </p:spPr>
        <p:txBody>
          <a:bodyPr/>
          <a:lstStyle>
            <a:lvl1pPr marL="342900" indent="-342900" algn="l" rtl="0" eaLnBrk="0" fontAlgn="base" hangingPunct="0">
              <a:spcBef>
                <a:spcPct val="20000"/>
              </a:spcBef>
              <a:spcAft>
                <a:spcPct val="0"/>
              </a:spcAft>
              <a:buFont typeface="Arial" panose="020B0604020202020204" pitchFamily="34"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en-US" altLang="zh-CN" dirty="0"/>
              <a:t>1.4.1</a:t>
            </a:r>
            <a:r>
              <a:rPr lang="zh-CN" altLang="en-US" dirty="0"/>
              <a:t> </a:t>
            </a:r>
            <a:r>
              <a:rPr lang="en-US" altLang="zh-CN" dirty="0"/>
              <a:t>cache</a:t>
            </a:r>
          </a:p>
          <a:p>
            <a:pPr lvl="1"/>
            <a:r>
              <a:rPr lang="zh-CN" altLang="en-US" dirty="0"/>
              <a:t>问题：</a:t>
            </a:r>
            <a:endParaRPr lang="en-US" altLang="zh-CN" dirty="0"/>
          </a:p>
          <a:p>
            <a:pPr lvl="2"/>
            <a:r>
              <a:rPr lang="en-US" altLang="zh-CN" dirty="0"/>
              <a:t>CPU</a:t>
            </a:r>
            <a:r>
              <a:rPr lang="zh-CN" altLang="en-US" dirty="0"/>
              <a:t>与主存、外设的速度差</a:t>
            </a:r>
            <a:endParaRPr lang="en-US" altLang="zh-CN" dirty="0"/>
          </a:p>
          <a:p>
            <a:pPr lvl="3"/>
            <a:r>
              <a:rPr lang="zh-CN" altLang="en-US" dirty="0"/>
              <a:t>处理器内部寄存器比主存快</a:t>
            </a:r>
            <a:r>
              <a:rPr lang="en-US" altLang="zh-CN" dirty="0"/>
              <a:t>100</a:t>
            </a:r>
            <a:r>
              <a:rPr lang="zh-CN" altLang="en-US" dirty="0"/>
              <a:t>倍；</a:t>
            </a:r>
            <a:endParaRPr lang="en-US" altLang="zh-CN" dirty="0"/>
          </a:p>
          <a:p>
            <a:pPr lvl="3"/>
            <a:r>
              <a:rPr lang="zh-CN" altLang="en-US" dirty="0"/>
              <a:t>主存比磁盘快</a:t>
            </a:r>
            <a:r>
              <a:rPr lang="en-US" altLang="zh-CN" dirty="0"/>
              <a:t>1000</a:t>
            </a:r>
            <a:r>
              <a:rPr lang="zh-CN" altLang="en-US" dirty="0"/>
              <a:t>万倍；</a:t>
            </a:r>
            <a:endParaRPr lang="en-US" altLang="zh-CN" dirty="0"/>
          </a:p>
          <a:p>
            <a:pPr lvl="2"/>
            <a:r>
              <a:rPr lang="en-US" altLang="zh-CN" dirty="0"/>
              <a:t>CPU</a:t>
            </a:r>
            <a:r>
              <a:rPr lang="zh-CN" altLang="en-US" dirty="0"/>
              <a:t>与主存、外设的容量差</a:t>
            </a:r>
            <a:endParaRPr lang="en-US" altLang="zh-CN" dirty="0"/>
          </a:p>
          <a:p>
            <a:pPr lvl="3"/>
            <a:r>
              <a:rPr lang="zh-CN" altLang="en-US" dirty="0"/>
              <a:t>处理器内部寄存器几十或几百字节，主存可以放几十亿字节；</a:t>
            </a:r>
            <a:endParaRPr lang="en-US" altLang="zh-CN" dirty="0"/>
          </a:p>
          <a:p>
            <a:pPr lvl="3"/>
            <a:r>
              <a:rPr lang="zh-CN" altLang="en-US" dirty="0"/>
              <a:t>磁盘容量可以比主存大</a:t>
            </a:r>
            <a:r>
              <a:rPr lang="en-US" altLang="zh-CN" dirty="0"/>
              <a:t>1000</a:t>
            </a:r>
            <a:r>
              <a:rPr lang="zh-CN" altLang="en-US" dirty="0"/>
              <a:t>倍；</a:t>
            </a:r>
            <a:endParaRPr lang="en-US" altLang="zh-CN" dirty="0"/>
          </a:p>
          <a:p>
            <a:pPr lvl="1"/>
            <a:r>
              <a:rPr lang="zh-CN" altLang="en-US" dirty="0"/>
              <a:t>现象：数据使用呈现局部性</a:t>
            </a:r>
            <a:endParaRPr lang="en-US" altLang="zh-CN" dirty="0"/>
          </a:p>
          <a:p>
            <a:pPr lvl="1"/>
            <a:r>
              <a:rPr lang="zh-CN" altLang="en-US" dirty="0"/>
              <a:t>解决方法：</a:t>
            </a:r>
            <a:endParaRPr lang="en-US" altLang="zh-CN" dirty="0"/>
          </a:p>
          <a:p>
            <a:pPr lvl="2"/>
            <a:r>
              <a:rPr lang="zh-CN" altLang="en-US" dirty="0"/>
              <a:t>插入中间一级存储器，速度和容量介乎两者之间，用于保存常用数据</a:t>
            </a:r>
            <a:endParaRPr lang="en-US" altLang="zh-CN" dirty="0"/>
          </a:p>
          <a:p>
            <a:pPr lvl="2"/>
            <a:r>
              <a:rPr lang="zh-CN" altLang="en-US" dirty="0"/>
              <a:t>其工作原理建立在数据访问的“局部性”之上</a:t>
            </a:r>
            <a:endParaRPr lang="en-US" altLang="zh-CN" dirty="0"/>
          </a:p>
          <a:p>
            <a:pPr lvl="1"/>
            <a:endParaRPr lang="en-US" altLang="zh-CN" dirty="0"/>
          </a:p>
        </p:txBody>
      </p:sp>
    </p:spTree>
    <p:extLst>
      <p:ext uri="{BB962C8B-B14F-4D97-AF65-F5344CB8AC3E}">
        <p14:creationId xmlns:p14="http://schemas.microsoft.com/office/powerpoint/2010/main" val="3531294114"/>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2"/>
          </p:nvPr>
        </p:nvSpPr>
        <p:spPr/>
        <p:txBody>
          <a:bodyPr/>
          <a:lstStyle/>
          <a:p>
            <a:pPr>
              <a:defRPr/>
            </a:pPr>
            <a:fld id="{891184C0-916E-4CCA-8FFE-169A3289BBF6}" type="slidenum">
              <a:rPr lang="zh-CN" altLang="en-US" smtClean="0"/>
              <a:pPr>
                <a:defRPr/>
              </a:pPr>
              <a:t>38</a:t>
            </a:fld>
            <a:endParaRPr lang="zh-CN" altLang="en-US"/>
          </a:p>
        </p:txBody>
      </p:sp>
      <p:pic>
        <p:nvPicPr>
          <p:cNvPr id="3" name="图片 2"/>
          <p:cNvPicPr>
            <a:picLocks noChangeAspect="1"/>
          </p:cNvPicPr>
          <p:nvPr/>
        </p:nvPicPr>
        <p:blipFill>
          <a:blip r:embed="rId3"/>
          <a:stretch>
            <a:fillRect/>
          </a:stretch>
        </p:blipFill>
        <p:spPr>
          <a:xfrm>
            <a:off x="1880870" y="3291840"/>
            <a:ext cx="6598920" cy="2579155"/>
          </a:xfrm>
          <a:prstGeom prst="rect">
            <a:avLst/>
          </a:prstGeom>
        </p:spPr>
      </p:pic>
      <p:sp>
        <p:nvSpPr>
          <p:cNvPr id="4" name="文本框 3"/>
          <p:cNvSpPr txBox="1"/>
          <p:nvPr/>
        </p:nvSpPr>
        <p:spPr>
          <a:xfrm>
            <a:off x="1085850" y="1131570"/>
            <a:ext cx="10496550" cy="1477328"/>
          </a:xfrm>
          <a:prstGeom prst="rect">
            <a:avLst/>
          </a:prstGeom>
          <a:noFill/>
        </p:spPr>
        <p:txBody>
          <a:bodyPr wrap="square" rtlCol="0">
            <a:spAutoFit/>
          </a:bodyPr>
          <a:lstStyle/>
          <a:p>
            <a:r>
              <a:rPr lang="zh-CN" altLang="en-US" b="1" dirty="0"/>
              <a:t>高速缓存存储器</a:t>
            </a:r>
            <a:endParaRPr lang="en-US" altLang="zh-CN" b="1" dirty="0"/>
          </a:p>
          <a:p>
            <a:r>
              <a:rPr lang="en-US" altLang="zh-CN" b="1" dirty="0"/>
              <a:t>	</a:t>
            </a:r>
            <a:r>
              <a:rPr lang="zh-CN" altLang="en-US" dirty="0"/>
              <a:t>采用</a:t>
            </a:r>
            <a:r>
              <a:rPr lang="en-US" altLang="zh-CN" dirty="0"/>
              <a:t>SRAM</a:t>
            </a:r>
            <a:r>
              <a:rPr lang="zh-CN" altLang="en-US" dirty="0"/>
              <a:t>技术，速度接近于内部寄存器，容量介于寄存器文件和主存之间；</a:t>
            </a:r>
            <a:endParaRPr lang="en-US" altLang="zh-CN" dirty="0"/>
          </a:p>
          <a:p>
            <a:r>
              <a:rPr lang="en-US" altLang="zh-CN" dirty="0"/>
              <a:t>	</a:t>
            </a:r>
            <a:r>
              <a:rPr lang="zh-CN" altLang="en-US" dirty="0"/>
              <a:t>可以形成多级结构，</a:t>
            </a:r>
            <a:r>
              <a:rPr lang="en-US" altLang="zh-CN" dirty="0"/>
              <a:t>L1</a:t>
            </a:r>
            <a:r>
              <a:rPr lang="zh-CN" altLang="en-US" dirty="0"/>
              <a:t>容量为几万字节（几</a:t>
            </a:r>
            <a:r>
              <a:rPr lang="en-US" altLang="zh-CN" dirty="0"/>
              <a:t>KB~</a:t>
            </a:r>
            <a:r>
              <a:rPr lang="zh-CN" altLang="en-US" dirty="0"/>
              <a:t>几十</a:t>
            </a:r>
            <a:r>
              <a:rPr lang="en-US" altLang="zh-CN" dirty="0"/>
              <a:t>KB</a:t>
            </a:r>
            <a:r>
              <a:rPr lang="zh-CN" altLang="en-US" dirty="0"/>
              <a:t>），</a:t>
            </a:r>
            <a:r>
              <a:rPr lang="en-US" altLang="zh-CN" dirty="0"/>
              <a:t>L2</a:t>
            </a:r>
            <a:r>
              <a:rPr lang="zh-CN" altLang="en-US" dirty="0"/>
              <a:t>可以到几十万到几百万字节，还可以具有</a:t>
            </a:r>
            <a:r>
              <a:rPr lang="en-US" altLang="zh-CN" dirty="0"/>
              <a:t>L3</a:t>
            </a:r>
            <a:r>
              <a:rPr lang="zh-CN" altLang="en-US" dirty="0"/>
              <a:t>；</a:t>
            </a:r>
            <a:endParaRPr lang="en-US" altLang="zh-CN" dirty="0"/>
          </a:p>
          <a:p>
            <a:r>
              <a:rPr lang="en-US" altLang="zh-CN" dirty="0"/>
              <a:t>	</a:t>
            </a:r>
            <a:r>
              <a:rPr lang="zh-CN" altLang="en-US" dirty="0"/>
              <a:t>高速缓存存储器的利用情况不同，可能会引起性能上高达</a:t>
            </a:r>
            <a:r>
              <a:rPr lang="zh-CN" altLang="en-US" b="1" dirty="0">
                <a:solidFill>
                  <a:srgbClr val="FF0000"/>
                </a:solidFill>
              </a:rPr>
              <a:t>一个数量级</a:t>
            </a:r>
            <a:r>
              <a:rPr lang="zh-CN" altLang="en-US" dirty="0"/>
              <a:t>以上的差异</a:t>
            </a:r>
          </a:p>
        </p:txBody>
      </p:sp>
    </p:spTree>
    <p:extLst>
      <p:ext uri="{BB962C8B-B14F-4D97-AF65-F5344CB8AC3E}">
        <p14:creationId xmlns:p14="http://schemas.microsoft.com/office/powerpoint/2010/main" val="3844400329"/>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2"/>
          </p:nvPr>
        </p:nvSpPr>
        <p:spPr/>
        <p:txBody>
          <a:bodyPr/>
          <a:lstStyle/>
          <a:p>
            <a:pPr>
              <a:defRPr/>
            </a:pPr>
            <a:fld id="{891184C0-916E-4CCA-8FFE-169A3289BBF6}" type="slidenum">
              <a:rPr lang="zh-CN" altLang="en-US" smtClean="0"/>
              <a:pPr>
                <a:defRPr/>
              </a:pPr>
              <a:t>39</a:t>
            </a:fld>
            <a:endParaRPr lang="zh-CN" altLang="en-US"/>
          </a:p>
        </p:txBody>
      </p:sp>
      <p:sp>
        <p:nvSpPr>
          <p:cNvPr id="3" name="内容占位符 2"/>
          <p:cNvSpPr txBox="1">
            <a:spLocks/>
          </p:cNvSpPr>
          <p:nvPr/>
        </p:nvSpPr>
        <p:spPr>
          <a:xfrm>
            <a:off x="769620" y="501648"/>
            <a:ext cx="10972800" cy="608845"/>
          </a:xfrm>
          <a:prstGeom prst="rect">
            <a:avLst/>
          </a:prstGeom>
        </p:spPr>
        <p:txBody>
          <a:bodyPr/>
          <a:lstStyle>
            <a:lvl1pPr marL="342900" indent="-342900" algn="l" rtl="0" eaLnBrk="0" fontAlgn="base" hangingPunct="0">
              <a:spcBef>
                <a:spcPct val="20000"/>
              </a:spcBef>
              <a:spcAft>
                <a:spcPct val="0"/>
              </a:spcAft>
              <a:buFont typeface="Arial" panose="020B0604020202020204" pitchFamily="34"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en-US" altLang="zh-CN" dirty="0"/>
              <a:t>1.4.2</a:t>
            </a:r>
            <a:r>
              <a:rPr lang="zh-CN" altLang="en-US" dirty="0"/>
              <a:t> 存储层次</a:t>
            </a:r>
            <a:endParaRPr lang="en-US" altLang="zh-CN" dirty="0"/>
          </a:p>
          <a:p>
            <a:pPr lvl="1"/>
            <a:r>
              <a:rPr lang="zh-CN" altLang="en-US" dirty="0"/>
              <a:t>将</a:t>
            </a:r>
            <a:r>
              <a:rPr lang="en-US" altLang="zh-CN" dirty="0"/>
              <a:t>cache</a:t>
            </a:r>
            <a:r>
              <a:rPr lang="zh-CN" altLang="en-US" dirty="0"/>
              <a:t>推广：</a:t>
            </a:r>
            <a:endParaRPr lang="en-US" altLang="zh-CN" dirty="0"/>
          </a:p>
          <a:p>
            <a:pPr marL="457200" lvl="1" indent="0">
              <a:buNone/>
            </a:pPr>
            <a:endParaRPr lang="en-US" altLang="zh-CN" dirty="0"/>
          </a:p>
        </p:txBody>
      </p:sp>
      <p:pic>
        <p:nvPicPr>
          <p:cNvPr id="4" name="图片 3"/>
          <p:cNvPicPr>
            <a:picLocks noChangeAspect="1"/>
          </p:cNvPicPr>
          <p:nvPr/>
        </p:nvPicPr>
        <p:blipFill>
          <a:blip r:embed="rId3"/>
          <a:stretch>
            <a:fillRect/>
          </a:stretch>
        </p:blipFill>
        <p:spPr>
          <a:xfrm>
            <a:off x="3837896" y="1718884"/>
            <a:ext cx="7904524" cy="4637467"/>
          </a:xfrm>
          <a:prstGeom prst="rect">
            <a:avLst/>
          </a:prstGeom>
        </p:spPr>
      </p:pic>
      <p:sp>
        <p:nvSpPr>
          <p:cNvPr id="5" name="圆角矩形 4"/>
          <p:cNvSpPr/>
          <p:nvPr/>
        </p:nvSpPr>
        <p:spPr>
          <a:xfrm>
            <a:off x="5393329" y="4331970"/>
            <a:ext cx="3486150" cy="731520"/>
          </a:xfrm>
          <a:prstGeom prst="roundRect">
            <a:avLst/>
          </a:prstGeom>
          <a:noFill/>
          <a:ln w="38100">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矩形 5"/>
          <p:cNvSpPr/>
          <p:nvPr/>
        </p:nvSpPr>
        <p:spPr>
          <a:xfrm>
            <a:off x="477750" y="3989337"/>
            <a:ext cx="3360146" cy="2308324"/>
          </a:xfrm>
          <a:prstGeom prst="rect">
            <a:avLst/>
          </a:prstGeom>
        </p:spPr>
        <p:txBody>
          <a:bodyPr wrap="square">
            <a:spAutoFit/>
          </a:bodyPr>
          <a:lstStyle/>
          <a:p>
            <a:r>
              <a:rPr lang="zh-CN" altLang="en-US" dirty="0"/>
              <a:t>用户编程模型是以进程的虚拟存储为抽象中心，主要对应于</a:t>
            </a:r>
            <a:r>
              <a:rPr lang="en-US" altLang="zh-CN" dirty="0"/>
              <a:t>DRAM</a:t>
            </a:r>
            <a:r>
              <a:rPr lang="zh-CN" altLang="en-US" dirty="0"/>
              <a:t>；</a:t>
            </a:r>
            <a:endParaRPr lang="en-US" altLang="zh-CN" dirty="0"/>
          </a:p>
          <a:p>
            <a:endParaRPr lang="en-US" altLang="zh-CN" dirty="0"/>
          </a:p>
          <a:p>
            <a:r>
              <a:rPr lang="zh-CN" altLang="en-US" dirty="0"/>
              <a:t>主存和</a:t>
            </a:r>
            <a:r>
              <a:rPr lang="en-US" altLang="zh-CN" dirty="0"/>
              <a:t>cache</a:t>
            </a:r>
            <a:r>
              <a:rPr lang="zh-CN" altLang="en-US" dirty="0"/>
              <a:t>是物理内存的概念，对软件透明；</a:t>
            </a:r>
            <a:endParaRPr lang="en-US" altLang="zh-CN" dirty="0"/>
          </a:p>
          <a:p>
            <a:endParaRPr lang="en-US" altLang="zh-CN" dirty="0"/>
          </a:p>
          <a:p>
            <a:r>
              <a:rPr lang="en-US" altLang="zh-CN" dirty="0"/>
              <a:t>OS</a:t>
            </a:r>
            <a:r>
              <a:rPr lang="zh-CN" altLang="en-US" dirty="0"/>
              <a:t>能看见虚存和物理内存</a:t>
            </a:r>
          </a:p>
        </p:txBody>
      </p:sp>
      <p:sp>
        <p:nvSpPr>
          <p:cNvPr id="7" name="圆角矩形 6"/>
          <p:cNvSpPr/>
          <p:nvPr/>
        </p:nvSpPr>
        <p:spPr>
          <a:xfrm>
            <a:off x="5886449" y="2491740"/>
            <a:ext cx="2537461" cy="1760220"/>
          </a:xfrm>
          <a:prstGeom prst="roundRect">
            <a:avLst/>
          </a:prstGeom>
          <a:noFill/>
          <a:ln>
            <a:solidFill>
              <a:srgbClr val="00B05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圆角矩形 7"/>
          <p:cNvSpPr/>
          <p:nvPr/>
        </p:nvSpPr>
        <p:spPr>
          <a:xfrm>
            <a:off x="5154929" y="5143499"/>
            <a:ext cx="4069081" cy="596961"/>
          </a:xfrm>
          <a:prstGeom prst="roundRect">
            <a:avLst/>
          </a:prstGeom>
          <a:noFill/>
          <a:ln>
            <a:solidFill>
              <a:srgbClr val="00B05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718118060"/>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598170" y="274638"/>
            <a:ext cx="10972800" cy="1143000"/>
          </a:xfrm>
        </p:spPr>
        <p:txBody>
          <a:bodyPr/>
          <a:lstStyle/>
          <a:p>
            <a:r>
              <a:rPr lang="en-US" altLang="zh-CN" dirty="0"/>
              <a:t>1.5 </a:t>
            </a:r>
            <a:r>
              <a:rPr lang="zh-CN" altLang="en-US" dirty="0"/>
              <a:t>计算机系统中的</a:t>
            </a:r>
            <a:r>
              <a:rPr lang="en-US" altLang="zh-CN" dirty="0"/>
              <a:t>OS</a:t>
            </a:r>
            <a:endParaRPr lang="zh-CN" altLang="en-US" dirty="0"/>
          </a:p>
        </p:txBody>
      </p:sp>
      <p:sp>
        <p:nvSpPr>
          <p:cNvPr id="4" name="灯片编号占位符 3"/>
          <p:cNvSpPr>
            <a:spLocks noGrp="1"/>
          </p:cNvSpPr>
          <p:nvPr>
            <p:ph type="sldNum" sz="quarter" idx="12"/>
          </p:nvPr>
        </p:nvSpPr>
        <p:spPr/>
        <p:txBody>
          <a:bodyPr/>
          <a:lstStyle/>
          <a:p>
            <a:pPr>
              <a:defRPr/>
            </a:pPr>
            <a:fld id="{392EB7A3-68BD-4CAE-8C14-8063AF6D8FB4}" type="slidenum">
              <a:rPr lang="zh-CN" altLang="en-US" smtClean="0"/>
              <a:pPr>
                <a:defRPr/>
              </a:pPr>
              <a:t>40</a:t>
            </a:fld>
            <a:endParaRPr lang="zh-CN" altLang="en-US"/>
          </a:p>
        </p:txBody>
      </p:sp>
      <p:sp>
        <p:nvSpPr>
          <p:cNvPr id="8" name="内容占位符 2"/>
          <p:cNvSpPr txBox="1">
            <a:spLocks/>
          </p:cNvSpPr>
          <p:nvPr/>
        </p:nvSpPr>
        <p:spPr>
          <a:xfrm>
            <a:off x="769620" y="1113215"/>
            <a:ext cx="10972800" cy="608845"/>
          </a:xfrm>
          <a:prstGeom prst="rect">
            <a:avLst/>
          </a:prstGeom>
        </p:spPr>
        <p:txBody>
          <a:bodyPr/>
          <a:lstStyle>
            <a:lvl1pPr marL="342900" indent="-342900" algn="l" rtl="0" eaLnBrk="0" fontAlgn="base" hangingPunct="0">
              <a:spcBef>
                <a:spcPct val="20000"/>
              </a:spcBef>
              <a:spcAft>
                <a:spcPct val="0"/>
              </a:spcAft>
              <a:buFont typeface="Arial" panose="020B0604020202020204" pitchFamily="34"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en-US" altLang="zh-CN" dirty="0"/>
              <a:t>1.5.1</a:t>
            </a:r>
            <a:r>
              <a:rPr lang="zh-CN" altLang="en-US" dirty="0"/>
              <a:t> 计算机系统的分层</a:t>
            </a:r>
            <a:endParaRPr lang="en-US" altLang="zh-CN" dirty="0"/>
          </a:p>
          <a:p>
            <a:endParaRPr lang="en-US" altLang="zh-CN" dirty="0"/>
          </a:p>
          <a:p>
            <a:endParaRPr lang="en-US" altLang="zh-CN" dirty="0"/>
          </a:p>
          <a:p>
            <a:pPr lvl="2"/>
            <a:r>
              <a:rPr lang="en-US" altLang="zh-CN" dirty="0"/>
              <a:t>OS</a:t>
            </a:r>
            <a:r>
              <a:rPr lang="zh-CN" altLang="en-US" dirty="0"/>
              <a:t>作用：</a:t>
            </a:r>
            <a:r>
              <a:rPr lang="en-US" altLang="zh-CN" dirty="0"/>
              <a:t>1</a:t>
            </a:r>
            <a:r>
              <a:rPr lang="zh-CN" altLang="en-US" dirty="0"/>
              <a:t>）防止硬件被失控的应用程序滥用；</a:t>
            </a:r>
            <a:r>
              <a:rPr lang="en-US" altLang="zh-CN" dirty="0"/>
              <a:t>2</a:t>
            </a:r>
            <a:r>
              <a:rPr lang="zh-CN" altLang="en-US" dirty="0"/>
              <a:t>）向应用程序提供简单一致的接口来使用硬件。</a:t>
            </a:r>
            <a:endParaRPr lang="en-US" altLang="zh-CN" dirty="0"/>
          </a:p>
          <a:p>
            <a:pPr lvl="2"/>
            <a:r>
              <a:rPr lang="en-US" altLang="zh-CN" dirty="0"/>
              <a:t>OS</a:t>
            </a:r>
            <a:r>
              <a:rPr lang="zh-CN" altLang="en-US" dirty="0"/>
              <a:t>中的抽象：进程、虚拟内存和文件系统</a:t>
            </a:r>
            <a:endParaRPr lang="en-US" altLang="zh-CN" dirty="0"/>
          </a:p>
          <a:p>
            <a:pPr marL="0" indent="0">
              <a:buNone/>
            </a:pPr>
            <a:endParaRPr lang="en-US" altLang="zh-CN" dirty="0"/>
          </a:p>
        </p:txBody>
      </p:sp>
      <p:pic>
        <p:nvPicPr>
          <p:cNvPr id="3" name="图片 2"/>
          <p:cNvPicPr>
            <a:picLocks noChangeAspect="1"/>
          </p:cNvPicPr>
          <p:nvPr/>
        </p:nvPicPr>
        <p:blipFill>
          <a:blip r:embed="rId3"/>
          <a:stretch>
            <a:fillRect/>
          </a:stretch>
        </p:blipFill>
        <p:spPr>
          <a:xfrm>
            <a:off x="3131819" y="1722060"/>
            <a:ext cx="5476951" cy="1150620"/>
          </a:xfrm>
          <a:prstGeom prst="rect">
            <a:avLst/>
          </a:prstGeom>
        </p:spPr>
      </p:pic>
      <p:sp>
        <p:nvSpPr>
          <p:cNvPr id="6" name="椭圆 5"/>
          <p:cNvSpPr/>
          <p:nvPr/>
        </p:nvSpPr>
        <p:spPr>
          <a:xfrm>
            <a:off x="4251960" y="2125980"/>
            <a:ext cx="2354580" cy="331470"/>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10" name="图片 9"/>
          <p:cNvPicPr>
            <a:picLocks noChangeAspect="1"/>
          </p:cNvPicPr>
          <p:nvPr/>
        </p:nvPicPr>
        <p:blipFill>
          <a:blip r:embed="rId4"/>
          <a:stretch>
            <a:fillRect/>
          </a:stretch>
        </p:blipFill>
        <p:spPr>
          <a:xfrm>
            <a:off x="2928452" y="4137343"/>
            <a:ext cx="6312236" cy="2504123"/>
          </a:xfrm>
          <a:prstGeom prst="rect">
            <a:avLst/>
          </a:prstGeom>
        </p:spPr>
      </p:pic>
    </p:spTree>
    <p:extLst>
      <p:ext uri="{BB962C8B-B14F-4D97-AF65-F5344CB8AC3E}">
        <p14:creationId xmlns:p14="http://schemas.microsoft.com/office/powerpoint/2010/main" val="823461674"/>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2"/>
          </p:nvPr>
        </p:nvSpPr>
        <p:spPr/>
        <p:txBody>
          <a:bodyPr/>
          <a:lstStyle/>
          <a:p>
            <a:pPr>
              <a:defRPr/>
            </a:pPr>
            <a:fld id="{891184C0-916E-4CCA-8FFE-169A3289BBF6}" type="slidenum">
              <a:rPr lang="zh-CN" altLang="en-US" smtClean="0"/>
              <a:pPr>
                <a:defRPr/>
              </a:pPr>
              <a:t>41</a:t>
            </a:fld>
            <a:endParaRPr lang="zh-CN" altLang="en-US"/>
          </a:p>
        </p:txBody>
      </p:sp>
      <p:sp>
        <p:nvSpPr>
          <p:cNvPr id="3" name="内容占位符 2"/>
          <p:cNvSpPr txBox="1">
            <a:spLocks/>
          </p:cNvSpPr>
          <p:nvPr/>
        </p:nvSpPr>
        <p:spPr>
          <a:xfrm>
            <a:off x="815340" y="758885"/>
            <a:ext cx="10972800" cy="608845"/>
          </a:xfrm>
          <a:prstGeom prst="rect">
            <a:avLst/>
          </a:prstGeom>
        </p:spPr>
        <p:txBody>
          <a:bodyPr/>
          <a:lstStyle>
            <a:lvl1pPr marL="342900" indent="-342900" algn="l" rtl="0" eaLnBrk="0" fontAlgn="base" hangingPunct="0">
              <a:spcBef>
                <a:spcPct val="20000"/>
              </a:spcBef>
              <a:spcAft>
                <a:spcPct val="0"/>
              </a:spcAft>
              <a:buFont typeface="Arial" panose="020B0604020202020204" pitchFamily="34"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en-US" altLang="zh-CN" dirty="0"/>
              <a:t>1.5.2</a:t>
            </a:r>
            <a:r>
              <a:rPr lang="zh-CN" altLang="en-US" dirty="0"/>
              <a:t> 进程</a:t>
            </a:r>
            <a:endParaRPr lang="en-US" altLang="zh-CN" dirty="0"/>
          </a:p>
          <a:p>
            <a:pPr lvl="1"/>
            <a:r>
              <a:rPr lang="zh-CN" altLang="en-US" dirty="0"/>
              <a:t>定义：操作系统对一个正在运行的程序的一种抽象</a:t>
            </a:r>
            <a:endParaRPr lang="en-US" altLang="zh-CN" dirty="0"/>
          </a:p>
          <a:p>
            <a:pPr lvl="2"/>
            <a:r>
              <a:rPr lang="zh-CN" altLang="en-US" dirty="0"/>
              <a:t>是计算机系统中最重要的概念之一；</a:t>
            </a:r>
            <a:endParaRPr lang="en-US" altLang="zh-CN" dirty="0"/>
          </a:p>
          <a:p>
            <a:pPr lvl="2"/>
            <a:r>
              <a:rPr lang="zh-CN" altLang="en-US" dirty="0"/>
              <a:t>一个系统上可以有多个进程并发执行；</a:t>
            </a:r>
            <a:endParaRPr lang="en-US" altLang="zh-CN" dirty="0"/>
          </a:p>
          <a:p>
            <a:pPr lvl="2"/>
            <a:r>
              <a:rPr lang="zh-CN" altLang="en-US" dirty="0"/>
              <a:t>一个</a:t>
            </a:r>
            <a:r>
              <a:rPr lang="en-US" altLang="zh-CN" dirty="0"/>
              <a:t>CPU</a:t>
            </a:r>
            <a:r>
              <a:rPr lang="zh-CN" altLang="en-US" dirty="0"/>
              <a:t>上的进程可以交替执行</a:t>
            </a:r>
            <a:r>
              <a:rPr lang="en-US" altLang="zh-CN" dirty="0"/>
              <a:t>——</a:t>
            </a:r>
            <a:r>
              <a:rPr lang="zh-CN" altLang="en-US" dirty="0"/>
              <a:t>使用“上下文切换”机制</a:t>
            </a:r>
            <a:endParaRPr lang="en-US" altLang="zh-CN" dirty="0"/>
          </a:p>
          <a:p>
            <a:pPr lvl="2"/>
            <a:endParaRPr lang="en-US" altLang="zh-CN" dirty="0"/>
          </a:p>
          <a:p>
            <a:pPr lvl="1"/>
            <a:endParaRPr lang="en-US" altLang="zh-CN" dirty="0"/>
          </a:p>
        </p:txBody>
      </p:sp>
      <p:pic>
        <p:nvPicPr>
          <p:cNvPr id="4" name="图片 3"/>
          <p:cNvPicPr>
            <a:picLocks noChangeAspect="1"/>
          </p:cNvPicPr>
          <p:nvPr/>
        </p:nvPicPr>
        <p:blipFill>
          <a:blip r:embed="rId3"/>
          <a:stretch>
            <a:fillRect/>
          </a:stretch>
        </p:blipFill>
        <p:spPr>
          <a:xfrm>
            <a:off x="2467927" y="3577908"/>
            <a:ext cx="7351574" cy="2778443"/>
          </a:xfrm>
          <a:prstGeom prst="rect">
            <a:avLst/>
          </a:prstGeom>
        </p:spPr>
      </p:pic>
      <p:sp>
        <p:nvSpPr>
          <p:cNvPr id="5" name="圆角矩形 4"/>
          <p:cNvSpPr/>
          <p:nvPr/>
        </p:nvSpPr>
        <p:spPr>
          <a:xfrm>
            <a:off x="5292090" y="4460241"/>
            <a:ext cx="1805940" cy="542448"/>
          </a:xfrm>
          <a:prstGeom prst="roundRect">
            <a:avLst/>
          </a:prstGeom>
          <a:noFill/>
          <a:ln>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圆角矩形 5"/>
          <p:cNvSpPr/>
          <p:nvPr/>
        </p:nvSpPr>
        <p:spPr>
          <a:xfrm>
            <a:off x="5292090" y="5271771"/>
            <a:ext cx="1805940" cy="542448"/>
          </a:xfrm>
          <a:prstGeom prst="roundRect">
            <a:avLst/>
          </a:prstGeom>
          <a:noFill/>
          <a:ln>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文本框 6"/>
          <p:cNvSpPr txBox="1"/>
          <p:nvPr/>
        </p:nvSpPr>
        <p:spPr>
          <a:xfrm>
            <a:off x="4640580" y="3393242"/>
            <a:ext cx="4097020" cy="369332"/>
          </a:xfrm>
          <a:prstGeom prst="rect">
            <a:avLst/>
          </a:prstGeom>
          <a:noFill/>
        </p:spPr>
        <p:txBody>
          <a:bodyPr wrap="square" rtlCol="0">
            <a:spAutoFit/>
          </a:bodyPr>
          <a:lstStyle/>
          <a:p>
            <a:r>
              <a:rPr lang="zh-CN" altLang="en-US" b="1" dirty="0">
                <a:solidFill>
                  <a:srgbClr val="00B050"/>
                </a:solidFill>
              </a:rPr>
              <a:t>（</a:t>
            </a:r>
            <a:r>
              <a:rPr lang="en-US" altLang="zh-CN" b="1" dirty="0">
                <a:solidFill>
                  <a:srgbClr val="00B050"/>
                </a:solidFill>
              </a:rPr>
              <a:t>shell</a:t>
            </a:r>
            <a:r>
              <a:rPr lang="zh-CN" altLang="en-US" b="1" dirty="0">
                <a:solidFill>
                  <a:srgbClr val="00B050"/>
                </a:solidFill>
              </a:rPr>
              <a:t>）                 （</a:t>
            </a:r>
            <a:r>
              <a:rPr lang="en-US" altLang="zh-CN" b="1" dirty="0">
                <a:solidFill>
                  <a:srgbClr val="00B050"/>
                </a:solidFill>
              </a:rPr>
              <a:t>hello</a:t>
            </a:r>
            <a:r>
              <a:rPr lang="zh-CN" altLang="en-US" b="1" dirty="0">
                <a:solidFill>
                  <a:srgbClr val="00B050"/>
                </a:solidFill>
              </a:rPr>
              <a:t>）</a:t>
            </a:r>
          </a:p>
        </p:txBody>
      </p:sp>
      <p:sp>
        <p:nvSpPr>
          <p:cNvPr id="8" name="文本框 7"/>
          <p:cNvSpPr txBox="1"/>
          <p:nvPr/>
        </p:nvSpPr>
        <p:spPr>
          <a:xfrm>
            <a:off x="815340" y="3813910"/>
            <a:ext cx="1485900" cy="646331"/>
          </a:xfrm>
          <a:prstGeom prst="rect">
            <a:avLst/>
          </a:prstGeom>
          <a:noFill/>
        </p:spPr>
        <p:txBody>
          <a:bodyPr wrap="square" rtlCol="0">
            <a:spAutoFit/>
          </a:bodyPr>
          <a:lstStyle/>
          <a:p>
            <a:r>
              <a:rPr lang="zh-CN" altLang="en-US" b="1" dirty="0"/>
              <a:t>上下文切换的简单示意：</a:t>
            </a:r>
          </a:p>
        </p:txBody>
      </p:sp>
    </p:spTree>
    <p:extLst>
      <p:ext uri="{BB962C8B-B14F-4D97-AF65-F5344CB8AC3E}">
        <p14:creationId xmlns:p14="http://schemas.microsoft.com/office/powerpoint/2010/main" val="2395461473"/>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2"/>
          </p:nvPr>
        </p:nvSpPr>
        <p:spPr/>
        <p:txBody>
          <a:bodyPr/>
          <a:lstStyle/>
          <a:p>
            <a:pPr>
              <a:defRPr/>
            </a:pPr>
            <a:fld id="{891184C0-916E-4CCA-8FFE-169A3289BBF6}" type="slidenum">
              <a:rPr lang="zh-CN" altLang="en-US" smtClean="0"/>
              <a:pPr>
                <a:defRPr/>
              </a:pPr>
              <a:t>42</a:t>
            </a:fld>
            <a:endParaRPr lang="zh-CN" altLang="en-US"/>
          </a:p>
        </p:txBody>
      </p:sp>
      <p:sp>
        <p:nvSpPr>
          <p:cNvPr id="3" name="内容占位符 2"/>
          <p:cNvSpPr txBox="1">
            <a:spLocks/>
          </p:cNvSpPr>
          <p:nvPr/>
        </p:nvSpPr>
        <p:spPr>
          <a:xfrm>
            <a:off x="815340" y="758885"/>
            <a:ext cx="10972800" cy="608845"/>
          </a:xfrm>
          <a:prstGeom prst="rect">
            <a:avLst/>
          </a:prstGeom>
        </p:spPr>
        <p:txBody>
          <a:bodyPr/>
          <a:lstStyle>
            <a:lvl1pPr marL="342900" indent="-342900" algn="l" rtl="0" eaLnBrk="0" fontAlgn="base" hangingPunct="0">
              <a:spcBef>
                <a:spcPct val="20000"/>
              </a:spcBef>
              <a:spcAft>
                <a:spcPct val="0"/>
              </a:spcAft>
              <a:buFont typeface="Arial" panose="020B0604020202020204" pitchFamily="34"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en-US" altLang="zh-CN" dirty="0"/>
              <a:t>1.5.3</a:t>
            </a:r>
            <a:r>
              <a:rPr lang="zh-CN" altLang="en-US" dirty="0"/>
              <a:t> 线程</a:t>
            </a:r>
            <a:endParaRPr lang="en-US" altLang="zh-CN" dirty="0"/>
          </a:p>
          <a:p>
            <a:pPr lvl="1"/>
            <a:r>
              <a:rPr lang="zh-CN" altLang="en-US" dirty="0"/>
              <a:t>资源与调度的分离</a:t>
            </a:r>
            <a:endParaRPr lang="en-US" altLang="zh-CN" dirty="0"/>
          </a:p>
          <a:p>
            <a:pPr lvl="1"/>
            <a:r>
              <a:rPr lang="zh-CN" altLang="en-US" dirty="0"/>
              <a:t>一个进程可包含多个线程</a:t>
            </a:r>
            <a:endParaRPr lang="en-US" altLang="zh-CN" dirty="0"/>
          </a:p>
          <a:p>
            <a:pPr lvl="2"/>
            <a:r>
              <a:rPr lang="zh-CN" altLang="en-US" dirty="0"/>
              <a:t>这些线程共享进程空间，但各自有独立的线程控制块和线程私有堆栈</a:t>
            </a:r>
            <a:endParaRPr lang="en-US" altLang="zh-CN" dirty="0"/>
          </a:p>
          <a:p>
            <a:pPr lvl="1"/>
            <a:r>
              <a:rPr lang="zh-CN" altLang="en-US" dirty="0"/>
              <a:t>创建线程的资源开销比进程小、切换比进程快</a:t>
            </a:r>
            <a:endParaRPr lang="en-US" altLang="zh-CN" dirty="0"/>
          </a:p>
          <a:p>
            <a:pPr marL="457200" lvl="1" indent="0">
              <a:buNone/>
            </a:pPr>
            <a:endParaRPr lang="en-US" altLang="zh-CN" dirty="0"/>
          </a:p>
          <a:p>
            <a:pPr lvl="1"/>
            <a:endParaRPr lang="en-US" altLang="zh-CN" dirty="0"/>
          </a:p>
        </p:txBody>
      </p:sp>
    </p:spTree>
    <p:extLst>
      <p:ext uri="{BB962C8B-B14F-4D97-AF65-F5344CB8AC3E}">
        <p14:creationId xmlns:p14="http://schemas.microsoft.com/office/powerpoint/2010/main" val="3653365549"/>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图片 3"/>
          <p:cNvPicPr>
            <a:picLocks noChangeAspect="1"/>
          </p:cNvPicPr>
          <p:nvPr/>
        </p:nvPicPr>
        <p:blipFill>
          <a:blip r:embed="rId3"/>
          <a:stretch>
            <a:fillRect/>
          </a:stretch>
        </p:blipFill>
        <p:spPr>
          <a:xfrm>
            <a:off x="5187612" y="1367730"/>
            <a:ext cx="6564926" cy="4972050"/>
          </a:xfrm>
          <a:prstGeom prst="rect">
            <a:avLst/>
          </a:prstGeom>
        </p:spPr>
      </p:pic>
      <p:sp>
        <p:nvSpPr>
          <p:cNvPr id="2" name="灯片编号占位符 1"/>
          <p:cNvSpPr>
            <a:spLocks noGrp="1"/>
          </p:cNvSpPr>
          <p:nvPr>
            <p:ph type="sldNum" sz="quarter" idx="12"/>
          </p:nvPr>
        </p:nvSpPr>
        <p:spPr/>
        <p:txBody>
          <a:bodyPr/>
          <a:lstStyle/>
          <a:p>
            <a:pPr>
              <a:defRPr/>
            </a:pPr>
            <a:fld id="{891184C0-916E-4CCA-8FFE-169A3289BBF6}" type="slidenum">
              <a:rPr lang="zh-CN" altLang="en-US" smtClean="0"/>
              <a:pPr>
                <a:defRPr/>
              </a:pPr>
              <a:t>43</a:t>
            </a:fld>
            <a:endParaRPr lang="zh-CN" altLang="en-US"/>
          </a:p>
        </p:txBody>
      </p:sp>
      <p:sp>
        <p:nvSpPr>
          <p:cNvPr id="3" name="内容占位符 2"/>
          <p:cNvSpPr txBox="1">
            <a:spLocks/>
          </p:cNvSpPr>
          <p:nvPr/>
        </p:nvSpPr>
        <p:spPr>
          <a:xfrm>
            <a:off x="815340" y="758885"/>
            <a:ext cx="5379720" cy="608845"/>
          </a:xfrm>
          <a:prstGeom prst="rect">
            <a:avLst/>
          </a:prstGeom>
        </p:spPr>
        <p:txBody>
          <a:bodyPr/>
          <a:lstStyle>
            <a:lvl1pPr marL="342900" indent="-342900" algn="l" rtl="0" eaLnBrk="0" fontAlgn="base" hangingPunct="0">
              <a:spcBef>
                <a:spcPct val="20000"/>
              </a:spcBef>
              <a:spcAft>
                <a:spcPct val="0"/>
              </a:spcAft>
              <a:buFont typeface="Arial" panose="020B0604020202020204" pitchFamily="34"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en-US" altLang="zh-CN" dirty="0"/>
              <a:t>1.5.4</a:t>
            </a:r>
            <a:r>
              <a:rPr lang="zh-CN" altLang="en-US" dirty="0"/>
              <a:t> 虚拟存储器</a:t>
            </a:r>
            <a:endParaRPr lang="en-US" altLang="zh-CN" dirty="0"/>
          </a:p>
          <a:p>
            <a:pPr lvl="1"/>
            <a:r>
              <a:rPr lang="zh-CN" altLang="en-US" dirty="0"/>
              <a:t>每个进程看到的是一个一致的、虚拟的存储器</a:t>
            </a:r>
            <a:r>
              <a:rPr lang="en-US" altLang="zh-CN" dirty="0"/>
              <a:t>——</a:t>
            </a:r>
            <a:r>
              <a:rPr lang="zh-CN" altLang="en-US" dirty="0"/>
              <a:t>即进程的虚拟地址空间</a:t>
            </a:r>
            <a:endParaRPr lang="en-US" altLang="zh-CN" dirty="0"/>
          </a:p>
          <a:p>
            <a:pPr lvl="1"/>
            <a:r>
              <a:rPr lang="zh-CN" altLang="en-US" dirty="0"/>
              <a:t>系统中有多个进程，因此有多个独立的虚拟地址空间</a:t>
            </a:r>
            <a:endParaRPr lang="en-US" altLang="zh-CN" dirty="0"/>
          </a:p>
          <a:p>
            <a:pPr lvl="1"/>
            <a:r>
              <a:rPr lang="zh-CN" altLang="en-US" dirty="0"/>
              <a:t>布局：</a:t>
            </a:r>
            <a:endParaRPr lang="en-US" altLang="zh-CN" dirty="0"/>
          </a:p>
          <a:p>
            <a:pPr lvl="2"/>
            <a:r>
              <a:rPr lang="zh-CN" altLang="en-US" dirty="0"/>
              <a:t>程序代码和数据</a:t>
            </a:r>
            <a:endParaRPr lang="en-US" altLang="zh-CN" dirty="0"/>
          </a:p>
          <a:p>
            <a:pPr lvl="2"/>
            <a:r>
              <a:rPr lang="zh-CN" altLang="en-US" dirty="0"/>
              <a:t>堆</a:t>
            </a:r>
            <a:endParaRPr lang="en-US" altLang="zh-CN" dirty="0"/>
          </a:p>
          <a:p>
            <a:pPr lvl="2"/>
            <a:r>
              <a:rPr lang="zh-CN" altLang="en-US" dirty="0"/>
              <a:t>共享库</a:t>
            </a:r>
            <a:endParaRPr lang="en-US" altLang="zh-CN" dirty="0"/>
          </a:p>
          <a:p>
            <a:pPr lvl="2"/>
            <a:r>
              <a:rPr lang="zh-CN" altLang="en-US" dirty="0"/>
              <a:t>栈</a:t>
            </a:r>
            <a:endParaRPr lang="en-US" altLang="zh-CN" dirty="0"/>
          </a:p>
          <a:p>
            <a:pPr lvl="2"/>
            <a:r>
              <a:rPr lang="zh-CN" altLang="en-US" dirty="0"/>
              <a:t>内核虚拟空间</a:t>
            </a:r>
            <a:endParaRPr lang="en-US" altLang="zh-CN" dirty="0"/>
          </a:p>
          <a:p>
            <a:pPr lvl="2"/>
            <a:endParaRPr lang="en-US" altLang="zh-CN" dirty="0"/>
          </a:p>
          <a:p>
            <a:pPr lvl="1"/>
            <a:endParaRPr lang="en-US" altLang="zh-CN" dirty="0"/>
          </a:p>
        </p:txBody>
      </p:sp>
    </p:spTree>
    <p:extLst>
      <p:ext uri="{BB962C8B-B14F-4D97-AF65-F5344CB8AC3E}">
        <p14:creationId xmlns:p14="http://schemas.microsoft.com/office/powerpoint/2010/main" val="3421681671"/>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2"/>
          </p:nvPr>
        </p:nvSpPr>
        <p:spPr/>
        <p:txBody>
          <a:bodyPr/>
          <a:lstStyle/>
          <a:p>
            <a:pPr>
              <a:defRPr/>
            </a:pPr>
            <a:fld id="{891184C0-916E-4CCA-8FFE-169A3289BBF6}" type="slidenum">
              <a:rPr lang="zh-CN" altLang="en-US" smtClean="0"/>
              <a:pPr>
                <a:defRPr/>
              </a:pPr>
              <a:t>44</a:t>
            </a:fld>
            <a:endParaRPr lang="zh-CN" altLang="en-US"/>
          </a:p>
        </p:txBody>
      </p:sp>
      <p:pic>
        <p:nvPicPr>
          <p:cNvPr id="3" name="图片 2"/>
          <p:cNvPicPr>
            <a:picLocks noChangeAspect="1"/>
          </p:cNvPicPr>
          <p:nvPr/>
        </p:nvPicPr>
        <p:blipFill>
          <a:blip r:embed="rId3"/>
          <a:stretch>
            <a:fillRect/>
          </a:stretch>
        </p:blipFill>
        <p:spPr>
          <a:xfrm>
            <a:off x="3552825" y="461963"/>
            <a:ext cx="8286750" cy="6076950"/>
          </a:xfrm>
          <a:prstGeom prst="rect">
            <a:avLst/>
          </a:prstGeom>
        </p:spPr>
      </p:pic>
      <p:sp>
        <p:nvSpPr>
          <p:cNvPr id="4" name="文本框 3"/>
          <p:cNvSpPr txBox="1"/>
          <p:nvPr/>
        </p:nvSpPr>
        <p:spPr>
          <a:xfrm>
            <a:off x="594360" y="1074420"/>
            <a:ext cx="2663190" cy="369332"/>
          </a:xfrm>
          <a:prstGeom prst="rect">
            <a:avLst/>
          </a:prstGeom>
          <a:noFill/>
        </p:spPr>
        <p:txBody>
          <a:bodyPr wrap="square" rtlCol="0">
            <a:spAutoFit/>
          </a:bodyPr>
          <a:lstStyle/>
          <a:p>
            <a:r>
              <a:rPr lang="zh-CN" altLang="en-US" b="1" dirty="0"/>
              <a:t>多进程</a:t>
            </a:r>
            <a:r>
              <a:rPr lang="en-US" altLang="zh-CN" b="1" dirty="0"/>
              <a:t>/</a:t>
            </a:r>
            <a:r>
              <a:rPr lang="zh-CN" altLang="en-US" b="1" dirty="0"/>
              <a:t>线程并发的情形</a:t>
            </a:r>
          </a:p>
        </p:txBody>
      </p:sp>
    </p:spTree>
    <p:extLst>
      <p:ext uri="{BB962C8B-B14F-4D97-AF65-F5344CB8AC3E}">
        <p14:creationId xmlns:p14="http://schemas.microsoft.com/office/powerpoint/2010/main" val="3269909512"/>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2"/>
          </p:nvPr>
        </p:nvSpPr>
        <p:spPr/>
        <p:txBody>
          <a:bodyPr/>
          <a:lstStyle/>
          <a:p>
            <a:pPr>
              <a:defRPr/>
            </a:pPr>
            <a:fld id="{891184C0-916E-4CCA-8FFE-169A3289BBF6}" type="slidenum">
              <a:rPr lang="zh-CN" altLang="en-US" smtClean="0"/>
              <a:pPr>
                <a:defRPr/>
              </a:pPr>
              <a:t>45</a:t>
            </a:fld>
            <a:endParaRPr lang="zh-CN" altLang="en-US"/>
          </a:p>
        </p:txBody>
      </p:sp>
      <p:sp>
        <p:nvSpPr>
          <p:cNvPr id="3" name="内容占位符 2"/>
          <p:cNvSpPr txBox="1">
            <a:spLocks/>
          </p:cNvSpPr>
          <p:nvPr/>
        </p:nvSpPr>
        <p:spPr>
          <a:xfrm>
            <a:off x="815340" y="758885"/>
            <a:ext cx="10972800" cy="608845"/>
          </a:xfrm>
          <a:prstGeom prst="rect">
            <a:avLst/>
          </a:prstGeom>
        </p:spPr>
        <p:txBody>
          <a:bodyPr/>
          <a:lstStyle>
            <a:lvl1pPr marL="342900" indent="-342900" algn="l" rtl="0" eaLnBrk="0" fontAlgn="base" hangingPunct="0">
              <a:spcBef>
                <a:spcPct val="20000"/>
              </a:spcBef>
              <a:spcAft>
                <a:spcPct val="0"/>
              </a:spcAft>
              <a:buFont typeface="Arial" panose="020B0604020202020204" pitchFamily="34"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en-US" altLang="zh-CN" dirty="0"/>
              <a:t>1.5.5</a:t>
            </a:r>
            <a:r>
              <a:rPr lang="zh-CN" altLang="en-US" dirty="0"/>
              <a:t> 文件</a:t>
            </a:r>
            <a:endParaRPr lang="en-US" altLang="zh-CN" dirty="0"/>
          </a:p>
          <a:p>
            <a:pPr lvl="1"/>
            <a:r>
              <a:rPr lang="en-US" altLang="zh-CN" dirty="0"/>
              <a:t>Unix</a:t>
            </a:r>
            <a:r>
              <a:rPr lang="zh-CN" altLang="en-US" dirty="0"/>
              <a:t>中“万物皆文件”</a:t>
            </a:r>
            <a:endParaRPr lang="en-US" altLang="zh-CN" dirty="0"/>
          </a:p>
          <a:p>
            <a:pPr lvl="2"/>
            <a:r>
              <a:rPr lang="en-US" altLang="zh-CN" dirty="0"/>
              <a:t>IO</a:t>
            </a:r>
            <a:r>
              <a:rPr lang="zh-CN" altLang="en-US" dirty="0"/>
              <a:t>系统在文件系统框架内</a:t>
            </a:r>
            <a:endParaRPr lang="en-US" altLang="zh-CN" dirty="0"/>
          </a:p>
          <a:p>
            <a:pPr lvl="2"/>
            <a:endParaRPr lang="en-US" altLang="zh-CN" dirty="0"/>
          </a:p>
          <a:p>
            <a:pPr lvl="1"/>
            <a:r>
              <a:rPr lang="zh-CN" altLang="en-US" dirty="0"/>
              <a:t>数据文件</a:t>
            </a:r>
            <a:endParaRPr lang="en-US" altLang="zh-CN" dirty="0"/>
          </a:p>
          <a:p>
            <a:pPr lvl="2"/>
            <a:r>
              <a:rPr lang="zh-CN" altLang="en-US" dirty="0"/>
              <a:t>字节序列，可以存储在磁盘上</a:t>
            </a:r>
            <a:endParaRPr lang="en-US" altLang="zh-CN" dirty="0"/>
          </a:p>
          <a:p>
            <a:pPr lvl="1"/>
            <a:r>
              <a:rPr lang="zh-CN" altLang="en-US" dirty="0"/>
              <a:t>特殊文件</a:t>
            </a:r>
            <a:endParaRPr lang="en-US" altLang="zh-CN" dirty="0"/>
          </a:p>
          <a:p>
            <a:pPr lvl="2"/>
            <a:r>
              <a:rPr lang="zh-CN" altLang="en-US" dirty="0"/>
              <a:t>设备文件</a:t>
            </a:r>
            <a:endParaRPr lang="en-US" altLang="zh-CN" dirty="0"/>
          </a:p>
          <a:p>
            <a:pPr lvl="2"/>
            <a:r>
              <a:rPr lang="zh-CN" altLang="en-US" dirty="0"/>
              <a:t>管道文件</a:t>
            </a:r>
            <a:endParaRPr lang="en-US" altLang="zh-CN" dirty="0"/>
          </a:p>
          <a:p>
            <a:pPr lvl="2"/>
            <a:r>
              <a:rPr lang="zh-CN" altLang="en-US" dirty="0"/>
              <a:t>其他</a:t>
            </a:r>
            <a:endParaRPr lang="en-US" altLang="zh-CN" dirty="0"/>
          </a:p>
          <a:p>
            <a:pPr lvl="1"/>
            <a:endParaRPr lang="en-US" altLang="zh-CN" dirty="0"/>
          </a:p>
        </p:txBody>
      </p:sp>
    </p:spTree>
    <p:extLst>
      <p:ext uri="{BB962C8B-B14F-4D97-AF65-F5344CB8AC3E}">
        <p14:creationId xmlns:p14="http://schemas.microsoft.com/office/powerpoint/2010/main" val="325528698"/>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1.6 </a:t>
            </a:r>
            <a:r>
              <a:rPr lang="zh-CN" altLang="en-US"/>
              <a:t>计算机系统间协作</a:t>
            </a:r>
            <a:endParaRPr lang="zh-CN" altLang="en-US" dirty="0"/>
          </a:p>
        </p:txBody>
      </p:sp>
      <p:sp>
        <p:nvSpPr>
          <p:cNvPr id="4" name="灯片编号占位符 3"/>
          <p:cNvSpPr>
            <a:spLocks noGrp="1"/>
          </p:cNvSpPr>
          <p:nvPr>
            <p:ph type="sldNum" sz="quarter" idx="12"/>
          </p:nvPr>
        </p:nvSpPr>
        <p:spPr/>
        <p:txBody>
          <a:bodyPr/>
          <a:lstStyle/>
          <a:p>
            <a:pPr>
              <a:defRPr/>
            </a:pPr>
            <a:fld id="{392EB7A3-68BD-4CAE-8C14-8063AF6D8FB4}" type="slidenum">
              <a:rPr lang="zh-CN" altLang="en-US" smtClean="0"/>
              <a:pPr>
                <a:defRPr/>
              </a:pPr>
              <a:t>46</a:t>
            </a:fld>
            <a:endParaRPr lang="zh-CN" altLang="en-US"/>
          </a:p>
        </p:txBody>
      </p:sp>
      <p:sp>
        <p:nvSpPr>
          <p:cNvPr id="8" name="内容占位符 2"/>
          <p:cNvSpPr txBox="1">
            <a:spLocks/>
          </p:cNvSpPr>
          <p:nvPr/>
        </p:nvSpPr>
        <p:spPr>
          <a:xfrm>
            <a:off x="769620" y="1113215"/>
            <a:ext cx="10972800" cy="608845"/>
          </a:xfrm>
          <a:prstGeom prst="rect">
            <a:avLst/>
          </a:prstGeom>
        </p:spPr>
        <p:txBody>
          <a:bodyPr/>
          <a:lstStyle>
            <a:lvl1pPr marL="342900" indent="-342900" algn="l" rtl="0" eaLnBrk="0" fontAlgn="base" hangingPunct="0">
              <a:spcBef>
                <a:spcPct val="20000"/>
              </a:spcBef>
              <a:spcAft>
                <a:spcPct val="0"/>
              </a:spcAft>
              <a:buFont typeface="Arial" panose="020B0604020202020204" pitchFamily="34"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en-US" altLang="zh-CN" dirty="0"/>
              <a:t>1.6.1</a:t>
            </a:r>
            <a:r>
              <a:rPr lang="zh-CN" altLang="en-US" dirty="0"/>
              <a:t> 网络接口</a:t>
            </a:r>
            <a:endParaRPr lang="en-US" altLang="zh-CN" dirty="0"/>
          </a:p>
          <a:p>
            <a:pPr lvl="1"/>
            <a:endParaRPr lang="en-US" altLang="zh-CN" dirty="0"/>
          </a:p>
        </p:txBody>
      </p:sp>
      <p:pic>
        <p:nvPicPr>
          <p:cNvPr id="3" name="图片 2"/>
          <p:cNvPicPr>
            <a:picLocks noChangeAspect="1"/>
          </p:cNvPicPr>
          <p:nvPr/>
        </p:nvPicPr>
        <p:blipFill>
          <a:blip r:embed="rId3"/>
          <a:stretch>
            <a:fillRect/>
          </a:stretch>
        </p:blipFill>
        <p:spPr>
          <a:xfrm>
            <a:off x="2718434" y="1786921"/>
            <a:ext cx="6019165" cy="4716166"/>
          </a:xfrm>
          <a:prstGeom prst="rect">
            <a:avLst/>
          </a:prstGeom>
        </p:spPr>
      </p:pic>
      <p:sp>
        <p:nvSpPr>
          <p:cNvPr id="5" name="椭圆 4"/>
          <p:cNvSpPr/>
          <p:nvPr/>
        </p:nvSpPr>
        <p:spPr>
          <a:xfrm>
            <a:off x="7395210" y="4766310"/>
            <a:ext cx="1474470" cy="1955166"/>
          </a:xfrm>
          <a:prstGeom prst="ellipse">
            <a:avLst/>
          </a:prstGeom>
          <a:noFill/>
          <a:ln>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566677023"/>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2"/>
          </p:nvPr>
        </p:nvSpPr>
        <p:spPr/>
        <p:txBody>
          <a:bodyPr/>
          <a:lstStyle/>
          <a:p>
            <a:pPr>
              <a:defRPr/>
            </a:pPr>
            <a:fld id="{891184C0-916E-4CCA-8FFE-169A3289BBF6}" type="slidenum">
              <a:rPr lang="zh-CN" altLang="en-US" smtClean="0"/>
              <a:pPr>
                <a:defRPr/>
              </a:pPr>
              <a:t>47</a:t>
            </a:fld>
            <a:endParaRPr lang="zh-CN" altLang="en-US"/>
          </a:p>
        </p:txBody>
      </p:sp>
      <p:sp>
        <p:nvSpPr>
          <p:cNvPr id="3" name="内容占位符 2"/>
          <p:cNvSpPr txBox="1">
            <a:spLocks/>
          </p:cNvSpPr>
          <p:nvPr/>
        </p:nvSpPr>
        <p:spPr>
          <a:xfrm>
            <a:off x="849630" y="827465"/>
            <a:ext cx="10972800" cy="608845"/>
          </a:xfrm>
          <a:prstGeom prst="rect">
            <a:avLst/>
          </a:prstGeom>
        </p:spPr>
        <p:txBody>
          <a:bodyPr/>
          <a:lstStyle>
            <a:lvl1pPr marL="342900" indent="-342900" algn="l" rtl="0" eaLnBrk="0" fontAlgn="base" hangingPunct="0">
              <a:spcBef>
                <a:spcPct val="20000"/>
              </a:spcBef>
              <a:spcAft>
                <a:spcPct val="0"/>
              </a:spcAft>
              <a:buFont typeface="Arial" panose="020B0604020202020204" pitchFamily="34"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en-US" altLang="zh-CN" dirty="0"/>
              <a:t>1.6.2</a:t>
            </a:r>
            <a:r>
              <a:rPr lang="zh-CN" altLang="en-US" dirty="0"/>
              <a:t> 网络协议</a:t>
            </a:r>
            <a:endParaRPr lang="en-US" altLang="zh-CN" dirty="0"/>
          </a:p>
          <a:p>
            <a:pPr lvl="1"/>
            <a:r>
              <a:rPr lang="zh-CN" altLang="en-US" dirty="0"/>
              <a:t>应用层协议</a:t>
            </a:r>
            <a:endParaRPr lang="en-US" altLang="zh-CN" dirty="0"/>
          </a:p>
          <a:p>
            <a:pPr lvl="1"/>
            <a:r>
              <a:rPr lang="en-US" altLang="zh-CN" dirty="0"/>
              <a:t>TCP/IP</a:t>
            </a:r>
          </a:p>
          <a:p>
            <a:pPr lvl="1"/>
            <a:endParaRPr lang="en-US" altLang="zh-CN" dirty="0"/>
          </a:p>
        </p:txBody>
      </p:sp>
      <p:pic>
        <p:nvPicPr>
          <p:cNvPr id="4" name="图片 3"/>
          <p:cNvPicPr>
            <a:picLocks noChangeAspect="1"/>
          </p:cNvPicPr>
          <p:nvPr/>
        </p:nvPicPr>
        <p:blipFill>
          <a:blip r:embed="rId3"/>
          <a:stretch>
            <a:fillRect/>
          </a:stretch>
        </p:blipFill>
        <p:spPr>
          <a:xfrm>
            <a:off x="1257300" y="3032760"/>
            <a:ext cx="9447848" cy="2076450"/>
          </a:xfrm>
          <a:prstGeom prst="rect">
            <a:avLst/>
          </a:prstGeom>
        </p:spPr>
      </p:pic>
    </p:spTree>
    <p:extLst>
      <p:ext uri="{BB962C8B-B14F-4D97-AF65-F5344CB8AC3E}">
        <p14:creationId xmlns:p14="http://schemas.microsoft.com/office/powerpoint/2010/main" val="2691588577"/>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1.7 </a:t>
            </a:r>
            <a:r>
              <a:rPr lang="zh-CN" altLang="en-US" dirty="0"/>
              <a:t>并行技术</a:t>
            </a:r>
          </a:p>
        </p:txBody>
      </p:sp>
      <p:sp>
        <p:nvSpPr>
          <p:cNvPr id="4" name="灯片编号占位符 3"/>
          <p:cNvSpPr>
            <a:spLocks noGrp="1"/>
          </p:cNvSpPr>
          <p:nvPr>
            <p:ph type="sldNum" sz="quarter" idx="12"/>
          </p:nvPr>
        </p:nvSpPr>
        <p:spPr/>
        <p:txBody>
          <a:bodyPr/>
          <a:lstStyle/>
          <a:p>
            <a:pPr>
              <a:defRPr/>
            </a:pPr>
            <a:fld id="{392EB7A3-68BD-4CAE-8C14-8063AF6D8FB4}" type="slidenum">
              <a:rPr lang="zh-CN" altLang="en-US" smtClean="0"/>
              <a:pPr>
                <a:defRPr/>
              </a:pPr>
              <a:t>48</a:t>
            </a:fld>
            <a:endParaRPr lang="zh-CN" altLang="en-US"/>
          </a:p>
        </p:txBody>
      </p:sp>
      <p:sp>
        <p:nvSpPr>
          <p:cNvPr id="8" name="内容占位符 2"/>
          <p:cNvSpPr txBox="1">
            <a:spLocks/>
          </p:cNvSpPr>
          <p:nvPr/>
        </p:nvSpPr>
        <p:spPr>
          <a:xfrm>
            <a:off x="769620" y="1113215"/>
            <a:ext cx="10972800" cy="608845"/>
          </a:xfrm>
          <a:prstGeom prst="rect">
            <a:avLst/>
          </a:prstGeom>
        </p:spPr>
        <p:txBody>
          <a:bodyPr/>
          <a:lstStyle>
            <a:lvl1pPr marL="342900" indent="-342900" algn="l" rtl="0" eaLnBrk="0" fontAlgn="base" hangingPunct="0">
              <a:spcBef>
                <a:spcPct val="20000"/>
              </a:spcBef>
              <a:spcAft>
                <a:spcPct val="0"/>
              </a:spcAft>
              <a:buFont typeface="Arial" panose="020B0604020202020204" pitchFamily="34"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en-US" altLang="zh-CN" dirty="0"/>
              <a:t>1.7.1</a:t>
            </a:r>
            <a:r>
              <a:rPr lang="zh-CN" altLang="en-US" dirty="0"/>
              <a:t> 并发与并行</a:t>
            </a:r>
            <a:endParaRPr lang="en-US" altLang="zh-CN" dirty="0"/>
          </a:p>
          <a:p>
            <a:pPr lvl="1"/>
            <a:r>
              <a:rPr lang="zh-CN" altLang="en-US" dirty="0"/>
              <a:t>同时性</a:t>
            </a:r>
            <a:r>
              <a:rPr lang="en-US" altLang="zh-CN" dirty="0"/>
              <a:t>simultaneity</a:t>
            </a:r>
            <a:r>
              <a:rPr lang="zh-CN" altLang="en-US" dirty="0"/>
              <a:t>，多个事件同时在发生</a:t>
            </a:r>
            <a:endParaRPr lang="en-US" altLang="zh-CN" dirty="0"/>
          </a:p>
          <a:p>
            <a:pPr lvl="1"/>
            <a:r>
              <a:rPr lang="zh-CN" altLang="en-US" dirty="0"/>
              <a:t>并发</a:t>
            </a:r>
            <a:r>
              <a:rPr lang="en-US" altLang="zh-CN" dirty="0"/>
              <a:t>concurrency</a:t>
            </a:r>
            <a:r>
              <a:rPr lang="zh-CN" altLang="en-US" dirty="0"/>
              <a:t>，一段时间内的多个事件在活动（可以是交织进行的）</a:t>
            </a:r>
            <a:endParaRPr lang="en-US" altLang="zh-CN" dirty="0"/>
          </a:p>
          <a:p>
            <a:pPr lvl="1"/>
            <a:r>
              <a:rPr lang="zh-CN" altLang="en-US" dirty="0"/>
              <a:t>并行</a:t>
            </a:r>
            <a:r>
              <a:rPr lang="en-US" altLang="zh-CN" dirty="0"/>
              <a:t>parallelism</a:t>
            </a:r>
            <a:r>
              <a:rPr lang="zh-CN" altLang="en-US" dirty="0"/>
              <a:t>，包含同时性和并发性</a:t>
            </a:r>
            <a:endParaRPr lang="en-US" altLang="zh-CN" dirty="0"/>
          </a:p>
        </p:txBody>
      </p:sp>
    </p:spTree>
    <p:extLst>
      <p:ext uri="{BB962C8B-B14F-4D97-AF65-F5344CB8AC3E}">
        <p14:creationId xmlns:p14="http://schemas.microsoft.com/office/powerpoint/2010/main" val="430645369"/>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图片 4"/>
          <p:cNvPicPr>
            <a:picLocks noChangeAspect="1"/>
          </p:cNvPicPr>
          <p:nvPr/>
        </p:nvPicPr>
        <p:blipFill>
          <a:blip r:embed="rId3"/>
          <a:stretch>
            <a:fillRect/>
          </a:stretch>
        </p:blipFill>
        <p:spPr>
          <a:xfrm>
            <a:off x="7400851" y="1857269"/>
            <a:ext cx="4791149" cy="4292071"/>
          </a:xfrm>
          <a:prstGeom prst="rect">
            <a:avLst/>
          </a:prstGeom>
        </p:spPr>
      </p:pic>
      <p:sp>
        <p:nvSpPr>
          <p:cNvPr id="2" name="灯片编号占位符 1"/>
          <p:cNvSpPr>
            <a:spLocks noGrp="1"/>
          </p:cNvSpPr>
          <p:nvPr>
            <p:ph type="sldNum" sz="quarter" idx="12"/>
          </p:nvPr>
        </p:nvSpPr>
        <p:spPr/>
        <p:txBody>
          <a:bodyPr/>
          <a:lstStyle/>
          <a:p>
            <a:pPr>
              <a:defRPr/>
            </a:pPr>
            <a:fld id="{891184C0-916E-4CCA-8FFE-169A3289BBF6}" type="slidenum">
              <a:rPr lang="zh-CN" altLang="en-US" smtClean="0"/>
              <a:pPr>
                <a:defRPr/>
              </a:pPr>
              <a:t>49</a:t>
            </a:fld>
            <a:endParaRPr lang="zh-CN" altLang="en-US"/>
          </a:p>
        </p:txBody>
      </p:sp>
      <p:sp>
        <p:nvSpPr>
          <p:cNvPr id="3" name="内容占位符 2"/>
          <p:cNvSpPr txBox="1">
            <a:spLocks/>
          </p:cNvSpPr>
          <p:nvPr/>
        </p:nvSpPr>
        <p:spPr>
          <a:xfrm>
            <a:off x="278130" y="678875"/>
            <a:ext cx="10972800" cy="608845"/>
          </a:xfrm>
          <a:prstGeom prst="rect">
            <a:avLst/>
          </a:prstGeom>
        </p:spPr>
        <p:txBody>
          <a:bodyPr/>
          <a:lstStyle>
            <a:lvl1pPr marL="342900" indent="-342900" algn="l" rtl="0" eaLnBrk="0" fontAlgn="base" hangingPunct="0">
              <a:spcBef>
                <a:spcPct val="20000"/>
              </a:spcBef>
              <a:spcAft>
                <a:spcPct val="0"/>
              </a:spcAft>
              <a:buFont typeface="Arial" panose="020B0604020202020204" pitchFamily="34"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en-US" altLang="zh-CN" dirty="0"/>
              <a:t>1.7.2</a:t>
            </a:r>
            <a:r>
              <a:rPr lang="zh-CN" altLang="en-US" dirty="0"/>
              <a:t> 不同层次的并行</a:t>
            </a:r>
            <a:endParaRPr lang="en-US" altLang="zh-CN" dirty="0"/>
          </a:p>
          <a:p>
            <a:pPr lvl="1"/>
            <a:r>
              <a:rPr lang="zh-CN" altLang="en-US" dirty="0"/>
              <a:t>线程级并发</a:t>
            </a:r>
            <a:endParaRPr lang="en-US" altLang="zh-CN" dirty="0"/>
          </a:p>
          <a:p>
            <a:pPr lvl="2"/>
            <a:r>
              <a:rPr lang="zh-CN" altLang="en-US" dirty="0"/>
              <a:t>单处理器系统上的多进程</a:t>
            </a:r>
            <a:r>
              <a:rPr lang="en-US" altLang="zh-CN" dirty="0"/>
              <a:t>/</a:t>
            </a:r>
            <a:r>
              <a:rPr lang="zh-CN" altLang="en-US" dirty="0"/>
              <a:t>多线程并发</a:t>
            </a:r>
            <a:endParaRPr lang="en-US" altLang="zh-CN" dirty="0"/>
          </a:p>
          <a:p>
            <a:pPr lvl="2"/>
            <a:r>
              <a:rPr lang="zh-CN" altLang="en-US" dirty="0"/>
              <a:t>多处理器上的并发</a:t>
            </a:r>
            <a:endParaRPr lang="en-US" altLang="zh-CN" dirty="0"/>
          </a:p>
          <a:p>
            <a:pPr lvl="2"/>
            <a:r>
              <a:rPr lang="zh-CN" altLang="en-US" dirty="0"/>
              <a:t>超线程（</a:t>
            </a:r>
            <a:r>
              <a:rPr lang="en-US" altLang="zh-CN" dirty="0" err="1"/>
              <a:t>hyperthread</a:t>
            </a:r>
            <a:r>
              <a:rPr lang="zh-CN" altLang="en-US" dirty="0"/>
              <a:t>）</a:t>
            </a:r>
            <a:r>
              <a:rPr lang="en-US" altLang="zh-CN" dirty="0"/>
              <a:t>/</a:t>
            </a:r>
            <a:r>
              <a:rPr lang="zh-CN" altLang="en-US" dirty="0"/>
              <a:t>同时多线程上的并发</a:t>
            </a:r>
            <a:endParaRPr lang="en-US" altLang="zh-CN" dirty="0"/>
          </a:p>
          <a:p>
            <a:pPr lvl="3"/>
            <a:r>
              <a:rPr lang="zh-CN" altLang="en-US" dirty="0"/>
              <a:t>普通核上的进程切换需要</a:t>
            </a:r>
            <a:r>
              <a:rPr lang="en-US" altLang="zh-CN" dirty="0"/>
              <a:t>20000</a:t>
            </a:r>
            <a:r>
              <a:rPr lang="zh-CN" altLang="en-US" dirty="0"/>
              <a:t>个时钟周期</a:t>
            </a:r>
            <a:endParaRPr lang="en-US" altLang="zh-CN" dirty="0"/>
          </a:p>
          <a:p>
            <a:pPr lvl="3"/>
            <a:r>
              <a:rPr lang="zh-CN" altLang="en-US" dirty="0"/>
              <a:t>超线程处理器硬件线程切换可以在单个周期完成</a:t>
            </a:r>
            <a:endParaRPr lang="en-US" altLang="zh-CN" dirty="0"/>
          </a:p>
          <a:p>
            <a:pPr lvl="2"/>
            <a:endParaRPr lang="en-US" altLang="zh-CN" dirty="0"/>
          </a:p>
        </p:txBody>
      </p:sp>
      <p:pic>
        <p:nvPicPr>
          <p:cNvPr id="4" name="图片 3"/>
          <p:cNvPicPr>
            <a:picLocks noChangeAspect="1"/>
          </p:cNvPicPr>
          <p:nvPr/>
        </p:nvPicPr>
        <p:blipFill>
          <a:blip r:embed="rId4"/>
          <a:stretch>
            <a:fillRect/>
          </a:stretch>
        </p:blipFill>
        <p:spPr>
          <a:xfrm>
            <a:off x="1553527" y="3915305"/>
            <a:ext cx="4393883" cy="2441046"/>
          </a:xfrm>
          <a:prstGeom prst="rect">
            <a:avLst/>
          </a:prstGeom>
        </p:spPr>
      </p:pic>
      <p:sp>
        <p:nvSpPr>
          <p:cNvPr id="6" name="文本框 5"/>
          <p:cNvSpPr txBox="1"/>
          <p:nvPr/>
        </p:nvSpPr>
        <p:spPr>
          <a:xfrm>
            <a:off x="8023860" y="1487937"/>
            <a:ext cx="2583180" cy="369332"/>
          </a:xfrm>
          <a:prstGeom prst="rect">
            <a:avLst/>
          </a:prstGeom>
          <a:noFill/>
        </p:spPr>
        <p:txBody>
          <a:bodyPr wrap="square" rtlCol="0">
            <a:spAutoFit/>
          </a:bodyPr>
          <a:lstStyle/>
          <a:p>
            <a:r>
              <a:rPr lang="en-US" altLang="zh-CN" b="1" dirty="0"/>
              <a:t>Intel Core i7</a:t>
            </a:r>
            <a:r>
              <a:rPr lang="zh-CN" altLang="en-US" b="1" dirty="0"/>
              <a:t>多核处理器</a:t>
            </a:r>
          </a:p>
        </p:txBody>
      </p:sp>
    </p:spTree>
    <p:extLst>
      <p:ext uri="{BB962C8B-B14F-4D97-AF65-F5344CB8AC3E}">
        <p14:creationId xmlns:p14="http://schemas.microsoft.com/office/powerpoint/2010/main" val="1164027068"/>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2"/>
          </p:nvPr>
        </p:nvSpPr>
        <p:spPr/>
        <p:txBody>
          <a:bodyPr/>
          <a:lstStyle/>
          <a:p>
            <a:pPr>
              <a:defRPr/>
            </a:pPr>
            <a:fld id="{891184C0-916E-4CCA-8FFE-169A3289BBF6}" type="slidenum">
              <a:rPr lang="zh-CN" altLang="en-US" smtClean="0"/>
              <a:pPr>
                <a:defRPr/>
              </a:pPr>
              <a:t>50</a:t>
            </a:fld>
            <a:endParaRPr lang="zh-CN" altLang="en-US"/>
          </a:p>
        </p:txBody>
      </p:sp>
      <p:sp>
        <p:nvSpPr>
          <p:cNvPr id="5" name="内容占位符 2"/>
          <p:cNvSpPr txBox="1">
            <a:spLocks/>
          </p:cNvSpPr>
          <p:nvPr/>
        </p:nvSpPr>
        <p:spPr>
          <a:xfrm>
            <a:off x="278130" y="678875"/>
            <a:ext cx="10972800" cy="608845"/>
          </a:xfrm>
          <a:prstGeom prst="rect">
            <a:avLst/>
          </a:prstGeom>
        </p:spPr>
        <p:txBody>
          <a:bodyPr/>
          <a:lstStyle>
            <a:lvl1pPr marL="342900" indent="-342900" algn="l" rtl="0" eaLnBrk="0" fontAlgn="base" hangingPunct="0">
              <a:spcBef>
                <a:spcPct val="20000"/>
              </a:spcBef>
              <a:spcAft>
                <a:spcPct val="0"/>
              </a:spcAft>
              <a:buFont typeface="Arial" panose="020B0604020202020204" pitchFamily="34"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lvl="1"/>
            <a:r>
              <a:rPr lang="zh-CN" altLang="en-US" dirty="0"/>
              <a:t>指令级并行</a:t>
            </a:r>
            <a:endParaRPr lang="en-US" altLang="zh-CN" dirty="0"/>
          </a:p>
          <a:p>
            <a:pPr lvl="2"/>
            <a:r>
              <a:rPr lang="zh-CN" altLang="en-US" dirty="0"/>
              <a:t>处理器可以同时执行多条指令的属性成为指令级并行（</a:t>
            </a:r>
            <a:r>
              <a:rPr lang="en-US" altLang="zh-CN" dirty="0"/>
              <a:t>ILP</a:t>
            </a:r>
            <a:r>
              <a:rPr lang="zh-CN" altLang="en-US" dirty="0"/>
              <a:t>，</a:t>
            </a:r>
            <a:r>
              <a:rPr lang="en-US" altLang="zh-CN" dirty="0"/>
              <a:t>Instruction Level Parallelism</a:t>
            </a:r>
            <a:r>
              <a:rPr lang="zh-CN" altLang="en-US" dirty="0"/>
              <a:t>）</a:t>
            </a:r>
            <a:endParaRPr lang="en-US" altLang="zh-CN" dirty="0"/>
          </a:p>
          <a:p>
            <a:pPr lvl="2"/>
            <a:r>
              <a:rPr lang="zh-CN" altLang="en-US" dirty="0"/>
              <a:t>流水</a:t>
            </a:r>
            <a:endParaRPr lang="en-US" altLang="zh-CN" dirty="0"/>
          </a:p>
          <a:p>
            <a:pPr lvl="2"/>
            <a:r>
              <a:rPr lang="zh-CN" altLang="en-US" dirty="0"/>
              <a:t>超标量（</a:t>
            </a:r>
            <a:r>
              <a:rPr lang="en-US" altLang="zh-CN" dirty="0" err="1"/>
              <a:t>superscale</a:t>
            </a:r>
            <a:r>
              <a:rPr lang="zh-CN" altLang="en-US" dirty="0"/>
              <a:t>）</a:t>
            </a:r>
            <a:r>
              <a:rPr lang="en-US" altLang="zh-CN" dirty="0"/>
              <a:t>/</a:t>
            </a:r>
            <a:r>
              <a:rPr lang="zh-CN" altLang="en-US" dirty="0"/>
              <a:t>多发射等技术</a:t>
            </a:r>
            <a:endParaRPr lang="en-US" altLang="zh-CN" dirty="0"/>
          </a:p>
          <a:p>
            <a:pPr lvl="3"/>
            <a:r>
              <a:rPr lang="zh-CN" altLang="en-US" dirty="0"/>
              <a:t>一个周期可以发送</a:t>
            </a:r>
            <a:r>
              <a:rPr lang="en-US" altLang="zh-CN" dirty="0"/>
              <a:t>/</a:t>
            </a:r>
            <a:r>
              <a:rPr lang="zh-CN" altLang="en-US" dirty="0"/>
              <a:t>完成一条以上指令</a:t>
            </a:r>
            <a:endParaRPr lang="en-US" altLang="zh-CN" dirty="0"/>
          </a:p>
          <a:p>
            <a:pPr lvl="3"/>
            <a:endParaRPr lang="en-US" altLang="zh-CN" dirty="0"/>
          </a:p>
          <a:p>
            <a:pPr lvl="1"/>
            <a:r>
              <a:rPr lang="zh-CN" altLang="en-US" dirty="0"/>
              <a:t>数据并行</a:t>
            </a:r>
            <a:endParaRPr lang="en-US" altLang="zh-CN" dirty="0"/>
          </a:p>
          <a:p>
            <a:pPr lvl="2"/>
            <a:r>
              <a:rPr lang="zh-CN" altLang="en-US" dirty="0"/>
              <a:t>处理器使用特殊硬件允许一条指令完成多个数据的处理</a:t>
            </a:r>
            <a:endParaRPr lang="en-US" altLang="zh-CN" dirty="0"/>
          </a:p>
          <a:p>
            <a:pPr lvl="2"/>
            <a:r>
              <a:rPr lang="zh-CN" altLang="en-US" dirty="0"/>
              <a:t>称为单指令流多数据流</a:t>
            </a:r>
            <a:r>
              <a:rPr lang="en-US" altLang="zh-CN" dirty="0"/>
              <a:t>SIMD</a:t>
            </a:r>
          </a:p>
        </p:txBody>
      </p:sp>
    </p:spTree>
    <p:extLst>
      <p:ext uri="{BB962C8B-B14F-4D97-AF65-F5344CB8AC3E}">
        <p14:creationId xmlns:p14="http://schemas.microsoft.com/office/powerpoint/2010/main" val="4235412860"/>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2"/>
          </p:nvPr>
        </p:nvSpPr>
        <p:spPr/>
        <p:txBody>
          <a:bodyPr/>
          <a:lstStyle/>
          <a:p>
            <a:pPr>
              <a:defRPr/>
            </a:pPr>
            <a:fld id="{891184C0-916E-4CCA-8FFE-169A3289BBF6}" type="slidenum">
              <a:rPr lang="zh-CN" altLang="en-US" smtClean="0"/>
              <a:pPr>
                <a:defRPr/>
              </a:pPr>
              <a:t>51</a:t>
            </a:fld>
            <a:endParaRPr lang="zh-CN" altLang="en-US"/>
          </a:p>
        </p:txBody>
      </p:sp>
      <p:sp>
        <p:nvSpPr>
          <p:cNvPr id="3" name="内容占位符 2"/>
          <p:cNvSpPr txBox="1">
            <a:spLocks/>
          </p:cNvSpPr>
          <p:nvPr/>
        </p:nvSpPr>
        <p:spPr>
          <a:xfrm>
            <a:off x="278130" y="678875"/>
            <a:ext cx="10972800" cy="608845"/>
          </a:xfrm>
          <a:prstGeom prst="rect">
            <a:avLst/>
          </a:prstGeom>
        </p:spPr>
        <p:txBody>
          <a:bodyPr/>
          <a:lstStyle>
            <a:lvl1pPr marL="342900" indent="-342900" algn="l" rtl="0" eaLnBrk="0" fontAlgn="base" hangingPunct="0">
              <a:spcBef>
                <a:spcPct val="20000"/>
              </a:spcBef>
              <a:spcAft>
                <a:spcPct val="0"/>
              </a:spcAft>
              <a:buFont typeface="Arial" panose="020B0604020202020204" pitchFamily="34"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lvl="1"/>
            <a:r>
              <a:rPr lang="en-US" altLang="zh-CN" dirty="0"/>
              <a:t>Amdahl</a:t>
            </a:r>
            <a:r>
              <a:rPr lang="zh-CN" altLang="en-US" dirty="0"/>
              <a:t>定理</a:t>
            </a:r>
            <a:endParaRPr lang="en-US" altLang="zh-CN" dirty="0"/>
          </a:p>
          <a:p>
            <a:pPr lvl="2"/>
            <a:r>
              <a:rPr lang="zh-CN" altLang="en-US" dirty="0"/>
              <a:t>对系统某部分的加速时，其对系统整体性能的影响程度取决于该部分工作的所占的比重和加速程度。</a:t>
            </a:r>
            <a:endParaRPr lang="en-US" altLang="zh-CN" dirty="0"/>
          </a:p>
          <a:p>
            <a:pPr lvl="2"/>
            <a:r>
              <a:rPr lang="zh-CN" altLang="en-US"/>
              <a:t>系统为未加速</a:t>
            </a:r>
            <a:r>
              <a:rPr lang="zh-CN" altLang="en-US" dirty="0"/>
              <a:t>时所需时间为</a:t>
            </a:r>
            <a:r>
              <a:rPr lang="en-US" altLang="zh-CN" dirty="0"/>
              <a:t>T</a:t>
            </a:r>
            <a:r>
              <a:rPr lang="en-US" altLang="zh-CN" baseline="-25000" dirty="0"/>
              <a:t>old</a:t>
            </a:r>
            <a:r>
              <a:rPr lang="zh-CN" altLang="en-US" dirty="0"/>
              <a:t>，某部分处理所占比例为</a:t>
            </a:r>
            <a:r>
              <a:rPr lang="en-US" altLang="zh-CN" dirty="0"/>
              <a:t>α</a:t>
            </a:r>
            <a:r>
              <a:rPr lang="zh-CN" altLang="en-US" dirty="0"/>
              <a:t>，该部分性能提升倍数为</a:t>
            </a:r>
            <a:r>
              <a:rPr lang="en-US" altLang="zh-CN" dirty="0"/>
              <a:t>κ</a:t>
            </a:r>
            <a:r>
              <a:rPr lang="zh-CN" altLang="en-US" dirty="0"/>
              <a:t>。即该部分工作需要</a:t>
            </a:r>
            <a:r>
              <a:rPr lang="el-GR" altLang="zh-CN" dirty="0"/>
              <a:t>α</a:t>
            </a:r>
            <a:r>
              <a:rPr lang="en-US" altLang="zh-CN" dirty="0"/>
              <a:t>*T</a:t>
            </a:r>
            <a:r>
              <a:rPr lang="en-US" altLang="zh-CN" baseline="-25000" dirty="0"/>
              <a:t>old</a:t>
            </a:r>
            <a:r>
              <a:rPr lang="zh-CN" altLang="en-US" dirty="0"/>
              <a:t>时间，性能提升后需要</a:t>
            </a:r>
            <a:r>
              <a:rPr lang="el-GR" altLang="zh-CN" dirty="0"/>
              <a:t>α</a:t>
            </a:r>
            <a:r>
              <a:rPr lang="en-US" altLang="zh-CN" dirty="0"/>
              <a:t>*T</a:t>
            </a:r>
            <a:r>
              <a:rPr lang="en-US" altLang="zh-CN" baseline="-25000" dirty="0"/>
              <a:t>old</a:t>
            </a:r>
            <a:r>
              <a:rPr lang="en-US" altLang="zh-CN" dirty="0"/>
              <a:t>/ κ</a:t>
            </a:r>
            <a:r>
              <a:rPr lang="zh-CN" altLang="en-US" dirty="0"/>
              <a:t>。那么新的处理时间为：</a:t>
            </a:r>
            <a:endParaRPr lang="en-US" altLang="zh-CN" dirty="0"/>
          </a:p>
          <a:p>
            <a:pPr lvl="2"/>
            <a:r>
              <a:rPr lang="en-US" altLang="zh-CN" dirty="0" err="1"/>
              <a:t>T</a:t>
            </a:r>
            <a:r>
              <a:rPr lang="en-US" altLang="zh-CN" baseline="-25000" dirty="0" err="1"/>
              <a:t>new</a:t>
            </a:r>
            <a:r>
              <a:rPr lang="en-US" altLang="zh-CN" dirty="0"/>
              <a:t>=</a:t>
            </a:r>
            <a:r>
              <a:rPr lang="zh-CN" altLang="en-US" dirty="0"/>
              <a:t>（</a:t>
            </a:r>
            <a:r>
              <a:rPr lang="en-US" altLang="zh-CN" dirty="0"/>
              <a:t>1- </a:t>
            </a:r>
            <a:r>
              <a:rPr lang="el-GR" altLang="zh-CN" dirty="0"/>
              <a:t>α </a:t>
            </a:r>
            <a:r>
              <a:rPr lang="en-US" altLang="zh-CN" baseline="-25000" dirty="0"/>
              <a:t> </a:t>
            </a:r>
            <a:r>
              <a:rPr lang="zh-CN" altLang="en-US" dirty="0"/>
              <a:t>）</a:t>
            </a:r>
            <a:r>
              <a:rPr lang="en-US" altLang="zh-CN" dirty="0"/>
              <a:t>T</a:t>
            </a:r>
            <a:r>
              <a:rPr lang="en-US" altLang="zh-CN" baseline="-25000" dirty="0"/>
              <a:t>old</a:t>
            </a:r>
            <a:r>
              <a:rPr lang="en-US" altLang="zh-CN" dirty="0"/>
              <a:t>+</a:t>
            </a:r>
            <a:r>
              <a:rPr lang="el-GR" altLang="zh-CN" dirty="0"/>
              <a:t> α</a:t>
            </a:r>
            <a:r>
              <a:rPr lang="en-US" altLang="zh-CN" dirty="0"/>
              <a:t>*T</a:t>
            </a:r>
            <a:r>
              <a:rPr lang="en-US" altLang="zh-CN" baseline="-25000" dirty="0"/>
              <a:t>old</a:t>
            </a:r>
            <a:r>
              <a:rPr lang="en-US" altLang="zh-CN" dirty="0"/>
              <a:t>/ κ	</a:t>
            </a:r>
            <a:r>
              <a:rPr lang="zh-CN" altLang="en-US" dirty="0"/>
              <a:t>  </a:t>
            </a:r>
            <a:r>
              <a:rPr lang="en-US" altLang="zh-CN" dirty="0"/>
              <a:t>= T</a:t>
            </a:r>
            <a:r>
              <a:rPr lang="en-US" altLang="zh-CN" baseline="-25000" dirty="0"/>
              <a:t>old</a:t>
            </a:r>
            <a:r>
              <a:rPr lang="en-US" altLang="zh-CN" dirty="0"/>
              <a:t>[</a:t>
            </a:r>
            <a:r>
              <a:rPr lang="zh-CN" altLang="en-US" dirty="0"/>
              <a:t>（</a:t>
            </a:r>
            <a:r>
              <a:rPr lang="en-US" altLang="zh-CN" dirty="0"/>
              <a:t>1-</a:t>
            </a:r>
            <a:r>
              <a:rPr lang="el-GR" altLang="zh-CN" dirty="0"/>
              <a:t> α</a:t>
            </a:r>
            <a:r>
              <a:rPr lang="en-US" altLang="zh-CN" baseline="-25000" dirty="0"/>
              <a:t> </a:t>
            </a:r>
            <a:r>
              <a:rPr lang="zh-CN" altLang="en-US" dirty="0"/>
              <a:t>）</a:t>
            </a:r>
            <a:r>
              <a:rPr lang="en-US" altLang="zh-CN" dirty="0"/>
              <a:t>+</a:t>
            </a:r>
            <a:r>
              <a:rPr lang="el-GR" altLang="zh-CN" dirty="0"/>
              <a:t>α</a:t>
            </a:r>
            <a:r>
              <a:rPr lang="en-US" altLang="zh-CN" dirty="0"/>
              <a:t>/κ	</a:t>
            </a:r>
            <a:r>
              <a:rPr lang="zh-CN" altLang="en-US" dirty="0"/>
              <a:t> </a:t>
            </a:r>
            <a:r>
              <a:rPr lang="en-US" altLang="zh-CN" dirty="0"/>
              <a:t>]</a:t>
            </a:r>
          </a:p>
          <a:p>
            <a:pPr lvl="2"/>
            <a:r>
              <a:rPr lang="zh-CN" altLang="en-US" dirty="0"/>
              <a:t>加速比：</a:t>
            </a:r>
            <a:endParaRPr lang="en-US" altLang="zh-CN" dirty="0"/>
          </a:p>
          <a:p>
            <a:pPr lvl="2"/>
            <a:r>
              <a:rPr lang="en-US" altLang="zh-CN" dirty="0"/>
              <a:t>S=1 / [(1-</a:t>
            </a:r>
            <a:r>
              <a:rPr lang="el-GR" altLang="zh-CN" dirty="0"/>
              <a:t> α</a:t>
            </a:r>
            <a:r>
              <a:rPr lang="en-US" altLang="zh-CN" dirty="0"/>
              <a:t>)+</a:t>
            </a:r>
            <a:r>
              <a:rPr lang="el-GR" altLang="zh-CN" dirty="0"/>
              <a:t> α </a:t>
            </a:r>
            <a:r>
              <a:rPr lang="en-US" altLang="zh-CN" dirty="0"/>
              <a:t>/ κ]</a:t>
            </a:r>
          </a:p>
          <a:p>
            <a:pPr lvl="2"/>
            <a:r>
              <a:rPr lang="zh-CN" altLang="en-US" dirty="0"/>
              <a:t>例子：</a:t>
            </a:r>
            <a:r>
              <a:rPr lang="en-US" altLang="zh-CN" dirty="0"/>
              <a:t>60%</a:t>
            </a:r>
            <a:r>
              <a:rPr lang="zh-CN" altLang="en-US" dirty="0"/>
              <a:t>的工作，提升</a:t>
            </a:r>
            <a:r>
              <a:rPr lang="en-US" altLang="zh-CN" dirty="0"/>
              <a:t>3</a:t>
            </a:r>
            <a:r>
              <a:rPr lang="zh-CN" altLang="en-US" dirty="0"/>
              <a:t>倍性能</a:t>
            </a:r>
            <a:endParaRPr lang="en-US" altLang="zh-CN" dirty="0"/>
          </a:p>
        </p:txBody>
      </p:sp>
    </p:spTree>
    <p:extLst>
      <p:ext uri="{BB962C8B-B14F-4D97-AF65-F5344CB8AC3E}">
        <p14:creationId xmlns:p14="http://schemas.microsoft.com/office/powerpoint/2010/main" val="3584375051"/>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a:extLst>
              <a:ext uri="{FF2B5EF4-FFF2-40B4-BE49-F238E27FC236}">
                <a16:creationId xmlns:a16="http://schemas.microsoft.com/office/drawing/2014/main" id="{68870CED-E8CE-4807-ADB1-E1C4074D0A94}"/>
              </a:ext>
            </a:extLst>
          </p:cNvPr>
          <p:cNvSpPr>
            <a:spLocks noGrp="1"/>
          </p:cNvSpPr>
          <p:nvPr>
            <p:ph type="sldNum" sz="quarter" idx="12"/>
          </p:nvPr>
        </p:nvSpPr>
        <p:spPr/>
        <p:txBody>
          <a:bodyPr/>
          <a:lstStyle/>
          <a:p>
            <a:pPr>
              <a:defRPr/>
            </a:pPr>
            <a:fld id="{891184C0-916E-4CCA-8FFE-169A3289BBF6}" type="slidenum">
              <a:rPr lang="zh-CN" altLang="en-US" smtClean="0"/>
              <a:pPr>
                <a:defRPr/>
              </a:pPr>
              <a:t>52</a:t>
            </a:fld>
            <a:endParaRPr lang="zh-CN" altLang="en-US"/>
          </a:p>
        </p:txBody>
      </p:sp>
      <p:sp>
        <p:nvSpPr>
          <p:cNvPr id="3" name="矩形 2">
            <a:extLst>
              <a:ext uri="{FF2B5EF4-FFF2-40B4-BE49-F238E27FC236}">
                <a16:creationId xmlns:a16="http://schemas.microsoft.com/office/drawing/2014/main" id="{02792DA6-A8FD-4C32-9043-3B23E61D861F}"/>
              </a:ext>
            </a:extLst>
          </p:cNvPr>
          <p:cNvSpPr/>
          <p:nvPr/>
        </p:nvSpPr>
        <p:spPr>
          <a:xfrm>
            <a:off x="1600228" y="1099650"/>
            <a:ext cx="6855788" cy="646331"/>
          </a:xfrm>
          <a:prstGeom prst="rect">
            <a:avLst/>
          </a:prstGeom>
        </p:spPr>
        <p:txBody>
          <a:bodyPr wrap="none">
            <a:spAutoFit/>
          </a:bodyPr>
          <a:lstStyle/>
          <a:p>
            <a:r>
              <a:rPr lang="zh-CN" altLang="en-US" dirty="0"/>
              <a:t>计算机结构</a:t>
            </a:r>
            <a:endParaRPr lang="en-US" altLang="zh-CN" dirty="0"/>
          </a:p>
          <a:p>
            <a:r>
              <a:rPr lang="zh-CN" altLang="en-US" dirty="0"/>
              <a:t>教学视频（</a:t>
            </a:r>
            <a:r>
              <a:rPr lang="en-US" altLang="zh-CN" dirty="0"/>
              <a:t>19m</a:t>
            </a:r>
            <a:r>
              <a:rPr lang="zh-CN" altLang="en-US" dirty="0"/>
              <a:t>）： </a:t>
            </a:r>
            <a:r>
              <a:rPr lang="en-US" altLang="zh-CN" dirty="0"/>
              <a:t>https://www.bilibili.com/video/av13130225?p=3</a:t>
            </a:r>
            <a:endParaRPr lang="zh-CN" altLang="en-US" dirty="0"/>
          </a:p>
        </p:txBody>
      </p:sp>
    </p:spTree>
    <p:extLst>
      <p:ext uri="{BB962C8B-B14F-4D97-AF65-F5344CB8AC3E}">
        <p14:creationId xmlns:p14="http://schemas.microsoft.com/office/powerpoint/2010/main" val="2859441596"/>
      </p:ext>
    </p:extLst>
  </p:cSld>
  <p:clrMapOvr>
    <a:masterClrMapping/>
  </p:clrMapOvr>
</p:sld>
</file>

<file path=ppt/theme/theme1.xml><?xml version="1.0" encoding="utf-8"?>
<a:theme xmlns:a="http://schemas.openxmlformats.org/drawingml/2006/main" name="1_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4578</TotalTime>
  <Words>7295</Words>
  <Application>Microsoft Office PowerPoint</Application>
  <PresentationFormat>宽屏</PresentationFormat>
  <Paragraphs>883</Paragraphs>
  <Slides>52</Slides>
  <Notes>50</Notes>
  <HiddenSlides>0</HiddenSlides>
  <MMClips>0</MMClips>
  <ScaleCrop>false</ScaleCrop>
  <HeadingPairs>
    <vt:vector size="8" baseType="variant">
      <vt:variant>
        <vt:lpstr>已用的字体</vt:lpstr>
      </vt:variant>
      <vt:variant>
        <vt:i4>18</vt:i4>
      </vt:variant>
      <vt:variant>
        <vt:lpstr>主题</vt:lpstr>
      </vt:variant>
      <vt:variant>
        <vt:i4>1</vt:i4>
      </vt:variant>
      <vt:variant>
        <vt:lpstr>嵌入 OLE 服务器</vt:lpstr>
      </vt:variant>
      <vt:variant>
        <vt:i4>1</vt:i4>
      </vt:variant>
      <vt:variant>
        <vt:lpstr>幻灯片标题</vt:lpstr>
      </vt:variant>
      <vt:variant>
        <vt:i4>52</vt:i4>
      </vt:variant>
    </vt:vector>
  </HeadingPairs>
  <TitlesOfParts>
    <vt:vector size="72" baseType="lpstr">
      <vt:lpstr>FangSong</vt:lpstr>
      <vt:lpstr>Helvetica Neue</vt:lpstr>
      <vt:lpstr>StoneSans</vt:lpstr>
      <vt:lpstr>TimesTen-Italic</vt:lpstr>
      <vt:lpstr>ZztexMono-Italic</vt:lpstr>
      <vt:lpstr>ZztexMono-Regular</vt:lpstr>
      <vt:lpstr>黑体</vt:lpstr>
      <vt:lpstr>宋体</vt:lpstr>
      <vt:lpstr>微软雅黑</vt:lpstr>
      <vt:lpstr>Arial</vt:lpstr>
      <vt:lpstr>Arial Black</vt:lpstr>
      <vt:lpstr>Arial Narrow</vt:lpstr>
      <vt:lpstr>Calibri</vt:lpstr>
      <vt:lpstr>Calibri Bold Italic</vt:lpstr>
      <vt:lpstr>Times New Roman</vt:lpstr>
      <vt:lpstr>Verdana</vt:lpstr>
      <vt:lpstr>Wingdings</vt:lpstr>
      <vt:lpstr>Wingdings 2</vt:lpstr>
      <vt:lpstr>1_Office 主题</vt:lpstr>
      <vt:lpstr>Chart</vt:lpstr>
      <vt:lpstr>计算机系统（二） COMPUTER SYSTEMS II:  ARCHITECTURE AND PROGRAMMING</vt:lpstr>
      <vt:lpstr>PowerPoint 演示文稿</vt:lpstr>
      <vt:lpstr>PowerPoint 演示文稿</vt:lpstr>
      <vt:lpstr>PowerPoint 演示文稿</vt:lpstr>
      <vt:lpstr>PowerPoint 演示文稿</vt:lpstr>
      <vt:lpstr>PowerPoint 演示文稿</vt:lpstr>
      <vt:lpstr>课程内容概要</vt:lpstr>
      <vt:lpstr>PowerPoint 演示文稿</vt:lpstr>
      <vt:lpstr>PowerPoint 演示文稿</vt:lpstr>
      <vt:lpstr>PowerPoint 演示文稿</vt:lpstr>
      <vt:lpstr>课程的意义</vt:lpstr>
      <vt:lpstr>PowerPoint 演示文稿</vt:lpstr>
      <vt:lpstr>课程的意义</vt:lpstr>
      <vt:lpstr>PowerPoint 演示文稿</vt:lpstr>
      <vt:lpstr>PowerPoint 演示文稿</vt:lpstr>
      <vt:lpstr>PowerPoint 演示文稿</vt:lpstr>
      <vt:lpstr>课程的意义</vt:lpstr>
      <vt:lpstr>过程调用参数传递举例</vt:lpstr>
      <vt:lpstr>课程的意义</vt:lpstr>
      <vt:lpstr>课程的意义</vt:lpstr>
      <vt:lpstr>课程的意义</vt:lpstr>
      <vt:lpstr>课程的意义</vt:lpstr>
      <vt:lpstr>用“系统思维”分析问题</vt:lpstr>
      <vt:lpstr>用“系统思维”分析问题</vt:lpstr>
      <vt:lpstr>PowerPoint 演示文稿</vt:lpstr>
      <vt:lpstr>课程实验</vt:lpstr>
      <vt:lpstr>Chapter 1 计算机系统简介</vt:lpstr>
      <vt:lpstr>1.1 数据及其解读</vt:lpstr>
      <vt:lpstr>1.2 编译/链接过程</vt:lpstr>
      <vt:lpstr>PowerPoint 演示文稿</vt:lpstr>
      <vt:lpstr>PowerPoint 演示文稿</vt:lpstr>
      <vt:lpstr>1.3 指令的执行</vt:lpstr>
      <vt:lpstr>PowerPoint 演示文稿</vt:lpstr>
      <vt:lpstr>PowerPoint 演示文稿</vt:lpstr>
      <vt:lpstr>PowerPoint 演示文稿</vt:lpstr>
      <vt:lpstr>PowerPoint 演示文稿</vt:lpstr>
      <vt:lpstr>1.4 存储设备的层次结构</vt:lpstr>
      <vt:lpstr>PowerPoint 演示文稿</vt:lpstr>
      <vt:lpstr>PowerPoint 演示文稿</vt:lpstr>
      <vt:lpstr>1.5 计算机系统中的OS</vt:lpstr>
      <vt:lpstr>PowerPoint 演示文稿</vt:lpstr>
      <vt:lpstr>PowerPoint 演示文稿</vt:lpstr>
      <vt:lpstr>PowerPoint 演示文稿</vt:lpstr>
      <vt:lpstr>PowerPoint 演示文稿</vt:lpstr>
      <vt:lpstr>PowerPoint 演示文稿</vt:lpstr>
      <vt:lpstr>1.6 计算机系统间协作</vt:lpstr>
      <vt:lpstr>PowerPoint 演示文稿</vt:lpstr>
      <vt:lpstr>1.7 并行技术</vt:lpstr>
      <vt:lpstr>PowerPoint 演示文稿</vt:lpstr>
      <vt:lpstr>PowerPoint 演示文稿</vt:lpstr>
      <vt:lpstr>PowerPoint 演示文稿</vt:lpstr>
      <vt:lpstr>PowerPoint 演示文稿</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Chapter 7 链接</dc:title>
  <dc:creator>IE</dc:creator>
  <cp:lastModifiedBy>L6-505</cp:lastModifiedBy>
  <cp:revision>255</cp:revision>
  <cp:lastPrinted>2020-03-10T07:24:47Z</cp:lastPrinted>
  <dcterms:created xsi:type="dcterms:W3CDTF">2016-01-21T00:46:33Z</dcterms:created>
  <dcterms:modified xsi:type="dcterms:W3CDTF">2021-03-08T12:11:07Z</dcterms:modified>
</cp:coreProperties>
</file>